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54"/>
  </p:notesMasterIdLst>
  <p:handoutMasterIdLst>
    <p:handoutMasterId r:id="rId55"/>
  </p:handoutMasterIdLst>
  <p:sldIdLst>
    <p:sldId id="429" r:id="rId4"/>
    <p:sldId id="620" r:id="rId5"/>
    <p:sldId id="621" r:id="rId6"/>
    <p:sldId id="622" r:id="rId7"/>
    <p:sldId id="623" r:id="rId8"/>
    <p:sldId id="624" r:id="rId9"/>
    <p:sldId id="432" r:id="rId10"/>
    <p:sldId id="433" r:id="rId11"/>
    <p:sldId id="438" r:id="rId12"/>
    <p:sldId id="440" r:id="rId13"/>
    <p:sldId id="441" r:id="rId14"/>
    <p:sldId id="442" r:id="rId15"/>
    <p:sldId id="443" r:id="rId16"/>
    <p:sldId id="444" r:id="rId17"/>
    <p:sldId id="445" r:id="rId18"/>
    <p:sldId id="446" r:id="rId19"/>
    <p:sldId id="448" r:id="rId20"/>
    <p:sldId id="449" r:id="rId21"/>
    <p:sldId id="539" r:id="rId22"/>
    <p:sldId id="450" r:id="rId23"/>
    <p:sldId id="540" r:id="rId24"/>
    <p:sldId id="542" r:id="rId25"/>
    <p:sldId id="453" r:id="rId26"/>
    <p:sldId id="455" r:id="rId27"/>
    <p:sldId id="456" r:id="rId28"/>
    <p:sldId id="460" r:id="rId29"/>
    <p:sldId id="461" r:id="rId30"/>
    <p:sldId id="462" r:id="rId31"/>
    <p:sldId id="463" r:id="rId32"/>
    <p:sldId id="464" r:id="rId33"/>
    <p:sldId id="465" r:id="rId34"/>
    <p:sldId id="625" r:id="rId35"/>
    <p:sldId id="626" r:id="rId36"/>
    <p:sldId id="627" r:id="rId37"/>
    <p:sldId id="628" r:id="rId38"/>
    <p:sldId id="629" r:id="rId39"/>
    <p:sldId id="630" r:id="rId40"/>
    <p:sldId id="631" r:id="rId41"/>
    <p:sldId id="643" r:id="rId42"/>
    <p:sldId id="633" r:id="rId43"/>
    <p:sldId id="634" r:id="rId44"/>
    <p:sldId id="635" r:id="rId45"/>
    <p:sldId id="636" r:id="rId46"/>
    <p:sldId id="637" r:id="rId47"/>
    <p:sldId id="638" r:id="rId48"/>
    <p:sldId id="639" r:id="rId49"/>
    <p:sldId id="640" r:id="rId50"/>
    <p:sldId id="641" r:id="rId51"/>
    <p:sldId id="642" r:id="rId52"/>
    <p:sldId id="466" r:id="rId53"/>
  </p:sldIdLst>
  <p:sldSz cx="9144000" cy="6858000" type="screen4x3"/>
  <p:notesSz cx="6858000" cy="9144000"/>
  <p:custDataLst>
    <p:tags r:id="rId59"/>
  </p:custDataLst>
  <p:defaultTextStyle>
    <a:defPPr>
      <a:defRPr lang="en-US"/>
    </a:defPPr>
    <a:lvl1pPr algn="l" rtl="0" eaLnBrk="0" fontAlgn="base" hangingPunct="0">
      <a:spcBef>
        <a:spcPct val="0"/>
      </a:spcBef>
      <a:spcAft>
        <a:spcPct val="0"/>
      </a:spcAft>
      <a:defRPr sz="4400" b="1" kern="1200">
        <a:solidFill>
          <a:schemeClr val="tx2"/>
        </a:solidFill>
        <a:latin typeface="Times New Roman" panose="02020603050405020304" pitchFamily="18" charset="0"/>
        <a:ea typeface="黑体" panose="02010609060101010101" pitchFamily="49" charset="-122"/>
        <a:cs typeface="+mn-cs"/>
      </a:defRPr>
    </a:lvl1pPr>
    <a:lvl2pPr marL="457200" algn="l" rtl="0" eaLnBrk="0" fontAlgn="base" hangingPunct="0">
      <a:spcBef>
        <a:spcPct val="0"/>
      </a:spcBef>
      <a:spcAft>
        <a:spcPct val="0"/>
      </a:spcAft>
      <a:defRPr sz="4400" b="1" kern="1200">
        <a:solidFill>
          <a:schemeClr val="tx2"/>
        </a:solidFill>
        <a:latin typeface="Times New Roman" panose="02020603050405020304" pitchFamily="18" charset="0"/>
        <a:ea typeface="黑体" panose="02010609060101010101" pitchFamily="49" charset="-122"/>
        <a:cs typeface="+mn-cs"/>
      </a:defRPr>
    </a:lvl2pPr>
    <a:lvl3pPr marL="914400" algn="l" rtl="0" eaLnBrk="0" fontAlgn="base" hangingPunct="0">
      <a:spcBef>
        <a:spcPct val="0"/>
      </a:spcBef>
      <a:spcAft>
        <a:spcPct val="0"/>
      </a:spcAft>
      <a:defRPr sz="4400" b="1" kern="1200">
        <a:solidFill>
          <a:schemeClr val="tx2"/>
        </a:solidFill>
        <a:latin typeface="Times New Roman" panose="02020603050405020304" pitchFamily="18" charset="0"/>
        <a:ea typeface="黑体" panose="02010609060101010101" pitchFamily="49" charset="-122"/>
        <a:cs typeface="+mn-cs"/>
      </a:defRPr>
    </a:lvl3pPr>
    <a:lvl4pPr marL="1371600" algn="l" rtl="0" eaLnBrk="0" fontAlgn="base" hangingPunct="0">
      <a:spcBef>
        <a:spcPct val="0"/>
      </a:spcBef>
      <a:spcAft>
        <a:spcPct val="0"/>
      </a:spcAft>
      <a:defRPr sz="4400" b="1" kern="1200">
        <a:solidFill>
          <a:schemeClr val="tx2"/>
        </a:solidFill>
        <a:latin typeface="Times New Roman" panose="02020603050405020304" pitchFamily="18" charset="0"/>
        <a:ea typeface="黑体" panose="02010609060101010101" pitchFamily="49" charset="-122"/>
        <a:cs typeface="+mn-cs"/>
      </a:defRPr>
    </a:lvl4pPr>
    <a:lvl5pPr marL="1828800" algn="l" rtl="0" eaLnBrk="0" fontAlgn="base" hangingPunct="0">
      <a:spcBef>
        <a:spcPct val="0"/>
      </a:spcBef>
      <a:spcAft>
        <a:spcPct val="0"/>
      </a:spcAft>
      <a:defRPr sz="4400" b="1" kern="1200">
        <a:solidFill>
          <a:schemeClr val="tx2"/>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4400" b="1" kern="1200">
        <a:solidFill>
          <a:schemeClr val="tx2"/>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4400" b="1" kern="1200">
        <a:solidFill>
          <a:schemeClr val="tx2"/>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4400" b="1" kern="1200">
        <a:solidFill>
          <a:schemeClr val="tx2"/>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4400" b="1" kern="1200">
        <a:solidFill>
          <a:schemeClr val="tx2"/>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159" userDrawn="1">
          <p15:clr>
            <a:srgbClr val="A4A3A4"/>
          </p15:clr>
        </p15:guide>
        <p15:guide id="2" pos="286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33CC"/>
    <a:srgbClr val="00FFCC"/>
    <a:srgbClr val="FF00FF"/>
    <a:srgbClr val="FF33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1" d="100"/>
          <a:sy n="81" d="100"/>
        </p:scale>
        <p:origin x="778" y="67"/>
      </p:cViewPr>
      <p:guideLst>
        <p:guide orient="horz" pos="2159"/>
        <p:guide pos="286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9" Type="http://schemas.openxmlformats.org/officeDocument/2006/relationships/tags" Target="tags/tag6.xml"/><Relationship Id="rId58" Type="http://schemas.openxmlformats.org/officeDocument/2006/relationships/tableStyles" Target="tableStyles.xml"/><Relationship Id="rId57" Type="http://schemas.openxmlformats.org/officeDocument/2006/relationships/viewProps" Target="viewProps.xml"/><Relationship Id="rId56" Type="http://schemas.openxmlformats.org/officeDocument/2006/relationships/presProps" Target="presProps.xml"/><Relationship Id="rId55" Type="http://schemas.openxmlformats.org/officeDocument/2006/relationships/handoutMaster" Target="handoutMasters/handoutMaster1.xml"/><Relationship Id="rId54" Type="http://schemas.openxmlformats.org/officeDocument/2006/relationships/notesMaster" Target="notesMasters/notesMaster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29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b="0">
                <a:solidFill>
                  <a:schemeClr val="tx1"/>
                </a:solidFill>
                <a:latin typeface="Arial" panose="020B0604020202020204" pitchFamily="34" charset="0"/>
                <a:ea typeface="宋体" panose="02010600030101010101" pitchFamily="2" charset="-122"/>
              </a:defRPr>
            </a:lvl1pPr>
          </a:lstStyle>
          <a:p>
            <a:pPr>
              <a:defRPr/>
            </a:pPr>
            <a:endParaRPr lang="zh-CN" altLang="en-US"/>
          </a:p>
        </p:txBody>
      </p:sp>
      <p:sp>
        <p:nvSpPr>
          <p:cNvPr id="55299"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b="0">
                <a:solidFill>
                  <a:schemeClr val="tx1"/>
                </a:solidFill>
                <a:latin typeface="Arial" panose="020B0604020202020204" pitchFamily="34" charset="0"/>
                <a:ea typeface="宋体" panose="02010600030101010101" pitchFamily="2" charset="-122"/>
              </a:defRPr>
            </a:lvl1pPr>
          </a:lstStyle>
          <a:p>
            <a:pPr>
              <a:defRPr/>
            </a:pPr>
            <a:endParaRPr lang="en-US" altLang="zh-CN"/>
          </a:p>
        </p:txBody>
      </p:sp>
      <p:sp>
        <p:nvSpPr>
          <p:cNvPr id="55300"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b="0">
                <a:solidFill>
                  <a:schemeClr val="tx1"/>
                </a:solidFill>
                <a:latin typeface="Arial" panose="020B0604020202020204" pitchFamily="34" charset="0"/>
                <a:ea typeface="宋体" panose="02010600030101010101" pitchFamily="2" charset="-122"/>
              </a:defRPr>
            </a:lvl1pPr>
          </a:lstStyle>
          <a:p>
            <a:pPr>
              <a:defRPr/>
            </a:pPr>
            <a:endParaRPr lang="en-US" altLang="zh-CN"/>
          </a:p>
        </p:txBody>
      </p:sp>
      <p:sp>
        <p:nvSpPr>
          <p:cNvPr id="55301"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b="0">
                <a:solidFill>
                  <a:schemeClr val="tx1"/>
                </a:solidFill>
                <a:latin typeface="Arial" panose="020B0604020202020204" pitchFamily="34" charset="0"/>
                <a:ea typeface="宋体" panose="02010600030101010101" pitchFamily="2" charset="-122"/>
              </a:defRPr>
            </a:lvl1pPr>
          </a:lstStyle>
          <a:p>
            <a:fld id="{5B22927F-66BD-4D48-BC0B-95D8FFBA7FE0}"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b="0">
                <a:solidFill>
                  <a:schemeClr val="tx1"/>
                </a:solidFill>
                <a:latin typeface="Times New Roman" panose="02020603050405020304" pitchFamily="18" charset="0"/>
                <a:ea typeface="宋体" panose="02010600030101010101" pitchFamily="2" charset="-122"/>
              </a:defRPr>
            </a:lvl1pPr>
          </a:lstStyle>
          <a:p>
            <a:pPr>
              <a:defRPr/>
            </a:pPr>
            <a:endParaRPr lang="zh-CN" altLang="en-US"/>
          </a:p>
        </p:txBody>
      </p:sp>
      <p:sp>
        <p:nvSpPr>
          <p:cNvPr id="5734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b="0">
                <a:solidFill>
                  <a:schemeClr val="tx1"/>
                </a:solidFill>
                <a:latin typeface="Times New Roman" panose="02020603050405020304" pitchFamily="18" charset="0"/>
                <a:ea typeface="宋体" panose="02010600030101010101" pitchFamily="2" charset="-122"/>
              </a:defRPr>
            </a:lvl1pPr>
          </a:lstStyle>
          <a:p>
            <a:pPr>
              <a:defRPr/>
            </a:pPr>
            <a:endParaRPr lang="en-US" altLang="zh-CN"/>
          </a:p>
        </p:txBody>
      </p:sp>
      <p:sp>
        <p:nvSpPr>
          <p:cNvPr id="1044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57349"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5735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b="0">
                <a:solidFill>
                  <a:schemeClr val="tx1"/>
                </a:solidFill>
                <a:latin typeface="Times New Roman" panose="02020603050405020304" pitchFamily="18" charset="0"/>
                <a:ea typeface="宋体" panose="02010600030101010101" pitchFamily="2" charset="-122"/>
              </a:defRPr>
            </a:lvl1pPr>
          </a:lstStyle>
          <a:p>
            <a:pPr>
              <a:defRPr/>
            </a:pPr>
            <a:endParaRPr lang="en-US" altLang="zh-CN"/>
          </a:p>
        </p:txBody>
      </p:sp>
      <p:sp>
        <p:nvSpPr>
          <p:cNvPr id="5735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b="0">
                <a:solidFill>
                  <a:schemeClr val="tx1"/>
                </a:solidFill>
                <a:ea typeface="宋体" panose="02010600030101010101" pitchFamily="2" charset="-122"/>
              </a:defRPr>
            </a:lvl1pPr>
          </a:lstStyle>
          <a:p>
            <a:fld id="{52261033-A2DE-4296-ACE7-F62781F3AB3C}"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E593D1E3-BC8B-459A-91D8-C9C9D76C8101}" type="slidenum">
              <a:rPr lang="zh-CN" altLang="en-US"/>
            </a:fld>
            <a:endParaRPr lang="en-US" altLang="zh-CN"/>
          </a:p>
        </p:txBody>
      </p:sp>
    </p:spTree>
  </p:cSld>
  <p:clrMapOvr>
    <a:masterClrMapping/>
  </p:clrMapOvr>
  <p:transition>
    <p:randomBar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99470407-AF80-42EE-9E88-096AED7EDE65}" type="slidenum">
              <a:rPr lang="zh-CN" altLang="en-US"/>
            </a:fld>
            <a:endParaRPr lang="en-US" altLang="zh-CN"/>
          </a:p>
        </p:txBody>
      </p:sp>
    </p:spTree>
  </p:cSld>
  <p:clrMapOvr>
    <a:masterClrMapping/>
  </p:clrMapOvr>
  <p:transition>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23850" y="1773238"/>
            <a:ext cx="4194175" cy="4270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70425" y="1773238"/>
            <a:ext cx="4194175" cy="4270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FD536604-16F5-4F2E-B2C1-D315E85778F9}" type="slidenum">
              <a:rPr lang="zh-CN" altLang="en-US"/>
            </a:fld>
            <a:endParaRPr lang="en-US" altLang="zh-CN"/>
          </a:p>
        </p:txBody>
      </p:sp>
    </p:spTree>
  </p:cSld>
  <p:clrMapOvr>
    <a:masterClrMapping/>
  </p:clrMapOvr>
  <p:transition>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fld id="{73A95823-63E7-4D39-BEAE-D36D7F9D0EF2}" type="slidenum">
              <a:rPr lang="zh-CN" altLang="en-US"/>
            </a:fld>
            <a:endParaRPr lang="en-US" altLang="zh-CN"/>
          </a:p>
        </p:txBody>
      </p:sp>
    </p:spTree>
  </p:cSld>
  <p:clrMapOvr>
    <a:masterClrMapping/>
  </p:clrMapOvr>
  <p:transition>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fld id="{192D8770-DC68-4CDE-80BE-822D3F37CAE9}" type="slidenum">
              <a:rPr lang="zh-CN" altLang="en-US"/>
            </a:fld>
            <a:endParaRPr lang="en-US" altLang="zh-CN"/>
          </a:p>
        </p:txBody>
      </p:sp>
    </p:spTree>
  </p:cSld>
  <p:clrMapOvr>
    <a:masterClrMapping/>
  </p:clrMapOvr>
  <p:transition>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fld id="{5BBB8EB0-C484-4988-B5B9-DAAF3FACE381}" type="slidenum">
              <a:rPr lang="zh-CN" altLang="en-US"/>
            </a:fld>
            <a:endParaRPr lang="en-US" altLang="zh-CN"/>
          </a:p>
        </p:txBody>
      </p:sp>
    </p:spTree>
  </p:cSld>
  <p:clrMapOvr>
    <a:masterClrMapping/>
  </p:clrMapOvr>
  <p:transition>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DAA547E9-9E2F-47E1-898F-576B3C395FEC}" type="slidenum">
              <a:rPr lang="zh-CN" altLang="en-US"/>
            </a:fld>
            <a:endParaRPr lang="en-US" altLang="zh-CN"/>
          </a:p>
        </p:txBody>
      </p:sp>
    </p:spTree>
  </p:cSld>
  <p:clrMapOvr>
    <a:masterClrMapping/>
  </p:clrMapOvr>
  <p:transition>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44EAE90E-9424-4417-A975-B125D1974EE8}" type="slidenum">
              <a:rPr lang="zh-CN" altLang="en-US"/>
            </a:fld>
            <a:endParaRPr lang="en-US" altLang="zh-CN"/>
          </a:p>
        </p:txBody>
      </p:sp>
    </p:spTree>
  </p:cSld>
  <p:clrMapOvr>
    <a:masterClrMapping/>
  </p:clrMapOvr>
  <p:transition>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B89A4FD4-0D3F-421F-8F6C-24ED616F281F}" type="slidenum">
              <a:rPr lang="zh-CN" altLang="en-US"/>
            </a:fld>
            <a:endParaRPr lang="en-US" altLang="zh-CN"/>
          </a:p>
        </p:txBody>
      </p:sp>
    </p:spTree>
  </p:cSld>
  <p:clrMapOvr>
    <a:masterClrMapping/>
  </p:clrMapOvr>
  <p:transition>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24650" y="381000"/>
            <a:ext cx="2139950" cy="566261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301625" y="381000"/>
            <a:ext cx="6270625" cy="566261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1C27B672-4883-4B2F-9D8F-570AA4EFAAB0}" type="slidenum">
              <a:rPr lang="zh-CN" altLang="en-US"/>
            </a:fld>
            <a:endParaRPr lang="en-US" altLang="zh-CN"/>
          </a:p>
        </p:txBody>
      </p:sp>
    </p:spTree>
  </p:cSld>
  <p:clrMapOvr>
    <a:masterClrMapping/>
  </p:clrMapOvr>
  <p:transition>
    <p:randomBa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6F2F9F"/>
                </a:solidFill>
                <a:latin typeface="Microsoft JhengHei" panose="020B0604030504040204" charset="-120"/>
                <a:cs typeface="Microsoft JhengHei" panose="020B0604030504040204" charset="-120"/>
              </a:defRPr>
            </a:lvl1pPr>
          </a:lstStyle>
          <a:p/>
        </p:txBody>
      </p:sp>
      <p:sp>
        <p:nvSpPr>
          <p:cNvPr id="3" name="Holder 3"/>
          <p:cNvSpPr>
            <a:spLocks noGrp="1"/>
          </p:cNvSpPr>
          <p:nvPr>
            <p:ph type="body" idx="1"/>
          </p:nvPr>
        </p:nvSpPr>
        <p:spPr/>
        <p:txBody>
          <a:bodyPr lIns="0" tIns="0" rIns="0" bIns="0"/>
          <a:lstStyle>
            <a:lvl1pPr>
              <a:defRPr sz="1800" b="0" i="0">
                <a:solidFill>
                  <a:schemeClr val="tx1"/>
                </a:solidFill>
                <a:latin typeface="宋体" panose="02010600030101010101" pitchFamily="2" charset="-122"/>
                <a:cs typeface="宋体" panose="02010600030101010101" pitchFamily="2" charset="-122"/>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6F2F9F"/>
                </a:solidFill>
                <a:latin typeface="Microsoft JhengHei" panose="020B0604030504040204" charset="-120"/>
                <a:cs typeface="Microsoft JhengHei" panose="020B0604030504040204" charset="-120"/>
              </a:defRPr>
            </a:lvl1pPr>
          </a:lstStyle>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showMasterSp="0">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81062" y="1743075"/>
            <a:ext cx="7486650" cy="3438525"/>
          </a:xfrm>
          <a:prstGeom prst="rect">
            <a:avLst/>
          </a:prstGeom>
          <a:blipFill>
            <a:blip r:embed="rId2" cstate="print"/>
            <a:stretch>
              <a:fillRect/>
            </a:stretch>
          </a:blipFill>
        </p:spPr>
        <p:txBody>
          <a:bodyPr wrap="square" lIns="0" tIns="0" rIns="0" bIns="0" rtlCol="0"/>
          <a:lstStyle/>
          <a:p>
            <a:endParaRPr sz="1800"/>
          </a:p>
        </p:txBody>
      </p:sp>
      <p:sp>
        <p:nvSpPr>
          <p:cNvPr id="2" name="Holder 2"/>
          <p:cNvSpPr>
            <a:spLocks noGrp="1"/>
          </p:cNvSpPr>
          <p:nvPr>
            <p:ph type="title"/>
          </p:nvPr>
        </p:nvSpPr>
        <p:spPr/>
        <p:txBody>
          <a:bodyPr lIns="0" tIns="0" rIns="0" bIns="0"/>
          <a:lstStyle>
            <a:lvl1pPr>
              <a:defRPr sz="3600" b="1" i="0">
                <a:solidFill>
                  <a:srgbClr val="6F2F9F"/>
                </a:solidFill>
                <a:latin typeface="Microsoft JhengHei" panose="020B0604030504040204" charset="-120"/>
                <a:cs typeface="Microsoft JhengHei" panose="020B0604030504040204" charset="-120"/>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image" Target="../media/image1.jpe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6" Type="http://schemas.openxmlformats.org/officeDocument/2006/relationships/theme" Target="../theme/theme2.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1">
            <a:biLevel thresh="25000"/>
          </a:blip>
          <a:srcRect/>
          <a:stretch>
            <a:fillRect/>
          </a:stretch>
        </a:blipFill>
        <a:effectLst/>
      </p:bgPr>
    </p:bg>
    <p:spTree>
      <p:nvGrpSpPr>
        <p:cNvPr id="1" name=""/>
        <p:cNvGrpSpPr/>
        <p:nvPr/>
      </p:nvGrpSpPr>
      <p:grpSpPr>
        <a:xfrm>
          <a:off x="0" y="0"/>
          <a:ext cx="0" cy="0"/>
          <a:chOff x="0" y="0"/>
          <a:chExt cx="0" cy="0"/>
        </a:xfrm>
      </p:grpSpPr>
      <p:sp>
        <p:nvSpPr>
          <p:cNvPr id="11266" name="Rectangle 2"/>
          <p:cNvSpPr>
            <a:spLocks noGrp="1" noRot="1" noChangeArrowheads="1"/>
          </p:cNvSpPr>
          <p:nvPr>
            <p:ph type="title"/>
          </p:nvPr>
        </p:nvSpPr>
        <p:spPr bwMode="auto">
          <a:xfrm>
            <a:off x="301625" y="3810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4339" name="Rectangle 3"/>
          <p:cNvSpPr>
            <a:spLocks noGrp="1" noRot="1" noChangeArrowheads="1"/>
          </p:cNvSpPr>
          <p:nvPr>
            <p:ph type="body" idx="1"/>
          </p:nvPr>
        </p:nvSpPr>
        <p:spPr bwMode="auto">
          <a:xfrm>
            <a:off x="323850" y="1773238"/>
            <a:ext cx="8540750" cy="427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340" name="Rectangle 4"/>
          <p:cNvSpPr>
            <a:spLocks noGrp="1" noChangeArrowheads="1"/>
          </p:cNvSpPr>
          <p:nvPr>
            <p:ph type="dt" sz="half" idx="2"/>
          </p:nvPr>
        </p:nvSpPr>
        <p:spPr bwMode="auto">
          <a:xfrm>
            <a:off x="301625" y="6172200"/>
            <a:ext cx="2289175"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b="0">
                <a:solidFill>
                  <a:schemeClr val="tx1"/>
                </a:solidFill>
                <a:latin typeface="Arial" panose="020B0604020202020204" pitchFamily="34" charset="0"/>
                <a:ea typeface="宋体" panose="02010600030101010101" pitchFamily="2" charset="-122"/>
              </a:defRPr>
            </a:lvl1pPr>
          </a:lstStyle>
          <a:p>
            <a:pPr>
              <a:defRPr/>
            </a:pPr>
            <a:endParaRPr lang="en-US" altLang="zh-CN"/>
          </a:p>
        </p:txBody>
      </p:sp>
      <p:sp>
        <p:nvSpPr>
          <p:cNvPr id="14341" name="Rectangle 5"/>
          <p:cNvSpPr>
            <a:spLocks noGrp="1" noChangeArrowheads="1"/>
          </p:cNvSpPr>
          <p:nvPr>
            <p:ph type="ftr" sz="quarter" idx="3"/>
          </p:nvPr>
        </p:nvSpPr>
        <p:spPr bwMode="auto">
          <a:xfrm>
            <a:off x="3124200" y="6172200"/>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b="0">
                <a:solidFill>
                  <a:schemeClr val="tx1"/>
                </a:solidFill>
                <a:latin typeface="Arial" panose="020B0604020202020204" pitchFamily="34" charset="0"/>
                <a:ea typeface="宋体" panose="02010600030101010101" pitchFamily="2" charset="-122"/>
              </a:defRPr>
            </a:lvl1pPr>
          </a:lstStyle>
          <a:p>
            <a:pPr>
              <a:defRPr/>
            </a:pPr>
            <a:endParaRPr lang="en-US" altLang="zh-CN"/>
          </a:p>
        </p:txBody>
      </p:sp>
      <p:sp>
        <p:nvSpPr>
          <p:cNvPr id="14342" name="Rectangle 6"/>
          <p:cNvSpPr>
            <a:spLocks noGrp="1" noChangeArrowheads="1"/>
          </p:cNvSpPr>
          <p:nvPr>
            <p:ph type="sldNum" sz="quarter" idx="4"/>
          </p:nvPr>
        </p:nvSpPr>
        <p:spPr bwMode="auto">
          <a:xfrm>
            <a:off x="6553200" y="6172200"/>
            <a:ext cx="2289175"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b="0">
                <a:solidFill>
                  <a:schemeClr val="tx1"/>
                </a:solidFill>
                <a:latin typeface="Arial" panose="020B0604020202020204" pitchFamily="34" charset="0"/>
                <a:ea typeface="宋体" panose="02010600030101010101" pitchFamily="2" charset="-122"/>
              </a:defRPr>
            </a:lvl1pPr>
          </a:lstStyle>
          <a:p>
            <a:fld id="{AE812606-264D-404D-95EA-FC494B19EC9E}" type="slidenum">
              <a:rPr lang="zh-CN" altLang="en-US"/>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randombar(horizontal)">
                                      <p:cBhvr>
                                        <p:cTn id="7" dur="500"/>
                                        <p:tgtEl>
                                          <p:spTgt spid="14339">
                                            <p:txEl>
                                              <p:pRg st="0" end="0"/>
                                            </p:txEl>
                                          </p:spTgt>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4339">
                                            <p:txEl>
                                              <p:pRg st="1" end="1"/>
                                            </p:txEl>
                                          </p:spTgt>
                                        </p:tgtEl>
                                        <p:attrNameLst>
                                          <p:attrName>style.visibility</p:attrName>
                                        </p:attrNameLst>
                                      </p:cBhvr>
                                      <p:to>
                                        <p:strVal val="visible"/>
                                      </p:to>
                                    </p:set>
                                    <p:animEffect transition="in" filter="randombar(horizontal)">
                                      <p:cBhvr>
                                        <p:cTn id="10" dur="500"/>
                                        <p:tgtEl>
                                          <p:spTgt spid="14339">
                                            <p:txEl>
                                              <p:pRg st="1" end="1"/>
                                            </p:txEl>
                                          </p:spTgt>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4339">
                                            <p:txEl>
                                              <p:pRg st="2" end="2"/>
                                            </p:txEl>
                                          </p:spTgt>
                                        </p:tgtEl>
                                        <p:attrNameLst>
                                          <p:attrName>style.visibility</p:attrName>
                                        </p:attrNameLst>
                                      </p:cBhvr>
                                      <p:to>
                                        <p:strVal val="visible"/>
                                      </p:to>
                                    </p:set>
                                    <p:animEffect transition="in" filter="randombar(horizontal)">
                                      <p:cBhvr>
                                        <p:cTn id="13" dur="500"/>
                                        <p:tgtEl>
                                          <p:spTgt spid="14339">
                                            <p:txEl>
                                              <p:pRg st="2" end="2"/>
                                            </p:txEl>
                                          </p:spTgt>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14339">
                                            <p:txEl>
                                              <p:pRg st="3" end="3"/>
                                            </p:txEl>
                                          </p:spTgt>
                                        </p:tgtEl>
                                        <p:attrNameLst>
                                          <p:attrName>style.visibility</p:attrName>
                                        </p:attrNameLst>
                                      </p:cBhvr>
                                      <p:to>
                                        <p:strVal val="visible"/>
                                      </p:to>
                                    </p:set>
                                    <p:animEffect transition="in" filter="randombar(horizontal)">
                                      <p:cBhvr>
                                        <p:cTn id="16" dur="500"/>
                                        <p:tgtEl>
                                          <p:spTgt spid="14339">
                                            <p:txEl>
                                              <p:pRg st="3" end="3"/>
                                            </p:txEl>
                                          </p:spTgt>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14339">
                                            <p:txEl>
                                              <p:pRg st="4" end="4"/>
                                            </p:txEl>
                                          </p:spTgt>
                                        </p:tgtEl>
                                        <p:attrNameLst>
                                          <p:attrName>style.visibility</p:attrName>
                                        </p:attrNameLst>
                                      </p:cBhvr>
                                      <p:to>
                                        <p:strVal val="visible"/>
                                      </p:to>
                                    </p:set>
                                    <p:animEffect transition="in" filter="randombar(horizontal)">
                                      <p:cBhvr>
                                        <p:cTn id="19" dur="500"/>
                                        <p:tgtEl>
                                          <p:spTgt spid="143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tmplLst>
          <p:tmpl lvl="1">
            <p:tnLst>
              <p:par>
                <p:cTn presetID="14" presetClass="entr" presetSubtype="10" fill="hold" nodeType="clickEffect">
                  <p:stCondLst>
                    <p:cond delay="0"/>
                  </p:stCondLst>
                  <p:childTnLst>
                    <p:set>
                      <p:cBhvr>
                        <p:cTn dur="1" fill="hold">
                          <p:stCondLst>
                            <p:cond delay="0"/>
                          </p:stCondLst>
                        </p:cTn>
                        <p:tgtEl>
                          <p:spTgt spid="14339"/>
                        </p:tgtEl>
                        <p:attrNameLst>
                          <p:attrName>style.visibility</p:attrName>
                        </p:attrNameLst>
                      </p:cBhvr>
                      <p:to>
                        <p:strVal val="visible"/>
                      </p:to>
                    </p:set>
                    <p:animEffect transition="in" filter="randombar(horizontal)">
                      <p:cBhvr>
                        <p:cTn dur="500"/>
                        <p:tgtEl>
                          <p:spTgt spid="14339"/>
                        </p:tgtEl>
                      </p:cBhvr>
                    </p:animEffect>
                  </p:childTnLst>
                </p:cTn>
              </p:par>
            </p:tnLst>
          </p:tmpl>
          <p:tmpl lvl="2">
            <p:tnLst>
              <p:par>
                <p:cTn presetID="14" presetClass="entr" presetSubtype="10" fill="hold" nodeType="withEffect">
                  <p:stCondLst>
                    <p:cond delay="0"/>
                  </p:stCondLst>
                  <p:childTnLst>
                    <p:set>
                      <p:cBhvr>
                        <p:cTn dur="1" fill="hold">
                          <p:stCondLst>
                            <p:cond delay="0"/>
                          </p:stCondLst>
                        </p:cTn>
                        <p:tgtEl>
                          <p:spTgt spid="14339"/>
                        </p:tgtEl>
                        <p:attrNameLst>
                          <p:attrName>style.visibility</p:attrName>
                        </p:attrNameLst>
                      </p:cBhvr>
                      <p:to>
                        <p:strVal val="visible"/>
                      </p:to>
                    </p:set>
                    <p:animEffect transition="in" filter="randombar(horizontal)">
                      <p:cBhvr>
                        <p:cTn dur="500"/>
                        <p:tgtEl>
                          <p:spTgt spid="14339"/>
                        </p:tgtEl>
                      </p:cBhvr>
                    </p:animEffect>
                  </p:childTnLst>
                </p:cTn>
              </p:par>
            </p:tnLst>
          </p:tmpl>
          <p:tmpl lvl="3">
            <p:tnLst>
              <p:par>
                <p:cTn presetID="14" presetClass="entr" presetSubtype="10" fill="hold" nodeType="withEffect">
                  <p:stCondLst>
                    <p:cond delay="0"/>
                  </p:stCondLst>
                  <p:childTnLst>
                    <p:set>
                      <p:cBhvr>
                        <p:cTn dur="1" fill="hold">
                          <p:stCondLst>
                            <p:cond delay="0"/>
                          </p:stCondLst>
                        </p:cTn>
                        <p:tgtEl>
                          <p:spTgt spid="14339"/>
                        </p:tgtEl>
                        <p:attrNameLst>
                          <p:attrName>style.visibility</p:attrName>
                        </p:attrNameLst>
                      </p:cBhvr>
                      <p:to>
                        <p:strVal val="visible"/>
                      </p:to>
                    </p:set>
                    <p:animEffect transition="in" filter="randombar(horizontal)">
                      <p:cBhvr>
                        <p:cTn dur="500"/>
                        <p:tgtEl>
                          <p:spTgt spid="14339"/>
                        </p:tgtEl>
                      </p:cBhvr>
                    </p:animEffect>
                  </p:childTnLst>
                </p:cTn>
              </p:par>
            </p:tnLst>
          </p:tmpl>
          <p:tmpl lvl="4">
            <p:tnLst>
              <p:par>
                <p:cTn presetID="14" presetClass="entr" presetSubtype="10" fill="hold" nodeType="withEffect">
                  <p:stCondLst>
                    <p:cond delay="0"/>
                  </p:stCondLst>
                  <p:childTnLst>
                    <p:set>
                      <p:cBhvr>
                        <p:cTn dur="1" fill="hold">
                          <p:stCondLst>
                            <p:cond delay="0"/>
                          </p:stCondLst>
                        </p:cTn>
                        <p:tgtEl>
                          <p:spTgt spid="14339"/>
                        </p:tgtEl>
                        <p:attrNameLst>
                          <p:attrName>style.visibility</p:attrName>
                        </p:attrNameLst>
                      </p:cBhvr>
                      <p:to>
                        <p:strVal val="visible"/>
                      </p:to>
                    </p:set>
                    <p:animEffect transition="in" filter="randombar(horizontal)">
                      <p:cBhvr>
                        <p:cTn dur="500"/>
                        <p:tgtEl>
                          <p:spTgt spid="14339"/>
                        </p:tgtEl>
                      </p:cBhvr>
                    </p:animEffect>
                  </p:childTnLst>
                </p:cTn>
              </p:par>
            </p:tnLst>
          </p:tmpl>
          <p:tmpl lvl="5">
            <p:tnLst>
              <p:par>
                <p:cTn presetID="14" presetClass="entr" presetSubtype="10" fill="hold" nodeType="withEffect">
                  <p:stCondLst>
                    <p:cond delay="0"/>
                  </p:stCondLst>
                  <p:childTnLst>
                    <p:set>
                      <p:cBhvr>
                        <p:cTn dur="1" fill="hold">
                          <p:stCondLst>
                            <p:cond delay="0"/>
                          </p:stCondLst>
                        </p:cTn>
                        <p:tgtEl>
                          <p:spTgt spid="14339"/>
                        </p:tgtEl>
                        <p:attrNameLst>
                          <p:attrName>style.visibility</p:attrName>
                        </p:attrNameLst>
                      </p:cBhvr>
                      <p:to>
                        <p:strVal val="visible"/>
                      </p:to>
                    </p:set>
                    <p:animEffect transition="in" filter="randombar(horizontal)">
                      <p:cBhvr>
                        <p:cTn dur="500"/>
                        <p:tgtEl>
                          <p:spTgt spid="14339"/>
                        </p:tgtEl>
                      </p:cBhvr>
                    </p:animEffect>
                  </p:childTnLst>
                </p:cTn>
              </p:par>
            </p:tnLst>
          </p:tmpl>
        </p:tmplLst>
      </p:bldP>
    </p:bldLst>
  </p:timing>
  <p:txStyles>
    <p:titleStyle>
      <a:lvl1pPr algn="ctr" rtl="0" eaLnBrk="0" fontAlgn="base" hangingPunct="0">
        <a:spcBef>
          <a:spcPct val="0"/>
        </a:spcBef>
        <a:spcAft>
          <a:spcPct val="0"/>
        </a:spcAft>
        <a:defRPr sz="4400" b="1">
          <a:solidFill>
            <a:schemeClr val="tx2"/>
          </a:solidFill>
          <a:latin typeface="+mj-lt"/>
          <a:ea typeface="+mj-ea"/>
          <a:cs typeface="+mj-cs"/>
        </a:defRPr>
      </a:lvl1pPr>
      <a:lvl2pPr algn="ctr" rtl="0" eaLnBrk="0" fontAlgn="base" hangingPunct="0">
        <a:spcBef>
          <a:spcPct val="0"/>
        </a:spcBef>
        <a:spcAft>
          <a:spcPct val="0"/>
        </a:spcAft>
        <a:defRPr sz="4400" b="1">
          <a:solidFill>
            <a:schemeClr val="tx2"/>
          </a:solidFill>
          <a:latin typeface="Times New Roman" panose="02020603050405020304" pitchFamily="18" charset="0"/>
          <a:ea typeface="楷体_GB2312" pitchFamily="49" charset="-122"/>
        </a:defRPr>
      </a:lvl2pPr>
      <a:lvl3pPr algn="ctr" rtl="0" eaLnBrk="0" fontAlgn="base" hangingPunct="0">
        <a:spcBef>
          <a:spcPct val="0"/>
        </a:spcBef>
        <a:spcAft>
          <a:spcPct val="0"/>
        </a:spcAft>
        <a:defRPr sz="4400" b="1">
          <a:solidFill>
            <a:schemeClr val="tx2"/>
          </a:solidFill>
          <a:latin typeface="Times New Roman" panose="02020603050405020304" pitchFamily="18" charset="0"/>
          <a:ea typeface="楷体_GB2312" pitchFamily="49" charset="-122"/>
        </a:defRPr>
      </a:lvl3pPr>
      <a:lvl4pPr algn="ctr" rtl="0" eaLnBrk="0" fontAlgn="base" hangingPunct="0">
        <a:spcBef>
          <a:spcPct val="0"/>
        </a:spcBef>
        <a:spcAft>
          <a:spcPct val="0"/>
        </a:spcAft>
        <a:defRPr sz="4400" b="1">
          <a:solidFill>
            <a:schemeClr val="tx2"/>
          </a:solidFill>
          <a:latin typeface="Times New Roman" panose="02020603050405020304" pitchFamily="18" charset="0"/>
          <a:ea typeface="楷体_GB2312" pitchFamily="49" charset="-122"/>
        </a:defRPr>
      </a:lvl4pPr>
      <a:lvl5pPr algn="ctr" rtl="0" eaLnBrk="0" fontAlgn="base" hangingPunct="0">
        <a:spcBef>
          <a:spcPct val="0"/>
        </a:spcBef>
        <a:spcAft>
          <a:spcPct val="0"/>
        </a:spcAft>
        <a:defRPr sz="4400" b="1">
          <a:solidFill>
            <a:schemeClr val="tx2"/>
          </a:solidFill>
          <a:latin typeface="Times New Roman" panose="02020603050405020304" pitchFamily="18" charset="0"/>
          <a:ea typeface="楷体_GB2312" pitchFamily="49" charset="-122"/>
        </a:defRPr>
      </a:lvl5pPr>
      <a:lvl6pPr marL="457200" algn="ctr" rtl="0" fontAlgn="base">
        <a:spcBef>
          <a:spcPct val="0"/>
        </a:spcBef>
        <a:spcAft>
          <a:spcPct val="0"/>
        </a:spcAft>
        <a:defRPr sz="4400" b="1">
          <a:solidFill>
            <a:schemeClr val="tx2"/>
          </a:solidFill>
          <a:latin typeface="Times New Roman" panose="02020603050405020304" pitchFamily="18" charset="0"/>
          <a:ea typeface="楷体_GB2312" pitchFamily="49" charset="-122"/>
        </a:defRPr>
      </a:lvl6pPr>
      <a:lvl7pPr marL="914400" algn="ctr" rtl="0" fontAlgn="base">
        <a:spcBef>
          <a:spcPct val="0"/>
        </a:spcBef>
        <a:spcAft>
          <a:spcPct val="0"/>
        </a:spcAft>
        <a:defRPr sz="4400" b="1">
          <a:solidFill>
            <a:schemeClr val="tx2"/>
          </a:solidFill>
          <a:latin typeface="Times New Roman" panose="02020603050405020304" pitchFamily="18" charset="0"/>
          <a:ea typeface="楷体_GB2312" pitchFamily="49" charset="-122"/>
        </a:defRPr>
      </a:lvl7pPr>
      <a:lvl8pPr marL="1371600" algn="ctr" rtl="0" fontAlgn="base">
        <a:spcBef>
          <a:spcPct val="0"/>
        </a:spcBef>
        <a:spcAft>
          <a:spcPct val="0"/>
        </a:spcAft>
        <a:defRPr sz="4400" b="1">
          <a:solidFill>
            <a:schemeClr val="tx2"/>
          </a:solidFill>
          <a:latin typeface="Times New Roman" panose="02020603050405020304" pitchFamily="18" charset="0"/>
          <a:ea typeface="楷体_GB2312" pitchFamily="49" charset="-122"/>
        </a:defRPr>
      </a:lvl8pPr>
      <a:lvl9pPr marL="1828800" algn="ctr" rtl="0" fontAlgn="base">
        <a:spcBef>
          <a:spcPct val="0"/>
        </a:spcBef>
        <a:spcAft>
          <a:spcPct val="0"/>
        </a:spcAft>
        <a:defRPr sz="4400" b="1">
          <a:solidFill>
            <a:schemeClr val="tx2"/>
          </a:solidFill>
          <a:latin typeface="Times New Roman" panose="02020603050405020304" pitchFamily="18" charset="0"/>
          <a:ea typeface="楷体_GB2312" pitchFamily="49"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b="1">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b="1">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b="1">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b="1">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b="1">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b="1">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58267" y="285699"/>
            <a:ext cx="3695700" cy="574675"/>
          </a:xfrm>
          <a:prstGeom prst="rect">
            <a:avLst/>
          </a:prstGeom>
        </p:spPr>
        <p:txBody>
          <a:bodyPr wrap="square" lIns="0" tIns="0" rIns="0" bIns="0">
            <a:spAutoFit/>
          </a:bodyPr>
          <a:lstStyle>
            <a:lvl1pPr>
              <a:defRPr sz="3600" b="1" i="0">
                <a:solidFill>
                  <a:srgbClr val="6F2F9F"/>
                </a:solidFill>
                <a:latin typeface="Microsoft JhengHei" panose="020B0604030504040204" charset="-120"/>
                <a:cs typeface="Microsoft JhengHei" panose="020B0604030504040204" charset="-120"/>
              </a:defRPr>
            </a:lvl1pPr>
          </a:lstStyle>
          <a:p/>
        </p:txBody>
      </p:sp>
      <p:sp>
        <p:nvSpPr>
          <p:cNvPr id="3" name="Holder 3"/>
          <p:cNvSpPr>
            <a:spLocks noGrp="1"/>
          </p:cNvSpPr>
          <p:nvPr>
            <p:ph type="body" idx="1"/>
          </p:nvPr>
        </p:nvSpPr>
        <p:spPr>
          <a:xfrm>
            <a:off x="690168" y="1787397"/>
            <a:ext cx="5214620" cy="2494915"/>
          </a:xfrm>
          <a:prstGeom prst="rect">
            <a:avLst/>
          </a:prstGeom>
        </p:spPr>
        <p:txBody>
          <a:bodyPr wrap="square" lIns="0" tIns="0" rIns="0" bIns="0">
            <a:spAutoFit/>
          </a:bodyPr>
          <a:lstStyle>
            <a:lvl1pPr>
              <a:defRPr sz="1800" b="0" i="0">
                <a:solidFill>
                  <a:schemeClr val="tx1"/>
                </a:solidFill>
                <a:latin typeface="宋体" panose="02010600030101010101" pitchFamily="2" charset="-122"/>
                <a:cs typeface="宋体" panose="02010600030101010101" pitchFamily="2" charset="-122"/>
              </a:defRPr>
            </a:lvl1pPr>
          </a:lstStyle>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2.png"/><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7.png"/><Relationship Id="rId1"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9.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23.png"/><Relationship Id="rId1"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4.jpe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5.jpe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6.jpeg"/></Relationships>
</file>

<file path=ppt/slides/_rels/slide3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30.jpeg"/><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image" Target="../media/image27.jpe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6.jpeg"/><Relationship Id="rId1" Type="http://schemas.openxmlformats.org/officeDocument/2006/relationships/image" Target="../media/image31.jpe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2.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3.jpeg"/></Relationships>
</file>

<file path=ppt/slides/_rels/slide4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37.jpeg"/><Relationship Id="rId3" Type="http://schemas.openxmlformats.org/officeDocument/2006/relationships/image" Target="../media/image36.png"/><Relationship Id="rId2" Type="http://schemas.openxmlformats.org/officeDocument/2006/relationships/image" Target="../media/image35.jpeg"/><Relationship Id="rId1" Type="http://schemas.openxmlformats.org/officeDocument/2006/relationships/image" Target="../media/image34.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8.jpe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9.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0.jpeg"/></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image" Target="../media/image41.jpe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4.jpeg"/></Relationships>
</file>

<file path=ppt/slides/_rels/slide4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7.jpeg"/><Relationship Id="rId2" Type="http://schemas.openxmlformats.org/officeDocument/2006/relationships/image" Target="../media/image46.png"/><Relationship Id="rId1" Type="http://schemas.openxmlformats.org/officeDocument/2006/relationships/image" Target="../media/image4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rrowheads="1"/>
          </p:cNvSpPr>
          <p:nvPr>
            <p:ph type="title" idx="4294967295"/>
          </p:nvPr>
        </p:nvSpPr>
        <p:spPr>
          <a:xfrm>
            <a:off x="395288" y="0"/>
            <a:ext cx="8229600" cy="774700"/>
          </a:xfrm>
          <a:solidFill>
            <a:srgbClr val="FFFF00"/>
          </a:solidFill>
        </p:spPr>
        <p:txBody>
          <a:bodyPr/>
          <a:lstStyle/>
          <a:p>
            <a:pPr algn="l" eaLnBrk="1" hangingPunct="1"/>
            <a:r>
              <a:rPr lang="en-US" altLang="zh-CN" sz="3600">
                <a:solidFill>
                  <a:schemeClr val="tx1"/>
                </a:solidFill>
                <a:ea typeface="黑体" panose="02010609060101010101" pitchFamily="49" charset="-122"/>
              </a:rPr>
              <a:t>3.5 </a:t>
            </a:r>
            <a:r>
              <a:rPr lang="zh-CN" altLang="en-US" sz="3600">
                <a:solidFill>
                  <a:schemeClr val="tx1"/>
                </a:solidFill>
                <a:ea typeface="黑体" panose="02010609060101010101" pitchFamily="49" charset="-122"/>
              </a:rPr>
              <a:t>燃料电池</a:t>
            </a:r>
            <a:endParaRPr lang="zh-CN" altLang="en-US" sz="3600">
              <a:solidFill>
                <a:schemeClr val="tx1"/>
              </a:solidFill>
              <a:ea typeface="黑体" panose="02010609060101010101" pitchFamily="49" charset="-122"/>
            </a:endParaRPr>
          </a:p>
        </p:txBody>
      </p:sp>
      <p:sp>
        <p:nvSpPr>
          <p:cNvPr id="67587" name="Text Box 3"/>
          <p:cNvSpPr txBox="1">
            <a:spLocks noChangeArrowheads="1"/>
          </p:cNvSpPr>
          <p:nvPr/>
        </p:nvSpPr>
        <p:spPr bwMode="auto">
          <a:xfrm>
            <a:off x="395288" y="765175"/>
            <a:ext cx="8153400" cy="581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tIns="0" bIns="0">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lnSpc>
                <a:spcPct val="150000"/>
              </a:lnSpc>
            </a:pPr>
            <a:r>
              <a:rPr lang="zh-CN" altLang="en-US" sz="2800">
                <a:solidFill>
                  <a:schemeClr val="tx1"/>
                </a:solidFill>
                <a:latin typeface="楷体_GB2312" pitchFamily="49" charset="-122"/>
                <a:ea typeface="楷体_GB2312" pitchFamily="49" charset="-122"/>
              </a:rPr>
              <a:t>    </a:t>
            </a:r>
            <a:r>
              <a:rPr lang="zh-CN" altLang="en-US" sz="2800">
                <a:solidFill>
                  <a:schemeClr val="tx1"/>
                </a:solidFill>
                <a:ea typeface="楷体_GB2312" pitchFamily="49" charset="-122"/>
              </a:rPr>
              <a:t>所谓燃料电池（</a:t>
            </a:r>
            <a:r>
              <a:rPr lang="en-US" altLang="zh-CN" sz="2800">
                <a:solidFill>
                  <a:schemeClr val="tx1"/>
                </a:solidFill>
                <a:ea typeface="楷体_GB2312" pitchFamily="49" charset="-122"/>
              </a:rPr>
              <a:t>FC, Fuel Cell</a:t>
            </a:r>
            <a:r>
              <a:rPr lang="zh-CN" altLang="en-US" sz="2800">
                <a:solidFill>
                  <a:schemeClr val="tx1"/>
                </a:solidFill>
                <a:ea typeface="楷体_GB2312" pitchFamily="49" charset="-122"/>
              </a:rPr>
              <a:t>），是由燃料（氢、烃、甲醇等）、氧化剂（纯氧、净化空气、</a:t>
            </a:r>
            <a:r>
              <a:rPr lang="en-US" altLang="zh-CN" sz="2800">
                <a:solidFill>
                  <a:schemeClr val="tx1"/>
                </a:solidFill>
                <a:ea typeface="楷体_GB2312" pitchFamily="49" charset="-122"/>
              </a:rPr>
              <a:t>H</a:t>
            </a:r>
            <a:r>
              <a:rPr lang="en-US" altLang="zh-CN" sz="2800" baseline="-25000">
                <a:solidFill>
                  <a:schemeClr val="tx1"/>
                </a:solidFill>
                <a:ea typeface="楷体_GB2312" pitchFamily="49" charset="-122"/>
              </a:rPr>
              <a:t>2</a:t>
            </a:r>
            <a:r>
              <a:rPr lang="en-US" altLang="zh-CN" sz="2800">
                <a:solidFill>
                  <a:schemeClr val="tx1"/>
                </a:solidFill>
                <a:ea typeface="楷体_GB2312" pitchFamily="49" charset="-122"/>
              </a:rPr>
              <a:t>O</a:t>
            </a:r>
            <a:r>
              <a:rPr lang="en-US" altLang="zh-CN" sz="2800" baseline="-25000">
                <a:solidFill>
                  <a:schemeClr val="tx1"/>
                </a:solidFill>
                <a:ea typeface="楷体_GB2312" pitchFamily="49" charset="-122"/>
              </a:rPr>
              <a:t>2</a:t>
            </a:r>
            <a:r>
              <a:rPr lang="zh-CN" altLang="en-US" sz="2800">
                <a:solidFill>
                  <a:schemeClr val="tx1"/>
                </a:solidFill>
                <a:ea typeface="楷体_GB2312" pitchFamily="49" charset="-122"/>
              </a:rPr>
              <a:t>等）、电极和电解质组成。利用燃料和氧化剂之间的氧化</a:t>
            </a:r>
            <a:r>
              <a:rPr lang="en-US" altLang="zh-CN" sz="2800">
                <a:solidFill>
                  <a:schemeClr val="tx1"/>
                </a:solidFill>
                <a:ea typeface="楷体_GB2312" pitchFamily="49" charset="-122"/>
              </a:rPr>
              <a:t>-</a:t>
            </a:r>
            <a:r>
              <a:rPr lang="zh-CN" altLang="en-US" sz="2800">
                <a:solidFill>
                  <a:schemeClr val="tx1"/>
                </a:solidFill>
                <a:ea typeface="楷体_GB2312" pitchFamily="49" charset="-122"/>
              </a:rPr>
              <a:t>还原反应，可以从化学能</a:t>
            </a:r>
            <a:r>
              <a:rPr lang="zh-CN" altLang="en-US" sz="2800">
                <a:solidFill>
                  <a:srgbClr val="FF3300"/>
                </a:solidFill>
                <a:ea typeface="楷体_GB2312" pitchFamily="49" charset="-122"/>
              </a:rPr>
              <a:t>直接</a:t>
            </a:r>
            <a:r>
              <a:rPr lang="zh-CN" altLang="en-US" sz="2800">
                <a:solidFill>
                  <a:schemeClr val="tx1"/>
                </a:solidFill>
                <a:ea typeface="楷体_GB2312" pitchFamily="49" charset="-122"/>
              </a:rPr>
              <a:t>产生电能。</a:t>
            </a:r>
            <a:endParaRPr lang="zh-CN" altLang="en-US" sz="2800">
              <a:solidFill>
                <a:schemeClr val="tx1"/>
              </a:solidFill>
              <a:ea typeface="楷体_GB2312" pitchFamily="49" charset="-122"/>
            </a:endParaRPr>
          </a:p>
          <a:p>
            <a:pPr eaLnBrk="1" hangingPunct="1">
              <a:lnSpc>
                <a:spcPct val="150000"/>
              </a:lnSpc>
            </a:pPr>
            <a:r>
              <a:rPr lang="zh-CN" altLang="en-US" sz="2800">
                <a:solidFill>
                  <a:schemeClr val="tx1"/>
                </a:solidFill>
                <a:ea typeface="楷体_GB2312" pitchFamily="49" charset="-122"/>
              </a:rPr>
              <a:t>        燃料电池与一般电池不同，</a:t>
            </a:r>
            <a:r>
              <a:rPr lang="zh-CN" altLang="en-US" sz="2800" u="sng">
                <a:solidFill>
                  <a:schemeClr val="tx1"/>
                </a:solidFill>
                <a:ea typeface="楷体_GB2312" pitchFamily="49" charset="-122"/>
              </a:rPr>
              <a:t>它所需的电极活性物质并不存在于电池内部，而是全部由电池外部供给的。</a:t>
            </a:r>
            <a:r>
              <a:rPr lang="zh-CN" altLang="en-US" sz="2800">
                <a:solidFill>
                  <a:schemeClr val="tx1"/>
                </a:solidFill>
                <a:ea typeface="楷体_GB2312" pitchFamily="49" charset="-122"/>
              </a:rPr>
              <a:t>原则上只要不断供给化学原料，燃料电池就能不断工作。所以又叫“连续电池”。</a:t>
            </a:r>
            <a:endParaRPr lang="zh-CN" altLang="en-US" sz="2800">
              <a:solidFill>
                <a:schemeClr val="tx1"/>
              </a:solidFill>
              <a:ea typeface="楷体_GB2312" pitchFamily="49" charset="-122"/>
            </a:endParaRPr>
          </a:p>
        </p:txBody>
      </p:sp>
    </p:spTree>
  </p:cSld>
  <p:clrMapOvr>
    <a:masterClrMapping/>
  </p:clrMapOvr>
  <p:transition>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467360" y="549275"/>
            <a:ext cx="3327400" cy="794385"/>
          </a:xfrm>
          <a:prstGeom prst="rect">
            <a:avLst/>
          </a:prstGeom>
        </p:spPr>
      </p:pic>
      <p:pic>
        <p:nvPicPr>
          <p:cNvPr id="3" name="图片 2"/>
          <p:cNvPicPr>
            <a:picLocks noChangeAspect="1"/>
          </p:cNvPicPr>
          <p:nvPr/>
        </p:nvPicPr>
        <p:blipFill>
          <a:blip r:embed="rId3"/>
          <a:stretch>
            <a:fillRect/>
          </a:stretch>
        </p:blipFill>
        <p:spPr>
          <a:xfrm>
            <a:off x="251460" y="1931035"/>
            <a:ext cx="8713470" cy="2995930"/>
          </a:xfrm>
          <a:prstGeom prst="rect">
            <a:avLst/>
          </a:prstGeom>
        </p:spPr>
      </p:pic>
    </p:spTree>
  </p:cSld>
  <p:clrMapOvr>
    <a:masterClrMapping/>
  </p:clrMapOvr>
  <p:transition>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467360" y="549275"/>
            <a:ext cx="3327400" cy="794385"/>
          </a:xfrm>
          <a:prstGeom prst="rect">
            <a:avLst/>
          </a:prstGeom>
        </p:spPr>
      </p:pic>
      <p:pic>
        <p:nvPicPr>
          <p:cNvPr id="4" name="图片 3"/>
          <p:cNvPicPr>
            <a:picLocks noChangeAspect="1"/>
          </p:cNvPicPr>
          <p:nvPr/>
        </p:nvPicPr>
        <p:blipFill>
          <a:blip r:embed="rId3"/>
          <a:stretch>
            <a:fillRect/>
          </a:stretch>
        </p:blipFill>
        <p:spPr>
          <a:xfrm>
            <a:off x="1187450" y="1557020"/>
            <a:ext cx="7366000" cy="4262755"/>
          </a:xfrm>
          <a:prstGeom prst="rect">
            <a:avLst/>
          </a:prstGeom>
        </p:spPr>
      </p:pic>
    </p:spTree>
  </p:cSld>
  <p:clrMapOvr>
    <a:masterClrMapping/>
  </p:clrMapOvr>
  <p:transition>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467360" y="549275"/>
            <a:ext cx="3327400" cy="794385"/>
          </a:xfrm>
          <a:prstGeom prst="rect">
            <a:avLst/>
          </a:prstGeom>
        </p:spPr>
      </p:pic>
      <p:pic>
        <p:nvPicPr>
          <p:cNvPr id="4" name="图片 3"/>
          <p:cNvPicPr>
            <a:picLocks noChangeAspect="1"/>
          </p:cNvPicPr>
          <p:nvPr/>
        </p:nvPicPr>
        <p:blipFill>
          <a:blip r:embed="rId3"/>
          <a:stretch>
            <a:fillRect/>
          </a:stretch>
        </p:blipFill>
        <p:spPr>
          <a:xfrm>
            <a:off x="251460" y="1485265"/>
            <a:ext cx="8535035" cy="4232910"/>
          </a:xfrm>
          <a:prstGeom prst="rect">
            <a:avLst/>
          </a:prstGeom>
        </p:spPr>
      </p:pic>
    </p:spTree>
  </p:cSld>
  <p:clrMapOvr>
    <a:masterClrMapping/>
  </p:clrMapOvr>
  <p:transition>
    <p:randomBar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467360" y="549275"/>
            <a:ext cx="3327400" cy="794385"/>
          </a:xfrm>
          <a:prstGeom prst="rect">
            <a:avLst/>
          </a:prstGeom>
        </p:spPr>
      </p:pic>
      <p:pic>
        <p:nvPicPr>
          <p:cNvPr id="2" name="图片 1"/>
          <p:cNvPicPr>
            <a:picLocks noChangeAspect="1"/>
          </p:cNvPicPr>
          <p:nvPr/>
        </p:nvPicPr>
        <p:blipFill>
          <a:blip r:embed="rId3"/>
          <a:stretch>
            <a:fillRect/>
          </a:stretch>
        </p:blipFill>
        <p:spPr>
          <a:xfrm>
            <a:off x="539750" y="1412875"/>
            <a:ext cx="8331200" cy="4211320"/>
          </a:xfrm>
          <a:prstGeom prst="rect">
            <a:avLst/>
          </a:prstGeom>
        </p:spPr>
      </p:pic>
      <p:sp>
        <p:nvSpPr>
          <p:cNvPr id="4" name="文本框 3"/>
          <p:cNvSpPr txBox="1"/>
          <p:nvPr/>
        </p:nvSpPr>
        <p:spPr>
          <a:xfrm>
            <a:off x="3275965" y="6093460"/>
            <a:ext cx="3048000" cy="460375"/>
          </a:xfrm>
          <a:prstGeom prst="rect">
            <a:avLst/>
          </a:prstGeom>
          <a:noFill/>
        </p:spPr>
        <p:txBody>
          <a:bodyPr wrap="square" rtlCol="0">
            <a:spAutoFit/>
          </a:bodyPr>
          <a:p>
            <a:r>
              <a:rPr lang="zh-CN" altLang="en-US" sz="2400">
                <a:solidFill>
                  <a:schemeClr val="tx1"/>
                </a:solidFill>
              </a:rPr>
              <a:t>从环境中吸热</a:t>
            </a:r>
            <a:endParaRPr lang="zh-CN" altLang="en-US" sz="2400">
              <a:solidFill>
                <a:schemeClr val="tx1"/>
              </a:solidFill>
            </a:endParaRPr>
          </a:p>
        </p:txBody>
      </p:sp>
    </p:spTree>
  </p:cSld>
  <p:clrMapOvr>
    <a:masterClrMapping/>
  </p:clrMapOvr>
  <p:transition>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467360" y="549275"/>
            <a:ext cx="3327400" cy="794385"/>
          </a:xfrm>
          <a:prstGeom prst="rect">
            <a:avLst/>
          </a:prstGeom>
        </p:spPr>
      </p:pic>
      <p:pic>
        <p:nvPicPr>
          <p:cNvPr id="2" name="图片 1"/>
          <p:cNvPicPr>
            <a:picLocks noChangeAspect="1"/>
          </p:cNvPicPr>
          <p:nvPr/>
        </p:nvPicPr>
        <p:blipFill>
          <a:blip r:embed="rId3"/>
          <a:stretch>
            <a:fillRect/>
          </a:stretch>
        </p:blipFill>
        <p:spPr>
          <a:xfrm>
            <a:off x="611505" y="1917065"/>
            <a:ext cx="8028305" cy="3338830"/>
          </a:xfrm>
          <a:prstGeom prst="rect">
            <a:avLst/>
          </a:prstGeom>
        </p:spPr>
      </p:pic>
    </p:spTree>
  </p:cSld>
  <p:clrMapOvr>
    <a:masterClrMapping/>
  </p:clrMapOvr>
  <p:transition>
    <p:randomBar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3"/>
          <p:cNvSpPr txBox="1">
            <a:spLocks noChangeArrowheads="1"/>
          </p:cNvSpPr>
          <p:nvPr/>
        </p:nvSpPr>
        <p:spPr bwMode="auto">
          <a:xfrm>
            <a:off x="457200" y="1447800"/>
            <a:ext cx="8153400" cy="384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tIns="0" bIns="0">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lnSpc>
                <a:spcPct val="150000"/>
              </a:lnSpc>
            </a:pPr>
            <a:r>
              <a:rPr lang="zh-CN" altLang="en-US" sz="2800">
                <a:solidFill>
                  <a:schemeClr val="tx1"/>
                </a:solidFill>
                <a:latin typeface="楷体_GB2312" pitchFamily="49" charset="-122"/>
                <a:ea typeface="楷体_GB2312" pitchFamily="49" charset="-122"/>
              </a:rPr>
              <a:t>    燃料电池研究者预计，燃料电池的发展创新将如百年前内燃机技术突破取代人力造成工业革命，也像电脑的发明普及取代人力的运算绘图及文书处理的电脑革命，又如网络通讯的发展改变了人们生活习惯的信息革命。</a:t>
            </a:r>
            <a:r>
              <a:rPr lang="zh-CN" altLang="en-US" sz="2800" u="sng">
                <a:solidFill>
                  <a:srgbClr val="FF00FF"/>
                </a:solidFill>
                <a:latin typeface="楷体_GB2312" pitchFamily="49" charset="-122"/>
                <a:ea typeface="楷体_GB2312" pitchFamily="49" charset="-122"/>
              </a:rPr>
              <a:t>但是一切取决于高效、低成本催化剂的研制。</a:t>
            </a:r>
            <a:endParaRPr lang="zh-CN" altLang="en-US" sz="2800" u="sng">
              <a:solidFill>
                <a:srgbClr val="FF00FF"/>
              </a:solidFill>
              <a:latin typeface="楷体_GB2312" pitchFamily="49" charset="-122"/>
              <a:ea typeface="楷体_GB2312" pitchFamily="49" charset="-122"/>
            </a:endParaRPr>
          </a:p>
        </p:txBody>
      </p:sp>
    </p:spTree>
  </p:cSld>
  <p:clrMapOvr>
    <a:masterClrMapping/>
  </p:clrMapOvr>
  <p:transition>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3"/>
          <p:cNvSpPr txBox="1">
            <a:spLocks noChangeArrowheads="1"/>
          </p:cNvSpPr>
          <p:nvPr/>
        </p:nvSpPr>
        <p:spPr bwMode="auto">
          <a:xfrm>
            <a:off x="395288" y="260350"/>
            <a:ext cx="8153400" cy="738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tIns="0" bIns="0">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lnSpc>
                <a:spcPct val="150000"/>
              </a:lnSpc>
            </a:pPr>
            <a:r>
              <a:rPr lang="zh-CN" altLang="en-US" sz="3200">
                <a:solidFill>
                  <a:srgbClr val="FF3300"/>
                </a:solidFill>
                <a:ea typeface="楷体_GB2312" pitchFamily="49" charset="-122"/>
              </a:rPr>
              <a:t>（</a:t>
            </a:r>
            <a:r>
              <a:rPr lang="en-US" altLang="zh-CN" sz="3200">
                <a:solidFill>
                  <a:srgbClr val="FF3300"/>
                </a:solidFill>
                <a:ea typeface="楷体_GB2312" pitchFamily="49" charset="-122"/>
              </a:rPr>
              <a:t>2</a:t>
            </a:r>
            <a:r>
              <a:rPr lang="zh-CN" altLang="en-US" sz="3200">
                <a:solidFill>
                  <a:srgbClr val="FF3300"/>
                </a:solidFill>
                <a:ea typeface="楷体_GB2312" pitchFamily="49" charset="-122"/>
              </a:rPr>
              <a:t>）燃料电池的工作原理</a:t>
            </a:r>
            <a:endParaRPr lang="zh-CN" altLang="en-US" sz="3200">
              <a:solidFill>
                <a:srgbClr val="FF3300"/>
              </a:solidFill>
              <a:ea typeface="楷体_GB2312" pitchFamily="49" charset="-122"/>
            </a:endParaRPr>
          </a:p>
        </p:txBody>
      </p:sp>
      <p:pic>
        <p:nvPicPr>
          <p:cNvPr id="7168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66800" y="1295400"/>
            <a:ext cx="6791325" cy="491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 Box 3"/>
          <p:cNvSpPr txBox="1">
            <a:spLocks noChangeArrowheads="1"/>
          </p:cNvSpPr>
          <p:nvPr/>
        </p:nvSpPr>
        <p:spPr bwMode="auto">
          <a:xfrm>
            <a:off x="395288" y="908050"/>
            <a:ext cx="8520112" cy="5221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tIns="0" bIns="0">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lnSpc>
                <a:spcPct val="150000"/>
              </a:lnSpc>
            </a:pPr>
            <a:r>
              <a:rPr lang="zh-CN" altLang="en-US" sz="3200">
                <a:solidFill>
                  <a:srgbClr val="FF3300"/>
                </a:solidFill>
                <a:ea typeface="楷体_GB2312" pitchFamily="49" charset="-122"/>
              </a:rPr>
              <a:t>（</a:t>
            </a:r>
            <a:r>
              <a:rPr lang="en-US" altLang="zh-CN" sz="3200">
                <a:solidFill>
                  <a:srgbClr val="FF3300"/>
                </a:solidFill>
                <a:ea typeface="楷体_GB2312" pitchFamily="49" charset="-122"/>
              </a:rPr>
              <a:t>3</a:t>
            </a:r>
            <a:r>
              <a:rPr lang="zh-CN" altLang="en-US" sz="3200">
                <a:solidFill>
                  <a:srgbClr val="FF3300"/>
                </a:solidFill>
                <a:ea typeface="楷体_GB2312" pitchFamily="49" charset="-122"/>
              </a:rPr>
              <a:t>）</a:t>
            </a:r>
            <a:r>
              <a:rPr lang="en-US" altLang="zh-CN" sz="3200">
                <a:solidFill>
                  <a:srgbClr val="FF3300"/>
                </a:solidFill>
                <a:ea typeface="楷体_GB2312" pitchFamily="49" charset="-122"/>
              </a:rPr>
              <a:t>FC</a:t>
            </a:r>
            <a:r>
              <a:rPr lang="zh-CN" altLang="en-US" sz="3200">
                <a:solidFill>
                  <a:srgbClr val="FF3300"/>
                </a:solidFill>
                <a:ea typeface="楷体_GB2312" pitchFamily="49" charset="-122"/>
              </a:rPr>
              <a:t>的主要类型</a:t>
            </a:r>
            <a:endParaRPr lang="zh-CN" altLang="en-US" sz="3200">
              <a:solidFill>
                <a:srgbClr val="FF3300"/>
              </a:solidFill>
              <a:ea typeface="楷体_GB2312" pitchFamily="49" charset="-122"/>
            </a:endParaRPr>
          </a:p>
          <a:p>
            <a:pPr eaLnBrk="1" hangingPunct="1">
              <a:lnSpc>
                <a:spcPct val="150000"/>
              </a:lnSpc>
            </a:pPr>
            <a:endParaRPr lang="zh-CN" altLang="en-US" sz="2800">
              <a:solidFill>
                <a:schemeClr val="tx1"/>
              </a:solidFill>
              <a:latin typeface="Arial" panose="020B0604020202020204" pitchFamily="34" charset="0"/>
              <a:ea typeface="楷体_GB2312" pitchFamily="49" charset="-122"/>
            </a:endParaRPr>
          </a:p>
          <a:p>
            <a:pPr eaLnBrk="1" hangingPunct="1">
              <a:lnSpc>
                <a:spcPct val="150000"/>
              </a:lnSpc>
            </a:pPr>
            <a:r>
              <a:rPr lang="zh-CN" altLang="en-US" sz="2800">
                <a:solidFill>
                  <a:schemeClr val="tx1"/>
                </a:solidFill>
                <a:ea typeface="楷体_GB2312" pitchFamily="49" charset="-122"/>
              </a:rPr>
              <a:t>按照</a:t>
            </a:r>
            <a:r>
              <a:rPr lang="zh-CN" altLang="en-US" sz="2800">
                <a:solidFill>
                  <a:srgbClr val="0033CC"/>
                </a:solidFill>
                <a:ea typeface="楷体_GB2312" pitchFamily="49" charset="-122"/>
              </a:rPr>
              <a:t>燃料类型</a:t>
            </a:r>
            <a:r>
              <a:rPr lang="zh-CN" altLang="en-US" sz="2800">
                <a:solidFill>
                  <a:schemeClr val="tx1"/>
                </a:solidFill>
                <a:ea typeface="楷体_GB2312" pitchFamily="49" charset="-122"/>
              </a:rPr>
              <a:t>可以分为：直接型、间接型和再生型。</a:t>
            </a:r>
            <a:endParaRPr lang="zh-CN" altLang="en-US" sz="2800">
              <a:solidFill>
                <a:schemeClr val="tx1"/>
              </a:solidFill>
              <a:ea typeface="楷体_GB2312" pitchFamily="49" charset="-122"/>
            </a:endParaRPr>
          </a:p>
          <a:p>
            <a:pPr eaLnBrk="1" hangingPunct="1">
              <a:lnSpc>
                <a:spcPct val="150000"/>
              </a:lnSpc>
            </a:pPr>
            <a:endParaRPr lang="zh-CN" altLang="en-US" sz="2800">
              <a:solidFill>
                <a:schemeClr val="tx1"/>
              </a:solidFill>
              <a:ea typeface="楷体_GB2312" pitchFamily="49" charset="-122"/>
            </a:endParaRPr>
          </a:p>
          <a:p>
            <a:pPr eaLnBrk="1" hangingPunct="1">
              <a:lnSpc>
                <a:spcPct val="150000"/>
              </a:lnSpc>
            </a:pPr>
            <a:r>
              <a:rPr lang="zh-CN" altLang="en-US" sz="2800">
                <a:solidFill>
                  <a:schemeClr val="tx1"/>
                </a:solidFill>
                <a:ea typeface="楷体_GB2312" pitchFamily="49" charset="-122"/>
              </a:rPr>
              <a:t>按照</a:t>
            </a:r>
            <a:r>
              <a:rPr lang="zh-CN" altLang="en-US" sz="2800">
                <a:solidFill>
                  <a:srgbClr val="0033CC"/>
                </a:solidFill>
                <a:ea typeface="楷体_GB2312" pitchFamily="49" charset="-122"/>
              </a:rPr>
              <a:t>电解质的种类</a:t>
            </a:r>
            <a:r>
              <a:rPr lang="zh-CN" altLang="en-US" sz="2800">
                <a:solidFill>
                  <a:schemeClr val="tx1"/>
                </a:solidFill>
                <a:ea typeface="楷体_GB2312" pitchFamily="49" charset="-122"/>
              </a:rPr>
              <a:t>又可以分为：碱性燃料电池（</a:t>
            </a:r>
            <a:r>
              <a:rPr lang="en-US" altLang="zh-CN" sz="2800">
                <a:solidFill>
                  <a:schemeClr val="tx1"/>
                </a:solidFill>
                <a:ea typeface="楷体_GB2312" pitchFamily="49" charset="-122"/>
              </a:rPr>
              <a:t>AFC</a:t>
            </a:r>
            <a:r>
              <a:rPr lang="zh-CN" altLang="en-US" sz="2800">
                <a:solidFill>
                  <a:schemeClr val="tx1"/>
                </a:solidFill>
                <a:ea typeface="楷体_GB2312" pitchFamily="49" charset="-122"/>
              </a:rPr>
              <a:t>）、磷酸燃料电池（</a:t>
            </a:r>
            <a:r>
              <a:rPr lang="en-US" altLang="zh-CN" sz="2800">
                <a:solidFill>
                  <a:schemeClr val="tx1"/>
                </a:solidFill>
                <a:ea typeface="楷体_GB2312" pitchFamily="49" charset="-122"/>
              </a:rPr>
              <a:t>PAFC</a:t>
            </a:r>
            <a:r>
              <a:rPr lang="zh-CN" altLang="en-US" sz="2800">
                <a:solidFill>
                  <a:schemeClr val="tx1"/>
                </a:solidFill>
                <a:ea typeface="楷体_GB2312" pitchFamily="49" charset="-122"/>
              </a:rPr>
              <a:t>）、熔融碳酸盐燃料电池（</a:t>
            </a:r>
            <a:r>
              <a:rPr lang="en-US" altLang="zh-CN" sz="2800">
                <a:solidFill>
                  <a:schemeClr val="tx1"/>
                </a:solidFill>
                <a:ea typeface="楷体_GB2312" pitchFamily="49" charset="-122"/>
              </a:rPr>
              <a:t>MCFC</a:t>
            </a:r>
            <a:r>
              <a:rPr lang="zh-CN" altLang="en-US" sz="2800">
                <a:solidFill>
                  <a:schemeClr val="tx1"/>
                </a:solidFill>
                <a:ea typeface="楷体_GB2312" pitchFamily="49" charset="-122"/>
              </a:rPr>
              <a:t>）、固体氧化物燃料电池（</a:t>
            </a:r>
            <a:r>
              <a:rPr lang="en-US" altLang="zh-CN" sz="2800">
                <a:solidFill>
                  <a:schemeClr val="tx1"/>
                </a:solidFill>
                <a:ea typeface="楷体_GB2312" pitchFamily="49" charset="-122"/>
              </a:rPr>
              <a:t>SOFC</a:t>
            </a:r>
            <a:r>
              <a:rPr lang="zh-CN" altLang="en-US" sz="2800">
                <a:solidFill>
                  <a:schemeClr val="tx1"/>
                </a:solidFill>
                <a:ea typeface="楷体_GB2312" pitchFamily="49" charset="-122"/>
              </a:rPr>
              <a:t>）、质子交换膜燃料电池（</a:t>
            </a:r>
            <a:r>
              <a:rPr lang="en-US" altLang="zh-CN" sz="2800">
                <a:solidFill>
                  <a:schemeClr val="tx1"/>
                </a:solidFill>
                <a:ea typeface="楷体_GB2312" pitchFamily="49" charset="-122"/>
              </a:rPr>
              <a:t>PEMFC</a:t>
            </a:r>
            <a:r>
              <a:rPr lang="zh-CN" altLang="en-US" sz="2800">
                <a:solidFill>
                  <a:schemeClr val="tx1"/>
                </a:solidFill>
                <a:ea typeface="楷体_GB2312" pitchFamily="49" charset="-122"/>
              </a:rPr>
              <a:t>）</a:t>
            </a:r>
            <a:r>
              <a:rPr lang="en-US" altLang="zh-CN" sz="2800">
                <a:solidFill>
                  <a:schemeClr val="tx1"/>
                </a:solidFill>
                <a:ea typeface="楷体_GB2312" pitchFamily="49" charset="-122"/>
              </a:rPr>
              <a:t>.</a:t>
            </a:r>
            <a:endParaRPr lang="en-US" altLang="zh-CN" sz="2800">
              <a:solidFill>
                <a:schemeClr val="tx1"/>
              </a:solidFill>
              <a:ea typeface="楷体_GB2312" pitchFamily="49" charset="-122"/>
            </a:endParaRPr>
          </a:p>
        </p:txBody>
      </p:sp>
    </p:spTree>
  </p:cSld>
  <p:clrMapOvr>
    <a:masterClrMapping/>
  </p:clrMapOvr>
  <p:transition>
    <p:randomBar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3"/>
          <p:cNvSpPr txBox="1">
            <a:spLocks noChangeArrowheads="1"/>
          </p:cNvSpPr>
          <p:nvPr/>
        </p:nvSpPr>
        <p:spPr bwMode="auto">
          <a:xfrm>
            <a:off x="538798" y="260350"/>
            <a:ext cx="8153400" cy="6463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tIns="0" bIns="0">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lnSpc>
                <a:spcPct val="150000"/>
              </a:lnSpc>
            </a:pPr>
            <a:r>
              <a:rPr lang="en-US" altLang="zh-CN" sz="2800" dirty="0">
                <a:solidFill>
                  <a:srgbClr val="0033CC"/>
                </a:solidFill>
                <a:ea typeface="楷体_GB2312" pitchFamily="49" charset="-122"/>
              </a:rPr>
              <a:t>（3.1）</a:t>
            </a:r>
            <a:r>
              <a:rPr lang="zh-CN" altLang="en-US" sz="2800" dirty="0">
                <a:solidFill>
                  <a:srgbClr val="0033CC"/>
                </a:solidFill>
                <a:ea typeface="楷体_GB2312" pitchFamily="49" charset="-122"/>
              </a:rPr>
              <a:t>磷酸燃料电池（</a:t>
            </a:r>
            <a:r>
              <a:rPr lang="en-US" altLang="zh-CN" sz="2800" dirty="0">
                <a:solidFill>
                  <a:srgbClr val="0033CC"/>
                </a:solidFill>
                <a:ea typeface="楷体_GB2312" pitchFamily="49" charset="-122"/>
              </a:rPr>
              <a:t>PAFC</a:t>
            </a:r>
            <a:r>
              <a:rPr lang="zh-CN" altLang="en-US" sz="2800" dirty="0">
                <a:solidFill>
                  <a:srgbClr val="0033CC"/>
                </a:solidFill>
                <a:ea typeface="楷体_GB2312" pitchFamily="49" charset="-122"/>
              </a:rPr>
              <a:t>）</a:t>
            </a:r>
            <a:r>
              <a:rPr lang="en-US" altLang="zh-CN" sz="2800" dirty="0">
                <a:solidFill>
                  <a:srgbClr val="0033CC"/>
                </a:solidFill>
                <a:ea typeface="楷体_GB2312" pitchFamily="49" charset="-122"/>
              </a:rPr>
              <a:t>(</a:t>
            </a:r>
            <a:r>
              <a:rPr lang="zh-CN" altLang="en-US" sz="2800" dirty="0">
                <a:solidFill>
                  <a:srgbClr val="0033CC"/>
                </a:solidFill>
                <a:ea typeface="楷体_GB2312" pitchFamily="49" charset="-122"/>
              </a:rPr>
              <a:t>第一代</a:t>
            </a:r>
            <a:r>
              <a:rPr lang="en-US" altLang="zh-CN" sz="2800" dirty="0">
                <a:solidFill>
                  <a:srgbClr val="0033CC"/>
                </a:solidFill>
                <a:ea typeface="楷体_GB2312" pitchFamily="49" charset="-122"/>
              </a:rPr>
              <a:t>)</a:t>
            </a:r>
            <a:endParaRPr lang="en-US" altLang="zh-CN" sz="2800" dirty="0">
              <a:solidFill>
                <a:srgbClr val="0033CC"/>
              </a:solidFill>
              <a:ea typeface="楷体_GB2312" pitchFamily="49" charset="-122"/>
            </a:endParaRPr>
          </a:p>
          <a:p>
            <a:pPr eaLnBrk="1" hangingPunct="1">
              <a:lnSpc>
                <a:spcPct val="150000"/>
              </a:lnSpc>
            </a:pPr>
            <a:r>
              <a:rPr lang="zh-CN" altLang="en-US" sz="2800" dirty="0">
                <a:solidFill>
                  <a:schemeClr val="tx1"/>
                </a:solidFill>
                <a:ea typeface="楷体_GB2312" pitchFamily="49" charset="-122"/>
              </a:rPr>
              <a:t>燃料：煤气、天然气、甲醇等</a:t>
            </a:r>
            <a:endParaRPr lang="zh-CN" altLang="en-US" sz="2800" dirty="0">
              <a:solidFill>
                <a:schemeClr val="tx1"/>
              </a:solidFill>
              <a:ea typeface="楷体_GB2312" pitchFamily="49" charset="-122"/>
            </a:endParaRPr>
          </a:p>
          <a:p>
            <a:pPr eaLnBrk="1" hangingPunct="1">
              <a:lnSpc>
                <a:spcPct val="150000"/>
              </a:lnSpc>
            </a:pPr>
            <a:r>
              <a:rPr lang="zh-CN" altLang="en-US" sz="2800" dirty="0">
                <a:solidFill>
                  <a:schemeClr val="tx1"/>
                </a:solidFill>
                <a:ea typeface="楷体_GB2312" pitchFamily="49" charset="-122"/>
              </a:rPr>
              <a:t>电解质：磷酸水溶液，</a:t>
            </a:r>
            <a:r>
              <a:rPr lang="zh-CN" altLang="en-US" sz="2800" dirty="0">
                <a:solidFill>
                  <a:schemeClr val="tx1"/>
                </a:solidFill>
                <a:ea typeface="楷体_GB2312" pitchFamily="49" charset="-122"/>
                <a:sym typeface="+mn-ea"/>
              </a:rPr>
              <a:t>导电离子</a:t>
            </a:r>
            <a:r>
              <a:rPr lang="en-US" altLang="zh-CN" sz="2800" dirty="0">
                <a:solidFill>
                  <a:schemeClr val="tx1"/>
                </a:solidFill>
                <a:ea typeface="楷体_GB2312" pitchFamily="49" charset="-122"/>
                <a:sym typeface="+mn-ea"/>
              </a:rPr>
              <a:t>H</a:t>
            </a:r>
            <a:r>
              <a:rPr lang="en-US" altLang="zh-CN" sz="2800" baseline="30000" dirty="0">
                <a:solidFill>
                  <a:schemeClr val="tx1"/>
                </a:solidFill>
                <a:ea typeface="楷体_GB2312" pitchFamily="49" charset="-122"/>
                <a:sym typeface="+mn-ea"/>
              </a:rPr>
              <a:t>+</a:t>
            </a:r>
            <a:endParaRPr lang="zh-CN" altLang="en-US" sz="2800" dirty="0">
              <a:solidFill>
                <a:schemeClr val="tx1"/>
              </a:solidFill>
              <a:ea typeface="楷体_GB2312" pitchFamily="49" charset="-122"/>
            </a:endParaRPr>
          </a:p>
          <a:p>
            <a:pPr eaLnBrk="1" hangingPunct="1">
              <a:lnSpc>
                <a:spcPct val="150000"/>
              </a:lnSpc>
            </a:pPr>
            <a:r>
              <a:rPr lang="zh-CN" altLang="en-US" sz="2800" dirty="0">
                <a:solidFill>
                  <a:schemeClr val="tx1"/>
                </a:solidFill>
                <a:ea typeface="楷体_GB2312" pitchFamily="49" charset="-122"/>
              </a:rPr>
              <a:t>氧化剂：空气</a:t>
            </a:r>
            <a:endParaRPr lang="zh-CN" altLang="en-US" sz="2800" dirty="0">
              <a:solidFill>
                <a:schemeClr val="tx1"/>
              </a:solidFill>
              <a:ea typeface="楷体_GB2312" pitchFamily="49" charset="-122"/>
            </a:endParaRPr>
          </a:p>
          <a:p>
            <a:pPr eaLnBrk="1" hangingPunct="1">
              <a:lnSpc>
                <a:spcPct val="150000"/>
              </a:lnSpc>
            </a:pPr>
            <a:r>
              <a:rPr lang="zh-CN" altLang="en-US" sz="2800" dirty="0">
                <a:solidFill>
                  <a:schemeClr val="tx1"/>
                </a:solidFill>
                <a:ea typeface="楷体_GB2312" pitchFamily="49" charset="-122"/>
              </a:rPr>
              <a:t>阳极：多孔质石墨（</a:t>
            </a:r>
            <a:r>
              <a:rPr lang="en-US" altLang="zh-CN" sz="2800" dirty="0">
                <a:solidFill>
                  <a:schemeClr val="tx1"/>
                </a:solidFill>
                <a:ea typeface="楷体_GB2312" pitchFamily="49" charset="-122"/>
              </a:rPr>
              <a:t>Pt</a:t>
            </a:r>
            <a:r>
              <a:rPr lang="zh-CN" altLang="en-US" sz="2800" dirty="0">
                <a:solidFill>
                  <a:schemeClr val="tx1"/>
                </a:solidFill>
                <a:ea typeface="楷体_GB2312" pitchFamily="49" charset="-122"/>
              </a:rPr>
              <a:t>催化剂）（即高分散</a:t>
            </a:r>
            <a:r>
              <a:rPr lang="en-US" altLang="zh-CN" sz="2800" dirty="0">
                <a:solidFill>
                  <a:schemeClr val="tx1"/>
                </a:solidFill>
                <a:ea typeface="楷体_GB2312" pitchFamily="49" charset="-122"/>
              </a:rPr>
              <a:t>Pt</a:t>
            </a:r>
            <a:r>
              <a:rPr lang="zh-CN" altLang="en-US" sz="2800" dirty="0">
                <a:solidFill>
                  <a:schemeClr val="tx1"/>
                </a:solidFill>
                <a:ea typeface="楷体_GB2312" pitchFamily="49" charset="-122"/>
              </a:rPr>
              <a:t>）</a:t>
            </a:r>
            <a:endParaRPr lang="zh-CN" altLang="en-US" sz="2800" dirty="0">
              <a:solidFill>
                <a:schemeClr val="tx1"/>
              </a:solidFill>
              <a:ea typeface="楷体_GB2312" pitchFamily="49" charset="-122"/>
            </a:endParaRPr>
          </a:p>
          <a:p>
            <a:pPr eaLnBrk="1" hangingPunct="1">
              <a:lnSpc>
                <a:spcPct val="150000"/>
              </a:lnSpc>
            </a:pPr>
            <a:r>
              <a:rPr lang="zh-CN" altLang="en-US" sz="2800" dirty="0">
                <a:solidFill>
                  <a:schemeClr val="tx1"/>
                </a:solidFill>
                <a:ea typeface="楷体_GB2312" pitchFamily="49" charset="-122"/>
              </a:rPr>
              <a:t>阴极：多孔质石墨（</a:t>
            </a:r>
            <a:r>
              <a:rPr lang="en-US" altLang="zh-CN" sz="2800" dirty="0">
                <a:solidFill>
                  <a:schemeClr val="tx1"/>
                </a:solidFill>
                <a:ea typeface="楷体_GB2312" pitchFamily="49" charset="-122"/>
              </a:rPr>
              <a:t>Pt</a:t>
            </a:r>
            <a:r>
              <a:rPr lang="zh-CN" altLang="en-US" sz="2800" dirty="0">
                <a:solidFill>
                  <a:schemeClr val="tx1"/>
                </a:solidFill>
                <a:ea typeface="楷体_GB2312" pitchFamily="49" charset="-122"/>
              </a:rPr>
              <a:t>催化剂）</a:t>
            </a:r>
            <a:endParaRPr lang="zh-CN" altLang="en-US" sz="2800" dirty="0">
              <a:solidFill>
                <a:schemeClr val="tx1"/>
              </a:solidFill>
              <a:ea typeface="楷体_GB2312" pitchFamily="49" charset="-122"/>
            </a:endParaRPr>
          </a:p>
          <a:p>
            <a:pPr eaLnBrk="1" hangingPunct="1">
              <a:lnSpc>
                <a:spcPct val="150000"/>
              </a:lnSpc>
            </a:pPr>
            <a:r>
              <a:rPr lang="zh-CN" altLang="en-US" sz="2800" dirty="0">
                <a:solidFill>
                  <a:schemeClr val="tx1"/>
                </a:solidFill>
                <a:ea typeface="楷体_GB2312" pitchFamily="49" charset="-122"/>
              </a:rPr>
              <a:t>工作温度：</a:t>
            </a:r>
            <a:r>
              <a:rPr lang="en-US" altLang="zh-CN" sz="2800" dirty="0">
                <a:solidFill>
                  <a:schemeClr val="tx1"/>
                </a:solidFill>
                <a:ea typeface="楷体_GB2312" pitchFamily="49" charset="-122"/>
              </a:rPr>
              <a:t>150-220℃</a:t>
            </a:r>
            <a:endParaRPr lang="en-US" altLang="zh-CN" sz="2800" dirty="0">
              <a:solidFill>
                <a:schemeClr val="tx1"/>
              </a:solidFill>
              <a:ea typeface="楷体_GB2312" pitchFamily="49" charset="-122"/>
            </a:endParaRPr>
          </a:p>
          <a:p>
            <a:pPr eaLnBrk="1" hangingPunct="1">
              <a:lnSpc>
                <a:spcPct val="150000"/>
              </a:lnSpc>
            </a:pPr>
            <a:r>
              <a:rPr lang="zh-CN" altLang="en-US" sz="2800" dirty="0">
                <a:solidFill>
                  <a:srgbClr val="0033CC"/>
                </a:solidFill>
                <a:ea typeface="楷体_GB2312" pitchFamily="49" charset="-122"/>
              </a:rPr>
              <a:t>特点：</a:t>
            </a:r>
            <a:r>
              <a:rPr lang="zh-CN" altLang="en-US" sz="2800" dirty="0">
                <a:solidFill>
                  <a:schemeClr val="tx1"/>
                </a:solidFill>
                <a:ea typeface="楷体_GB2312" pitchFamily="49" charset="-122"/>
              </a:rPr>
              <a:t>磷酸易得，反应温和，已成为发展最快、研究最成熟的一种燃料电池。系统电效率</a:t>
            </a:r>
            <a:r>
              <a:rPr lang="en-US" altLang="zh-CN" sz="2800" dirty="0">
                <a:solidFill>
                  <a:schemeClr val="tx1"/>
                </a:solidFill>
                <a:ea typeface="楷体_GB2312" pitchFamily="49" charset="-122"/>
              </a:rPr>
              <a:t>37-42%</a:t>
            </a:r>
            <a:r>
              <a:rPr lang="zh-CN" altLang="en-US" sz="2800" dirty="0">
                <a:solidFill>
                  <a:schemeClr val="tx1"/>
                </a:solidFill>
                <a:ea typeface="楷体_GB2312" pitchFamily="49" charset="-122"/>
              </a:rPr>
              <a:t>，很适合用于分散式的热电联产系统。</a:t>
            </a:r>
            <a:endParaRPr lang="zh-CN" altLang="en-US" sz="2800" dirty="0">
              <a:solidFill>
                <a:schemeClr val="tx1"/>
              </a:solidFill>
              <a:ea typeface="楷体_GB2312" pitchFamily="49" charset="-122"/>
            </a:endParaRPr>
          </a:p>
        </p:txBody>
      </p:sp>
    </p:spTree>
  </p:cSld>
  <p:clrMapOvr>
    <a:masterClrMapping/>
  </p:clrMapOvr>
  <p:transition>
    <p:randomBar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3"/>
          <p:cNvSpPr txBox="1">
            <a:spLocks noChangeArrowheads="1"/>
          </p:cNvSpPr>
          <p:nvPr/>
        </p:nvSpPr>
        <p:spPr bwMode="auto">
          <a:xfrm>
            <a:off x="395288" y="115888"/>
            <a:ext cx="8520112" cy="6463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tIns="0" bIns="0">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lnSpc>
                <a:spcPct val="150000"/>
              </a:lnSpc>
            </a:pPr>
            <a:r>
              <a:rPr lang="zh-CN" altLang="en-US" sz="2800" dirty="0">
                <a:solidFill>
                  <a:srgbClr val="0033CC"/>
                </a:solidFill>
                <a:ea typeface="楷体_GB2312" pitchFamily="49" charset="-122"/>
              </a:rPr>
              <a:t>（</a:t>
            </a:r>
            <a:r>
              <a:rPr lang="en-US" altLang="zh-CN" sz="2800" dirty="0">
                <a:solidFill>
                  <a:srgbClr val="0033CC"/>
                </a:solidFill>
                <a:ea typeface="楷体_GB2312" pitchFamily="49" charset="-122"/>
              </a:rPr>
              <a:t>3.2）</a:t>
            </a:r>
            <a:r>
              <a:rPr lang="zh-CN" altLang="en-US" sz="2800" dirty="0">
                <a:solidFill>
                  <a:srgbClr val="0033CC"/>
                </a:solidFill>
                <a:ea typeface="楷体_GB2312" pitchFamily="49" charset="-122"/>
              </a:rPr>
              <a:t>熔融碳酸盐燃料电池（</a:t>
            </a:r>
            <a:r>
              <a:rPr lang="en-US" altLang="zh-CN" sz="2800" dirty="0">
                <a:solidFill>
                  <a:srgbClr val="0033CC"/>
                </a:solidFill>
                <a:ea typeface="楷体_GB2312" pitchFamily="49" charset="-122"/>
              </a:rPr>
              <a:t>MCFC</a:t>
            </a:r>
            <a:r>
              <a:rPr lang="zh-CN" altLang="en-US" sz="2800" dirty="0">
                <a:solidFill>
                  <a:srgbClr val="0033CC"/>
                </a:solidFill>
                <a:ea typeface="楷体_GB2312" pitchFamily="49" charset="-122"/>
              </a:rPr>
              <a:t>）</a:t>
            </a:r>
            <a:r>
              <a:rPr lang="en-US" altLang="zh-CN" sz="2800" dirty="0">
                <a:solidFill>
                  <a:srgbClr val="0033CC"/>
                </a:solidFill>
                <a:ea typeface="楷体_GB2312" pitchFamily="49" charset="-122"/>
              </a:rPr>
              <a:t>(</a:t>
            </a:r>
            <a:r>
              <a:rPr lang="zh-CN" altLang="en-US" sz="2800" dirty="0">
                <a:solidFill>
                  <a:srgbClr val="0033CC"/>
                </a:solidFill>
                <a:ea typeface="楷体_GB2312" pitchFamily="49" charset="-122"/>
              </a:rPr>
              <a:t>第二代</a:t>
            </a:r>
            <a:r>
              <a:rPr lang="en-US" altLang="zh-CN" sz="2800" dirty="0">
                <a:solidFill>
                  <a:srgbClr val="0033CC"/>
                </a:solidFill>
                <a:ea typeface="楷体_GB2312" pitchFamily="49" charset="-122"/>
              </a:rPr>
              <a:t>)</a:t>
            </a:r>
            <a:endParaRPr lang="en-US" altLang="zh-CN" sz="2800" dirty="0">
              <a:solidFill>
                <a:srgbClr val="0033CC"/>
              </a:solidFill>
              <a:ea typeface="楷体_GB2312" pitchFamily="49" charset="-122"/>
            </a:endParaRPr>
          </a:p>
          <a:p>
            <a:pPr eaLnBrk="1" hangingPunct="1">
              <a:lnSpc>
                <a:spcPct val="150000"/>
              </a:lnSpc>
            </a:pPr>
            <a:r>
              <a:rPr lang="zh-CN" altLang="en-US" sz="2800" dirty="0">
                <a:solidFill>
                  <a:schemeClr val="tx1"/>
                </a:solidFill>
                <a:latin typeface="楷体_GB2312" pitchFamily="49" charset="-122"/>
                <a:ea typeface="楷体_GB2312" pitchFamily="49" charset="-122"/>
              </a:rPr>
              <a:t> </a:t>
            </a:r>
            <a:r>
              <a:rPr lang="zh-CN" altLang="en-US" sz="2800" dirty="0">
                <a:solidFill>
                  <a:schemeClr val="tx1"/>
                </a:solidFill>
                <a:ea typeface="楷体_GB2312" pitchFamily="49" charset="-122"/>
              </a:rPr>
              <a:t>燃料：煤气、天然气、甲醇等</a:t>
            </a:r>
            <a:endParaRPr lang="zh-CN" altLang="en-US" sz="2800" dirty="0">
              <a:solidFill>
                <a:schemeClr val="tx1"/>
              </a:solidFill>
              <a:ea typeface="楷体_GB2312" pitchFamily="49" charset="-122"/>
            </a:endParaRPr>
          </a:p>
          <a:p>
            <a:pPr eaLnBrk="1" hangingPunct="1">
              <a:lnSpc>
                <a:spcPct val="150000"/>
              </a:lnSpc>
            </a:pPr>
            <a:r>
              <a:rPr lang="zh-CN" altLang="en-US" sz="2800" dirty="0">
                <a:solidFill>
                  <a:schemeClr val="tx1"/>
                </a:solidFill>
                <a:ea typeface="楷体_GB2312" pitchFamily="49" charset="-122"/>
              </a:rPr>
              <a:t> 电解质：</a:t>
            </a:r>
            <a:r>
              <a:rPr lang="en-US" altLang="zh-CN" sz="2800" dirty="0">
                <a:solidFill>
                  <a:schemeClr val="tx1"/>
                </a:solidFill>
                <a:ea typeface="楷体_GB2312" pitchFamily="49" charset="-122"/>
              </a:rPr>
              <a:t>KLiCO</a:t>
            </a:r>
            <a:r>
              <a:rPr lang="en-US" altLang="zh-CN" sz="2800" baseline="-25000" dirty="0">
                <a:solidFill>
                  <a:schemeClr val="tx1"/>
                </a:solidFill>
                <a:ea typeface="楷体_GB2312" pitchFamily="49" charset="-122"/>
              </a:rPr>
              <a:t>3</a:t>
            </a:r>
            <a:r>
              <a:rPr lang="zh-CN" altLang="en-US" sz="2800" dirty="0">
                <a:solidFill>
                  <a:schemeClr val="tx1"/>
                </a:solidFill>
                <a:ea typeface="楷体_GB2312" pitchFamily="49" charset="-122"/>
              </a:rPr>
              <a:t>熔融盐，导电离子</a:t>
            </a:r>
            <a:r>
              <a:rPr lang="en-US" altLang="zh-CN" sz="2800" dirty="0">
                <a:solidFill>
                  <a:schemeClr val="tx1"/>
                </a:solidFill>
                <a:ea typeface="楷体_GB2312" pitchFamily="49" charset="-122"/>
              </a:rPr>
              <a:t>CO</a:t>
            </a:r>
            <a:r>
              <a:rPr lang="en-US" altLang="zh-CN" sz="2800" baseline="-25000" dirty="0">
                <a:solidFill>
                  <a:schemeClr val="tx1"/>
                </a:solidFill>
                <a:ea typeface="楷体_GB2312" pitchFamily="49" charset="-122"/>
              </a:rPr>
              <a:t>3</a:t>
            </a:r>
            <a:r>
              <a:rPr lang="en-US" altLang="zh-CN" sz="2800" baseline="30000" dirty="0">
                <a:solidFill>
                  <a:schemeClr val="tx1"/>
                </a:solidFill>
                <a:ea typeface="楷体_GB2312" pitchFamily="49" charset="-122"/>
              </a:rPr>
              <a:t>2-</a:t>
            </a:r>
            <a:endParaRPr lang="zh-CN" altLang="en-US" sz="2800" dirty="0">
              <a:solidFill>
                <a:schemeClr val="tx1"/>
              </a:solidFill>
              <a:ea typeface="楷体_GB2312" pitchFamily="49" charset="-122"/>
            </a:endParaRPr>
          </a:p>
          <a:p>
            <a:pPr eaLnBrk="1" hangingPunct="1">
              <a:lnSpc>
                <a:spcPct val="150000"/>
              </a:lnSpc>
            </a:pPr>
            <a:r>
              <a:rPr lang="zh-CN" altLang="en-US" sz="2800" dirty="0">
                <a:solidFill>
                  <a:schemeClr val="tx1"/>
                </a:solidFill>
                <a:ea typeface="楷体_GB2312" pitchFamily="49" charset="-122"/>
              </a:rPr>
              <a:t> 阳极：多孔质镍（不要</a:t>
            </a:r>
            <a:r>
              <a:rPr lang="en-US" altLang="zh-CN" sz="2800" dirty="0">
                <a:solidFill>
                  <a:schemeClr val="tx1"/>
                </a:solidFill>
                <a:ea typeface="楷体_GB2312" pitchFamily="49" charset="-122"/>
              </a:rPr>
              <a:t>Pt</a:t>
            </a:r>
            <a:r>
              <a:rPr lang="zh-CN" altLang="en-US" sz="2800" dirty="0">
                <a:solidFill>
                  <a:schemeClr val="tx1"/>
                </a:solidFill>
                <a:ea typeface="楷体_GB2312" pitchFamily="49" charset="-122"/>
              </a:rPr>
              <a:t>催化剂）</a:t>
            </a:r>
            <a:endParaRPr lang="zh-CN" altLang="en-US" sz="2800" dirty="0">
              <a:solidFill>
                <a:schemeClr val="tx1"/>
              </a:solidFill>
              <a:ea typeface="楷体_GB2312" pitchFamily="49" charset="-122"/>
            </a:endParaRPr>
          </a:p>
          <a:p>
            <a:pPr eaLnBrk="1" hangingPunct="1">
              <a:lnSpc>
                <a:spcPct val="150000"/>
              </a:lnSpc>
            </a:pPr>
            <a:r>
              <a:rPr lang="zh-CN" altLang="en-US" sz="2800" dirty="0">
                <a:solidFill>
                  <a:schemeClr val="tx1"/>
                </a:solidFill>
                <a:ea typeface="楷体_GB2312" pitchFamily="49" charset="-122"/>
              </a:rPr>
              <a:t> 阴极：多孔</a:t>
            </a:r>
            <a:r>
              <a:rPr lang="en-US" altLang="zh-CN" sz="2800" dirty="0" err="1">
                <a:solidFill>
                  <a:schemeClr val="tx1"/>
                </a:solidFill>
                <a:ea typeface="楷体_GB2312" pitchFamily="49" charset="-122"/>
              </a:rPr>
              <a:t>NiO</a:t>
            </a:r>
            <a:r>
              <a:rPr lang="zh-CN" altLang="en-US" sz="2800" dirty="0">
                <a:solidFill>
                  <a:schemeClr val="tx1"/>
                </a:solidFill>
                <a:ea typeface="楷体_GB2312" pitchFamily="49" charset="-122"/>
              </a:rPr>
              <a:t>（掺锂）</a:t>
            </a:r>
            <a:endParaRPr lang="zh-CN" altLang="en-US" sz="2800" dirty="0">
              <a:solidFill>
                <a:schemeClr val="tx1"/>
              </a:solidFill>
              <a:ea typeface="楷体_GB2312" pitchFamily="49" charset="-122"/>
            </a:endParaRPr>
          </a:p>
          <a:p>
            <a:pPr eaLnBrk="1" hangingPunct="1">
              <a:lnSpc>
                <a:spcPct val="150000"/>
              </a:lnSpc>
            </a:pPr>
            <a:r>
              <a:rPr lang="zh-CN" altLang="en-US" sz="2800" dirty="0">
                <a:solidFill>
                  <a:schemeClr val="tx1"/>
                </a:solidFill>
                <a:ea typeface="楷体_GB2312" pitchFamily="49" charset="-122"/>
              </a:rPr>
              <a:t> 工作温度：</a:t>
            </a:r>
            <a:r>
              <a:rPr lang="en-US" altLang="zh-CN" sz="2800" dirty="0">
                <a:solidFill>
                  <a:schemeClr val="tx1"/>
                </a:solidFill>
                <a:ea typeface="楷体_GB2312" pitchFamily="49" charset="-122"/>
              </a:rPr>
              <a:t>650 ℃</a:t>
            </a:r>
            <a:endParaRPr lang="en-US" altLang="zh-CN" sz="2800" dirty="0">
              <a:solidFill>
                <a:schemeClr val="tx1"/>
              </a:solidFill>
              <a:ea typeface="楷体_GB2312" pitchFamily="49" charset="-122"/>
            </a:endParaRPr>
          </a:p>
          <a:p>
            <a:pPr eaLnBrk="1" hangingPunct="1">
              <a:lnSpc>
                <a:spcPct val="150000"/>
              </a:lnSpc>
            </a:pPr>
            <a:r>
              <a:rPr lang="zh-CN" altLang="en-US" sz="2800" dirty="0">
                <a:solidFill>
                  <a:srgbClr val="0033CC"/>
                </a:solidFill>
                <a:ea typeface="楷体_GB2312" pitchFamily="49" charset="-122"/>
              </a:rPr>
              <a:t> 特点：</a:t>
            </a:r>
            <a:r>
              <a:rPr lang="zh-CN" altLang="en-US" sz="2800" dirty="0">
                <a:solidFill>
                  <a:schemeClr val="tx1"/>
                </a:solidFill>
                <a:ea typeface="楷体_GB2312" pitchFamily="49" charset="-122"/>
              </a:rPr>
              <a:t>有效利用能源，效率很高</a:t>
            </a:r>
            <a:r>
              <a:rPr lang="en-US" altLang="zh-CN" sz="2800" dirty="0">
                <a:solidFill>
                  <a:schemeClr val="tx1"/>
                </a:solidFill>
                <a:ea typeface="楷体_GB2312" pitchFamily="49" charset="-122"/>
              </a:rPr>
              <a:t>&gt;50%</a:t>
            </a:r>
            <a:r>
              <a:rPr lang="zh-CN" altLang="en-US" sz="2800" dirty="0">
                <a:solidFill>
                  <a:schemeClr val="tx1"/>
                </a:solidFill>
                <a:ea typeface="楷体_GB2312" pitchFamily="49" charset="-122"/>
              </a:rPr>
              <a:t>，热电联产  可达</a:t>
            </a:r>
            <a:r>
              <a:rPr lang="en-US" altLang="zh-CN" sz="2800" dirty="0">
                <a:solidFill>
                  <a:schemeClr val="tx1"/>
                </a:solidFill>
                <a:ea typeface="楷体_GB2312" pitchFamily="49" charset="-122"/>
              </a:rPr>
              <a:t>80%</a:t>
            </a:r>
            <a:r>
              <a:rPr lang="zh-CN" altLang="en-US" sz="2800" dirty="0">
                <a:solidFill>
                  <a:schemeClr val="tx1"/>
                </a:solidFill>
                <a:ea typeface="楷体_GB2312" pitchFamily="49" charset="-122"/>
              </a:rPr>
              <a:t>，不需要昂贵的铂金作催化剂，结构简单，制作成本低，可以用</a:t>
            </a:r>
            <a:r>
              <a:rPr lang="en-US" altLang="zh-CN" sz="2800" dirty="0">
                <a:solidFill>
                  <a:schemeClr val="tx1"/>
                </a:solidFill>
                <a:ea typeface="楷体_GB2312" pitchFamily="49" charset="-122"/>
              </a:rPr>
              <a:t>CO</a:t>
            </a:r>
            <a:r>
              <a:rPr lang="zh-CN" altLang="en-US" sz="2800" dirty="0">
                <a:solidFill>
                  <a:schemeClr val="tx1"/>
                </a:solidFill>
                <a:ea typeface="楷体_GB2312" pitchFamily="49" charset="-122"/>
              </a:rPr>
              <a:t>作燃料。采用腐蚀性电解液，对材料的要求也高。</a:t>
            </a:r>
            <a:endParaRPr lang="en-US" altLang="zh-CN" sz="2800" dirty="0">
              <a:solidFill>
                <a:schemeClr val="tx1"/>
              </a:solidFill>
              <a:ea typeface="楷体_GB2312" pitchFamily="49" charset="-122"/>
            </a:endParaRPr>
          </a:p>
        </p:txBody>
      </p:sp>
    </p:spTree>
  </p:cSld>
  <p:clrMapOvr>
    <a:masterClrMapping/>
  </p:clrMapOvr>
  <p:transition>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3"/>
          <p:cNvSpPr txBox="1">
            <a:spLocks noChangeArrowheads="1"/>
          </p:cNvSpPr>
          <p:nvPr/>
        </p:nvSpPr>
        <p:spPr bwMode="auto">
          <a:xfrm>
            <a:off x="344488" y="908050"/>
            <a:ext cx="8748712" cy="513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tIns="0" bIns="0">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lnSpc>
                <a:spcPct val="150000"/>
              </a:lnSpc>
            </a:pPr>
            <a:r>
              <a:rPr lang="zh-CN" altLang="en-US" sz="2800">
                <a:solidFill>
                  <a:srgbClr val="0033CC"/>
                </a:solidFill>
                <a:latin typeface="Arial" panose="020B0604020202020204" pitchFamily="34" charset="0"/>
                <a:ea typeface="楷体_GB2312" pitchFamily="49" charset="-122"/>
              </a:rPr>
              <a:t>                                            负极（阳极）：</a:t>
            </a:r>
            <a:endParaRPr lang="zh-CN" altLang="en-US" sz="2800">
              <a:solidFill>
                <a:srgbClr val="0033CC"/>
              </a:solidFill>
              <a:latin typeface="Arial" panose="020B0604020202020204" pitchFamily="34" charset="0"/>
              <a:ea typeface="楷体_GB2312" pitchFamily="49" charset="-122"/>
            </a:endParaRPr>
          </a:p>
          <a:p>
            <a:pPr eaLnBrk="1" hangingPunct="1">
              <a:lnSpc>
                <a:spcPct val="150000"/>
              </a:lnSpc>
            </a:pPr>
            <a:r>
              <a:rPr lang="zh-CN" altLang="en-US" sz="2800">
                <a:solidFill>
                  <a:schemeClr val="tx1"/>
                </a:solidFill>
                <a:latin typeface="Arial" panose="020B0604020202020204" pitchFamily="34" charset="0"/>
                <a:ea typeface="楷体_GB2312" pitchFamily="49" charset="-122"/>
              </a:rPr>
              <a:t>                                             </a:t>
            </a:r>
            <a:r>
              <a:rPr lang="en-US" altLang="zh-CN" sz="2400">
                <a:solidFill>
                  <a:schemeClr val="tx1"/>
                </a:solidFill>
                <a:ea typeface="楷体_GB2312" pitchFamily="49" charset="-122"/>
              </a:rPr>
              <a:t>2H</a:t>
            </a:r>
            <a:r>
              <a:rPr lang="en-US" altLang="zh-CN" sz="2400" baseline="-25000">
                <a:solidFill>
                  <a:schemeClr val="tx1"/>
                </a:solidFill>
                <a:ea typeface="楷体_GB2312" pitchFamily="49" charset="-122"/>
              </a:rPr>
              <a:t>2</a:t>
            </a:r>
            <a:r>
              <a:rPr lang="en-US" altLang="zh-CN" sz="2400">
                <a:solidFill>
                  <a:schemeClr val="tx1"/>
                </a:solidFill>
                <a:ea typeface="楷体_GB2312" pitchFamily="49" charset="-122"/>
              </a:rPr>
              <a:t>+2CO</a:t>
            </a:r>
            <a:r>
              <a:rPr lang="en-US" altLang="zh-CN" sz="2400" baseline="-25000">
                <a:solidFill>
                  <a:schemeClr val="tx1"/>
                </a:solidFill>
                <a:ea typeface="楷体_GB2312" pitchFamily="49" charset="-122"/>
              </a:rPr>
              <a:t>3</a:t>
            </a:r>
            <a:r>
              <a:rPr lang="en-US" altLang="zh-CN" sz="2400" baseline="30000">
                <a:solidFill>
                  <a:schemeClr val="tx1"/>
                </a:solidFill>
                <a:ea typeface="楷体_GB2312" pitchFamily="49" charset="-122"/>
              </a:rPr>
              <a:t>2-</a:t>
            </a:r>
            <a:r>
              <a:rPr lang="en-US" altLang="zh-CN" sz="2400">
                <a:solidFill>
                  <a:schemeClr val="tx1"/>
                </a:solidFill>
                <a:ea typeface="楷体_GB2312" pitchFamily="49" charset="-122"/>
              </a:rPr>
              <a:t>-4e</a:t>
            </a:r>
            <a:r>
              <a:rPr lang="en-US" altLang="zh-CN" sz="2400">
                <a:solidFill>
                  <a:schemeClr val="tx1"/>
                </a:solidFill>
                <a:ea typeface="宋体" panose="02010600030101010101" pitchFamily="2" charset="-122"/>
              </a:rPr>
              <a:t>→2H</a:t>
            </a:r>
            <a:r>
              <a:rPr lang="en-US" altLang="zh-CN" sz="2400" baseline="-25000">
                <a:solidFill>
                  <a:schemeClr val="tx1"/>
                </a:solidFill>
                <a:ea typeface="宋体" panose="02010600030101010101" pitchFamily="2" charset="-122"/>
              </a:rPr>
              <a:t>2</a:t>
            </a:r>
            <a:r>
              <a:rPr lang="en-US" altLang="zh-CN" sz="2400">
                <a:solidFill>
                  <a:schemeClr val="tx1"/>
                </a:solidFill>
                <a:ea typeface="宋体" panose="02010600030101010101" pitchFamily="2" charset="-122"/>
              </a:rPr>
              <a:t>O+2CO</a:t>
            </a:r>
            <a:r>
              <a:rPr lang="en-US" altLang="zh-CN" sz="2400" baseline="-25000">
                <a:solidFill>
                  <a:schemeClr val="tx1"/>
                </a:solidFill>
                <a:ea typeface="宋体" panose="02010600030101010101" pitchFamily="2" charset="-122"/>
              </a:rPr>
              <a:t>2</a:t>
            </a:r>
            <a:endParaRPr lang="en-US" altLang="zh-CN" sz="2400" baseline="-25000">
              <a:solidFill>
                <a:schemeClr val="tx1"/>
              </a:solidFill>
              <a:ea typeface="宋体" panose="02010600030101010101" pitchFamily="2" charset="-122"/>
            </a:endParaRPr>
          </a:p>
          <a:p>
            <a:pPr eaLnBrk="1" hangingPunct="1">
              <a:lnSpc>
                <a:spcPct val="150000"/>
              </a:lnSpc>
            </a:pPr>
            <a:r>
              <a:rPr lang="en-US" altLang="zh-CN" sz="2800">
                <a:solidFill>
                  <a:srgbClr val="0033CC"/>
                </a:solidFill>
                <a:latin typeface="Arial" panose="020B0604020202020204" pitchFamily="34" charset="0"/>
                <a:ea typeface="楷体_GB2312" pitchFamily="49" charset="-122"/>
              </a:rPr>
              <a:t>                                            </a:t>
            </a:r>
            <a:r>
              <a:rPr lang="zh-CN" altLang="en-US" sz="2800">
                <a:solidFill>
                  <a:srgbClr val="0033CC"/>
                </a:solidFill>
                <a:latin typeface="Arial" panose="020B0604020202020204" pitchFamily="34" charset="0"/>
                <a:ea typeface="楷体_GB2312" pitchFamily="49" charset="-122"/>
              </a:rPr>
              <a:t>正极（阴极）：</a:t>
            </a:r>
            <a:endParaRPr lang="zh-CN" altLang="en-US" sz="2800">
              <a:solidFill>
                <a:srgbClr val="0033CC"/>
              </a:solidFill>
              <a:latin typeface="Arial" panose="020B0604020202020204" pitchFamily="34" charset="0"/>
              <a:ea typeface="楷体_GB2312" pitchFamily="49" charset="-122"/>
            </a:endParaRPr>
          </a:p>
          <a:p>
            <a:pPr eaLnBrk="1" hangingPunct="1">
              <a:lnSpc>
                <a:spcPct val="150000"/>
              </a:lnSpc>
            </a:pPr>
            <a:r>
              <a:rPr lang="zh-CN" altLang="en-US" sz="2800">
                <a:solidFill>
                  <a:schemeClr val="tx1"/>
                </a:solidFill>
                <a:latin typeface="Arial" panose="020B0604020202020204" pitchFamily="34" charset="0"/>
                <a:ea typeface="楷体_GB2312" pitchFamily="49" charset="-122"/>
              </a:rPr>
              <a:t>                                            </a:t>
            </a:r>
            <a:r>
              <a:rPr lang="en-US" altLang="zh-CN" sz="2400">
                <a:solidFill>
                  <a:schemeClr val="tx1"/>
                </a:solidFill>
                <a:ea typeface="楷体_GB2312" pitchFamily="49" charset="-122"/>
              </a:rPr>
              <a:t>O</a:t>
            </a:r>
            <a:r>
              <a:rPr lang="en-US" altLang="zh-CN" sz="2400" baseline="-25000">
                <a:solidFill>
                  <a:schemeClr val="tx1"/>
                </a:solidFill>
                <a:ea typeface="楷体_GB2312" pitchFamily="49" charset="-122"/>
              </a:rPr>
              <a:t>2</a:t>
            </a:r>
            <a:r>
              <a:rPr lang="en-US" altLang="zh-CN" sz="2400">
                <a:solidFill>
                  <a:schemeClr val="tx1"/>
                </a:solidFill>
                <a:ea typeface="楷体_GB2312" pitchFamily="49" charset="-122"/>
              </a:rPr>
              <a:t>+2CO</a:t>
            </a:r>
            <a:r>
              <a:rPr lang="en-US" altLang="zh-CN" sz="2400" baseline="-25000">
                <a:solidFill>
                  <a:schemeClr val="tx1"/>
                </a:solidFill>
                <a:ea typeface="楷体_GB2312" pitchFamily="49" charset="-122"/>
              </a:rPr>
              <a:t>2</a:t>
            </a:r>
            <a:r>
              <a:rPr lang="en-US" altLang="zh-CN" sz="2400">
                <a:solidFill>
                  <a:schemeClr val="tx1"/>
                </a:solidFill>
                <a:ea typeface="楷体_GB2312" pitchFamily="49" charset="-122"/>
              </a:rPr>
              <a:t>+4e</a:t>
            </a:r>
            <a:r>
              <a:rPr lang="en-US" altLang="zh-CN" sz="2400">
                <a:solidFill>
                  <a:schemeClr val="tx1"/>
                </a:solidFill>
                <a:ea typeface="宋体" panose="02010600030101010101" pitchFamily="2" charset="-122"/>
              </a:rPr>
              <a:t>→</a:t>
            </a:r>
            <a:r>
              <a:rPr lang="en-US" altLang="zh-CN" sz="2400">
                <a:solidFill>
                  <a:schemeClr val="tx1"/>
                </a:solidFill>
                <a:ea typeface="楷体_GB2312" pitchFamily="49" charset="-122"/>
              </a:rPr>
              <a:t>2CO</a:t>
            </a:r>
            <a:r>
              <a:rPr lang="en-US" altLang="zh-CN" sz="2400" baseline="-25000">
                <a:solidFill>
                  <a:schemeClr val="tx1"/>
                </a:solidFill>
                <a:ea typeface="楷体_GB2312" pitchFamily="49" charset="-122"/>
              </a:rPr>
              <a:t>3</a:t>
            </a:r>
            <a:r>
              <a:rPr lang="en-US" altLang="zh-CN" sz="2400" baseline="30000">
                <a:solidFill>
                  <a:schemeClr val="tx1"/>
                </a:solidFill>
                <a:ea typeface="楷体_GB2312" pitchFamily="49" charset="-122"/>
              </a:rPr>
              <a:t>2-</a:t>
            </a:r>
            <a:r>
              <a:rPr lang="en-US" altLang="zh-CN" sz="2800" baseline="30000">
                <a:solidFill>
                  <a:schemeClr val="tx1"/>
                </a:solidFill>
                <a:latin typeface="Arial" panose="020B0604020202020204" pitchFamily="34" charset="0"/>
                <a:ea typeface="楷体_GB2312" pitchFamily="49" charset="-122"/>
              </a:rPr>
              <a:t> </a:t>
            </a:r>
            <a:r>
              <a:rPr lang="en-US" altLang="zh-CN" sz="2800">
                <a:solidFill>
                  <a:schemeClr val="tx1"/>
                </a:solidFill>
                <a:latin typeface="Arial" panose="020B0604020202020204" pitchFamily="34" charset="0"/>
                <a:ea typeface="楷体_GB2312" pitchFamily="49" charset="-122"/>
              </a:rPr>
              <a:t>  </a:t>
            </a:r>
            <a:endParaRPr lang="en-US" altLang="zh-CN" sz="2800">
              <a:solidFill>
                <a:schemeClr val="tx1"/>
              </a:solidFill>
              <a:latin typeface="Arial" panose="020B0604020202020204" pitchFamily="34" charset="0"/>
              <a:ea typeface="楷体_GB2312" pitchFamily="49" charset="-122"/>
            </a:endParaRPr>
          </a:p>
          <a:p>
            <a:pPr eaLnBrk="1" hangingPunct="1">
              <a:lnSpc>
                <a:spcPct val="150000"/>
              </a:lnSpc>
            </a:pPr>
            <a:r>
              <a:rPr lang="en-US" altLang="zh-CN" sz="2800">
                <a:solidFill>
                  <a:schemeClr val="tx1"/>
                </a:solidFill>
                <a:latin typeface="Arial" panose="020B0604020202020204" pitchFamily="34" charset="0"/>
                <a:ea typeface="楷体_GB2312" pitchFamily="49" charset="-122"/>
              </a:rPr>
              <a:t>                                            </a:t>
            </a:r>
            <a:r>
              <a:rPr lang="zh-CN" altLang="en-US" sz="2800">
                <a:solidFill>
                  <a:srgbClr val="0033CC"/>
                </a:solidFill>
                <a:latin typeface="Arial" panose="020B0604020202020204" pitchFamily="34" charset="0"/>
                <a:ea typeface="楷体_GB2312" pitchFamily="49" charset="-122"/>
              </a:rPr>
              <a:t>总反应式：</a:t>
            </a:r>
            <a:endParaRPr lang="zh-CN" altLang="en-US" sz="2800">
              <a:solidFill>
                <a:srgbClr val="0033CC"/>
              </a:solidFill>
              <a:latin typeface="Arial" panose="020B0604020202020204" pitchFamily="34" charset="0"/>
              <a:ea typeface="楷体_GB2312" pitchFamily="49" charset="-122"/>
            </a:endParaRPr>
          </a:p>
          <a:p>
            <a:pPr eaLnBrk="1" hangingPunct="1">
              <a:lnSpc>
                <a:spcPct val="150000"/>
              </a:lnSpc>
            </a:pPr>
            <a:r>
              <a:rPr lang="zh-CN" altLang="en-US" sz="2400">
                <a:solidFill>
                  <a:schemeClr val="tx1"/>
                </a:solidFill>
                <a:ea typeface="楷体_GB2312" pitchFamily="49" charset="-122"/>
              </a:rPr>
              <a:t>                                                          </a:t>
            </a:r>
            <a:r>
              <a:rPr lang="en-US" altLang="zh-CN" sz="2400">
                <a:solidFill>
                  <a:schemeClr val="tx1"/>
                </a:solidFill>
                <a:ea typeface="楷体_GB2312" pitchFamily="49" charset="-122"/>
              </a:rPr>
              <a:t>2H</a:t>
            </a:r>
            <a:r>
              <a:rPr lang="en-US" altLang="zh-CN" sz="2400" baseline="-25000">
                <a:solidFill>
                  <a:schemeClr val="tx1"/>
                </a:solidFill>
                <a:ea typeface="楷体_GB2312" pitchFamily="49" charset="-122"/>
              </a:rPr>
              <a:t>2</a:t>
            </a:r>
            <a:r>
              <a:rPr lang="en-US" altLang="zh-CN" sz="2400">
                <a:solidFill>
                  <a:schemeClr val="tx1"/>
                </a:solidFill>
                <a:ea typeface="楷体_GB2312" pitchFamily="49" charset="-122"/>
              </a:rPr>
              <a:t>+O</a:t>
            </a:r>
            <a:r>
              <a:rPr lang="en-US" altLang="zh-CN" sz="2400" baseline="-25000">
                <a:solidFill>
                  <a:schemeClr val="tx1"/>
                </a:solidFill>
                <a:ea typeface="楷体_GB2312" pitchFamily="49" charset="-122"/>
              </a:rPr>
              <a:t>2</a:t>
            </a:r>
            <a:r>
              <a:rPr lang="en-US" altLang="zh-CN" sz="2400">
                <a:solidFill>
                  <a:schemeClr val="tx1"/>
                </a:solidFill>
                <a:ea typeface="宋体" panose="02010600030101010101" pitchFamily="2" charset="-122"/>
              </a:rPr>
              <a:t>→</a:t>
            </a:r>
            <a:r>
              <a:rPr lang="en-US" altLang="zh-CN" sz="2400">
                <a:solidFill>
                  <a:schemeClr val="tx1"/>
                </a:solidFill>
                <a:ea typeface="楷体_GB2312" pitchFamily="49" charset="-122"/>
              </a:rPr>
              <a:t>2H</a:t>
            </a:r>
            <a:r>
              <a:rPr lang="en-US" altLang="zh-CN" sz="2400" baseline="-25000">
                <a:solidFill>
                  <a:schemeClr val="tx1"/>
                </a:solidFill>
                <a:ea typeface="楷体_GB2312" pitchFamily="49" charset="-122"/>
              </a:rPr>
              <a:t>2</a:t>
            </a:r>
            <a:r>
              <a:rPr lang="en-US" altLang="zh-CN" sz="2400">
                <a:solidFill>
                  <a:schemeClr val="tx1"/>
                </a:solidFill>
                <a:ea typeface="楷体_GB2312" pitchFamily="49" charset="-122"/>
              </a:rPr>
              <a:t>O</a:t>
            </a:r>
            <a:r>
              <a:rPr lang="en-US" altLang="zh-CN" sz="2800">
                <a:solidFill>
                  <a:schemeClr val="tx1"/>
                </a:solidFill>
                <a:latin typeface="Arial" panose="020B0604020202020204" pitchFamily="34" charset="0"/>
                <a:ea typeface="楷体_GB2312" pitchFamily="49" charset="-122"/>
              </a:rPr>
              <a:t>  </a:t>
            </a:r>
            <a:endParaRPr lang="en-US" altLang="zh-CN" sz="2800">
              <a:solidFill>
                <a:schemeClr val="tx1"/>
              </a:solidFill>
              <a:latin typeface="Arial" panose="020B0604020202020204" pitchFamily="34" charset="0"/>
              <a:ea typeface="楷体_GB2312" pitchFamily="49" charset="-122"/>
            </a:endParaRPr>
          </a:p>
          <a:p>
            <a:pPr eaLnBrk="1" hangingPunct="1">
              <a:lnSpc>
                <a:spcPct val="150000"/>
              </a:lnSpc>
            </a:pPr>
            <a:r>
              <a:rPr lang="en-US" altLang="zh-CN" sz="2800">
                <a:solidFill>
                  <a:schemeClr val="tx1"/>
                </a:solidFill>
                <a:latin typeface="Arial" panose="020B0604020202020204" pitchFamily="34" charset="0"/>
                <a:ea typeface="楷体_GB2312" pitchFamily="49" charset="-122"/>
              </a:rPr>
              <a:t>    </a:t>
            </a:r>
            <a:endParaRPr lang="en-US" altLang="zh-CN" sz="2800">
              <a:solidFill>
                <a:schemeClr val="tx1"/>
              </a:solidFill>
              <a:latin typeface="Arial" panose="020B0604020202020204" pitchFamily="34" charset="0"/>
              <a:ea typeface="楷体_GB2312" pitchFamily="49" charset="-122"/>
            </a:endParaRPr>
          </a:p>
          <a:p>
            <a:pPr algn="ctr" eaLnBrk="1" hangingPunct="1">
              <a:lnSpc>
                <a:spcPct val="150000"/>
              </a:lnSpc>
            </a:pPr>
            <a:r>
              <a:rPr lang="en-US" altLang="zh-CN" sz="2800">
                <a:solidFill>
                  <a:srgbClr val="0033CC"/>
                </a:solidFill>
                <a:latin typeface="Arial" panose="020B0604020202020204" pitchFamily="34" charset="0"/>
                <a:ea typeface="楷体_GB2312" pitchFamily="49" charset="-122"/>
              </a:rPr>
              <a:t>      </a:t>
            </a:r>
            <a:r>
              <a:rPr lang="zh-CN" altLang="en-US" sz="2800">
                <a:solidFill>
                  <a:schemeClr val="tx1"/>
                </a:solidFill>
              </a:rPr>
              <a:t>熔融碳酸盐燃料电池（</a:t>
            </a:r>
            <a:r>
              <a:rPr lang="en-US" altLang="zh-CN" sz="2800">
                <a:solidFill>
                  <a:schemeClr val="tx1"/>
                </a:solidFill>
              </a:rPr>
              <a:t>MCFC</a:t>
            </a:r>
            <a:r>
              <a:rPr lang="zh-CN" altLang="en-US" sz="2800">
                <a:solidFill>
                  <a:schemeClr val="tx1"/>
                </a:solidFill>
              </a:rPr>
              <a:t>）</a:t>
            </a:r>
            <a:r>
              <a:rPr lang="zh-CN" altLang="en-US" sz="2800">
                <a:solidFill>
                  <a:schemeClr val="tx1"/>
                </a:solidFill>
                <a:latin typeface="Arial" panose="020B0604020202020204" pitchFamily="34" charset="0"/>
                <a:ea typeface="楷体_GB2312" pitchFamily="49" charset="-122"/>
              </a:rPr>
              <a:t>                                                        </a:t>
            </a:r>
            <a:endParaRPr lang="zh-CN" altLang="en-US" sz="2800">
              <a:solidFill>
                <a:schemeClr val="tx1"/>
              </a:solidFill>
              <a:latin typeface="Arial" panose="020B0604020202020204" pitchFamily="34" charset="0"/>
              <a:ea typeface="楷体_GB2312" pitchFamily="49" charset="-122"/>
            </a:endParaRPr>
          </a:p>
        </p:txBody>
      </p:sp>
      <p:pic>
        <p:nvPicPr>
          <p:cNvPr id="7987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400" y="1143000"/>
            <a:ext cx="4681538"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Box 4"/>
          <p:cNvSpPr txBox="1">
            <a:spLocks noChangeArrowheads="1"/>
          </p:cNvSpPr>
          <p:nvPr/>
        </p:nvSpPr>
        <p:spPr bwMode="auto">
          <a:xfrm>
            <a:off x="0" y="4475163"/>
            <a:ext cx="9144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endParaRPr lang="en-US" altLang="zh-CN" sz="2800">
              <a:solidFill>
                <a:schemeClr val="tx1"/>
              </a:solidFill>
              <a:ea typeface="楷体_GB2312" pitchFamily="49" charset="-122"/>
            </a:endParaRPr>
          </a:p>
          <a:p>
            <a:pPr eaLnBrk="1" hangingPunct="1"/>
            <a:r>
              <a:rPr lang="en-US" altLang="zh-CN" sz="2800">
                <a:solidFill>
                  <a:schemeClr val="tx1"/>
                </a:solidFill>
                <a:ea typeface="楷体_GB2312" pitchFamily="49" charset="-122"/>
              </a:rPr>
              <a:t>         MCFC</a:t>
            </a:r>
            <a:r>
              <a:rPr lang="zh-CN" altLang="en-US" sz="2800">
                <a:solidFill>
                  <a:schemeClr val="tx1"/>
                </a:solidFill>
                <a:ea typeface="楷体_GB2312" pitchFamily="49" charset="-122"/>
              </a:rPr>
              <a:t>电池隔膜                       隔膜剖面的微观形貌</a:t>
            </a:r>
            <a:endParaRPr lang="zh-CN" altLang="en-US" sz="1800" b="0">
              <a:solidFill>
                <a:schemeClr val="tx1"/>
              </a:solidFill>
              <a:latin typeface="Arial" panose="020B0604020202020204" pitchFamily="34" charset="0"/>
              <a:ea typeface="宋体" panose="02010600030101010101" pitchFamily="2" charset="-122"/>
            </a:endParaRPr>
          </a:p>
        </p:txBody>
      </p:sp>
      <p:pic>
        <p:nvPicPr>
          <p:cNvPr id="8089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8313" y="1125538"/>
            <a:ext cx="3598862"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1219200"/>
            <a:ext cx="3941763" cy="317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Box 4"/>
          <p:cNvSpPr txBox="1">
            <a:spLocks noChangeArrowheads="1"/>
          </p:cNvSpPr>
          <p:nvPr/>
        </p:nvSpPr>
        <p:spPr bwMode="auto">
          <a:xfrm>
            <a:off x="5561013" y="5661025"/>
            <a:ext cx="35829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r>
              <a:rPr lang="en-US" altLang="zh-CN" sz="2800">
                <a:solidFill>
                  <a:schemeClr val="tx1"/>
                </a:solidFill>
                <a:ea typeface="楷体_GB2312" pitchFamily="49" charset="-122"/>
              </a:rPr>
              <a:t>      110 cm</a:t>
            </a:r>
            <a:r>
              <a:rPr lang="en-US" altLang="zh-CN" sz="2800" baseline="30000">
                <a:solidFill>
                  <a:schemeClr val="tx1"/>
                </a:solidFill>
                <a:ea typeface="楷体_GB2312" pitchFamily="49" charset="-122"/>
              </a:rPr>
              <a:t>2</a:t>
            </a:r>
            <a:r>
              <a:rPr lang="zh-CN" altLang="en-US" sz="2800">
                <a:solidFill>
                  <a:schemeClr val="tx1"/>
                </a:solidFill>
                <a:ea typeface="楷体_GB2312" pitchFamily="49" charset="-122"/>
              </a:rPr>
              <a:t>电池试验</a:t>
            </a:r>
            <a:endParaRPr lang="zh-CN" altLang="en-US" sz="2800">
              <a:solidFill>
                <a:schemeClr val="tx1"/>
              </a:solidFill>
              <a:ea typeface="楷体_GB2312" pitchFamily="49" charset="-122"/>
            </a:endParaRPr>
          </a:p>
        </p:txBody>
      </p:sp>
      <p:pic>
        <p:nvPicPr>
          <p:cNvPr id="8192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0113" y="333375"/>
            <a:ext cx="4681537" cy="626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3"/>
          <p:cNvSpPr txBox="1">
            <a:spLocks noChangeArrowheads="1"/>
          </p:cNvSpPr>
          <p:nvPr/>
        </p:nvSpPr>
        <p:spPr bwMode="auto">
          <a:xfrm>
            <a:off x="395288" y="476250"/>
            <a:ext cx="8569200" cy="5740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tIns="0" bIns="0">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lnSpc>
                <a:spcPct val="150000"/>
              </a:lnSpc>
            </a:pPr>
            <a:r>
              <a:rPr lang="zh-CN" altLang="en-US" sz="2800" dirty="0">
                <a:solidFill>
                  <a:srgbClr val="0033CC"/>
                </a:solidFill>
                <a:ea typeface="楷体_GB2312" pitchFamily="49" charset="-122"/>
              </a:rPr>
              <a:t>（</a:t>
            </a:r>
            <a:r>
              <a:rPr lang="en-US" altLang="zh-CN" sz="2800" dirty="0">
                <a:solidFill>
                  <a:srgbClr val="0033CC"/>
                </a:solidFill>
                <a:ea typeface="楷体_GB2312" pitchFamily="49" charset="-122"/>
              </a:rPr>
              <a:t>3.3</a:t>
            </a:r>
            <a:r>
              <a:rPr lang="zh-CN" altLang="en-US" sz="2800" dirty="0">
                <a:solidFill>
                  <a:srgbClr val="0033CC"/>
                </a:solidFill>
                <a:ea typeface="楷体_GB2312" pitchFamily="49" charset="-122"/>
              </a:rPr>
              <a:t>）固体氧化物燃料电池（</a:t>
            </a:r>
            <a:r>
              <a:rPr lang="en-US" altLang="zh-CN" sz="2800" dirty="0">
                <a:solidFill>
                  <a:srgbClr val="0033CC"/>
                </a:solidFill>
                <a:ea typeface="楷体_GB2312" pitchFamily="49" charset="-122"/>
              </a:rPr>
              <a:t>SOFC</a:t>
            </a:r>
            <a:r>
              <a:rPr lang="zh-CN" altLang="en-US" sz="2800" dirty="0">
                <a:solidFill>
                  <a:srgbClr val="0033CC"/>
                </a:solidFill>
                <a:ea typeface="楷体_GB2312" pitchFamily="49" charset="-122"/>
              </a:rPr>
              <a:t>）</a:t>
            </a:r>
            <a:r>
              <a:rPr lang="en-US" altLang="zh-CN" sz="2800" dirty="0">
                <a:solidFill>
                  <a:srgbClr val="0033CC"/>
                </a:solidFill>
                <a:ea typeface="楷体_GB2312" pitchFamily="49" charset="-122"/>
              </a:rPr>
              <a:t>(</a:t>
            </a:r>
            <a:r>
              <a:rPr lang="zh-CN" altLang="en-US" sz="2800" dirty="0">
                <a:solidFill>
                  <a:srgbClr val="0033CC"/>
                </a:solidFill>
                <a:ea typeface="楷体_GB2312" pitchFamily="49" charset="-122"/>
              </a:rPr>
              <a:t>第三代</a:t>
            </a:r>
            <a:r>
              <a:rPr lang="en-US" altLang="zh-CN" sz="2800" dirty="0">
                <a:solidFill>
                  <a:srgbClr val="0033CC"/>
                </a:solidFill>
                <a:ea typeface="楷体_GB2312" pitchFamily="49" charset="-122"/>
              </a:rPr>
              <a:t>)</a:t>
            </a:r>
            <a:r>
              <a:rPr lang="en-US" altLang="zh-CN" sz="2800" dirty="0">
                <a:solidFill>
                  <a:schemeClr val="tx1"/>
                </a:solidFill>
                <a:ea typeface="楷体_GB2312" pitchFamily="49" charset="-122"/>
              </a:rPr>
              <a:t> </a:t>
            </a:r>
            <a:endParaRPr lang="en-US" altLang="zh-CN" sz="2800" dirty="0">
              <a:solidFill>
                <a:schemeClr val="tx1"/>
              </a:solidFill>
              <a:ea typeface="楷体_GB2312" pitchFamily="49" charset="-122"/>
            </a:endParaRPr>
          </a:p>
          <a:p>
            <a:pPr eaLnBrk="1" hangingPunct="1">
              <a:lnSpc>
                <a:spcPct val="150000"/>
              </a:lnSpc>
            </a:pPr>
            <a:r>
              <a:rPr lang="zh-CN" altLang="en-US" sz="2800" dirty="0">
                <a:solidFill>
                  <a:schemeClr val="tx1"/>
                </a:solidFill>
                <a:ea typeface="楷体_GB2312" pitchFamily="49" charset="-122"/>
              </a:rPr>
              <a:t> 燃料：煤气、天然气、甲醇等</a:t>
            </a:r>
            <a:endParaRPr lang="zh-CN" altLang="en-US" sz="2800" dirty="0">
              <a:solidFill>
                <a:schemeClr val="tx1"/>
              </a:solidFill>
              <a:ea typeface="楷体_GB2312" pitchFamily="49" charset="-122"/>
            </a:endParaRPr>
          </a:p>
          <a:p>
            <a:pPr eaLnBrk="1" hangingPunct="1">
              <a:lnSpc>
                <a:spcPct val="150000"/>
              </a:lnSpc>
            </a:pPr>
            <a:r>
              <a:rPr lang="zh-CN" altLang="en-US" sz="2800" dirty="0">
                <a:solidFill>
                  <a:schemeClr val="tx1"/>
                </a:solidFill>
                <a:ea typeface="楷体_GB2312" pitchFamily="49" charset="-122"/>
              </a:rPr>
              <a:t> 电解质：</a:t>
            </a:r>
            <a:r>
              <a:rPr lang="en-US" altLang="zh-CN" sz="2800" dirty="0">
                <a:solidFill>
                  <a:schemeClr val="tx1"/>
                </a:solidFill>
                <a:ea typeface="楷体_GB2312" pitchFamily="49" charset="-122"/>
              </a:rPr>
              <a:t>ZrO</a:t>
            </a:r>
            <a:r>
              <a:rPr lang="en-US" altLang="zh-CN" sz="2800" baseline="-25000" dirty="0">
                <a:solidFill>
                  <a:schemeClr val="tx1"/>
                </a:solidFill>
                <a:ea typeface="楷体_GB2312" pitchFamily="49" charset="-122"/>
              </a:rPr>
              <a:t>2</a:t>
            </a:r>
            <a:r>
              <a:rPr lang="en-US" altLang="zh-CN" sz="2800" dirty="0">
                <a:solidFill>
                  <a:schemeClr val="tx1"/>
                </a:solidFill>
                <a:ea typeface="楷体_GB2312" pitchFamily="49" charset="-122"/>
              </a:rPr>
              <a:t>-Y</a:t>
            </a:r>
            <a:r>
              <a:rPr lang="en-US" altLang="zh-CN" sz="2800" baseline="-25000" dirty="0">
                <a:solidFill>
                  <a:schemeClr val="tx1"/>
                </a:solidFill>
                <a:ea typeface="楷体_GB2312" pitchFamily="49" charset="-122"/>
              </a:rPr>
              <a:t>2</a:t>
            </a:r>
            <a:r>
              <a:rPr lang="en-US" altLang="zh-CN" sz="2800" dirty="0">
                <a:solidFill>
                  <a:schemeClr val="tx1"/>
                </a:solidFill>
                <a:ea typeface="楷体_GB2312" pitchFamily="49" charset="-122"/>
              </a:rPr>
              <a:t>O</a:t>
            </a:r>
            <a:r>
              <a:rPr lang="en-US" altLang="zh-CN" sz="2800" baseline="-25000" dirty="0">
                <a:solidFill>
                  <a:schemeClr val="tx1"/>
                </a:solidFill>
                <a:ea typeface="楷体_GB2312" pitchFamily="49" charset="-122"/>
              </a:rPr>
              <a:t>3</a:t>
            </a:r>
            <a:r>
              <a:rPr lang="en-US" altLang="zh-CN" sz="2800" dirty="0">
                <a:solidFill>
                  <a:schemeClr val="tx1"/>
                </a:solidFill>
                <a:ea typeface="楷体_GB2312" pitchFamily="49" charset="-122"/>
              </a:rPr>
              <a:t>(8YSZ)</a:t>
            </a:r>
            <a:r>
              <a:rPr lang="zh-CN" altLang="en-US" sz="2800" dirty="0">
                <a:solidFill>
                  <a:schemeClr val="tx1"/>
                </a:solidFill>
                <a:ea typeface="楷体_GB2312" pitchFamily="49" charset="-122"/>
              </a:rPr>
              <a:t>（二氧化锆</a:t>
            </a:r>
            <a:r>
              <a:rPr lang="en-US" altLang="zh-CN" sz="2800" dirty="0">
                <a:solidFill>
                  <a:schemeClr val="tx1"/>
                </a:solidFill>
                <a:ea typeface="楷体_GB2312" pitchFamily="49" charset="-122"/>
              </a:rPr>
              <a:t>-</a:t>
            </a:r>
            <a:r>
              <a:rPr lang="zh-CN" altLang="en-US" sz="2800" dirty="0">
                <a:solidFill>
                  <a:schemeClr val="tx1"/>
                </a:solidFill>
                <a:ea typeface="楷体_GB2312" pitchFamily="49" charset="-122"/>
              </a:rPr>
              <a:t>三氧化钇陶瓷）</a:t>
            </a:r>
            <a:endParaRPr lang="en-US" altLang="zh-CN" sz="2800" dirty="0">
              <a:solidFill>
                <a:schemeClr val="tx1"/>
              </a:solidFill>
              <a:ea typeface="楷体_GB2312" pitchFamily="49" charset="-122"/>
            </a:endParaRPr>
          </a:p>
          <a:p>
            <a:pPr eaLnBrk="1" hangingPunct="1">
              <a:lnSpc>
                <a:spcPct val="150000"/>
              </a:lnSpc>
            </a:pPr>
            <a:r>
              <a:rPr lang="zh-CN" altLang="en-US" sz="2800" dirty="0">
                <a:solidFill>
                  <a:schemeClr val="tx1"/>
                </a:solidFill>
                <a:ea typeface="楷体_GB2312" pitchFamily="49" charset="-122"/>
              </a:rPr>
              <a:t> 阳极：</a:t>
            </a:r>
            <a:r>
              <a:rPr lang="en-US" altLang="zh-CN" sz="2800" dirty="0">
                <a:solidFill>
                  <a:schemeClr val="tx1"/>
                </a:solidFill>
                <a:ea typeface="楷体_GB2312" pitchFamily="49" charset="-122"/>
              </a:rPr>
              <a:t>Ni-ZrO</a:t>
            </a:r>
            <a:r>
              <a:rPr lang="en-US" altLang="zh-CN" sz="2800" baseline="-25000" dirty="0">
                <a:solidFill>
                  <a:schemeClr val="tx1"/>
                </a:solidFill>
                <a:ea typeface="楷体_GB2312" pitchFamily="49" charset="-122"/>
              </a:rPr>
              <a:t>2</a:t>
            </a:r>
            <a:r>
              <a:rPr lang="zh-CN" altLang="en-US" sz="2800" dirty="0">
                <a:solidFill>
                  <a:schemeClr val="tx1"/>
                </a:solidFill>
                <a:ea typeface="楷体_GB2312" pitchFamily="49" charset="-122"/>
              </a:rPr>
              <a:t>金属陶瓷（不要</a:t>
            </a:r>
            <a:r>
              <a:rPr lang="en-US" altLang="zh-CN" sz="2800" dirty="0">
                <a:solidFill>
                  <a:schemeClr val="tx1"/>
                </a:solidFill>
                <a:ea typeface="楷体_GB2312" pitchFamily="49" charset="-122"/>
              </a:rPr>
              <a:t>Pt</a:t>
            </a:r>
            <a:r>
              <a:rPr lang="zh-CN" altLang="en-US" sz="2800" dirty="0">
                <a:solidFill>
                  <a:schemeClr val="tx1"/>
                </a:solidFill>
                <a:ea typeface="楷体_GB2312" pitchFamily="49" charset="-122"/>
              </a:rPr>
              <a:t>催化剂）</a:t>
            </a:r>
            <a:endParaRPr lang="zh-CN" altLang="en-US" sz="2800" dirty="0">
              <a:solidFill>
                <a:schemeClr val="tx1"/>
              </a:solidFill>
              <a:ea typeface="楷体_GB2312" pitchFamily="49" charset="-122"/>
            </a:endParaRPr>
          </a:p>
          <a:p>
            <a:pPr eaLnBrk="1" hangingPunct="1">
              <a:lnSpc>
                <a:spcPct val="150000"/>
              </a:lnSpc>
            </a:pPr>
            <a:r>
              <a:rPr lang="zh-CN" altLang="en-US" sz="2800" dirty="0">
                <a:solidFill>
                  <a:schemeClr val="tx1"/>
                </a:solidFill>
                <a:ea typeface="楷体_GB2312" pitchFamily="49" charset="-122"/>
              </a:rPr>
              <a:t> 阴极：掺镧锰酸盐</a:t>
            </a:r>
            <a:endParaRPr lang="zh-CN" altLang="en-US" sz="2800" dirty="0">
              <a:solidFill>
                <a:schemeClr val="tx1"/>
              </a:solidFill>
              <a:ea typeface="楷体_GB2312" pitchFamily="49" charset="-122"/>
            </a:endParaRPr>
          </a:p>
          <a:p>
            <a:pPr eaLnBrk="1" hangingPunct="1">
              <a:lnSpc>
                <a:spcPct val="150000"/>
              </a:lnSpc>
            </a:pPr>
            <a:r>
              <a:rPr lang="zh-CN" altLang="en-US" sz="2800" dirty="0">
                <a:solidFill>
                  <a:schemeClr val="tx1"/>
                </a:solidFill>
                <a:ea typeface="楷体_GB2312" pitchFamily="49" charset="-122"/>
              </a:rPr>
              <a:t> 工作温度：</a:t>
            </a:r>
            <a:r>
              <a:rPr lang="en-US" altLang="zh-CN" sz="2800" dirty="0">
                <a:solidFill>
                  <a:schemeClr val="tx1"/>
                </a:solidFill>
                <a:ea typeface="楷体_GB2312" pitchFamily="49" charset="-122"/>
              </a:rPr>
              <a:t>900-1050℃</a:t>
            </a:r>
            <a:endParaRPr lang="en-US" altLang="zh-CN" sz="2800" dirty="0">
              <a:solidFill>
                <a:schemeClr val="tx1"/>
              </a:solidFill>
              <a:ea typeface="楷体_GB2312" pitchFamily="49" charset="-122"/>
            </a:endParaRPr>
          </a:p>
          <a:p>
            <a:pPr eaLnBrk="1" hangingPunct="1">
              <a:lnSpc>
                <a:spcPct val="150000"/>
              </a:lnSpc>
            </a:pPr>
            <a:r>
              <a:rPr lang="zh-CN" altLang="en-US" sz="2800" dirty="0">
                <a:solidFill>
                  <a:srgbClr val="0033CC"/>
                </a:solidFill>
                <a:ea typeface="楷体_GB2312" pitchFamily="49" charset="-122"/>
              </a:rPr>
              <a:t> 特点：</a:t>
            </a:r>
            <a:r>
              <a:rPr lang="zh-CN" altLang="en-US" sz="2800" dirty="0">
                <a:solidFill>
                  <a:schemeClr val="tx1"/>
                </a:solidFill>
                <a:ea typeface="楷体_GB2312" pitchFamily="49" charset="-122"/>
              </a:rPr>
              <a:t>有效利用能源，效率</a:t>
            </a:r>
            <a:r>
              <a:rPr lang="en-US" altLang="zh-CN" sz="2800" dirty="0">
                <a:solidFill>
                  <a:schemeClr val="tx1"/>
                </a:solidFill>
                <a:ea typeface="楷体_GB2312" pitchFamily="49" charset="-122"/>
              </a:rPr>
              <a:t>50%-65%</a:t>
            </a:r>
            <a:r>
              <a:rPr lang="zh-CN" altLang="en-US" sz="2800" dirty="0">
                <a:solidFill>
                  <a:schemeClr val="tx1"/>
                </a:solidFill>
                <a:ea typeface="楷体_GB2312" pitchFamily="49" charset="-122"/>
              </a:rPr>
              <a:t>，电池本体的构成材料全部是固体，所以没有电解质的蒸发、流淌。另外，燃料极空气极也没有腐蚀。</a:t>
            </a:r>
            <a:endParaRPr lang="en-US" altLang="zh-CN" sz="2800" dirty="0">
              <a:solidFill>
                <a:schemeClr val="tx1"/>
              </a:solidFill>
              <a:latin typeface="楷体_GB2312" pitchFamily="49" charset="-122"/>
              <a:ea typeface="楷体_GB2312" pitchFamily="49" charset="-122"/>
            </a:endParaRPr>
          </a:p>
        </p:txBody>
      </p:sp>
    </p:spTree>
  </p:cSld>
  <p:clrMapOvr>
    <a:masterClrMapping/>
  </p:clrMapOvr>
  <p:transition>
    <p:randomBar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3"/>
          <p:cNvSpPr txBox="1">
            <a:spLocks noChangeArrowheads="1"/>
          </p:cNvSpPr>
          <p:nvPr/>
        </p:nvSpPr>
        <p:spPr bwMode="auto">
          <a:xfrm>
            <a:off x="395288" y="908050"/>
            <a:ext cx="8748712" cy="567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tIns="0" bIns="0">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lnSpc>
                <a:spcPct val="150000"/>
              </a:lnSpc>
            </a:pPr>
            <a:r>
              <a:rPr lang="zh-CN" altLang="en-US" sz="2800">
                <a:solidFill>
                  <a:srgbClr val="0033CC"/>
                </a:solidFill>
                <a:latin typeface="Arial" panose="020B0604020202020204" pitchFamily="34" charset="0"/>
                <a:ea typeface="楷体_GB2312" pitchFamily="49" charset="-122"/>
              </a:rPr>
              <a:t>                                            负极（阳极）：</a:t>
            </a:r>
            <a:endParaRPr lang="zh-CN" altLang="en-US" sz="2800">
              <a:solidFill>
                <a:srgbClr val="0033CC"/>
              </a:solidFill>
              <a:latin typeface="Arial" panose="020B0604020202020204" pitchFamily="34" charset="0"/>
              <a:ea typeface="楷体_GB2312" pitchFamily="49" charset="-122"/>
            </a:endParaRPr>
          </a:p>
          <a:p>
            <a:pPr eaLnBrk="1" hangingPunct="1">
              <a:lnSpc>
                <a:spcPct val="150000"/>
              </a:lnSpc>
            </a:pPr>
            <a:r>
              <a:rPr lang="zh-CN" altLang="en-US" sz="2800">
                <a:solidFill>
                  <a:schemeClr val="tx1"/>
                </a:solidFill>
                <a:latin typeface="Arial" panose="020B0604020202020204" pitchFamily="34" charset="0"/>
                <a:ea typeface="楷体_GB2312" pitchFamily="49" charset="-122"/>
              </a:rPr>
              <a:t>                                             </a:t>
            </a:r>
            <a:r>
              <a:rPr lang="en-US" altLang="zh-CN" sz="2400">
                <a:solidFill>
                  <a:schemeClr val="tx1"/>
                </a:solidFill>
                <a:ea typeface="楷体_GB2312" pitchFamily="49" charset="-122"/>
              </a:rPr>
              <a:t>2H</a:t>
            </a:r>
            <a:r>
              <a:rPr lang="en-US" altLang="zh-CN" sz="2400" baseline="-25000">
                <a:solidFill>
                  <a:schemeClr val="tx1"/>
                </a:solidFill>
                <a:ea typeface="楷体_GB2312" pitchFamily="49" charset="-122"/>
              </a:rPr>
              <a:t>2</a:t>
            </a:r>
            <a:r>
              <a:rPr lang="en-US" altLang="zh-CN" sz="2400">
                <a:solidFill>
                  <a:schemeClr val="tx1"/>
                </a:solidFill>
                <a:ea typeface="楷体_GB2312" pitchFamily="49" charset="-122"/>
              </a:rPr>
              <a:t>+2O</a:t>
            </a:r>
            <a:r>
              <a:rPr lang="en-US" altLang="zh-CN" sz="2400" baseline="30000">
                <a:solidFill>
                  <a:schemeClr val="tx1"/>
                </a:solidFill>
                <a:ea typeface="楷体_GB2312" pitchFamily="49" charset="-122"/>
              </a:rPr>
              <a:t>2-</a:t>
            </a:r>
            <a:r>
              <a:rPr lang="en-US" altLang="zh-CN" sz="2400">
                <a:solidFill>
                  <a:schemeClr val="tx1"/>
                </a:solidFill>
                <a:ea typeface="楷体_GB2312" pitchFamily="49" charset="-122"/>
              </a:rPr>
              <a:t>-4e</a:t>
            </a:r>
            <a:r>
              <a:rPr lang="en-US" altLang="zh-CN" sz="2400">
                <a:solidFill>
                  <a:schemeClr val="tx1"/>
                </a:solidFill>
                <a:ea typeface="宋体" panose="02010600030101010101" pitchFamily="2" charset="-122"/>
              </a:rPr>
              <a:t>→2H</a:t>
            </a:r>
            <a:r>
              <a:rPr lang="en-US" altLang="zh-CN" sz="2400" baseline="-25000">
                <a:solidFill>
                  <a:schemeClr val="tx1"/>
                </a:solidFill>
                <a:ea typeface="宋体" panose="02010600030101010101" pitchFamily="2" charset="-122"/>
              </a:rPr>
              <a:t>2</a:t>
            </a:r>
            <a:r>
              <a:rPr lang="en-US" altLang="zh-CN" sz="2400">
                <a:solidFill>
                  <a:schemeClr val="tx1"/>
                </a:solidFill>
                <a:ea typeface="宋体" panose="02010600030101010101" pitchFamily="2" charset="-122"/>
              </a:rPr>
              <a:t>O</a:t>
            </a:r>
            <a:endParaRPr lang="en-US" altLang="zh-CN" sz="2400">
              <a:solidFill>
                <a:schemeClr val="tx1"/>
              </a:solidFill>
              <a:ea typeface="宋体" panose="02010600030101010101" pitchFamily="2" charset="-122"/>
            </a:endParaRPr>
          </a:p>
          <a:p>
            <a:pPr eaLnBrk="1" hangingPunct="1">
              <a:lnSpc>
                <a:spcPct val="150000"/>
              </a:lnSpc>
            </a:pPr>
            <a:r>
              <a:rPr lang="en-US" altLang="zh-CN" sz="2400">
                <a:solidFill>
                  <a:schemeClr val="tx1"/>
                </a:solidFill>
                <a:ea typeface="宋体" panose="02010600030101010101" pitchFamily="2" charset="-122"/>
              </a:rPr>
              <a:t>                                                       </a:t>
            </a:r>
            <a:r>
              <a:rPr lang="zh-CN" altLang="en-US" sz="2400">
                <a:solidFill>
                  <a:schemeClr val="tx1"/>
                </a:solidFill>
                <a:ea typeface="楷体_GB2312" pitchFamily="49" charset="-122"/>
              </a:rPr>
              <a:t>或</a:t>
            </a:r>
            <a:r>
              <a:rPr lang="en-US" altLang="zh-CN" sz="2400">
                <a:solidFill>
                  <a:schemeClr val="tx1"/>
                </a:solidFill>
                <a:ea typeface="宋体" panose="02010600030101010101" pitchFamily="2" charset="-122"/>
              </a:rPr>
              <a:t>CH</a:t>
            </a:r>
            <a:r>
              <a:rPr lang="en-US" altLang="zh-CN" sz="2400" baseline="-25000">
                <a:solidFill>
                  <a:schemeClr val="tx1"/>
                </a:solidFill>
                <a:ea typeface="宋体" panose="02010600030101010101" pitchFamily="2" charset="-122"/>
              </a:rPr>
              <a:t>4</a:t>
            </a:r>
            <a:r>
              <a:rPr lang="en-US" altLang="zh-CN" sz="2400">
                <a:solidFill>
                  <a:schemeClr val="tx1"/>
                </a:solidFill>
                <a:ea typeface="宋体" panose="02010600030101010101" pitchFamily="2" charset="-122"/>
              </a:rPr>
              <a:t>+O</a:t>
            </a:r>
            <a:r>
              <a:rPr lang="en-US" altLang="zh-CN" sz="2400" baseline="30000">
                <a:solidFill>
                  <a:schemeClr val="tx1"/>
                </a:solidFill>
                <a:ea typeface="宋体" panose="02010600030101010101" pitchFamily="2" charset="-122"/>
              </a:rPr>
              <a:t>2-</a:t>
            </a:r>
            <a:r>
              <a:rPr lang="en-US" altLang="zh-CN" sz="2400">
                <a:solidFill>
                  <a:schemeClr val="tx1"/>
                </a:solidFill>
                <a:ea typeface="宋体" panose="02010600030101010101" pitchFamily="2" charset="-122"/>
              </a:rPr>
              <a:t>→CO,CO</a:t>
            </a:r>
            <a:r>
              <a:rPr lang="en-US" altLang="zh-CN" sz="2400" baseline="-25000">
                <a:solidFill>
                  <a:schemeClr val="tx1"/>
                </a:solidFill>
                <a:ea typeface="宋体" panose="02010600030101010101" pitchFamily="2" charset="-122"/>
              </a:rPr>
              <a:t>2</a:t>
            </a:r>
            <a:r>
              <a:rPr lang="en-US" altLang="zh-CN" sz="2400">
                <a:solidFill>
                  <a:schemeClr val="tx1"/>
                </a:solidFill>
                <a:ea typeface="宋体" panose="02010600030101010101" pitchFamily="2" charset="-122"/>
              </a:rPr>
              <a:t>,C</a:t>
            </a:r>
            <a:r>
              <a:rPr lang="en-US" altLang="zh-CN" sz="2400" baseline="-25000">
                <a:solidFill>
                  <a:schemeClr val="tx1"/>
                </a:solidFill>
                <a:ea typeface="宋体" panose="02010600030101010101" pitchFamily="2" charset="-122"/>
              </a:rPr>
              <a:t>2</a:t>
            </a:r>
            <a:r>
              <a:rPr lang="en-US" altLang="zh-CN" sz="2400">
                <a:solidFill>
                  <a:schemeClr val="tx1"/>
                </a:solidFill>
                <a:ea typeface="宋体" panose="02010600030101010101" pitchFamily="2" charset="-122"/>
              </a:rPr>
              <a:t>H</a:t>
            </a:r>
            <a:r>
              <a:rPr lang="en-US" altLang="zh-CN" sz="2400" baseline="-25000">
                <a:solidFill>
                  <a:schemeClr val="tx1"/>
                </a:solidFill>
                <a:ea typeface="宋体" panose="02010600030101010101" pitchFamily="2" charset="-122"/>
              </a:rPr>
              <a:t>4</a:t>
            </a:r>
            <a:r>
              <a:rPr lang="en-US" altLang="zh-CN" sz="2400">
                <a:solidFill>
                  <a:schemeClr val="tx1"/>
                </a:solidFill>
                <a:ea typeface="宋体" panose="02010600030101010101" pitchFamily="2" charset="-122"/>
              </a:rPr>
              <a:t>,C</a:t>
            </a:r>
            <a:r>
              <a:rPr lang="en-US" altLang="zh-CN" sz="2400" baseline="-25000">
                <a:solidFill>
                  <a:schemeClr val="tx1"/>
                </a:solidFill>
                <a:ea typeface="宋体" panose="02010600030101010101" pitchFamily="2" charset="-122"/>
              </a:rPr>
              <a:t>2</a:t>
            </a:r>
            <a:r>
              <a:rPr lang="en-US" altLang="zh-CN" sz="2400">
                <a:solidFill>
                  <a:schemeClr val="tx1"/>
                </a:solidFill>
                <a:ea typeface="宋体" panose="02010600030101010101" pitchFamily="2" charset="-122"/>
              </a:rPr>
              <a:t>H</a:t>
            </a:r>
            <a:r>
              <a:rPr lang="en-US" altLang="zh-CN" sz="2400" baseline="-25000">
                <a:solidFill>
                  <a:schemeClr val="tx1"/>
                </a:solidFill>
                <a:ea typeface="宋体" panose="02010600030101010101" pitchFamily="2" charset="-122"/>
              </a:rPr>
              <a:t>6</a:t>
            </a:r>
            <a:endParaRPr lang="en-US" altLang="zh-CN" sz="2400" baseline="-25000">
              <a:solidFill>
                <a:schemeClr val="tx1"/>
              </a:solidFill>
              <a:ea typeface="宋体" panose="02010600030101010101" pitchFamily="2" charset="-122"/>
            </a:endParaRPr>
          </a:p>
          <a:p>
            <a:pPr eaLnBrk="1" hangingPunct="1">
              <a:lnSpc>
                <a:spcPct val="150000"/>
              </a:lnSpc>
            </a:pPr>
            <a:r>
              <a:rPr lang="en-US" altLang="zh-CN" sz="2800">
                <a:solidFill>
                  <a:srgbClr val="0033CC"/>
                </a:solidFill>
                <a:latin typeface="Arial" panose="020B0604020202020204" pitchFamily="34" charset="0"/>
                <a:ea typeface="楷体_GB2312" pitchFamily="49" charset="-122"/>
              </a:rPr>
              <a:t>                                            </a:t>
            </a:r>
            <a:r>
              <a:rPr lang="zh-CN" altLang="en-US" sz="2800">
                <a:solidFill>
                  <a:srgbClr val="0033CC"/>
                </a:solidFill>
                <a:latin typeface="Arial" panose="020B0604020202020204" pitchFamily="34" charset="0"/>
                <a:ea typeface="楷体_GB2312" pitchFamily="49" charset="-122"/>
              </a:rPr>
              <a:t>正极（阴极）：</a:t>
            </a:r>
            <a:endParaRPr lang="zh-CN" altLang="en-US" sz="2800">
              <a:solidFill>
                <a:srgbClr val="0033CC"/>
              </a:solidFill>
              <a:latin typeface="Arial" panose="020B0604020202020204" pitchFamily="34" charset="0"/>
              <a:ea typeface="楷体_GB2312" pitchFamily="49" charset="-122"/>
            </a:endParaRPr>
          </a:p>
          <a:p>
            <a:pPr eaLnBrk="1" hangingPunct="1">
              <a:lnSpc>
                <a:spcPct val="150000"/>
              </a:lnSpc>
            </a:pPr>
            <a:r>
              <a:rPr lang="zh-CN" altLang="en-US" sz="2800">
                <a:solidFill>
                  <a:schemeClr val="tx1"/>
                </a:solidFill>
                <a:latin typeface="Arial" panose="020B0604020202020204" pitchFamily="34" charset="0"/>
                <a:ea typeface="楷体_GB2312" pitchFamily="49" charset="-122"/>
              </a:rPr>
              <a:t>                                            </a:t>
            </a:r>
            <a:r>
              <a:rPr lang="en-US" altLang="zh-CN" sz="2400">
                <a:solidFill>
                  <a:schemeClr val="tx1"/>
                </a:solidFill>
                <a:ea typeface="楷体_GB2312" pitchFamily="49" charset="-122"/>
              </a:rPr>
              <a:t>O</a:t>
            </a:r>
            <a:r>
              <a:rPr lang="en-US" altLang="zh-CN" sz="2400" baseline="-25000">
                <a:solidFill>
                  <a:schemeClr val="tx1"/>
                </a:solidFill>
                <a:ea typeface="楷体_GB2312" pitchFamily="49" charset="-122"/>
              </a:rPr>
              <a:t>2</a:t>
            </a:r>
            <a:r>
              <a:rPr lang="en-US" altLang="zh-CN" sz="2400">
                <a:solidFill>
                  <a:schemeClr val="tx1"/>
                </a:solidFill>
                <a:ea typeface="楷体_GB2312" pitchFamily="49" charset="-122"/>
              </a:rPr>
              <a:t>+4e</a:t>
            </a:r>
            <a:r>
              <a:rPr lang="en-US" altLang="zh-CN" sz="2400">
                <a:solidFill>
                  <a:schemeClr val="tx1"/>
                </a:solidFill>
                <a:ea typeface="宋体" panose="02010600030101010101" pitchFamily="2" charset="-122"/>
              </a:rPr>
              <a:t>→</a:t>
            </a:r>
            <a:r>
              <a:rPr lang="en-US" altLang="zh-CN" sz="2400">
                <a:solidFill>
                  <a:schemeClr val="tx1"/>
                </a:solidFill>
                <a:ea typeface="楷体_GB2312" pitchFamily="49" charset="-122"/>
              </a:rPr>
              <a:t>2O</a:t>
            </a:r>
            <a:r>
              <a:rPr lang="en-US" altLang="zh-CN" sz="2400" baseline="30000">
                <a:solidFill>
                  <a:schemeClr val="tx1"/>
                </a:solidFill>
                <a:ea typeface="楷体_GB2312" pitchFamily="49" charset="-122"/>
              </a:rPr>
              <a:t>2-</a:t>
            </a:r>
            <a:r>
              <a:rPr lang="en-US" altLang="zh-CN" sz="2800" baseline="30000">
                <a:solidFill>
                  <a:schemeClr val="tx1"/>
                </a:solidFill>
                <a:latin typeface="Arial" panose="020B0604020202020204" pitchFamily="34" charset="0"/>
                <a:ea typeface="楷体_GB2312" pitchFamily="49" charset="-122"/>
              </a:rPr>
              <a:t> </a:t>
            </a:r>
            <a:r>
              <a:rPr lang="en-US" altLang="zh-CN" sz="2800">
                <a:solidFill>
                  <a:schemeClr val="tx1"/>
                </a:solidFill>
                <a:latin typeface="Arial" panose="020B0604020202020204" pitchFamily="34" charset="0"/>
                <a:ea typeface="楷体_GB2312" pitchFamily="49" charset="-122"/>
              </a:rPr>
              <a:t>  </a:t>
            </a:r>
            <a:endParaRPr lang="en-US" altLang="zh-CN" sz="2800">
              <a:solidFill>
                <a:schemeClr val="tx1"/>
              </a:solidFill>
              <a:latin typeface="Arial" panose="020B0604020202020204" pitchFamily="34" charset="0"/>
              <a:ea typeface="楷体_GB2312" pitchFamily="49" charset="-122"/>
            </a:endParaRPr>
          </a:p>
          <a:p>
            <a:pPr eaLnBrk="1" hangingPunct="1">
              <a:lnSpc>
                <a:spcPct val="150000"/>
              </a:lnSpc>
            </a:pPr>
            <a:r>
              <a:rPr lang="en-US" altLang="zh-CN" sz="2800">
                <a:solidFill>
                  <a:schemeClr val="tx1"/>
                </a:solidFill>
                <a:latin typeface="Arial" panose="020B0604020202020204" pitchFamily="34" charset="0"/>
                <a:ea typeface="楷体_GB2312" pitchFamily="49" charset="-122"/>
              </a:rPr>
              <a:t>                                            </a:t>
            </a:r>
            <a:r>
              <a:rPr lang="zh-CN" altLang="en-US" sz="2800">
                <a:solidFill>
                  <a:srgbClr val="0033CC"/>
                </a:solidFill>
                <a:latin typeface="Arial" panose="020B0604020202020204" pitchFamily="34" charset="0"/>
                <a:ea typeface="楷体_GB2312" pitchFamily="49" charset="-122"/>
              </a:rPr>
              <a:t>总反应式：</a:t>
            </a:r>
            <a:endParaRPr lang="zh-CN" altLang="en-US" sz="2800">
              <a:solidFill>
                <a:srgbClr val="0033CC"/>
              </a:solidFill>
              <a:latin typeface="Arial" panose="020B0604020202020204" pitchFamily="34" charset="0"/>
              <a:ea typeface="楷体_GB2312" pitchFamily="49" charset="-122"/>
            </a:endParaRPr>
          </a:p>
          <a:p>
            <a:pPr eaLnBrk="1" hangingPunct="1">
              <a:lnSpc>
                <a:spcPct val="150000"/>
              </a:lnSpc>
            </a:pPr>
            <a:r>
              <a:rPr lang="zh-CN" altLang="en-US" sz="2400">
                <a:solidFill>
                  <a:schemeClr val="tx1"/>
                </a:solidFill>
                <a:ea typeface="楷体_GB2312" pitchFamily="49" charset="-122"/>
              </a:rPr>
              <a:t>                                                          </a:t>
            </a:r>
            <a:r>
              <a:rPr lang="en-US" altLang="zh-CN" sz="2400">
                <a:solidFill>
                  <a:schemeClr val="tx1"/>
                </a:solidFill>
                <a:ea typeface="楷体_GB2312" pitchFamily="49" charset="-122"/>
              </a:rPr>
              <a:t>2H</a:t>
            </a:r>
            <a:r>
              <a:rPr lang="en-US" altLang="zh-CN" sz="2400" baseline="-25000">
                <a:solidFill>
                  <a:schemeClr val="tx1"/>
                </a:solidFill>
                <a:ea typeface="楷体_GB2312" pitchFamily="49" charset="-122"/>
              </a:rPr>
              <a:t>2</a:t>
            </a:r>
            <a:r>
              <a:rPr lang="en-US" altLang="zh-CN" sz="2400">
                <a:solidFill>
                  <a:schemeClr val="tx1"/>
                </a:solidFill>
                <a:ea typeface="楷体_GB2312" pitchFamily="49" charset="-122"/>
              </a:rPr>
              <a:t>+O</a:t>
            </a:r>
            <a:r>
              <a:rPr lang="en-US" altLang="zh-CN" sz="2400" baseline="-25000">
                <a:solidFill>
                  <a:schemeClr val="tx1"/>
                </a:solidFill>
                <a:ea typeface="楷体_GB2312" pitchFamily="49" charset="-122"/>
              </a:rPr>
              <a:t>2</a:t>
            </a:r>
            <a:r>
              <a:rPr lang="en-US" altLang="zh-CN" sz="2400">
                <a:solidFill>
                  <a:schemeClr val="tx1"/>
                </a:solidFill>
                <a:ea typeface="宋体" panose="02010600030101010101" pitchFamily="2" charset="-122"/>
              </a:rPr>
              <a:t>→</a:t>
            </a:r>
            <a:r>
              <a:rPr lang="en-US" altLang="zh-CN" sz="2400">
                <a:solidFill>
                  <a:schemeClr val="tx1"/>
                </a:solidFill>
                <a:ea typeface="楷体_GB2312" pitchFamily="49" charset="-122"/>
              </a:rPr>
              <a:t>2H</a:t>
            </a:r>
            <a:r>
              <a:rPr lang="en-US" altLang="zh-CN" sz="2400" baseline="-25000">
                <a:solidFill>
                  <a:schemeClr val="tx1"/>
                </a:solidFill>
                <a:ea typeface="楷体_GB2312" pitchFamily="49" charset="-122"/>
              </a:rPr>
              <a:t>2</a:t>
            </a:r>
            <a:r>
              <a:rPr lang="en-US" altLang="zh-CN" sz="2400">
                <a:solidFill>
                  <a:schemeClr val="tx1"/>
                </a:solidFill>
                <a:ea typeface="楷体_GB2312" pitchFamily="49" charset="-122"/>
              </a:rPr>
              <a:t>O</a:t>
            </a:r>
            <a:r>
              <a:rPr lang="en-US" altLang="zh-CN" sz="2800">
                <a:solidFill>
                  <a:schemeClr val="tx1"/>
                </a:solidFill>
                <a:latin typeface="Arial" panose="020B0604020202020204" pitchFamily="34" charset="0"/>
                <a:ea typeface="楷体_GB2312" pitchFamily="49" charset="-122"/>
              </a:rPr>
              <a:t>  </a:t>
            </a:r>
            <a:endParaRPr lang="en-US" altLang="zh-CN" sz="2800">
              <a:solidFill>
                <a:schemeClr val="tx1"/>
              </a:solidFill>
              <a:latin typeface="Arial" panose="020B0604020202020204" pitchFamily="34" charset="0"/>
              <a:ea typeface="楷体_GB2312" pitchFamily="49" charset="-122"/>
            </a:endParaRPr>
          </a:p>
          <a:p>
            <a:pPr eaLnBrk="1" hangingPunct="1">
              <a:lnSpc>
                <a:spcPct val="150000"/>
              </a:lnSpc>
            </a:pPr>
            <a:r>
              <a:rPr lang="en-US" altLang="zh-CN" sz="2800">
                <a:solidFill>
                  <a:schemeClr val="tx1"/>
                </a:solidFill>
                <a:latin typeface="Arial" panose="020B0604020202020204" pitchFamily="34" charset="0"/>
                <a:ea typeface="楷体_GB2312" pitchFamily="49" charset="-122"/>
              </a:rPr>
              <a:t>    </a:t>
            </a:r>
            <a:endParaRPr lang="en-US" altLang="zh-CN" sz="2800">
              <a:solidFill>
                <a:schemeClr val="tx1"/>
              </a:solidFill>
              <a:latin typeface="Arial" panose="020B0604020202020204" pitchFamily="34" charset="0"/>
              <a:ea typeface="楷体_GB2312" pitchFamily="49" charset="-122"/>
            </a:endParaRPr>
          </a:p>
          <a:p>
            <a:pPr algn="ctr" eaLnBrk="1" hangingPunct="1">
              <a:lnSpc>
                <a:spcPct val="150000"/>
              </a:lnSpc>
            </a:pPr>
            <a:r>
              <a:rPr lang="en-US" altLang="zh-CN" sz="2800">
                <a:solidFill>
                  <a:srgbClr val="0033CC"/>
                </a:solidFill>
                <a:latin typeface="Arial" panose="020B0604020202020204" pitchFamily="34" charset="0"/>
                <a:ea typeface="楷体_GB2312" pitchFamily="49" charset="-122"/>
              </a:rPr>
              <a:t>      </a:t>
            </a:r>
            <a:r>
              <a:rPr lang="zh-CN" altLang="en-US" sz="2800">
                <a:solidFill>
                  <a:schemeClr val="tx1"/>
                </a:solidFill>
                <a:ea typeface="楷体_GB2312" pitchFamily="49" charset="-122"/>
              </a:rPr>
              <a:t>固体氧化物燃料电池（</a:t>
            </a:r>
            <a:r>
              <a:rPr lang="en-US" altLang="zh-CN" sz="2800">
                <a:solidFill>
                  <a:schemeClr val="tx1"/>
                </a:solidFill>
                <a:ea typeface="楷体_GB2312" pitchFamily="49" charset="-122"/>
              </a:rPr>
              <a:t>SOFC</a:t>
            </a:r>
            <a:r>
              <a:rPr lang="zh-CN" altLang="en-US" sz="2800">
                <a:solidFill>
                  <a:schemeClr val="tx1"/>
                </a:solidFill>
                <a:ea typeface="楷体_GB2312" pitchFamily="49" charset="-122"/>
              </a:rPr>
              <a:t>）</a:t>
            </a:r>
            <a:r>
              <a:rPr lang="zh-CN" altLang="en-US" sz="2800">
                <a:solidFill>
                  <a:schemeClr val="tx1"/>
                </a:solidFill>
                <a:latin typeface="Arial" panose="020B0604020202020204" pitchFamily="34" charset="0"/>
                <a:ea typeface="楷体_GB2312" pitchFamily="49" charset="-122"/>
              </a:rPr>
              <a:t>                                                        </a:t>
            </a:r>
            <a:endParaRPr lang="zh-CN" altLang="en-US" sz="2800">
              <a:solidFill>
                <a:schemeClr val="tx1"/>
              </a:solidFill>
              <a:latin typeface="Arial" panose="020B0604020202020204" pitchFamily="34" charset="0"/>
              <a:ea typeface="楷体_GB2312" pitchFamily="49" charset="-122"/>
            </a:endParaRPr>
          </a:p>
        </p:txBody>
      </p:sp>
      <p:pic>
        <p:nvPicPr>
          <p:cNvPr id="8397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9388" y="476250"/>
            <a:ext cx="4484687" cy="554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3"/>
          <p:cNvSpPr txBox="1">
            <a:spLocks noChangeArrowheads="1"/>
          </p:cNvSpPr>
          <p:nvPr/>
        </p:nvSpPr>
        <p:spPr bwMode="auto">
          <a:xfrm>
            <a:off x="395288" y="115888"/>
            <a:ext cx="8748712" cy="641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tIns="0" bIns="0">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lnSpc>
                <a:spcPct val="150000"/>
              </a:lnSpc>
            </a:pPr>
            <a:r>
              <a:rPr lang="zh-CN" altLang="en-US" sz="2800">
                <a:solidFill>
                  <a:srgbClr val="0033CC"/>
                </a:solidFill>
                <a:ea typeface="楷体_GB2312" pitchFamily="49" charset="-122"/>
              </a:rPr>
              <a:t>（3.</a:t>
            </a:r>
            <a:r>
              <a:rPr lang="en-US" altLang="zh-CN" sz="2800">
                <a:solidFill>
                  <a:srgbClr val="0033CC"/>
                </a:solidFill>
                <a:ea typeface="楷体_GB2312" pitchFamily="49" charset="-122"/>
              </a:rPr>
              <a:t>4</a:t>
            </a:r>
            <a:r>
              <a:rPr lang="zh-CN" altLang="en-US" sz="2800">
                <a:solidFill>
                  <a:srgbClr val="0033CC"/>
                </a:solidFill>
                <a:ea typeface="楷体_GB2312" pitchFamily="49" charset="-122"/>
              </a:rPr>
              <a:t>）质子交换膜燃料电池（</a:t>
            </a:r>
            <a:r>
              <a:rPr lang="en-US" altLang="zh-CN" sz="2800">
                <a:solidFill>
                  <a:srgbClr val="0033CC"/>
                </a:solidFill>
                <a:ea typeface="楷体_GB2312" pitchFamily="49" charset="-122"/>
              </a:rPr>
              <a:t>PEMFC</a:t>
            </a:r>
            <a:r>
              <a:rPr lang="zh-CN" altLang="en-US" sz="2800">
                <a:solidFill>
                  <a:srgbClr val="0033CC"/>
                </a:solidFill>
                <a:ea typeface="楷体_GB2312" pitchFamily="49" charset="-122"/>
              </a:rPr>
              <a:t>）</a:t>
            </a:r>
            <a:r>
              <a:rPr lang="zh-CN" altLang="en-US" sz="2800">
                <a:solidFill>
                  <a:schemeClr val="tx1"/>
                </a:solidFill>
                <a:latin typeface="Arial" panose="020B0604020202020204" pitchFamily="34" charset="0"/>
                <a:ea typeface="楷体_GB2312" pitchFamily="49" charset="-122"/>
              </a:rPr>
              <a:t> </a:t>
            </a:r>
            <a:endParaRPr lang="zh-CN" altLang="en-US" sz="2800">
              <a:solidFill>
                <a:srgbClr val="0033CC"/>
              </a:solidFill>
              <a:latin typeface="Arial" panose="020B0604020202020204" pitchFamily="34" charset="0"/>
              <a:ea typeface="楷体_GB2312" pitchFamily="49" charset="-122"/>
            </a:endParaRPr>
          </a:p>
          <a:p>
            <a:pPr eaLnBrk="1" hangingPunct="1">
              <a:lnSpc>
                <a:spcPct val="150000"/>
              </a:lnSpc>
            </a:pPr>
            <a:r>
              <a:rPr lang="zh-CN" altLang="en-US" sz="2800">
                <a:solidFill>
                  <a:srgbClr val="0033CC"/>
                </a:solidFill>
                <a:latin typeface="Arial" panose="020B0604020202020204" pitchFamily="34" charset="0"/>
                <a:ea typeface="楷体_GB2312" pitchFamily="49" charset="-122"/>
              </a:rPr>
              <a:t>                                            负极（阳极）：</a:t>
            </a:r>
            <a:endParaRPr lang="zh-CN" altLang="en-US" sz="2800">
              <a:solidFill>
                <a:srgbClr val="0033CC"/>
              </a:solidFill>
              <a:latin typeface="Arial" panose="020B0604020202020204" pitchFamily="34" charset="0"/>
              <a:ea typeface="楷体_GB2312" pitchFamily="49" charset="-122"/>
            </a:endParaRPr>
          </a:p>
          <a:p>
            <a:pPr eaLnBrk="1" hangingPunct="1">
              <a:lnSpc>
                <a:spcPct val="150000"/>
              </a:lnSpc>
            </a:pPr>
            <a:r>
              <a:rPr lang="zh-CN" altLang="en-US" sz="2800">
                <a:solidFill>
                  <a:schemeClr val="tx1"/>
                </a:solidFill>
                <a:latin typeface="Arial" panose="020B0604020202020204" pitchFamily="34" charset="0"/>
                <a:ea typeface="楷体_GB2312" pitchFamily="49" charset="-122"/>
              </a:rPr>
              <a:t>                                             </a:t>
            </a:r>
            <a:r>
              <a:rPr lang="en-US" altLang="zh-CN" sz="2400">
                <a:solidFill>
                  <a:schemeClr val="tx1"/>
                </a:solidFill>
                <a:ea typeface="楷体_GB2312" pitchFamily="49" charset="-122"/>
              </a:rPr>
              <a:t>2H</a:t>
            </a:r>
            <a:r>
              <a:rPr lang="en-US" altLang="zh-CN" sz="2400" baseline="-25000">
                <a:solidFill>
                  <a:schemeClr val="tx1"/>
                </a:solidFill>
                <a:ea typeface="楷体_GB2312" pitchFamily="49" charset="-122"/>
              </a:rPr>
              <a:t>2</a:t>
            </a:r>
            <a:r>
              <a:rPr lang="en-US" altLang="zh-CN" sz="2400">
                <a:solidFill>
                  <a:schemeClr val="tx1"/>
                </a:solidFill>
                <a:ea typeface="楷体_GB2312" pitchFamily="49" charset="-122"/>
              </a:rPr>
              <a:t>-4e</a:t>
            </a:r>
            <a:r>
              <a:rPr lang="en-US" altLang="zh-CN" sz="2400">
                <a:solidFill>
                  <a:schemeClr val="tx1"/>
                </a:solidFill>
                <a:ea typeface="宋体" panose="02010600030101010101" pitchFamily="2" charset="-122"/>
              </a:rPr>
              <a:t>→4H</a:t>
            </a:r>
            <a:r>
              <a:rPr lang="en-US" altLang="zh-CN" sz="2400" baseline="30000">
                <a:solidFill>
                  <a:schemeClr val="tx1"/>
                </a:solidFill>
                <a:ea typeface="宋体" panose="02010600030101010101" pitchFamily="2" charset="-122"/>
              </a:rPr>
              <a:t>+</a:t>
            </a:r>
            <a:endParaRPr lang="en-US" altLang="zh-CN" sz="2400" baseline="30000">
              <a:solidFill>
                <a:schemeClr val="tx1"/>
              </a:solidFill>
              <a:ea typeface="宋体" panose="02010600030101010101" pitchFamily="2" charset="-122"/>
            </a:endParaRPr>
          </a:p>
          <a:p>
            <a:pPr eaLnBrk="1" hangingPunct="1">
              <a:lnSpc>
                <a:spcPct val="150000"/>
              </a:lnSpc>
            </a:pPr>
            <a:r>
              <a:rPr lang="en-US" altLang="zh-CN" sz="2800">
                <a:solidFill>
                  <a:srgbClr val="0033CC"/>
                </a:solidFill>
                <a:latin typeface="Arial" panose="020B0604020202020204" pitchFamily="34" charset="0"/>
                <a:ea typeface="楷体_GB2312" pitchFamily="49" charset="-122"/>
              </a:rPr>
              <a:t>                                            </a:t>
            </a:r>
            <a:r>
              <a:rPr lang="zh-CN" altLang="en-US" sz="2800">
                <a:solidFill>
                  <a:srgbClr val="0033CC"/>
                </a:solidFill>
                <a:latin typeface="Arial" panose="020B0604020202020204" pitchFamily="34" charset="0"/>
                <a:ea typeface="楷体_GB2312" pitchFamily="49" charset="-122"/>
              </a:rPr>
              <a:t>正极（阴极）：</a:t>
            </a:r>
            <a:endParaRPr lang="zh-CN" altLang="en-US" sz="2800">
              <a:solidFill>
                <a:srgbClr val="0033CC"/>
              </a:solidFill>
              <a:latin typeface="Arial" panose="020B0604020202020204" pitchFamily="34" charset="0"/>
              <a:ea typeface="楷体_GB2312" pitchFamily="49" charset="-122"/>
            </a:endParaRPr>
          </a:p>
          <a:p>
            <a:pPr eaLnBrk="1" hangingPunct="1">
              <a:lnSpc>
                <a:spcPct val="150000"/>
              </a:lnSpc>
            </a:pPr>
            <a:r>
              <a:rPr lang="zh-CN" altLang="en-US" sz="2400">
                <a:solidFill>
                  <a:schemeClr val="tx1"/>
                </a:solidFill>
                <a:ea typeface="楷体_GB2312" pitchFamily="49" charset="-122"/>
              </a:rPr>
              <a:t>                                                         </a:t>
            </a:r>
            <a:r>
              <a:rPr lang="en-US" altLang="zh-CN" sz="2400">
                <a:solidFill>
                  <a:schemeClr val="tx1"/>
                </a:solidFill>
                <a:ea typeface="楷体_GB2312" pitchFamily="49" charset="-122"/>
              </a:rPr>
              <a:t>O</a:t>
            </a:r>
            <a:r>
              <a:rPr lang="en-US" altLang="zh-CN" sz="2400" baseline="-25000">
                <a:solidFill>
                  <a:schemeClr val="tx1"/>
                </a:solidFill>
                <a:ea typeface="楷体_GB2312" pitchFamily="49" charset="-122"/>
              </a:rPr>
              <a:t>2</a:t>
            </a:r>
            <a:r>
              <a:rPr lang="en-US" altLang="zh-CN" sz="2400">
                <a:solidFill>
                  <a:schemeClr val="tx1"/>
                </a:solidFill>
                <a:ea typeface="楷体_GB2312" pitchFamily="49" charset="-122"/>
              </a:rPr>
              <a:t>+ </a:t>
            </a:r>
            <a:r>
              <a:rPr lang="en-US" altLang="zh-CN" sz="2400">
                <a:solidFill>
                  <a:schemeClr val="tx1"/>
                </a:solidFill>
                <a:ea typeface="宋体" panose="02010600030101010101" pitchFamily="2" charset="-122"/>
              </a:rPr>
              <a:t>2H</a:t>
            </a:r>
            <a:r>
              <a:rPr lang="en-US" altLang="zh-CN" sz="2400" baseline="-25000">
                <a:solidFill>
                  <a:schemeClr val="tx1"/>
                </a:solidFill>
                <a:ea typeface="宋体" panose="02010600030101010101" pitchFamily="2" charset="-122"/>
              </a:rPr>
              <a:t>2</a:t>
            </a:r>
            <a:r>
              <a:rPr lang="en-US" altLang="zh-CN" sz="2400">
                <a:solidFill>
                  <a:schemeClr val="tx1"/>
                </a:solidFill>
                <a:ea typeface="宋体" panose="02010600030101010101" pitchFamily="2" charset="-122"/>
              </a:rPr>
              <a:t>O</a:t>
            </a:r>
            <a:r>
              <a:rPr lang="en-US" altLang="zh-CN" sz="2400" b="0">
                <a:solidFill>
                  <a:schemeClr val="tx1"/>
                </a:solidFill>
                <a:ea typeface="宋体" panose="02010600030101010101" pitchFamily="2" charset="-122"/>
              </a:rPr>
              <a:t> +</a:t>
            </a:r>
            <a:r>
              <a:rPr lang="en-US" altLang="zh-CN" sz="2400">
                <a:solidFill>
                  <a:schemeClr val="tx1"/>
                </a:solidFill>
                <a:ea typeface="楷体_GB2312" pitchFamily="49" charset="-122"/>
              </a:rPr>
              <a:t>4e</a:t>
            </a:r>
            <a:r>
              <a:rPr lang="en-US" altLang="zh-CN" sz="2400">
                <a:solidFill>
                  <a:schemeClr val="tx1"/>
                </a:solidFill>
                <a:ea typeface="宋体" panose="02010600030101010101" pitchFamily="2" charset="-122"/>
              </a:rPr>
              <a:t>→</a:t>
            </a:r>
            <a:r>
              <a:rPr lang="en-US" altLang="zh-CN" sz="2400">
                <a:solidFill>
                  <a:schemeClr val="tx1"/>
                </a:solidFill>
                <a:ea typeface="楷体_GB2312" pitchFamily="49" charset="-122"/>
              </a:rPr>
              <a:t>4OH</a:t>
            </a:r>
            <a:r>
              <a:rPr lang="en-US" altLang="zh-CN" sz="2400" baseline="30000">
                <a:solidFill>
                  <a:schemeClr val="tx1"/>
                </a:solidFill>
                <a:ea typeface="楷体_GB2312" pitchFamily="49" charset="-122"/>
              </a:rPr>
              <a:t>-</a:t>
            </a:r>
            <a:r>
              <a:rPr lang="en-US" altLang="zh-CN" sz="2800" baseline="30000">
                <a:solidFill>
                  <a:schemeClr val="tx1"/>
                </a:solidFill>
                <a:latin typeface="Arial" panose="020B0604020202020204" pitchFamily="34" charset="0"/>
                <a:ea typeface="楷体_GB2312" pitchFamily="49" charset="-122"/>
              </a:rPr>
              <a:t> </a:t>
            </a:r>
            <a:r>
              <a:rPr lang="en-US" altLang="zh-CN" sz="2800">
                <a:solidFill>
                  <a:schemeClr val="tx1"/>
                </a:solidFill>
                <a:latin typeface="Arial" panose="020B0604020202020204" pitchFamily="34" charset="0"/>
                <a:ea typeface="楷体_GB2312" pitchFamily="49" charset="-122"/>
              </a:rPr>
              <a:t>  </a:t>
            </a:r>
            <a:endParaRPr lang="en-US" altLang="zh-CN" sz="2800">
              <a:solidFill>
                <a:schemeClr val="tx1"/>
              </a:solidFill>
              <a:latin typeface="Arial" panose="020B0604020202020204" pitchFamily="34" charset="0"/>
              <a:ea typeface="楷体_GB2312" pitchFamily="49" charset="-122"/>
            </a:endParaRPr>
          </a:p>
          <a:p>
            <a:pPr eaLnBrk="1" hangingPunct="1">
              <a:lnSpc>
                <a:spcPct val="150000"/>
              </a:lnSpc>
            </a:pPr>
            <a:r>
              <a:rPr lang="en-US" altLang="zh-CN" sz="2800">
                <a:solidFill>
                  <a:schemeClr val="tx1"/>
                </a:solidFill>
                <a:latin typeface="Arial" panose="020B0604020202020204" pitchFamily="34" charset="0"/>
                <a:ea typeface="楷体_GB2312" pitchFamily="49" charset="-122"/>
              </a:rPr>
              <a:t>                                            </a:t>
            </a:r>
            <a:r>
              <a:rPr lang="zh-CN" altLang="en-US" sz="2800">
                <a:solidFill>
                  <a:srgbClr val="0033CC"/>
                </a:solidFill>
                <a:latin typeface="Arial" panose="020B0604020202020204" pitchFamily="34" charset="0"/>
                <a:ea typeface="楷体_GB2312" pitchFamily="49" charset="-122"/>
              </a:rPr>
              <a:t>总反应式：</a:t>
            </a:r>
            <a:endParaRPr lang="zh-CN" altLang="en-US" sz="2800">
              <a:solidFill>
                <a:srgbClr val="0033CC"/>
              </a:solidFill>
              <a:latin typeface="Arial" panose="020B0604020202020204" pitchFamily="34" charset="0"/>
              <a:ea typeface="楷体_GB2312" pitchFamily="49" charset="-122"/>
            </a:endParaRPr>
          </a:p>
          <a:p>
            <a:pPr eaLnBrk="1" hangingPunct="1">
              <a:lnSpc>
                <a:spcPct val="150000"/>
              </a:lnSpc>
            </a:pPr>
            <a:r>
              <a:rPr lang="zh-CN" altLang="en-US" sz="2400">
                <a:solidFill>
                  <a:schemeClr val="tx1"/>
                </a:solidFill>
                <a:ea typeface="楷体_GB2312" pitchFamily="49" charset="-122"/>
              </a:rPr>
              <a:t>                                                          </a:t>
            </a:r>
            <a:r>
              <a:rPr lang="en-US" altLang="zh-CN" sz="2400">
                <a:solidFill>
                  <a:schemeClr val="tx1"/>
                </a:solidFill>
                <a:ea typeface="楷体_GB2312" pitchFamily="49" charset="-122"/>
              </a:rPr>
              <a:t>2H</a:t>
            </a:r>
            <a:r>
              <a:rPr lang="en-US" altLang="zh-CN" sz="2400" baseline="-25000">
                <a:solidFill>
                  <a:schemeClr val="tx1"/>
                </a:solidFill>
                <a:ea typeface="楷体_GB2312" pitchFamily="49" charset="-122"/>
              </a:rPr>
              <a:t>2</a:t>
            </a:r>
            <a:r>
              <a:rPr lang="en-US" altLang="zh-CN" sz="2400">
                <a:solidFill>
                  <a:schemeClr val="tx1"/>
                </a:solidFill>
                <a:ea typeface="楷体_GB2312" pitchFamily="49" charset="-122"/>
              </a:rPr>
              <a:t>+O</a:t>
            </a:r>
            <a:r>
              <a:rPr lang="en-US" altLang="zh-CN" sz="2400" baseline="-25000">
                <a:solidFill>
                  <a:schemeClr val="tx1"/>
                </a:solidFill>
                <a:ea typeface="楷体_GB2312" pitchFamily="49" charset="-122"/>
              </a:rPr>
              <a:t>2</a:t>
            </a:r>
            <a:r>
              <a:rPr lang="en-US" altLang="zh-CN" sz="2400">
                <a:solidFill>
                  <a:schemeClr val="tx1"/>
                </a:solidFill>
                <a:ea typeface="宋体" panose="02010600030101010101" pitchFamily="2" charset="-122"/>
              </a:rPr>
              <a:t>→</a:t>
            </a:r>
            <a:r>
              <a:rPr lang="en-US" altLang="zh-CN" sz="2400">
                <a:solidFill>
                  <a:schemeClr val="tx1"/>
                </a:solidFill>
                <a:ea typeface="楷体_GB2312" pitchFamily="49" charset="-122"/>
              </a:rPr>
              <a:t>2H</a:t>
            </a:r>
            <a:r>
              <a:rPr lang="en-US" altLang="zh-CN" sz="2400" baseline="-25000">
                <a:solidFill>
                  <a:schemeClr val="tx1"/>
                </a:solidFill>
                <a:ea typeface="楷体_GB2312" pitchFamily="49" charset="-122"/>
              </a:rPr>
              <a:t>2</a:t>
            </a:r>
            <a:r>
              <a:rPr lang="en-US" altLang="zh-CN" sz="2400">
                <a:solidFill>
                  <a:schemeClr val="tx1"/>
                </a:solidFill>
                <a:ea typeface="楷体_GB2312" pitchFamily="49" charset="-122"/>
              </a:rPr>
              <a:t>O</a:t>
            </a:r>
            <a:r>
              <a:rPr lang="en-US" altLang="zh-CN" sz="2800">
                <a:solidFill>
                  <a:schemeClr val="tx1"/>
                </a:solidFill>
                <a:latin typeface="Arial" panose="020B0604020202020204" pitchFamily="34" charset="0"/>
                <a:ea typeface="楷体_GB2312" pitchFamily="49" charset="-122"/>
              </a:rPr>
              <a:t>  </a:t>
            </a:r>
            <a:endParaRPr lang="en-US" altLang="zh-CN" sz="2800">
              <a:solidFill>
                <a:schemeClr val="tx1"/>
              </a:solidFill>
              <a:latin typeface="Arial" panose="020B0604020202020204" pitchFamily="34" charset="0"/>
              <a:ea typeface="楷体_GB2312" pitchFamily="49" charset="-122"/>
            </a:endParaRPr>
          </a:p>
          <a:p>
            <a:pPr eaLnBrk="1" hangingPunct="1">
              <a:lnSpc>
                <a:spcPct val="150000"/>
              </a:lnSpc>
            </a:pPr>
            <a:r>
              <a:rPr lang="en-US" altLang="zh-CN" sz="2800">
                <a:solidFill>
                  <a:schemeClr val="tx1"/>
                </a:solidFill>
                <a:latin typeface="Arial" panose="020B0604020202020204" pitchFamily="34" charset="0"/>
                <a:ea typeface="楷体_GB2312" pitchFamily="49" charset="-122"/>
              </a:rPr>
              <a:t>    </a:t>
            </a:r>
            <a:endParaRPr lang="en-US" altLang="zh-CN" sz="2800">
              <a:solidFill>
                <a:schemeClr val="tx1"/>
              </a:solidFill>
              <a:latin typeface="Arial" panose="020B0604020202020204" pitchFamily="34" charset="0"/>
              <a:ea typeface="楷体_GB2312" pitchFamily="49" charset="-122"/>
            </a:endParaRPr>
          </a:p>
          <a:p>
            <a:pPr algn="ctr" eaLnBrk="1" hangingPunct="1">
              <a:lnSpc>
                <a:spcPct val="150000"/>
              </a:lnSpc>
            </a:pPr>
            <a:endParaRPr lang="zh-CN" altLang="en-US" sz="2800">
              <a:solidFill>
                <a:srgbClr val="0033CC"/>
              </a:solidFill>
              <a:latin typeface="Arial" panose="020B0604020202020204" pitchFamily="34" charset="0"/>
              <a:ea typeface="楷体_GB2312" pitchFamily="49" charset="-122"/>
            </a:endParaRPr>
          </a:p>
          <a:p>
            <a:pPr algn="ctr" eaLnBrk="1" hangingPunct="1">
              <a:lnSpc>
                <a:spcPct val="150000"/>
              </a:lnSpc>
            </a:pPr>
            <a:r>
              <a:rPr lang="zh-CN" altLang="en-US" sz="2800">
                <a:solidFill>
                  <a:schemeClr val="tx1"/>
                </a:solidFill>
                <a:ea typeface="楷体_GB2312" pitchFamily="49" charset="-122"/>
              </a:rPr>
              <a:t>质子交换膜燃料电池（</a:t>
            </a:r>
            <a:r>
              <a:rPr lang="en-US" altLang="zh-CN" sz="2800">
                <a:solidFill>
                  <a:schemeClr val="tx1"/>
                </a:solidFill>
                <a:ea typeface="楷体_GB2312" pitchFamily="49" charset="-122"/>
              </a:rPr>
              <a:t>PEMFC</a:t>
            </a:r>
            <a:r>
              <a:rPr lang="zh-CN" altLang="en-US" sz="2800">
                <a:solidFill>
                  <a:schemeClr val="tx1"/>
                </a:solidFill>
                <a:ea typeface="楷体_GB2312" pitchFamily="49" charset="-122"/>
              </a:rPr>
              <a:t>）示意图</a:t>
            </a:r>
            <a:r>
              <a:rPr lang="en-US" altLang="zh-CN" sz="2800">
                <a:solidFill>
                  <a:schemeClr val="tx1"/>
                </a:solidFill>
                <a:latin typeface="Arial" panose="020B0604020202020204" pitchFamily="34" charset="0"/>
                <a:ea typeface="楷体_GB2312" pitchFamily="49" charset="-122"/>
              </a:rPr>
              <a:t>                                                        </a:t>
            </a:r>
            <a:endParaRPr lang="en-US" altLang="zh-CN" sz="2800">
              <a:solidFill>
                <a:schemeClr val="tx1"/>
              </a:solidFill>
              <a:latin typeface="Arial" panose="020B0604020202020204" pitchFamily="34" charset="0"/>
              <a:ea typeface="楷体_GB2312" pitchFamily="49" charset="-122"/>
            </a:endParaRPr>
          </a:p>
        </p:txBody>
      </p:sp>
      <p:pic>
        <p:nvPicPr>
          <p:cNvPr id="8499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052513"/>
            <a:ext cx="4667250"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Box 4"/>
          <p:cNvSpPr txBox="1">
            <a:spLocks noChangeArrowheads="1"/>
          </p:cNvSpPr>
          <p:nvPr/>
        </p:nvSpPr>
        <p:spPr bwMode="auto">
          <a:xfrm>
            <a:off x="827088" y="5661025"/>
            <a:ext cx="7931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r>
              <a:rPr lang="en-US" altLang="zh-CN" sz="2800">
                <a:solidFill>
                  <a:schemeClr val="tx1"/>
                </a:solidFill>
                <a:ea typeface="楷体_GB2312" pitchFamily="49" charset="-122"/>
              </a:rPr>
              <a:t>2 kW</a:t>
            </a:r>
            <a:r>
              <a:rPr lang="zh-CN" altLang="en-US" sz="2800">
                <a:solidFill>
                  <a:schemeClr val="tx1"/>
                </a:solidFill>
                <a:ea typeface="楷体_GB2312" pitchFamily="49" charset="-122"/>
              </a:rPr>
              <a:t>电池组                                   </a:t>
            </a:r>
            <a:r>
              <a:rPr lang="en-US" altLang="zh-CN" sz="2800">
                <a:solidFill>
                  <a:schemeClr val="tx1"/>
                </a:solidFill>
                <a:ea typeface="楷体_GB2312" pitchFamily="49" charset="-122"/>
              </a:rPr>
              <a:t>5 kW</a:t>
            </a:r>
            <a:r>
              <a:rPr lang="zh-CN" altLang="en-US" sz="2800">
                <a:solidFill>
                  <a:schemeClr val="tx1"/>
                </a:solidFill>
                <a:ea typeface="楷体_GB2312" pitchFamily="49" charset="-122"/>
              </a:rPr>
              <a:t>电池组</a:t>
            </a:r>
            <a:endParaRPr lang="zh-CN" altLang="en-US" sz="2800">
              <a:solidFill>
                <a:schemeClr val="tx1"/>
              </a:solidFill>
              <a:ea typeface="楷体_GB2312" pitchFamily="49" charset="-122"/>
            </a:endParaRPr>
          </a:p>
        </p:txBody>
      </p:sp>
      <p:pic>
        <p:nvPicPr>
          <p:cNvPr id="8601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0825" y="908050"/>
            <a:ext cx="3686175" cy="439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2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7538" y="1412875"/>
            <a:ext cx="4468812" cy="349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78142"/>
            <a:ext cx="9144000" cy="6501715"/>
          </a:xfrm>
          <a:prstGeom prst="rect">
            <a:avLst/>
          </a:prstGeom>
        </p:spPr>
      </p:pic>
      <p:sp>
        <p:nvSpPr>
          <p:cNvPr id="4" name="矩形 3"/>
          <p:cNvSpPr/>
          <p:nvPr/>
        </p:nvSpPr>
        <p:spPr>
          <a:xfrm>
            <a:off x="7847856" y="0"/>
            <a:ext cx="1296144" cy="76470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Bar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3"/>
          <p:cNvSpPr txBox="1">
            <a:spLocks noChangeArrowheads="1"/>
          </p:cNvSpPr>
          <p:nvPr/>
        </p:nvSpPr>
        <p:spPr bwMode="auto">
          <a:xfrm>
            <a:off x="395536" y="189363"/>
            <a:ext cx="8153400" cy="6479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tIns="0" bIns="0">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lnSpc>
                <a:spcPct val="150000"/>
              </a:lnSpc>
            </a:pPr>
            <a:r>
              <a:rPr lang="en-US" altLang="zh-CN" sz="3200" dirty="0">
                <a:solidFill>
                  <a:srgbClr val="FF3300"/>
                </a:solidFill>
                <a:ea typeface="楷体_GB2312" pitchFamily="49" charset="-122"/>
              </a:rPr>
              <a:t>（4）FC</a:t>
            </a:r>
            <a:r>
              <a:rPr lang="zh-CN" altLang="en-US" sz="3200" dirty="0">
                <a:solidFill>
                  <a:srgbClr val="FF3300"/>
                </a:solidFill>
                <a:ea typeface="楷体_GB2312" pitchFamily="49" charset="-122"/>
              </a:rPr>
              <a:t>的现状与发展趋势</a:t>
            </a:r>
            <a:endParaRPr lang="zh-CN" altLang="en-US" sz="3200" dirty="0">
              <a:solidFill>
                <a:srgbClr val="FF3300"/>
              </a:solidFill>
              <a:ea typeface="楷体_GB2312" pitchFamily="49" charset="-122"/>
            </a:endParaRPr>
          </a:p>
          <a:p>
            <a:pPr eaLnBrk="1" hangingPunct="1">
              <a:lnSpc>
                <a:spcPct val="150000"/>
              </a:lnSpc>
            </a:pPr>
            <a:r>
              <a:rPr lang="zh-CN" altLang="en-US" sz="2800" dirty="0">
                <a:solidFill>
                  <a:schemeClr val="tx1"/>
                </a:solidFill>
                <a:ea typeface="楷体_GB2312" pitchFamily="49" charset="-122"/>
              </a:rPr>
              <a:t>全球部分发达国家的燃料电池产业技术瓶颈已经突破，将迎来高速成长期。预计到</a:t>
            </a:r>
            <a:r>
              <a:rPr lang="en-US" altLang="zh-CN" sz="2800" dirty="0">
                <a:solidFill>
                  <a:schemeClr val="tx1"/>
                </a:solidFill>
                <a:ea typeface="楷体_GB2312" pitchFamily="49" charset="-122"/>
              </a:rPr>
              <a:t>2026</a:t>
            </a:r>
            <a:r>
              <a:rPr lang="zh-CN" altLang="en-US" sz="2800" dirty="0">
                <a:solidFill>
                  <a:schemeClr val="tx1"/>
                </a:solidFill>
                <a:ea typeface="楷体_GB2312" pitchFamily="49" charset="-122"/>
              </a:rPr>
              <a:t>年，全球燃料电池市场规模将突破</a:t>
            </a:r>
            <a:r>
              <a:rPr lang="en-US" altLang="zh-CN" sz="2800" dirty="0">
                <a:solidFill>
                  <a:schemeClr val="tx1"/>
                </a:solidFill>
                <a:ea typeface="楷体_GB2312" pitchFamily="49" charset="-122"/>
              </a:rPr>
              <a:t>110</a:t>
            </a:r>
            <a:r>
              <a:rPr lang="zh-CN" altLang="en-US" sz="2800" dirty="0">
                <a:solidFill>
                  <a:schemeClr val="tx1"/>
                </a:solidFill>
                <a:ea typeface="楷体_GB2312" pitchFamily="49" charset="-122"/>
              </a:rPr>
              <a:t>亿美元。</a:t>
            </a:r>
            <a:endParaRPr lang="en-US" altLang="zh-CN" sz="2800" dirty="0">
              <a:solidFill>
                <a:schemeClr val="tx1"/>
              </a:solidFill>
              <a:ea typeface="楷体_GB2312" pitchFamily="49" charset="-122"/>
            </a:endParaRPr>
          </a:p>
          <a:p>
            <a:pPr eaLnBrk="1" hangingPunct="1">
              <a:lnSpc>
                <a:spcPct val="150000"/>
              </a:lnSpc>
            </a:pPr>
            <a:r>
              <a:rPr lang="en-US" altLang="zh-CN" sz="2800" dirty="0">
                <a:solidFill>
                  <a:schemeClr val="tx1"/>
                </a:solidFill>
                <a:ea typeface="楷体_GB2312" pitchFamily="49" charset="-122"/>
              </a:rPr>
              <a:t>1.</a:t>
            </a:r>
            <a:r>
              <a:rPr lang="zh-CN" altLang="en-US" sz="2800" dirty="0">
                <a:solidFill>
                  <a:srgbClr val="FF0000"/>
                </a:solidFill>
                <a:ea typeface="楷体_GB2312" pitchFamily="49" charset="-122"/>
              </a:rPr>
              <a:t>全球燃料电池发展进入加速期</a:t>
            </a:r>
            <a:r>
              <a:rPr lang="zh-CN" altLang="en-US" sz="2800" dirty="0">
                <a:solidFill>
                  <a:schemeClr val="tx1"/>
                </a:solidFill>
                <a:ea typeface="楷体_GB2312" pitchFamily="49" charset="-122"/>
              </a:rPr>
              <a:t>。燃料电池将成为</a:t>
            </a:r>
            <a:r>
              <a:rPr lang="en-US" altLang="zh-CN" sz="2800" dirty="0">
                <a:solidFill>
                  <a:schemeClr val="tx1"/>
                </a:solidFill>
                <a:ea typeface="楷体_GB2312" pitchFamily="49" charset="-122"/>
              </a:rPr>
              <a:t>21</a:t>
            </a:r>
            <a:r>
              <a:rPr lang="zh-CN" altLang="en-US" sz="2800" dirty="0">
                <a:solidFill>
                  <a:schemeClr val="tx1"/>
                </a:solidFill>
                <a:ea typeface="楷体_GB2312" pitchFamily="49" charset="-122"/>
              </a:rPr>
              <a:t>世纪继火电、水电、核电后的第四代 发电方式。</a:t>
            </a:r>
            <a:endParaRPr lang="en-US" altLang="zh-CN" sz="2800" dirty="0">
              <a:solidFill>
                <a:schemeClr val="tx1"/>
              </a:solidFill>
              <a:ea typeface="楷体_GB2312" pitchFamily="49" charset="-122"/>
            </a:endParaRPr>
          </a:p>
          <a:p>
            <a:pPr eaLnBrk="1" hangingPunct="1">
              <a:lnSpc>
                <a:spcPct val="150000"/>
              </a:lnSpc>
            </a:pPr>
            <a:r>
              <a:rPr lang="en-US" altLang="zh-CN" sz="2800" dirty="0">
                <a:solidFill>
                  <a:schemeClr val="tx1"/>
                </a:solidFill>
                <a:ea typeface="楷体_GB2312" pitchFamily="49" charset="-122"/>
              </a:rPr>
              <a:t>2.</a:t>
            </a:r>
            <a:r>
              <a:rPr lang="zh-CN" altLang="en-US" sz="2800" dirty="0">
                <a:solidFill>
                  <a:srgbClr val="FF0000"/>
                </a:solidFill>
                <a:ea typeface="楷体_GB2312" pitchFamily="49" charset="-122"/>
              </a:rPr>
              <a:t>全球燃料电池行业出货量持续增长</a:t>
            </a:r>
            <a:r>
              <a:rPr lang="zh-CN" altLang="en-US" sz="2800" dirty="0">
                <a:solidFill>
                  <a:schemeClr val="tx1"/>
                </a:solidFill>
                <a:ea typeface="楷体_GB2312" pitchFamily="49" charset="-122"/>
              </a:rPr>
              <a:t>。 </a:t>
            </a:r>
            <a:r>
              <a:rPr lang="en-US" altLang="zh-CN" sz="2800" dirty="0">
                <a:solidFill>
                  <a:schemeClr val="tx1"/>
                </a:solidFill>
                <a:ea typeface="楷体_GB2312" pitchFamily="49" charset="-122"/>
              </a:rPr>
              <a:t>2020</a:t>
            </a:r>
            <a:r>
              <a:rPr lang="zh-CN" altLang="en-US" sz="2800" dirty="0">
                <a:solidFill>
                  <a:schemeClr val="tx1"/>
                </a:solidFill>
                <a:ea typeface="楷体_GB2312" pitchFamily="49" charset="-122"/>
              </a:rPr>
              <a:t>年，尽管受新冠肺炎疫情的影响，但在亚太地区的拉动下，全球燃料电池出货功率仍然保持增长态势，达</a:t>
            </a:r>
            <a:r>
              <a:rPr lang="en-US" altLang="zh-CN" sz="2800" dirty="0">
                <a:solidFill>
                  <a:schemeClr val="tx1"/>
                </a:solidFill>
                <a:ea typeface="楷体_GB2312" pitchFamily="49" charset="-122"/>
              </a:rPr>
              <a:t>1318.7MW</a:t>
            </a:r>
            <a:r>
              <a:rPr lang="zh-CN" altLang="en-US" sz="2800" dirty="0">
                <a:solidFill>
                  <a:schemeClr val="tx1"/>
                </a:solidFill>
                <a:ea typeface="楷体_GB2312" pitchFamily="49" charset="-122"/>
              </a:rPr>
              <a:t>，同比增长</a:t>
            </a:r>
            <a:r>
              <a:rPr lang="en-US" altLang="zh-CN" sz="2800" dirty="0">
                <a:solidFill>
                  <a:schemeClr val="tx1"/>
                </a:solidFill>
                <a:ea typeface="楷体_GB2312" pitchFamily="49" charset="-122"/>
              </a:rPr>
              <a:t>10%</a:t>
            </a:r>
            <a:r>
              <a:rPr lang="zh-CN" altLang="en-US" sz="2800" dirty="0">
                <a:solidFill>
                  <a:schemeClr val="tx1"/>
                </a:solidFill>
                <a:ea typeface="楷体_GB2312" pitchFamily="49" charset="-122"/>
              </a:rPr>
              <a:t>。</a:t>
            </a:r>
            <a:endParaRPr lang="zh-CN" altLang="en-US" sz="2800" dirty="0">
              <a:solidFill>
                <a:schemeClr val="tx1"/>
              </a:solidFill>
              <a:ea typeface="楷体_GB2312" pitchFamily="49" charset="-122"/>
            </a:endParaRPr>
          </a:p>
        </p:txBody>
      </p:sp>
    </p:spTree>
  </p:cSld>
  <p:clrMapOvr>
    <a:masterClrMapping/>
  </p:clrMapOvr>
  <p:transition>
    <p:randomBar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a:spLocks noChangeArrowheads="1"/>
          </p:cNvSpPr>
          <p:nvPr/>
        </p:nvSpPr>
        <p:spPr bwMode="auto">
          <a:xfrm>
            <a:off x="395536" y="189363"/>
            <a:ext cx="8153400" cy="6478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tIns="0" bIns="0">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lnSpc>
                <a:spcPct val="150000"/>
              </a:lnSpc>
            </a:pPr>
            <a:r>
              <a:rPr lang="en-US" altLang="zh-CN" sz="3200" dirty="0">
                <a:solidFill>
                  <a:srgbClr val="FF3300"/>
                </a:solidFill>
                <a:ea typeface="楷体_GB2312" pitchFamily="49" charset="-122"/>
              </a:rPr>
              <a:t>（4）FC</a:t>
            </a:r>
            <a:r>
              <a:rPr lang="zh-CN" altLang="en-US" sz="3200" dirty="0">
                <a:solidFill>
                  <a:srgbClr val="FF3300"/>
                </a:solidFill>
                <a:ea typeface="楷体_GB2312" pitchFamily="49" charset="-122"/>
              </a:rPr>
              <a:t>的现状与发展趋势</a:t>
            </a:r>
            <a:endParaRPr lang="zh-CN" altLang="en-US" sz="3200" dirty="0">
              <a:solidFill>
                <a:srgbClr val="FF3300"/>
              </a:solidFill>
              <a:ea typeface="楷体_GB2312" pitchFamily="49" charset="-122"/>
            </a:endParaRPr>
          </a:p>
          <a:p>
            <a:pPr eaLnBrk="1" hangingPunct="1">
              <a:lnSpc>
                <a:spcPct val="150000"/>
              </a:lnSpc>
            </a:pPr>
            <a:r>
              <a:rPr lang="en-US" altLang="zh-CN" sz="2800" dirty="0">
                <a:solidFill>
                  <a:schemeClr val="tx1"/>
                </a:solidFill>
                <a:ea typeface="楷体_GB2312" pitchFamily="49" charset="-122"/>
              </a:rPr>
              <a:t>3.</a:t>
            </a:r>
            <a:r>
              <a:rPr lang="zh-CN" altLang="en-US" sz="2800" dirty="0">
                <a:solidFill>
                  <a:srgbClr val="FF0000"/>
                </a:solidFill>
                <a:ea typeface="楷体_GB2312" pitchFamily="49" charset="-122"/>
              </a:rPr>
              <a:t>全球燃料电池产品以质子交换膜电池为主。</a:t>
            </a:r>
            <a:r>
              <a:rPr lang="zh-CN" altLang="en-US" sz="2800" dirty="0">
                <a:solidFill>
                  <a:schemeClr val="tx1"/>
                </a:solidFill>
                <a:ea typeface="楷体_GB2312" pitchFamily="49" charset="-122"/>
              </a:rPr>
              <a:t>质子交换膜电池以其更高的能量密度、较低的运行温度、启动时间短等优势，已经成为全球燃料电池应用与推广的主流技术之一。</a:t>
            </a:r>
            <a:endParaRPr lang="en-US" altLang="zh-CN" sz="2800" dirty="0">
              <a:solidFill>
                <a:schemeClr val="tx1"/>
              </a:solidFill>
              <a:ea typeface="楷体_GB2312" pitchFamily="49" charset="-122"/>
            </a:endParaRPr>
          </a:p>
          <a:p>
            <a:pPr eaLnBrk="1" hangingPunct="1">
              <a:lnSpc>
                <a:spcPct val="150000"/>
              </a:lnSpc>
            </a:pPr>
            <a:r>
              <a:rPr lang="en-US" altLang="zh-CN" sz="2800" dirty="0">
                <a:solidFill>
                  <a:schemeClr val="tx1"/>
                </a:solidFill>
                <a:ea typeface="楷体_GB2312" pitchFamily="49" charset="-122"/>
              </a:rPr>
              <a:t>4.</a:t>
            </a:r>
            <a:r>
              <a:rPr lang="zh-CN" altLang="en-US" sz="2800" dirty="0">
                <a:solidFill>
                  <a:schemeClr val="tx1"/>
                </a:solidFill>
                <a:ea typeface="楷体_GB2312" pitchFamily="49" charset="-122"/>
              </a:rPr>
              <a:t>近年来，我国燃料电池汽车发展迅猛，逐步形成京津冀、珠三角、长三角、成渝等产业集群，但目前仍以示范应用为主，</a:t>
            </a:r>
            <a:r>
              <a:rPr lang="zh-CN" altLang="en-US" sz="2800" dirty="0">
                <a:solidFill>
                  <a:srgbClr val="FF0000"/>
                </a:solidFill>
                <a:ea typeface="楷体_GB2312" pitchFamily="49" charset="-122"/>
              </a:rPr>
              <a:t>距离规模化发展还有较大差距</a:t>
            </a:r>
            <a:r>
              <a:rPr lang="zh-CN" altLang="en-US" sz="2800" dirty="0">
                <a:solidFill>
                  <a:schemeClr val="tx1"/>
                </a:solidFill>
                <a:ea typeface="楷体_GB2312" pitchFamily="49" charset="-122"/>
              </a:rPr>
              <a:t>。</a:t>
            </a:r>
            <a:endParaRPr lang="zh-CN" altLang="en-US" sz="2800" dirty="0">
              <a:solidFill>
                <a:schemeClr val="tx1"/>
              </a:solidFill>
              <a:ea typeface="楷体_GB2312" pitchFamily="49" charset="-122"/>
            </a:endParaRPr>
          </a:p>
          <a:p>
            <a:pPr eaLnBrk="1" hangingPunct="1">
              <a:lnSpc>
                <a:spcPct val="150000"/>
              </a:lnSpc>
            </a:pPr>
            <a:endParaRPr lang="zh-CN" altLang="en-US" sz="2800" dirty="0">
              <a:solidFill>
                <a:srgbClr val="FF0000"/>
              </a:solidFill>
              <a:ea typeface="楷体_GB2312" pitchFamily="49" charset="-122"/>
            </a:endParaRPr>
          </a:p>
        </p:txBody>
      </p:sp>
    </p:spTree>
  </p:cSld>
  <p:clrMapOvr>
    <a:masterClrMapping/>
  </p:clrMapOvr>
  <p:transition>
    <p:randomBar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a:spLocks noChangeArrowheads="1"/>
          </p:cNvSpPr>
          <p:nvPr/>
        </p:nvSpPr>
        <p:spPr bwMode="auto">
          <a:xfrm>
            <a:off x="395536" y="189363"/>
            <a:ext cx="8153400" cy="5831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tIns="0" bIns="0">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lnSpc>
                <a:spcPct val="150000"/>
              </a:lnSpc>
            </a:pPr>
            <a:r>
              <a:rPr lang="en-US" altLang="zh-CN" sz="3200" dirty="0">
                <a:solidFill>
                  <a:srgbClr val="FF3300"/>
                </a:solidFill>
                <a:ea typeface="楷体_GB2312" pitchFamily="49" charset="-122"/>
              </a:rPr>
              <a:t>（4）FC</a:t>
            </a:r>
            <a:r>
              <a:rPr lang="zh-CN" altLang="en-US" sz="3200" dirty="0">
                <a:solidFill>
                  <a:srgbClr val="FF3300"/>
                </a:solidFill>
                <a:ea typeface="楷体_GB2312" pitchFamily="49" charset="-122"/>
              </a:rPr>
              <a:t>的现状与发展趋势</a:t>
            </a:r>
            <a:endParaRPr lang="zh-CN" altLang="en-US" sz="3200" dirty="0">
              <a:solidFill>
                <a:srgbClr val="FF3300"/>
              </a:solidFill>
              <a:ea typeface="楷体_GB2312" pitchFamily="49" charset="-122"/>
            </a:endParaRPr>
          </a:p>
          <a:p>
            <a:pPr eaLnBrk="1" hangingPunct="1">
              <a:lnSpc>
                <a:spcPct val="150000"/>
              </a:lnSpc>
            </a:pPr>
            <a:r>
              <a:rPr lang="en-US" altLang="zh-CN" sz="2800" dirty="0">
                <a:solidFill>
                  <a:schemeClr val="tx1"/>
                </a:solidFill>
                <a:ea typeface="楷体_GB2312" pitchFamily="49" charset="-122"/>
              </a:rPr>
              <a:t>5.</a:t>
            </a:r>
            <a:r>
              <a:rPr lang="zh-CN" altLang="en-US" sz="2800" dirty="0">
                <a:solidFill>
                  <a:srgbClr val="FF0000"/>
                </a:solidFill>
                <a:ea typeface="楷体_GB2312" pitchFamily="49" charset="-122"/>
              </a:rPr>
              <a:t>燃料电池发动机、加氢站成本及氢气价格均需下降</a:t>
            </a:r>
            <a:r>
              <a:rPr lang="zh-CN" altLang="en-US" sz="2800" dirty="0">
                <a:solidFill>
                  <a:schemeClr val="tx1"/>
                </a:solidFill>
                <a:ea typeface="楷体_GB2312" pitchFamily="49" charset="-122"/>
              </a:rPr>
              <a:t>。中国工程院院士衣宝廉进一步指出，燃料电池汽车推广卡在</a:t>
            </a:r>
            <a:r>
              <a:rPr lang="zh-CN" altLang="en-US" sz="2800" dirty="0">
                <a:solidFill>
                  <a:srgbClr val="FF0000"/>
                </a:solidFill>
                <a:ea typeface="楷体_GB2312" pitchFamily="49" charset="-122"/>
              </a:rPr>
              <a:t>车辆贵、加氢贵</a:t>
            </a:r>
            <a:r>
              <a:rPr lang="zh-CN" altLang="en-US" sz="2800" dirty="0">
                <a:solidFill>
                  <a:schemeClr val="tx1"/>
                </a:solidFill>
                <a:ea typeface="楷体_GB2312" pitchFamily="49" charset="-122"/>
              </a:rPr>
              <a:t>两大难关上。目前，一辆燃料电池汽车售价约是燃油车的</a:t>
            </a:r>
            <a:r>
              <a:rPr lang="en-US" altLang="zh-CN" sz="2800" dirty="0">
                <a:solidFill>
                  <a:srgbClr val="FF0000"/>
                </a:solidFill>
                <a:ea typeface="楷体_GB2312" pitchFamily="49" charset="-122"/>
              </a:rPr>
              <a:t>3</a:t>
            </a:r>
            <a:r>
              <a:rPr lang="zh-CN" altLang="en-US" sz="2800" dirty="0">
                <a:solidFill>
                  <a:srgbClr val="FF0000"/>
                </a:solidFill>
                <a:ea typeface="楷体_GB2312" pitchFamily="49" charset="-122"/>
              </a:rPr>
              <a:t>倍</a:t>
            </a:r>
            <a:r>
              <a:rPr lang="zh-CN" altLang="en-US" sz="2800" dirty="0">
                <a:solidFill>
                  <a:schemeClr val="tx1"/>
                </a:solidFill>
                <a:ea typeface="楷体_GB2312" pitchFamily="49" charset="-122"/>
              </a:rPr>
              <a:t>、锂离子电动汽车的</a:t>
            </a:r>
            <a:r>
              <a:rPr lang="en-US" altLang="zh-CN" sz="2800" dirty="0">
                <a:solidFill>
                  <a:srgbClr val="FF0000"/>
                </a:solidFill>
                <a:ea typeface="楷体_GB2312" pitchFamily="49" charset="-122"/>
              </a:rPr>
              <a:t>1.5-2</a:t>
            </a:r>
            <a:r>
              <a:rPr lang="zh-CN" altLang="en-US" sz="2800" dirty="0">
                <a:solidFill>
                  <a:srgbClr val="FF0000"/>
                </a:solidFill>
                <a:ea typeface="楷体_GB2312" pitchFamily="49" charset="-122"/>
              </a:rPr>
              <a:t>倍</a:t>
            </a:r>
            <a:r>
              <a:rPr lang="zh-CN" altLang="en-US" sz="2800" dirty="0">
                <a:solidFill>
                  <a:schemeClr val="tx1"/>
                </a:solidFill>
                <a:ea typeface="楷体_GB2312" pitchFamily="49" charset="-122"/>
              </a:rPr>
              <a:t>；加氢站建设费用高达</a:t>
            </a:r>
            <a:r>
              <a:rPr lang="en-US" altLang="zh-CN" sz="2800" dirty="0">
                <a:solidFill>
                  <a:schemeClr val="tx1"/>
                </a:solidFill>
                <a:ea typeface="楷体_GB2312" pitchFamily="49" charset="-122"/>
              </a:rPr>
              <a:t>1200</a:t>
            </a:r>
            <a:r>
              <a:rPr lang="zh-CN" altLang="en-US" sz="2800" dirty="0">
                <a:solidFill>
                  <a:schemeClr val="tx1"/>
                </a:solidFill>
                <a:ea typeface="楷体_GB2312" pitchFamily="49" charset="-122"/>
              </a:rPr>
              <a:t>万</a:t>
            </a:r>
            <a:r>
              <a:rPr lang="en-US" altLang="zh-CN" sz="2800" dirty="0">
                <a:solidFill>
                  <a:schemeClr val="tx1"/>
                </a:solidFill>
                <a:ea typeface="楷体_GB2312" pitchFamily="49" charset="-122"/>
              </a:rPr>
              <a:t>-</a:t>
            </a:r>
            <a:r>
              <a:rPr lang="en-US" altLang="zh-CN" sz="2800" dirty="0">
                <a:solidFill>
                  <a:srgbClr val="FF0000"/>
                </a:solidFill>
                <a:ea typeface="楷体_GB2312" pitchFamily="49" charset="-122"/>
              </a:rPr>
              <a:t>1500</a:t>
            </a:r>
            <a:r>
              <a:rPr lang="zh-CN" altLang="en-US" sz="2800" dirty="0">
                <a:solidFill>
                  <a:srgbClr val="FF0000"/>
                </a:solidFill>
                <a:ea typeface="楷体_GB2312" pitchFamily="49" charset="-122"/>
              </a:rPr>
              <a:t>万元</a:t>
            </a:r>
            <a:r>
              <a:rPr lang="zh-CN" altLang="en-US" sz="2800" dirty="0">
                <a:solidFill>
                  <a:schemeClr val="tx1"/>
                </a:solidFill>
                <a:ea typeface="楷体_GB2312" pitchFamily="49" charset="-122"/>
              </a:rPr>
              <a:t>，</a:t>
            </a:r>
            <a:r>
              <a:rPr lang="zh-CN" altLang="en-US" sz="2800" dirty="0">
                <a:solidFill>
                  <a:srgbClr val="FF0000"/>
                </a:solidFill>
                <a:ea typeface="楷体_GB2312" pitchFamily="49" charset="-122"/>
              </a:rPr>
              <a:t>每公斤氢气</a:t>
            </a:r>
            <a:r>
              <a:rPr lang="zh-CN" altLang="en-US" sz="2800" dirty="0">
                <a:solidFill>
                  <a:schemeClr val="tx1"/>
                </a:solidFill>
                <a:ea typeface="楷体_GB2312" pitchFamily="49" charset="-122"/>
              </a:rPr>
              <a:t>价格高达</a:t>
            </a:r>
            <a:r>
              <a:rPr lang="en-US" altLang="zh-CN" sz="2800" dirty="0">
                <a:solidFill>
                  <a:srgbClr val="FF0000"/>
                </a:solidFill>
                <a:ea typeface="楷体_GB2312" pitchFamily="49" charset="-122"/>
              </a:rPr>
              <a:t>60-80</a:t>
            </a:r>
            <a:r>
              <a:rPr lang="zh-CN" altLang="en-US" sz="2800" dirty="0">
                <a:solidFill>
                  <a:srgbClr val="FF0000"/>
                </a:solidFill>
                <a:ea typeface="楷体_GB2312" pitchFamily="49" charset="-122"/>
              </a:rPr>
              <a:t>元</a:t>
            </a:r>
            <a:r>
              <a:rPr lang="zh-CN" altLang="en-US" sz="2800" dirty="0">
                <a:solidFill>
                  <a:schemeClr val="tx1"/>
                </a:solidFill>
                <a:ea typeface="楷体_GB2312" pitchFamily="49" charset="-122"/>
              </a:rPr>
              <a:t>。</a:t>
            </a:r>
            <a:endParaRPr lang="en-US" altLang="zh-CN" sz="2800" dirty="0">
              <a:solidFill>
                <a:schemeClr val="tx1"/>
              </a:solidFill>
              <a:ea typeface="楷体_GB2312" pitchFamily="49" charset="-122"/>
            </a:endParaRPr>
          </a:p>
          <a:p>
            <a:pPr eaLnBrk="1" hangingPunct="1">
              <a:lnSpc>
                <a:spcPct val="150000"/>
              </a:lnSpc>
            </a:pPr>
            <a:endParaRPr lang="zh-CN" altLang="en-US" sz="2800" dirty="0">
              <a:solidFill>
                <a:schemeClr val="tx1"/>
              </a:solidFill>
              <a:ea typeface="楷体_GB2312" pitchFamily="49" charset="-122"/>
            </a:endParaRPr>
          </a:p>
          <a:p>
            <a:pPr eaLnBrk="1" hangingPunct="1">
              <a:lnSpc>
                <a:spcPct val="150000"/>
              </a:lnSpc>
            </a:pPr>
            <a:endParaRPr lang="zh-CN" altLang="en-US" sz="2800" dirty="0">
              <a:solidFill>
                <a:srgbClr val="FF0000"/>
              </a:solidFill>
              <a:ea typeface="楷体_GB2312" pitchFamily="49" charset="-122"/>
            </a:endParaRPr>
          </a:p>
        </p:txBody>
      </p:sp>
    </p:spTree>
  </p:cSld>
  <p:clrMapOvr>
    <a:masterClrMapping/>
  </p:clrMapOvr>
  <p:transition>
    <p:randomBar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 Box 3"/>
          <p:cNvSpPr txBox="1">
            <a:spLocks noChangeArrowheads="1"/>
          </p:cNvSpPr>
          <p:nvPr/>
        </p:nvSpPr>
        <p:spPr bwMode="auto">
          <a:xfrm>
            <a:off x="395288" y="228600"/>
            <a:ext cx="8748712" cy="641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tIns="0" bIns="0">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lnSpc>
                <a:spcPct val="150000"/>
              </a:lnSpc>
            </a:pPr>
            <a:r>
              <a:rPr lang="zh-CN" altLang="en-US" sz="2800">
                <a:solidFill>
                  <a:schemeClr val="tx1"/>
                </a:solidFill>
                <a:latin typeface="Arial" panose="020B0604020202020204" pitchFamily="34" charset="0"/>
                <a:ea typeface="楷体_GB2312" pitchFamily="49" charset="-122"/>
              </a:rPr>
              <a:t>      </a:t>
            </a:r>
            <a:r>
              <a:rPr lang="zh-CN" altLang="en-US" sz="2800">
                <a:solidFill>
                  <a:schemeClr val="tx1"/>
                </a:solidFill>
                <a:ea typeface="楷体_GB2312" pitchFamily="49" charset="-122"/>
              </a:rPr>
              <a:t>目前，</a:t>
            </a:r>
            <a:r>
              <a:rPr lang="en-US" altLang="zh-CN" sz="2800">
                <a:solidFill>
                  <a:schemeClr val="tx1"/>
                </a:solidFill>
                <a:ea typeface="楷体_GB2312" pitchFamily="49" charset="-122"/>
              </a:rPr>
              <a:t>Siemens Westinghouse</a:t>
            </a:r>
            <a:r>
              <a:rPr lang="zh-CN" altLang="en-US" sz="2800">
                <a:solidFill>
                  <a:schemeClr val="tx1"/>
                </a:solidFill>
                <a:ea typeface="楷体_GB2312" pitchFamily="49" charset="-122"/>
              </a:rPr>
              <a:t>宣布有两座</a:t>
            </a:r>
            <a:r>
              <a:rPr lang="en-US" altLang="zh-CN" sz="2800">
                <a:solidFill>
                  <a:schemeClr val="tx1"/>
                </a:solidFill>
                <a:ea typeface="楷体_GB2312" pitchFamily="49" charset="-122"/>
              </a:rPr>
              <a:t>250 kW SOFC</a:t>
            </a:r>
            <a:r>
              <a:rPr lang="zh-CN" altLang="en-US" sz="2800">
                <a:solidFill>
                  <a:schemeClr val="tx1"/>
                </a:solidFill>
                <a:ea typeface="楷体_GB2312" pitchFamily="49" charset="-122"/>
              </a:rPr>
              <a:t>示范电厂很快将在挪威和加拿大的多伦多附近建成。</a:t>
            </a:r>
            <a:endParaRPr lang="zh-CN" altLang="en-US" sz="2800">
              <a:solidFill>
                <a:schemeClr val="tx1"/>
              </a:solidFill>
              <a:ea typeface="楷体_GB2312" pitchFamily="49" charset="-122"/>
            </a:endParaRPr>
          </a:p>
          <a:p>
            <a:pPr eaLnBrk="1" hangingPunct="1">
              <a:lnSpc>
                <a:spcPct val="150000"/>
              </a:lnSpc>
            </a:pPr>
            <a:r>
              <a:rPr lang="zh-CN" altLang="en-US" sz="2800">
                <a:solidFill>
                  <a:schemeClr val="tx1"/>
                </a:solidFill>
                <a:ea typeface="楷体_GB2312" pitchFamily="49" charset="-122"/>
              </a:rPr>
              <a:t>                                                         图为西屋公司在荷兰</a:t>
            </a:r>
            <a:endParaRPr lang="zh-CN" altLang="en-US" sz="2800">
              <a:solidFill>
                <a:schemeClr val="tx1"/>
              </a:solidFill>
              <a:ea typeface="楷体_GB2312" pitchFamily="49" charset="-122"/>
            </a:endParaRPr>
          </a:p>
          <a:p>
            <a:pPr eaLnBrk="1" hangingPunct="1">
              <a:lnSpc>
                <a:spcPct val="150000"/>
              </a:lnSpc>
            </a:pPr>
            <a:r>
              <a:rPr lang="zh-CN" altLang="en-US" sz="2800">
                <a:solidFill>
                  <a:schemeClr val="tx1"/>
                </a:solidFill>
                <a:ea typeface="楷体_GB2312" pitchFamily="49" charset="-122"/>
              </a:rPr>
              <a:t>                                                         安装的</a:t>
            </a:r>
            <a:r>
              <a:rPr lang="en-US" altLang="zh-CN" sz="2800">
                <a:solidFill>
                  <a:schemeClr val="tx1"/>
                </a:solidFill>
                <a:ea typeface="楷体_GB2312" pitchFamily="49" charset="-122"/>
              </a:rPr>
              <a:t>SOFC</a:t>
            </a:r>
            <a:r>
              <a:rPr lang="zh-CN" altLang="en-US" sz="2800">
                <a:solidFill>
                  <a:schemeClr val="tx1"/>
                </a:solidFill>
                <a:ea typeface="楷体_GB2312" pitchFamily="49" charset="-122"/>
              </a:rPr>
              <a:t>示范电    </a:t>
            </a:r>
            <a:endParaRPr lang="zh-CN" altLang="en-US" sz="2800">
              <a:solidFill>
                <a:schemeClr val="tx1"/>
              </a:solidFill>
              <a:ea typeface="楷体_GB2312" pitchFamily="49" charset="-122"/>
            </a:endParaRPr>
          </a:p>
          <a:p>
            <a:pPr eaLnBrk="1" hangingPunct="1">
              <a:lnSpc>
                <a:spcPct val="150000"/>
              </a:lnSpc>
            </a:pPr>
            <a:r>
              <a:rPr lang="zh-CN" altLang="en-US" sz="2800">
                <a:solidFill>
                  <a:schemeClr val="tx1"/>
                </a:solidFill>
                <a:ea typeface="楷体_GB2312" pitchFamily="49" charset="-122"/>
              </a:rPr>
              <a:t>                                                         厂，它可以提供</a:t>
            </a:r>
            <a:endParaRPr lang="zh-CN" altLang="en-US" sz="2800">
              <a:solidFill>
                <a:schemeClr val="tx1"/>
              </a:solidFill>
              <a:ea typeface="楷体_GB2312" pitchFamily="49" charset="-122"/>
            </a:endParaRPr>
          </a:p>
          <a:p>
            <a:pPr eaLnBrk="1" hangingPunct="1">
              <a:lnSpc>
                <a:spcPct val="150000"/>
              </a:lnSpc>
            </a:pPr>
            <a:r>
              <a:rPr lang="en-US" altLang="zh-CN" sz="2800">
                <a:solidFill>
                  <a:schemeClr val="tx1"/>
                </a:solidFill>
                <a:ea typeface="楷体_GB2312" pitchFamily="49" charset="-122"/>
              </a:rPr>
              <a:t>                                                         110 kW</a:t>
            </a:r>
            <a:r>
              <a:rPr lang="zh-CN" altLang="en-US" sz="2800">
                <a:solidFill>
                  <a:schemeClr val="tx1"/>
                </a:solidFill>
                <a:ea typeface="楷体_GB2312" pitchFamily="49" charset="-122"/>
              </a:rPr>
              <a:t>的电力和 </a:t>
            </a:r>
            <a:r>
              <a:rPr lang="en-US" altLang="zh-CN" sz="2800">
                <a:solidFill>
                  <a:schemeClr val="tx1"/>
                </a:solidFill>
                <a:ea typeface="楷体_GB2312" pitchFamily="49" charset="-122"/>
              </a:rPr>
              <a:t> </a:t>
            </a:r>
            <a:endParaRPr lang="en-US" altLang="zh-CN" sz="2800">
              <a:solidFill>
                <a:schemeClr val="tx1"/>
              </a:solidFill>
              <a:ea typeface="楷体_GB2312" pitchFamily="49" charset="-122"/>
            </a:endParaRPr>
          </a:p>
          <a:p>
            <a:pPr eaLnBrk="1" hangingPunct="1">
              <a:lnSpc>
                <a:spcPct val="150000"/>
              </a:lnSpc>
            </a:pPr>
            <a:r>
              <a:rPr lang="en-US" altLang="zh-CN" sz="2800">
                <a:solidFill>
                  <a:schemeClr val="tx1"/>
                </a:solidFill>
                <a:ea typeface="楷体_GB2312" pitchFamily="49" charset="-122"/>
              </a:rPr>
              <a:t>                                                          64 kW</a:t>
            </a:r>
            <a:r>
              <a:rPr lang="zh-CN" altLang="en-US" sz="2800">
                <a:solidFill>
                  <a:schemeClr val="tx1"/>
                </a:solidFill>
                <a:ea typeface="楷体_GB2312" pitchFamily="49" charset="-122"/>
              </a:rPr>
              <a:t>的热，发电效                             </a:t>
            </a:r>
            <a:endParaRPr lang="zh-CN" altLang="en-US" sz="2800">
              <a:solidFill>
                <a:schemeClr val="tx1"/>
              </a:solidFill>
              <a:ea typeface="楷体_GB2312" pitchFamily="49" charset="-122"/>
            </a:endParaRPr>
          </a:p>
          <a:p>
            <a:pPr eaLnBrk="1" hangingPunct="1">
              <a:lnSpc>
                <a:spcPct val="150000"/>
              </a:lnSpc>
            </a:pPr>
            <a:r>
              <a:rPr lang="zh-CN" altLang="en-US" sz="2800">
                <a:solidFill>
                  <a:schemeClr val="tx1"/>
                </a:solidFill>
                <a:ea typeface="楷体_GB2312" pitchFamily="49" charset="-122"/>
              </a:rPr>
              <a:t>                                                          率达到</a:t>
            </a:r>
            <a:r>
              <a:rPr lang="en-US" altLang="zh-CN" sz="2800">
                <a:solidFill>
                  <a:schemeClr val="tx1"/>
                </a:solidFill>
                <a:ea typeface="楷体_GB2312" pitchFamily="49" charset="-122"/>
              </a:rPr>
              <a:t>46%</a:t>
            </a:r>
            <a:r>
              <a:rPr lang="zh-CN" altLang="en-US" sz="2800">
                <a:solidFill>
                  <a:schemeClr val="tx1"/>
                </a:solidFill>
                <a:ea typeface="楷体_GB2312" pitchFamily="49" charset="-122"/>
              </a:rPr>
              <a:t>，运行</a:t>
            </a:r>
            <a:endParaRPr lang="zh-CN" altLang="en-US" sz="2800">
              <a:solidFill>
                <a:schemeClr val="tx1"/>
              </a:solidFill>
              <a:ea typeface="楷体_GB2312" pitchFamily="49" charset="-122"/>
            </a:endParaRPr>
          </a:p>
          <a:p>
            <a:pPr eaLnBrk="1" hangingPunct="1">
              <a:lnSpc>
                <a:spcPct val="150000"/>
              </a:lnSpc>
            </a:pPr>
            <a:r>
              <a:rPr lang="en-US" altLang="zh-CN" sz="2800">
                <a:solidFill>
                  <a:schemeClr val="tx1"/>
                </a:solidFill>
                <a:ea typeface="楷体_GB2312" pitchFamily="49" charset="-122"/>
              </a:rPr>
              <a:t>                                                           14000 h.</a:t>
            </a:r>
            <a:r>
              <a:rPr lang="en-US" altLang="zh-CN" sz="2800">
                <a:solidFill>
                  <a:schemeClr val="tx1"/>
                </a:solidFill>
                <a:latin typeface="Arial" panose="020B0604020202020204" pitchFamily="34" charset="0"/>
                <a:ea typeface="楷体_GB2312" pitchFamily="49" charset="-122"/>
              </a:rPr>
              <a:t>                                          </a:t>
            </a:r>
            <a:endParaRPr lang="en-US" altLang="zh-CN" sz="2800">
              <a:solidFill>
                <a:schemeClr val="tx1"/>
              </a:solidFill>
              <a:latin typeface="Arial" panose="020B0604020202020204" pitchFamily="34" charset="0"/>
              <a:ea typeface="楷体_GB2312" pitchFamily="49" charset="-122"/>
            </a:endParaRPr>
          </a:p>
        </p:txBody>
      </p:sp>
      <p:pic>
        <p:nvPicPr>
          <p:cNvPr id="9011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4300" y="2527300"/>
            <a:ext cx="5292725"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3"/>
          <p:cNvSpPr txBox="1">
            <a:spLocks noChangeArrowheads="1"/>
          </p:cNvSpPr>
          <p:nvPr/>
        </p:nvSpPr>
        <p:spPr bwMode="auto">
          <a:xfrm>
            <a:off x="76200" y="5486400"/>
            <a:ext cx="87487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tIns="0" bIns="0">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algn="ctr" eaLnBrk="1" hangingPunct="1">
              <a:lnSpc>
                <a:spcPct val="150000"/>
              </a:lnSpc>
            </a:pPr>
            <a:r>
              <a:rPr lang="zh-CN" altLang="en-US" sz="2800">
                <a:solidFill>
                  <a:schemeClr val="tx1"/>
                </a:solidFill>
              </a:rPr>
              <a:t>安装在柏林的</a:t>
            </a:r>
            <a:r>
              <a:rPr lang="en-US" altLang="zh-CN" sz="2800">
                <a:solidFill>
                  <a:schemeClr val="tx1"/>
                </a:solidFill>
              </a:rPr>
              <a:t>250 kW PEMFC</a:t>
            </a:r>
            <a:r>
              <a:rPr lang="zh-CN" altLang="en-US" sz="2800">
                <a:solidFill>
                  <a:schemeClr val="tx1"/>
                </a:solidFill>
              </a:rPr>
              <a:t>燃料电池电站</a:t>
            </a:r>
            <a:r>
              <a:rPr lang="zh-CN" altLang="en-US" sz="2800">
                <a:solidFill>
                  <a:schemeClr val="tx1"/>
                </a:solidFill>
                <a:latin typeface="Arial" panose="020B0604020202020204" pitchFamily="34" charset="0"/>
                <a:ea typeface="楷体_GB2312" pitchFamily="49" charset="-122"/>
              </a:rPr>
              <a:t>    </a:t>
            </a:r>
            <a:endParaRPr lang="zh-CN" altLang="en-US" sz="2800">
              <a:solidFill>
                <a:schemeClr val="tx1"/>
              </a:solidFill>
              <a:latin typeface="Arial" panose="020B0604020202020204" pitchFamily="34" charset="0"/>
              <a:ea typeface="楷体_GB2312" pitchFamily="49" charset="-122"/>
            </a:endParaRPr>
          </a:p>
        </p:txBody>
      </p:sp>
      <p:pic>
        <p:nvPicPr>
          <p:cNvPr id="9216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2988" y="836613"/>
            <a:ext cx="6913562" cy="458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 Box 3"/>
          <p:cNvSpPr txBox="1">
            <a:spLocks noChangeArrowheads="1"/>
          </p:cNvSpPr>
          <p:nvPr/>
        </p:nvSpPr>
        <p:spPr bwMode="auto">
          <a:xfrm>
            <a:off x="571500" y="1357313"/>
            <a:ext cx="8153400" cy="379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tIns="0" bIns="0">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lnSpc>
                <a:spcPct val="150000"/>
              </a:lnSpc>
            </a:pPr>
            <a:r>
              <a:rPr lang="zh-CN" altLang="en-US" sz="2800" dirty="0">
                <a:solidFill>
                  <a:schemeClr val="tx1"/>
                </a:solidFill>
                <a:latin typeface="Arial" panose="020B0604020202020204" pitchFamily="34" charset="0"/>
                <a:ea typeface="楷体_GB2312" pitchFamily="49" charset="-122"/>
              </a:rPr>
              <a:t>      </a:t>
            </a:r>
            <a:r>
              <a:rPr lang="zh-CN" altLang="en-US" sz="2800" dirty="0">
                <a:solidFill>
                  <a:schemeClr val="tx1"/>
                </a:solidFill>
                <a:ea typeface="楷体_GB2312" pitchFamily="49" charset="-122"/>
              </a:rPr>
              <a:t>在</a:t>
            </a:r>
            <a:r>
              <a:rPr lang="en-US" altLang="zh-CN" sz="2800" dirty="0">
                <a:solidFill>
                  <a:schemeClr val="tx1"/>
                </a:solidFill>
                <a:ea typeface="楷体_GB2312" pitchFamily="49" charset="-122"/>
              </a:rPr>
              <a:t>Ballard</a:t>
            </a:r>
            <a:r>
              <a:rPr lang="zh-CN" altLang="en-US" sz="2800" dirty="0">
                <a:solidFill>
                  <a:schemeClr val="tx1"/>
                </a:solidFill>
                <a:ea typeface="楷体_GB2312" pitchFamily="49" charset="-122"/>
              </a:rPr>
              <a:t>公司的带动下，许多汽车制造商参加了燃料电池车辆的研制。美国至今已开发的具有代表性的运输用的燃料电池公共客车、轿车已达</a:t>
            </a:r>
            <a:r>
              <a:rPr lang="en-US" altLang="zh-CN" sz="2800" dirty="0">
                <a:solidFill>
                  <a:schemeClr val="tx1"/>
                </a:solidFill>
                <a:ea typeface="楷体_GB2312" pitchFamily="49" charset="-122"/>
              </a:rPr>
              <a:t>30</a:t>
            </a:r>
            <a:r>
              <a:rPr lang="zh-CN" altLang="en-US" sz="2800" dirty="0">
                <a:solidFill>
                  <a:schemeClr val="tx1"/>
                </a:solidFill>
                <a:ea typeface="楷体_GB2312" pitchFamily="49" charset="-122"/>
              </a:rPr>
              <a:t>多种。</a:t>
            </a:r>
            <a:endParaRPr lang="zh-CN" altLang="en-US" sz="2800" dirty="0">
              <a:solidFill>
                <a:schemeClr val="tx1"/>
              </a:solidFill>
              <a:ea typeface="楷体_GB2312" pitchFamily="49" charset="-122"/>
            </a:endParaRPr>
          </a:p>
          <a:p>
            <a:pPr eaLnBrk="1" hangingPunct="1">
              <a:lnSpc>
                <a:spcPct val="150000"/>
              </a:lnSpc>
            </a:pPr>
            <a:r>
              <a:rPr lang="zh-CN" altLang="en-US" sz="2800" dirty="0">
                <a:solidFill>
                  <a:schemeClr val="tx1"/>
                </a:solidFill>
                <a:ea typeface="楷体_GB2312" pitchFamily="49" charset="-122"/>
              </a:rPr>
              <a:t>      虽然现在燃料电池汽车商业化的时机还未成熟，但几家公司已确定了开始批量生产的时间表。</a:t>
            </a:r>
            <a:endParaRPr lang="zh-CN" altLang="en-US" sz="2800" u="sng" dirty="0">
              <a:solidFill>
                <a:srgbClr val="FF00FF"/>
              </a:solidFill>
              <a:ea typeface="楷体_GB2312" pitchFamily="49" charset="-122"/>
            </a:endParaRPr>
          </a:p>
        </p:txBody>
      </p:sp>
    </p:spTree>
  </p:cSld>
  <p:clrMapOvr>
    <a:masterClrMapping/>
  </p:clrMapOvr>
  <p:transition>
    <p:randomBar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 Box 3"/>
          <p:cNvSpPr txBox="1">
            <a:spLocks noChangeArrowheads="1"/>
          </p:cNvSpPr>
          <p:nvPr/>
        </p:nvSpPr>
        <p:spPr bwMode="auto">
          <a:xfrm>
            <a:off x="539750" y="620713"/>
            <a:ext cx="8153400" cy="586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tIns="0" bIns="0">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lnSpc>
                <a:spcPct val="150000"/>
              </a:lnSpc>
            </a:pPr>
            <a:r>
              <a:rPr lang="zh-CN" altLang="en-US" sz="3200" dirty="0">
                <a:solidFill>
                  <a:srgbClr val="FF3300"/>
                </a:solidFill>
                <a:ea typeface="楷体_GB2312" pitchFamily="49" charset="-122"/>
              </a:rPr>
              <a:t>（</a:t>
            </a:r>
            <a:r>
              <a:rPr lang="en-US" altLang="zh-CN" sz="3200" dirty="0">
                <a:solidFill>
                  <a:srgbClr val="FF3300"/>
                </a:solidFill>
                <a:ea typeface="楷体_GB2312" pitchFamily="49" charset="-122"/>
              </a:rPr>
              <a:t>5</a:t>
            </a:r>
            <a:r>
              <a:rPr lang="zh-CN" altLang="en-US" sz="3200" dirty="0">
                <a:solidFill>
                  <a:srgbClr val="FF3300"/>
                </a:solidFill>
                <a:ea typeface="楷体_GB2312" pitchFamily="49" charset="-122"/>
              </a:rPr>
              <a:t>）燃料电池汽车</a:t>
            </a:r>
            <a:endParaRPr lang="zh-CN" altLang="en-US" sz="3200" dirty="0">
              <a:solidFill>
                <a:srgbClr val="FF3300"/>
              </a:solidFill>
              <a:ea typeface="楷体_GB2312" pitchFamily="49" charset="-122"/>
            </a:endParaRPr>
          </a:p>
          <a:p>
            <a:pPr eaLnBrk="1" hangingPunct="1">
              <a:lnSpc>
                <a:spcPct val="150000"/>
              </a:lnSpc>
            </a:pPr>
            <a:r>
              <a:rPr lang="zh-CN" altLang="en-US" sz="2800" dirty="0">
                <a:solidFill>
                  <a:schemeClr val="tx1"/>
                </a:solidFill>
                <a:latin typeface="楷体_GB2312" pitchFamily="49" charset="-122"/>
                <a:ea typeface="楷体_GB2312" pitchFamily="49" charset="-122"/>
              </a:rPr>
              <a:t>    </a:t>
            </a:r>
            <a:r>
              <a:rPr lang="zh-CN" altLang="en-US" sz="2800" dirty="0">
                <a:solidFill>
                  <a:schemeClr val="tx1"/>
                </a:solidFill>
                <a:ea typeface="楷体_GB2312" pitchFamily="49" charset="-122"/>
              </a:rPr>
              <a:t>近年来的燃料电池汽车开发则越来越多得融入企业行为，世界各主要汽车制造厂家及燃料电池公司几乎无不卷入这场竞争中。</a:t>
            </a:r>
            <a:endParaRPr lang="zh-CN" altLang="en-US" sz="2800" dirty="0">
              <a:solidFill>
                <a:schemeClr val="tx1"/>
              </a:solidFill>
              <a:ea typeface="楷体_GB2312" pitchFamily="49" charset="-122"/>
            </a:endParaRPr>
          </a:p>
          <a:p>
            <a:pPr eaLnBrk="1" hangingPunct="1">
              <a:lnSpc>
                <a:spcPct val="150000"/>
              </a:lnSpc>
            </a:pPr>
            <a:r>
              <a:rPr lang="zh-CN" altLang="en-US" sz="2800" dirty="0">
                <a:solidFill>
                  <a:schemeClr val="tx1"/>
                </a:solidFill>
                <a:ea typeface="楷体_GB2312" pitchFamily="49" charset="-122"/>
              </a:rPr>
              <a:t>       美国</a:t>
            </a:r>
            <a:r>
              <a:rPr lang="zh-CN" altLang="en-US" sz="2800" dirty="0">
                <a:solidFill>
                  <a:srgbClr val="0033CC"/>
                </a:solidFill>
                <a:ea typeface="楷体_GB2312" pitchFamily="49" charset="-122"/>
              </a:rPr>
              <a:t>巴拉德动力系统公司</a:t>
            </a:r>
            <a:r>
              <a:rPr lang="zh-CN" altLang="en-US" sz="2800" dirty="0">
                <a:solidFill>
                  <a:schemeClr val="tx1"/>
                </a:solidFill>
                <a:ea typeface="楷体_GB2312" pitchFamily="49" charset="-122"/>
              </a:rPr>
              <a:t>于</a:t>
            </a:r>
            <a:r>
              <a:rPr lang="en-US" altLang="zh-CN" sz="2800" dirty="0">
                <a:solidFill>
                  <a:schemeClr val="tx1"/>
                </a:solidFill>
                <a:ea typeface="楷体_GB2312" pitchFamily="49" charset="-122"/>
              </a:rPr>
              <a:t>1993</a:t>
            </a:r>
            <a:r>
              <a:rPr lang="zh-CN" altLang="en-US" sz="2800" dirty="0">
                <a:solidFill>
                  <a:schemeClr val="tx1"/>
                </a:solidFill>
                <a:ea typeface="楷体_GB2312" pitchFamily="49" charset="-122"/>
              </a:rPr>
              <a:t>年首次研制出概念车，</a:t>
            </a:r>
            <a:r>
              <a:rPr lang="en-US" altLang="zh-CN" sz="2800" dirty="0">
                <a:solidFill>
                  <a:schemeClr val="tx1"/>
                </a:solidFill>
                <a:ea typeface="楷体_GB2312" pitchFamily="49" charset="-122"/>
              </a:rPr>
              <a:t>1995</a:t>
            </a:r>
            <a:r>
              <a:rPr lang="zh-CN" altLang="en-US" sz="2800" dirty="0">
                <a:solidFill>
                  <a:schemeClr val="tx1"/>
                </a:solidFill>
                <a:ea typeface="楷体_GB2312" pitchFamily="49" charset="-122"/>
              </a:rPr>
              <a:t>年又推出新款，</a:t>
            </a:r>
            <a:r>
              <a:rPr lang="en-US" altLang="zh-CN" sz="2800" dirty="0">
                <a:solidFill>
                  <a:schemeClr val="tx1"/>
                </a:solidFill>
                <a:ea typeface="楷体_GB2312" pitchFamily="49" charset="-122"/>
              </a:rPr>
              <a:t>1997</a:t>
            </a:r>
            <a:r>
              <a:rPr lang="zh-CN" altLang="en-US" sz="2800" dirty="0">
                <a:solidFill>
                  <a:schemeClr val="tx1"/>
                </a:solidFill>
                <a:ea typeface="楷体_GB2312" pitchFamily="49" charset="-122"/>
              </a:rPr>
              <a:t>年该公司的</a:t>
            </a:r>
            <a:r>
              <a:rPr lang="en-US" altLang="zh-CN" sz="2800" dirty="0">
                <a:solidFill>
                  <a:schemeClr val="tx1"/>
                </a:solidFill>
                <a:ea typeface="楷体_GB2312" pitchFamily="49" charset="-122"/>
              </a:rPr>
              <a:t>16</a:t>
            </a:r>
            <a:r>
              <a:rPr lang="zh-CN" altLang="en-US" sz="2800" dirty="0">
                <a:solidFill>
                  <a:schemeClr val="tx1"/>
                </a:solidFill>
                <a:ea typeface="楷体_GB2312" pitchFamily="49" charset="-122"/>
              </a:rPr>
              <a:t>辆燃料电池公共汽车在美国的芝加哥和加拿大的温哥华试运行。先后与</a:t>
            </a:r>
            <a:r>
              <a:rPr lang="zh-CN" altLang="en-US" sz="2800" dirty="0">
                <a:solidFill>
                  <a:srgbClr val="0033CC"/>
                </a:solidFill>
                <a:ea typeface="楷体_GB2312" pitchFamily="49" charset="-122"/>
              </a:rPr>
              <a:t>戴姆勒</a:t>
            </a:r>
            <a:r>
              <a:rPr lang="en-US" altLang="zh-CN" sz="2800" dirty="0">
                <a:solidFill>
                  <a:srgbClr val="0033CC"/>
                </a:solidFill>
                <a:ea typeface="楷体_GB2312" pitchFamily="49" charset="-122"/>
              </a:rPr>
              <a:t>-</a:t>
            </a:r>
            <a:r>
              <a:rPr lang="zh-CN" altLang="en-US" sz="2800" dirty="0">
                <a:solidFill>
                  <a:srgbClr val="0033CC"/>
                </a:solidFill>
                <a:ea typeface="楷体_GB2312" pitchFamily="49" charset="-122"/>
              </a:rPr>
              <a:t>奔驰、福特</a:t>
            </a:r>
            <a:r>
              <a:rPr lang="zh-CN" altLang="en-US" sz="2800" dirty="0">
                <a:solidFill>
                  <a:schemeClr val="tx1"/>
                </a:solidFill>
                <a:ea typeface="楷体_GB2312" pitchFamily="49" charset="-122"/>
              </a:rPr>
              <a:t>组成合资公司。</a:t>
            </a:r>
            <a:endParaRPr lang="zh-CN" altLang="en-US" sz="2800" dirty="0">
              <a:solidFill>
                <a:schemeClr val="tx1"/>
              </a:solidFill>
              <a:ea typeface="楷体_GB2312" pitchFamily="49" charset="-122"/>
            </a:endParaRPr>
          </a:p>
        </p:txBody>
      </p:sp>
    </p:spTree>
  </p:cSld>
  <p:clrMapOvr>
    <a:masterClrMapping/>
  </p:clrMapOvr>
  <p:transition>
    <p:randomBar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 Box 3"/>
          <p:cNvSpPr txBox="1">
            <a:spLocks noChangeArrowheads="1"/>
          </p:cNvSpPr>
          <p:nvPr/>
        </p:nvSpPr>
        <p:spPr bwMode="auto">
          <a:xfrm>
            <a:off x="468313" y="184150"/>
            <a:ext cx="8153400" cy="5094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tIns="0" bIns="0">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lnSpc>
                <a:spcPct val="150000"/>
              </a:lnSpc>
            </a:pPr>
            <a:r>
              <a:rPr lang="zh-CN" altLang="en-US" sz="2800" dirty="0">
                <a:solidFill>
                  <a:srgbClr val="0033CC"/>
                </a:solidFill>
                <a:ea typeface="楷体_GB2312" pitchFamily="49" charset="-122"/>
              </a:rPr>
              <a:t>德国戴姆勒</a:t>
            </a:r>
            <a:r>
              <a:rPr lang="en-US" altLang="zh-CN" sz="2800" dirty="0">
                <a:solidFill>
                  <a:srgbClr val="0033CC"/>
                </a:solidFill>
                <a:ea typeface="楷体_GB2312" pitchFamily="49" charset="-122"/>
              </a:rPr>
              <a:t>-</a:t>
            </a:r>
            <a:r>
              <a:rPr lang="zh-CN" altLang="en-US" sz="2800" dirty="0">
                <a:solidFill>
                  <a:srgbClr val="0033CC"/>
                </a:solidFill>
                <a:ea typeface="楷体_GB2312" pitchFamily="49" charset="-122"/>
              </a:rPr>
              <a:t>奔驰公司：</a:t>
            </a:r>
            <a:endParaRPr lang="zh-CN" altLang="en-US" sz="2800" dirty="0">
              <a:solidFill>
                <a:srgbClr val="0033CC"/>
              </a:solidFill>
              <a:ea typeface="楷体_GB2312" pitchFamily="49" charset="-122"/>
            </a:endParaRPr>
          </a:p>
          <a:p>
            <a:pPr eaLnBrk="1" hangingPunct="1">
              <a:lnSpc>
                <a:spcPct val="150000"/>
              </a:lnSpc>
            </a:pPr>
            <a:r>
              <a:rPr lang="zh-CN" altLang="en-US" sz="2800" dirty="0">
                <a:solidFill>
                  <a:schemeClr val="tx1"/>
                </a:solidFill>
                <a:ea typeface="楷体_GB2312" pitchFamily="49" charset="-122"/>
              </a:rPr>
              <a:t>        </a:t>
            </a:r>
            <a:r>
              <a:rPr lang="en-US" altLang="zh-CN" sz="2800" dirty="0">
                <a:solidFill>
                  <a:schemeClr val="tx1"/>
                </a:solidFill>
                <a:ea typeface="楷体_GB2312" pitchFamily="49" charset="-122"/>
              </a:rPr>
              <a:t>1994</a:t>
            </a:r>
            <a:r>
              <a:rPr lang="zh-CN" altLang="en-US" sz="2800" dirty="0">
                <a:solidFill>
                  <a:schemeClr val="tx1"/>
                </a:solidFill>
                <a:ea typeface="楷体_GB2312" pitchFamily="49" charset="-122"/>
              </a:rPr>
              <a:t>年，</a:t>
            </a:r>
            <a:r>
              <a:rPr lang="en-US" altLang="zh-CN" sz="2800" dirty="0" err="1">
                <a:solidFill>
                  <a:schemeClr val="tx1"/>
                </a:solidFill>
                <a:ea typeface="楷体_GB2312" pitchFamily="49" charset="-122"/>
              </a:rPr>
              <a:t>NeCarⅠ,NeCarⅡ</a:t>
            </a:r>
            <a:r>
              <a:rPr lang="zh-CN" altLang="en-US" sz="2800" dirty="0">
                <a:solidFill>
                  <a:schemeClr val="tx1"/>
                </a:solidFill>
                <a:ea typeface="楷体_GB2312" pitchFamily="49" charset="-122"/>
              </a:rPr>
              <a:t>，多用途车，采用</a:t>
            </a:r>
            <a:r>
              <a:rPr lang="en-US" altLang="zh-CN" sz="2800" dirty="0">
                <a:solidFill>
                  <a:schemeClr val="tx1"/>
                </a:solidFill>
                <a:ea typeface="楷体_GB2312" pitchFamily="49" charset="-122"/>
              </a:rPr>
              <a:t>25</a:t>
            </a:r>
            <a:r>
              <a:rPr lang="zh-CN" altLang="en-US" sz="2800" dirty="0">
                <a:solidFill>
                  <a:schemeClr val="tx1"/>
                </a:solidFill>
                <a:ea typeface="楷体_GB2312" pitchFamily="49" charset="-122"/>
              </a:rPr>
              <a:t>千瓦的</a:t>
            </a:r>
            <a:r>
              <a:rPr lang="zh-CN" altLang="en-US" sz="2800" dirty="0">
                <a:solidFill>
                  <a:srgbClr val="0033CC"/>
                </a:solidFill>
                <a:ea typeface="楷体_GB2312" pitchFamily="49" charset="-122"/>
              </a:rPr>
              <a:t>质子交换膜燃料电池组</a:t>
            </a:r>
            <a:r>
              <a:rPr lang="zh-CN" altLang="en-US" sz="2800" dirty="0">
                <a:solidFill>
                  <a:schemeClr val="tx1"/>
                </a:solidFill>
                <a:ea typeface="楷体_GB2312" pitchFamily="49" charset="-122"/>
              </a:rPr>
              <a:t>，最高时速</a:t>
            </a:r>
            <a:r>
              <a:rPr lang="en-US" altLang="zh-CN" sz="2800" dirty="0">
                <a:solidFill>
                  <a:schemeClr val="tx1"/>
                </a:solidFill>
                <a:ea typeface="楷体_GB2312" pitchFamily="49" charset="-122"/>
              </a:rPr>
              <a:t>110</a:t>
            </a:r>
            <a:r>
              <a:rPr lang="zh-CN" altLang="en-US" sz="2800" dirty="0">
                <a:solidFill>
                  <a:schemeClr val="tx1"/>
                </a:solidFill>
                <a:ea typeface="楷体_GB2312" pitchFamily="49" charset="-122"/>
              </a:rPr>
              <a:t>英里。</a:t>
            </a:r>
            <a:endParaRPr lang="zh-CN" altLang="en-US" sz="2800" dirty="0">
              <a:solidFill>
                <a:schemeClr val="tx1"/>
              </a:solidFill>
              <a:ea typeface="楷体_GB2312" pitchFamily="49" charset="-122"/>
            </a:endParaRPr>
          </a:p>
          <a:p>
            <a:pPr eaLnBrk="1" hangingPunct="1">
              <a:lnSpc>
                <a:spcPct val="150000"/>
              </a:lnSpc>
            </a:pPr>
            <a:r>
              <a:rPr lang="zh-CN" altLang="en-US" sz="2800" dirty="0">
                <a:solidFill>
                  <a:schemeClr val="tx1"/>
                </a:solidFill>
                <a:ea typeface="楷体_GB2312" pitchFamily="49" charset="-122"/>
              </a:rPr>
              <a:t>        </a:t>
            </a:r>
            <a:r>
              <a:rPr lang="en-US" altLang="zh-CN" sz="2800" dirty="0">
                <a:solidFill>
                  <a:schemeClr val="tx1"/>
                </a:solidFill>
                <a:ea typeface="楷体_GB2312" pitchFamily="49" charset="-122"/>
              </a:rPr>
              <a:t>1997</a:t>
            </a:r>
            <a:r>
              <a:rPr lang="zh-CN" altLang="en-US" sz="2800" dirty="0">
                <a:solidFill>
                  <a:schemeClr val="tx1"/>
                </a:solidFill>
                <a:ea typeface="楷体_GB2312" pitchFamily="49" charset="-122"/>
              </a:rPr>
              <a:t>年</a:t>
            </a:r>
            <a:r>
              <a:rPr lang="en-US" altLang="zh-CN" sz="2800" dirty="0">
                <a:solidFill>
                  <a:schemeClr val="tx1"/>
                </a:solidFill>
                <a:ea typeface="楷体_GB2312" pitchFamily="49" charset="-122"/>
              </a:rPr>
              <a:t>5</a:t>
            </a:r>
            <a:r>
              <a:rPr lang="zh-CN" altLang="en-US" sz="2800" dirty="0">
                <a:solidFill>
                  <a:schemeClr val="tx1"/>
                </a:solidFill>
                <a:ea typeface="楷体_GB2312" pitchFamily="49" charset="-122"/>
              </a:rPr>
              <a:t>月，燃料电池公共汽车，</a:t>
            </a:r>
            <a:r>
              <a:rPr lang="en-US" altLang="zh-CN" sz="2800" dirty="0">
                <a:solidFill>
                  <a:schemeClr val="tx1"/>
                </a:solidFill>
                <a:ea typeface="楷体_GB2312" pitchFamily="49" charset="-122"/>
              </a:rPr>
              <a:t>34</a:t>
            </a:r>
            <a:r>
              <a:rPr lang="zh-CN" altLang="en-US" sz="2800" dirty="0">
                <a:solidFill>
                  <a:schemeClr val="tx1"/>
                </a:solidFill>
                <a:ea typeface="楷体_GB2312" pitchFamily="49" charset="-122"/>
              </a:rPr>
              <a:t>座位</a:t>
            </a:r>
            <a:r>
              <a:rPr lang="en-US" altLang="zh-CN" sz="2800" dirty="0">
                <a:solidFill>
                  <a:schemeClr val="tx1"/>
                </a:solidFill>
                <a:ea typeface="楷体_GB2312" pitchFamily="49" charset="-122"/>
              </a:rPr>
              <a:t>24</a:t>
            </a:r>
            <a:r>
              <a:rPr lang="zh-CN" altLang="en-US" sz="2800" dirty="0">
                <a:solidFill>
                  <a:schemeClr val="tx1"/>
                </a:solidFill>
                <a:ea typeface="楷体_GB2312" pitchFamily="49" charset="-122"/>
              </a:rPr>
              <a:t>站位，采用</a:t>
            </a:r>
            <a:r>
              <a:rPr lang="en-US" altLang="zh-CN" sz="2800" dirty="0">
                <a:solidFill>
                  <a:schemeClr val="tx1"/>
                </a:solidFill>
                <a:ea typeface="楷体_GB2312" pitchFamily="49" charset="-122"/>
              </a:rPr>
              <a:t>10×25</a:t>
            </a:r>
            <a:r>
              <a:rPr lang="zh-CN" altLang="en-US" sz="2800" dirty="0">
                <a:solidFill>
                  <a:schemeClr val="tx1"/>
                </a:solidFill>
                <a:ea typeface="楷体_GB2312" pitchFamily="49" charset="-122"/>
              </a:rPr>
              <a:t>千瓦</a:t>
            </a:r>
            <a:r>
              <a:rPr lang="zh-CN" altLang="en-US" sz="2800" dirty="0">
                <a:solidFill>
                  <a:srgbClr val="0033CC"/>
                </a:solidFill>
                <a:ea typeface="楷体_GB2312" pitchFamily="49" charset="-122"/>
              </a:rPr>
              <a:t>质子交换膜燃料电池</a:t>
            </a:r>
            <a:r>
              <a:rPr lang="zh-CN" altLang="en-US" sz="2800" dirty="0">
                <a:solidFill>
                  <a:schemeClr val="tx1"/>
                </a:solidFill>
                <a:ea typeface="楷体_GB2312" pitchFamily="49" charset="-122"/>
              </a:rPr>
              <a:t>，以氢为燃料，行程</a:t>
            </a:r>
            <a:r>
              <a:rPr lang="en-US" altLang="zh-CN" sz="2800" dirty="0">
                <a:solidFill>
                  <a:schemeClr val="tx1"/>
                </a:solidFill>
                <a:ea typeface="楷体_GB2312" pitchFamily="49" charset="-122"/>
              </a:rPr>
              <a:t>250</a:t>
            </a:r>
            <a:r>
              <a:rPr lang="zh-CN" altLang="en-US" sz="2800" dirty="0">
                <a:solidFill>
                  <a:schemeClr val="tx1"/>
                </a:solidFill>
                <a:ea typeface="楷体_GB2312" pitchFamily="49" charset="-122"/>
              </a:rPr>
              <a:t>公里。</a:t>
            </a:r>
            <a:endParaRPr lang="zh-CN" altLang="en-US" sz="2800" dirty="0">
              <a:solidFill>
                <a:schemeClr val="tx1"/>
              </a:solidFill>
              <a:ea typeface="楷体_GB2312" pitchFamily="49" charset="-122"/>
            </a:endParaRPr>
          </a:p>
          <a:p>
            <a:pPr eaLnBrk="1" hangingPunct="1">
              <a:lnSpc>
                <a:spcPct val="150000"/>
              </a:lnSpc>
            </a:pPr>
            <a:r>
              <a:rPr lang="zh-CN" altLang="en-US" sz="2800" dirty="0">
                <a:solidFill>
                  <a:schemeClr val="tx1"/>
                </a:solidFill>
                <a:ea typeface="楷体_GB2312" pitchFamily="49" charset="-122"/>
              </a:rPr>
              <a:t>         </a:t>
            </a:r>
            <a:r>
              <a:rPr lang="en-US" altLang="zh-CN" sz="2800" dirty="0">
                <a:solidFill>
                  <a:schemeClr val="tx1"/>
                </a:solidFill>
                <a:ea typeface="楷体_GB2312" pitchFamily="49" charset="-122"/>
              </a:rPr>
              <a:t>1997</a:t>
            </a:r>
            <a:r>
              <a:rPr lang="zh-CN" altLang="en-US" sz="2800" dirty="0">
                <a:solidFill>
                  <a:schemeClr val="tx1"/>
                </a:solidFill>
                <a:ea typeface="楷体_GB2312" pitchFamily="49" charset="-122"/>
              </a:rPr>
              <a:t>年</a:t>
            </a:r>
            <a:r>
              <a:rPr lang="en-US" altLang="zh-CN" sz="2800" dirty="0">
                <a:solidFill>
                  <a:schemeClr val="tx1"/>
                </a:solidFill>
                <a:ea typeface="楷体_GB2312" pitchFamily="49" charset="-122"/>
              </a:rPr>
              <a:t>9</a:t>
            </a:r>
            <a:r>
              <a:rPr lang="zh-CN" altLang="en-US" sz="2800" dirty="0">
                <a:solidFill>
                  <a:schemeClr val="tx1"/>
                </a:solidFill>
                <a:ea typeface="楷体_GB2312" pitchFamily="49" charset="-122"/>
              </a:rPr>
              <a:t>月，推出</a:t>
            </a:r>
            <a:r>
              <a:rPr lang="en-US" altLang="zh-CN" sz="2800" dirty="0" err="1">
                <a:solidFill>
                  <a:schemeClr val="tx1"/>
                </a:solidFill>
                <a:ea typeface="宋体" panose="02010600030101010101" pitchFamily="2" charset="-122"/>
              </a:rPr>
              <a:t>NeCarⅢ</a:t>
            </a:r>
            <a:r>
              <a:rPr lang="zh-CN" altLang="en-US" sz="2800" dirty="0">
                <a:solidFill>
                  <a:schemeClr val="tx1"/>
                </a:solidFill>
                <a:ea typeface="宋体" panose="02010600030101010101" pitchFamily="2" charset="-122"/>
              </a:rPr>
              <a:t>，</a:t>
            </a:r>
            <a:r>
              <a:rPr lang="en-US" altLang="zh-CN" sz="2800" dirty="0">
                <a:solidFill>
                  <a:schemeClr val="tx1"/>
                </a:solidFill>
                <a:ea typeface="宋体" panose="02010600030101010101" pitchFamily="2" charset="-122"/>
              </a:rPr>
              <a:t>A</a:t>
            </a:r>
            <a:r>
              <a:rPr lang="zh-CN" altLang="en-US" sz="2800" dirty="0">
                <a:solidFill>
                  <a:schemeClr val="tx1"/>
                </a:solidFill>
                <a:ea typeface="楷体_GB2312" pitchFamily="49" charset="-122"/>
              </a:rPr>
              <a:t>级轿车，装有燃料转化装置，可以使用</a:t>
            </a:r>
            <a:r>
              <a:rPr lang="zh-CN" altLang="en-US" sz="2800" dirty="0">
                <a:solidFill>
                  <a:srgbClr val="0033CC"/>
                </a:solidFill>
                <a:ea typeface="楷体_GB2312" pitchFamily="49" charset="-122"/>
              </a:rPr>
              <a:t>甲醇为燃料</a:t>
            </a:r>
            <a:r>
              <a:rPr lang="zh-CN" altLang="en-US" sz="2800" dirty="0">
                <a:solidFill>
                  <a:schemeClr val="tx1"/>
                </a:solidFill>
                <a:ea typeface="楷体_GB2312" pitchFamily="49" charset="-122"/>
              </a:rPr>
              <a:t>。</a:t>
            </a:r>
            <a:endParaRPr lang="zh-CN" altLang="en-US" sz="2800" dirty="0">
              <a:solidFill>
                <a:schemeClr val="tx1"/>
              </a:solidFill>
              <a:ea typeface="楷体_GB2312" pitchFamily="49" charset="-122"/>
            </a:endParaRPr>
          </a:p>
        </p:txBody>
      </p:sp>
    </p:spTree>
  </p:cSld>
  <p:clrMapOvr>
    <a:masterClrMapping/>
  </p:clrMapOvr>
  <p:transition>
    <p:randomBar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 Box 3"/>
          <p:cNvSpPr txBox="1">
            <a:spLocks noChangeArrowheads="1"/>
          </p:cNvSpPr>
          <p:nvPr/>
        </p:nvSpPr>
        <p:spPr bwMode="auto">
          <a:xfrm>
            <a:off x="468313" y="184150"/>
            <a:ext cx="8447087" cy="256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tIns="0" bIns="0">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lnSpc>
                <a:spcPct val="150000"/>
              </a:lnSpc>
            </a:pPr>
            <a:r>
              <a:rPr lang="zh-CN" altLang="en-US" sz="2800">
                <a:solidFill>
                  <a:srgbClr val="0033CC"/>
                </a:solidFill>
                <a:ea typeface="楷体_GB2312" pitchFamily="49" charset="-122"/>
              </a:rPr>
              <a:t>戴姆勒</a:t>
            </a:r>
            <a:r>
              <a:rPr lang="en-US" altLang="zh-CN" sz="2800">
                <a:solidFill>
                  <a:srgbClr val="0033CC"/>
                </a:solidFill>
                <a:ea typeface="楷体_GB2312" pitchFamily="49" charset="-122"/>
              </a:rPr>
              <a:t>-</a:t>
            </a:r>
            <a:r>
              <a:rPr lang="zh-CN" altLang="en-US" sz="2800">
                <a:solidFill>
                  <a:srgbClr val="0033CC"/>
                </a:solidFill>
                <a:ea typeface="楷体_GB2312" pitchFamily="49" charset="-122"/>
              </a:rPr>
              <a:t>克莱斯勒</a:t>
            </a:r>
            <a:r>
              <a:rPr lang="zh-CN" altLang="en-US" sz="2800">
                <a:solidFill>
                  <a:schemeClr val="tx1"/>
                </a:solidFill>
                <a:ea typeface="楷体_GB2312" pitchFamily="49" charset="-122"/>
              </a:rPr>
              <a:t>公司</a:t>
            </a:r>
            <a:r>
              <a:rPr lang="en-US" altLang="zh-CN" sz="2800">
                <a:solidFill>
                  <a:schemeClr val="tx1"/>
                </a:solidFill>
                <a:ea typeface="楷体_GB2312" pitchFamily="49" charset="-122"/>
              </a:rPr>
              <a:t>2000</a:t>
            </a:r>
            <a:r>
              <a:rPr lang="zh-CN" altLang="en-US" sz="2800">
                <a:solidFill>
                  <a:schemeClr val="tx1"/>
                </a:solidFill>
                <a:ea typeface="楷体_GB2312" pitchFamily="49" charset="-122"/>
              </a:rPr>
              <a:t>年，已经开发出以甲醇为燃料的燃料电池汽车“</a:t>
            </a:r>
            <a:r>
              <a:rPr lang="en-US" altLang="zh-CN" sz="2800">
                <a:solidFill>
                  <a:schemeClr val="tx1"/>
                </a:solidFill>
                <a:ea typeface="楷体_GB2312" pitchFamily="49" charset="-122"/>
              </a:rPr>
              <a:t>NECAR5”</a:t>
            </a:r>
            <a:r>
              <a:rPr lang="zh-CN" altLang="en-US" sz="2800">
                <a:solidFill>
                  <a:schemeClr val="tx1"/>
                </a:solidFill>
                <a:ea typeface="楷体_GB2312" pitchFamily="49" charset="-122"/>
              </a:rPr>
              <a:t>和“</a:t>
            </a:r>
            <a:r>
              <a:rPr lang="en-US" altLang="zh-CN" sz="2800">
                <a:solidFill>
                  <a:schemeClr val="tx1"/>
                </a:solidFill>
                <a:ea typeface="楷体_GB2312" pitchFamily="49" charset="-122"/>
              </a:rPr>
              <a:t>Jeep Commander 2”</a:t>
            </a:r>
            <a:r>
              <a:rPr lang="zh-CN" altLang="en-US" sz="2800">
                <a:solidFill>
                  <a:schemeClr val="tx1"/>
                </a:solidFill>
                <a:ea typeface="楷体_GB2312" pitchFamily="49" charset="-122"/>
              </a:rPr>
              <a:t>。</a:t>
            </a:r>
            <a:r>
              <a:rPr lang="en-US" altLang="zh-CN" sz="2800">
                <a:solidFill>
                  <a:schemeClr val="tx1"/>
                </a:solidFill>
                <a:ea typeface="楷体_GB2312" pitchFamily="49" charset="-122"/>
              </a:rPr>
              <a:t>NECAR5</a:t>
            </a:r>
            <a:r>
              <a:rPr lang="zh-CN" altLang="en-US" sz="2800">
                <a:solidFill>
                  <a:schemeClr val="tx1"/>
                </a:solidFill>
                <a:ea typeface="楷体_GB2312" pitchFamily="49" charset="-122"/>
              </a:rPr>
              <a:t>是</a:t>
            </a:r>
            <a:r>
              <a:rPr lang="en-US" altLang="zh-CN" sz="2800">
                <a:solidFill>
                  <a:schemeClr val="tx1"/>
                </a:solidFill>
                <a:ea typeface="楷体_GB2312" pitchFamily="49" charset="-122"/>
              </a:rPr>
              <a:t>1997</a:t>
            </a:r>
            <a:r>
              <a:rPr lang="zh-CN" altLang="en-US" sz="2800">
                <a:solidFill>
                  <a:schemeClr val="tx1"/>
                </a:solidFill>
                <a:ea typeface="楷体_GB2312" pitchFamily="49" charset="-122"/>
              </a:rPr>
              <a:t>年开发</a:t>
            </a:r>
            <a:r>
              <a:rPr lang="en-US" altLang="zh-CN" sz="2800">
                <a:solidFill>
                  <a:schemeClr val="tx1"/>
                </a:solidFill>
                <a:ea typeface="楷体_GB2312" pitchFamily="49" charset="-122"/>
              </a:rPr>
              <a:t>NECAR3</a:t>
            </a:r>
            <a:r>
              <a:rPr lang="zh-CN" altLang="en-US" sz="2800">
                <a:solidFill>
                  <a:schemeClr val="tx1"/>
                </a:solidFill>
                <a:ea typeface="楷体_GB2312" pitchFamily="49" charset="-122"/>
              </a:rPr>
              <a:t>的后续产品。</a:t>
            </a:r>
            <a:endParaRPr lang="zh-CN" altLang="en-US" sz="2800">
              <a:solidFill>
                <a:schemeClr val="tx1"/>
              </a:solidFill>
              <a:ea typeface="楷体_GB2312" pitchFamily="49" charset="-122"/>
            </a:endParaRPr>
          </a:p>
          <a:p>
            <a:pPr eaLnBrk="1" hangingPunct="1">
              <a:lnSpc>
                <a:spcPct val="150000"/>
              </a:lnSpc>
            </a:pPr>
            <a:endParaRPr lang="zh-CN" altLang="en-US" sz="2800">
              <a:solidFill>
                <a:schemeClr val="tx1"/>
              </a:solidFill>
              <a:ea typeface="楷体_GB2312" pitchFamily="49" charset="-122"/>
            </a:endParaRPr>
          </a:p>
        </p:txBody>
      </p:sp>
      <p:pic>
        <p:nvPicPr>
          <p:cNvPr id="9933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92275" y="3213100"/>
            <a:ext cx="5761038"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3"/>
          <p:cNvSpPr txBox="1">
            <a:spLocks noChangeArrowheads="1"/>
          </p:cNvSpPr>
          <p:nvPr/>
        </p:nvSpPr>
        <p:spPr bwMode="auto">
          <a:xfrm>
            <a:off x="179388" y="-1827847"/>
            <a:ext cx="8153400" cy="3877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tIns="0" bIns="0">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lnSpc>
                <a:spcPct val="150000"/>
              </a:lnSpc>
            </a:pPr>
            <a:r>
              <a:rPr lang="zh-CN" altLang="en-US" sz="2800" dirty="0">
                <a:solidFill>
                  <a:srgbClr val="0033CC"/>
                </a:solidFill>
                <a:ea typeface="楷体_GB2312" pitchFamily="49" charset="-122"/>
              </a:rPr>
              <a:t> </a:t>
            </a:r>
            <a:endParaRPr lang="zh-CN" altLang="en-US" sz="2800" dirty="0">
              <a:solidFill>
                <a:schemeClr val="tx1"/>
              </a:solidFill>
              <a:ea typeface="楷体_GB2312" pitchFamily="49" charset="-122"/>
            </a:endParaRPr>
          </a:p>
          <a:p>
            <a:pPr eaLnBrk="1" hangingPunct="1">
              <a:lnSpc>
                <a:spcPct val="150000"/>
              </a:lnSpc>
            </a:pPr>
            <a:endParaRPr lang="zh-CN" altLang="en-US" sz="2800" dirty="0">
              <a:solidFill>
                <a:schemeClr val="tx1"/>
              </a:solidFill>
              <a:ea typeface="楷体_GB2312" pitchFamily="49" charset="-122"/>
            </a:endParaRPr>
          </a:p>
          <a:p>
            <a:pPr eaLnBrk="1" hangingPunct="1">
              <a:lnSpc>
                <a:spcPct val="150000"/>
              </a:lnSpc>
            </a:pPr>
            <a:endParaRPr lang="zh-CN" altLang="en-US" sz="2800" dirty="0">
              <a:solidFill>
                <a:schemeClr val="tx1"/>
              </a:solidFill>
              <a:ea typeface="楷体_GB2312" pitchFamily="49" charset="-122"/>
            </a:endParaRPr>
          </a:p>
          <a:p>
            <a:pPr eaLnBrk="1" hangingPunct="1">
              <a:lnSpc>
                <a:spcPct val="150000"/>
              </a:lnSpc>
            </a:pPr>
            <a:endParaRPr lang="zh-CN" altLang="en-US" sz="2800" dirty="0">
              <a:solidFill>
                <a:schemeClr val="tx1"/>
              </a:solidFill>
              <a:ea typeface="楷体_GB2312" pitchFamily="49" charset="-122"/>
            </a:endParaRPr>
          </a:p>
          <a:p>
            <a:pPr eaLnBrk="1" hangingPunct="1">
              <a:lnSpc>
                <a:spcPct val="150000"/>
              </a:lnSpc>
            </a:pPr>
            <a:r>
              <a:rPr lang="zh-CN" altLang="en-US" sz="2800" dirty="0">
                <a:solidFill>
                  <a:schemeClr val="tx1"/>
                </a:solidFill>
                <a:ea typeface="楷体_GB2312" pitchFamily="49" charset="-122"/>
              </a:rPr>
              <a:t>                                                        </a:t>
            </a:r>
            <a:r>
              <a:rPr lang="zh-CN" altLang="en-US" sz="2800" dirty="0">
                <a:solidFill>
                  <a:schemeClr val="tx1"/>
                </a:solidFill>
              </a:rPr>
              <a:t>通用氢燃料电池车</a:t>
            </a:r>
            <a:endParaRPr lang="zh-CN" altLang="en-US" sz="2800" dirty="0">
              <a:solidFill>
                <a:schemeClr val="tx1"/>
              </a:solidFill>
            </a:endParaRPr>
          </a:p>
          <a:p>
            <a:pPr eaLnBrk="1" hangingPunct="1">
              <a:lnSpc>
                <a:spcPct val="150000"/>
              </a:lnSpc>
            </a:pPr>
            <a:r>
              <a:rPr lang="zh-CN" altLang="en-US" sz="2800" dirty="0">
                <a:solidFill>
                  <a:schemeClr val="tx1"/>
                </a:solidFill>
              </a:rPr>
              <a:t>                                                            </a:t>
            </a:r>
            <a:r>
              <a:rPr lang="en-US" altLang="zh-CN" sz="2800" dirty="0">
                <a:solidFill>
                  <a:schemeClr val="tx1"/>
                </a:solidFill>
              </a:rPr>
              <a:t>Sequel(2005)</a:t>
            </a:r>
            <a:endParaRPr lang="en-US" altLang="zh-CN" sz="2800" dirty="0">
              <a:solidFill>
                <a:schemeClr val="tx1"/>
              </a:solidFill>
            </a:endParaRPr>
          </a:p>
        </p:txBody>
      </p:sp>
      <p:pic>
        <p:nvPicPr>
          <p:cNvPr id="10035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1460" y="116840"/>
            <a:ext cx="4168775" cy="3094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p:cNvPicPr>
            <a:picLocks noChangeAspect="1"/>
          </p:cNvPicPr>
          <p:nvPr/>
        </p:nvPicPr>
        <p:blipFill>
          <a:blip r:embed="rId2"/>
          <a:stretch>
            <a:fillRect/>
          </a:stretch>
        </p:blipFill>
        <p:spPr>
          <a:xfrm>
            <a:off x="4572000" y="3933190"/>
            <a:ext cx="4313555" cy="2164715"/>
          </a:xfrm>
          <a:prstGeom prst="rect">
            <a:avLst/>
          </a:prstGeom>
        </p:spPr>
      </p:pic>
      <p:sp>
        <p:nvSpPr>
          <p:cNvPr id="5" name="文本框 4"/>
          <p:cNvSpPr txBox="1"/>
          <p:nvPr/>
        </p:nvSpPr>
        <p:spPr bwMode="auto">
          <a:xfrm>
            <a:off x="693420" y="4509135"/>
            <a:ext cx="3723640" cy="1292225"/>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tIns="0" bIns="0" rtlCol="0" anchor="t">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lvl="0" algn="l" eaLnBrk="1" hangingPunct="1">
              <a:lnSpc>
                <a:spcPct val="150000"/>
              </a:lnSpc>
              <a:buClrTx/>
              <a:buSzTx/>
              <a:buFontTx/>
            </a:pPr>
            <a:r>
              <a:rPr lang="zh-CN" altLang="en-US" sz="2800" dirty="0">
                <a:solidFill>
                  <a:srgbClr val="0033CC"/>
                </a:solidFill>
                <a:ea typeface="楷体_GB2312" pitchFamily="49" charset="-122"/>
                <a:sym typeface="+mn-ea"/>
              </a:rPr>
              <a:t>长安深蓝SL03的氢燃料电池版续航730公里</a:t>
            </a:r>
            <a:endParaRPr lang="zh-CN" altLang="en-US" sz="2800" dirty="0">
              <a:solidFill>
                <a:srgbClr val="0033CC"/>
              </a:solidFill>
              <a:ea typeface="楷体_GB2312" pitchFamily="49" charset="-122"/>
              <a:sym typeface="+mn-ea"/>
            </a:endParaRPr>
          </a:p>
        </p:txBody>
      </p:sp>
    </p:spTree>
  </p:cSld>
  <p:clrMapOvr>
    <a:masterClrMapping/>
  </p:clrMapOvr>
  <p:transition>
    <p:randomBar dir="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ext Box 3"/>
          <p:cNvSpPr txBox="1">
            <a:spLocks noChangeArrowheads="1"/>
          </p:cNvSpPr>
          <p:nvPr/>
        </p:nvSpPr>
        <p:spPr bwMode="auto">
          <a:xfrm>
            <a:off x="468313" y="765175"/>
            <a:ext cx="8294687" cy="513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tIns="0" bIns="0">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lnSpc>
                <a:spcPct val="150000"/>
              </a:lnSpc>
            </a:pPr>
            <a:r>
              <a:rPr lang="zh-CN" altLang="en-US" sz="2800" dirty="0">
                <a:solidFill>
                  <a:schemeClr val="tx1"/>
                </a:solidFill>
                <a:ea typeface="楷体_GB2312" pitchFamily="49" charset="-122"/>
              </a:rPr>
              <a:t>        目前大多数燃料电池汽车开发商的注意力比较集中在甲醇上。使用甲醇需安装转化装置，会增加成本，但好处不少。</a:t>
            </a:r>
            <a:endParaRPr lang="zh-CN" altLang="en-US" sz="2800" dirty="0">
              <a:solidFill>
                <a:schemeClr val="tx1"/>
              </a:solidFill>
              <a:ea typeface="楷体_GB2312" pitchFamily="49" charset="-122"/>
            </a:endParaRPr>
          </a:p>
          <a:p>
            <a:pPr eaLnBrk="1" hangingPunct="1">
              <a:lnSpc>
                <a:spcPct val="150000"/>
              </a:lnSpc>
            </a:pPr>
            <a:r>
              <a:rPr lang="en-US" altLang="zh-CN" sz="2800" dirty="0">
                <a:solidFill>
                  <a:schemeClr val="tx1"/>
                </a:solidFill>
                <a:ea typeface="楷体_GB2312" pitchFamily="49" charset="-122"/>
              </a:rPr>
              <a:t>        </a:t>
            </a:r>
            <a:r>
              <a:rPr lang="zh-CN" altLang="en-US" sz="2800" dirty="0">
                <a:solidFill>
                  <a:schemeClr val="tx1"/>
                </a:solidFill>
                <a:ea typeface="楷体_GB2312" pitchFamily="49" charset="-122"/>
              </a:rPr>
              <a:t>首先，甲醇液体燃料使用方便，能利用现有的基础设施，如现在美国加州已经有用于内燃机的</a:t>
            </a:r>
            <a:r>
              <a:rPr lang="en-US" altLang="zh-CN" sz="2800" dirty="0">
                <a:solidFill>
                  <a:schemeClr val="tx1"/>
                </a:solidFill>
                <a:ea typeface="楷体_GB2312" pitchFamily="49" charset="-122"/>
              </a:rPr>
              <a:t>M100</a:t>
            </a:r>
            <a:r>
              <a:rPr lang="zh-CN" altLang="en-US" sz="2800" dirty="0">
                <a:solidFill>
                  <a:schemeClr val="tx1"/>
                </a:solidFill>
                <a:ea typeface="楷体_GB2312" pitchFamily="49" charset="-122"/>
              </a:rPr>
              <a:t>（</a:t>
            </a:r>
            <a:r>
              <a:rPr lang="en-US" altLang="zh-CN" sz="2800" dirty="0">
                <a:solidFill>
                  <a:schemeClr val="tx1"/>
                </a:solidFill>
                <a:ea typeface="楷体_GB2312" pitchFamily="49" charset="-122"/>
              </a:rPr>
              <a:t>100%</a:t>
            </a:r>
            <a:r>
              <a:rPr lang="zh-CN" altLang="en-US" sz="2800" dirty="0">
                <a:solidFill>
                  <a:schemeClr val="tx1"/>
                </a:solidFill>
                <a:ea typeface="楷体_GB2312" pitchFamily="49" charset="-122"/>
              </a:rPr>
              <a:t>甲醇），</a:t>
            </a:r>
            <a:r>
              <a:rPr lang="en-US" altLang="zh-CN" sz="2800" dirty="0">
                <a:solidFill>
                  <a:schemeClr val="tx1"/>
                </a:solidFill>
                <a:ea typeface="楷体_GB2312" pitchFamily="49" charset="-122"/>
              </a:rPr>
              <a:t>M85</a:t>
            </a:r>
            <a:r>
              <a:rPr lang="zh-CN" altLang="en-US" sz="2800" dirty="0">
                <a:solidFill>
                  <a:schemeClr val="tx1"/>
                </a:solidFill>
                <a:ea typeface="楷体_GB2312" pitchFamily="49" charset="-122"/>
              </a:rPr>
              <a:t>和</a:t>
            </a:r>
            <a:r>
              <a:rPr lang="en-US" altLang="zh-CN" sz="2800" dirty="0">
                <a:solidFill>
                  <a:schemeClr val="tx1"/>
                </a:solidFill>
                <a:ea typeface="楷体_GB2312" pitchFamily="49" charset="-122"/>
              </a:rPr>
              <a:t>M75</a:t>
            </a:r>
            <a:r>
              <a:rPr lang="zh-CN" altLang="en-US" sz="2800" dirty="0">
                <a:solidFill>
                  <a:schemeClr val="tx1"/>
                </a:solidFill>
                <a:ea typeface="楷体_GB2312" pitchFamily="49" charset="-122"/>
              </a:rPr>
              <a:t>甲醇燃料供应；</a:t>
            </a:r>
            <a:endParaRPr lang="zh-CN" altLang="en-US" sz="2800" dirty="0">
              <a:solidFill>
                <a:schemeClr val="tx1"/>
              </a:solidFill>
              <a:ea typeface="楷体_GB2312" pitchFamily="49" charset="-122"/>
            </a:endParaRPr>
          </a:p>
          <a:p>
            <a:pPr eaLnBrk="1" hangingPunct="1">
              <a:lnSpc>
                <a:spcPct val="150000"/>
              </a:lnSpc>
            </a:pPr>
            <a:r>
              <a:rPr lang="zh-CN" altLang="en-US" sz="2800" dirty="0">
                <a:solidFill>
                  <a:schemeClr val="tx1"/>
                </a:solidFill>
                <a:ea typeface="楷体_GB2312" pitchFamily="49" charset="-122"/>
              </a:rPr>
              <a:t>         其次，甲醇含碳比汽油和柴油少，更易于转化，效率更高，约为</a:t>
            </a:r>
            <a:r>
              <a:rPr lang="en-US" altLang="zh-CN" sz="2800" dirty="0">
                <a:solidFill>
                  <a:schemeClr val="tx1"/>
                </a:solidFill>
                <a:ea typeface="楷体_GB2312" pitchFamily="49" charset="-122"/>
              </a:rPr>
              <a:t>80%</a:t>
            </a:r>
            <a:r>
              <a:rPr lang="zh-CN" altLang="en-US" sz="2800" dirty="0">
                <a:solidFill>
                  <a:schemeClr val="tx1"/>
                </a:solidFill>
                <a:ea typeface="楷体_GB2312" pitchFamily="49" charset="-122"/>
              </a:rPr>
              <a:t>。</a:t>
            </a:r>
            <a:endParaRPr lang="zh-CN" altLang="en-US" sz="2800" dirty="0">
              <a:solidFill>
                <a:schemeClr val="tx1"/>
              </a:solidFill>
              <a:ea typeface="楷体_GB2312" pitchFamily="49" charset="-122"/>
            </a:endParaRPr>
          </a:p>
        </p:txBody>
      </p:sp>
    </p:spTree>
  </p:cSld>
  <p:clrMapOvr>
    <a:masterClrMapping/>
  </p:clrMapOvr>
  <p:transition>
    <p:randomBar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ext Box 3"/>
          <p:cNvSpPr txBox="1">
            <a:spLocks noChangeArrowheads="1"/>
          </p:cNvSpPr>
          <p:nvPr/>
        </p:nvSpPr>
        <p:spPr bwMode="auto">
          <a:xfrm>
            <a:off x="468313" y="765175"/>
            <a:ext cx="8153400" cy="448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tIns="0" bIns="0">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lnSpc>
                <a:spcPct val="150000"/>
              </a:lnSpc>
            </a:pPr>
            <a:r>
              <a:rPr lang="zh-CN" altLang="en-US" sz="2800" dirty="0">
                <a:solidFill>
                  <a:schemeClr val="tx1"/>
                </a:solidFill>
                <a:ea typeface="楷体_GB2312" pitchFamily="49" charset="-122"/>
              </a:rPr>
              <a:t>        第三，使用甲醇二氧化碳排放较少，甲醇的生产可来自再生能源（如生物质能），这更有利于环保。</a:t>
            </a:r>
            <a:endParaRPr lang="zh-CN" altLang="en-US" sz="2800" dirty="0">
              <a:solidFill>
                <a:schemeClr val="tx1"/>
              </a:solidFill>
              <a:ea typeface="楷体_GB2312" pitchFamily="49" charset="-122"/>
            </a:endParaRPr>
          </a:p>
          <a:p>
            <a:pPr eaLnBrk="1" hangingPunct="1">
              <a:lnSpc>
                <a:spcPct val="150000"/>
              </a:lnSpc>
            </a:pPr>
            <a:r>
              <a:rPr lang="zh-CN" altLang="en-US" sz="2800" dirty="0">
                <a:solidFill>
                  <a:schemeClr val="tx1"/>
                </a:solidFill>
                <a:ea typeface="楷体_GB2312" pitchFamily="49" charset="-122"/>
              </a:rPr>
              <a:t>        与甲醇相比，汽油的转化工艺比较复杂，且效率较低，但它在现有基础设施利用和生产上具有一定优势，因此仍有公司在研究，如美国的</a:t>
            </a:r>
            <a:r>
              <a:rPr lang="en-US" altLang="zh-CN" sz="2800" dirty="0">
                <a:solidFill>
                  <a:schemeClr val="tx1"/>
                </a:solidFill>
                <a:ea typeface="楷体_GB2312" pitchFamily="49" charset="-122"/>
              </a:rPr>
              <a:t>Arthur D. Little</a:t>
            </a:r>
            <a:r>
              <a:rPr lang="zh-CN" altLang="en-US" sz="2800" dirty="0">
                <a:solidFill>
                  <a:schemeClr val="tx1"/>
                </a:solidFill>
                <a:ea typeface="楷体_GB2312" pitchFamily="49" charset="-122"/>
              </a:rPr>
              <a:t>就在</a:t>
            </a:r>
            <a:r>
              <a:rPr lang="en-US" altLang="zh-CN" sz="2800" dirty="0">
                <a:solidFill>
                  <a:schemeClr val="tx1"/>
                </a:solidFill>
                <a:ea typeface="楷体_GB2312" pitchFamily="49" charset="-122"/>
              </a:rPr>
              <a:t>1997</a:t>
            </a:r>
            <a:r>
              <a:rPr lang="zh-CN" altLang="en-US" sz="2800" dirty="0">
                <a:solidFill>
                  <a:schemeClr val="tx1"/>
                </a:solidFill>
                <a:ea typeface="楷体_GB2312" pitchFamily="49" charset="-122"/>
              </a:rPr>
              <a:t>年开发出使用汽油的燃料电池。</a:t>
            </a:r>
            <a:endParaRPr lang="zh-CN" altLang="en-US" sz="2800" dirty="0">
              <a:solidFill>
                <a:schemeClr val="tx1"/>
              </a:solidFill>
              <a:ea typeface="楷体_GB2312" pitchFamily="49" charset="-122"/>
            </a:endParaRPr>
          </a:p>
        </p:txBody>
      </p:sp>
    </p:spTree>
  </p:cSld>
  <p:clrMapOvr>
    <a:masterClrMapping/>
  </p:clrMapOvr>
  <p:transition>
    <p:randomBar dir="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Grp="1" noRot="1" noChangeArrowheads="1"/>
          </p:cNvSpPr>
          <p:nvPr/>
        </p:nvSpPr>
        <p:spPr>
          <a:xfrm>
            <a:off x="395288" y="0"/>
            <a:ext cx="8229600" cy="774700"/>
          </a:xfrm>
          <a:prstGeom prst="rect">
            <a:avLst/>
          </a:prstGeom>
          <a:solidFill>
            <a:srgbClr val="FFFF00"/>
          </a:solid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400" b="1">
                <a:solidFill>
                  <a:schemeClr val="tx2"/>
                </a:solidFill>
                <a:latin typeface="+mj-lt"/>
                <a:ea typeface="+mj-ea"/>
                <a:cs typeface="+mj-cs"/>
              </a:defRPr>
            </a:lvl1pPr>
            <a:lvl2pPr algn="ctr" rtl="0" eaLnBrk="0" fontAlgn="base" hangingPunct="0">
              <a:spcBef>
                <a:spcPct val="0"/>
              </a:spcBef>
              <a:spcAft>
                <a:spcPct val="0"/>
              </a:spcAft>
              <a:defRPr sz="4400" b="1">
                <a:solidFill>
                  <a:schemeClr val="tx2"/>
                </a:solidFill>
                <a:latin typeface="Times New Roman" panose="02020603050405020304" pitchFamily="18" charset="0"/>
                <a:ea typeface="楷体_GB2312" pitchFamily="49" charset="-122"/>
              </a:defRPr>
            </a:lvl2pPr>
            <a:lvl3pPr algn="ctr" rtl="0" eaLnBrk="0" fontAlgn="base" hangingPunct="0">
              <a:spcBef>
                <a:spcPct val="0"/>
              </a:spcBef>
              <a:spcAft>
                <a:spcPct val="0"/>
              </a:spcAft>
              <a:defRPr sz="4400" b="1">
                <a:solidFill>
                  <a:schemeClr val="tx2"/>
                </a:solidFill>
                <a:latin typeface="Times New Roman" panose="02020603050405020304" pitchFamily="18" charset="0"/>
                <a:ea typeface="楷体_GB2312" pitchFamily="49" charset="-122"/>
              </a:defRPr>
            </a:lvl3pPr>
            <a:lvl4pPr algn="ctr" rtl="0" eaLnBrk="0" fontAlgn="base" hangingPunct="0">
              <a:spcBef>
                <a:spcPct val="0"/>
              </a:spcBef>
              <a:spcAft>
                <a:spcPct val="0"/>
              </a:spcAft>
              <a:defRPr sz="4400" b="1">
                <a:solidFill>
                  <a:schemeClr val="tx2"/>
                </a:solidFill>
                <a:latin typeface="Times New Roman" panose="02020603050405020304" pitchFamily="18" charset="0"/>
                <a:ea typeface="楷体_GB2312" pitchFamily="49" charset="-122"/>
              </a:defRPr>
            </a:lvl4pPr>
            <a:lvl5pPr algn="ctr" rtl="0" eaLnBrk="0" fontAlgn="base" hangingPunct="0">
              <a:spcBef>
                <a:spcPct val="0"/>
              </a:spcBef>
              <a:spcAft>
                <a:spcPct val="0"/>
              </a:spcAft>
              <a:defRPr sz="4400" b="1">
                <a:solidFill>
                  <a:schemeClr val="tx2"/>
                </a:solidFill>
                <a:latin typeface="Times New Roman" panose="02020603050405020304" pitchFamily="18" charset="0"/>
                <a:ea typeface="楷体_GB2312" pitchFamily="49" charset="-122"/>
              </a:defRPr>
            </a:lvl5pPr>
            <a:lvl6pPr marL="457200" algn="ctr" rtl="0" fontAlgn="base">
              <a:spcBef>
                <a:spcPct val="0"/>
              </a:spcBef>
              <a:spcAft>
                <a:spcPct val="0"/>
              </a:spcAft>
              <a:defRPr sz="4400" b="1">
                <a:solidFill>
                  <a:schemeClr val="tx2"/>
                </a:solidFill>
                <a:latin typeface="Times New Roman" panose="02020603050405020304" pitchFamily="18" charset="0"/>
                <a:ea typeface="楷体_GB2312" pitchFamily="49" charset="-122"/>
              </a:defRPr>
            </a:lvl6pPr>
            <a:lvl7pPr marL="914400" algn="ctr" rtl="0" fontAlgn="base">
              <a:spcBef>
                <a:spcPct val="0"/>
              </a:spcBef>
              <a:spcAft>
                <a:spcPct val="0"/>
              </a:spcAft>
              <a:defRPr sz="4400" b="1">
                <a:solidFill>
                  <a:schemeClr val="tx2"/>
                </a:solidFill>
                <a:latin typeface="Times New Roman" panose="02020603050405020304" pitchFamily="18" charset="0"/>
                <a:ea typeface="楷体_GB2312" pitchFamily="49" charset="-122"/>
              </a:defRPr>
            </a:lvl7pPr>
            <a:lvl8pPr marL="1371600" algn="ctr" rtl="0" fontAlgn="base">
              <a:spcBef>
                <a:spcPct val="0"/>
              </a:spcBef>
              <a:spcAft>
                <a:spcPct val="0"/>
              </a:spcAft>
              <a:defRPr sz="4400" b="1">
                <a:solidFill>
                  <a:schemeClr val="tx2"/>
                </a:solidFill>
                <a:latin typeface="Times New Roman" panose="02020603050405020304" pitchFamily="18" charset="0"/>
                <a:ea typeface="楷体_GB2312" pitchFamily="49" charset="-122"/>
              </a:defRPr>
            </a:lvl8pPr>
            <a:lvl9pPr marL="1828800" algn="ctr" rtl="0" fontAlgn="base">
              <a:spcBef>
                <a:spcPct val="0"/>
              </a:spcBef>
              <a:spcAft>
                <a:spcPct val="0"/>
              </a:spcAft>
              <a:defRPr sz="4400" b="1">
                <a:solidFill>
                  <a:schemeClr val="tx2"/>
                </a:solidFill>
                <a:latin typeface="Times New Roman" panose="02020603050405020304" pitchFamily="18" charset="0"/>
                <a:ea typeface="楷体_GB2312" pitchFamily="49" charset="-122"/>
              </a:defRPr>
            </a:lvl9pPr>
          </a:lstStyle>
          <a:p>
            <a:pPr algn="l" eaLnBrk="1" hangingPunct="1"/>
            <a:r>
              <a:rPr lang="en-US" altLang="zh-CN" sz="3600">
                <a:solidFill>
                  <a:schemeClr val="tx1"/>
                </a:solidFill>
                <a:ea typeface="黑体" panose="02010609060101010101" pitchFamily="49" charset="-122"/>
              </a:rPr>
              <a:t>3.6 </a:t>
            </a:r>
            <a:r>
              <a:rPr lang="zh-CN" altLang="en-US" sz="3600">
                <a:solidFill>
                  <a:schemeClr val="tx1"/>
                </a:solidFill>
                <a:ea typeface="黑体" panose="02010609060101010101" pitchFamily="49" charset="-122"/>
              </a:rPr>
              <a:t>其他电池</a:t>
            </a:r>
            <a:endParaRPr lang="zh-CN" altLang="en-US" sz="3600">
              <a:solidFill>
                <a:schemeClr val="tx1"/>
              </a:solidFill>
              <a:ea typeface="黑体" panose="02010609060101010101" pitchFamily="49" charset="-122"/>
            </a:endParaRPr>
          </a:p>
        </p:txBody>
      </p:sp>
      <p:sp>
        <p:nvSpPr>
          <p:cNvPr id="2" name="文本框 1"/>
          <p:cNvSpPr txBox="1"/>
          <p:nvPr/>
        </p:nvSpPr>
        <p:spPr>
          <a:xfrm>
            <a:off x="899160" y="908685"/>
            <a:ext cx="4572000" cy="645160"/>
          </a:xfrm>
          <a:prstGeom prst="rect">
            <a:avLst/>
          </a:prstGeom>
          <a:noFill/>
        </p:spPr>
        <p:txBody>
          <a:bodyPr wrap="square" rtlCol="0" anchor="t">
            <a:spAutoFit/>
          </a:bodyPr>
          <a:p>
            <a:r>
              <a:rPr lang="en-US" altLang="zh-CN" sz="3600">
                <a:solidFill>
                  <a:schemeClr val="tx1"/>
                </a:solidFill>
                <a:sym typeface="+mn-ea"/>
              </a:rPr>
              <a:t>3.6.1 </a:t>
            </a:r>
            <a:r>
              <a:rPr lang="zh-CN" altLang="en-US" sz="3600">
                <a:solidFill>
                  <a:schemeClr val="tx1"/>
                </a:solidFill>
                <a:sym typeface="+mn-ea"/>
              </a:rPr>
              <a:t>钠硫电池</a:t>
            </a:r>
            <a:endParaRPr lang="zh-CN" altLang="en-US" sz="3600">
              <a:solidFill>
                <a:schemeClr val="tx1"/>
              </a:solidFill>
              <a:sym typeface="+mn-ea"/>
            </a:endParaRPr>
          </a:p>
        </p:txBody>
      </p:sp>
      <p:pic>
        <p:nvPicPr>
          <p:cNvPr id="4" name="图片 3"/>
          <p:cNvPicPr/>
          <p:nvPr/>
        </p:nvPicPr>
        <p:blipFill>
          <a:blip r:embed="rId1"/>
          <a:stretch>
            <a:fillRect/>
          </a:stretch>
        </p:blipFill>
        <p:spPr>
          <a:xfrm>
            <a:off x="1835150" y="1700530"/>
            <a:ext cx="5537835" cy="5082540"/>
          </a:xfrm>
          <a:prstGeom prst="rect">
            <a:avLst/>
          </a:prstGeom>
        </p:spPr>
      </p:pic>
    </p:spTree>
  </p:cSld>
  <p:clrMapOvr>
    <a:masterClrMapping/>
  </p:clrMapOvr>
  <p:transition>
    <p:randomBar dir="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827405" y="260350"/>
            <a:ext cx="4572000" cy="645160"/>
          </a:xfrm>
          <a:prstGeom prst="rect">
            <a:avLst/>
          </a:prstGeom>
          <a:noFill/>
        </p:spPr>
        <p:txBody>
          <a:bodyPr wrap="square" rtlCol="0" anchor="t">
            <a:spAutoFit/>
          </a:bodyPr>
          <a:p>
            <a:r>
              <a:rPr lang="en-US" altLang="zh-CN" sz="3600">
                <a:solidFill>
                  <a:schemeClr val="tx1"/>
                </a:solidFill>
                <a:sym typeface="+mn-ea"/>
              </a:rPr>
              <a:t>3.6.1 </a:t>
            </a:r>
            <a:r>
              <a:rPr lang="zh-CN" altLang="en-US" sz="3600">
                <a:solidFill>
                  <a:schemeClr val="tx1"/>
                </a:solidFill>
                <a:sym typeface="+mn-ea"/>
              </a:rPr>
              <a:t>钠硫电池</a:t>
            </a:r>
            <a:endParaRPr lang="zh-CN" altLang="en-US" sz="3600">
              <a:solidFill>
                <a:schemeClr val="tx1"/>
              </a:solidFill>
              <a:sym typeface="+mn-ea"/>
            </a:endParaRPr>
          </a:p>
        </p:txBody>
      </p:sp>
      <p:pic>
        <p:nvPicPr>
          <p:cNvPr id="3" name="图片 2"/>
          <p:cNvPicPr/>
          <p:nvPr/>
        </p:nvPicPr>
        <p:blipFill>
          <a:blip r:embed="rId1"/>
          <a:stretch>
            <a:fillRect/>
          </a:stretch>
        </p:blipFill>
        <p:spPr>
          <a:xfrm>
            <a:off x="1619250" y="1052830"/>
            <a:ext cx="5739765" cy="5546090"/>
          </a:xfrm>
          <a:prstGeom prst="rect">
            <a:avLst/>
          </a:prstGeom>
        </p:spPr>
      </p:pic>
    </p:spTree>
  </p:cSld>
  <p:clrMapOvr>
    <a:masterClrMapping/>
  </p:clrMapOvr>
  <p:transition>
    <p:randomBar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p:nvPr/>
        </p:nvSpPr>
        <p:spPr>
          <a:xfrm>
            <a:off x="1043051" y="4509120"/>
            <a:ext cx="6434455" cy="1591945"/>
          </a:xfrm>
          <a:prstGeom prst="rect">
            <a:avLst/>
          </a:prstGeom>
        </p:spPr>
        <p:txBody>
          <a:bodyPr vert="horz" wrap="square" lIns="0" tIns="292735" rIns="0" bIns="0" rtlCol="0">
            <a:spAutoFit/>
          </a:bodyPr>
          <a:lstStyle/>
          <a:p>
            <a:pPr marL="1379220">
              <a:lnSpc>
                <a:spcPct val="100000"/>
              </a:lnSpc>
              <a:spcBef>
                <a:spcPts val="2305"/>
              </a:spcBef>
            </a:pPr>
            <a:r>
              <a:rPr lang="en-US" sz="3600" b="1" spc="10" dirty="0">
                <a:solidFill>
                  <a:srgbClr val="6F2F9F"/>
                </a:solidFill>
                <a:latin typeface="Microsoft JhengHei" panose="020B0604030504040204" charset="-120"/>
                <a:cs typeface="Microsoft JhengHei" panose="020B0604030504040204" charset="-120"/>
              </a:rPr>
              <a:t>3.6.2 </a:t>
            </a:r>
            <a:r>
              <a:rPr sz="3600" b="1" spc="10" dirty="0">
                <a:solidFill>
                  <a:srgbClr val="6F2F9F"/>
                </a:solidFill>
                <a:latin typeface="Microsoft JhengHei" panose="020B0604030504040204" charset="-120"/>
                <a:cs typeface="Microsoft JhengHei" panose="020B0604030504040204" charset="-120"/>
              </a:rPr>
              <a:t>固态锂电池</a:t>
            </a:r>
            <a:endParaRPr sz="3600">
              <a:latin typeface="Microsoft JhengHei" panose="020B0604030504040204" charset="-120"/>
              <a:cs typeface="Microsoft JhengHei" panose="020B0604030504040204" charset="-120"/>
            </a:endParaRPr>
          </a:p>
          <a:p>
            <a:pPr marL="12700">
              <a:lnSpc>
                <a:spcPct val="100000"/>
              </a:lnSpc>
              <a:spcBef>
                <a:spcPts val="1975"/>
              </a:spcBef>
            </a:pPr>
            <a:r>
              <a:rPr sz="3200" b="1" dirty="0">
                <a:solidFill>
                  <a:srgbClr val="00AFEF"/>
                </a:solidFill>
                <a:latin typeface="Times New Roman" panose="02020603050405020304"/>
                <a:cs typeface="Times New Roman" panose="02020603050405020304"/>
              </a:rPr>
              <a:t>Solid-State Lithium-ion</a:t>
            </a:r>
            <a:r>
              <a:rPr sz="3200" b="1" spc="-145" dirty="0">
                <a:solidFill>
                  <a:srgbClr val="00AFEF"/>
                </a:solidFill>
                <a:latin typeface="Times New Roman" panose="02020603050405020304"/>
                <a:cs typeface="Times New Roman" panose="02020603050405020304"/>
              </a:rPr>
              <a:t> </a:t>
            </a:r>
            <a:r>
              <a:rPr sz="3200" b="1" dirty="0">
                <a:solidFill>
                  <a:srgbClr val="00AFEF"/>
                </a:solidFill>
                <a:latin typeface="Times New Roman" panose="02020603050405020304"/>
                <a:cs typeface="Times New Roman" panose="02020603050405020304"/>
              </a:rPr>
              <a:t>Batteries</a:t>
            </a:r>
            <a:endParaRPr sz="3200">
              <a:latin typeface="Times New Roman" panose="02020603050405020304"/>
              <a:cs typeface="Times New Roman" panose="02020603050405020304"/>
            </a:endParaRPr>
          </a:p>
        </p:txBody>
      </p:sp>
      <p:sp>
        <p:nvSpPr>
          <p:cNvPr id="13" name="object 13"/>
          <p:cNvSpPr/>
          <p:nvPr/>
        </p:nvSpPr>
        <p:spPr>
          <a:xfrm>
            <a:off x="2251075" y="1125600"/>
            <a:ext cx="4049776" cy="3166999"/>
          </a:xfrm>
          <a:prstGeom prst="rect">
            <a:avLst/>
          </a:prstGeom>
          <a:blipFill>
            <a:blip r:embed="rId1" cstate="print"/>
            <a:stretch>
              <a:fillRect/>
            </a:stretch>
          </a:blipFill>
        </p:spPr>
        <p:txBody>
          <a:bodyPr wrap="square" lIns="0" tIns="0" rIns="0" bIns="0" rtlCol="0"/>
          <a:lstStyle/>
          <a:p>
            <a:endParaRPr sz="1800"/>
          </a:p>
        </p:txBody>
      </p:sp>
      <p:sp>
        <p:nvSpPr>
          <p:cNvPr id="14" name="object 14"/>
          <p:cNvSpPr txBox="1"/>
          <p:nvPr/>
        </p:nvSpPr>
        <p:spPr>
          <a:xfrm rot="18900000">
            <a:off x="-109676" y="6146183"/>
            <a:ext cx="1213920"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5" name="object 15"/>
          <p:cNvSpPr txBox="1"/>
          <p:nvPr/>
        </p:nvSpPr>
        <p:spPr>
          <a:xfrm rot="18900000">
            <a:off x="-270503"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6" name="object 16"/>
          <p:cNvSpPr txBox="1"/>
          <p:nvPr/>
        </p:nvSpPr>
        <p:spPr>
          <a:xfrm rot="18900000">
            <a:off x="-270503"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7" name="object 17"/>
          <p:cNvSpPr txBox="1"/>
          <p:nvPr/>
        </p:nvSpPr>
        <p:spPr>
          <a:xfrm rot="18900000">
            <a:off x="-270503"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8" name="object 18"/>
          <p:cNvSpPr txBox="1"/>
          <p:nvPr/>
        </p:nvSpPr>
        <p:spPr>
          <a:xfrm rot="18900000">
            <a:off x="-207607"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0" name="object 20"/>
          <p:cNvSpPr txBox="1"/>
          <p:nvPr/>
        </p:nvSpPr>
        <p:spPr>
          <a:xfrm rot="18900000">
            <a:off x="131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1" name="object 21"/>
          <p:cNvSpPr txBox="1"/>
          <p:nvPr/>
        </p:nvSpPr>
        <p:spPr>
          <a:xfrm rot="18900000">
            <a:off x="131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2" name="object 22"/>
          <p:cNvSpPr txBox="1"/>
          <p:nvPr/>
        </p:nvSpPr>
        <p:spPr>
          <a:xfrm rot="18900000">
            <a:off x="131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3" name="object 23"/>
          <p:cNvSpPr txBox="1"/>
          <p:nvPr/>
        </p:nvSpPr>
        <p:spPr>
          <a:xfrm rot="18900000">
            <a:off x="137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4" name="object 24"/>
          <p:cNvSpPr txBox="1"/>
          <p:nvPr/>
        </p:nvSpPr>
        <p:spPr>
          <a:xfrm rot="18900000">
            <a:off x="2904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5" name="object 25"/>
          <p:cNvSpPr txBox="1"/>
          <p:nvPr/>
        </p:nvSpPr>
        <p:spPr>
          <a:xfrm rot="18900000">
            <a:off x="2904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6" name="object 26"/>
          <p:cNvSpPr txBox="1"/>
          <p:nvPr/>
        </p:nvSpPr>
        <p:spPr>
          <a:xfrm rot="18900000">
            <a:off x="2904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7" name="object 27"/>
          <p:cNvSpPr txBox="1"/>
          <p:nvPr/>
        </p:nvSpPr>
        <p:spPr>
          <a:xfrm rot="18900000">
            <a:off x="2904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8" name="object 28"/>
          <p:cNvSpPr txBox="1"/>
          <p:nvPr/>
        </p:nvSpPr>
        <p:spPr>
          <a:xfrm rot="18900000">
            <a:off x="2967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9" name="object 29"/>
          <p:cNvSpPr txBox="1"/>
          <p:nvPr/>
        </p:nvSpPr>
        <p:spPr>
          <a:xfrm rot="18900000">
            <a:off x="4650111" y="468900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1" name="object 31"/>
          <p:cNvSpPr txBox="1"/>
          <p:nvPr/>
        </p:nvSpPr>
        <p:spPr>
          <a:xfrm rot="18900000">
            <a:off x="4491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2" name="object 32"/>
          <p:cNvSpPr txBox="1"/>
          <p:nvPr/>
        </p:nvSpPr>
        <p:spPr>
          <a:xfrm rot="18900000">
            <a:off x="4491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3" name="object 33"/>
          <p:cNvSpPr txBox="1"/>
          <p:nvPr/>
        </p:nvSpPr>
        <p:spPr>
          <a:xfrm rot="18900000">
            <a:off x="4554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4" name="object 34"/>
          <p:cNvSpPr txBox="1"/>
          <p:nvPr/>
        </p:nvSpPr>
        <p:spPr>
          <a:xfrm rot="18900000">
            <a:off x="6079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5" name="object 35"/>
          <p:cNvSpPr txBox="1"/>
          <p:nvPr/>
        </p:nvSpPr>
        <p:spPr>
          <a:xfrm rot="18900000">
            <a:off x="6079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6" name="object 36"/>
          <p:cNvSpPr txBox="1"/>
          <p:nvPr/>
        </p:nvSpPr>
        <p:spPr>
          <a:xfrm rot="18900000">
            <a:off x="6079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7" name="object 37"/>
          <p:cNvSpPr txBox="1"/>
          <p:nvPr/>
        </p:nvSpPr>
        <p:spPr>
          <a:xfrm rot="18900000">
            <a:off x="6079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8" name="object 38"/>
          <p:cNvSpPr txBox="1"/>
          <p:nvPr/>
        </p:nvSpPr>
        <p:spPr>
          <a:xfrm rot="18900000">
            <a:off x="6142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9" name="object 39"/>
          <p:cNvSpPr txBox="1"/>
          <p:nvPr/>
        </p:nvSpPr>
        <p:spPr>
          <a:xfrm rot="18900000">
            <a:off x="766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40" name="object 40"/>
          <p:cNvSpPr txBox="1"/>
          <p:nvPr/>
        </p:nvSpPr>
        <p:spPr>
          <a:xfrm rot="18900000">
            <a:off x="766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42" name="object 42"/>
          <p:cNvSpPr txBox="1"/>
          <p:nvPr/>
        </p:nvSpPr>
        <p:spPr>
          <a:xfrm rot="18900000">
            <a:off x="766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43" name="object 43"/>
          <p:cNvSpPr txBox="1"/>
          <p:nvPr/>
        </p:nvSpPr>
        <p:spPr>
          <a:xfrm rot="18900000">
            <a:off x="772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Tree>
  </p:cSld>
  <p:clrMapOvr>
    <a:masterClrMapping/>
  </p:clrMapOvr>
  <p:transition>
    <p:randomBar dir="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7370" y="443865"/>
            <a:ext cx="5203825" cy="689610"/>
          </a:xfrm>
          <a:prstGeom prst="rect">
            <a:avLst/>
          </a:prstGeom>
        </p:spPr>
        <p:txBody>
          <a:bodyPr vert="horz" wrap="square" lIns="0" tIns="12700" rIns="0" bIns="0" rtlCol="0">
            <a:spAutoFit/>
          </a:bodyPr>
          <a:lstStyle/>
          <a:p>
            <a:pPr marL="12700">
              <a:lnSpc>
                <a:spcPct val="100000"/>
              </a:lnSpc>
              <a:spcBef>
                <a:spcPts val="100"/>
              </a:spcBef>
            </a:pPr>
            <a:r>
              <a:rPr spc="10" dirty="0"/>
              <a:t>电池的安全性问题</a:t>
            </a:r>
            <a:endParaRPr spc="10" dirty="0"/>
          </a:p>
        </p:txBody>
      </p:sp>
      <p:sp>
        <p:nvSpPr>
          <p:cNvPr id="3" name="object 3"/>
          <p:cNvSpPr/>
          <p:nvPr/>
        </p:nvSpPr>
        <p:spPr>
          <a:xfrm>
            <a:off x="902842" y="3951351"/>
            <a:ext cx="3273805" cy="2214499"/>
          </a:xfrm>
          <a:prstGeom prst="rect">
            <a:avLst/>
          </a:prstGeom>
          <a:blipFill>
            <a:blip r:embed="rId1" cstate="print"/>
            <a:stretch>
              <a:fillRect/>
            </a:stretch>
          </a:blipFill>
        </p:spPr>
        <p:txBody>
          <a:bodyPr wrap="square" lIns="0" tIns="0" rIns="0" bIns="0" rtlCol="0"/>
          <a:lstStyle/>
          <a:p>
            <a:endParaRPr sz="1800"/>
          </a:p>
        </p:txBody>
      </p:sp>
      <p:sp>
        <p:nvSpPr>
          <p:cNvPr id="4" name="object 4"/>
          <p:cNvSpPr/>
          <p:nvPr/>
        </p:nvSpPr>
        <p:spPr>
          <a:xfrm>
            <a:off x="4786376" y="3951351"/>
            <a:ext cx="3170174" cy="2214499"/>
          </a:xfrm>
          <a:prstGeom prst="rect">
            <a:avLst/>
          </a:prstGeom>
          <a:blipFill>
            <a:blip r:embed="rId2" cstate="print"/>
            <a:stretch>
              <a:fillRect/>
            </a:stretch>
          </a:blipFill>
        </p:spPr>
        <p:txBody>
          <a:bodyPr wrap="square" lIns="0" tIns="0" rIns="0" bIns="0" rtlCol="0"/>
          <a:lstStyle/>
          <a:p>
            <a:endParaRPr sz="1800"/>
          </a:p>
        </p:txBody>
      </p:sp>
      <p:sp>
        <p:nvSpPr>
          <p:cNvPr id="5" name="object 5"/>
          <p:cNvSpPr/>
          <p:nvPr/>
        </p:nvSpPr>
        <p:spPr>
          <a:xfrm>
            <a:off x="900112" y="1484249"/>
            <a:ext cx="3265424" cy="1984375"/>
          </a:xfrm>
          <a:prstGeom prst="rect">
            <a:avLst/>
          </a:prstGeom>
          <a:blipFill>
            <a:blip r:embed="rId3" cstate="print"/>
            <a:stretch>
              <a:fillRect/>
            </a:stretch>
          </a:blipFill>
        </p:spPr>
        <p:txBody>
          <a:bodyPr wrap="square" lIns="0" tIns="0" rIns="0" bIns="0" rtlCol="0"/>
          <a:lstStyle/>
          <a:p>
            <a:endParaRPr sz="1800"/>
          </a:p>
        </p:txBody>
      </p:sp>
      <p:sp>
        <p:nvSpPr>
          <p:cNvPr id="6" name="object 6"/>
          <p:cNvSpPr/>
          <p:nvPr/>
        </p:nvSpPr>
        <p:spPr>
          <a:xfrm>
            <a:off x="4786376" y="1446275"/>
            <a:ext cx="3170174" cy="1982724"/>
          </a:xfrm>
          <a:prstGeom prst="rect">
            <a:avLst/>
          </a:prstGeom>
          <a:blipFill>
            <a:blip r:embed="rId4" cstate="print"/>
            <a:stretch>
              <a:fillRect/>
            </a:stretch>
          </a:blipFill>
        </p:spPr>
        <p:txBody>
          <a:bodyPr wrap="square" lIns="0" tIns="0" rIns="0" bIns="0" rtlCol="0"/>
          <a:lstStyle/>
          <a:p>
            <a:endParaRPr sz="1800"/>
          </a:p>
        </p:txBody>
      </p:sp>
      <p:sp>
        <p:nvSpPr>
          <p:cNvPr id="7" name="object 7"/>
          <p:cNvSpPr txBox="1"/>
          <p:nvPr/>
        </p:nvSpPr>
        <p:spPr>
          <a:xfrm>
            <a:off x="1914270" y="3531234"/>
            <a:ext cx="1250950" cy="269240"/>
          </a:xfrm>
          <a:prstGeom prst="rect">
            <a:avLst/>
          </a:prstGeom>
        </p:spPr>
        <p:txBody>
          <a:bodyPr vert="horz" wrap="square" lIns="0" tIns="12065" rIns="0" bIns="0" rtlCol="0">
            <a:spAutoFit/>
          </a:bodyPr>
          <a:lstStyle/>
          <a:p>
            <a:pPr marL="12700">
              <a:lnSpc>
                <a:spcPct val="100000"/>
              </a:lnSpc>
              <a:spcBef>
                <a:spcPts val="95"/>
              </a:spcBef>
            </a:pPr>
            <a:r>
              <a:rPr sz="1600" b="1" spc="5" dirty="0">
                <a:solidFill>
                  <a:srgbClr val="006FC0"/>
                </a:solidFill>
                <a:latin typeface="Microsoft JhengHei" panose="020B0604030504040204" charset="-120"/>
                <a:cs typeface="Microsoft JhengHei" panose="020B0604030504040204" charset="-120"/>
              </a:rPr>
              <a:t>电池放气鼓包</a:t>
            </a:r>
            <a:endParaRPr sz="1600">
              <a:latin typeface="Microsoft JhengHei" panose="020B0604030504040204" charset="-120"/>
              <a:cs typeface="Microsoft JhengHei" panose="020B0604030504040204" charset="-120"/>
            </a:endParaRPr>
          </a:p>
        </p:txBody>
      </p:sp>
      <p:sp>
        <p:nvSpPr>
          <p:cNvPr id="8" name="object 8"/>
          <p:cNvSpPr txBox="1"/>
          <p:nvPr/>
        </p:nvSpPr>
        <p:spPr>
          <a:xfrm>
            <a:off x="5947028" y="3531234"/>
            <a:ext cx="1250950" cy="269240"/>
          </a:xfrm>
          <a:prstGeom prst="rect">
            <a:avLst/>
          </a:prstGeom>
        </p:spPr>
        <p:txBody>
          <a:bodyPr vert="horz" wrap="square" lIns="0" tIns="12065" rIns="0" bIns="0" rtlCol="0">
            <a:spAutoFit/>
          </a:bodyPr>
          <a:lstStyle/>
          <a:p>
            <a:pPr marL="12700">
              <a:lnSpc>
                <a:spcPct val="100000"/>
              </a:lnSpc>
              <a:spcBef>
                <a:spcPts val="95"/>
              </a:spcBef>
            </a:pPr>
            <a:r>
              <a:rPr sz="1600" b="1" spc="5" dirty="0">
                <a:solidFill>
                  <a:srgbClr val="006FC0"/>
                </a:solidFill>
                <a:latin typeface="Microsoft JhengHei" panose="020B0604030504040204" charset="-120"/>
                <a:cs typeface="Microsoft JhengHei" panose="020B0604030504040204" charset="-120"/>
              </a:rPr>
              <a:t>电池燃烧爆炸</a:t>
            </a:r>
            <a:endParaRPr sz="1600">
              <a:latin typeface="Microsoft JhengHei" panose="020B0604030504040204" charset="-120"/>
              <a:cs typeface="Microsoft JhengHei" panose="020B0604030504040204" charset="-120"/>
            </a:endParaRPr>
          </a:p>
        </p:txBody>
      </p:sp>
      <p:sp>
        <p:nvSpPr>
          <p:cNvPr id="9" name="object 9"/>
          <p:cNvSpPr txBox="1"/>
          <p:nvPr/>
        </p:nvSpPr>
        <p:spPr>
          <a:xfrm>
            <a:off x="1914270" y="6267094"/>
            <a:ext cx="1114425"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006FC0"/>
                </a:solidFill>
                <a:latin typeface="Microsoft JhengHei" panose="020B0604030504040204" charset="-120"/>
                <a:cs typeface="Microsoft JhengHei" panose="020B0604030504040204" charset="-120"/>
              </a:rPr>
              <a:t>三星</a:t>
            </a:r>
            <a:r>
              <a:rPr sz="1800" b="1" dirty="0">
                <a:solidFill>
                  <a:srgbClr val="006FC0"/>
                </a:solidFill>
                <a:latin typeface="Times New Roman" panose="02020603050405020304"/>
                <a:cs typeface="Times New Roman" panose="02020603050405020304"/>
              </a:rPr>
              <a:t>Note</a:t>
            </a:r>
            <a:r>
              <a:rPr sz="1800" b="1" spc="-85" dirty="0">
                <a:solidFill>
                  <a:srgbClr val="006FC0"/>
                </a:solidFill>
                <a:latin typeface="Times New Roman" panose="02020603050405020304"/>
                <a:cs typeface="Times New Roman" panose="02020603050405020304"/>
              </a:rPr>
              <a:t> </a:t>
            </a:r>
            <a:r>
              <a:rPr sz="1800" b="1" dirty="0">
                <a:solidFill>
                  <a:srgbClr val="006FC0"/>
                </a:solidFill>
                <a:latin typeface="Times New Roman" panose="02020603050405020304"/>
                <a:cs typeface="Times New Roman" panose="02020603050405020304"/>
              </a:rPr>
              <a:t>7</a:t>
            </a:r>
            <a:endParaRPr sz="1800">
              <a:latin typeface="Times New Roman" panose="02020603050405020304"/>
              <a:cs typeface="Times New Roman" panose="02020603050405020304"/>
            </a:endParaRPr>
          </a:p>
        </p:txBody>
      </p:sp>
      <p:sp>
        <p:nvSpPr>
          <p:cNvPr id="10" name="object 10"/>
          <p:cNvSpPr txBox="1"/>
          <p:nvPr/>
        </p:nvSpPr>
        <p:spPr>
          <a:xfrm>
            <a:off x="6235953" y="6267094"/>
            <a:ext cx="879475" cy="269240"/>
          </a:xfrm>
          <a:prstGeom prst="rect">
            <a:avLst/>
          </a:prstGeom>
        </p:spPr>
        <p:txBody>
          <a:bodyPr vert="horz" wrap="square" lIns="0" tIns="12065" rIns="0" bIns="0" rtlCol="0">
            <a:spAutoFit/>
          </a:bodyPr>
          <a:lstStyle/>
          <a:p>
            <a:pPr marL="12700">
              <a:lnSpc>
                <a:spcPct val="100000"/>
              </a:lnSpc>
              <a:spcBef>
                <a:spcPts val="95"/>
              </a:spcBef>
            </a:pPr>
            <a:r>
              <a:rPr sz="1600" b="1" spc="-150" dirty="0">
                <a:solidFill>
                  <a:srgbClr val="006FC0"/>
                </a:solidFill>
                <a:latin typeface="Times New Roman" panose="02020603050405020304"/>
                <a:cs typeface="Times New Roman" panose="02020603050405020304"/>
              </a:rPr>
              <a:t>T</a:t>
            </a:r>
            <a:r>
              <a:rPr sz="1600" b="1" spc="-5" dirty="0">
                <a:solidFill>
                  <a:srgbClr val="006FC0"/>
                </a:solidFill>
                <a:latin typeface="Times New Roman" panose="02020603050405020304"/>
                <a:cs typeface="Times New Roman" panose="02020603050405020304"/>
              </a:rPr>
              <a:t>esl</a:t>
            </a:r>
            <a:r>
              <a:rPr sz="1600" b="1" spc="5" dirty="0">
                <a:solidFill>
                  <a:srgbClr val="006FC0"/>
                </a:solidFill>
                <a:latin typeface="Times New Roman" panose="02020603050405020304"/>
                <a:cs typeface="Times New Roman" panose="02020603050405020304"/>
              </a:rPr>
              <a:t>a</a:t>
            </a:r>
            <a:r>
              <a:rPr sz="1600" b="1" spc="5" dirty="0">
                <a:solidFill>
                  <a:srgbClr val="006FC0"/>
                </a:solidFill>
                <a:latin typeface="Microsoft JhengHei" panose="020B0604030504040204" charset="-120"/>
                <a:cs typeface="Microsoft JhengHei" panose="020B0604030504040204" charset="-120"/>
              </a:rPr>
              <a:t>轿车</a:t>
            </a:r>
            <a:endParaRPr sz="1600">
              <a:latin typeface="Microsoft JhengHei" panose="020B0604030504040204" charset="-120"/>
              <a:cs typeface="Microsoft JhengHei" panose="020B0604030504040204" charset="-120"/>
            </a:endParaRPr>
          </a:p>
        </p:txBody>
      </p:sp>
      <p:sp>
        <p:nvSpPr>
          <p:cNvPr id="11" name="object 11"/>
          <p:cNvSpPr txBox="1"/>
          <p:nvPr/>
        </p:nvSpPr>
        <p:spPr>
          <a:xfrm rot="18900000">
            <a:off x="-109676" y="6146183"/>
            <a:ext cx="1213920"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2" name="object 12"/>
          <p:cNvSpPr txBox="1"/>
          <p:nvPr/>
        </p:nvSpPr>
        <p:spPr>
          <a:xfrm rot="18900000">
            <a:off x="-270503"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3" name="object 13"/>
          <p:cNvSpPr txBox="1"/>
          <p:nvPr/>
        </p:nvSpPr>
        <p:spPr>
          <a:xfrm rot="18900000">
            <a:off x="-270503"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4" name="object 14"/>
          <p:cNvSpPr txBox="1"/>
          <p:nvPr/>
        </p:nvSpPr>
        <p:spPr>
          <a:xfrm rot="18900000">
            <a:off x="-270503"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5" name="object 15"/>
          <p:cNvSpPr txBox="1"/>
          <p:nvPr/>
        </p:nvSpPr>
        <p:spPr>
          <a:xfrm rot="18900000">
            <a:off x="-207607"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6" name="object 16"/>
          <p:cNvSpPr txBox="1"/>
          <p:nvPr/>
        </p:nvSpPr>
        <p:spPr>
          <a:xfrm rot="18900000">
            <a:off x="131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7" name="object 17"/>
          <p:cNvSpPr txBox="1"/>
          <p:nvPr/>
        </p:nvSpPr>
        <p:spPr>
          <a:xfrm rot="18900000">
            <a:off x="131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8" name="object 18"/>
          <p:cNvSpPr txBox="1"/>
          <p:nvPr/>
        </p:nvSpPr>
        <p:spPr>
          <a:xfrm rot="18900000">
            <a:off x="131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9" name="object 19"/>
          <p:cNvSpPr txBox="1"/>
          <p:nvPr/>
        </p:nvSpPr>
        <p:spPr>
          <a:xfrm rot="18900000">
            <a:off x="131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0" name="object 20"/>
          <p:cNvSpPr txBox="1"/>
          <p:nvPr/>
        </p:nvSpPr>
        <p:spPr>
          <a:xfrm rot="18900000">
            <a:off x="137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1" name="object 21"/>
          <p:cNvSpPr txBox="1"/>
          <p:nvPr/>
        </p:nvSpPr>
        <p:spPr>
          <a:xfrm rot="18900000">
            <a:off x="2904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2" name="object 22"/>
          <p:cNvSpPr txBox="1"/>
          <p:nvPr/>
        </p:nvSpPr>
        <p:spPr>
          <a:xfrm rot="18900000">
            <a:off x="2904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3" name="object 23"/>
          <p:cNvSpPr txBox="1"/>
          <p:nvPr/>
        </p:nvSpPr>
        <p:spPr>
          <a:xfrm rot="18900000">
            <a:off x="2904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4" name="object 24"/>
          <p:cNvSpPr txBox="1"/>
          <p:nvPr/>
        </p:nvSpPr>
        <p:spPr>
          <a:xfrm rot="18900000">
            <a:off x="2904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5" name="object 25"/>
          <p:cNvSpPr txBox="1"/>
          <p:nvPr/>
        </p:nvSpPr>
        <p:spPr>
          <a:xfrm rot="18900000">
            <a:off x="2967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6" name="object 26"/>
          <p:cNvSpPr txBox="1"/>
          <p:nvPr/>
        </p:nvSpPr>
        <p:spPr>
          <a:xfrm rot="18900000">
            <a:off x="4491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7" name="object 27"/>
          <p:cNvSpPr txBox="1"/>
          <p:nvPr/>
        </p:nvSpPr>
        <p:spPr>
          <a:xfrm rot="18900000">
            <a:off x="4491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8" name="object 28"/>
          <p:cNvSpPr txBox="1"/>
          <p:nvPr/>
        </p:nvSpPr>
        <p:spPr>
          <a:xfrm rot="18900000">
            <a:off x="4491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9" name="object 29"/>
          <p:cNvSpPr txBox="1"/>
          <p:nvPr/>
        </p:nvSpPr>
        <p:spPr>
          <a:xfrm rot="18900000">
            <a:off x="4491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0" name="object 30"/>
          <p:cNvSpPr txBox="1"/>
          <p:nvPr/>
        </p:nvSpPr>
        <p:spPr>
          <a:xfrm rot="18900000">
            <a:off x="4554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1" name="object 31"/>
          <p:cNvSpPr txBox="1"/>
          <p:nvPr/>
        </p:nvSpPr>
        <p:spPr>
          <a:xfrm rot="18900000">
            <a:off x="6079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2" name="object 32"/>
          <p:cNvSpPr txBox="1"/>
          <p:nvPr/>
        </p:nvSpPr>
        <p:spPr>
          <a:xfrm rot="18900000">
            <a:off x="6079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3" name="object 33"/>
          <p:cNvSpPr txBox="1"/>
          <p:nvPr/>
        </p:nvSpPr>
        <p:spPr>
          <a:xfrm rot="18900000">
            <a:off x="6079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4" name="object 34"/>
          <p:cNvSpPr txBox="1"/>
          <p:nvPr/>
        </p:nvSpPr>
        <p:spPr>
          <a:xfrm rot="18900000">
            <a:off x="6079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5" name="object 35"/>
          <p:cNvSpPr txBox="1"/>
          <p:nvPr/>
        </p:nvSpPr>
        <p:spPr>
          <a:xfrm rot="18900000">
            <a:off x="6142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6" name="object 36"/>
          <p:cNvSpPr txBox="1"/>
          <p:nvPr/>
        </p:nvSpPr>
        <p:spPr>
          <a:xfrm rot="18900000">
            <a:off x="766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7" name="object 37"/>
          <p:cNvSpPr txBox="1"/>
          <p:nvPr/>
        </p:nvSpPr>
        <p:spPr>
          <a:xfrm rot="18900000">
            <a:off x="766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8" name="object 38"/>
          <p:cNvSpPr txBox="1"/>
          <p:nvPr/>
        </p:nvSpPr>
        <p:spPr>
          <a:xfrm rot="18900000">
            <a:off x="766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9" name="object 39"/>
          <p:cNvSpPr txBox="1"/>
          <p:nvPr/>
        </p:nvSpPr>
        <p:spPr>
          <a:xfrm rot="18900000">
            <a:off x="766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40" name="object 40"/>
          <p:cNvSpPr txBox="1"/>
          <p:nvPr/>
        </p:nvSpPr>
        <p:spPr>
          <a:xfrm rot="18900000">
            <a:off x="772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Tree>
  </p:cSld>
  <p:clrMapOvr>
    <a:masterClrMapping/>
  </p:clrMapOvr>
  <p:transition>
    <p:randomBar dir="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53123" y="1989073"/>
            <a:ext cx="3267964" cy="2568575"/>
          </a:xfrm>
          <a:prstGeom prst="rect">
            <a:avLst/>
          </a:prstGeom>
          <a:blipFill>
            <a:blip r:embed="rId1" cstate="print"/>
            <a:stretch>
              <a:fillRect/>
            </a:stretch>
          </a:blipFill>
        </p:spPr>
        <p:txBody>
          <a:bodyPr wrap="square" lIns="0" tIns="0" rIns="0" bIns="0" rtlCol="0"/>
          <a:lstStyle/>
          <a:p>
            <a:endParaRPr sz="1800"/>
          </a:p>
        </p:txBody>
      </p:sp>
      <p:sp>
        <p:nvSpPr>
          <p:cNvPr id="3" name="object 3"/>
          <p:cNvSpPr/>
          <p:nvPr/>
        </p:nvSpPr>
        <p:spPr>
          <a:xfrm>
            <a:off x="3932301" y="2657475"/>
            <a:ext cx="630555" cy="274955"/>
          </a:xfrm>
          <a:custGeom>
            <a:avLst/>
            <a:gdLst/>
            <a:ahLst/>
            <a:cxnLst/>
            <a:rect l="l" t="t" r="r" b="b"/>
            <a:pathLst>
              <a:path w="630554" h="274955">
                <a:moveTo>
                  <a:pt x="492887" y="0"/>
                </a:moveTo>
                <a:lnTo>
                  <a:pt x="492887" y="68707"/>
                </a:lnTo>
                <a:lnTo>
                  <a:pt x="0" y="68707"/>
                </a:lnTo>
                <a:lnTo>
                  <a:pt x="0" y="205994"/>
                </a:lnTo>
                <a:lnTo>
                  <a:pt x="492887" y="205994"/>
                </a:lnTo>
                <a:lnTo>
                  <a:pt x="492887" y="274574"/>
                </a:lnTo>
                <a:lnTo>
                  <a:pt x="630174" y="137287"/>
                </a:lnTo>
                <a:lnTo>
                  <a:pt x="492887" y="0"/>
                </a:lnTo>
                <a:close/>
              </a:path>
            </a:pathLst>
          </a:custGeom>
          <a:solidFill>
            <a:srgbClr val="D24717"/>
          </a:solidFill>
        </p:spPr>
        <p:txBody>
          <a:bodyPr wrap="square" lIns="0" tIns="0" rIns="0" bIns="0" rtlCol="0"/>
          <a:lstStyle/>
          <a:p>
            <a:endParaRPr sz="1800"/>
          </a:p>
        </p:txBody>
      </p:sp>
      <p:sp>
        <p:nvSpPr>
          <p:cNvPr id="4" name="object 4"/>
          <p:cNvSpPr/>
          <p:nvPr/>
        </p:nvSpPr>
        <p:spPr>
          <a:xfrm>
            <a:off x="3932301" y="2657475"/>
            <a:ext cx="630555" cy="274955"/>
          </a:xfrm>
          <a:custGeom>
            <a:avLst/>
            <a:gdLst/>
            <a:ahLst/>
            <a:cxnLst/>
            <a:rect l="l" t="t" r="r" b="b"/>
            <a:pathLst>
              <a:path w="630554" h="274955">
                <a:moveTo>
                  <a:pt x="492887" y="274574"/>
                </a:moveTo>
                <a:lnTo>
                  <a:pt x="492887" y="205994"/>
                </a:lnTo>
                <a:lnTo>
                  <a:pt x="0" y="205994"/>
                </a:lnTo>
                <a:lnTo>
                  <a:pt x="0" y="68707"/>
                </a:lnTo>
                <a:lnTo>
                  <a:pt x="492887" y="68707"/>
                </a:lnTo>
                <a:lnTo>
                  <a:pt x="492887" y="0"/>
                </a:lnTo>
                <a:lnTo>
                  <a:pt x="630174" y="137287"/>
                </a:lnTo>
                <a:lnTo>
                  <a:pt x="492887" y="274574"/>
                </a:lnTo>
                <a:close/>
              </a:path>
            </a:pathLst>
          </a:custGeom>
          <a:ln w="25400">
            <a:solidFill>
              <a:srgbClr val="9B310D"/>
            </a:solidFill>
          </a:ln>
        </p:spPr>
        <p:txBody>
          <a:bodyPr wrap="square" lIns="0" tIns="0" rIns="0" bIns="0" rtlCol="0"/>
          <a:lstStyle/>
          <a:p>
            <a:endParaRPr sz="1800"/>
          </a:p>
        </p:txBody>
      </p:sp>
      <p:sp>
        <p:nvSpPr>
          <p:cNvPr id="5" name="object 5"/>
          <p:cNvSpPr txBox="1"/>
          <p:nvPr/>
        </p:nvSpPr>
        <p:spPr>
          <a:xfrm>
            <a:off x="1122070" y="4829936"/>
            <a:ext cx="1472565" cy="269240"/>
          </a:xfrm>
          <a:prstGeom prst="rect">
            <a:avLst/>
          </a:prstGeom>
        </p:spPr>
        <p:txBody>
          <a:bodyPr vert="horz" wrap="square" lIns="0" tIns="12065" rIns="0" bIns="0" rtlCol="0">
            <a:spAutoFit/>
          </a:bodyPr>
          <a:lstStyle/>
          <a:p>
            <a:pPr marL="12700">
              <a:lnSpc>
                <a:spcPct val="100000"/>
              </a:lnSpc>
              <a:spcBef>
                <a:spcPts val="95"/>
              </a:spcBef>
            </a:pPr>
            <a:r>
              <a:rPr sz="1600" b="1" spc="30" dirty="0">
                <a:solidFill>
                  <a:srgbClr val="006FC0"/>
                </a:solidFill>
                <a:latin typeface="Microsoft JhengHei" panose="020B0604030504040204" charset="-120"/>
                <a:cs typeface="Microsoft JhengHei" panose="020B0604030504040204" charset="-120"/>
              </a:rPr>
              <a:t>液态锂离子</a:t>
            </a:r>
            <a:r>
              <a:rPr sz="1600" b="1" spc="40" dirty="0">
                <a:solidFill>
                  <a:srgbClr val="006FC0"/>
                </a:solidFill>
                <a:latin typeface="Microsoft JhengHei" panose="020B0604030504040204" charset="-120"/>
                <a:cs typeface="Microsoft JhengHei" panose="020B0604030504040204" charset="-120"/>
              </a:rPr>
              <a:t>电</a:t>
            </a:r>
            <a:r>
              <a:rPr sz="1600" b="1" spc="-5" dirty="0">
                <a:solidFill>
                  <a:srgbClr val="006FC0"/>
                </a:solidFill>
                <a:latin typeface="Microsoft JhengHei" panose="020B0604030504040204" charset="-120"/>
                <a:cs typeface="Microsoft JhengHei" panose="020B0604030504040204" charset="-120"/>
              </a:rPr>
              <a:t>池</a:t>
            </a:r>
            <a:endParaRPr sz="1600">
              <a:latin typeface="Microsoft JhengHei" panose="020B0604030504040204" charset="-120"/>
              <a:cs typeface="Microsoft JhengHei" panose="020B0604030504040204" charset="-120"/>
            </a:endParaRPr>
          </a:p>
        </p:txBody>
      </p:sp>
      <p:sp>
        <p:nvSpPr>
          <p:cNvPr id="6" name="object 6"/>
          <p:cNvSpPr txBox="1">
            <a:spLocks noGrp="1"/>
          </p:cNvSpPr>
          <p:nvPr>
            <p:ph type="title"/>
          </p:nvPr>
        </p:nvSpPr>
        <p:spPr>
          <a:xfrm>
            <a:off x="395605" y="129540"/>
            <a:ext cx="7278370" cy="689610"/>
          </a:xfrm>
          <a:prstGeom prst="rect">
            <a:avLst/>
          </a:prstGeom>
        </p:spPr>
        <p:txBody>
          <a:bodyPr vert="horz" wrap="square" lIns="0" tIns="12700" rIns="0" bIns="0" rtlCol="0">
            <a:spAutoFit/>
          </a:bodyPr>
          <a:lstStyle/>
          <a:p>
            <a:pPr marL="12700">
              <a:lnSpc>
                <a:spcPct val="100000"/>
              </a:lnSpc>
              <a:spcBef>
                <a:spcPts val="100"/>
              </a:spcBef>
            </a:pPr>
            <a:r>
              <a:rPr spc="10" dirty="0"/>
              <a:t>全固态</a:t>
            </a:r>
            <a:r>
              <a:rPr spc="10" dirty="0">
                <a:latin typeface="等线" panose="02010600030101010101" charset="-122"/>
                <a:cs typeface="等线" panose="02010600030101010101" charset="-122"/>
              </a:rPr>
              <a:t>--</a:t>
            </a:r>
            <a:r>
              <a:rPr spc="10" dirty="0"/>
              <a:t>让梦想照进现实</a:t>
            </a:r>
            <a:endParaRPr spc="10" dirty="0"/>
          </a:p>
        </p:txBody>
      </p:sp>
      <p:sp>
        <p:nvSpPr>
          <p:cNvPr id="7" name="object 7"/>
          <p:cNvSpPr/>
          <p:nvPr/>
        </p:nvSpPr>
        <p:spPr>
          <a:xfrm>
            <a:off x="5148326" y="1052575"/>
            <a:ext cx="3313049" cy="2592324"/>
          </a:xfrm>
          <a:prstGeom prst="rect">
            <a:avLst/>
          </a:prstGeom>
          <a:blipFill>
            <a:blip r:embed="rId2" cstate="print"/>
            <a:stretch>
              <a:fillRect/>
            </a:stretch>
          </a:blipFill>
        </p:spPr>
        <p:txBody>
          <a:bodyPr wrap="square" lIns="0" tIns="0" rIns="0" bIns="0" rtlCol="0"/>
          <a:lstStyle/>
          <a:p>
            <a:endParaRPr sz="1800"/>
          </a:p>
        </p:txBody>
      </p:sp>
      <p:sp>
        <p:nvSpPr>
          <p:cNvPr id="8" name="object 8"/>
          <p:cNvSpPr txBox="1"/>
          <p:nvPr/>
        </p:nvSpPr>
        <p:spPr>
          <a:xfrm>
            <a:off x="6164707" y="3747008"/>
            <a:ext cx="1659255" cy="269240"/>
          </a:xfrm>
          <a:prstGeom prst="rect">
            <a:avLst/>
          </a:prstGeom>
        </p:spPr>
        <p:txBody>
          <a:bodyPr vert="horz" wrap="square" lIns="0" tIns="12065" rIns="0" bIns="0" rtlCol="0">
            <a:spAutoFit/>
          </a:bodyPr>
          <a:lstStyle/>
          <a:p>
            <a:pPr marL="12700">
              <a:lnSpc>
                <a:spcPct val="100000"/>
              </a:lnSpc>
              <a:spcBef>
                <a:spcPts val="95"/>
              </a:spcBef>
            </a:pPr>
            <a:r>
              <a:rPr sz="1600" b="1" spc="5" dirty="0">
                <a:solidFill>
                  <a:srgbClr val="006FC0"/>
                </a:solidFill>
                <a:latin typeface="Microsoft JhengHei" panose="020B0604030504040204" charset="-120"/>
                <a:cs typeface="Microsoft JhengHei" panose="020B0604030504040204" charset="-120"/>
              </a:rPr>
              <a:t>全固态锂离子电池</a:t>
            </a:r>
            <a:endParaRPr sz="1600">
              <a:latin typeface="Microsoft JhengHei" panose="020B0604030504040204" charset="-120"/>
              <a:cs typeface="Microsoft JhengHei" panose="020B0604030504040204" charset="-120"/>
            </a:endParaRPr>
          </a:p>
        </p:txBody>
      </p:sp>
      <p:sp>
        <p:nvSpPr>
          <p:cNvPr id="9" name="object 9"/>
          <p:cNvSpPr txBox="1"/>
          <p:nvPr/>
        </p:nvSpPr>
        <p:spPr>
          <a:xfrm rot="18900000">
            <a:off x="-109676" y="6146183"/>
            <a:ext cx="1213920"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0" name="object 10"/>
          <p:cNvSpPr txBox="1"/>
          <p:nvPr/>
        </p:nvSpPr>
        <p:spPr>
          <a:xfrm rot="18900000">
            <a:off x="-270503"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1" name="object 11"/>
          <p:cNvSpPr txBox="1"/>
          <p:nvPr/>
        </p:nvSpPr>
        <p:spPr>
          <a:xfrm rot="18900000">
            <a:off x="-270503"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2" name="object 12"/>
          <p:cNvSpPr txBox="1"/>
          <p:nvPr/>
        </p:nvSpPr>
        <p:spPr>
          <a:xfrm rot="18900000">
            <a:off x="-270503"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3" name="object 13"/>
          <p:cNvSpPr txBox="1"/>
          <p:nvPr/>
        </p:nvSpPr>
        <p:spPr>
          <a:xfrm rot="18900000">
            <a:off x="-207607"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4" name="object 14"/>
          <p:cNvSpPr txBox="1"/>
          <p:nvPr/>
        </p:nvSpPr>
        <p:spPr>
          <a:xfrm rot="18900000">
            <a:off x="131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5" name="object 15"/>
          <p:cNvSpPr txBox="1"/>
          <p:nvPr/>
        </p:nvSpPr>
        <p:spPr>
          <a:xfrm rot="18900000">
            <a:off x="131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6" name="object 16"/>
          <p:cNvSpPr txBox="1"/>
          <p:nvPr/>
        </p:nvSpPr>
        <p:spPr>
          <a:xfrm rot="18900000">
            <a:off x="131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7" name="object 17"/>
          <p:cNvSpPr txBox="1"/>
          <p:nvPr/>
        </p:nvSpPr>
        <p:spPr>
          <a:xfrm rot="18900000">
            <a:off x="131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8" name="object 18"/>
          <p:cNvSpPr txBox="1"/>
          <p:nvPr/>
        </p:nvSpPr>
        <p:spPr>
          <a:xfrm rot="18900000">
            <a:off x="137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9" name="object 19"/>
          <p:cNvSpPr txBox="1"/>
          <p:nvPr/>
        </p:nvSpPr>
        <p:spPr>
          <a:xfrm rot="18900000">
            <a:off x="2904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0" name="object 20"/>
          <p:cNvSpPr txBox="1"/>
          <p:nvPr/>
        </p:nvSpPr>
        <p:spPr>
          <a:xfrm rot="18900000">
            <a:off x="2904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1" name="object 21"/>
          <p:cNvSpPr txBox="1"/>
          <p:nvPr/>
        </p:nvSpPr>
        <p:spPr>
          <a:xfrm rot="18900000">
            <a:off x="2904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2" name="object 22"/>
          <p:cNvSpPr txBox="1"/>
          <p:nvPr/>
        </p:nvSpPr>
        <p:spPr>
          <a:xfrm rot="18900000">
            <a:off x="2904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3" name="object 23"/>
          <p:cNvSpPr txBox="1"/>
          <p:nvPr/>
        </p:nvSpPr>
        <p:spPr>
          <a:xfrm rot="18900000">
            <a:off x="2967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4" name="object 24"/>
          <p:cNvSpPr txBox="1"/>
          <p:nvPr/>
        </p:nvSpPr>
        <p:spPr>
          <a:xfrm rot="18900000">
            <a:off x="4491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5" name="object 25"/>
          <p:cNvSpPr txBox="1"/>
          <p:nvPr/>
        </p:nvSpPr>
        <p:spPr>
          <a:xfrm rot="18900000">
            <a:off x="4491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6" name="object 26"/>
          <p:cNvSpPr txBox="1"/>
          <p:nvPr/>
        </p:nvSpPr>
        <p:spPr>
          <a:xfrm rot="18900000">
            <a:off x="4491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7" name="object 27"/>
          <p:cNvSpPr txBox="1"/>
          <p:nvPr/>
        </p:nvSpPr>
        <p:spPr>
          <a:xfrm rot="18900000">
            <a:off x="4491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8" name="object 28"/>
          <p:cNvSpPr txBox="1"/>
          <p:nvPr/>
        </p:nvSpPr>
        <p:spPr>
          <a:xfrm rot="18900000">
            <a:off x="4554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9" name="object 29"/>
          <p:cNvSpPr txBox="1"/>
          <p:nvPr/>
        </p:nvSpPr>
        <p:spPr>
          <a:xfrm rot="18900000">
            <a:off x="6079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0" name="object 30"/>
          <p:cNvSpPr txBox="1"/>
          <p:nvPr/>
        </p:nvSpPr>
        <p:spPr>
          <a:xfrm rot="18900000">
            <a:off x="6079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1" name="object 31"/>
          <p:cNvSpPr txBox="1"/>
          <p:nvPr/>
        </p:nvSpPr>
        <p:spPr>
          <a:xfrm rot="18900000">
            <a:off x="6079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2" name="object 32"/>
          <p:cNvSpPr txBox="1"/>
          <p:nvPr/>
        </p:nvSpPr>
        <p:spPr>
          <a:xfrm rot="18900000">
            <a:off x="6079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3" name="object 33"/>
          <p:cNvSpPr txBox="1"/>
          <p:nvPr/>
        </p:nvSpPr>
        <p:spPr>
          <a:xfrm rot="18900000">
            <a:off x="6142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4" name="object 34"/>
          <p:cNvSpPr txBox="1"/>
          <p:nvPr/>
        </p:nvSpPr>
        <p:spPr>
          <a:xfrm rot="18900000">
            <a:off x="766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5" name="object 35"/>
          <p:cNvSpPr txBox="1"/>
          <p:nvPr/>
        </p:nvSpPr>
        <p:spPr>
          <a:xfrm rot="18900000">
            <a:off x="766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6" name="object 36"/>
          <p:cNvSpPr txBox="1"/>
          <p:nvPr/>
        </p:nvSpPr>
        <p:spPr>
          <a:xfrm rot="18900000">
            <a:off x="766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7" name="object 37"/>
          <p:cNvSpPr txBox="1"/>
          <p:nvPr/>
        </p:nvSpPr>
        <p:spPr>
          <a:xfrm rot="18900000">
            <a:off x="766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8" name="object 38"/>
          <p:cNvSpPr txBox="1"/>
          <p:nvPr/>
        </p:nvSpPr>
        <p:spPr>
          <a:xfrm rot="18900000">
            <a:off x="772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Tree>
  </p:cSld>
  <p:clrMapOvr>
    <a:masterClrMapping/>
  </p:clrMapOvr>
  <p:transition>
    <p:randomBar dir="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71550" y="1125474"/>
            <a:ext cx="6991350" cy="2517775"/>
          </a:xfrm>
          <a:prstGeom prst="rect">
            <a:avLst/>
          </a:prstGeom>
          <a:blipFill>
            <a:blip r:embed="rId1" cstate="print"/>
            <a:stretch>
              <a:fillRect/>
            </a:stretch>
          </a:blipFill>
        </p:spPr>
        <p:txBody>
          <a:bodyPr wrap="square" lIns="0" tIns="0" rIns="0" bIns="0" rtlCol="0"/>
          <a:lstStyle/>
          <a:p>
            <a:endParaRPr sz="1800"/>
          </a:p>
        </p:txBody>
      </p:sp>
      <p:sp>
        <p:nvSpPr>
          <p:cNvPr id="3" name="object 3"/>
          <p:cNvSpPr txBox="1"/>
          <p:nvPr/>
        </p:nvSpPr>
        <p:spPr>
          <a:xfrm>
            <a:off x="618540" y="4054221"/>
            <a:ext cx="7666355" cy="2083435"/>
          </a:xfrm>
          <a:prstGeom prst="rect">
            <a:avLst/>
          </a:prstGeom>
        </p:spPr>
        <p:txBody>
          <a:bodyPr vert="horz" wrap="square" lIns="0" tIns="12700" rIns="0" bIns="0" rtlCol="0">
            <a:spAutoFit/>
          </a:bodyPr>
          <a:lstStyle/>
          <a:p>
            <a:pPr marL="12700" marR="5080" indent="505460">
              <a:lnSpc>
                <a:spcPct val="150000"/>
              </a:lnSpc>
              <a:spcBef>
                <a:spcPts val="100"/>
              </a:spcBef>
            </a:pPr>
            <a:r>
              <a:rPr sz="1800" b="1" spc="10" dirty="0">
                <a:solidFill>
                  <a:srgbClr val="006FC0"/>
                </a:solidFill>
                <a:latin typeface="Microsoft JhengHei" panose="020B0604030504040204" charset="-120"/>
                <a:cs typeface="Microsoft JhengHei" panose="020B0604030504040204" charset="-120"/>
              </a:rPr>
              <a:t>“</a:t>
            </a:r>
            <a:r>
              <a:rPr sz="1800" b="1" spc="10" dirty="0">
                <a:solidFill>
                  <a:srgbClr val="FFC000"/>
                </a:solidFill>
                <a:latin typeface="Microsoft JhengHei" panose="020B0604030504040204" charset="-120"/>
                <a:cs typeface="Microsoft JhengHei" panose="020B0604030504040204" charset="-120"/>
              </a:rPr>
              <a:t>全固态锂二次电池</a:t>
            </a:r>
            <a:r>
              <a:rPr sz="1800" b="1" spc="10" dirty="0">
                <a:solidFill>
                  <a:srgbClr val="006FC0"/>
                </a:solidFill>
                <a:latin typeface="Microsoft JhengHei" panose="020B0604030504040204" charset="-120"/>
                <a:cs typeface="Microsoft JhengHei" panose="020B0604030504040204" charset="-120"/>
              </a:rPr>
              <a:t>”是一种在工作温度区间内所使用的电极和电解质 材料均呈固态，不含任何液态组份的锂电池，简称为</a:t>
            </a:r>
            <a:r>
              <a:rPr sz="1800" b="1" spc="15" dirty="0">
                <a:solidFill>
                  <a:srgbClr val="006FC0"/>
                </a:solidFill>
                <a:latin typeface="Microsoft JhengHei" panose="020B0604030504040204" charset="-120"/>
                <a:cs typeface="Microsoft JhengHei" panose="020B0604030504040204" charset="-120"/>
              </a:rPr>
              <a:t>“</a:t>
            </a:r>
            <a:r>
              <a:rPr sz="1800" b="1" spc="10" dirty="0">
                <a:solidFill>
                  <a:srgbClr val="C00000"/>
                </a:solidFill>
                <a:latin typeface="Microsoft JhengHei" panose="020B0604030504040204" charset="-120"/>
                <a:cs typeface="Microsoft JhengHei" panose="020B0604030504040204" charset="-120"/>
              </a:rPr>
              <a:t>全固态锂电池</a:t>
            </a:r>
            <a:r>
              <a:rPr sz="1800" b="1" spc="10" dirty="0">
                <a:solidFill>
                  <a:srgbClr val="006FC0"/>
                </a:solidFill>
                <a:latin typeface="Microsoft JhengHei" panose="020B0604030504040204" charset="-120"/>
                <a:cs typeface="Microsoft JhengHei" panose="020B0604030504040204" charset="-120"/>
              </a:rPr>
              <a:t>”。</a:t>
            </a:r>
            <a:endParaRPr sz="1800">
              <a:latin typeface="Microsoft JhengHei" panose="020B0604030504040204" charset="-120"/>
              <a:cs typeface="Microsoft JhengHei" panose="020B0604030504040204" charset="-120"/>
            </a:endParaRPr>
          </a:p>
          <a:p>
            <a:pPr>
              <a:lnSpc>
                <a:spcPct val="100000"/>
              </a:lnSpc>
            </a:pPr>
            <a:endParaRPr sz="1800">
              <a:latin typeface="Times New Roman" panose="02020603050405020304"/>
              <a:cs typeface="Times New Roman" panose="02020603050405020304"/>
            </a:endParaRPr>
          </a:p>
          <a:p>
            <a:pPr marL="12700" marR="89535" indent="505460">
              <a:lnSpc>
                <a:spcPct val="150000"/>
              </a:lnSpc>
              <a:spcBef>
                <a:spcPts val="1170"/>
              </a:spcBef>
            </a:pPr>
            <a:r>
              <a:rPr sz="1800" dirty="0">
                <a:latin typeface="宋体" panose="02010600030101010101" pitchFamily="2" charset="-122"/>
                <a:cs typeface="宋体" panose="02010600030101010101" pitchFamily="2" charset="-122"/>
              </a:rPr>
              <a:t>“全固态”跟“固态”、“半固态”</a:t>
            </a:r>
            <a:r>
              <a:rPr sz="1800" spc="-434" dirty="0">
                <a:latin typeface="宋体" panose="02010600030101010101" pitchFamily="2" charset="-122"/>
                <a:cs typeface="宋体" panose="02010600030101010101" pitchFamily="2" charset="-122"/>
              </a:rPr>
              <a:t> </a:t>
            </a:r>
            <a:r>
              <a:rPr sz="1800" dirty="0">
                <a:latin typeface="宋体" panose="02010600030101010101" pitchFamily="2" charset="-122"/>
                <a:cs typeface="宋体" panose="02010600030101010101" pitchFamily="2" charset="-122"/>
              </a:rPr>
              <a:t>、“准固态”</a:t>
            </a:r>
            <a:r>
              <a:rPr sz="1800" spc="-434" dirty="0">
                <a:latin typeface="宋体" panose="02010600030101010101" pitchFamily="2" charset="-122"/>
                <a:cs typeface="宋体" panose="02010600030101010101" pitchFamily="2" charset="-122"/>
              </a:rPr>
              <a:t> </a:t>
            </a:r>
            <a:r>
              <a:rPr sz="1800" dirty="0">
                <a:latin typeface="宋体" panose="02010600030101010101" pitchFamily="2" charset="-122"/>
                <a:cs typeface="宋体" panose="02010600030101010101" pitchFamily="2" charset="-122"/>
              </a:rPr>
              <a:t>、“凝胶”</a:t>
            </a:r>
            <a:r>
              <a:rPr sz="1800" spc="-440" dirty="0">
                <a:latin typeface="宋体" panose="02010600030101010101" pitchFamily="2" charset="-122"/>
                <a:cs typeface="宋体" panose="02010600030101010101" pitchFamily="2" charset="-122"/>
              </a:rPr>
              <a:t> </a:t>
            </a:r>
            <a:r>
              <a:rPr sz="1800" dirty="0">
                <a:latin typeface="宋体" panose="02010600030101010101" pitchFamily="2" charset="-122"/>
                <a:cs typeface="宋体" panose="02010600030101010101" pitchFamily="2" charset="-122"/>
              </a:rPr>
              <a:t>、“混 合固液”名词</a:t>
            </a:r>
            <a:r>
              <a:rPr sz="1800" spc="-415" dirty="0">
                <a:latin typeface="宋体" panose="02010600030101010101" pitchFamily="2" charset="-122"/>
                <a:cs typeface="宋体" panose="02010600030101010101" pitchFamily="2" charset="-122"/>
              </a:rPr>
              <a:t> </a:t>
            </a:r>
            <a:r>
              <a:rPr sz="1800" dirty="0">
                <a:latin typeface="宋体" panose="02010600030101010101" pitchFamily="2" charset="-122"/>
                <a:cs typeface="宋体" panose="02010600030101010101" pitchFamily="2" charset="-122"/>
              </a:rPr>
              <a:t>等是不一样的。</a:t>
            </a:r>
            <a:endParaRPr sz="1800">
              <a:latin typeface="宋体" panose="02010600030101010101" pitchFamily="2" charset="-122"/>
              <a:cs typeface="宋体" panose="02010600030101010101" pitchFamily="2" charset="-122"/>
            </a:endParaRPr>
          </a:p>
        </p:txBody>
      </p:sp>
      <p:sp>
        <p:nvSpPr>
          <p:cNvPr id="4" name="object 4"/>
          <p:cNvSpPr txBox="1">
            <a:spLocks noGrp="1"/>
          </p:cNvSpPr>
          <p:nvPr>
            <p:ph type="title"/>
          </p:nvPr>
        </p:nvSpPr>
        <p:spPr>
          <a:xfrm>
            <a:off x="618490" y="228283"/>
            <a:ext cx="4159885" cy="689610"/>
          </a:xfrm>
          <a:prstGeom prst="rect">
            <a:avLst/>
          </a:prstGeom>
        </p:spPr>
        <p:txBody>
          <a:bodyPr vert="horz" wrap="square" lIns="0" tIns="12700" rIns="0" bIns="0" rtlCol="0">
            <a:spAutoFit/>
          </a:bodyPr>
          <a:lstStyle/>
          <a:p>
            <a:pPr marL="12700">
              <a:lnSpc>
                <a:spcPct val="100000"/>
              </a:lnSpc>
              <a:spcBef>
                <a:spcPts val="100"/>
              </a:spcBef>
            </a:pPr>
            <a:r>
              <a:rPr spc="5" dirty="0"/>
              <a:t>全固态锂电池</a:t>
            </a:r>
            <a:endParaRPr spc="5" dirty="0"/>
          </a:p>
        </p:txBody>
      </p:sp>
      <p:sp>
        <p:nvSpPr>
          <p:cNvPr id="5" name="object 5"/>
          <p:cNvSpPr txBox="1"/>
          <p:nvPr/>
        </p:nvSpPr>
        <p:spPr>
          <a:xfrm rot="18900000">
            <a:off x="-109676" y="6146183"/>
            <a:ext cx="1213920"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6" name="object 6"/>
          <p:cNvSpPr txBox="1"/>
          <p:nvPr/>
        </p:nvSpPr>
        <p:spPr>
          <a:xfrm rot="18900000">
            <a:off x="-270503"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7" name="object 7"/>
          <p:cNvSpPr txBox="1"/>
          <p:nvPr/>
        </p:nvSpPr>
        <p:spPr>
          <a:xfrm rot="18900000">
            <a:off x="-270503"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8" name="object 8"/>
          <p:cNvSpPr txBox="1"/>
          <p:nvPr/>
        </p:nvSpPr>
        <p:spPr>
          <a:xfrm rot="18900000">
            <a:off x="-270503"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9" name="object 9"/>
          <p:cNvSpPr txBox="1"/>
          <p:nvPr/>
        </p:nvSpPr>
        <p:spPr>
          <a:xfrm rot="18900000">
            <a:off x="-207607"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0" name="object 10"/>
          <p:cNvSpPr txBox="1"/>
          <p:nvPr/>
        </p:nvSpPr>
        <p:spPr>
          <a:xfrm rot="18900000">
            <a:off x="131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1" name="object 11"/>
          <p:cNvSpPr txBox="1"/>
          <p:nvPr/>
        </p:nvSpPr>
        <p:spPr>
          <a:xfrm rot="18900000">
            <a:off x="131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2" name="object 12"/>
          <p:cNvSpPr txBox="1"/>
          <p:nvPr/>
        </p:nvSpPr>
        <p:spPr>
          <a:xfrm rot="18900000">
            <a:off x="131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3" name="object 13"/>
          <p:cNvSpPr txBox="1"/>
          <p:nvPr/>
        </p:nvSpPr>
        <p:spPr>
          <a:xfrm rot="18900000">
            <a:off x="131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4" name="object 14"/>
          <p:cNvSpPr txBox="1"/>
          <p:nvPr/>
        </p:nvSpPr>
        <p:spPr>
          <a:xfrm rot="18900000">
            <a:off x="137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5" name="object 15"/>
          <p:cNvSpPr txBox="1"/>
          <p:nvPr/>
        </p:nvSpPr>
        <p:spPr>
          <a:xfrm rot="18900000">
            <a:off x="2904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6" name="object 16"/>
          <p:cNvSpPr txBox="1"/>
          <p:nvPr/>
        </p:nvSpPr>
        <p:spPr>
          <a:xfrm rot="18900000">
            <a:off x="2904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7" name="object 17"/>
          <p:cNvSpPr txBox="1"/>
          <p:nvPr/>
        </p:nvSpPr>
        <p:spPr>
          <a:xfrm rot="18900000">
            <a:off x="2904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8" name="object 18"/>
          <p:cNvSpPr txBox="1"/>
          <p:nvPr/>
        </p:nvSpPr>
        <p:spPr>
          <a:xfrm rot="18900000">
            <a:off x="2904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9" name="object 19"/>
          <p:cNvSpPr txBox="1"/>
          <p:nvPr/>
        </p:nvSpPr>
        <p:spPr>
          <a:xfrm rot="18900000">
            <a:off x="2967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0" name="object 20"/>
          <p:cNvSpPr txBox="1"/>
          <p:nvPr/>
        </p:nvSpPr>
        <p:spPr>
          <a:xfrm rot="18900000">
            <a:off x="4491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1" name="object 21"/>
          <p:cNvSpPr txBox="1"/>
          <p:nvPr/>
        </p:nvSpPr>
        <p:spPr>
          <a:xfrm rot="18900000">
            <a:off x="4491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2" name="object 22"/>
          <p:cNvSpPr txBox="1"/>
          <p:nvPr/>
        </p:nvSpPr>
        <p:spPr>
          <a:xfrm rot="18900000">
            <a:off x="4491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3" name="object 23"/>
          <p:cNvSpPr txBox="1"/>
          <p:nvPr/>
        </p:nvSpPr>
        <p:spPr>
          <a:xfrm rot="18900000">
            <a:off x="4491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4" name="object 24"/>
          <p:cNvSpPr txBox="1"/>
          <p:nvPr/>
        </p:nvSpPr>
        <p:spPr>
          <a:xfrm rot="18900000">
            <a:off x="4554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5" name="object 25"/>
          <p:cNvSpPr txBox="1"/>
          <p:nvPr/>
        </p:nvSpPr>
        <p:spPr>
          <a:xfrm rot="18900000">
            <a:off x="6079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6" name="object 26"/>
          <p:cNvSpPr txBox="1"/>
          <p:nvPr/>
        </p:nvSpPr>
        <p:spPr>
          <a:xfrm rot="18900000">
            <a:off x="6079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7" name="object 27"/>
          <p:cNvSpPr txBox="1"/>
          <p:nvPr/>
        </p:nvSpPr>
        <p:spPr>
          <a:xfrm rot="18900000">
            <a:off x="6079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8" name="object 28"/>
          <p:cNvSpPr txBox="1"/>
          <p:nvPr/>
        </p:nvSpPr>
        <p:spPr>
          <a:xfrm rot="18900000">
            <a:off x="6079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9" name="object 29"/>
          <p:cNvSpPr txBox="1"/>
          <p:nvPr/>
        </p:nvSpPr>
        <p:spPr>
          <a:xfrm rot="18900000">
            <a:off x="6142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0" name="object 30"/>
          <p:cNvSpPr txBox="1"/>
          <p:nvPr/>
        </p:nvSpPr>
        <p:spPr>
          <a:xfrm rot="18900000">
            <a:off x="766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1" name="object 31"/>
          <p:cNvSpPr txBox="1"/>
          <p:nvPr/>
        </p:nvSpPr>
        <p:spPr>
          <a:xfrm rot="18900000">
            <a:off x="766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2" name="object 32"/>
          <p:cNvSpPr txBox="1"/>
          <p:nvPr/>
        </p:nvSpPr>
        <p:spPr>
          <a:xfrm rot="18900000">
            <a:off x="766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3" name="object 33"/>
          <p:cNvSpPr txBox="1"/>
          <p:nvPr/>
        </p:nvSpPr>
        <p:spPr>
          <a:xfrm rot="18900000">
            <a:off x="766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4" name="object 34"/>
          <p:cNvSpPr txBox="1"/>
          <p:nvPr/>
        </p:nvSpPr>
        <p:spPr>
          <a:xfrm rot="18900000">
            <a:off x="772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Tree>
  </p:cSld>
  <p:clrMapOvr>
    <a:masterClrMapping/>
  </p:clrMapOvr>
  <p:transition>
    <p:randomBar dir="ver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5605" y="404495"/>
            <a:ext cx="6377940" cy="671195"/>
          </a:xfrm>
          <a:prstGeom prst="rect">
            <a:avLst/>
          </a:prstGeom>
        </p:spPr>
        <p:txBody>
          <a:bodyPr vert="horz" wrap="square" lIns="0" tIns="12700" rIns="0" bIns="0" rtlCol="0">
            <a:noAutofit/>
          </a:bodyPr>
          <a:lstStyle/>
          <a:p>
            <a:pPr marL="12700">
              <a:lnSpc>
                <a:spcPct val="100000"/>
              </a:lnSpc>
              <a:spcBef>
                <a:spcPts val="100"/>
              </a:spcBef>
            </a:pPr>
            <a:r>
              <a:rPr spc="5" dirty="0"/>
              <a:t>全固态锂电池的优点</a:t>
            </a:r>
            <a:endParaRPr spc="5" dirty="0"/>
          </a:p>
        </p:txBody>
      </p:sp>
      <p:sp>
        <p:nvSpPr>
          <p:cNvPr id="3" name="object 3"/>
          <p:cNvSpPr txBox="1"/>
          <p:nvPr/>
        </p:nvSpPr>
        <p:spPr>
          <a:xfrm>
            <a:off x="690168" y="1645665"/>
            <a:ext cx="6856095" cy="3044190"/>
          </a:xfrm>
          <a:prstGeom prst="rect">
            <a:avLst/>
          </a:prstGeom>
        </p:spPr>
        <p:txBody>
          <a:bodyPr vert="horz" wrap="square" lIns="0" tIns="12700" rIns="0" bIns="0" rtlCol="0">
            <a:spAutoFit/>
          </a:bodyPr>
          <a:lstStyle/>
          <a:p>
            <a:pPr marL="441960" indent="-429895">
              <a:lnSpc>
                <a:spcPct val="100000"/>
              </a:lnSpc>
              <a:spcBef>
                <a:spcPts val="100"/>
              </a:spcBef>
              <a:buClr>
                <a:srgbClr val="FFC000"/>
              </a:buClr>
              <a:buFont typeface="Wingdings" panose="05000000000000000000"/>
              <a:buChar char=""/>
              <a:tabLst>
                <a:tab pos="441325" algn="l"/>
                <a:tab pos="442595" algn="l"/>
              </a:tabLst>
            </a:pPr>
            <a:r>
              <a:rPr sz="1800" dirty="0">
                <a:latin typeface="宋体" panose="02010600030101010101" pitchFamily="2" charset="-122"/>
                <a:cs typeface="宋体" panose="02010600030101010101" pitchFamily="2" charset="-122"/>
              </a:rPr>
              <a:t>安全性高；</a:t>
            </a:r>
            <a:endParaRPr sz="1800">
              <a:latin typeface="宋体" panose="02010600030101010101" pitchFamily="2" charset="-122"/>
              <a:cs typeface="宋体" panose="02010600030101010101" pitchFamily="2" charset="-122"/>
            </a:endParaRPr>
          </a:p>
          <a:p>
            <a:pPr>
              <a:lnSpc>
                <a:spcPct val="100000"/>
              </a:lnSpc>
              <a:spcBef>
                <a:spcPts val="30"/>
              </a:spcBef>
              <a:buClr>
                <a:srgbClr val="FFC000"/>
              </a:buClr>
              <a:buFont typeface="Wingdings" panose="05000000000000000000"/>
              <a:buChar char=""/>
            </a:pPr>
            <a:endParaRPr sz="1850">
              <a:latin typeface="Times New Roman" panose="02020603050405020304"/>
              <a:cs typeface="Times New Roman" panose="02020603050405020304"/>
            </a:endParaRPr>
          </a:p>
          <a:p>
            <a:pPr marL="441960" indent="-429895">
              <a:lnSpc>
                <a:spcPct val="100000"/>
              </a:lnSpc>
              <a:buClr>
                <a:srgbClr val="FFC000"/>
              </a:buClr>
              <a:buFont typeface="Wingdings" panose="05000000000000000000"/>
              <a:buChar char=""/>
              <a:tabLst>
                <a:tab pos="441325" algn="l"/>
                <a:tab pos="442595" algn="l"/>
              </a:tabLst>
            </a:pPr>
            <a:r>
              <a:rPr sz="1800" dirty="0">
                <a:latin typeface="宋体" panose="02010600030101010101" pitchFamily="2" charset="-122"/>
                <a:cs typeface="宋体" panose="02010600030101010101" pitchFamily="2" charset="-122"/>
              </a:rPr>
              <a:t>能量密度高；</a:t>
            </a:r>
            <a:endParaRPr sz="1800">
              <a:latin typeface="宋体" panose="02010600030101010101" pitchFamily="2" charset="-122"/>
              <a:cs typeface="宋体" panose="02010600030101010101" pitchFamily="2" charset="-122"/>
            </a:endParaRPr>
          </a:p>
          <a:p>
            <a:pPr>
              <a:lnSpc>
                <a:spcPct val="100000"/>
              </a:lnSpc>
              <a:spcBef>
                <a:spcPts val="35"/>
              </a:spcBef>
              <a:buClr>
                <a:srgbClr val="FFC000"/>
              </a:buClr>
              <a:buFont typeface="Wingdings" panose="05000000000000000000"/>
              <a:buChar char=""/>
            </a:pPr>
            <a:endParaRPr sz="1850">
              <a:latin typeface="Times New Roman" panose="02020603050405020304"/>
              <a:cs typeface="Times New Roman" panose="02020603050405020304"/>
            </a:endParaRPr>
          </a:p>
          <a:p>
            <a:pPr marL="441960" indent="-429895">
              <a:lnSpc>
                <a:spcPct val="100000"/>
              </a:lnSpc>
              <a:buClr>
                <a:srgbClr val="FFC000"/>
              </a:buClr>
              <a:buFont typeface="Wingdings" panose="05000000000000000000"/>
              <a:buChar char=""/>
              <a:tabLst>
                <a:tab pos="441325" algn="l"/>
                <a:tab pos="442595" algn="l"/>
              </a:tabLst>
            </a:pPr>
            <a:r>
              <a:rPr sz="1800" dirty="0">
                <a:latin typeface="宋体" panose="02010600030101010101" pitchFamily="2" charset="-122"/>
                <a:cs typeface="宋体" panose="02010600030101010101" pitchFamily="2" charset="-122"/>
              </a:rPr>
              <a:t>工作温度范围宽，最高工作温度可达</a:t>
            </a:r>
            <a:r>
              <a:rPr sz="1800" dirty="0">
                <a:latin typeface="Times New Roman" panose="02020603050405020304"/>
                <a:cs typeface="Times New Roman" panose="02020603050405020304"/>
              </a:rPr>
              <a:t>300</a:t>
            </a:r>
            <a:r>
              <a:rPr sz="1800" dirty="0">
                <a:latin typeface="宋体" panose="02010600030101010101" pitchFamily="2" charset="-122"/>
                <a:cs typeface="宋体" panose="02010600030101010101" pitchFamily="2" charset="-122"/>
              </a:rPr>
              <a:t>度以上；</a:t>
            </a:r>
            <a:endParaRPr sz="1800">
              <a:latin typeface="宋体" panose="02010600030101010101" pitchFamily="2" charset="-122"/>
              <a:cs typeface="宋体" panose="02010600030101010101" pitchFamily="2" charset="-122"/>
            </a:endParaRPr>
          </a:p>
          <a:p>
            <a:pPr>
              <a:lnSpc>
                <a:spcPct val="100000"/>
              </a:lnSpc>
              <a:spcBef>
                <a:spcPts val="35"/>
              </a:spcBef>
              <a:buClr>
                <a:srgbClr val="FFC000"/>
              </a:buClr>
              <a:buFont typeface="Wingdings" panose="05000000000000000000"/>
              <a:buChar char=""/>
            </a:pPr>
            <a:endParaRPr sz="1850">
              <a:latin typeface="Times New Roman" panose="02020603050405020304"/>
              <a:cs typeface="Times New Roman" panose="02020603050405020304"/>
            </a:endParaRPr>
          </a:p>
          <a:p>
            <a:pPr marL="441960" indent="-429895">
              <a:lnSpc>
                <a:spcPct val="100000"/>
              </a:lnSpc>
              <a:buClr>
                <a:srgbClr val="FFC000"/>
              </a:buClr>
              <a:buFont typeface="Wingdings" panose="05000000000000000000"/>
              <a:buChar char=""/>
              <a:tabLst>
                <a:tab pos="441325" algn="l"/>
                <a:tab pos="442595" algn="l"/>
              </a:tabLst>
            </a:pPr>
            <a:r>
              <a:rPr sz="1800" dirty="0">
                <a:latin typeface="宋体" panose="02010600030101010101" pitchFamily="2" charset="-122"/>
                <a:cs typeface="宋体" panose="02010600030101010101" pitchFamily="2" charset="-122"/>
              </a:rPr>
              <a:t>具有柔性优势，未来可用于智能穿戴和可植入式医疗设备等；</a:t>
            </a:r>
            <a:endParaRPr sz="1800">
              <a:latin typeface="宋体" panose="02010600030101010101" pitchFamily="2" charset="-122"/>
              <a:cs typeface="宋体" panose="02010600030101010101" pitchFamily="2" charset="-122"/>
            </a:endParaRPr>
          </a:p>
          <a:p>
            <a:pPr>
              <a:lnSpc>
                <a:spcPct val="100000"/>
              </a:lnSpc>
              <a:spcBef>
                <a:spcPts val="30"/>
              </a:spcBef>
              <a:buClr>
                <a:srgbClr val="FFC000"/>
              </a:buClr>
              <a:buFont typeface="Wingdings" panose="05000000000000000000"/>
              <a:buChar char=""/>
            </a:pPr>
            <a:endParaRPr sz="1850">
              <a:latin typeface="Times New Roman" panose="02020603050405020304"/>
              <a:cs typeface="Times New Roman" panose="02020603050405020304"/>
            </a:endParaRPr>
          </a:p>
          <a:p>
            <a:pPr marL="441960" indent="-429895">
              <a:lnSpc>
                <a:spcPct val="100000"/>
              </a:lnSpc>
              <a:buClr>
                <a:srgbClr val="FFC000"/>
              </a:buClr>
              <a:buFont typeface="Wingdings" panose="05000000000000000000"/>
              <a:buChar char=""/>
              <a:tabLst>
                <a:tab pos="441325" algn="l"/>
                <a:tab pos="442595" algn="l"/>
              </a:tabLst>
            </a:pPr>
            <a:r>
              <a:rPr sz="1800" dirty="0">
                <a:latin typeface="宋体" panose="02010600030101010101" pitchFamily="2" charset="-122"/>
                <a:cs typeface="宋体" panose="02010600030101010101" pitchFamily="2" charset="-122"/>
              </a:rPr>
              <a:t>全固态电池技术是电池小型化，薄膜化的必经之路；</a:t>
            </a:r>
            <a:endParaRPr sz="1800">
              <a:latin typeface="宋体" panose="02010600030101010101" pitchFamily="2" charset="-122"/>
              <a:cs typeface="宋体" panose="02010600030101010101" pitchFamily="2" charset="-122"/>
            </a:endParaRPr>
          </a:p>
          <a:p>
            <a:pPr>
              <a:lnSpc>
                <a:spcPct val="100000"/>
              </a:lnSpc>
              <a:spcBef>
                <a:spcPts val="35"/>
              </a:spcBef>
              <a:buClr>
                <a:srgbClr val="FFC000"/>
              </a:buClr>
              <a:buFont typeface="Wingdings" panose="05000000000000000000"/>
              <a:buChar char=""/>
            </a:pPr>
            <a:endParaRPr sz="1850">
              <a:latin typeface="Times New Roman" panose="02020603050405020304"/>
              <a:cs typeface="Times New Roman" panose="02020603050405020304"/>
            </a:endParaRPr>
          </a:p>
          <a:p>
            <a:pPr marL="441960" indent="-429895">
              <a:lnSpc>
                <a:spcPct val="100000"/>
              </a:lnSpc>
              <a:buClr>
                <a:srgbClr val="FFC000"/>
              </a:buClr>
              <a:buFont typeface="Wingdings" panose="05000000000000000000"/>
              <a:buChar char=""/>
              <a:tabLst>
                <a:tab pos="441325" algn="l"/>
                <a:tab pos="442595" algn="l"/>
              </a:tabLst>
            </a:pPr>
            <a:r>
              <a:rPr sz="1800" spc="-5" dirty="0">
                <a:latin typeface="宋体" panose="02010600030101010101" pitchFamily="2" charset="-122"/>
                <a:cs typeface="宋体" panose="02010600030101010101" pitchFamily="2" charset="-122"/>
              </a:rPr>
              <a:t>全固态锂电池没有液态电解液和隔膜，回收再利用也较为便利。</a:t>
            </a:r>
            <a:endParaRPr sz="1800">
              <a:latin typeface="宋体" panose="02010600030101010101" pitchFamily="2" charset="-122"/>
              <a:cs typeface="宋体" panose="02010600030101010101" pitchFamily="2" charset="-122"/>
            </a:endParaRPr>
          </a:p>
        </p:txBody>
      </p:sp>
      <p:sp>
        <p:nvSpPr>
          <p:cNvPr id="4" name="object 4"/>
          <p:cNvSpPr txBox="1"/>
          <p:nvPr/>
        </p:nvSpPr>
        <p:spPr>
          <a:xfrm rot="18900000">
            <a:off x="-109676" y="6146183"/>
            <a:ext cx="1213920"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5" name="object 5"/>
          <p:cNvSpPr txBox="1"/>
          <p:nvPr/>
        </p:nvSpPr>
        <p:spPr>
          <a:xfrm rot="18900000">
            <a:off x="-270503"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6" name="object 6"/>
          <p:cNvSpPr txBox="1"/>
          <p:nvPr/>
        </p:nvSpPr>
        <p:spPr>
          <a:xfrm rot="18900000">
            <a:off x="-270503"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7" name="object 7"/>
          <p:cNvSpPr txBox="1"/>
          <p:nvPr/>
        </p:nvSpPr>
        <p:spPr>
          <a:xfrm rot="18900000">
            <a:off x="-270503"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8" name="object 8"/>
          <p:cNvSpPr txBox="1"/>
          <p:nvPr/>
        </p:nvSpPr>
        <p:spPr>
          <a:xfrm rot="18900000">
            <a:off x="-207607"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9" name="object 9"/>
          <p:cNvSpPr txBox="1"/>
          <p:nvPr/>
        </p:nvSpPr>
        <p:spPr>
          <a:xfrm rot="18900000">
            <a:off x="131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0" name="object 10"/>
          <p:cNvSpPr txBox="1"/>
          <p:nvPr/>
        </p:nvSpPr>
        <p:spPr>
          <a:xfrm rot="18900000">
            <a:off x="131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1" name="object 11"/>
          <p:cNvSpPr txBox="1"/>
          <p:nvPr/>
        </p:nvSpPr>
        <p:spPr>
          <a:xfrm rot="18900000">
            <a:off x="131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2" name="object 12"/>
          <p:cNvSpPr txBox="1"/>
          <p:nvPr/>
        </p:nvSpPr>
        <p:spPr>
          <a:xfrm rot="18900000">
            <a:off x="131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3" name="object 13"/>
          <p:cNvSpPr txBox="1"/>
          <p:nvPr/>
        </p:nvSpPr>
        <p:spPr>
          <a:xfrm rot="18900000">
            <a:off x="137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4" name="object 14"/>
          <p:cNvSpPr txBox="1"/>
          <p:nvPr/>
        </p:nvSpPr>
        <p:spPr>
          <a:xfrm rot="18900000">
            <a:off x="2904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5" name="object 15"/>
          <p:cNvSpPr txBox="1"/>
          <p:nvPr/>
        </p:nvSpPr>
        <p:spPr>
          <a:xfrm rot="18900000">
            <a:off x="2904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6" name="object 16"/>
          <p:cNvSpPr txBox="1"/>
          <p:nvPr/>
        </p:nvSpPr>
        <p:spPr>
          <a:xfrm rot="18900000">
            <a:off x="2904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7" name="object 17"/>
          <p:cNvSpPr txBox="1"/>
          <p:nvPr/>
        </p:nvSpPr>
        <p:spPr>
          <a:xfrm rot="18900000">
            <a:off x="2904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8" name="object 18"/>
          <p:cNvSpPr txBox="1"/>
          <p:nvPr/>
        </p:nvSpPr>
        <p:spPr>
          <a:xfrm rot="18900000">
            <a:off x="2967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9" name="object 19"/>
          <p:cNvSpPr txBox="1"/>
          <p:nvPr/>
        </p:nvSpPr>
        <p:spPr>
          <a:xfrm rot="18900000">
            <a:off x="4491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0" name="object 20"/>
          <p:cNvSpPr txBox="1"/>
          <p:nvPr/>
        </p:nvSpPr>
        <p:spPr>
          <a:xfrm rot="18900000">
            <a:off x="4491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1" name="object 21"/>
          <p:cNvSpPr txBox="1"/>
          <p:nvPr/>
        </p:nvSpPr>
        <p:spPr>
          <a:xfrm rot="18900000">
            <a:off x="4491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2" name="object 22"/>
          <p:cNvSpPr txBox="1"/>
          <p:nvPr/>
        </p:nvSpPr>
        <p:spPr>
          <a:xfrm rot="18900000">
            <a:off x="4491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3" name="object 23"/>
          <p:cNvSpPr txBox="1"/>
          <p:nvPr/>
        </p:nvSpPr>
        <p:spPr>
          <a:xfrm rot="18900000">
            <a:off x="4554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4" name="object 24"/>
          <p:cNvSpPr txBox="1"/>
          <p:nvPr/>
        </p:nvSpPr>
        <p:spPr>
          <a:xfrm rot="18900000">
            <a:off x="6079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5" name="object 25"/>
          <p:cNvSpPr txBox="1"/>
          <p:nvPr/>
        </p:nvSpPr>
        <p:spPr>
          <a:xfrm rot="18900000">
            <a:off x="6079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6" name="object 26"/>
          <p:cNvSpPr txBox="1"/>
          <p:nvPr/>
        </p:nvSpPr>
        <p:spPr>
          <a:xfrm rot="18900000">
            <a:off x="6079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7" name="object 27"/>
          <p:cNvSpPr txBox="1"/>
          <p:nvPr/>
        </p:nvSpPr>
        <p:spPr>
          <a:xfrm rot="18900000">
            <a:off x="6079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8" name="object 28"/>
          <p:cNvSpPr txBox="1"/>
          <p:nvPr/>
        </p:nvSpPr>
        <p:spPr>
          <a:xfrm rot="18900000">
            <a:off x="6142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9" name="object 29"/>
          <p:cNvSpPr txBox="1"/>
          <p:nvPr/>
        </p:nvSpPr>
        <p:spPr>
          <a:xfrm rot="18900000">
            <a:off x="766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0" name="object 30"/>
          <p:cNvSpPr txBox="1"/>
          <p:nvPr/>
        </p:nvSpPr>
        <p:spPr>
          <a:xfrm rot="18900000">
            <a:off x="766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1" name="object 31"/>
          <p:cNvSpPr txBox="1"/>
          <p:nvPr/>
        </p:nvSpPr>
        <p:spPr>
          <a:xfrm rot="18900000">
            <a:off x="766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2" name="object 32"/>
          <p:cNvSpPr txBox="1"/>
          <p:nvPr/>
        </p:nvSpPr>
        <p:spPr>
          <a:xfrm rot="18900000">
            <a:off x="766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3" name="object 33"/>
          <p:cNvSpPr txBox="1"/>
          <p:nvPr/>
        </p:nvSpPr>
        <p:spPr>
          <a:xfrm rot="18900000">
            <a:off x="772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Tree>
  </p:cSld>
  <p:clrMapOvr>
    <a:masterClrMapping/>
  </p:clrMapOvr>
  <p:transition>
    <p:randomBar dir="ver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4345" y="574675"/>
            <a:ext cx="5010150" cy="566420"/>
          </a:xfrm>
          <a:prstGeom prst="rect">
            <a:avLst/>
          </a:prstGeom>
        </p:spPr>
        <p:txBody>
          <a:bodyPr vert="horz" wrap="square" lIns="0" tIns="12700" rIns="0" bIns="0" rtlCol="0">
            <a:spAutoFit/>
          </a:bodyPr>
          <a:lstStyle/>
          <a:p>
            <a:pPr marL="12700">
              <a:lnSpc>
                <a:spcPct val="100000"/>
              </a:lnSpc>
              <a:spcBef>
                <a:spcPts val="100"/>
              </a:spcBef>
            </a:pPr>
            <a:r>
              <a:rPr spc="10" dirty="0"/>
              <a:t>全固态锂电池的构造</a:t>
            </a:r>
            <a:endParaRPr spc="10" dirty="0"/>
          </a:p>
        </p:txBody>
      </p:sp>
      <p:sp>
        <p:nvSpPr>
          <p:cNvPr id="3" name="object 3"/>
          <p:cNvSpPr txBox="1"/>
          <p:nvPr/>
        </p:nvSpPr>
        <p:spPr>
          <a:xfrm rot="18900000">
            <a:off x="-109676" y="6146183"/>
            <a:ext cx="1213920"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4" name="object 4"/>
          <p:cNvSpPr txBox="1"/>
          <p:nvPr/>
        </p:nvSpPr>
        <p:spPr>
          <a:xfrm rot="18900000">
            <a:off x="-270503"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5" name="object 5"/>
          <p:cNvSpPr txBox="1"/>
          <p:nvPr/>
        </p:nvSpPr>
        <p:spPr>
          <a:xfrm rot="18900000">
            <a:off x="-270503"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6" name="object 6"/>
          <p:cNvSpPr txBox="1"/>
          <p:nvPr/>
        </p:nvSpPr>
        <p:spPr>
          <a:xfrm rot="18900000">
            <a:off x="-270503"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7" name="object 7"/>
          <p:cNvSpPr txBox="1"/>
          <p:nvPr/>
        </p:nvSpPr>
        <p:spPr>
          <a:xfrm rot="18900000">
            <a:off x="-207607"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8" name="object 8"/>
          <p:cNvSpPr txBox="1"/>
          <p:nvPr/>
        </p:nvSpPr>
        <p:spPr>
          <a:xfrm rot="18900000">
            <a:off x="131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9" name="object 9"/>
          <p:cNvSpPr txBox="1"/>
          <p:nvPr/>
        </p:nvSpPr>
        <p:spPr>
          <a:xfrm rot="18900000">
            <a:off x="131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0" name="object 10"/>
          <p:cNvSpPr txBox="1"/>
          <p:nvPr/>
        </p:nvSpPr>
        <p:spPr>
          <a:xfrm rot="18900000">
            <a:off x="131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1" name="object 11"/>
          <p:cNvSpPr txBox="1"/>
          <p:nvPr/>
        </p:nvSpPr>
        <p:spPr>
          <a:xfrm rot="18900000">
            <a:off x="131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2" name="object 12"/>
          <p:cNvSpPr txBox="1"/>
          <p:nvPr/>
        </p:nvSpPr>
        <p:spPr>
          <a:xfrm rot="18900000">
            <a:off x="137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3" name="object 13"/>
          <p:cNvSpPr txBox="1"/>
          <p:nvPr/>
        </p:nvSpPr>
        <p:spPr>
          <a:xfrm rot="18900000">
            <a:off x="2904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4" name="object 14"/>
          <p:cNvSpPr txBox="1"/>
          <p:nvPr/>
        </p:nvSpPr>
        <p:spPr>
          <a:xfrm rot="18900000">
            <a:off x="2904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5" name="object 15"/>
          <p:cNvSpPr txBox="1"/>
          <p:nvPr/>
        </p:nvSpPr>
        <p:spPr>
          <a:xfrm rot="18900000">
            <a:off x="2904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6" name="object 16"/>
          <p:cNvSpPr txBox="1"/>
          <p:nvPr/>
        </p:nvSpPr>
        <p:spPr>
          <a:xfrm rot="18900000">
            <a:off x="2904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7" name="object 17"/>
          <p:cNvSpPr txBox="1"/>
          <p:nvPr/>
        </p:nvSpPr>
        <p:spPr>
          <a:xfrm rot="18900000">
            <a:off x="2967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8" name="object 18"/>
          <p:cNvSpPr txBox="1"/>
          <p:nvPr/>
        </p:nvSpPr>
        <p:spPr>
          <a:xfrm rot="18900000">
            <a:off x="4491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9" name="object 19"/>
          <p:cNvSpPr txBox="1"/>
          <p:nvPr/>
        </p:nvSpPr>
        <p:spPr>
          <a:xfrm rot="18900000">
            <a:off x="4491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0" name="object 20"/>
          <p:cNvSpPr txBox="1"/>
          <p:nvPr/>
        </p:nvSpPr>
        <p:spPr>
          <a:xfrm rot="18900000">
            <a:off x="4491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1" name="object 21"/>
          <p:cNvSpPr txBox="1"/>
          <p:nvPr/>
        </p:nvSpPr>
        <p:spPr>
          <a:xfrm rot="18900000">
            <a:off x="4491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2" name="object 22"/>
          <p:cNvSpPr txBox="1"/>
          <p:nvPr/>
        </p:nvSpPr>
        <p:spPr>
          <a:xfrm rot="18900000">
            <a:off x="4554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3" name="object 23"/>
          <p:cNvSpPr txBox="1"/>
          <p:nvPr/>
        </p:nvSpPr>
        <p:spPr>
          <a:xfrm rot="18900000">
            <a:off x="6079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4" name="object 24"/>
          <p:cNvSpPr txBox="1"/>
          <p:nvPr/>
        </p:nvSpPr>
        <p:spPr>
          <a:xfrm rot="18900000">
            <a:off x="6079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5" name="object 25"/>
          <p:cNvSpPr txBox="1"/>
          <p:nvPr/>
        </p:nvSpPr>
        <p:spPr>
          <a:xfrm rot="18900000">
            <a:off x="6079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6" name="object 26"/>
          <p:cNvSpPr txBox="1"/>
          <p:nvPr/>
        </p:nvSpPr>
        <p:spPr>
          <a:xfrm rot="18900000">
            <a:off x="6079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7" name="object 27"/>
          <p:cNvSpPr txBox="1"/>
          <p:nvPr/>
        </p:nvSpPr>
        <p:spPr>
          <a:xfrm rot="18900000">
            <a:off x="6142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8" name="object 28"/>
          <p:cNvSpPr txBox="1"/>
          <p:nvPr/>
        </p:nvSpPr>
        <p:spPr>
          <a:xfrm rot="18900000">
            <a:off x="766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9" name="object 29"/>
          <p:cNvSpPr txBox="1"/>
          <p:nvPr/>
        </p:nvSpPr>
        <p:spPr>
          <a:xfrm rot="18900000">
            <a:off x="766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0" name="object 30"/>
          <p:cNvSpPr txBox="1"/>
          <p:nvPr/>
        </p:nvSpPr>
        <p:spPr>
          <a:xfrm rot="18900000">
            <a:off x="766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1" name="object 31"/>
          <p:cNvSpPr txBox="1"/>
          <p:nvPr/>
        </p:nvSpPr>
        <p:spPr>
          <a:xfrm rot="18900000">
            <a:off x="766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2" name="object 32"/>
          <p:cNvSpPr txBox="1"/>
          <p:nvPr/>
        </p:nvSpPr>
        <p:spPr>
          <a:xfrm rot="18900000">
            <a:off x="772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84212" y="1268349"/>
            <a:ext cx="7532643" cy="3351983"/>
          </a:xfrm>
          <a:prstGeom prst="rect">
            <a:avLst/>
          </a:prstGeom>
          <a:blipFill>
            <a:blip r:embed="rId1" cstate="print"/>
            <a:stretch>
              <a:fillRect/>
            </a:stretch>
          </a:blipFill>
        </p:spPr>
        <p:txBody>
          <a:bodyPr wrap="square" lIns="0" tIns="0" rIns="0" bIns="0" rtlCol="0"/>
          <a:lstStyle/>
          <a:p>
            <a:endParaRPr sz="1800"/>
          </a:p>
        </p:txBody>
      </p:sp>
      <p:sp>
        <p:nvSpPr>
          <p:cNvPr id="3" name="object 3"/>
          <p:cNvSpPr txBox="1"/>
          <p:nvPr/>
        </p:nvSpPr>
        <p:spPr>
          <a:xfrm>
            <a:off x="924864" y="5065902"/>
            <a:ext cx="6789420" cy="756920"/>
          </a:xfrm>
          <a:prstGeom prst="rect">
            <a:avLst/>
          </a:prstGeom>
        </p:spPr>
        <p:txBody>
          <a:bodyPr vert="horz" wrap="square" lIns="0" tIns="12065" rIns="0" bIns="0" rtlCol="0">
            <a:spAutoFit/>
          </a:bodyPr>
          <a:lstStyle/>
          <a:p>
            <a:pPr algn="ctr">
              <a:lnSpc>
                <a:spcPct val="100000"/>
              </a:lnSpc>
              <a:spcBef>
                <a:spcPts val="95"/>
              </a:spcBef>
            </a:pPr>
            <a:r>
              <a:rPr sz="1600" spc="-5" dirty="0">
                <a:solidFill>
                  <a:srgbClr val="006FC0"/>
                </a:solidFill>
                <a:latin typeface="Arial" panose="020B0604020202020204"/>
                <a:cs typeface="Arial" panose="020B0604020202020204"/>
              </a:rPr>
              <a:t>Characteristic comparison of various kinds of </a:t>
            </a:r>
            <a:r>
              <a:rPr sz="1600" dirty="0">
                <a:solidFill>
                  <a:srgbClr val="006FC0"/>
                </a:solidFill>
                <a:latin typeface="Arial" panose="020B0604020202020204"/>
                <a:cs typeface="Arial" panose="020B0604020202020204"/>
              </a:rPr>
              <a:t>lithium-based </a:t>
            </a:r>
            <a:r>
              <a:rPr sz="1600" spc="-5" dirty="0">
                <a:solidFill>
                  <a:srgbClr val="006FC0"/>
                </a:solidFill>
                <a:latin typeface="Arial" panose="020B0604020202020204"/>
                <a:cs typeface="Arial" panose="020B0604020202020204"/>
              </a:rPr>
              <a:t>secondary</a:t>
            </a:r>
            <a:r>
              <a:rPr sz="1600" spc="80" dirty="0">
                <a:solidFill>
                  <a:srgbClr val="006FC0"/>
                </a:solidFill>
                <a:latin typeface="Arial" panose="020B0604020202020204"/>
                <a:cs typeface="Arial" panose="020B0604020202020204"/>
              </a:rPr>
              <a:t> </a:t>
            </a:r>
            <a:r>
              <a:rPr sz="1600" spc="-5" dirty="0">
                <a:solidFill>
                  <a:srgbClr val="006FC0"/>
                </a:solidFill>
                <a:latin typeface="Arial" panose="020B0604020202020204"/>
                <a:cs typeface="Arial" panose="020B0604020202020204"/>
              </a:rPr>
              <a:t>cells</a:t>
            </a:r>
            <a:endParaRPr sz="1600">
              <a:latin typeface="Arial" panose="020B0604020202020204"/>
              <a:cs typeface="Arial" panose="020B0604020202020204"/>
            </a:endParaRPr>
          </a:p>
          <a:p>
            <a:pPr>
              <a:lnSpc>
                <a:spcPct val="100000"/>
              </a:lnSpc>
              <a:spcBef>
                <a:spcPts val="25"/>
              </a:spcBef>
            </a:pPr>
            <a:endParaRPr sz="1650">
              <a:latin typeface="Times New Roman" panose="02020603050405020304"/>
              <a:cs typeface="Times New Roman" panose="02020603050405020304"/>
            </a:endParaRPr>
          </a:p>
          <a:p>
            <a:pPr marL="3175" algn="ctr">
              <a:lnSpc>
                <a:spcPct val="100000"/>
              </a:lnSpc>
            </a:pPr>
            <a:r>
              <a:rPr sz="1600" b="1" spc="5" dirty="0">
                <a:solidFill>
                  <a:srgbClr val="6F2F9F"/>
                </a:solidFill>
                <a:latin typeface="Microsoft JhengHei" panose="020B0604030504040204" charset="-120"/>
                <a:cs typeface="Microsoft JhengHei" panose="020B0604030504040204" charset="-120"/>
              </a:rPr>
              <a:t>不同类型锂基电池的特性比较</a:t>
            </a:r>
            <a:endParaRPr sz="1600">
              <a:latin typeface="Microsoft JhengHei" panose="020B0604030504040204" charset="-120"/>
              <a:cs typeface="Microsoft JhengHei" panose="020B0604030504040204" charset="-120"/>
            </a:endParaRPr>
          </a:p>
        </p:txBody>
      </p:sp>
      <p:sp>
        <p:nvSpPr>
          <p:cNvPr id="4" name="object 4"/>
          <p:cNvSpPr txBox="1"/>
          <p:nvPr/>
        </p:nvSpPr>
        <p:spPr>
          <a:xfrm rot="18900000">
            <a:off x="-109676" y="6146183"/>
            <a:ext cx="1213920"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5" name="object 5"/>
          <p:cNvSpPr txBox="1"/>
          <p:nvPr/>
        </p:nvSpPr>
        <p:spPr>
          <a:xfrm rot="18900000">
            <a:off x="-270503"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6" name="object 6"/>
          <p:cNvSpPr txBox="1"/>
          <p:nvPr/>
        </p:nvSpPr>
        <p:spPr>
          <a:xfrm rot="18900000">
            <a:off x="-270503"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7" name="object 7"/>
          <p:cNvSpPr txBox="1"/>
          <p:nvPr/>
        </p:nvSpPr>
        <p:spPr>
          <a:xfrm rot="18900000">
            <a:off x="-270503"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8" name="object 8"/>
          <p:cNvSpPr txBox="1"/>
          <p:nvPr/>
        </p:nvSpPr>
        <p:spPr>
          <a:xfrm rot="18900000">
            <a:off x="-207607"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9" name="object 9"/>
          <p:cNvSpPr txBox="1"/>
          <p:nvPr/>
        </p:nvSpPr>
        <p:spPr>
          <a:xfrm rot="18900000">
            <a:off x="131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0" name="object 10"/>
          <p:cNvSpPr txBox="1"/>
          <p:nvPr/>
        </p:nvSpPr>
        <p:spPr>
          <a:xfrm rot="18900000">
            <a:off x="131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1" name="object 11"/>
          <p:cNvSpPr txBox="1"/>
          <p:nvPr/>
        </p:nvSpPr>
        <p:spPr>
          <a:xfrm rot="18900000">
            <a:off x="131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2" name="object 12"/>
          <p:cNvSpPr txBox="1"/>
          <p:nvPr/>
        </p:nvSpPr>
        <p:spPr>
          <a:xfrm rot="18900000">
            <a:off x="131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3" name="object 13"/>
          <p:cNvSpPr txBox="1"/>
          <p:nvPr/>
        </p:nvSpPr>
        <p:spPr>
          <a:xfrm rot="18900000">
            <a:off x="137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4" name="object 14"/>
          <p:cNvSpPr txBox="1"/>
          <p:nvPr/>
        </p:nvSpPr>
        <p:spPr>
          <a:xfrm rot="18900000">
            <a:off x="2904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5" name="object 15"/>
          <p:cNvSpPr txBox="1"/>
          <p:nvPr/>
        </p:nvSpPr>
        <p:spPr>
          <a:xfrm rot="18900000">
            <a:off x="2904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6" name="object 16"/>
          <p:cNvSpPr txBox="1"/>
          <p:nvPr/>
        </p:nvSpPr>
        <p:spPr>
          <a:xfrm rot="18900000">
            <a:off x="2904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7" name="object 17"/>
          <p:cNvSpPr txBox="1"/>
          <p:nvPr/>
        </p:nvSpPr>
        <p:spPr>
          <a:xfrm rot="18900000">
            <a:off x="2904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8" name="object 18"/>
          <p:cNvSpPr txBox="1"/>
          <p:nvPr/>
        </p:nvSpPr>
        <p:spPr>
          <a:xfrm rot="18900000">
            <a:off x="2967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9" name="object 19"/>
          <p:cNvSpPr txBox="1"/>
          <p:nvPr/>
        </p:nvSpPr>
        <p:spPr>
          <a:xfrm rot="18900000">
            <a:off x="4491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0" name="object 20"/>
          <p:cNvSpPr txBox="1"/>
          <p:nvPr/>
        </p:nvSpPr>
        <p:spPr>
          <a:xfrm rot="18900000">
            <a:off x="4491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1" name="object 21"/>
          <p:cNvSpPr txBox="1"/>
          <p:nvPr/>
        </p:nvSpPr>
        <p:spPr>
          <a:xfrm rot="18900000">
            <a:off x="4491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2" name="object 22"/>
          <p:cNvSpPr txBox="1"/>
          <p:nvPr/>
        </p:nvSpPr>
        <p:spPr>
          <a:xfrm rot="18900000">
            <a:off x="4491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3" name="object 23"/>
          <p:cNvSpPr txBox="1"/>
          <p:nvPr/>
        </p:nvSpPr>
        <p:spPr>
          <a:xfrm rot="18900000">
            <a:off x="4554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4" name="object 24"/>
          <p:cNvSpPr txBox="1"/>
          <p:nvPr/>
        </p:nvSpPr>
        <p:spPr>
          <a:xfrm rot="18900000">
            <a:off x="6079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5" name="object 25"/>
          <p:cNvSpPr txBox="1"/>
          <p:nvPr/>
        </p:nvSpPr>
        <p:spPr>
          <a:xfrm rot="18900000">
            <a:off x="6079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6" name="object 26"/>
          <p:cNvSpPr txBox="1"/>
          <p:nvPr/>
        </p:nvSpPr>
        <p:spPr>
          <a:xfrm rot="18900000">
            <a:off x="6079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7" name="object 27"/>
          <p:cNvSpPr txBox="1"/>
          <p:nvPr/>
        </p:nvSpPr>
        <p:spPr>
          <a:xfrm rot="18900000">
            <a:off x="6079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8" name="object 28"/>
          <p:cNvSpPr txBox="1"/>
          <p:nvPr/>
        </p:nvSpPr>
        <p:spPr>
          <a:xfrm rot="18900000">
            <a:off x="6142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9" name="object 29"/>
          <p:cNvSpPr txBox="1"/>
          <p:nvPr/>
        </p:nvSpPr>
        <p:spPr>
          <a:xfrm rot="18900000">
            <a:off x="766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0" name="object 30"/>
          <p:cNvSpPr txBox="1"/>
          <p:nvPr/>
        </p:nvSpPr>
        <p:spPr>
          <a:xfrm rot="18900000">
            <a:off x="766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1" name="object 31"/>
          <p:cNvSpPr txBox="1"/>
          <p:nvPr/>
        </p:nvSpPr>
        <p:spPr>
          <a:xfrm rot="18900000">
            <a:off x="766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2" name="object 32"/>
          <p:cNvSpPr txBox="1"/>
          <p:nvPr/>
        </p:nvSpPr>
        <p:spPr>
          <a:xfrm rot="18900000">
            <a:off x="766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3" name="object 33"/>
          <p:cNvSpPr txBox="1"/>
          <p:nvPr/>
        </p:nvSpPr>
        <p:spPr>
          <a:xfrm rot="18900000">
            <a:off x="772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Tree>
  </p:cSld>
  <p:clrMapOvr>
    <a:masterClrMapping/>
  </p:clrMapOvr>
  <p:transition>
    <p:randomBar dir="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838828" y="2105482"/>
            <a:ext cx="1339215" cy="1046480"/>
          </a:xfrm>
          <a:custGeom>
            <a:avLst/>
            <a:gdLst/>
            <a:ahLst/>
            <a:cxnLst/>
            <a:rect l="l" t="t" r="r" b="b"/>
            <a:pathLst>
              <a:path w="1339214" h="1046480">
                <a:moveTo>
                  <a:pt x="0" y="1046149"/>
                </a:moveTo>
                <a:lnTo>
                  <a:pt x="1338834" y="1046149"/>
                </a:lnTo>
                <a:lnTo>
                  <a:pt x="1338834" y="0"/>
                </a:lnTo>
                <a:lnTo>
                  <a:pt x="0" y="0"/>
                </a:lnTo>
                <a:lnTo>
                  <a:pt x="0" y="1046149"/>
                </a:lnTo>
                <a:close/>
              </a:path>
            </a:pathLst>
          </a:custGeom>
          <a:solidFill>
            <a:srgbClr val="F7E9E7"/>
          </a:solidFill>
        </p:spPr>
        <p:txBody>
          <a:bodyPr wrap="square" lIns="0" tIns="0" rIns="0" bIns="0" rtlCol="0"/>
          <a:lstStyle/>
          <a:p>
            <a:endParaRPr sz="1800"/>
          </a:p>
        </p:txBody>
      </p:sp>
      <p:sp>
        <p:nvSpPr>
          <p:cNvPr id="3" name="object 3"/>
          <p:cNvSpPr/>
          <p:nvPr/>
        </p:nvSpPr>
        <p:spPr>
          <a:xfrm>
            <a:off x="3838828" y="3151517"/>
            <a:ext cx="1339215" cy="1080135"/>
          </a:xfrm>
          <a:custGeom>
            <a:avLst/>
            <a:gdLst/>
            <a:ahLst/>
            <a:cxnLst/>
            <a:rect l="l" t="t" r="r" b="b"/>
            <a:pathLst>
              <a:path w="1339214" h="1080135">
                <a:moveTo>
                  <a:pt x="0" y="1080122"/>
                </a:moveTo>
                <a:lnTo>
                  <a:pt x="1338834" y="1080122"/>
                </a:lnTo>
                <a:lnTo>
                  <a:pt x="1338834" y="0"/>
                </a:lnTo>
                <a:lnTo>
                  <a:pt x="0" y="0"/>
                </a:lnTo>
                <a:lnTo>
                  <a:pt x="0" y="1080122"/>
                </a:lnTo>
                <a:close/>
              </a:path>
            </a:pathLst>
          </a:custGeom>
          <a:solidFill>
            <a:srgbClr val="EECFCC"/>
          </a:solidFill>
        </p:spPr>
        <p:txBody>
          <a:bodyPr wrap="square" lIns="0" tIns="0" rIns="0" bIns="0" rtlCol="0"/>
          <a:lstStyle/>
          <a:p>
            <a:endParaRPr sz="1800"/>
          </a:p>
        </p:txBody>
      </p:sp>
      <p:graphicFrame>
        <p:nvGraphicFramePr>
          <p:cNvPr id="4" name="object 4"/>
          <p:cNvGraphicFramePr>
            <a:graphicFrameLocks noGrp="1"/>
          </p:cNvGraphicFramePr>
          <p:nvPr/>
        </p:nvGraphicFramePr>
        <p:xfrm>
          <a:off x="604837" y="1406525"/>
          <a:ext cx="8156575" cy="4992370"/>
        </p:xfrm>
        <a:graphic>
          <a:graphicData uri="http://schemas.openxmlformats.org/drawingml/2006/table">
            <a:tbl>
              <a:tblPr firstRow="1" bandRow="1">
                <a:tableStyleId>{2D5ABB26-0587-4C30-8999-92F81FD0307C}</a:tableStyleId>
              </a:tblPr>
              <a:tblGrid>
                <a:gridCol w="1293495"/>
                <a:gridCol w="1933575"/>
                <a:gridCol w="1335405"/>
                <a:gridCol w="1267460"/>
                <a:gridCol w="1115694"/>
                <a:gridCol w="1189990"/>
              </a:tblGrid>
              <a:tr h="365760">
                <a:tc rowSpan="2">
                  <a:txBody>
                    <a:bodyPr/>
                    <a:lstStyle/>
                    <a:p>
                      <a:pPr marL="186055">
                        <a:lnSpc>
                          <a:spcPct val="100000"/>
                        </a:lnSpc>
                        <a:spcBef>
                          <a:spcPts val="1360"/>
                        </a:spcBef>
                      </a:pPr>
                      <a:r>
                        <a:rPr sz="1800" b="1" spc="10" dirty="0">
                          <a:solidFill>
                            <a:srgbClr val="FFFFFF"/>
                          </a:solidFill>
                          <a:latin typeface="Microsoft JhengHei" panose="020B0604030504040204" charset="-120"/>
                          <a:cs typeface="Microsoft JhengHei" panose="020B0604030504040204" charset="-120"/>
                        </a:rPr>
                        <a:t>材料种类</a:t>
                      </a:r>
                      <a:endParaRPr sz="1800">
                        <a:latin typeface="Microsoft JhengHei" panose="020B0604030504040204" charset="-120"/>
                        <a:cs typeface="Microsoft JhengHei" panose="020B0604030504040204" charset="-120"/>
                      </a:endParaRPr>
                    </a:p>
                  </a:txBody>
                  <a:tcPr marL="0" marR="0" marT="1727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4717"/>
                    </a:solidFill>
                  </a:tcPr>
                </a:tc>
                <a:tc rowSpan="2">
                  <a:txBody>
                    <a:bodyPr/>
                    <a:lstStyle/>
                    <a:p>
                      <a:pPr marL="506095">
                        <a:lnSpc>
                          <a:spcPct val="100000"/>
                        </a:lnSpc>
                        <a:spcBef>
                          <a:spcPts val="1360"/>
                        </a:spcBef>
                      </a:pPr>
                      <a:r>
                        <a:rPr sz="1800" b="1" spc="10" dirty="0">
                          <a:solidFill>
                            <a:srgbClr val="FFFFFF"/>
                          </a:solidFill>
                          <a:latin typeface="Microsoft JhengHei" panose="020B0604030504040204" charset="-120"/>
                          <a:cs typeface="Microsoft JhengHei" panose="020B0604030504040204" charset="-120"/>
                        </a:rPr>
                        <a:t>材料体系</a:t>
                      </a:r>
                      <a:endParaRPr sz="1800">
                        <a:latin typeface="Microsoft JhengHei" panose="020B0604030504040204" charset="-120"/>
                        <a:cs typeface="Microsoft JhengHei" panose="020B0604030504040204" charset="-120"/>
                      </a:endParaRPr>
                    </a:p>
                  </a:txBody>
                  <a:tcPr marL="0" marR="0" marT="1727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4717"/>
                    </a:solidFill>
                  </a:tcPr>
                </a:tc>
                <a:tc rowSpan="2">
                  <a:txBody>
                    <a:bodyPr/>
                    <a:lstStyle/>
                    <a:p>
                      <a:pPr marL="209550">
                        <a:lnSpc>
                          <a:spcPct val="100000"/>
                        </a:lnSpc>
                        <a:spcBef>
                          <a:spcPts val="1360"/>
                        </a:spcBef>
                      </a:pPr>
                      <a:r>
                        <a:rPr sz="1800" b="1" spc="10" dirty="0">
                          <a:solidFill>
                            <a:srgbClr val="FFFFFF"/>
                          </a:solidFill>
                          <a:latin typeface="Microsoft JhengHei" panose="020B0604030504040204" charset="-120"/>
                          <a:cs typeface="Microsoft JhengHei" panose="020B0604030504040204" charset="-120"/>
                        </a:rPr>
                        <a:t>晶体结构</a:t>
                      </a:r>
                      <a:endParaRPr sz="1800">
                        <a:latin typeface="Microsoft JhengHei" panose="020B0604030504040204" charset="-120"/>
                        <a:cs typeface="Microsoft JhengHei" panose="020B0604030504040204" charset="-120"/>
                      </a:endParaRPr>
                    </a:p>
                  </a:txBody>
                  <a:tcPr marL="0" marR="0" marT="1727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4717"/>
                    </a:solidFill>
                  </a:tcPr>
                </a:tc>
                <a:tc gridSpan="3">
                  <a:txBody>
                    <a:bodyPr/>
                    <a:lstStyle/>
                    <a:p>
                      <a:pPr marL="1905" algn="ctr">
                        <a:lnSpc>
                          <a:spcPct val="100000"/>
                        </a:lnSpc>
                        <a:spcBef>
                          <a:spcPts val="280"/>
                        </a:spcBef>
                      </a:pPr>
                      <a:r>
                        <a:rPr sz="1800" b="1" spc="5" dirty="0">
                          <a:solidFill>
                            <a:srgbClr val="FFFFFF"/>
                          </a:solidFill>
                          <a:latin typeface="Microsoft JhengHei" panose="020B0604030504040204" charset="-120"/>
                          <a:cs typeface="Microsoft JhengHei" panose="020B0604030504040204" charset="-120"/>
                        </a:rPr>
                        <a:t>效能</a:t>
                      </a:r>
                      <a:endParaRPr sz="1800">
                        <a:latin typeface="Microsoft JhengHei" panose="020B0604030504040204" charset="-120"/>
                        <a:cs typeface="Microsoft JhengHei" panose="020B0604030504040204" charset="-120"/>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4717"/>
                    </a:solidFill>
                  </a:tcPr>
                </a:tc>
                <a:tc hMerge="1">
                  <a:tcPr marL="0" marR="0" marT="0" marB="0"/>
                </a:tc>
                <a:tc hMerge="1">
                  <a:tcPr marL="0" marR="0" marT="0" marB="0"/>
                </a:tc>
              </a:tr>
              <a:tr h="326770">
                <a:tc vMerge="1">
                  <a:tcPr marL="0" marR="0" marT="1727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4717"/>
                    </a:solidFill>
                  </a:tcPr>
                </a:tc>
                <a:tc vMerge="1">
                  <a:tcPr marL="0" marR="0" marT="1727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4717"/>
                    </a:solidFill>
                  </a:tcPr>
                </a:tc>
                <a:tc vMerge="1">
                  <a:tcPr marL="0" marR="0" marT="1727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4717"/>
                    </a:solidFill>
                  </a:tcPr>
                </a:tc>
                <a:tc>
                  <a:txBody>
                    <a:bodyPr/>
                    <a:lstStyle/>
                    <a:p>
                      <a:pPr marL="1905" algn="ctr">
                        <a:lnSpc>
                          <a:spcPct val="100000"/>
                        </a:lnSpc>
                        <a:spcBef>
                          <a:spcPts val="225"/>
                        </a:spcBef>
                      </a:pPr>
                      <a:r>
                        <a:rPr sz="1400" b="1" dirty="0">
                          <a:latin typeface="Microsoft JhengHei" panose="020B0604030504040204" charset="-120"/>
                          <a:cs typeface="Microsoft JhengHei" panose="020B0604030504040204" charset="-120"/>
                        </a:rPr>
                        <a:t>离子电</a:t>
                      </a:r>
                      <a:r>
                        <a:rPr sz="1400" b="1" spc="-15" dirty="0">
                          <a:latin typeface="Microsoft JhengHei" panose="020B0604030504040204" charset="-120"/>
                          <a:cs typeface="Microsoft JhengHei" panose="020B0604030504040204" charset="-120"/>
                        </a:rPr>
                        <a:t>导</a:t>
                      </a:r>
                      <a:r>
                        <a:rPr sz="1400" b="1" dirty="0">
                          <a:latin typeface="Microsoft JhengHei" panose="020B0604030504040204" charset="-120"/>
                          <a:cs typeface="Microsoft JhengHei" panose="020B0604030504040204" charset="-120"/>
                        </a:rPr>
                        <a:t>率</a:t>
                      </a:r>
                      <a:endParaRPr sz="1400">
                        <a:latin typeface="Microsoft JhengHei" panose="020B0604030504040204" charset="-120"/>
                        <a:cs typeface="Microsoft JhengHei" panose="020B0604030504040204" charset="-120"/>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4717"/>
                    </a:solidFill>
                  </a:tcPr>
                </a:tc>
                <a:tc>
                  <a:txBody>
                    <a:bodyPr/>
                    <a:lstStyle/>
                    <a:p>
                      <a:pPr marL="3810" algn="ctr">
                        <a:lnSpc>
                          <a:spcPct val="100000"/>
                        </a:lnSpc>
                        <a:spcBef>
                          <a:spcPts val="225"/>
                        </a:spcBef>
                      </a:pPr>
                      <a:r>
                        <a:rPr sz="1400" b="1" dirty="0">
                          <a:latin typeface="Microsoft JhengHei" panose="020B0604030504040204" charset="-120"/>
                          <a:cs typeface="Microsoft JhengHei" panose="020B0604030504040204" charset="-120"/>
                        </a:rPr>
                        <a:t>稳定性</a:t>
                      </a:r>
                      <a:endParaRPr sz="1400">
                        <a:latin typeface="Microsoft JhengHei" panose="020B0604030504040204" charset="-120"/>
                        <a:cs typeface="Microsoft JhengHei" panose="020B0604030504040204" charset="-120"/>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4717"/>
                    </a:solidFill>
                  </a:tcPr>
                </a:tc>
                <a:tc>
                  <a:txBody>
                    <a:bodyPr/>
                    <a:lstStyle/>
                    <a:p>
                      <a:pPr marL="1905" algn="ctr">
                        <a:lnSpc>
                          <a:spcPct val="100000"/>
                        </a:lnSpc>
                        <a:spcBef>
                          <a:spcPts val="225"/>
                        </a:spcBef>
                      </a:pPr>
                      <a:r>
                        <a:rPr sz="1400" b="1" dirty="0">
                          <a:latin typeface="Microsoft JhengHei" panose="020B0604030504040204" charset="-120"/>
                          <a:cs typeface="Microsoft JhengHei" panose="020B0604030504040204" charset="-120"/>
                        </a:rPr>
                        <a:t>机械性能</a:t>
                      </a:r>
                      <a:endParaRPr sz="1400">
                        <a:latin typeface="Microsoft JhengHei" panose="020B0604030504040204" charset="-120"/>
                        <a:cs typeface="Microsoft JhengHei" panose="020B0604030504040204" charset="-120"/>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4717"/>
                    </a:solidFill>
                  </a:tcPr>
                </a:tc>
              </a:tr>
              <a:tr h="1046226">
                <a:tc>
                  <a:txBody>
                    <a:bodyPr/>
                    <a:lstStyle/>
                    <a:p>
                      <a:pPr marL="266700">
                        <a:lnSpc>
                          <a:spcPts val="2155"/>
                        </a:lnSpc>
                        <a:spcBef>
                          <a:spcPts val="1275"/>
                        </a:spcBef>
                      </a:pPr>
                      <a:r>
                        <a:rPr sz="1800" b="1" spc="10" dirty="0">
                          <a:latin typeface="Microsoft JhengHei" panose="020B0604030504040204" charset="-120"/>
                          <a:cs typeface="Microsoft JhengHei" panose="020B0604030504040204" charset="-120"/>
                        </a:rPr>
                        <a:t>磷酸盐</a:t>
                      </a:r>
                      <a:r>
                        <a:rPr sz="1800" b="1" dirty="0">
                          <a:latin typeface="Corbel" panose="020B0503020204020204"/>
                          <a:cs typeface="Corbel" panose="020B0503020204020204"/>
                        </a:rPr>
                        <a:t>:</a:t>
                      </a:r>
                      <a:endParaRPr sz="1800">
                        <a:latin typeface="Corbel" panose="020B0503020204020204"/>
                        <a:cs typeface="Corbel" panose="020B0503020204020204"/>
                      </a:endParaRPr>
                    </a:p>
                    <a:p>
                      <a:pPr marL="315595" marR="257810" indent="-52070">
                        <a:lnSpc>
                          <a:spcPts val="1680"/>
                        </a:lnSpc>
                        <a:spcBef>
                          <a:spcPts val="55"/>
                        </a:spcBef>
                      </a:pPr>
                      <a:r>
                        <a:rPr sz="1400" b="1" dirty="0">
                          <a:solidFill>
                            <a:srgbClr val="FF0000"/>
                          </a:solidFill>
                          <a:latin typeface="Corbel" panose="020B0503020204020204"/>
                          <a:cs typeface="Corbel" panose="020B0503020204020204"/>
                        </a:rPr>
                        <a:t>NASI</a:t>
                      </a:r>
                      <a:r>
                        <a:rPr sz="1400" b="1" spc="-10" dirty="0">
                          <a:solidFill>
                            <a:srgbClr val="FF0000"/>
                          </a:solidFill>
                          <a:latin typeface="Corbel" panose="020B0503020204020204"/>
                          <a:cs typeface="Corbel" panose="020B0503020204020204"/>
                        </a:rPr>
                        <a:t>C</a:t>
                      </a:r>
                      <a:r>
                        <a:rPr sz="1400" b="1" spc="-5" dirty="0">
                          <a:solidFill>
                            <a:srgbClr val="FF0000"/>
                          </a:solidFill>
                          <a:latin typeface="Corbel" panose="020B0503020204020204"/>
                          <a:cs typeface="Corbel" panose="020B0503020204020204"/>
                        </a:rPr>
                        <a:t>ON  </a:t>
                      </a:r>
                      <a:r>
                        <a:rPr sz="1400" b="1" dirty="0">
                          <a:solidFill>
                            <a:srgbClr val="006FC0"/>
                          </a:solidFill>
                          <a:latin typeface="Corbel" panose="020B0503020204020204"/>
                          <a:cs typeface="Corbel" panose="020B0503020204020204"/>
                        </a:rPr>
                        <a:t>LISICON</a:t>
                      </a:r>
                      <a:endParaRPr sz="1400">
                        <a:latin typeface="Corbel" panose="020B0503020204020204"/>
                        <a:cs typeface="Corbel" panose="020B0503020204020204"/>
                      </a:endParaRPr>
                    </a:p>
                  </a:txBody>
                  <a:tcPr marL="0" marR="0" marT="161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7E9E7"/>
                    </a:solidFill>
                  </a:tcPr>
                </a:tc>
                <a:tc>
                  <a:txBody>
                    <a:bodyPr/>
                    <a:lstStyle/>
                    <a:p>
                      <a:pPr marL="223520" marR="215265" indent="313690">
                        <a:lnSpc>
                          <a:spcPts val="3590"/>
                        </a:lnSpc>
                        <a:spcBef>
                          <a:spcPts val="190"/>
                        </a:spcBef>
                      </a:pPr>
                      <a:r>
                        <a:rPr sz="1600" spc="-5" dirty="0">
                          <a:latin typeface="Corbel" panose="020B0503020204020204"/>
                          <a:cs typeface="Corbel" panose="020B0503020204020204"/>
                        </a:rPr>
                        <a:t>LiZr(PO</a:t>
                      </a:r>
                      <a:r>
                        <a:rPr sz="1575" spc="-7" baseline="-21000" dirty="0">
                          <a:latin typeface="Corbel" panose="020B0503020204020204"/>
                          <a:cs typeface="Corbel" panose="020B0503020204020204"/>
                        </a:rPr>
                        <a:t>4</a:t>
                      </a:r>
                      <a:r>
                        <a:rPr sz="1600" spc="-5" dirty="0">
                          <a:latin typeface="Corbel" panose="020B0503020204020204"/>
                          <a:cs typeface="Corbel" panose="020B0503020204020204"/>
                        </a:rPr>
                        <a:t>)</a:t>
                      </a:r>
                      <a:r>
                        <a:rPr sz="1575" spc="-7" baseline="-21000" dirty="0">
                          <a:latin typeface="Corbel" panose="020B0503020204020204"/>
                          <a:cs typeface="Corbel" panose="020B0503020204020204"/>
                        </a:rPr>
                        <a:t>3  </a:t>
                      </a:r>
                      <a:r>
                        <a:rPr sz="2400" spc="-7" baseline="14000" dirty="0">
                          <a:latin typeface="Corbel" panose="020B0503020204020204"/>
                          <a:cs typeface="Corbel" panose="020B0503020204020204"/>
                        </a:rPr>
                        <a:t>L</a:t>
                      </a:r>
                      <a:r>
                        <a:rPr sz="2400" baseline="14000" dirty="0">
                          <a:latin typeface="Corbel" panose="020B0503020204020204"/>
                          <a:cs typeface="Corbel" panose="020B0503020204020204"/>
                        </a:rPr>
                        <a:t>i</a:t>
                      </a:r>
                      <a:r>
                        <a:rPr sz="1050" spc="-5" dirty="0">
                          <a:latin typeface="Corbel" panose="020B0503020204020204"/>
                          <a:cs typeface="Corbel" panose="020B0503020204020204"/>
                        </a:rPr>
                        <a:t>1</a:t>
                      </a:r>
                      <a:r>
                        <a:rPr sz="1050" spc="5" dirty="0">
                          <a:latin typeface="Corbel" panose="020B0503020204020204"/>
                          <a:cs typeface="Corbel" panose="020B0503020204020204"/>
                        </a:rPr>
                        <a:t>.</a:t>
                      </a:r>
                      <a:r>
                        <a:rPr sz="1050" spc="-5" dirty="0">
                          <a:latin typeface="Corbel" panose="020B0503020204020204"/>
                          <a:cs typeface="Corbel" panose="020B0503020204020204"/>
                        </a:rPr>
                        <a:t>3</a:t>
                      </a:r>
                      <a:r>
                        <a:rPr sz="2400" spc="-15" baseline="14000" dirty="0">
                          <a:latin typeface="Corbel" panose="020B0503020204020204"/>
                          <a:cs typeface="Corbel" panose="020B0503020204020204"/>
                        </a:rPr>
                        <a:t>A</a:t>
                      </a:r>
                      <a:r>
                        <a:rPr sz="2400" baseline="14000" dirty="0">
                          <a:latin typeface="Corbel" panose="020B0503020204020204"/>
                          <a:cs typeface="Corbel" panose="020B0503020204020204"/>
                        </a:rPr>
                        <a:t>l</a:t>
                      </a:r>
                      <a:r>
                        <a:rPr sz="1050" dirty="0">
                          <a:latin typeface="Corbel" panose="020B0503020204020204"/>
                          <a:cs typeface="Corbel" panose="020B0503020204020204"/>
                        </a:rPr>
                        <a:t>0</a:t>
                      </a:r>
                      <a:r>
                        <a:rPr sz="1050" spc="5" dirty="0">
                          <a:latin typeface="Corbel" panose="020B0503020204020204"/>
                          <a:cs typeface="Corbel" panose="020B0503020204020204"/>
                        </a:rPr>
                        <a:t>.</a:t>
                      </a:r>
                      <a:r>
                        <a:rPr sz="1050" spc="-5" dirty="0">
                          <a:latin typeface="Corbel" panose="020B0503020204020204"/>
                          <a:cs typeface="Corbel" panose="020B0503020204020204"/>
                        </a:rPr>
                        <a:t>3</a:t>
                      </a:r>
                      <a:r>
                        <a:rPr sz="2400" baseline="14000" dirty="0">
                          <a:latin typeface="Corbel" panose="020B0503020204020204"/>
                          <a:cs typeface="Corbel" panose="020B0503020204020204"/>
                        </a:rPr>
                        <a:t>Ti</a:t>
                      </a:r>
                      <a:r>
                        <a:rPr sz="1050" spc="-5" dirty="0">
                          <a:latin typeface="Corbel" panose="020B0503020204020204"/>
                          <a:cs typeface="Corbel" panose="020B0503020204020204"/>
                        </a:rPr>
                        <a:t>1</a:t>
                      </a:r>
                      <a:r>
                        <a:rPr sz="1050" spc="5" dirty="0">
                          <a:latin typeface="Corbel" panose="020B0503020204020204"/>
                          <a:cs typeface="Corbel" panose="020B0503020204020204"/>
                        </a:rPr>
                        <a:t>.</a:t>
                      </a:r>
                      <a:r>
                        <a:rPr sz="1050" dirty="0">
                          <a:latin typeface="Corbel" panose="020B0503020204020204"/>
                          <a:cs typeface="Corbel" panose="020B0503020204020204"/>
                        </a:rPr>
                        <a:t>7</a:t>
                      </a:r>
                      <a:r>
                        <a:rPr sz="2400" baseline="14000" dirty="0">
                          <a:latin typeface="Corbel" panose="020B0503020204020204"/>
                          <a:cs typeface="Corbel" panose="020B0503020204020204"/>
                        </a:rPr>
                        <a:t>(P</a:t>
                      </a:r>
                      <a:r>
                        <a:rPr sz="2400" spc="-7" baseline="14000" dirty="0">
                          <a:latin typeface="Corbel" panose="020B0503020204020204"/>
                          <a:cs typeface="Corbel" panose="020B0503020204020204"/>
                        </a:rPr>
                        <a:t>O</a:t>
                      </a:r>
                      <a:r>
                        <a:rPr sz="1050" dirty="0">
                          <a:latin typeface="Corbel" panose="020B0503020204020204"/>
                          <a:cs typeface="Corbel" panose="020B0503020204020204"/>
                        </a:rPr>
                        <a:t>4</a:t>
                      </a:r>
                      <a:r>
                        <a:rPr sz="2400" baseline="14000" dirty="0">
                          <a:latin typeface="Corbel" panose="020B0503020204020204"/>
                          <a:cs typeface="Corbel" panose="020B0503020204020204"/>
                        </a:rPr>
                        <a:t>)</a:t>
                      </a:r>
                      <a:r>
                        <a:rPr sz="1050" dirty="0">
                          <a:latin typeface="Corbel" panose="020B0503020204020204"/>
                          <a:cs typeface="Corbel" panose="020B0503020204020204"/>
                        </a:rPr>
                        <a:t>3</a:t>
                      </a:r>
                      <a:endParaRPr sz="1050">
                        <a:latin typeface="Corbel" panose="020B0503020204020204"/>
                        <a:cs typeface="Corbel" panose="020B0503020204020204"/>
                      </a:endParaRPr>
                    </a:p>
                  </a:txBody>
                  <a:tcPr marL="0" marR="0" marT="241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7E9E7"/>
                    </a:solidFill>
                  </a:tcPr>
                </a:tc>
                <a:tc>
                  <a:txBody>
                    <a:bodyPr/>
                    <a:lstStyle/>
                    <a:p>
                      <a:pPr>
                        <a:lnSpc>
                          <a:spcPct val="100000"/>
                        </a:lnSpc>
                      </a:pPr>
                      <a:endParaRPr sz="15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a:txBody>
                    <a:bodyPr/>
                    <a:lstStyle/>
                    <a:p>
                      <a:pPr>
                        <a:lnSpc>
                          <a:spcPct val="100000"/>
                        </a:lnSpc>
                        <a:spcBef>
                          <a:spcPts val="25"/>
                        </a:spcBef>
                      </a:pPr>
                      <a:endParaRPr sz="2550">
                        <a:latin typeface="Times New Roman" panose="02020603050405020304"/>
                        <a:cs typeface="Times New Roman" panose="02020603050405020304"/>
                      </a:endParaRPr>
                    </a:p>
                    <a:p>
                      <a:pPr marL="2540" algn="ctr">
                        <a:lnSpc>
                          <a:spcPct val="100000"/>
                        </a:lnSpc>
                      </a:pPr>
                      <a:r>
                        <a:rPr sz="1800" spc="-5" dirty="0">
                          <a:latin typeface="宋体" panose="02010600030101010101" pitchFamily="2" charset="-122"/>
                          <a:cs typeface="宋体" panose="02010600030101010101" pitchFamily="2" charset="-122"/>
                        </a:rPr>
                        <a:t>中等</a:t>
                      </a:r>
                      <a:endParaRPr sz="1800">
                        <a:latin typeface="宋体" panose="02010600030101010101" pitchFamily="2" charset="-122"/>
                        <a:cs typeface="宋体" panose="02010600030101010101" pitchFamily="2" charset="-122"/>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7E9E7"/>
                    </a:solidFill>
                  </a:tcPr>
                </a:tc>
                <a:tc>
                  <a:txBody>
                    <a:bodyPr/>
                    <a:lstStyle/>
                    <a:p>
                      <a:pPr>
                        <a:lnSpc>
                          <a:spcPct val="100000"/>
                        </a:lnSpc>
                        <a:spcBef>
                          <a:spcPts val="25"/>
                        </a:spcBef>
                      </a:pPr>
                      <a:endParaRPr sz="2550">
                        <a:latin typeface="Times New Roman" panose="02020603050405020304"/>
                        <a:cs typeface="Times New Roman" panose="02020603050405020304"/>
                      </a:endParaRPr>
                    </a:p>
                    <a:p>
                      <a:pPr marL="2540" algn="ctr">
                        <a:lnSpc>
                          <a:spcPct val="100000"/>
                        </a:lnSpc>
                      </a:pPr>
                      <a:r>
                        <a:rPr sz="1800" spc="-5" dirty="0">
                          <a:latin typeface="宋体" panose="02010600030101010101" pitchFamily="2" charset="-122"/>
                          <a:cs typeface="宋体" panose="02010600030101010101" pitchFamily="2" charset="-122"/>
                        </a:rPr>
                        <a:t>普通</a:t>
                      </a:r>
                      <a:endParaRPr sz="1800">
                        <a:latin typeface="宋体" panose="02010600030101010101" pitchFamily="2" charset="-122"/>
                        <a:cs typeface="宋体" panose="02010600030101010101" pitchFamily="2" charset="-122"/>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7E9E7"/>
                    </a:solidFill>
                  </a:tcPr>
                </a:tc>
                <a:tc>
                  <a:txBody>
                    <a:bodyPr/>
                    <a:lstStyle/>
                    <a:p>
                      <a:pPr>
                        <a:lnSpc>
                          <a:spcPct val="100000"/>
                        </a:lnSpc>
                        <a:spcBef>
                          <a:spcPts val="25"/>
                        </a:spcBef>
                      </a:pPr>
                      <a:endParaRPr sz="2550">
                        <a:latin typeface="Times New Roman" panose="02020603050405020304"/>
                        <a:cs typeface="Times New Roman" panose="02020603050405020304"/>
                      </a:endParaRPr>
                    </a:p>
                    <a:p>
                      <a:pPr marL="1905" algn="ctr">
                        <a:lnSpc>
                          <a:spcPct val="100000"/>
                        </a:lnSpc>
                      </a:pPr>
                      <a:r>
                        <a:rPr sz="1800" dirty="0">
                          <a:latin typeface="宋体" panose="02010600030101010101" pitchFamily="2" charset="-122"/>
                          <a:cs typeface="宋体" panose="02010600030101010101" pitchFamily="2" charset="-122"/>
                        </a:rPr>
                        <a:t>好</a:t>
                      </a:r>
                      <a:endParaRPr sz="1800">
                        <a:latin typeface="宋体" panose="02010600030101010101" pitchFamily="2" charset="-122"/>
                        <a:cs typeface="宋体" panose="02010600030101010101" pitchFamily="2" charset="-122"/>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7E9E7"/>
                    </a:solidFill>
                  </a:tcPr>
                </a:tc>
              </a:tr>
              <a:tr h="1080007">
                <a:tc>
                  <a:txBody>
                    <a:bodyPr/>
                    <a:lstStyle/>
                    <a:p>
                      <a:pPr>
                        <a:lnSpc>
                          <a:spcPct val="100000"/>
                        </a:lnSpc>
                        <a:spcBef>
                          <a:spcPts val="40"/>
                        </a:spcBef>
                      </a:pPr>
                      <a:endParaRPr sz="2000">
                        <a:latin typeface="Times New Roman" panose="02020603050405020304"/>
                        <a:cs typeface="Times New Roman" panose="02020603050405020304"/>
                      </a:endParaRPr>
                    </a:p>
                    <a:p>
                      <a:pPr marL="300355" marR="179070" indent="-114300">
                        <a:lnSpc>
                          <a:spcPts val="2020"/>
                        </a:lnSpc>
                      </a:pPr>
                      <a:r>
                        <a:rPr sz="1800" b="1" spc="10" dirty="0">
                          <a:latin typeface="Microsoft JhengHei" panose="020B0604030504040204" charset="-120"/>
                          <a:cs typeface="Microsoft JhengHei" panose="020B0604030504040204" charset="-120"/>
                        </a:rPr>
                        <a:t>石榴石型 氧化物</a:t>
                      </a:r>
                      <a:endParaRPr sz="1800">
                        <a:latin typeface="Microsoft JhengHei" panose="020B0604030504040204" charset="-120"/>
                        <a:cs typeface="Microsoft JhengHei" panose="020B0604030504040204" charset="-120"/>
                      </a:endParaRPr>
                    </a:p>
                  </a:txBody>
                  <a:tcPr marL="0" marR="0" marT="50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ECFCC"/>
                    </a:solidFill>
                  </a:tcPr>
                </a:tc>
                <a:tc>
                  <a:txBody>
                    <a:bodyPr/>
                    <a:lstStyle/>
                    <a:p>
                      <a:pPr algn="ctr">
                        <a:lnSpc>
                          <a:spcPct val="100000"/>
                        </a:lnSpc>
                        <a:spcBef>
                          <a:spcPts val="1595"/>
                        </a:spcBef>
                      </a:pPr>
                      <a:r>
                        <a:rPr sz="1600" spc="-5" dirty="0">
                          <a:latin typeface="Corbel" panose="020B0503020204020204"/>
                          <a:cs typeface="Corbel" panose="020B0503020204020204"/>
                        </a:rPr>
                        <a:t>Li</a:t>
                      </a:r>
                      <a:r>
                        <a:rPr sz="1575" spc="-7" baseline="-21000" dirty="0">
                          <a:latin typeface="Corbel" panose="020B0503020204020204"/>
                          <a:cs typeface="Corbel" panose="020B0503020204020204"/>
                        </a:rPr>
                        <a:t>7</a:t>
                      </a:r>
                      <a:r>
                        <a:rPr sz="1600" spc="-5" dirty="0">
                          <a:latin typeface="Corbel" panose="020B0503020204020204"/>
                          <a:cs typeface="Corbel" panose="020B0503020204020204"/>
                        </a:rPr>
                        <a:t>La</a:t>
                      </a:r>
                      <a:r>
                        <a:rPr sz="1575" spc="-7" baseline="-21000" dirty="0">
                          <a:latin typeface="Corbel" panose="020B0503020204020204"/>
                          <a:cs typeface="Corbel" panose="020B0503020204020204"/>
                        </a:rPr>
                        <a:t>3</a:t>
                      </a:r>
                      <a:r>
                        <a:rPr sz="1600" spc="-5" dirty="0">
                          <a:latin typeface="Corbel" panose="020B0503020204020204"/>
                          <a:cs typeface="Corbel" panose="020B0503020204020204"/>
                        </a:rPr>
                        <a:t>Zr</a:t>
                      </a:r>
                      <a:r>
                        <a:rPr sz="1575" spc="-7" baseline="-21000" dirty="0">
                          <a:latin typeface="Corbel" panose="020B0503020204020204"/>
                          <a:cs typeface="Corbel" panose="020B0503020204020204"/>
                        </a:rPr>
                        <a:t>2</a:t>
                      </a:r>
                      <a:r>
                        <a:rPr sz="1600" spc="-5" dirty="0">
                          <a:latin typeface="Corbel" panose="020B0503020204020204"/>
                          <a:cs typeface="Corbel" panose="020B0503020204020204"/>
                        </a:rPr>
                        <a:t>O</a:t>
                      </a:r>
                      <a:r>
                        <a:rPr sz="1575" spc="-7" baseline="-21000" dirty="0">
                          <a:latin typeface="Corbel" panose="020B0503020204020204"/>
                          <a:cs typeface="Corbel" panose="020B0503020204020204"/>
                        </a:rPr>
                        <a:t>12</a:t>
                      </a:r>
                      <a:endParaRPr sz="1575" baseline="-21000">
                        <a:latin typeface="Corbel" panose="020B0503020204020204"/>
                        <a:cs typeface="Corbel" panose="020B0503020204020204"/>
                      </a:endParaRPr>
                    </a:p>
                    <a:p>
                      <a:pPr>
                        <a:lnSpc>
                          <a:spcPct val="100000"/>
                        </a:lnSpc>
                      </a:pPr>
                      <a:endParaRPr sz="1450">
                        <a:latin typeface="Times New Roman" panose="02020603050405020304"/>
                        <a:cs typeface="Times New Roman" panose="02020603050405020304"/>
                      </a:endParaRPr>
                    </a:p>
                    <a:p>
                      <a:pPr marL="1270" algn="ctr">
                        <a:lnSpc>
                          <a:spcPct val="100000"/>
                        </a:lnSpc>
                        <a:spcBef>
                          <a:spcPts val="5"/>
                        </a:spcBef>
                      </a:pPr>
                      <a:r>
                        <a:rPr sz="2400" baseline="14000" dirty="0">
                          <a:latin typeface="Corbel" panose="020B0503020204020204"/>
                          <a:cs typeface="Corbel" panose="020B0503020204020204"/>
                        </a:rPr>
                        <a:t>Li</a:t>
                      </a:r>
                      <a:r>
                        <a:rPr sz="1050" dirty="0">
                          <a:latin typeface="Corbel" panose="020B0503020204020204"/>
                          <a:cs typeface="Corbel" panose="020B0503020204020204"/>
                        </a:rPr>
                        <a:t>7-x</a:t>
                      </a:r>
                      <a:r>
                        <a:rPr sz="2400" baseline="14000" dirty="0">
                          <a:latin typeface="Corbel" panose="020B0503020204020204"/>
                          <a:cs typeface="Corbel" panose="020B0503020204020204"/>
                        </a:rPr>
                        <a:t>La</a:t>
                      </a:r>
                      <a:r>
                        <a:rPr sz="1050" dirty="0">
                          <a:latin typeface="Corbel" panose="020B0503020204020204"/>
                          <a:cs typeface="Corbel" panose="020B0503020204020204"/>
                        </a:rPr>
                        <a:t>3</a:t>
                      </a:r>
                      <a:r>
                        <a:rPr sz="2400" baseline="14000" dirty="0">
                          <a:latin typeface="Corbel" panose="020B0503020204020204"/>
                          <a:cs typeface="Corbel" panose="020B0503020204020204"/>
                        </a:rPr>
                        <a:t>Sn</a:t>
                      </a:r>
                      <a:r>
                        <a:rPr sz="1050" dirty="0">
                          <a:latin typeface="Corbel" panose="020B0503020204020204"/>
                          <a:cs typeface="Corbel" panose="020B0503020204020204"/>
                        </a:rPr>
                        <a:t>2-x</a:t>
                      </a:r>
                      <a:r>
                        <a:rPr sz="2400" baseline="14000" dirty="0">
                          <a:latin typeface="Corbel" panose="020B0503020204020204"/>
                          <a:cs typeface="Corbel" panose="020B0503020204020204"/>
                        </a:rPr>
                        <a:t>Nb</a:t>
                      </a:r>
                      <a:r>
                        <a:rPr sz="1050" dirty="0">
                          <a:latin typeface="Corbel" panose="020B0503020204020204"/>
                          <a:cs typeface="Corbel" panose="020B0503020204020204"/>
                        </a:rPr>
                        <a:t>x</a:t>
                      </a:r>
                      <a:r>
                        <a:rPr sz="2400" baseline="14000" dirty="0">
                          <a:latin typeface="Corbel" panose="020B0503020204020204"/>
                          <a:cs typeface="Corbel" panose="020B0503020204020204"/>
                        </a:rPr>
                        <a:t>O</a:t>
                      </a:r>
                      <a:r>
                        <a:rPr sz="1050" dirty="0">
                          <a:latin typeface="Corbel" panose="020B0503020204020204"/>
                          <a:cs typeface="Corbel" panose="020B0503020204020204"/>
                        </a:rPr>
                        <a:t>12</a:t>
                      </a:r>
                      <a:endParaRPr sz="1050">
                        <a:latin typeface="Corbel" panose="020B0503020204020204"/>
                        <a:cs typeface="Corbel" panose="020B0503020204020204"/>
                      </a:endParaRPr>
                    </a:p>
                  </a:txBody>
                  <a:tcPr marL="0" marR="0" marT="202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ECFCC"/>
                    </a:solidFill>
                  </a:tcPr>
                </a:tc>
                <a:tc>
                  <a:txBody>
                    <a:bodyPr/>
                    <a:lstStyle/>
                    <a:p>
                      <a:pPr>
                        <a:lnSpc>
                          <a:spcPct val="100000"/>
                        </a:lnSpc>
                      </a:pPr>
                      <a:endParaRPr sz="15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a:txBody>
                    <a:bodyPr/>
                    <a:lstStyle/>
                    <a:p>
                      <a:pPr>
                        <a:lnSpc>
                          <a:spcPct val="100000"/>
                        </a:lnSpc>
                        <a:spcBef>
                          <a:spcPts val="45"/>
                        </a:spcBef>
                      </a:pPr>
                      <a:endParaRPr sz="2650">
                        <a:latin typeface="Times New Roman" panose="02020603050405020304"/>
                        <a:cs typeface="Times New Roman" panose="02020603050405020304"/>
                      </a:endParaRPr>
                    </a:p>
                    <a:p>
                      <a:pPr marL="2540" algn="ctr">
                        <a:lnSpc>
                          <a:spcPct val="100000"/>
                        </a:lnSpc>
                      </a:pPr>
                      <a:r>
                        <a:rPr sz="1800" dirty="0">
                          <a:latin typeface="宋体" panose="02010600030101010101" pitchFamily="2" charset="-122"/>
                          <a:cs typeface="宋体" panose="02010600030101010101" pitchFamily="2" charset="-122"/>
                        </a:rPr>
                        <a:t>高</a:t>
                      </a:r>
                      <a:endParaRPr sz="1800">
                        <a:latin typeface="宋体" panose="02010600030101010101" pitchFamily="2" charset="-122"/>
                        <a:cs typeface="宋体" panose="02010600030101010101" pitchFamily="2" charset="-122"/>
                      </a:endParaRPr>
                    </a:p>
                  </a:txBody>
                  <a:tcPr marL="0" marR="0" marT="57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ECFCC"/>
                    </a:solidFill>
                  </a:tcPr>
                </a:tc>
                <a:tc>
                  <a:txBody>
                    <a:bodyPr/>
                    <a:lstStyle/>
                    <a:p>
                      <a:pPr>
                        <a:lnSpc>
                          <a:spcPct val="100000"/>
                        </a:lnSpc>
                        <a:spcBef>
                          <a:spcPts val="45"/>
                        </a:spcBef>
                      </a:pPr>
                      <a:endParaRPr sz="2650">
                        <a:latin typeface="Times New Roman" panose="02020603050405020304"/>
                        <a:cs typeface="Times New Roman" panose="02020603050405020304"/>
                      </a:endParaRPr>
                    </a:p>
                    <a:p>
                      <a:pPr marL="2540" algn="ctr">
                        <a:lnSpc>
                          <a:spcPct val="100000"/>
                        </a:lnSpc>
                      </a:pPr>
                      <a:r>
                        <a:rPr sz="1800" dirty="0">
                          <a:latin typeface="宋体" panose="02010600030101010101" pitchFamily="2" charset="-122"/>
                          <a:cs typeface="宋体" panose="02010600030101010101" pitchFamily="2" charset="-122"/>
                        </a:rPr>
                        <a:t>好</a:t>
                      </a:r>
                      <a:endParaRPr sz="1800">
                        <a:latin typeface="宋体" panose="02010600030101010101" pitchFamily="2" charset="-122"/>
                        <a:cs typeface="宋体" panose="02010600030101010101" pitchFamily="2" charset="-122"/>
                      </a:endParaRPr>
                    </a:p>
                  </a:txBody>
                  <a:tcPr marL="0" marR="0" marT="57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ECFCC"/>
                    </a:solidFill>
                  </a:tcPr>
                </a:tc>
                <a:tc>
                  <a:txBody>
                    <a:bodyPr/>
                    <a:lstStyle/>
                    <a:p>
                      <a:pPr>
                        <a:lnSpc>
                          <a:spcPct val="100000"/>
                        </a:lnSpc>
                        <a:spcBef>
                          <a:spcPts val="45"/>
                        </a:spcBef>
                      </a:pPr>
                      <a:endParaRPr sz="2650">
                        <a:latin typeface="Times New Roman" panose="02020603050405020304"/>
                        <a:cs typeface="Times New Roman" panose="02020603050405020304"/>
                      </a:endParaRPr>
                    </a:p>
                    <a:p>
                      <a:pPr marL="1905" algn="ctr">
                        <a:lnSpc>
                          <a:spcPct val="100000"/>
                        </a:lnSpc>
                      </a:pPr>
                      <a:r>
                        <a:rPr sz="1800" dirty="0">
                          <a:latin typeface="宋体" panose="02010600030101010101" pitchFamily="2" charset="-122"/>
                          <a:cs typeface="宋体" panose="02010600030101010101" pitchFamily="2" charset="-122"/>
                        </a:rPr>
                        <a:t>中等</a:t>
                      </a:r>
                      <a:endParaRPr sz="1800">
                        <a:latin typeface="宋体" panose="02010600030101010101" pitchFamily="2" charset="-122"/>
                        <a:cs typeface="宋体" panose="02010600030101010101" pitchFamily="2" charset="-122"/>
                      </a:endParaRPr>
                    </a:p>
                  </a:txBody>
                  <a:tcPr marL="0" marR="0" marT="57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ECFCC"/>
                    </a:solidFill>
                  </a:tcPr>
                </a:tc>
              </a:tr>
              <a:tr h="1080135">
                <a:tc>
                  <a:txBody>
                    <a:bodyPr/>
                    <a:lstStyle/>
                    <a:p>
                      <a:pPr>
                        <a:lnSpc>
                          <a:spcPct val="100000"/>
                        </a:lnSpc>
                        <a:spcBef>
                          <a:spcPts val="30"/>
                        </a:spcBef>
                      </a:pPr>
                      <a:endParaRPr sz="1850">
                        <a:latin typeface="Times New Roman" panose="02020603050405020304"/>
                        <a:cs typeface="Times New Roman" panose="02020603050405020304"/>
                      </a:endParaRPr>
                    </a:p>
                    <a:p>
                      <a:pPr algn="ctr">
                        <a:lnSpc>
                          <a:spcPts val="2090"/>
                        </a:lnSpc>
                        <a:spcBef>
                          <a:spcPts val="5"/>
                        </a:spcBef>
                      </a:pPr>
                      <a:r>
                        <a:rPr sz="1800" b="1" spc="5" dirty="0">
                          <a:latin typeface="Microsoft JhengHei" panose="020B0604030504040204" charset="-120"/>
                          <a:cs typeface="Microsoft JhengHei" panose="020B0604030504040204" charset="-120"/>
                        </a:rPr>
                        <a:t>钙钛矿型</a:t>
                      </a:r>
                      <a:endParaRPr sz="1800">
                        <a:latin typeface="Microsoft JhengHei" panose="020B0604030504040204" charset="-120"/>
                        <a:cs typeface="Microsoft JhengHei" panose="020B0604030504040204" charset="-120"/>
                      </a:endParaRPr>
                    </a:p>
                    <a:p>
                      <a:pPr algn="ctr">
                        <a:lnSpc>
                          <a:spcPts val="2090"/>
                        </a:lnSpc>
                      </a:pPr>
                      <a:r>
                        <a:rPr sz="1800" b="1" spc="10" dirty="0">
                          <a:latin typeface="Microsoft JhengHei" panose="020B0604030504040204" charset="-120"/>
                          <a:cs typeface="Microsoft JhengHei" panose="020B0604030504040204" charset="-120"/>
                        </a:rPr>
                        <a:t>氧化物</a:t>
                      </a:r>
                      <a:endParaRPr sz="1800">
                        <a:latin typeface="Microsoft JhengHei" panose="020B0604030504040204" charset="-120"/>
                        <a:cs typeface="Microsoft JhengHei" panose="020B0604030504040204" charset="-120"/>
                      </a:endParaRPr>
                    </a:p>
                  </a:txBody>
                  <a:tcPr marL="0" marR="0" marT="38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7E9E7"/>
                    </a:solidFill>
                  </a:tcPr>
                </a:tc>
                <a:tc>
                  <a:txBody>
                    <a:bodyPr/>
                    <a:lstStyle/>
                    <a:p>
                      <a:pPr>
                        <a:lnSpc>
                          <a:spcPct val="100000"/>
                        </a:lnSpc>
                      </a:pPr>
                      <a:endParaRPr sz="1800">
                        <a:latin typeface="Times New Roman" panose="02020603050405020304"/>
                        <a:cs typeface="Times New Roman" panose="02020603050405020304"/>
                      </a:endParaRPr>
                    </a:p>
                    <a:p>
                      <a:pPr marL="364490">
                        <a:lnSpc>
                          <a:spcPct val="100000"/>
                        </a:lnSpc>
                        <a:spcBef>
                          <a:spcPts val="1515"/>
                        </a:spcBef>
                      </a:pPr>
                      <a:r>
                        <a:rPr sz="2400" baseline="14000" dirty="0">
                          <a:latin typeface="Corbel" panose="020B0503020204020204"/>
                          <a:cs typeface="Corbel" panose="020B0503020204020204"/>
                        </a:rPr>
                        <a:t>Li</a:t>
                      </a:r>
                      <a:r>
                        <a:rPr sz="1050" dirty="0">
                          <a:latin typeface="Corbel" panose="020B0503020204020204"/>
                          <a:cs typeface="Corbel" panose="020B0503020204020204"/>
                        </a:rPr>
                        <a:t>3x</a:t>
                      </a:r>
                      <a:r>
                        <a:rPr sz="2400" baseline="14000" dirty="0">
                          <a:latin typeface="Corbel" panose="020B0503020204020204"/>
                          <a:cs typeface="Corbel" panose="020B0503020204020204"/>
                        </a:rPr>
                        <a:t>La</a:t>
                      </a:r>
                      <a:r>
                        <a:rPr sz="1050" dirty="0">
                          <a:latin typeface="Corbel" panose="020B0503020204020204"/>
                          <a:cs typeface="Corbel" panose="020B0503020204020204"/>
                        </a:rPr>
                        <a:t>(2/3)-x</a:t>
                      </a:r>
                      <a:r>
                        <a:rPr sz="2400" baseline="14000" dirty="0">
                          <a:latin typeface="Corbel" panose="020B0503020204020204"/>
                          <a:cs typeface="Corbel" panose="020B0503020204020204"/>
                        </a:rPr>
                        <a:t>TiO</a:t>
                      </a:r>
                      <a:r>
                        <a:rPr sz="1050" dirty="0">
                          <a:latin typeface="Corbel" panose="020B0503020204020204"/>
                          <a:cs typeface="Corbel" panose="020B0503020204020204"/>
                        </a:rPr>
                        <a:t>3</a:t>
                      </a:r>
                      <a:endParaRPr sz="1050">
                        <a:latin typeface="Corbel" panose="020B0503020204020204"/>
                        <a:cs typeface="Corbel" panose="020B05030202040202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7E9E7"/>
                    </a:solidFill>
                  </a:tcPr>
                </a:tc>
                <a:tc>
                  <a:txBody>
                    <a:bodyPr/>
                    <a:lstStyle/>
                    <a:p>
                      <a:pPr>
                        <a:lnSpc>
                          <a:spcPct val="100000"/>
                        </a:lnSpc>
                      </a:pPr>
                      <a:endParaRPr sz="15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a:txBody>
                    <a:bodyPr/>
                    <a:lstStyle/>
                    <a:p>
                      <a:pPr>
                        <a:lnSpc>
                          <a:spcPct val="100000"/>
                        </a:lnSpc>
                        <a:spcBef>
                          <a:spcPts val="50"/>
                        </a:spcBef>
                      </a:pPr>
                      <a:endParaRPr sz="2650">
                        <a:latin typeface="Times New Roman" panose="02020603050405020304"/>
                        <a:cs typeface="Times New Roman" panose="02020603050405020304"/>
                      </a:endParaRPr>
                    </a:p>
                    <a:p>
                      <a:pPr marL="2540" algn="ctr">
                        <a:lnSpc>
                          <a:spcPct val="100000"/>
                        </a:lnSpc>
                      </a:pPr>
                      <a:r>
                        <a:rPr sz="1800" dirty="0">
                          <a:latin typeface="宋体" panose="02010600030101010101" pitchFamily="2" charset="-122"/>
                          <a:cs typeface="宋体" panose="02010600030101010101" pitchFamily="2" charset="-122"/>
                        </a:rPr>
                        <a:t>高</a:t>
                      </a:r>
                      <a:endParaRPr sz="1800">
                        <a:latin typeface="宋体" panose="02010600030101010101" pitchFamily="2" charset="-122"/>
                        <a:cs typeface="宋体" panose="02010600030101010101" pitchFamily="2" charset="-122"/>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7E9E7"/>
                    </a:solidFill>
                  </a:tcPr>
                </a:tc>
                <a:tc>
                  <a:txBody>
                    <a:bodyPr/>
                    <a:lstStyle/>
                    <a:p>
                      <a:pPr>
                        <a:lnSpc>
                          <a:spcPct val="100000"/>
                        </a:lnSpc>
                        <a:spcBef>
                          <a:spcPts val="50"/>
                        </a:spcBef>
                      </a:pPr>
                      <a:endParaRPr sz="2650">
                        <a:latin typeface="Times New Roman" panose="02020603050405020304"/>
                        <a:cs typeface="Times New Roman" panose="02020603050405020304"/>
                      </a:endParaRPr>
                    </a:p>
                    <a:p>
                      <a:pPr marL="2540" algn="ctr">
                        <a:lnSpc>
                          <a:spcPct val="100000"/>
                        </a:lnSpc>
                      </a:pPr>
                      <a:r>
                        <a:rPr sz="1800" dirty="0">
                          <a:latin typeface="宋体" panose="02010600030101010101" pitchFamily="2" charset="-122"/>
                          <a:cs typeface="宋体" panose="02010600030101010101" pitchFamily="2" charset="-122"/>
                        </a:rPr>
                        <a:t>差</a:t>
                      </a:r>
                      <a:endParaRPr sz="1800">
                        <a:latin typeface="宋体" panose="02010600030101010101" pitchFamily="2" charset="-122"/>
                        <a:cs typeface="宋体" panose="02010600030101010101" pitchFamily="2" charset="-122"/>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7E9E7"/>
                    </a:solidFill>
                  </a:tcPr>
                </a:tc>
                <a:tc>
                  <a:txBody>
                    <a:bodyPr/>
                    <a:lstStyle/>
                    <a:p>
                      <a:pPr>
                        <a:lnSpc>
                          <a:spcPct val="100000"/>
                        </a:lnSpc>
                        <a:spcBef>
                          <a:spcPts val="50"/>
                        </a:spcBef>
                      </a:pPr>
                      <a:endParaRPr sz="2650">
                        <a:latin typeface="Times New Roman" panose="02020603050405020304"/>
                        <a:cs typeface="Times New Roman" panose="02020603050405020304"/>
                      </a:endParaRPr>
                    </a:p>
                    <a:p>
                      <a:pPr marL="1905" algn="ctr">
                        <a:lnSpc>
                          <a:spcPct val="100000"/>
                        </a:lnSpc>
                      </a:pPr>
                      <a:r>
                        <a:rPr sz="1800" dirty="0">
                          <a:latin typeface="宋体" panose="02010600030101010101" pitchFamily="2" charset="-122"/>
                          <a:cs typeface="宋体" panose="02010600030101010101" pitchFamily="2" charset="-122"/>
                        </a:rPr>
                        <a:t>好</a:t>
                      </a:r>
                      <a:endParaRPr sz="1800">
                        <a:latin typeface="宋体" panose="02010600030101010101" pitchFamily="2" charset="-122"/>
                        <a:cs typeface="宋体" panose="02010600030101010101" pitchFamily="2" charset="-122"/>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7E9E7"/>
                    </a:solidFill>
                  </a:tcPr>
                </a:tc>
              </a:tr>
              <a:tr h="1080160">
                <a:tc>
                  <a:txBody>
                    <a:bodyPr/>
                    <a:lstStyle/>
                    <a:p>
                      <a:pPr>
                        <a:lnSpc>
                          <a:spcPct val="100000"/>
                        </a:lnSpc>
                        <a:spcBef>
                          <a:spcPts val="50"/>
                        </a:spcBef>
                      </a:pPr>
                      <a:endParaRPr sz="2650">
                        <a:latin typeface="Times New Roman" panose="02020603050405020304"/>
                        <a:cs typeface="Times New Roman" panose="02020603050405020304"/>
                      </a:endParaRPr>
                    </a:p>
                    <a:p>
                      <a:pPr marL="300355">
                        <a:lnSpc>
                          <a:spcPct val="100000"/>
                        </a:lnSpc>
                      </a:pPr>
                      <a:r>
                        <a:rPr sz="1800" b="1" spc="10" dirty="0">
                          <a:latin typeface="Microsoft JhengHei" panose="020B0604030504040204" charset="-120"/>
                          <a:cs typeface="Microsoft JhengHei" panose="020B0604030504040204" charset="-120"/>
                        </a:rPr>
                        <a:t>硫化物</a:t>
                      </a:r>
                      <a:endParaRPr sz="1800">
                        <a:latin typeface="Microsoft JhengHei" panose="020B0604030504040204" charset="-120"/>
                        <a:cs typeface="Microsoft JhengHei" panose="020B0604030504040204" charset="-120"/>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ECFCC"/>
                    </a:solidFill>
                  </a:tcPr>
                </a:tc>
                <a:tc>
                  <a:txBody>
                    <a:bodyPr/>
                    <a:lstStyle/>
                    <a:p>
                      <a:pPr algn="ctr">
                        <a:lnSpc>
                          <a:spcPct val="100000"/>
                        </a:lnSpc>
                        <a:spcBef>
                          <a:spcPts val="1600"/>
                        </a:spcBef>
                      </a:pPr>
                      <a:r>
                        <a:rPr sz="1600" dirty="0">
                          <a:latin typeface="Corbel" panose="020B0503020204020204"/>
                          <a:cs typeface="Corbel" panose="020B0503020204020204"/>
                        </a:rPr>
                        <a:t>Li</a:t>
                      </a:r>
                      <a:r>
                        <a:rPr sz="1575" baseline="-21000" dirty="0">
                          <a:latin typeface="Corbel" panose="020B0503020204020204"/>
                          <a:cs typeface="Corbel" panose="020B0503020204020204"/>
                        </a:rPr>
                        <a:t>10</a:t>
                      </a:r>
                      <a:r>
                        <a:rPr sz="1600" dirty="0">
                          <a:latin typeface="Corbel" panose="020B0503020204020204"/>
                          <a:cs typeface="Corbel" panose="020B0503020204020204"/>
                        </a:rPr>
                        <a:t>GeP</a:t>
                      </a:r>
                      <a:r>
                        <a:rPr sz="1575" baseline="-21000" dirty="0">
                          <a:latin typeface="Corbel" panose="020B0503020204020204"/>
                          <a:cs typeface="Corbel" panose="020B0503020204020204"/>
                        </a:rPr>
                        <a:t>2</a:t>
                      </a:r>
                      <a:r>
                        <a:rPr sz="1600" dirty="0">
                          <a:latin typeface="Corbel" panose="020B0503020204020204"/>
                          <a:cs typeface="Corbel" panose="020B0503020204020204"/>
                        </a:rPr>
                        <a:t>S</a:t>
                      </a:r>
                      <a:r>
                        <a:rPr sz="1575" baseline="-21000" dirty="0">
                          <a:latin typeface="Corbel" panose="020B0503020204020204"/>
                          <a:cs typeface="Corbel" panose="020B0503020204020204"/>
                        </a:rPr>
                        <a:t>12</a:t>
                      </a:r>
                      <a:endParaRPr sz="1575" baseline="-21000">
                        <a:latin typeface="Corbel" panose="020B0503020204020204"/>
                        <a:cs typeface="Corbel" panose="020B0503020204020204"/>
                      </a:endParaRPr>
                    </a:p>
                    <a:p>
                      <a:pPr marL="635" algn="ctr">
                        <a:lnSpc>
                          <a:spcPct val="100000"/>
                        </a:lnSpc>
                        <a:spcBef>
                          <a:spcPts val="1285"/>
                        </a:spcBef>
                      </a:pPr>
                      <a:r>
                        <a:rPr sz="1600" dirty="0">
                          <a:latin typeface="Corbel" panose="020B0503020204020204"/>
                          <a:cs typeface="Corbel" panose="020B0503020204020204"/>
                        </a:rPr>
                        <a:t>Li</a:t>
                      </a:r>
                      <a:r>
                        <a:rPr sz="1575" baseline="-21000" dirty="0">
                          <a:latin typeface="Corbel" panose="020B0503020204020204"/>
                          <a:cs typeface="Corbel" panose="020B0503020204020204"/>
                        </a:rPr>
                        <a:t>7</a:t>
                      </a:r>
                      <a:r>
                        <a:rPr sz="1600" dirty="0">
                          <a:latin typeface="Corbel" panose="020B0503020204020204"/>
                          <a:cs typeface="Corbel" panose="020B0503020204020204"/>
                        </a:rPr>
                        <a:t>P</a:t>
                      </a:r>
                      <a:r>
                        <a:rPr sz="1575" baseline="-21000" dirty="0">
                          <a:latin typeface="Corbel" panose="020B0503020204020204"/>
                          <a:cs typeface="Corbel" panose="020B0503020204020204"/>
                        </a:rPr>
                        <a:t>3</a:t>
                      </a:r>
                      <a:r>
                        <a:rPr sz="1600" dirty="0">
                          <a:latin typeface="Corbel" panose="020B0503020204020204"/>
                          <a:cs typeface="Corbel" panose="020B0503020204020204"/>
                        </a:rPr>
                        <a:t>S</a:t>
                      </a:r>
                      <a:r>
                        <a:rPr sz="1575" baseline="-21000" dirty="0">
                          <a:latin typeface="Corbel" panose="020B0503020204020204"/>
                          <a:cs typeface="Corbel" panose="020B0503020204020204"/>
                        </a:rPr>
                        <a:t>11</a:t>
                      </a:r>
                      <a:endParaRPr sz="1575" baseline="-21000">
                        <a:latin typeface="Corbel" panose="020B0503020204020204"/>
                        <a:cs typeface="Corbel" panose="020B0503020204020204"/>
                      </a:endParaRPr>
                    </a:p>
                  </a:txBody>
                  <a:tcPr marL="0" marR="0" marT="2032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ECFCC"/>
                    </a:solidFill>
                  </a:tcPr>
                </a:tc>
                <a:tc>
                  <a:txBody>
                    <a:bodyPr/>
                    <a:lstStyle/>
                    <a:p>
                      <a:pPr>
                        <a:lnSpc>
                          <a:spcPct val="100000"/>
                        </a:lnSpc>
                      </a:pPr>
                      <a:endParaRPr sz="15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a:txBody>
                    <a:bodyPr/>
                    <a:lstStyle/>
                    <a:p>
                      <a:pPr>
                        <a:lnSpc>
                          <a:spcPct val="100000"/>
                        </a:lnSpc>
                        <a:spcBef>
                          <a:spcPts val="50"/>
                        </a:spcBef>
                      </a:pPr>
                      <a:endParaRPr sz="2650">
                        <a:latin typeface="Times New Roman" panose="02020603050405020304"/>
                        <a:cs typeface="Times New Roman" panose="02020603050405020304"/>
                      </a:endParaRPr>
                    </a:p>
                    <a:p>
                      <a:pPr marL="2540" algn="ctr">
                        <a:lnSpc>
                          <a:spcPct val="100000"/>
                        </a:lnSpc>
                      </a:pPr>
                      <a:r>
                        <a:rPr sz="1800" dirty="0">
                          <a:latin typeface="宋体" panose="02010600030101010101" pitchFamily="2" charset="-122"/>
                          <a:cs typeface="宋体" panose="02010600030101010101" pitchFamily="2" charset="-122"/>
                        </a:rPr>
                        <a:t>很高</a:t>
                      </a:r>
                      <a:endParaRPr sz="1800">
                        <a:latin typeface="宋体" panose="02010600030101010101" pitchFamily="2" charset="-122"/>
                        <a:cs typeface="宋体" panose="02010600030101010101" pitchFamily="2" charset="-122"/>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ECFCC"/>
                    </a:solidFill>
                  </a:tcPr>
                </a:tc>
                <a:tc>
                  <a:txBody>
                    <a:bodyPr/>
                    <a:lstStyle/>
                    <a:p>
                      <a:pPr>
                        <a:lnSpc>
                          <a:spcPct val="100000"/>
                        </a:lnSpc>
                        <a:spcBef>
                          <a:spcPts val="50"/>
                        </a:spcBef>
                      </a:pPr>
                      <a:endParaRPr sz="2650">
                        <a:latin typeface="Times New Roman" panose="02020603050405020304"/>
                        <a:cs typeface="Times New Roman" panose="02020603050405020304"/>
                      </a:endParaRPr>
                    </a:p>
                    <a:p>
                      <a:pPr marL="2540" algn="ctr">
                        <a:lnSpc>
                          <a:spcPct val="100000"/>
                        </a:lnSpc>
                      </a:pPr>
                      <a:r>
                        <a:rPr sz="1800" dirty="0">
                          <a:latin typeface="宋体" panose="02010600030101010101" pitchFamily="2" charset="-122"/>
                          <a:cs typeface="宋体" panose="02010600030101010101" pitchFamily="2" charset="-122"/>
                        </a:rPr>
                        <a:t>差</a:t>
                      </a:r>
                      <a:endParaRPr sz="1800">
                        <a:latin typeface="宋体" panose="02010600030101010101" pitchFamily="2" charset="-122"/>
                        <a:cs typeface="宋体" panose="02010600030101010101" pitchFamily="2" charset="-122"/>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ECFCC"/>
                    </a:solidFill>
                  </a:tcPr>
                </a:tc>
                <a:tc>
                  <a:txBody>
                    <a:bodyPr/>
                    <a:lstStyle/>
                    <a:p>
                      <a:pPr>
                        <a:lnSpc>
                          <a:spcPct val="100000"/>
                        </a:lnSpc>
                        <a:spcBef>
                          <a:spcPts val="50"/>
                        </a:spcBef>
                      </a:pPr>
                      <a:endParaRPr sz="2650">
                        <a:latin typeface="Times New Roman" panose="02020603050405020304"/>
                        <a:cs typeface="Times New Roman" panose="02020603050405020304"/>
                      </a:endParaRPr>
                    </a:p>
                    <a:p>
                      <a:pPr marL="1905" algn="ctr">
                        <a:lnSpc>
                          <a:spcPct val="100000"/>
                        </a:lnSpc>
                      </a:pPr>
                      <a:r>
                        <a:rPr sz="1800" dirty="0">
                          <a:latin typeface="宋体" panose="02010600030101010101" pitchFamily="2" charset="-122"/>
                          <a:cs typeface="宋体" panose="02010600030101010101" pitchFamily="2" charset="-122"/>
                        </a:rPr>
                        <a:t>差</a:t>
                      </a:r>
                      <a:endParaRPr sz="1800">
                        <a:latin typeface="宋体" panose="02010600030101010101" pitchFamily="2" charset="-122"/>
                        <a:cs typeface="宋体" panose="02010600030101010101" pitchFamily="2" charset="-122"/>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ECFCC"/>
                    </a:solidFill>
                  </a:tcPr>
                </a:tc>
              </a:tr>
            </a:tbl>
          </a:graphicData>
        </a:graphic>
      </p:graphicFrame>
      <p:sp>
        <p:nvSpPr>
          <p:cNvPr id="5" name="object 5"/>
          <p:cNvSpPr/>
          <p:nvPr/>
        </p:nvSpPr>
        <p:spPr>
          <a:xfrm>
            <a:off x="4014851" y="3284473"/>
            <a:ext cx="1081087" cy="1038225"/>
          </a:xfrm>
          <a:prstGeom prst="rect">
            <a:avLst/>
          </a:prstGeom>
          <a:blipFill>
            <a:blip r:embed="rId1" cstate="print"/>
            <a:stretch>
              <a:fillRect/>
            </a:stretch>
          </a:blipFill>
        </p:spPr>
        <p:txBody>
          <a:bodyPr wrap="square" lIns="0" tIns="0" rIns="0" bIns="0" rtlCol="0"/>
          <a:lstStyle/>
          <a:p>
            <a:endParaRPr sz="1800"/>
          </a:p>
        </p:txBody>
      </p:sp>
      <p:sp>
        <p:nvSpPr>
          <p:cNvPr id="6" name="object 6"/>
          <p:cNvSpPr/>
          <p:nvPr/>
        </p:nvSpPr>
        <p:spPr>
          <a:xfrm>
            <a:off x="3983101" y="5516562"/>
            <a:ext cx="1109662" cy="955675"/>
          </a:xfrm>
          <a:prstGeom prst="rect">
            <a:avLst/>
          </a:prstGeom>
          <a:blipFill>
            <a:blip r:embed="rId2" cstate="print"/>
            <a:stretch>
              <a:fillRect/>
            </a:stretch>
          </a:blipFill>
        </p:spPr>
        <p:txBody>
          <a:bodyPr wrap="square" lIns="0" tIns="0" rIns="0" bIns="0" rtlCol="0"/>
          <a:lstStyle/>
          <a:p>
            <a:endParaRPr sz="1800"/>
          </a:p>
        </p:txBody>
      </p:sp>
      <p:sp>
        <p:nvSpPr>
          <p:cNvPr id="7" name="object 7"/>
          <p:cNvSpPr/>
          <p:nvPr/>
        </p:nvSpPr>
        <p:spPr>
          <a:xfrm>
            <a:off x="4069079" y="2217737"/>
            <a:ext cx="1029906" cy="995362"/>
          </a:xfrm>
          <a:prstGeom prst="rect">
            <a:avLst/>
          </a:prstGeom>
          <a:blipFill>
            <a:blip r:embed="rId3" cstate="print"/>
            <a:stretch>
              <a:fillRect/>
            </a:stretch>
          </a:blipFill>
        </p:spPr>
        <p:txBody>
          <a:bodyPr wrap="square" lIns="0" tIns="0" rIns="0" bIns="0" rtlCol="0"/>
          <a:lstStyle/>
          <a:p>
            <a:endParaRPr sz="1800"/>
          </a:p>
        </p:txBody>
      </p:sp>
      <p:sp>
        <p:nvSpPr>
          <p:cNvPr id="8" name="object 8"/>
          <p:cNvSpPr txBox="1"/>
          <p:nvPr/>
        </p:nvSpPr>
        <p:spPr>
          <a:xfrm>
            <a:off x="8690864" y="6532574"/>
            <a:ext cx="104139"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E9E4DC"/>
                </a:solidFill>
                <a:latin typeface="Corbel" panose="020B0503020204020204"/>
                <a:cs typeface="Corbel" panose="020B0503020204020204"/>
              </a:rPr>
              <a:t>8</a:t>
            </a:r>
            <a:endParaRPr sz="1200">
              <a:latin typeface="Corbel" panose="020B0503020204020204"/>
              <a:cs typeface="Corbel" panose="020B0503020204020204"/>
            </a:endParaRPr>
          </a:p>
        </p:txBody>
      </p:sp>
      <p:sp>
        <p:nvSpPr>
          <p:cNvPr id="9" name="object 9"/>
          <p:cNvSpPr/>
          <p:nvPr/>
        </p:nvSpPr>
        <p:spPr>
          <a:xfrm>
            <a:off x="4005198" y="4365688"/>
            <a:ext cx="1104900" cy="1030287"/>
          </a:xfrm>
          <a:prstGeom prst="rect">
            <a:avLst/>
          </a:prstGeom>
          <a:blipFill>
            <a:blip r:embed="rId4" cstate="print"/>
            <a:stretch>
              <a:fillRect/>
            </a:stretch>
          </a:blipFill>
        </p:spPr>
        <p:txBody>
          <a:bodyPr wrap="square" lIns="0" tIns="0" rIns="0" bIns="0" rtlCol="0"/>
          <a:lstStyle/>
          <a:p>
            <a:endParaRPr sz="1800"/>
          </a:p>
        </p:txBody>
      </p:sp>
      <p:sp>
        <p:nvSpPr>
          <p:cNvPr id="10" name="object 10"/>
          <p:cNvSpPr txBox="1">
            <a:spLocks noGrp="1"/>
          </p:cNvSpPr>
          <p:nvPr>
            <p:ph type="title"/>
          </p:nvPr>
        </p:nvSpPr>
        <p:spPr>
          <a:xfrm>
            <a:off x="690245" y="322580"/>
            <a:ext cx="5614670" cy="689610"/>
          </a:xfrm>
          <a:prstGeom prst="rect">
            <a:avLst/>
          </a:prstGeom>
        </p:spPr>
        <p:txBody>
          <a:bodyPr vert="horz" wrap="square" lIns="0" tIns="12700" rIns="0" bIns="0" rtlCol="0">
            <a:spAutoFit/>
          </a:bodyPr>
          <a:lstStyle/>
          <a:p>
            <a:pPr marL="12700">
              <a:lnSpc>
                <a:spcPct val="100000"/>
              </a:lnSpc>
              <a:spcBef>
                <a:spcPts val="100"/>
              </a:spcBef>
            </a:pPr>
            <a:r>
              <a:rPr spc="-145" dirty="0"/>
              <a:t>常用的无机陶瓷电解质</a:t>
            </a:r>
            <a:endParaRPr spc="-145" dirty="0"/>
          </a:p>
        </p:txBody>
      </p:sp>
      <p:sp>
        <p:nvSpPr>
          <p:cNvPr id="11" name="object 11"/>
          <p:cNvSpPr txBox="1"/>
          <p:nvPr/>
        </p:nvSpPr>
        <p:spPr>
          <a:xfrm rot="18900000">
            <a:off x="-109676" y="6146183"/>
            <a:ext cx="1213920"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2" name="object 12"/>
          <p:cNvSpPr txBox="1"/>
          <p:nvPr/>
        </p:nvSpPr>
        <p:spPr>
          <a:xfrm rot="18900000">
            <a:off x="-270503"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3" name="object 13"/>
          <p:cNvSpPr txBox="1"/>
          <p:nvPr/>
        </p:nvSpPr>
        <p:spPr>
          <a:xfrm rot="18900000">
            <a:off x="-270503"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4" name="object 14"/>
          <p:cNvSpPr txBox="1"/>
          <p:nvPr/>
        </p:nvSpPr>
        <p:spPr>
          <a:xfrm rot="18900000">
            <a:off x="-270503"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5" name="object 15"/>
          <p:cNvSpPr txBox="1"/>
          <p:nvPr/>
        </p:nvSpPr>
        <p:spPr>
          <a:xfrm rot="18900000">
            <a:off x="-207607"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6" name="object 16"/>
          <p:cNvSpPr txBox="1"/>
          <p:nvPr/>
        </p:nvSpPr>
        <p:spPr>
          <a:xfrm rot="18900000">
            <a:off x="131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7" name="object 17"/>
          <p:cNvSpPr txBox="1"/>
          <p:nvPr/>
        </p:nvSpPr>
        <p:spPr>
          <a:xfrm rot="18900000">
            <a:off x="131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8" name="object 18"/>
          <p:cNvSpPr txBox="1"/>
          <p:nvPr/>
        </p:nvSpPr>
        <p:spPr>
          <a:xfrm rot="18900000">
            <a:off x="131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9" name="object 19"/>
          <p:cNvSpPr txBox="1"/>
          <p:nvPr/>
        </p:nvSpPr>
        <p:spPr>
          <a:xfrm rot="18900000">
            <a:off x="131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0" name="object 20"/>
          <p:cNvSpPr txBox="1"/>
          <p:nvPr/>
        </p:nvSpPr>
        <p:spPr>
          <a:xfrm rot="18900000">
            <a:off x="137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1" name="object 21"/>
          <p:cNvSpPr txBox="1"/>
          <p:nvPr/>
        </p:nvSpPr>
        <p:spPr>
          <a:xfrm rot="18900000">
            <a:off x="2904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2" name="object 22"/>
          <p:cNvSpPr txBox="1"/>
          <p:nvPr/>
        </p:nvSpPr>
        <p:spPr>
          <a:xfrm rot="18900000">
            <a:off x="2904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3" name="object 23"/>
          <p:cNvSpPr txBox="1"/>
          <p:nvPr/>
        </p:nvSpPr>
        <p:spPr>
          <a:xfrm rot="18900000">
            <a:off x="2904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4" name="object 24"/>
          <p:cNvSpPr txBox="1"/>
          <p:nvPr/>
        </p:nvSpPr>
        <p:spPr>
          <a:xfrm rot="18900000">
            <a:off x="2904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5" name="object 25"/>
          <p:cNvSpPr txBox="1"/>
          <p:nvPr/>
        </p:nvSpPr>
        <p:spPr>
          <a:xfrm rot="18900000">
            <a:off x="2967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6" name="object 26"/>
          <p:cNvSpPr txBox="1"/>
          <p:nvPr/>
        </p:nvSpPr>
        <p:spPr>
          <a:xfrm rot="18900000">
            <a:off x="4491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7" name="object 27"/>
          <p:cNvSpPr txBox="1"/>
          <p:nvPr/>
        </p:nvSpPr>
        <p:spPr>
          <a:xfrm rot="18900000">
            <a:off x="4491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8" name="object 28"/>
          <p:cNvSpPr txBox="1"/>
          <p:nvPr/>
        </p:nvSpPr>
        <p:spPr>
          <a:xfrm rot="18900000">
            <a:off x="4491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9" name="object 29"/>
          <p:cNvSpPr txBox="1"/>
          <p:nvPr/>
        </p:nvSpPr>
        <p:spPr>
          <a:xfrm rot="18900000">
            <a:off x="4491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0" name="object 30"/>
          <p:cNvSpPr txBox="1"/>
          <p:nvPr/>
        </p:nvSpPr>
        <p:spPr>
          <a:xfrm rot="18900000">
            <a:off x="4554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1" name="object 31"/>
          <p:cNvSpPr txBox="1"/>
          <p:nvPr/>
        </p:nvSpPr>
        <p:spPr>
          <a:xfrm rot="18900000">
            <a:off x="6079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2" name="object 32"/>
          <p:cNvSpPr txBox="1"/>
          <p:nvPr/>
        </p:nvSpPr>
        <p:spPr>
          <a:xfrm rot="18900000">
            <a:off x="6079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3" name="object 33"/>
          <p:cNvSpPr txBox="1"/>
          <p:nvPr/>
        </p:nvSpPr>
        <p:spPr>
          <a:xfrm rot="18900000">
            <a:off x="6079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4" name="object 34"/>
          <p:cNvSpPr txBox="1"/>
          <p:nvPr/>
        </p:nvSpPr>
        <p:spPr>
          <a:xfrm rot="18900000">
            <a:off x="6079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5" name="object 35"/>
          <p:cNvSpPr txBox="1"/>
          <p:nvPr/>
        </p:nvSpPr>
        <p:spPr>
          <a:xfrm rot="18900000">
            <a:off x="6142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6" name="object 36"/>
          <p:cNvSpPr txBox="1"/>
          <p:nvPr/>
        </p:nvSpPr>
        <p:spPr>
          <a:xfrm rot="18900000">
            <a:off x="766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7" name="object 37"/>
          <p:cNvSpPr txBox="1"/>
          <p:nvPr/>
        </p:nvSpPr>
        <p:spPr>
          <a:xfrm rot="18900000">
            <a:off x="766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8" name="object 38"/>
          <p:cNvSpPr txBox="1"/>
          <p:nvPr/>
        </p:nvSpPr>
        <p:spPr>
          <a:xfrm rot="18900000">
            <a:off x="766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9" name="object 39"/>
          <p:cNvSpPr txBox="1"/>
          <p:nvPr/>
        </p:nvSpPr>
        <p:spPr>
          <a:xfrm rot="18900000">
            <a:off x="766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40" name="object 40"/>
          <p:cNvSpPr txBox="1"/>
          <p:nvPr/>
        </p:nvSpPr>
        <p:spPr>
          <a:xfrm rot="18900000">
            <a:off x="772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Tree>
  </p:cSld>
  <p:clrMapOvr>
    <a:masterClrMapping/>
  </p:clrMapOvr>
  <p:transition>
    <p:randomBar dir="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749300" y="2559050"/>
          <a:ext cx="7508240" cy="2603500"/>
        </p:xfrm>
        <a:graphic>
          <a:graphicData uri="http://schemas.openxmlformats.org/drawingml/2006/table">
            <a:tbl>
              <a:tblPr firstRow="1" bandRow="1">
                <a:tableStyleId>{2D5ABB26-0587-4C30-8999-92F81FD0307C}</a:tableStyleId>
              </a:tblPr>
              <a:tblGrid>
                <a:gridCol w="1151890"/>
                <a:gridCol w="1583690"/>
                <a:gridCol w="1508759"/>
                <a:gridCol w="1170305"/>
                <a:gridCol w="963929"/>
                <a:gridCol w="1108075"/>
              </a:tblGrid>
              <a:tr h="396113">
                <a:tc rowSpan="2">
                  <a:txBody>
                    <a:bodyPr/>
                    <a:lstStyle/>
                    <a:p>
                      <a:pPr marL="117475">
                        <a:lnSpc>
                          <a:spcPct val="100000"/>
                        </a:lnSpc>
                        <a:spcBef>
                          <a:spcPts val="1555"/>
                        </a:spcBef>
                      </a:pPr>
                      <a:r>
                        <a:rPr sz="2000" b="1" spc="-5" dirty="0">
                          <a:solidFill>
                            <a:srgbClr val="FFFFFF"/>
                          </a:solidFill>
                          <a:latin typeface="Corbel" panose="020B0503020204020204"/>
                          <a:cs typeface="Corbel" panose="020B0503020204020204"/>
                        </a:rPr>
                        <a:t>Material</a:t>
                      </a:r>
                      <a:endParaRPr sz="2000">
                        <a:latin typeface="Corbel" panose="020B0503020204020204"/>
                        <a:cs typeface="Corbel" panose="020B0503020204020204"/>
                      </a:endParaRPr>
                    </a:p>
                    <a:p>
                      <a:pPr marL="125095">
                        <a:lnSpc>
                          <a:spcPct val="100000"/>
                        </a:lnSpc>
                      </a:pPr>
                      <a:r>
                        <a:rPr sz="2000" b="1" dirty="0">
                          <a:solidFill>
                            <a:srgbClr val="FFFFFF"/>
                          </a:solidFill>
                          <a:latin typeface="Corbel" panose="020B0503020204020204"/>
                          <a:cs typeface="Corbel" panose="020B0503020204020204"/>
                        </a:rPr>
                        <a:t>systems</a:t>
                      </a:r>
                      <a:endParaRPr sz="2000">
                        <a:latin typeface="Corbel" panose="020B0503020204020204"/>
                        <a:cs typeface="Corbel" panose="020B0503020204020204"/>
                      </a:endParaRPr>
                    </a:p>
                  </a:txBody>
                  <a:tcPr marL="0" marR="0" marT="1974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4717"/>
                    </a:solidFill>
                  </a:tcPr>
                </a:tc>
                <a:tc rowSpan="2">
                  <a:txBody>
                    <a:bodyPr/>
                    <a:lstStyle/>
                    <a:p>
                      <a:pPr algn="ctr">
                        <a:lnSpc>
                          <a:spcPct val="100000"/>
                        </a:lnSpc>
                        <a:spcBef>
                          <a:spcPts val="1555"/>
                        </a:spcBef>
                      </a:pPr>
                      <a:r>
                        <a:rPr sz="2000" b="1" spc="-5" dirty="0">
                          <a:solidFill>
                            <a:srgbClr val="FFFFFF"/>
                          </a:solidFill>
                          <a:latin typeface="Corbel" panose="020B0503020204020204"/>
                          <a:cs typeface="Corbel" panose="020B0503020204020204"/>
                        </a:rPr>
                        <a:t>Compositio</a:t>
                      </a:r>
                      <a:endParaRPr sz="2000">
                        <a:latin typeface="Corbel" panose="020B0503020204020204"/>
                        <a:cs typeface="Corbel" panose="020B0503020204020204"/>
                      </a:endParaRPr>
                    </a:p>
                    <a:p>
                      <a:pPr algn="ctr">
                        <a:lnSpc>
                          <a:spcPct val="100000"/>
                        </a:lnSpc>
                      </a:pPr>
                      <a:r>
                        <a:rPr sz="2000" b="1" dirty="0">
                          <a:solidFill>
                            <a:srgbClr val="FFFFFF"/>
                          </a:solidFill>
                          <a:latin typeface="Corbel" panose="020B0503020204020204"/>
                          <a:cs typeface="Corbel" panose="020B0503020204020204"/>
                        </a:rPr>
                        <a:t>n</a:t>
                      </a:r>
                      <a:endParaRPr sz="2000">
                        <a:latin typeface="Corbel" panose="020B0503020204020204"/>
                        <a:cs typeface="Corbel" panose="020B0503020204020204"/>
                      </a:endParaRPr>
                    </a:p>
                  </a:txBody>
                  <a:tcPr marL="0" marR="0" marT="1974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4717"/>
                    </a:solidFill>
                  </a:tcPr>
                </a:tc>
                <a:tc rowSpan="2">
                  <a:txBody>
                    <a:bodyPr/>
                    <a:lstStyle/>
                    <a:p>
                      <a:pPr>
                        <a:lnSpc>
                          <a:spcPct val="100000"/>
                        </a:lnSpc>
                        <a:spcBef>
                          <a:spcPts val="50"/>
                        </a:spcBef>
                      </a:pPr>
                      <a:endParaRPr sz="2350">
                        <a:latin typeface="Times New Roman" panose="02020603050405020304"/>
                        <a:cs typeface="Times New Roman" panose="02020603050405020304"/>
                      </a:endParaRPr>
                    </a:p>
                    <a:p>
                      <a:pPr marL="221615">
                        <a:lnSpc>
                          <a:spcPct val="100000"/>
                        </a:lnSpc>
                      </a:pPr>
                      <a:r>
                        <a:rPr sz="2000" b="1" dirty="0">
                          <a:solidFill>
                            <a:srgbClr val="FFFFFF"/>
                          </a:solidFill>
                          <a:latin typeface="Corbel" panose="020B0503020204020204"/>
                          <a:cs typeface="Corbel" panose="020B0503020204020204"/>
                        </a:rPr>
                        <a:t>Examples</a:t>
                      </a:r>
                      <a:endParaRPr sz="2000">
                        <a:latin typeface="Corbel" panose="020B0503020204020204"/>
                        <a:cs typeface="Corbel" panose="020B0503020204020204"/>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4717"/>
                    </a:solidFill>
                  </a:tcPr>
                </a:tc>
                <a:tc gridSpan="3">
                  <a:txBody>
                    <a:bodyPr/>
                    <a:lstStyle/>
                    <a:p>
                      <a:pPr marL="862330">
                        <a:lnSpc>
                          <a:spcPct val="100000"/>
                        </a:lnSpc>
                        <a:spcBef>
                          <a:spcPts val="270"/>
                        </a:spcBef>
                      </a:pPr>
                      <a:r>
                        <a:rPr sz="2000" b="1" spc="-10" dirty="0">
                          <a:solidFill>
                            <a:srgbClr val="FFFFFF"/>
                          </a:solidFill>
                          <a:latin typeface="Corbel" panose="020B0503020204020204"/>
                          <a:cs typeface="Corbel" panose="020B0503020204020204"/>
                        </a:rPr>
                        <a:t>Performances</a:t>
                      </a:r>
                      <a:endParaRPr sz="2000">
                        <a:latin typeface="Corbel" panose="020B0503020204020204"/>
                        <a:cs typeface="Corbel" panose="020B0503020204020204"/>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4717"/>
                    </a:solidFill>
                  </a:tcPr>
                </a:tc>
                <a:tc hMerge="1">
                  <a:tcPr marL="0" marR="0" marT="0" marB="0"/>
                </a:tc>
                <a:tc hMerge="1">
                  <a:tcPr marL="0" marR="0" marT="0" marB="0"/>
                </a:tc>
              </a:tr>
              <a:tr h="640079">
                <a:tc vMerge="1">
                  <a:tcPr marL="0" marR="0" marT="1974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4717"/>
                    </a:solidFill>
                  </a:tcPr>
                </a:tc>
                <a:tc vMerge="1">
                  <a:tcPr marL="0" marR="0" marT="1974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4717"/>
                    </a:solidFill>
                  </a:tcPr>
                </a:tc>
                <a:tc vMerge="1">
                  <a:tcPr marL="0" marR="0" marT="63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4717"/>
                    </a:solidFill>
                  </a:tcPr>
                </a:tc>
                <a:tc>
                  <a:txBody>
                    <a:bodyPr/>
                    <a:lstStyle/>
                    <a:p>
                      <a:pPr algn="ctr">
                        <a:lnSpc>
                          <a:spcPts val="1515"/>
                        </a:lnSpc>
                        <a:spcBef>
                          <a:spcPts val="785"/>
                        </a:spcBef>
                      </a:pPr>
                      <a:r>
                        <a:rPr sz="1400" b="1" dirty="0">
                          <a:latin typeface="Corbel" panose="020B0503020204020204"/>
                          <a:cs typeface="Corbel" panose="020B0503020204020204"/>
                        </a:rPr>
                        <a:t>Ionic</a:t>
                      </a:r>
                      <a:endParaRPr sz="1400">
                        <a:latin typeface="Corbel" panose="020B0503020204020204"/>
                        <a:cs typeface="Corbel" panose="020B0503020204020204"/>
                      </a:endParaRPr>
                    </a:p>
                    <a:p>
                      <a:pPr algn="ctr">
                        <a:lnSpc>
                          <a:spcPts val="1515"/>
                        </a:lnSpc>
                      </a:pPr>
                      <a:r>
                        <a:rPr sz="1400" b="1" spc="-5" dirty="0">
                          <a:latin typeface="Corbel" panose="020B0503020204020204"/>
                          <a:cs typeface="Corbel" panose="020B0503020204020204"/>
                        </a:rPr>
                        <a:t>conductivity</a:t>
                      </a:r>
                      <a:endParaRPr sz="1400">
                        <a:latin typeface="Corbel" panose="020B0503020204020204"/>
                        <a:cs typeface="Corbel" panose="020B0503020204020204"/>
                      </a:endParaRPr>
                    </a:p>
                  </a:txBody>
                  <a:tcPr marL="0" marR="0" marT="996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4717"/>
                    </a:solidFill>
                  </a:tcPr>
                </a:tc>
                <a:tc>
                  <a:txBody>
                    <a:bodyPr/>
                    <a:lstStyle/>
                    <a:p>
                      <a:pPr>
                        <a:lnSpc>
                          <a:spcPct val="100000"/>
                        </a:lnSpc>
                        <a:spcBef>
                          <a:spcPts val="20"/>
                        </a:spcBef>
                      </a:pPr>
                      <a:endParaRPr sz="1250">
                        <a:latin typeface="Times New Roman" panose="02020603050405020304"/>
                        <a:cs typeface="Times New Roman" panose="02020603050405020304"/>
                      </a:endParaRPr>
                    </a:p>
                    <a:p>
                      <a:pPr marL="2540" algn="ctr">
                        <a:lnSpc>
                          <a:spcPct val="100000"/>
                        </a:lnSpc>
                      </a:pPr>
                      <a:r>
                        <a:rPr sz="1400" b="1" spc="-5" dirty="0">
                          <a:latin typeface="Corbel" panose="020B0503020204020204"/>
                          <a:cs typeface="Corbel" panose="020B0503020204020204"/>
                        </a:rPr>
                        <a:t>Stability</a:t>
                      </a:r>
                      <a:endParaRPr sz="1400">
                        <a:latin typeface="Corbel" panose="020B0503020204020204"/>
                        <a:cs typeface="Corbel" panose="020B0503020204020204"/>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4717"/>
                    </a:solidFill>
                  </a:tcPr>
                </a:tc>
                <a:tc>
                  <a:txBody>
                    <a:bodyPr/>
                    <a:lstStyle/>
                    <a:p>
                      <a:pPr marL="120650">
                        <a:lnSpc>
                          <a:spcPts val="1515"/>
                        </a:lnSpc>
                        <a:spcBef>
                          <a:spcPts val="785"/>
                        </a:spcBef>
                      </a:pPr>
                      <a:r>
                        <a:rPr sz="1400" b="1" dirty="0">
                          <a:latin typeface="Corbel" panose="020B0503020204020204"/>
                          <a:cs typeface="Corbel" panose="020B0503020204020204"/>
                        </a:rPr>
                        <a:t>Mechanical</a:t>
                      </a:r>
                      <a:endParaRPr sz="1400">
                        <a:latin typeface="Corbel" panose="020B0503020204020204"/>
                        <a:cs typeface="Corbel" panose="020B0503020204020204"/>
                      </a:endParaRPr>
                    </a:p>
                    <a:p>
                      <a:pPr marL="160020">
                        <a:lnSpc>
                          <a:spcPts val="1515"/>
                        </a:lnSpc>
                      </a:pPr>
                      <a:r>
                        <a:rPr sz="1400" b="1" dirty="0">
                          <a:latin typeface="Corbel" panose="020B0503020204020204"/>
                          <a:cs typeface="Corbel" panose="020B0503020204020204"/>
                        </a:rPr>
                        <a:t>properties</a:t>
                      </a:r>
                      <a:endParaRPr sz="1400">
                        <a:latin typeface="Corbel" panose="020B0503020204020204"/>
                        <a:cs typeface="Corbel" panose="020B0503020204020204"/>
                      </a:endParaRPr>
                    </a:p>
                  </a:txBody>
                  <a:tcPr marL="0" marR="0" marT="996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4717"/>
                    </a:solidFill>
                  </a:tcPr>
                </a:tc>
              </a:tr>
              <a:tr h="639953">
                <a:tc>
                  <a:txBody>
                    <a:bodyPr/>
                    <a:lstStyle/>
                    <a:p>
                      <a:pPr algn="ctr">
                        <a:lnSpc>
                          <a:spcPct val="100000"/>
                        </a:lnSpc>
                        <a:spcBef>
                          <a:spcPts val="245"/>
                        </a:spcBef>
                      </a:pPr>
                      <a:r>
                        <a:rPr sz="1800" spc="-5" dirty="0">
                          <a:solidFill>
                            <a:srgbClr val="006FC0"/>
                          </a:solidFill>
                          <a:latin typeface="Corbel" panose="020B0503020204020204"/>
                          <a:cs typeface="Corbel" panose="020B0503020204020204"/>
                        </a:rPr>
                        <a:t>All-solid-</a:t>
                      </a:r>
                      <a:endParaRPr sz="1800">
                        <a:latin typeface="Corbel" panose="020B0503020204020204"/>
                        <a:cs typeface="Corbel" panose="020B0503020204020204"/>
                      </a:endParaRPr>
                    </a:p>
                    <a:p>
                      <a:pPr algn="ctr">
                        <a:lnSpc>
                          <a:spcPct val="100000"/>
                        </a:lnSpc>
                      </a:pPr>
                      <a:r>
                        <a:rPr sz="1800" spc="-5" dirty="0">
                          <a:solidFill>
                            <a:srgbClr val="006FC0"/>
                          </a:solidFill>
                          <a:latin typeface="Corbel" panose="020B0503020204020204"/>
                          <a:cs typeface="Corbel" panose="020B0503020204020204"/>
                        </a:rPr>
                        <a:t>state</a:t>
                      </a:r>
                      <a:endParaRPr sz="1800">
                        <a:latin typeface="Corbel" panose="020B0503020204020204"/>
                        <a:cs typeface="Corbel" panose="020B0503020204020204"/>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7E9E7"/>
                    </a:solidFill>
                  </a:tcPr>
                </a:tc>
                <a:tc>
                  <a:txBody>
                    <a:bodyPr/>
                    <a:lstStyle/>
                    <a:p>
                      <a:pPr marL="635" algn="ctr">
                        <a:lnSpc>
                          <a:spcPct val="100000"/>
                        </a:lnSpc>
                        <a:spcBef>
                          <a:spcPts val="245"/>
                        </a:spcBef>
                      </a:pPr>
                      <a:r>
                        <a:rPr sz="1800" dirty="0">
                          <a:solidFill>
                            <a:srgbClr val="006FC0"/>
                          </a:solidFill>
                          <a:latin typeface="Corbel" panose="020B0503020204020204"/>
                          <a:cs typeface="Corbel" panose="020B0503020204020204"/>
                        </a:rPr>
                        <a:t>Lithium </a:t>
                      </a:r>
                      <a:r>
                        <a:rPr sz="1800" spc="-5" dirty="0">
                          <a:solidFill>
                            <a:srgbClr val="006FC0"/>
                          </a:solidFill>
                          <a:latin typeface="Corbel" panose="020B0503020204020204"/>
                          <a:cs typeface="Corbel" panose="020B0503020204020204"/>
                        </a:rPr>
                        <a:t>salt</a:t>
                      </a:r>
                      <a:r>
                        <a:rPr sz="1800" spc="-65" dirty="0">
                          <a:solidFill>
                            <a:srgbClr val="006FC0"/>
                          </a:solidFill>
                          <a:latin typeface="Corbel" panose="020B0503020204020204"/>
                          <a:cs typeface="Corbel" panose="020B0503020204020204"/>
                        </a:rPr>
                        <a:t> </a:t>
                      </a:r>
                      <a:r>
                        <a:rPr sz="1800" dirty="0">
                          <a:solidFill>
                            <a:srgbClr val="006FC0"/>
                          </a:solidFill>
                          <a:latin typeface="Corbel" panose="020B0503020204020204"/>
                          <a:cs typeface="Corbel" panose="020B0503020204020204"/>
                        </a:rPr>
                        <a:t>+</a:t>
                      </a:r>
                      <a:endParaRPr sz="1800">
                        <a:latin typeface="Corbel" panose="020B0503020204020204"/>
                        <a:cs typeface="Corbel" panose="020B0503020204020204"/>
                      </a:endParaRPr>
                    </a:p>
                    <a:p>
                      <a:pPr marL="635" algn="ctr">
                        <a:lnSpc>
                          <a:spcPct val="100000"/>
                        </a:lnSpc>
                      </a:pPr>
                      <a:r>
                        <a:rPr sz="1800" dirty="0">
                          <a:solidFill>
                            <a:srgbClr val="006FC0"/>
                          </a:solidFill>
                          <a:latin typeface="Corbel" panose="020B0503020204020204"/>
                          <a:cs typeface="Corbel" panose="020B0503020204020204"/>
                        </a:rPr>
                        <a:t>polymers</a:t>
                      </a:r>
                      <a:endParaRPr sz="1800">
                        <a:latin typeface="Corbel" panose="020B0503020204020204"/>
                        <a:cs typeface="Corbel" panose="020B0503020204020204"/>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7E9E7"/>
                    </a:solidFill>
                  </a:tcPr>
                </a:tc>
                <a:tc>
                  <a:txBody>
                    <a:bodyPr/>
                    <a:lstStyle/>
                    <a:p>
                      <a:pPr marL="142240">
                        <a:lnSpc>
                          <a:spcPct val="100000"/>
                        </a:lnSpc>
                        <a:spcBef>
                          <a:spcPts val="1325"/>
                        </a:spcBef>
                      </a:pPr>
                      <a:r>
                        <a:rPr sz="1800" dirty="0">
                          <a:solidFill>
                            <a:srgbClr val="006FC0"/>
                          </a:solidFill>
                          <a:latin typeface="Corbel" panose="020B0503020204020204"/>
                          <a:cs typeface="Corbel" panose="020B0503020204020204"/>
                        </a:rPr>
                        <a:t>LiTFSI +</a:t>
                      </a:r>
                      <a:r>
                        <a:rPr sz="1800" spc="-65" dirty="0">
                          <a:solidFill>
                            <a:srgbClr val="006FC0"/>
                          </a:solidFill>
                          <a:latin typeface="Corbel" panose="020B0503020204020204"/>
                          <a:cs typeface="Corbel" panose="020B0503020204020204"/>
                        </a:rPr>
                        <a:t> </a:t>
                      </a:r>
                      <a:r>
                        <a:rPr sz="1800" spc="-5" dirty="0">
                          <a:solidFill>
                            <a:srgbClr val="FF0000"/>
                          </a:solidFill>
                          <a:latin typeface="Corbel" panose="020B0503020204020204"/>
                          <a:cs typeface="Corbel" panose="020B0503020204020204"/>
                        </a:rPr>
                        <a:t>PEO</a:t>
                      </a:r>
                      <a:endParaRPr sz="1800">
                        <a:latin typeface="Corbel" panose="020B0503020204020204"/>
                        <a:cs typeface="Corbel" panose="020B0503020204020204"/>
                      </a:endParaRPr>
                    </a:p>
                  </a:txBody>
                  <a:tcPr marL="0" marR="0" marT="168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7E9E7"/>
                    </a:solidFill>
                  </a:tcPr>
                </a:tc>
                <a:tc>
                  <a:txBody>
                    <a:bodyPr/>
                    <a:lstStyle/>
                    <a:p>
                      <a:pPr marL="635" algn="ctr">
                        <a:lnSpc>
                          <a:spcPct val="100000"/>
                        </a:lnSpc>
                        <a:spcBef>
                          <a:spcPts val="1325"/>
                        </a:spcBef>
                      </a:pPr>
                      <a:r>
                        <a:rPr sz="1800" dirty="0">
                          <a:solidFill>
                            <a:srgbClr val="006FC0"/>
                          </a:solidFill>
                          <a:latin typeface="Corbel" panose="020B0503020204020204"/>
                          <a:cs typeface="Corbel" panose="020B0503020204020204"/>
                        </a:rPr>
                        <a:t>low</a:t>
                      </a:r>
                      <a:endParaRPr sz="1800">
                        <a:latin typeface="Corbel" panose="020B0503020204020204"/>
                        <a:cs typeface="Corbel" panose="020B0503020204020204"/>
                      </a:endParaRPr>
                    </a:p>
                  </a:txBody>
                  <a:tcPr marL="0" marR="0" marT="168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7E9E7"/>
                    </a:solidFill>
                  </a:tcPr>
                </a:tc>
                <a:tc>
                  <a:txBody>
                    <a:bodyPr/>
                    <a:lstStyle/>
                    <a:p>
                      <a:pPr marL="1905" algn="ctr">
                        <a:lnSpc>
                          <a:spcPct val="100000"/>
                        </a:lnSpc>
                        <a:spcBef>
                          <a:spcPts val="1325"/>
                        </a:spcBef>
                      </a:pPr>
                      <a:r>
                        <a:rPr sz="1800" dirty="0">
                          <a:solidFill>
                            <a:srgbClr val="006FC0"/>
                          </a:solidFill>
                          <a:latin typeface="Corbel" panose="020B0503020204020204"/>
                          <a:cs typeface="Corbel" panose="020B0503020204020204"/>
                        </a:rPr>
                        <a:t>good</a:t>
                      </a:r>
                      <a:endParaRPr sz="1800">
                        <a:latin typeface="Corbel" panose="020B0503020204020204"/>
                        <a:cs typeface="Corbel" panose="020B0503020204020204"/>
                      </a:endParaRPr>
                    </a:p>
                  </a:txBody>
                  <a:tcPr marL="0" marR="0" marT="168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7E9E7"/>
                    </a:solidFill>
                  </a:tcPr>
                </a:tc>
                <a:tc>
                  <a:txBody>
                    <a:bodyPr/>
                    <a:lstStyle/>
                    <a:p>
                      <a:pPr algn="ctr">
                        <a:lnSpc>
                          <a:spcPct val="100000"/>
                        </a:lnSpc>
                        <a:spcBef>
                          <a:spcPts val="1325"/>
                        </a:spcBef>
                      </a:pPr>
                      <a:r>
                        <a:rPr sz="1800" spc="-5" dirty="0">
                          <a:latin typeface="Corbel" panose="020B0503020204020204"/>
                          <a:cs typeface="Corbel" panose="020B0503020204020204"/>
                        </a:rPr>
                        <a:t>ordinary</a:t>
                      </a:r>
                      <a:endParaRPr sz="1800">
                        <a:latin typeface="Corbel" panose="020B0503020204020204"/>
                        <a:cs typeface="Corbel" panose="020B0503020204020204"/>
                      </a:endParaRPr>
                    </a:p>
                  </a:txBody>
                  <a:tcPr marL="0" marR="0" marT="168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7E9E7"/>
                    </a:solidFill>
                  </a:tcPr>
                </a:tc>
              </a:tr>
              <a:tr h="914273">
                <a:tc>
                  <a:txBody>
                    <a:bodyPr/>
                    <a:lstStyle/>
                    <a:p>
                      <a:pPr>
                        <a:lnSpc>
                          <a:spcPct val="100000"/>
                        </a:lnSpc>
                        <a:spcBef>
                          <a:spcPts val="50"/>
                        </a:spcBef>
                      </a:pPr>
                      <a:endParaRPr sz="2050">
                        <a:latin typeface="Times New Roman" panose="02020603050405020304"/>
                        <a:cs typeface="Times New Roman" panose="02020603050405020304"/>
                      </a:endParaRPr>
                    </a:p>
                    <a:p>
                      <a:pPr marL="154305">
                        <a:lnSpc>
                          <a:spcPct val="100000"/>
                        </a:lnSpc>
                      </a:pPr>
                      <a:r>
                        <a:rPr sz="1800" dirty="0">
                          <a:solidFill>
                            <a:srgbClr val="006FC0"/>
                          </a:solidFill>
                          <a:latin typeface="Corbel" panose="020B0503020204020204"/>
                          <a:cs typeface="Corbel" panose="020B0503020204020204"/>
                        </a:rPr>
                        <a:t>Gel</a:t>
                      </a:r>
                      <a:r>
                        <a:rPr sz="1800" spc="-35" dirty="0">
                          <a:solidFill>
                            <a:srgbClr val="006FC0"/>
                          </a:solidFill>
                          <a:latin typeface="Corbel" panose="020B0503020204020204"/>
                          <a:cs typeface="Corbel" panose="020B0503020204020204"/>
                        </a:rPr>
                        <a:t> </a:t>
                      </a:r>
                      <a:r>
                        <a:rPr sz="1800" spc="-5" dirty="0">
                          <a:solidFill>
                            <a:srgbClr val="006FC0"/>
                          </a:solidFill>
                          <a:latin typeface="Corbel" panose="020B0503020204020204"/>
                          <a:cs typeface="Corbel" panose="020B0503020204020204"/>
                        </a:rPr>
                        <a:t>state</a:t>
                      </a:r>
                      <a:endParaRPr sz="1800">
                        <a:latin typeface="Corbel" panose="020B0503020204020204"/>
                        <a:cs typeface="Corbel" panose="020B0503020204020204"/>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ECFCC"/>
                    </a:solidFill>
                  </a:tcPr>
                </a:tc>
                <a:tc>
                  <a:txBody>
                    <a:bodyPr/>
                    <a:lstStyle/>
                    <a:p>
                      <a:pPr marL="153035" marR="146050" algn="ctr">
                        <a:lnSpc>
                          <a:spcPct val="100000"/>
                        </a:lnSpc>
                        <a:spcBef>
                          <a:spcPts val="245"/>
                        </a:spcBef>
                      </a:pPr>
                      <a:r>
                        <a:rPr sz="1800" dirty="0">
                          <a:solidFill>
                            <a:srgbClr val="006FC0"/>
                          </a:solidFill>
                          <a:latin typeface="Corbel" panose="020B0503020204020204"/>
                          <a:cs typeface="Corbel" panose="020B0503020204020204"/>
                        </a:rPr>
                        <a:t>Lithium </a:t>
                      </a:r>
                      <a:r>
                        <a:rPr sz="1800" spc="-5" dirty="0">
                          <a:solidFill>
                            <a:srgbClr val="006FC0"/>
                          </a:solidFill>
                          <a:latin typeface="Corbel" panose="020B0503020204020204"/>
                          <a:cs typeface="Corbel" panose="020B0503020204020204"/>
                        </a:rPr>
                        <a:t>salt</a:t>
                      </a:r>
                      <a:r>
                        <a:rPr sz="1800" spc="-125" dirty="0">
                          <a:solidFill>
                            <a:srgbClr val="006FC0"/>
                          </a:solidFill>
                          <a:latin typeface="Corbel" panose="020B0503020204020204"/>
                          <a:cs typeface="Corbel" panose="020B0503020204020204"/>
                        </a:rPr>
                        <a:t> </a:t>
                      </a:r>
                      <a:r>
                        <a:rPr sz="1800" dirty="0">
                          <a:solidFill>
                            <a:srgbClr val="006FC0"/>
                          </a:solidFill>
                          <a:latin typeface="Corbel" panose="020B0503020204020204"/>
                          <a:cs typeface="Corbel" panose="020B0503020204020204"/>
                        </a:rPr>
                        <a:t>+  polymers +  </a:t>
                      </a:r>
                      <a:r>
                        <a:rPr sz="1800" spc="-5" dirty="0">
                          <a:solidFill>
                            <a:srgbClr val="006FC0"/>
                          </a:solidFill>
                          <a:latin typeface="Corbel" panose="020B0503020204020204"/>
                          <a:cs typeface="Corbel" panose="020B0503020204020204"/>
                        </a:rPr>
                        <a:t>plasticizer</a:t>
                      </a:r>
                      <a:endParaRPr sz="1800">
                        <a:latin typeface="Corbel" panose="020B0503020204020204"/>
                        <a:cs typeface="Corbel" panose="020B0503020204020204"/>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ECFCC"/>
                    </a:solidFill>
                  </a:tcPr>
                </a:tc>
                <a:tc>
                  <a:txBody>
                    <a:bodyPr/>
                    <a:lstStyle/>
                    <a:p>
                      <a:pPr marL="387350" marR="91440" indent="-288290">
                        <a:lnSpc>
                          <a:spcPct val="100000"/>
                        </a:lnSpc>
                        <a:spcBef>
                          <a:spcPts val="1325"/>
                        </a:spcBef>
                      </a:pPr>
                      <a:r>
                        <a:rPr sz="1800" dirty="0">
                          <a:solidFill>
                            <a:srgbClr val="006FC0"/>
                          </a:solidFill>
                          <a:latin typeface="Corbel" panose="020B0503020204020204"/>
                          <a:cs typeface="Corbel" panose="020B0503020204020204"/>
                        </a:rPr>
                        <a:t>Li</a:t>
                      </a:r>
                      <a:r>
                        <a:rPr sz="1800" spc="5" dirty="0">
                          <a:solidFill>
                            <a:srgbClr val="006FC0"/>
                          </a:solidFill>
                          <a:latin typeface="Corbel" panose="020B0503020204020204"/>
                          <a:cs typeface="Corbel" panose="020B0503020204020204"/>
                        </a:rPr>
                        <a:t>P</a:t>
                      </a:r>
                      <a:r>
                        <a:rPr sz="1800" spc="-5" dirty="0">
                          <a:solidFill>
                            <a:srgbClr val="006FC0"/>
                          </a:solidFill>
                          <a:latin typeface="Corbel" panose="020B0503020204020204"/>
                          <a:cs typeface="Corbel" panose="020B0503020204020204"/>
                        </a:rPr>
                        <a:t>F</a:t>
                      </a:r>
                      <a:r>
                        <a:rPr sz="1800" spc="5" dirty="0">
                          <a:solidFill>
                            <a:srgbClr val="006FC0"/>
                          </a:solidFill>
                          <a:latin typeface="Corbel" panose="020B0503020204020204"/>
                          <a:cs typeface="Corbel" panose="020B0503020204020204"/>
                        </a:rPr>
                        <a:t>6</a:t>
                      </a:r>
                      <a:r>
                        <a:rPr sz="1800" dirty="0">
                          <a:solidFill>
                            <a:srgbClr val="006FC0"/>
                          </a:solidFill>
                          <a:latin typeface="Corbel" panose="020B0503020204020204"/>
                          <a:cs typeface="Corbel" panose="020B0503020204020204"/>
                        </a:rPr>
                        <a:t>+</a:t>
                      </a:r>
                      <a:r>
                        <a:rPr sz="1800" spc="5" dirty="0">
                          <a:solidFill>
                            <a:srgbClr val="006FC0"/>
                          </a:solidFill>
                          <a:latin typeface="Corbel" panose="020B0503020204020204"/>
                          <a:cs typeface="Corbel" panose="020B0503020204020204"/>
                        </a:rPr>
                        <a:t>P</a:t>
                      </a:r>
                      <a:r>
                        <a:rPr sz="1800" dirty="0">
                          <a:solidFill>
                            <a:srgbClr val="006FC0"/>
                          </a:solidFill>
                          <a:latin typeface="Corbel" panose="020B0503020204020204"/>
                          <a:cs typeface="Corbel" panose="020B0503020204020204"/>
                        </a:rPr>
                        <a:t>VD</a:t>
                      </a:r>
                      <a:r>
                        <a:rPr sz="1800" spc="5" dirty="0">
                          <a:solidFill>
                            <a:srgbClr val="006FC0"/>
                          </a:solidFill>
                          <a:latin typeface="Corbel" panose="020B0503020204020204"/>
                          <a:cs typeface="Corbel" panose="020B0503020204020204"/>
                        </a:rPr>
                        <a:t>F</a:t>
                      </a:r>
                      <a:r>
                        <a:rPr sz="1800" dirty="0">
                          <a:solidFill>
                            <a:srgbClr val="006FC0"/>
                          </a:solidFill>
                          <a:latin typeface="Corbel" panose="020B0503020204020204"/>
                          <a:cs typeface="Corbel" panose="020B0503020204020204"/>
                        </a:rPr>
                        <a:t>+  </a:t>
                      </a:r>
                      <a:r>
                        <a:rPr sz="1800" spc="-5" dirty="0">
                          <a:solidFill>
                            <a:srgbClr val="006FC0"/>
                          </a:solidFill>
                          <a:latin typeface="Corbel" panose="020B0503020204020204"/>
                          <a:cs typeface="Corbel" panose="020B0503020204020204"/>
                        </a:rPr>
                        <a:t>EC/DEC</a:t>
                      </a:r>
                      <a:endParaRPr sz="1800">
                        <a:latin typeface="Corbel" panose="020B0503020204020204"/>
                        <a:cs typeface="Corbel" panose="020B0503020204020204"/>
                      </a:endParaRPr>
                    </a:p>
                  </a:txBody>
                  <a:tcPr marL="0" marR="0" marT="168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ECFCC"/>
                    </a:solidFill>
                  </a:tcPr>
                </a:tc>
                <a:tc>
                  <a:txBody>
                    <a:bodyPr/>
                    <a:lstStyle/>
                    <a:p>
                      <a:pPr>
                        <a:lnSpc>
                          <a:spcPct val="100000"/>
                        </a:lnSpc>
                        <a:spcBef>
                          <a:spcPts val="50"/>
                        </a:spcBef>
                      </a:pPr>
                      <a:endParaRPr sz="2050">
                        <a:latin typeface="Times New Roman" panose="02020603050405020304"/>
                        <a:cs typeface="Times New Roman" panose="02020603050405020304"/>
                      </a:endParaRPr>
                    </a:p>
                    <a:p>
                      <a:pPr marL="1270" algn="ctr">
                        <a:lnSpc>
                          <a:spcPct val="100000"/>
                        </a:lnSpc>
                      </a:pPr>
                      <a:r>
                        <a:rPr sz="1800" spc="-20" dirty="0">
                          <a:solidFill>
                            <a:srgbClr val="006FC0"/>
                          </a:solidFill>
                          <a:latin typeface="Corbel" panose="020B0503020204020204"/>
                          <a:cs typeface="Corbel" panose="020B0503020204020204"/>
                        </a:rPr>
                        <a:t>Very</a:t>
                      </a:r>
                      <a:r>
                        <a:rPr sz="1800" spc="-30" dirty="0">
                          <a:solidFill>
                            <a:srgbClr val="006FC0"/>
                          </a:solidFill>
                          <a:latin typeface="Corbel" panose="020B0503020204020204"/>
                          <a:cs typeface="Corbel" panose="020B0503020204020204"/>
                        </a:rPr>
                        <a:t> </a:t>
                      </a:r>
                      <a:r>
                        <a:rPr sz="1800" spc="-5" dirty="0">
                          <a:solidFill>
                            <a:srgbClr val="006FC0"/>
                          </a:solidFill>
                          <a:latin typeface="Corbel" panose="020B0503020204020204"/>
                          <a:cs typeface="Corbel" panose="020B0503020204020204"/>
                        </a:rPr>
                        <a:t>high</a:t>
                      </a:r>
                      <a:endParaRPr sz="1800">
                        <a:latin typeface="Corbel" panose="020B0503020204020204"/>
                        <a:cs typeface="Corbel" panose="020B0503020204020204"/>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ECFCC"/>
                    </a:solidFill>
                  </a:tcPr>
                </a:tc>
                <a:tc>
                  <a:txBody>
                    <a:bodyPr/>
                    <a:lstStyle/>
                    <a:p>
                      <a:pPr marL="427990" marR="130810" indent="-285750">
                        <a:lnSpc>
                          <a:spcPct val="100000"/>
                        </a:lnSpc>
                        <a:spcBef>
                          <a:spcPts val="1325"/>
                        </a:spcBef>
                      </a:pPr>
                      <a:r>
                        <a:rPr sz="1800" spc="-5" dirty="0">
                          <a:latin typeface="Corbel" panose="020B0503020204020204"/>
                          <a:cs typeface="Corbel" panose="020B0503020204020204"/>
                        </a:rPr>
                        <a:t>ordinar  </a:t>
                      </a:r>
                      <a:r>
                        <a:rPr sz="1800" dirty="0">
                          <a:latin typeface="Corbel" panose="020B0503020204020204"/>
                          <a:cs typeface="Corbel" panose="020B0503020204020204"/>
                        </a:rPr>
                        <a:t>y</a:t>
                      </a:r>
                      <a:endParaRPr sz="1800">
                        <a:latin typeface="Corbel" panose="020B0503020204020204"/>
                        <a:cs typeface="Corbel" panose="020B0503020204020204"/>
                      </a:endParaRPr>
                    </a:p>
                  </a:txBody>
                  <a:tcPr marL="0" marR="0" marT="168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ECFCC"/>
                    </a:solidFill>
                  </a:tcPr>
                </a:tc>
                <a:tc>
                  <a:txBody>
                    <a:bodyPr/>
                    <a:lstStyle/>
                    <a:p>
                      <a:pPr>
                        <a:lnSpc>
                          <a:spcPct val="100000"/>
                        </a:lnSpc>
                        <a:spcBef>
                          <a:spcPts val="50"/>
                        </a:spcBef>
                      </a:pPr>
                      <a:endParaRPr sz="2050">
                        <a:latin typeface="Times New Roman" panose="02020603050405020304"/>
                        <a:cs typeface="Times New Roman" panose="02020603050405020304"/>
                      </a:endParaRPr>
                    </a:p>
                    <a:p>
                      <a:pPr marL="635" algn="ctr">
                        <a:lnSpc>
                          <a:spcPct val="100000"/>
                        </a:lnSpc>
                      </a:pPr>
                      <a:r>
                        <a:rPr sz="1800" spc="-5" dirty="0">
                          <a:solidFill>
                            <a:srgbClr val="006FC0"/>
                          </a:solidFill>
                          <a:latin typeface="Corbel" panose="020B0503020204020204"/>
                          <a:cs typeface="Corbel" panose="020B0503020204020204"/>
                        </a:rPr>
                        <a:t>bad</a:t>
                      </a:r>
                      <a:endParaRPr sz="1800">
                        <a:latin typeface="Corbel" panose="020B0503020204020204"/>
                        <a:cs typeface="Corbel" panose="020B0503020204020204"/>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ECFCC"/>
                    </a:solidFill>
                  </a:tcPr>
                </a:tc>
              </a:tr>
            </a:tbl>
          </a:graphicData>
        </a:graphic>
      </p:graphicFrame>
      <p:sp>
        <p:nvSpPr>
          <p:cNvPr id="3" name="object 3"/>
          <p:cNvSpPr txBox="1">
            <a:spLocks noGrp="1"/>
          </p:cNvSpPr>
          <p:nvPr>
            <p:ph type="title"/>
          </p:nvPr>
        </p:nvSpPr>
        <p:spPr>
          <a:xfrm>
            <a:off x="690168" y="380238"/>
            <a:ext cx="4872990" cy="574040"/>
          </a:xfrm>
          <a:prstGeom prst="rect">
            <a:avLst/>
          </a:prstGeom>
        </p:spPr>
        <p:txBody>
          <a:bodyPr vert="horz" wrap="square" lIns="0" tIns="12700" rIns="0" bIns="0" rtlCol="0">
            <a:spAutoFit/>
          </a:bodyPr>
          <a:lstStyle/>
          <a:p>
            <a:pPr marL="12700">
              <a:lnSpc>
                <a:spcPct val="100000"/>
              </a:lnSpc>
              <a:spcBef>
                <a:spcPts val="100"/>
              </a:spcBef>
            </a:pPr>
            <a:r>
              <a:rPr spc="-145" dirty="0"/>
              <a:t>常用的有机聚合物电</a:t>
            </a:r>
            <a:r>
              <a:rPr spc="-140" dirty="0"/>
              <a:t>解</a:t>
            </a:r>
            <a:r>
              <a:rPr dirty="0"/>
              <a:t>质</a:t>
            </a:r>
            <a:endParaRPr dirty="0"/>
          </a:p>
        </p:txBody>
      </p:sp>
      <p:sp>
        <p:nvSpPr>
          <p:cNvPr id="4" name="object 4"/>
          <p:cNvSpPr txBox="1"/>
          <p:nvPr/>
        </p:nvSpPr>
        <p:spPr>
          <a:xfrm rot="18900000">
            <a:off x="-109676" y="6146183"/>
            <a:ext cx="1213920"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5" name="object 5"/>
          <p:cNvSpPr txBox="1"/>
          <p:nvPr/>
        </p:nvSpPr>
        <p:spPr>
          <a:xfrm rot="18900000">
            <a:off x="-270503"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6" name="object 6"/>
          <p:cNvSpPr txBox="1"/>
          <p:nvPr/>
        </p:nvSpPr>
        <p:spPr>
          <a:xfrm rot="18900000">
            <a:off x="-270503"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7" name="object 7"/>
          <p:cNvSpPr txBox="1"/>
          <p:nvPr/>
        </p:nvSpPr>
        <p:spPr>
          <a:xfrm rot="18900000">
            <a:off x="-270503"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8" name="object 8"/>
          <p:cNvSpPr txBox="1"/>
          <p:nvPr/>
        </p:nvSpPr>
        <p:spPr>
          <a:xfrm rot="18900000">
            <a:off x="-207607"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9" name="object 9"/>
          <p:cNvSpPr txBox="1"/>
          <p:nvPr/>
        </p:nvSpPr>
        <p:spPr>
          <a:xfrm rot="18900000">
            <a:off x="131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0" name="object 10"/>
          <p:cNvSpPr txBox="1"/>
          <p:nvPr/>
        </p:nvSpPr>
        <p:spPr>
          <a:xfrm rot="18900000">
            <a:off x="131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1" name="object 11"/>
          <p:cNvSpPr txBox="1"/>
          <p:nvPr/>
        </p:nvSpPr>
        <p:spPr>
          <a:xfrm rot="18900000">
            <a:off x="131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2" name="object 12"/>
          <p:cNvSpPr txBox="1"/>
          <p:nvPr/>
        </p:nvSpPr>
        <p:spPr>
          <a:xfrm rot="18900000">
            <a:off x="131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3" name="object 13"/>
          <p:cNvSpPr txBox="1"/>
          <p:nvPr/>
        </p:nvSpPr>
        <p:spPr>
          <a:xfrm rot="18900000">
            <a:off x="137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4" name="object 14"/>
          <p:cNvSpPr txBox="1"/>
          <p:nvPr/>
        </p:nvSpPr>
        <p:spPr>
          <a:xfrm rot="18900000">
            <a:off x="2904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5" name="object 15"/>
          <p:cNvSpPr txBox="1"/>
          <p:nvPr/>
        </p:nvSpPr>
        <p:spPr>
          <a:xfrm rot="18900000">
            <a:off x="2904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6" name="object 16"/>
          <p:cNvSpPr txBox="1"/>
          <p:nvPr/>
        </p:nvSpPr>
        <p:spPr>
          <a:xfrm rot="18900000">
            <a:off x="2904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7" name="object 17"/>
          <p:cNvSpPr txBox="1"/>
          <p:nvPr/>
        </p:nvSpPr>
        <p:spPr>
          <a:xfrm rot="18900000">
            <a:off x="2904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8" name="object 18"/>
          <p:cNvSpPr txBox="1"/>
          <p:nvPr/>
        </p:nvSpPr>
        <p:spPr>
          <a:xfrm rot="18900000">
            <a:off x="2967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9" name="object 19"/>
          <p:cNvSpPr txBox="1"/>
          <p:nvPr/>
        </p:nvSpPr>
        <p:spPr>
          <a:xfrm rot="18900000">
            <a:off x="4491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0" name="object 20"/>
          <p:cNvSpPr txBox="1"/>
          <p:nvPr/>
        </p:nvSpPr>
        <p:spPr>
          <a:xfrm rot="18900000">
            <a:off x="4491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1" name="object 21"/>
          <p:cNvSpPr txBox="1"/>
          <p:nvPr/>
        </p:nvSpPr>
        <p:spPr>
          <a:xfrm rot="18900000">
            <a:off x="4491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2" name="object 22"/>
          <p:cNvSpPr txBox="1"/>
          <p:nvPr/>
        </p:nvSpPr>
        <p:spPr>
          <a:xfrm rot="18900000">
            <a:off x="4491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3" name="object 23"/>
          <p:cNvSpPr txBox="1"/>
          <p:nvPr/>
        </p:nvSpPr>
        <p:spPr>
          <a:xfrm rot="18900000">
            <a:off x="4554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4" name="object 24"/>
          <p:cNvSpPr txBox="1"/>
          <p:nvPr/>
        </p:nvSpPr>
        <p:spPr>
          <a:xfrm rot="18900000">
            <a:off x="6079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5" name="object 25"/>
          <p:cNvSpPr txBox="1"/>
          <p:nvPr/>
        </p:nvSpPr>
        <p:spPr>
          <a:xfrm rot="18900000">
            <a:off x="6079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6" name="object 26"/>
          <p:cNvSpPr txBox="1"/>
          <p:nvPr/>
        </p:nvSpPr>
        <p:spPr>
          <a:xfrm rot="18900000">
            <a:off x="6079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7" name="object 27"/>
          <p:cNvSpPr txBox="1"/>
          <p:nvPr/>
        </p:nvSpPr>
        <p:spPr>
          <a:xfrm rot="18900000">
            <a:off x="6079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8" name="object 28"/>
          <p:cNvSpPr txBox="1"/>
          <p:nvPr/>
        </p:nvSpPr>
        <p:spPr>
          <a:xfrm rot="18900000">
            <a:off x="6142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9" name="object 29"/>
          <p:cNvSpPr txBox="1"/>
          <p:nvPr/>
        </p:nvSpPr>
        <p:spPr>
          <a:xfrm rot="18900000">
            <a:off x="766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0" name="object 30"/>
          <p:cNvSpPr txBox="1"/>
          <p:nvPr/>
        </p:nvSpPr>
        <p:spPr>
          <a:xfrm rot="18900000">
            <a:off x="766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1" name="object 31"/>
          <p:cNvSpPr txBox="1"/>
          <p:nvPr/>
        </p:nvSpPr>
        <p:spPr>
          <a:xfrm rot="18900000">
            <a:off x="766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2" name="object 32"/>
          <p:cNvSpPr txBox="1"/>
          <p:nvPr/>
        </p:nvSpPr>
        <p:spPr>
          <a:xfrm rot="18900000">
            <a:off x="766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3" name="object 33"/>
          <p:cNvSpPr txBox="1"/>
          <p:nvPr/>
        </p:nvSpPr>
        <p:spPr>
          <a:xfrm rot="18900000">
            <a:off x="772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Tree>
  </p:cSld>
  <p:clrMapOvr>
    <a:masterClrMapping/>
  </p:clrMapOvr>
  <p:transition>
    <p:randomBar dir="ver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076825" y="1196975"/>
            <a:ext cx="3600450" cy="5105400"/>
          </a:xfrm>
          <a:prstGeom prst="rect">
            <a:avLst/>
          </a:prstGeom>
          <a:blipFill>
            <a:blip r:embed="rId1" cstate="print"/>
            <a:stretch>
              <a:fillRect/>
            </a:stretch>
          </a:blipFill>
        </p:spPr>
        <p:txBody>
          <a:bodyPr wrap="square" lIns="0" tIns="0" rIns="0" bIns="0" rtlCol="0"/>
          <a:lstStyle/>
          <a:p>
            <a:endParaRPr sz="1800"/>
          </a:p>
        </p:txBody>
      </p:sp>
      <p:sp>
        <p:nvSpPr>
          <p:cNvPr id="3" name="object 3"/>
          <p:cNvSpPr txBox="1">
            <a:spLocks noGrp="1"/>
          </p:cNvSpPr>
          <p:nvPr>
            <p:ph type="title"/>
          </p:nvPr>
        </p:nvSpPr>
        <p:spPr>
          <a:xfrm>
            <a:off x="618540" y="427177"/>
            <a:ext cx="5806440" cy="574675"/>
          </a:xfrm>
          <a:prstGeom prst="rect">
            <a:avLst/>
          </a:prstGeom>
        </p:spPr>
        <p:txBody>
          <a:bodyPr vert="horz" wrap="square" lIns="0" tIns="12700" rIns="0" bIns="0" rtlCol="0">
            <a:spAutoFit/>
          </a:bodyPr>
          <a:lstStyle/>
          <a:p>
            <a:pPr marL="12700">
              <a:lnSpc>
                <a:spcPct val="100000"/>
              </a:lnSpc>
              <a:spcBef>
                <a:spcPts val="100"/>
              </a:spcBef>
            </a:pPr>
            <a:r>
              <a:rPr dirty="0">
                <a:latin typeface="Times New Roman" panose="02020603050405020304"/>
                <a:cs typeface="Times New Roman" panose="02020603050405020304"/>
              </a:rPr>
              <a:t>NASICON</a:t>
            </a:r>
            <a:r>
              <a:rPr spc="5" dirty="0"/>
              <a:t>结构型固体电解质</a:t>
            </a:r>
            <a:endParaRPr spc="5" dirty="0"/>
          </a:p>
        </p:txBody>
      </p:sp>
      <p:sp>
        <p:nvSpPr>
          <p:cNvPr id="4" name="object 4"/>
          <p:cNvSpPr txBox="1"/>
          <p:nvPr/>
        </p:nvSpPr>
        <p:spPr>
          <a:xfrm>
            <a:off x="278790" y="1245488"/>
            <a:ext cx="4577715" cy="4099560"/>
          </a:xfrm>
          <a:prstGeom prst="rect">
            <a:avLst/>
          </a:prstGeom>
        </p:spPr>
        <p:txBody>
          <a:bodyPr vert="horz" wrap="square" lIns="0" tIns="12700" rIns="0" bIns="0" rtlCol="0">
            <a:spAutoFit/>
          </a:bodyPr>
          <a:lstStyle/>
          <a:p>
            <a:pPr marL="136525" marR="55880" algn="just">
              <a:lnSpc>
                <a:spcPct val="150000"/>
              </a:lnSpc>
              <a:spcBef>
                <a:spcPts val="100"/>
              </a:spcBef>
            </a:pPr>
            <a:r>
              <a:rPr sz="1800" b="1" spc="-5" dirty="0">
                <a:solidFill>
                  <a:srgbClr val="006FC0"/>
                </a:solidFill>
                <a:latin typeface="Times New Roman" panose="02020603050405020304"/>
                <a:cs typeface="Times New Roman" panose="02020603050405020304"/>
              </a:rPr>
              <a:t>NASICON</a:t>
            </a:r>
            <a:r>
              <a:rPr sz="1800" b="1" spc="10" dirty="0">
                <a:solidFill>
                  <a:srgbClr val="006FC0"/>
                </a:solidFill>
                <a:latin typeface="Microsoft JhengHei" panose="020B0604030504040204" charset="-120"/>
                <a:cs typeface="Microsoft JhengHei" panose="020B0604030504040204" charset="-120"/>
              </a:rPr>
              <a:t>是</a:t>
            </a:r>
            <a:r>
              <a:rPr sz="1800" b="1" spc="-5" dirty="0">
                <a:solidFill>
                  <a:srgbClr val="006FC0"/>
                </a:solidFill>
                <a:latin typeface="Times New Roman" panose="02020603050405020304"/>
                <a:cs typeface="Times New Roman" panose="02020603050405020304"/>
              </a:rPr>
              <a:t>sodium</a:t>
            </a:r>
            <a:r>
              <a:rPr sz="1800" b="1" spc="15" dirty="0">
                <a:solidFill>
                  <a:srgbClr val="006FC0"/>
                </a:solidFill>
                <a:latin typeface="Times New Roman" panose="02020603050405020304"/>
                <a:cs typeface="Times New Roman" panose="02020603050405020304"/>
              </a:rPr>
              <a:t> </a:t>
            </a:r>
            <a:r>
              <a:rPr sz="1800" b="1" spc="-5" dirty="0">
                <a:solidFill>
                  <a:srgbClr val="006FC0"/>
                </a:solidFill>
                <a:latin typeface="Times New Roman" panose="02020603050405020304"/>
                <a:cs typeface="Times New Roman" panose="02020603050405020304"/>
              </a:rPr>
              <a:t>super</a:t>
            </a:r>
            <a:r>
              <a:rPr sz="1800" b="1" spc="-30" dirty="0">
                <a:solidFill>
                  <a:srgbClr val="006FC0"/>
                </a:solidFill>
                <a:latin typeface="Times New Roman" panose="02020603050405020304"/>
                <a:cs typeface="Times New Roman" panose="02020603050405020304"/>
              </a:rPr>
              <a:t> </a:t>
            </a:r>
            <a:r>
              <a:rPr sz="1800" b="1" spc="-5" dirty="0">
                <a:solidFill>
                  <a:srgbClr val="006FC0"/>
                </a:solidFill>
                <a:latin typeface="Times New Roman" panose="02020603050405020304"/>
                <a:cs typeface="Times New Roman" panose="02020603050405020304"/>
              </a:rPr>
              <a:t>ion</a:t>
            </a:r>
            <a:r>
              <a:rPr sz="1800" b="1" dirty="0">
                <a:solidFill>
                  <a:srgbClr val="006FC0"/>
                </a:solidFill>
                <a:latin typeface="Times New Roman" panose="02020603050405020304"/>
                <a:cs typeface="Times New Roman" panose="02020603050405020304"/>
              </a:rPr>
              <a:t> </a:t>
            </a:r>
            <a:r>
              <a:rPr sz="1800" b="1" spc="-5" dirty="0">
                <a:solidFill>
                  <a:srgbClr val="006FC0"/>
                </a:solidFill>
                <a:latin typeface="Times New Roman" panose="02020603050405020304"/>
                <a:cs typeface="Times New Roman" panose="02020603050405020304"/>
              </a:rPr>
              <a:t>conductors</a:t>
            </a:r>
            <a:r>
              <a:rPr sz="1800" b="1" dirty="0">
                <a:solidFill>
                  <a:srgbClr val="006FC0"/>
                </a:solidFill>
                <a:latin typeface="Times New Roman" panose="02020603050405020304"/>
                <a:cs typeface="Times New Roman" panose="02020603050405020304"/>
              </a:rPr>
              <a:t> </a:t>
            </a:r>
            <a:r>
              <a:rPr sz="1800" b="1" dirty="0">
                <a:solidFill>
                  <a:srgbClr val="006FC0"/>
                </a:solidFill>
                <a:latin typeface="Microsoft JhengHei" panose="020B0604030504040204" charset="-120"/>
                <a:cs typeface="Microsoft JhengHei" panose="020B0604030504040204" charset="-120"/>
              </a:rPr>
              <a:t>的 </a:t>
            </a:r>
            <a:r>
              <a:rPr sz="1800" b="1" spc="10" dirty="0">
                <a:solidFill>
                  <a:srgbClr val="006FC0"/>
                </a:solidFill>
                <a:latin typeface="Microsoft JhengHei" panose="020B0604030504040204" charset="-120"/>
                <a:cs typeface="Microsoft JhengHei" panose="020B0604030504040204" charset="-120"/>
              </a:rPr>
              <a:t>缩写，称为</a:t>
            </a:r>
            <a:r>
              <a:rPr sz="1800" b="1" spc="10" dirty="0">
                <a:solidFill>
                  <a:srgbClr val="C00000"/>
                </a:solidFill>
                <a:latin typeface="Microsoft JhengHei" panose="020B0604030504040204" charset="-120"/>
                <a:cs typeface="Microsoft JhengHei" panose="020B0604030504040204" charset="-120"/>
              </a:rPr>
              <a:t>钠快离子导</a:t>
            </a:r>
            <a:r>
              <a:rPr sz="1800" b="1" spc="15" dirty="0">
                <a:solidFill>
                  <a:srgbClr val="C00000"/>
                </a:solidFill>
                <a:latin typeface="Microsoft JhengHei" panose="020B0604030504040204" charset="-120"/>
                <a:cs typeface="Microsoft JhengHei" panose="020B0604030504040204" charset="-120"/>
              </a:rPr>
              <a:t>体</a:t>
            </a:r>
            <a:r>
              <a:rPr sz="1800" b="1" spc="10" dirty="0">
                <a:solidFill>
                  <a:srgbClr val="006FC0"/>
                </a:solidFill>
                <a:latin typeface="Microsoft JhengHei" panose="020B0604030504040204" charset="-120"/>
                <a:cs typeface="Microsoft JhengHei" panose="020B0604030504040204" charset="-120"/>
              </a:rPr>
              <a:t>。这类化合物的化 学式通式为</a:t>
            </a:r>
            <a:r>
              <a:rPr sz="1800" b="1" spc="-5" dirty="0">
                <a:solidFill>
                  <a:srgbClr val="006FC0"/>
                </a:solidFill>
                <a:latin typeface="Times New Roman" panose="02020603050405020304"/>
                <a:cs typeface="Times New Roman" panose="02020603050405020304"/>
              </a:rPr>
              <a:t>M[A</a:t>
            </a:r>
            <a:r>
              <a:rPr sz="1800" b="1" spc="-7" baseline="-21000" dirty="0">
                <a:solidFill>
                  <a:srgbClr val="006FC0"/>
                </a:solidFill>
                <a:latin typeface="Times New Roman" panose="02020603050405020304"/>
                <a:cs typeface="Times New Roman" panose="02020603050405020304"/>
              </a:rPr>
              <a:t>2</a:t>
            </a:r>
            <a:r>
              <a:rPr sz="1800" b="1" spc="-5" dirty="0">
                <a:solidFill>
                  <a:srgbClr val="006FC0"/>
                </a:solidFill>
                <a:latin typeface="Times New Roman" panose="02020603050405020304"/>
                <a:cs typeface="Times New Roman" panose="02020603050405020304"/>
              </a:rPr>
              <a:t>B</a:t>
            </a:r>
            <a:r>
              <a:rPr sz="1800" b="1" spc="-7" baseline="-21000" dirty="0">
                <a:solidFill>
                  <a:srgbClr val="006FC0"/>
                </a:solidFill>
                <a:latin typeface="Times New Roman" panose="02020603050405020304"/>
                <a:cs typeface="Times New Roman" panose="02020603050405020304"/>
              </a:rPr>
              <a:t>3</a:t>
            </a:r>
            <a:r>
              <a:rPr sz="1800" b="1" spc="-5" dirty="0">
                <a:solidFill>
                  <a:srgbClr val="006FC0"/>
                </a:solidFill>
                <a:latin typeface="Times New Roman" panose="02020603050405020304"/>
                <a:cs typeface="Times New Roman" panose="02020603050405020304"/>
              </a:rPr>
              <a:t>O</a:t>
            </a:r>
            <a:r>
              <a:rPr sz="1800" b="1" spc="-7" baseline="-21000" dirty="0">
                <a:solidFill>
                  <a:srgbClr val="006FC0"/>
                </a:solidFill>
                <a:latin typeface="Times New Roman" panose="02020603050405020304"/>
                <a:cs typeface="Times New Roman" panose="02020603050405020304"/>
              </a:rPr>
              <a:t>12</a:t>
            </a:r>
            <a:r>
              <a:rPr sz="1800" b="1" spc="-5" dirty="0">
                <a:solidFill>
                  <a:srgbClr val="006FC0"/>
                </a:solidFill>
                <a:latin typeface="Times New Roman" panose="02020603050405020304"/>
                <a:cs typeface="Times New Roman" panose="02020603050405020304"/>
              </a:rPr>
              <a:t>]</a:t>
            </a:r>
            <a:r>
              <a:rPr sz="1800" b="1" dirty="0">
                <a:solidFill>
                  <a:srgbClr val="006FC0"/>
                </a:solidFill>
                <a:latin typeface="Microsoft JhengHei" panose="020B0604030504040204" charset="-120"/>
                <a:cs typeface="Microsoft JhengHei" panose="020B0604030504040204" charset="-120"/>
              </a:rPr>
              <a:t>。</a:t>
            </a:r>
            <a:endParaRPr sz="1800">
              <a:latin typeface="Microsoft JhengHei" panose="020B0604030504040204" charset="-120"/>
              <a:cs typeface="Microsoft JhengHei" panose="020B0604030504040204" charset="-120"/>
            </a:endParaRPr>
          </a:p>
          <a:p>
            <a:pPr>
              <a:lnSpc>
                <a:spcPct val="100000"/>
              </a:lnSpc>
            </a:pPr>
            <a:endParaRPr sz="2300">
              <a:latin typeface="Times New Roman" panose="02020603050405020304"/>
              <a:cs typeface="Times New Roman" panose="02020603050405020304"/>
            </a:endParaRPr>
          </a:p>
          <a:p>
            <a:pPr marL="63500">
              <a:lnSpc>
                <a:spcPct val="100000"/>
              </a:lnSpc>
              <a:spcBef>
                <a:spcPts val="1350"/>
              </a:spcBef>
            </a:pPr>
            <a:r>
              <a:rPr sz="1800" dirty="0">
                <a:latin typeface="Times New Roman" panose="02020603050405020304"/>
                <a:cs typeface="Times New Roman" panose="02020603050405020304"/>
              </a:rPr>
              <a:t>1976</a:t>
            </a:r>
            <a:r>
              <a:rPr sz="1800" dirty="0">
                <a:latin typeface="宋体" panose="02010600030101010101" pitchFamily="2" charset="-122"/>
                <a:cs typeface="宋体" panose="02010600030101010101" pitchFamily="2" charset="-122"/>
              </a:rPr>
              <a:t>年，</a:t>
            </a:r>
            <a:r>
              <a:rPr sz="1800" dirty="0">
                <a:latin typeface="Times New Roman" panose="02020603050405020304"/>
                <a:cs typeface="Times New Roman" panose="02020603050405020304"/>
              </a:rPr>
              <a:t>Goodenough</a:t>
            </a:r>
            <a:r>
              <a:rPr sz="1800" dirty="0">
                <a:latin typeface="宋体" panose="02010600030101010101" pitchFamily="2" charset="-122"/>
                <a:cs typeface="宋体" panose="02010600030101010101" pitchFamily="2" charset="-122"/>
              </a:rPr>
              <a:t>合成了</a:t>
            </a:r>
            <a:r>
              <a:rPr sz="1800" spc="-5" dirty="0">
                <a:latin typeface="Times New Roman" panose="02020603050405020304"/>
                <a:cs typeface="Times New Roman" panose="02020603050405020304"/>
              </a:rPr>
              <a:t>Na</a:t>
            </a:r>
            <a:r>
              <a:rPr sz="1800" spc="-7" baseline="-21000" dirty="0">
                <a:latin typeface="Times New Roman" panose="02020603050405020304"/>
                <a:cs typeface="Times New Roman" panose="02020603050405020304"/>
              </a:rPr>
              <a:t>3</a:t>
            </a:r>
            <a:r>
              <a:rPr sz="1800" spc="-5" dirty="0">
                <a:latin typeface="Times New Roman" panose="02020603050405020304"/>
                <a:cs typeface="Times New Roman" panose="02020603050405020304"/>
              </a:rPr>
              <a:t>Zr</a:t>
            </a:r>
            <a:r>
              <a:rPr sz="1800" spc="-7" baseline="-21000" dirty="0">
                <a:latin typeface="Times New Roman" panose="02020603050405020304"/>
                <a:cs typeface="Times New Roman" panose="02020603050405020304"/>
              </a:rPr>
              <a:t>2</a:t>
            </a:r>
            <a:r>
              <a:rPr sz="1800" spc="-5" dirty="0">
                <a:latin typeface="Times New Roman" panose="02020603050405020304"/>
                <a:cs typeface="Times New Roman" panose="02020603050405020304"/>
              </a:rPr>
              <a:t>Si</a:t>
            </a:r>
            <a:r>
              <a:rPr sz="1800" spc="-7" baseline="-21000" dirty="0">
                <a:latin typeface="Times New Roman" panose="02020603050405020304"/>
                <a:cs typeface="Times New Roman" panose="02020603050405020304"/>
              </a:rPr>
              <a:t>2</a:t>
            </a:r>
            <a:r>
              <a:rPr sz="1800" spc="-5" dirty="0">
                <a:latin typeface="Times New Roman" panose="02020603050405020304"/>
                <a:cs typeface="Times New Roman" panose="02020603050405020304"/>
              </a:rPr>
              <a:t>PO</a:t>
            </a:r>
            <a:r>
              <a:rPr sz="1800" spc="-7" baseline="-21000" dirty="0">
                <a:latin typeface="Times New Roman" panose="02020603050405020304"/>
                <a:cs typeface="Times New Roman" panose="02020603050405020304"/>
              </a:rPr>
              <a:t>12</a:t>
            </a:r>
            <a:endParaRPr sz="1800" baseline="-21000">
              <a:latin typeface="Times New Roman" panose="02020603050405020304"/>
              <a:cs typeface="Times New Roman" panose="02020603050405020304"/>
            </a:endParaRPr>
          </a:p>
          <a:p>
            <a:pPr marL="63500">
              <a:lnSpc>
                <a:spcPct val="100000"/>
              </a:lnSpc>
              <a:spcBef>
                <a:spcPts val="1080"/>
              </a:spcBef>
            </a:pPr>
            <a:r>
              <a:rPr sz="1800" dirty="0">
                <a:latin typeface="宋体" panose="02010600030101010101" pitchFamily="2" charset="-122"/>
                <a:cs typeface="宋体" panose="02010600030101010101" pitchFamily="2" charset="-122"/>
              </a:rPr>
              <a:t>就是</a:t>
            </a:r>
            <a:r>
              <a:rPr sz="1800" spc="-5" dirty="0">
                <a:latin typeface="Times New Roman" panose="02020603050405020304"/>
                <a:cs typeface="Times New Roman" panose="02020603050405020304"/>
              </a:rPr>
              <a:t>NASICON</a:t>
            </a:r>
            <a:r>
              <a:rPr sz="1800" dirty="0">
                <a:latin typeface="宋体" panose="02010600030101010101" pitchFamily="2" charset="-122"/>
                <a:cs typeface="宋体" panose="02010600030101010101" pitchFamily="2" charset="-122"/>
              </a:rPr>
              <a:t>型的钠离子导体。</a:t>
            </a:r>
            <a:endParaRPr sz="1800">
              <a:latin typeface="宋体" panose="02010600030101010101" pitchFamily="2" charset="-122"/>
              <a:cs typeface="宋体" panose="02010600030101010101" pitchFamily="2" charset="-122"/>
            </a:endParaRPr>
          </a:p>
          <a:p>
            <a:pPr>
              <a:lnSpc>
                <a:spcPct val="100000"/>
              </a:lnSpc>
              <a:spcBef>
                <a:spcPts val="15"/>
              </a:spcBef>
            </a:pPr>
            <a:endParaRPr sz="2800">
              <a:latin typeface="Times New Roman" panose="02020603050405020304"/>
              <a:cs typeface="Times New Roman" panose="02020603050405020304"/>
            </a:endParaRPr>
          </a:p>
          <a:p>
            <a:pPr marL="63500" marR="1242695">
              <a:lnSpc>
                <a:spcPct val="150000"/>
              </a:lnSpc>
              <a:spcBef>
                <a:spcPts val="5"/>
              </a:spcBef>
            </a:pPr>
            <a:r>
              <a:rPr sz="1800" dirty="0">
                <a:latin typeface="宋体" panose="02010600030101010101" pitchFamily="2" charset="-122"/>
                <a:cs typeface="宋体" panose="02010600030101010101" pitchFamily="2" charset="-122"/>
              </a:rPr>
              <a:t>研发的锂离子固体电解质：  </a:t>
            </a:r>
            <a:r>
              <a:rPr sz="1800" spc="-10" dirty="0">
                <a:latin typeface="Times New Roman" panose="02020603050405020304"/>
                <a:cs typeface="Times New Roman" panose="02020603050405020304"/>
              </a:rPr>
              <a:t>Li</a:t>
            </a:r>
            <a:r>
              <a:rPr sz="1800" spc="-15" baseline="-21000" dirty="0">
                <a:latin typeface="Times New Roman" panose="02020603050405020304"/>
                <a:cs typeface="Times New Roman" panose="02020603050405020304"/>
              </a:rPr>
              <a:t>2</a:t>
            </a:r>
            <a:r>
              <a:rPr sz="1800" spc="-10" dirty="0">
                <a:latin typeface="Times New Roman" panose="02020603050405020304"/>
                <a:cs typeface="Times New Roman" panose="02020603050405020304"/>
              </a:rPr>
              <a:t>O-Al</a:t>
            </a:r>
            <a:r>
              <a:rPr sz="1800" spc="-15" baseline="-21000" dirty="0">
                <a:latin typeface="Times New Roman" panose="02020603050405020304"/>
                <a:cs typeface="Times New Roman" panose="02020603050405020304"/>
              </a:rPr>
              <a:t>2</a:t>
            </a:r>
            <a:r>
              <a:rPr sz="1800" spc="-10" dirty="0">
                <a:latin typeface="Times New Roman" panose="02020603050405020304"/>
                <a:cs typeface="Times New Roman" panose="02020603050405020304"/>
              </a:rPr>
              <a:t>O</a:t>
            </a:r>
            <a:r>
              <a:rPr sz="1800" spc="-15" baseline="-21000" dirty="0">
                <a:latin typeface="Times New Roman" panose="02020603050405020304"/>
                <a:cs typeface="Times New Roman" panose="02020603050405020304"/>
              </a:rPr>
              <a:t>3</a:t>
            </a:r>
            <a:r>
              <a:rPr sz="1800" spc="-10" dirty="0">
                <a:latin typeface="Times New Roman" panose="02020603050405020304"/>
                <a:cs typeface="Times New Roman" panose="02020603050405020304"/>
              </a:rPr>
              <a:t>-TiO</a:t>
            </a:r>
            <a:r>
              <a:rPr sz="1800" spc="-15" baseline="-21000" dirty="0">
                <a:latin typeface="Times New Roman" panose="02020603050405020304"/>
                <a:cs typeface="Times New Roman" panose="02020603050405020304"/>
              </a:rPr>
              <a:t>2</a:t>
            </a:r>
            <a:r>
              <a:rPr sz="1800" spc="-10" dirty="0">
                <a:latin typeface="Times New Roman" panose="02020603050405020304"/>
                <a:cs typeface="Times New Roman" panose="02020603050405020304"/>
              </a:rPr>
              <a:t>-P</a:t>
            </a:r>
            <a:r>
              <a:rPr sz="1800" spc="-15" baseline="-21000" dirty="0">
                <a:latin typeface="Times New Roman" panose="02020603050405020304"/>
                <a:cs typeface="Times New Roman" panose="02020603050405020304"/>
              </a:rPr>
              <a:t>2</a:t>
            </a:r>
            <a:r>
              <a:rPr sz="1800" spc="-10" dirty="0">
                <a:latin typeface="Times New Roman" panose="02020603050405020304"/>
                <a:cs typeface="Times New Roman" panose="02020603050405020304"/>
              </a:rPr>
              <a:t>O</a:t>
            </a:r>
            <a:r>
              <a:rPr sz="1800" spc="-15" baseline="-21000" dirty="0">
                <a:latin typeface="Times New Roman" panose="02020603050405020304"/>
                <a:cs typeface="Times New Roman" panose="02020603050405020304"/>
              </a:rPr>
              <a:t>5</a:t>
            </a:r>
            <a:r>
              <a:rPr sz="1800" spc="-10" dirty="0">
                <a:latin typeface="宋体" panose="02010600030101010101" pitchFamily="2" charset="-122"/>
                <a:cs typeface="宋体" panose="02010600030101010101" pitchFamily="2" charset="-122"/>
              </a:rPr>
              <a:t>（</a:t>
            </a:r>
            <a:r>
              <a:rPr sz="1800" b="1" spc="-10" dirty="0">
                <a:solidFill>
                  <a:srgbClr val="006FC0"/>
                </a:solidFill>
                <a:latin typeface="Times New Roman" panose="02020603050405020304"/>
                <a:cs typeface="Times New Roman" panose="02020603050405020304"/>
              </a:rPr>
              <a:t>LATP</a:t>
            </a:r>
            <a:r>
              <a:rPr sz="1800" spc="-10" dirty="0">
                <a:latin typeface="宋体" panose="02010600030101010101" pitchFamily="2" charset="-122"/>
                <a:cs typeface="宋体" panose="02010600030101010101" pitchFamily="2" charset="-122"/>
              </a:rPr>
              <a:t>）  </a:t>
            </a:r>
            <a:r>
              <a:rPr sz="1800" spc="-5" dirty="0">
                <a:latin typeface="Times New Roman" panose="02020603050405020304"/>
                <a:cs typeface="Times New Roman" panose="02020603050405020304"/>
              </a:rPr>
              <a:t>Li</a:t>
            </a:r>
            <a:r>
              <a:rPr sz="1800" spc="-7" baseline="-21000" dirty="0">
                <a:latin typeface="Times New Roman" panose="02020603050405020304"/>
                <a:cs typeface="Times New Roman" panose="02020603050405020304"/>
              </a:rPr>
              <a:t>2</a:t>
            </a:r>
            <a:r>
              <a:rPr sz="1800" spc="-5" dirty="0">
                <a:latin typeface="Times New Roman" panose="02020603050405020304"/>
                <a:cs typeface="Times New Roman" panose="02020603050405020304"/>
              </a:rPr>
              <a:t>O-Al</a:t>
            </a:r>
            <a:r>
              <a:rPr sz="1800" spc="-7" baseline="-21000" dirty="0">
                <a:latin typeface="Times New Roman" panose="02020603050405020304"/>
                <a:cs typeface="Times New Roman" panose="02020603050405020304"/>
              </a:rPr>
              <a:t>2</a:t>
            </a:r>
            <a:r>
              <a:rPr sz="1800" spc="-5" dirty="0">
                <a:latin typeface="Times New Roman" panose="02020603050405020304"/>
                <a:cs typeface="Times New Roman" panose="02020603050405020304"/>
              </a:rPr>
              <a:t>O</a:t>
            </a:r>
            <a:r>
              <a:rPr sz="1800" spc="-7" baseline="-21000" dirty="0">
                <a:latin typeface="Times New Roman" panose="02020603050405020304"/>
                <a:cs typeface="Times New Roman" panose="02020603050405020304"/>
              </a:rPr>
              <a:t>3</a:t>
            </a:r>
            <a:r>
              <a:rPr sz="1800" spc="-5" dirty="0">
                <a:latin typeface="Times New Roman" panose="02020603050405020304"/>
                <a:cs typeface="Times New Roman" panose="02020603050405020304"/>
              </a:rPr>
              <a:t>-GeO</a:t>
            </a:r>
            <a:r>
              <a:rPr sz="1800" spc="-7" baseline="-21000" dirty="0">
                <a:latin typeface="Times New Roman" panose="02020603050405020304"/>
                <a:cs typeface="Times New Roman" panose="02020603050405020304"/>
              </a:rPr>
              <a:t>2</a:t>
            </a:r>
            <a:r>
              <a:rPr sz="1800" spc="-5" dirty="0">
                <a:latin typeface="Times New Roman" panose="02020603050405020304"/>
                <a:cs typeface="Times New Roman" panose="02020603050405020304"/>
              </a:rPr>
              <a:t>-P</a:t>
            </a:r>
            <a:r>
              <a:rPr sz="1800" spc="-7" baseline="-21000" dirty="0">
                <a:latin typeface="Times New Roman" panose="02020603050405020304"/>
                <a:cs typeface="Times New Roman" panose="02020603050405020304"/>
              </a:rPr>
              <a:t>2</a:t>
            </a:r>
            <a:r>
              <a:rPr sz="1800" spc="-5" dirty="0">
                <a:latin typeface="Times New Roman" panose="02020603050405020304"/>
                <a:cs typeface="Times New Roman" panose="02020603050405020304"/>
              </a:rPr>
              <a:t>O</a:t>
            </a:r>
            <a:r>
              <a:rPr sz="1800" spc="-7" baseline="-21000" dirty="0">
                <a:latin typeface="Times New Roman" panose="02020603050405020304"/>
                <a:cs typeface="Times New Roman" panose="02020603050405020304"/>
              </a:rPr>
              <a:t>5</a:t>
            </a:r>
            <a:r>
              <a:rPr sz="1800" spc="-5" dirty="0">
                <a:latin typeface="宋体" panose="02010600030101010101" pitchFamily="2" charset="-122"/>
                <a:cs typeface="宋体" panose="02010600030101010101" pitchFamily="2" charset="-122"/>
              </a:rPr>
              <a:t>（</a:t>
            </a:r>
            <a:r>
              <a:rPr sz="1800" b="1" spc="-5" dirty="0">
                <a:solidFill>
                  <a:srgbClr val="006FC0"/>
                </a:solidFill>
                <a:latin typeface="Times New Roman" panose="02020603050405020304"/>
                <a:cs typeface="Times New Roman" panose="02020603050405020304"/>
              </a:rPr>
              <a:t>LAGP</a:t>
            </a:r>
            <a:r>
              <a:rPr sz="1800" spc="-5" dirty="0">
                <a:latin typeface="宋体" panose="02010600030101010101" pitchFamily="2" charset="-122"/>
                <a:cs typeface="宋体" panose="02010600030101010101" pitchFamily="2" charset="-122"/>
              </a:rPr>
              <a:t>）</a:t>
            </a:r>
            <a:endParaRPr sz="1800">
              <a:latin typeface="宋体" panose="02010600030101010101" pitchFamily="2" charset="-122"/>
              <a:cs typeface="宋体" panose="02010600030101010101" pitchFamily="2" charset="-122"/>
            </a:endParaRPr>
          </a:p>
        </p:txBody>
      </p:sp>
      <p:sp>
        <p:nvSpPr>
          <p:cNvPr id="5" name="object 5"/>
          <p:cNvSpPr txBox="1"/>
          <p:nvPr/>
        </p:nvSpPr>
        <p:spPr>
          <a:xfrm rot="18900000">
            <a:off x="-109676" y="6146183"/>
            <a:ext cx="1213920"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6" name="object 6"/>
          <p:cNvSpPr txBox="1"/>
          <p:nvPr/>
        </p:nvSpPr>
        <p:spPr>
          <a:xfrm rot="18900000">
            <a:off x="-270503"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7" name="object 7"/>
          <p:cNvSpPr txBox="1"/>
          <p:nvPr/>
        </p:nvSpPr>
        <p:spPr>
          <a:xfrm rot="18900000">
            <a:off x="-270503"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8" name="object 8"/>
          <p:cNvSpPr txBox="1"/>
          <p:nvPr/>
        </p:nvSpPr>
        <p:spPr>
          <a:xfrm rot="18900000">
            <a:off x="-270503"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9" name="object 9"/>
          <p:cNvSpPr txBox="1"/>
          <p:nvPr/>
        </p:nvSpPr>
        <p:spPr>
          <a:xfrm rot="18900000">
            <a:off x="-207607"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0" name="object 10"/>
          <p:cNvSpPr txBox="1"/>
          <p:nvPr/>
        </p:nvSpPr>
        <p:spPr>
          <a:xfrm rot="18900000">
            <a:off x="131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1" name="object 11"/>
          <p:cNvSpPr txBox="1"/>
          <p:nvPr/>
        </p:nvSpPr>
        <p:spPr>
          <a:xfrm rot="18900000">
            <a:off x="131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2" name="object 12"/>
          <p:cNvSpPr txBox="1"/>
          <p:nvPr/>
        </p:nvSpPr>
        <p:spPr>
          <a:xfrm rot="18900000">
            <a:off x="131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3" name="object 13"/>
          <p:cNvSpPr txBox="1"/>
          <p:nvPr/>
        </p:nvSpPr>
        <p:spPr>
          <a:xfrm rot="18900000">
            <a:off x="131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4" name="object 14"/>
          <p:cNvSpPr txBox="1"/>
          <p:nvPr/>
        </p:nvSpPr>
        <p:spPr>
          <a:xfrm rot="18900000">
            <a:off x="137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5" name="object 15"/>
          <p:cNvSpPr txBox="1"/>
          <p:nvPr/>
        </p:nvSpPr>
        <p:spPr>
          <a:xfrm rot="18900000">
            <a:off x="2904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6" name="object 16"/>
          <p:cNvSpPr txBox="1"/>
          <p:nvPr/>
        </p:nvSpPr>
        <p:spPr>
          <a:xfrm rot="18900000">
            <a:off x="2904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7" name="object 17"/>
          <p:cNvSpPr txBox="1"/>
          <p:nvPr/>
        </p:nvSpPr>
        <p:spPr>
          <a:xfrm rot="18900000">
            <a:off x="2904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8" name="object 18"/>
          <p:cNvSpPr txBox="1"/>
          <p:nvPr/>
        </p:nvSpPr>
        <p:spPr>
          <a:xfrm rot="18900000">
            <a:off x="2904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9" name="object 19"/>
          <p:cNvSpPr txBox="1"/>
          <p:nvPr/>
        </p:nvSpPr>
        <p:spPr>
          <a:xfrm rot="18900000">
            <a:off x="2967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0" name="object 20"/>
          <p:cNvSpPr txBox="1"/>
          <p:nvPr/>
        </p:nvSpPr>
        <p:spPr>
          <a:xfrm rot="18900000">
            <a:off x="4491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1" name="object 21"/>
          <p:cNvSpPr txBox="1"/>
          <p:nvPr/>
        </p:nvSpPr>
        <p:spPr>
          <a:xfrm rot="18900000">
            <a:off x="4491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2" name="object 22"/>
          <p:cNvSpPr txBox="1"/>
          <p:nvPr/>
        </p:nvSpPr>
        <p:spPr>
          <a:xfrm rot="18900000">
            <a:off x="4491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3" name="object 23"/>
          <p:cNvSpPr txBox="1"/>
          <p:nvPr/>
        </p:nvSpPr>
        <p:spPr>
          <a:xfrm rot="18900000">
            <a:off x="4491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4" name="object 24"/>
          <p:cNvSpPr txBox="1"/>
          <p:nvPr/>
        </p:nvSpPr>
        <p:spPr>
          <a:xfrm rot="18900000">
            <a:off x="4554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5" name="object 25"/>
          <p:cNvSpPr txBox="1"/>
          <p:nvPr/>
        </p:nvSpPr>
        <p:spPr>
          <a:xfrm rot="18900000">
            <a:off x="6079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6" name="object 26"/>
          <p:cNvSpPr txBox="1"/>
          <p:nvPr/>
        </p:nvSpPr>
        <p:spPr>
          <a:xfrm rot="18900000">
            <a:off x="6079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7" name="object 27"/>
          <p:cNvSpPr txBox="1"/>
          <p:nvPr/>
        </p:nvSpPr>
        <p:spPr>
          <a:xfrm rot="18900000">
            <a:off x="6079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8" name="object 28"/>
          <p:cNvSpPr txBox="1"/>
          <p:nvPr/>
        </p:nvSpPr>
        <p:spPr>
          <a:xfrm rot="18900000">
            <a:off x="6079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9" name="object 29"/>
          <p:cNvSpPr txBox="1"/>
          <p:nvPr/>
        </p:nvSpPr>
        <p:spPr>
          <a:xfrm rot="18900000">
            <a:off x="6142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0" name="object 30"/>
          <p:cNvSpPr txBox="1"/>
          <p:nvPr/>
        </p:nvSpPr>
        <p:spPr>
          <a:xfrm rot="18900000">
            <a:off x="766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1" name="object 31"/>
          <p:cNvSpPr txBox="1"/>
          <p:nvPr/>
        </p:nvSpPr>
        <p:spPr>
          <a:xfrm rot="18900000">
            <a:off x="766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2" name="object 32"/>
          <p:cNvSpPr txBox="1"/>
          <p:nvPr/>
        </p:nvSpPr>
        <p:spPr>
          <a:xfrm rot="18900000">
            <a:off x="766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3" name="object 33"/>
          <p:cNvSpPr txBox="1"/>
          <p:nvPr/>
        </p:nvSpPr>
        <p:spPr>
          <a:xfrm rot="18900000">
            <a:off x="766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4" name="object 34"/>
          <p:cNvSpPr txBox="1"/>
          <p:nvPr/>
        </p:nvSpPr>
        <p:spPr>
          <a:xfrm rot="18900000">
            <a:off x="772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Tree>
  </p:cSld>
  <p:clrMapOvr>
    <a:masterClrMapping/>
  </p:clrMapOvr>
  <p:transition>
    <p:randomBar dir="ver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43501" y="1450297"/>
            <a:ext cx="4232112" cy="4381784"/>
          </a:xfrm>
          <a:prstGeom prst="rect">
            <a:avLst/>
          </a:prstGeom>
          <a:blipFill>
            <a:blip r:embed="rId1" cstate="print"/>
            <a:stretch>
              <a:fillRect/>
            </a:stretch>
          </a:blipFill>
        </p:spPr>
        <p:txBody>
          <a:bodyPr wrap="square" lIns="0" tIns="0" rIns="0" bIns="0" rtlCol="0"/>
          <a:lstStyle/>
          <a:p>
            <a:endParaRPr sz="1800"/>
          </a:p>
        </p:txBody>
      </p:sp>
      <p:sp>
        <p:nvSpPr>
          <p:cNvPr id="3" name="object 3"/>
          <p:cNvSpPr txBox="1">
            <a:spLocks noGrp="1"/>
          </p:cNvSpPr>
          <p:nvPr>
            <p:ph type="title"/>
          </p:nvPr>
        </p:nvSpPr>
        <p:spPr>
          <a:xfrm>
            <a:off x="402742" y="430225"/>
            <a:ext cx="5071745" cy="574675"/>
          </a:xfrm>
          <a:prstGeom prst="rect">
            <a:avLst/>
          </a:prstGeom>
        </p:spPr>
        <p:txBody>
          <a:bodyPr vert="horz" wrap="square" lIns="0" tIns="12700" rIns="0" bIns="0" rtlCol="0">
            <a:spAutoFit/>
          </a:bodyPr>
          <a:lstStyle/>
          <a:p>
            <a:pPr marL="12700">
              <a:lnSpc>
                <a:spcPct val="100000"/>
              </a:lnSpc>
              <a:spcBef>
                <a:spcPts val="100"/>
              </a:spcBef>
            </a:pPr>
            <a:r>
              <a:rPr spc="5" dirty="0"/>
              <a:t>石榴石结构型固体电解质</a:t>
            </a:r>
            <a:endParaRPr spc="5" dirty="0"/>
          </a:p>
        </p:txBody>
      </p:sp>
      <p:sp>
        <p:nvSpPr>
          <p:cNvPr id="4" name="object 4"/>
          <p:cNvSpPr txBox="1"/>
          <p:nvPr/>
        </p:nvSpPr>
        <p:spPr>
          <a:xfrm>
            <a:off x="448665" y="2225167"/>
            <a:ext cx="3961129" cy="1259840"/>
          </a:xfrm>
          <a:prstGeom prst="rect">
            <a:avLst/>
          </a:prstGeom>
        </p:spPr>
        <p:txBody>
          <a:bodyPr vert="horz" wrap="square" lIns="0" tIns="12700" rIns="0" bIns="0" rtlCol="0">
            <a:spAutoFit/>
          </a:bodyPr>
          <a:lstStyle/>
          <a:p>
            <a:pPr marL="38100" marR="30480" indent="455295">
              <a:lnSpc>
                <a:spcPct val="150000"/>
              </a:lnSpc>
              <a:spcBef>
                <a:spcPts val="100"/>
              </a:spcBef>
            </a:pPr>
            <a:r>
              <a:rPr sz="1800" dirty="0">
                <a:latin typeface="宋体" panose="02010600030101010101" pitchFamily="2" charset="-122"/>
                <a:cs typeface="宋体" panose="02010600030101010101" pitchFamily="2" charset="-122"/>
              </a:rPr>
              <a:t>石榴石型化合物是成分复杂的岛状 硅酸盐材料，理想的化学式通式</a:t>
            </a:r>
            <a:r>
              <a:rPr sz="1800" spc="5" dirty="0">
                <a:latin typeface="宋体" panose="02010600030101010101" pitchFamily="2" charset="-122"/>
                <a:cs typeface="宋体" panose="02010600030101010101" pitchFamily="2" charset="-122"/>
              </a:rPr>
              <a:t>为</a:t>
            </a:r>
            <a:r>
              <a:rPr sz="1800" dirty="0">
                <a:latin typeface="宋体" panose="02010600030101010101" pitchFamily="2" charset="-122"/>
                <a:cs typeface="宋体" panose="02010600030101010101" pitchFamily="2" charset="-122"/>
              </a:rPr>
              <a:t>：  </a:t>
            </a:r>
            <a:r>
              <a:rPr sz="1800" b="1" dirty="0">
                <a:solidFill>
                  <a:srgbClr val="006FC0"/>
                </a:solidFill>
                <a:latin typeface="Times New Roman" panose="02020603050405020304"/>
                <a:cs typeface="Times New Roman" panose="02020603050405020304"/>
              </a:rPr>
              <a:t>X</a:t>
            </a:r>
            <a:r>
              <a:rPr sz="1800" b="1" baseline="-21000" dirty="0">
                <a:solidFill>
                  <a:srgbClr val="006FC0"/>
                </a:solidFill>
                <a:latin typeface="Times New Roman" panose="02020603050405020304"/>
                <a:cs typeface="Times New Roman" panose="02020603050405020304"/>
              </a:rPr>
              <a:t>3</a:t>
            </a:r>
            <a:r>
              <a:rPr sz="1800" b="1" dirty="0">
                <a:solidFill>
                  <a:srgbClr val="006FC0"/>
                </a:solidFill>
                <a:latin typeface="Times New Roman" panose="02020603050405020304"/>
                <a:cs typeface="Times New Roman" panose="02020603050405020304"/>
              </a:rPr>
              <a:t>Y</a:t>
            </a:r>
            <a:r>
              <a:rPr sz="1800" b="1" baseline="-21000" dirty="0">
                <a:solidFill>
                  <a:srgbClr val="006FC0"/>
                </a:solidFill>
                <a:latin typeface="Times New Roman" panose="02020603050405020304"/>
                <a:cs typeface="Times New Roman" panose="02020603050405020304"/>
              </a:rPr>
              <a:t>2</a:t>
            </a:r>
            <a:r>
              <a:rPr sz="1800" b="1" spc="172" baseline="-21000" dirty="0">
                <a:solidFill>
                  <a:srgbClr val="006FC0"/>
                </a:solidFill>
                <a:latin typeface="Times New Roman" panose="02020603050405020304"/>
                <a:cs typeface="Times New Roman" panose="02020603050405020304"/>
              </a:rPr>
              <a:t> </a:t>
            </a:r>
            <a:r>
              <a:rPr sz="1800" b="1" dirty="0">
                <a:solidFill>
                  <a:srgbClr val="006FC0"/>
                </a:solidFill>
                <a:latin typeface="Times New Roman" panose="02020603050405020304"/>
                <a:cs typeface="Times New Roman" panose="02020603050405020304"/>
              </a:rPr>
              <a:t>(SiO</a:t>
            </a:r>
            <a:r>
              <a:rPr sz="1800" b="1" baseline="-21000" dirty="0">
                <a:solidFill>
                  <a:srgbClr val="006FC0"/>
                </a:solidFill>
                <a:latin typeface="Times New Roman" panose="02020603050405020304"/>
                <a:cs typeface="Times New Roman" panose="02020603050405020304"/>
              </a:rPr>
              <a:t>4</a:t>
            </a:r>
            <a:r>
              <a:rPr sz="1800" b="1" dirty="0">
                <a:solidFill>
                  <a:srgbClr val="006FC0"/>
                </a:solidFill>
                <a:latin typeface="Times New Roman" panose="02020603050405020304"/>
                <a:cs typeface="Times New Roman" panose="02020603050405020304"/>
              </a:rPr>
              <a:t>)</a:t>
            </a:r>
            <a:r>
              <a:rPr sz="1800" b="1" baseline="-21000" dirty="0">
                <a:solidFill>
                  <a:srgbClr val="006FC0"/>
                </a:solidFill>
                <a:latin typeface="Times New Roman" panose="02020603050405020304"/>
                <a:cs typeface="Times New Roman" panose="02020603050405020304"/>
              </a:rPr>
              <a:t>3</a:t>
            </a:r>
            <a:r>
              <a:rPr sz="1800" b="1" spc="202" baseline="-21000" dirty="0">
                <a:solidFill>
                  <a:srgbClr val="006FC0"/>
                </a:solidFill>
                <a:latin typeface="Times New Roman" panose="02020603050405020304"/>
                <a:cs typeface="Times New Roman" panose="02020603050405020304"/>
              </a:rPr>
              <a:t> </a:t>
            </a:r>
            <a:r>
              <a:rPr sz="1800" dirty="0">
                <a:latin typeface="宋体" panose="02010600030101010101" pitchFamily="2" charset="-122"/>
                <a:cs typeface="宋体" panose="02010600030101010101" pitchFamily="2" charset="-122"/>
              </a:rPr>
              <a:t>，属于菱方晶系。</a:t>
            </a:r>
            <a:endParaRPr sz="1800">
              <a:latin typeface="宋体" panose="02010600030101010101" pitchFamily="2" charset="-122"/>
              <a:cs typeface="宋体" panose="02010600030101010101" pitchFamily="2" charset="-122"/>
            </a:endParaRPr>
          </a:p>
        </p:txBody>
      </p:sp>
      <p:sp>
        <p:nvSpPr>
          <p:cNvPr id="5" name="object 5"/>
          <p:cNvSpPr txBox="1"/>
          <p:nvPr/>
        </p:nvSpPr>
        <p:spPr>
          <a:xfrm>
            <a:off x="448665" y="4282821"/>
            <a:ext cx="4055110" cy="848360"/>
          </a:xfrm>
          <a:prstGeom prst="rect">
            <a:avLst/>
          </a:prstGeom>
        </p:spPr>
        <p:txBody>
          <a:bodyPr vert="horz" wrap="square" lIns="0" tIns="12700" rIns="0" bIns="0" rtlCol="0">
            <a:spAutoFit/>
          </a:bodyPr>
          <a:lstStyle/>
          <a:p>
            <a:pPr marL="38100" marR="30480" indent="511810">
              <a:lnSpc>
                <a:spcPct val="150000"/>
              </a:lnSpc>
              <a:spcBef>
                <a:spcPts val="100"/>
              </a:spcBef>
            </a:pPr>
            <a:r>
              <a:rPr sz="1800" dirty="0">
                <a:latin typeface="宋体" panose="02010600030101010101" pitchFamily="2" charset="-122"/>
                <a:cs typeface="宋体" panose="02010600030101010101" pitchFamily="2" charset="-122"/>
              </a:rPr>
              <a:t>锆系石榴石</a:t>
            </a:r>
            <a:r>
              <a:rPr sz="1800" spc="-475" dirty="0">
                <a:latin typeface="宋体" panose="02010600030101010101" pitchFamily="2" charset="-122"/>
                <a:cs typeface="宋体" panose="02010600030101010101" pitchFamily="2" charset="-122"/>
              </a:rPr>
              <a:t> </a:t>
            </a:r>
            <a:r>
              <a:rPr sz="1800" b="1" spc="-5" dirty="0">
                <a:solidFill>
                  <a:srgbClr val="006FC0"/>
                </a:solidFill>
                <a:latin typeface="Times New Roman" panose="02020603050405020304"/>
                <a:cs typeface="Times New Roman" panose="02020603050405020304"/>
              </a:rPr>
              <a:t>Li</a:t>
            </a:r>
            <a:r>
              <a:rPr sz="1800" b="1" spc="-7" baseline="-21000" dirty="0">
                <a:solidFill>
                  <a:srgbClr val="006FC0"/>
                </a:solidFill>
                <a:latin typeface="Times New Roman" panose="02020603050405020304"/>
                <a:cs typeface="Times New Roman" panose="02020603050405020304"/>
              </a:rPr>
              <a:t>7</a:t>
            </a:r>
            <a:r>
              <a:rPr sz="1800" b="1" spc="-5" dirty="0">
                <a:solidFill>
                  <a:srgbClr val="006FC0"/>
                </a:solidFill>
                <a:latin typeface="Times New Roman" panose="02020603050405020304"/>
                <a:cs typeface="Times New Roman" panose="02020603050405020304"/>
              </a:rPr>
              <a:t>La</a:t>
            </a:r>
            <a:r>
              <a:rPr sz="1800" b="1" spc="-7" baseline="-21000" dirty="0">
                <a:solidFill>
                  <a:srgbClr val="006FC0"/>
                </a:solidFill>
                <a:latin typeface="Times New Roman" panose="02020603050405020304"/>
                <a:cs typeface="Times New Roman" panose="02020603050405020304"/>
              </a:rPr>
              <a:t>3</a:t>
            </a:r>
            <a:r>
              <a:rPr sz="1800" b="1" spc="-5" dirty="0">
                <a:solidFill>
                  <a:srgbClr val="006FC0"/>
                </a:solidFill>
                <a:latin typeface="Times New Roman" panose="02020603050405020304"/>
                <a:cs typeface="Times New Roman" panose="02020603050405020304"/>
              </a:rPr>
              <a:t>Zr</a:t>
            </a:r>
            <a:r>
              <a:rPr sz="1800" b="1" spc="-7" baseline="-21000" dirty="0">
                <a:solidFill>
                  <a:srgbClr val="006FC0"/>
                </a:solidFill>
                <a:latin typeface="Times New Roman" panose="02020603050405020304"/>
                <a:cs typeface="Times New Roman" panose="02020603050405020304"/>
              </a:rPr>
              <a:t>2</a:t>
            </a:r>
            <a:r>
              <a:rPr sz="1800" b="1" spc="-5" dirty="0">
                <a:solidFill>
                  <a:srgbClr val="006FC0"/>
                </a:solidFill>
                <a:latin typeface="Times New Roman" panose="02020603050405020304"/>
                <a:cs typeface="Times New Roman" panose="02020603050405020304"/>
              </a:rPr>
              <a:t>O</a:t>
            </a:r>
            <a:r>
              <a:rPr sz="1800" b="1" spc="-7" baseline="-21000" dirty="0">
                <a:solidFill>
                  <a:srgbClr val="006FC0"/>
                </a:solidFill>
                <a:latin typeface="Times New Roman" panose="02020603050405020304"/>
                <a:cs typeface="Times New Roman" panose="02020603050405020304"/>
              </a:rPr>
              <a:t>12</a:t>
            </a:r>
            <a:r>
              <a:rPr sz="1800" b="1" spc="209" baseline="-21000" dirty="0">
                <a:solidFill>
                  <a:srgbClr val="006FC0"/>
                </a:solidFill>
                <a:latin typeface="Times New Roman" panose="02020603050405020304"/>
                <a:cs typeface="Times New Roman" panose="02020603050405020304"/>
              </a:rPr>
              <a:t> </a:t>
            </a:r>
            <a:r>
              <a:rPr sz="1800" spc="-10" dirty="0">
                <a:latin typeface="宋体" panose="02010600030101010101" pitchFamily="2" charset="-122"/>
                <a:cs typeface="宋体" panose="02010600030101010101" pitchFamily="2" charset="-122"/>
              </a:rPr>
              <a:t>（</a:t>
            </a:r>
            <a:r>
              <a:rPr sz="1800" b="1" spc="-10" dirty="0">
                <a:solidFill>
                  <a:srgbClr val="C00000"/>
                </a:solidFill>
                <a:latin typeface="Times New Roman" panose="02020603050405020304"/>
                <a:cs typeface="Times New Roman" panose="02020603050405020304"/>
              </a:rPr>
              <a:t>LLZ</a:t>
            </a:r>
            <a:r>
              <a:rPr sz="1800" spc="-10" dirty="0">
                <a:latin typeface="宋体" panose="02010600030101010101" pitchFamily="2" charset="-122"/>
                <a:cs typeface="宋体" panose="02010600030101010101" pitchFamily="2" charset="-122"/>
              </a:rPr>
              <a:t>）  </a:t>
            </a:r>
            <a:r>
              <a:rPr sz="1800" dirty="0">
                <a:latin typeface="宋体" panose="02010600030101010101" pitchFamily="2" charset="-122"/>
                <a:cs typeface="宋体" panose="02010600030101010101" pitchFamily="2" charset="-122"/>
              </a:rPr>
              <a:t>是一类研究比较多的化合物。</a:t>
            </a:r>
            <a:endParaRPr sz="1800">
              <a:latin typeface="宋体" panose="02010600030101010101" pitchFamily="2" charset="-122"/>
              <a:cs typeface="宋体" panose="02010600030101010101" pitchFamily="2" charset="-122"/>
            </a:endParaRPr>
          </a:p>
        </p:txBody>
      </p:sp>
      <p:sp>
        <p:nvSpPr>
          <p:cNvPr id="6" name="object 6"/>
          <p:cNvSpPr txBox="1"/>
          <p:nvPr/>
        </p:nvSpPr>
        <p:spPr>
          <a:xfrm rot="18900000">
            <a:off x="-109676" y="6146183"/>
            <a:ext cx="1213920"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7" name="object 7"/>
          <p:cNvSpPr txBox="1"/>
          <p:nvPr/>
        </p:nvSpPr>
        <p:spPr>
          <a:xfrm rot="18900000">
            <a:off x="-270503"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8" name="object 8"/>
          <p:cNvSpPr txBox="1"/>
          <p:nvPr/>
        </p:nvSpPr>
        <p:spPr>
          <a:xfrm rot="18900000">
            <a:off x="-270503"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9" name="object 9"/>
          <p:cNvSpPr txBox="1"/>
          <p:nvPr/>
        </p:nvSpPr>
        <p:spPr>
          <a:xfrm rot="18900000">
            <a:off x="-270503"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0" name="object 10"/>
          <p:cNvSpPr txBox="1"/>
          <p:nvPr/>
        </p:nvSpPr>
        <p:spPr>
          <a:xfrm rot="18900000">
            <a:off x="-207607"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1" name="object 11"/>
          <p:cNvSpPr txBox="1"/>
          <p:nvPr/>
        </p:nvSpPr>
        <p:spPr>
          <a:xfrm rot="18900000">
            <a:off x="131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2" name="object 12"/>
          <p:cNvSpPr txBox="1"/>
          <p:nvPr/>
        </p:nvSpPr>
        <p:spPr>
          <a:xfrm rot="18900000">
            <a:off x="131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3" name="object 13"/>
          <p:cNvSpPr txBox="1"/>
          <p:nvPr/>
        </p:nvSpPr>
        <p:spPr>
          <a:xfrm rot="18900000">
            <a:off x="131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4" name="object 14"/>
          <p:cNvSpPr txBox="1"/>
          <p:nvPr/>
        </p:nvSpPr>
        <p:spPr>
          <a:xfrm rot="18900000">
            <a:off x="131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5" name="object 15"/>
          <p:cNvSpPr txBox="1"/>
          <p:nvPr/>
        </p:nvSpPr>
        <p:spPr>
          <a:xfrm rot="18900000">
            <a:off x="137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6" name="object 16"/>
          <p:cNvSpPr txBox="1"/>
          <p:nvPr/>
        </p:nvSpPr>
        <p:spPr>
          <a:xfrm rot="18900000">
            <a:off x="2904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7" name="object 17"/>
          <p:cNvSpPr txBox="1"/>
          <p:nvPr/>
        </p:nvSpPr>
        <p:spPr>
          <a:xfrm rot="18900000">
            <a:off x="2904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8" name="object 18"/>
          <p:cNvSpPr txBox="1"/>
          <p:nvPr/>
        </p:nvSpPr>
        <p:spPr>
          <a:xfrm rot="18900000">
            <a:off x="2904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9" name="object 19"/>
          <p:cNvSpPr txBox="1"/>
          <p:nvPr/>
        </p:nvSpPr>
        <p:spPr>
          <a:xfrm rot="18900000">
            <a:off x="2904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0" name="object 20"/>
          <p:cNvSpPr txBox="1"/>
          <p:nvPr/>
        </p:nvSpPr>
        <p:spPr>
          <a:xfrm rot="18900000">
            <a:off x="2967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1" name="object 21"/>
          <p:cNvSpPr txBox="1"/>
          <p:nvPr/>
        </p:nvSpPr>
        <p:spPr>
          <a:xfrm rot="18900000">
            <a:off x="4491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2" name="object 22"/>
          <p:cNvSpPr txBox="1"/>
          <p:nvPr/>
        </p:nvSpPr>
        <p:spPr>
          <a:xfrm rot="18900000">
            <a:off x="4491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3" name="object 23"/>
          <p:cNvSpPr txBox="1"/>
          <p:nvPr/>
        </p:nvSpPr>
        <p:spPr>
          <a:xfrm rot="18900000">
            <a:off x="4491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4" name="object 24"/>
          <p:cNvSpPr txBox="1"/>
          <p:nvPr/>
        </p:nvSpPr>
        <p:spPr>
          <a:xfrm rot="18900000">
            <a:off x="4491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5" name="object 25"/>
          <p:cNvSpPr txBox="1"/>
          <p:nvPr/>
        </p:nvSpPr>
        <p:spPr>
          <a:xfrm rot="18900000">
            <a:off x="4554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6" name="object 26"/>
          <p:cNvSpPr txBox="1"/>
          <p:nvPr/>
        </p:nvSpPr>
        <p:spPr>
          <a:xfrm rot="18900000">
            <a:off x="6079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7" name="object 27"/>
          <p:cNvSpPr txBox="1"/>
          <p:nvPr/>
        </p:nvSpPr>
        <p:spPr>
          <a:xfrm rot="18900000">
            <a:off x="6079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8" name="object 28"/>
          <p:cNvSpPr txBox="1"/>
          <p:nvPr/>
        </p:nvSpPr>
        <p:spPr>
          <a:xfrm rot="18900000">
            <a:off x="6079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9" name="object 29"/>
          <p:cNvSpPr txBox="1"/>
          <p:nvPr/>
        </p:nvSpPr>
        <p:spPr>
          <a:xfrm rot="18900000">
            <a:off x="6079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0" name="object 30"/>
          <p:cNvSpPr txBox="1"/>
          <p:nvPr/>
        </p:nvSpPr>
        <p:spPr>
          <a:xfrm rot="18900000">
            <a:off x="6142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1" name="object 31"/>
          <p:cNvSpPr txBox="1"/>
          <p:nvPr/>
        </p:nvSpPr>
        <p:spPr>
          <a:xfrm rot="18900000">
            <a:off x="766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2" name="object 32"/>
          <p:cNvSpPr txBox="1"/>
          <p:nvPr/>
        </p:nvSpPr>
        <p:spPr>
          <a:xfrm rot="18900000">
            <a:off x="766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3" name="object 33"/>
          <p:cNvSpPr txBox="1"/>
          <p:nvPr/>
        </p:nvSpPr>
        <p:spPr>
          <a:xfrm rot="18900000">
            <a:off x="766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4" name="object 34"/>
          <p:cNvSpPr txBox="1"/>
          <p:nvPr/>
        </p:nvSpPr>
        <p:spPr>
          <a:xfrm rot="18900000">
            <a:off x="766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5" name="object 35"/>
          <p:cNvSpPr txBox="1"/>
          <p:nvPr/>
        </p:nvSpPr>
        <p:spPr>
          <a:xfrm rot="18900000">
            <a:off x="772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Tree>
  </p:cSld>
  <p:clrMapOvr>
    <a:masterClrMapping/>
  </p:clrMapOvr>
  <p:transition>
    <p:randomBar dir="ver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9115" y="260350"/>
            <a:ext cx="6241415" cy="566420"/>
          </a:xfrm>
          <a:prstGeom prst="rect">
            <a:avLst/>
          </a:prstGeom>
        </p:spPr>
        <p:txBody>
          <a:bodyPr vert="horz" wrap="square" lIns="0" tIns="12700" rIns="0" bIns="0" rtlCol="0">
            <a:spAutoFit/>
          </a:bodyPr>
          <a:lstStyle/>
          <a:p>
            <a:pPr marL="12700">
              <a:lnSpc>
                <a:spcPct val="100000"/>
              </a:lnSpc>
              <a:spcBef>
                <a:spcPts val="100"/>
              </a:spcBef>
            </a:pPr>
            <a:r>
              <a:rPr spc="10" dirty="0"/>
              <a:t>全固体锂电池的问题</a:t>
            </a:r>
            <a:endParaRPr spc="10" dirty="0"/>
          </a:p>
        </p:txBody>
      </p:sp>
      <p:sp>
        <p:nvSpPr>
          <p:cNvPr id="3" name="object 3"/>
          <p:cNvSpPr txBox="1">
            <a:spLocks noGrp="1"/>
          </p:cNvSpPr>
          <p:nvPr>
            <p:ph type="body" idx="1"/>
          </p:nvPr>
        </p:nvSpPr>
        <p:spPr>
          <a:xfrm>
            <a:off x="179070" y="1174750"/>
            <a:ext cx="8768715" cy="5309235"/>
          </a:xfrm>
          <a:prstGeom prst="rect">
            <a:avLst/>
          </a:prstGeom>
        </p:spPr>
        <p:txBody>
          <a:bodyPr vert="horz" wrap="square" lIns="0" tIns="12700" rIns="0" bIns="0" rtlCol="0">
            <a:spAutoFit/>
          </a:bodyPr>
          <a:lstStyle/>
          <a:p>
            <a:pPr marL="401320" indent="-388620">
              <a:lnSpc>
                <a:spcPct val="100000"/>
              </a:lnSpc>
              <a:spcBef>
                <a:spcPts val="100"/>
              </a:spcBef>
              <a:buClr>
                <a:srgbClr val="FFC000"/>
              </a:buClr>
              <a:buFont typeface="Wingdings" panose="05000000000000000000"/>
              <a:buChar char=""/>
              <a:tabLst>
                <a:tab pos="400685" algn="l"/>
                <a:tab pos="401320" algn="l"/>
              </a:tabLst>
            </a:pPr>
            <a:r>
              <a:rPr dirty="0"/>
              <a:t>固态电解质材料的离子电导率偏低</a:t>
            </a:r>
            <a:r>
              <a:rPr spc="-450" dirty="0"/>
              <a:t> </a:t>
            </a:r>
            <a:r>
              <a:rPr dirty="0"/>
              <a:t>；</a:t>
            </a:r>
            <a:endParaRPr dirty="0"/>
          </a:p>
          <a:p>
            <a:pPr>
              <a:lnSpc>
                <a:spcPct val="100000"/>
              </a:lnSpc>
              <a:spcBef>
                <a:spcPts val="30"/>
              </a:spcBef>
              <a:buClr>
                <a:srgbClr val="FFC000"/>
              </a:buClr>
              <a:buFont typeface="Wingdings" panose="05000000000000000000"/>
              <a:buChar char=""/>
            </a:pPr>
            <a:endParaRPr sz="1850">
              <a:latin typeface="Times New Roman" panose="02020603050405020304"/>
              <a:cs typeface="Times New Roman" panose="02020603050405020304"/>
            </a:endParaRPr>
          </a:p>
          <a:p>
            <a:pPr marL="401320" indent="-388620">
              <a:lnSpc>
                <a:spcPct val="100000"/>
              </a:lnSpc>
              <a:buClr>
                <a:srgbClr val="FFC000"/>
              </a:buClr>
              <a:buFont typeface="Wingdings" panose="05000000000000000000"/>
              <a:buChar char=""/>
              <a:tabLst>
                <a:tab pos="400685" algn="l"/>
                <a:tab pos="401320" algn="l"/>
              </a:tabLst>
            </a:pPr>
            <a:r>
              <a:rPr dirty="0"/>
              <a:t>全固态锂电池</a:t>
            </a:r>
            <a:r>
              <a:rPr lang="zh-CN" dirty="0"/>
              <a:t>固</a:t>
            </a:r>
            <a:r>
              <a:rPr lang="en-US" altLang="zh-CN" dirty="0"/>
              <a:t>-</a:t>
            </a:r>
            <a:r>
              <a:rPr lang="zh-CN" altLang="en-US" dirty="0"/>
              <a:t>固</a:t>
            </a:r>
            <a:r>
              <a:rPr dirty="0"/>
              <a:t>界面阻抗</a:t>
            </a:r>
            <a:r>
              <a:rPr lang="zh-CN" dirty="0"/>
              <a:t>大；</a:t>
            </a:r>
            <a:endParaRPr lang="zh-CN" dirty="0"/>
          </a:p>
          <a:p>
            <a:pPr marL="401320" indent="-388620">
              <a:lnSpc>
                <a:spcPct val="100000"/>
              </a:lnSpc>
              <a:buClr>
                <a:srgbClr val="FFC000"/>
              </a:buClr>
              <a:buFont typeface="Wingdings" panose="05000000000000000000"/>
              <a:buChar char=""/>
              <a:tabLst>
                <a:tab pos="400685" algn="l"/>
                <a:tab pos="401320" algn="l"/>
              </a:tabLst>
            </a:pPr>
            <a:endParaRPr lang="zh-CN" dirty="0"/>
          </a:p>
          <a:p>
            <a:pPr marL="401320" indent="-388620">
              <a:lnSpc>
                <a:spcPct val="100000"/>
              </a:lnSpc>
              <a:buClr>
                <a:srgbClr val="FFC000"/>
              </a:buClr>
              <a:buFont typeface="Wingdings" panose="05000000000000000000"/>
              <a:buChar char=""/>
              <a:tabLst>
                <a:tab pos="400685" algn="l"/>
                <a:tab pos="401320" algn="l"/>
              </a:tabLst>
            </a:pPr>
            <a:r>
              <a:rPr lang="zh-CN" dirty="0"/>
              <a:t>大电流充放电极化大，</a:t>
            </a:r>
            <a:r>
              <a:rPr dirty="0">
                <a:sym typeface="+mn-ea"/>
              </a:rPr>
              <a:t>功率密度较低</a:t>
            </a:r>
            <a:r>
              <a:rPr dirty="0"/>
              <a:t>；</a:t>
            </a:r>
            <a:endParaRPr dirty="0"/>
          </a:p>
          <a:p>
            <a:pPr>
              <a:lnSpc>
                <a:spcPct val="100000"/>
              </a:lnSpc>
              <a:spcBef>
                <a:spcPts val="35"/>
              </a:spcBef>
              <a:buClr>
                <a:srgbClr val="FFC000"/>
              </a:buClr>
              <a:buFont typeface="Wingdings" panose="05000000000000000000"/>
              <a:buChar char=""/>
            </a:pPr>
            <a:endParaRPr sz="1850">
              <a:latin typeface="Times New Roman" panose="02020603050405020304"/>
              <a:cs typeface="Times New Roman" panose="02020603050405020304"/>
            </a:endParaRPr>
          </a:p>
          <a:p>
            <a:pPr marL="401320" indent="-388620">
              <a:lnSpc>
                <a:spcPct val="100000"/>
              </a:lnSpc>
              <a:buClr>
                <a:srgbClr val="FFC000"/>
              </a:buClr>
              <a:buFont typeface="Wingdings" panose="05000000000000000000"/>
              <a:buChar char=""/>
              <a:tabLst>
                <a:tab pos="400685" algn="l"/>
                <a:tab pos="401320" algn="l"/>
              </a:tabLst>
            </a:pPr>
            <a:r>
              <a:rPr dirty="0"/>
              <a:t>全固态电池的倍率性能整体偏低</a:t>
            </a:r>
            <a:r>
              <a:rPr lang="zh-CN" dirty="0"/>
              <a:t>，</a:t>
            </a:r>
            <a:r>
              <a:rPr dirty="0">
                <a:sym typeface="+mn-ea"/>
              </a:rPr>
              <a:t>难以实现电池的快速充电</a:t>
            </a:r>
            <a:r>
              <a:rPr dirty="0"/>
              <a:t>；</a:t>
            </a:r>
            <a:endParaRPr dirty="0"/>
          </a:p>
          <a:p>
            <a:pPr>
              <a:lnSpc>
                <a:spcPct val="100000"/>
              </a:lnSpc>
              <a:spcBef>
                <a:spcPts val="35"/>
              </a:spcBef>
              <a:buClr>
                <a:srgbClr val="FFC000"/>
              </a:buClr>
              <a:buFont typeface="Wingdings" panose="05000000000000000000"/>
              <a:buChar char=""/>
            </a:pPr>
            <a:endParaRPr sz="1850">
              <a:latin typeface="Times New Roman" panose="02020603050405020304"/>
              <a:cs typeface="Times New Roman" panose="02020603050405020304"/>
            </a:endParaRPr>
          </a:p>
          <a:p>
            <a:pPr marL="401320" indent="-388620">
              <a:lnSpc>
                <a:spcPct val="100000"/>
              </a:lnSpc>
              <a:buClr>
                <a:srgbClr val="FFC000"/>
              </a:buClr>
              <a:buFont typeface="Wingdings" panose="05000000000000000000"/>
              <a:buChar char=""/>
              <a:tabLst>
                <a:tab pos="400685" algn="l"/>
                <a:tab pos="401320" algn="l"/>
              </a:tabLst>
            </a:pPr>
            <a:r>
              <a:rPr dirty="0"/>
              <a:t>金属锂电极表面存在粉化问题</a:t>
            </a:r>
            <a:r>
              <a:rPr lang="zh-CN" dirty="0"/>
              <a:t>，导致循环性能下降。</a:t>
            </a:r>
            <a:endParaRPr dirty="0"/>
          </a:p>
        </p:txBody>
      </p:sp>
      <p:sp>
        <p:nvSpPr>
          <p:cNvPr id="4" name="object 4"/>
          <p:cNvSpPr txBox="1"/>
          <p:nvPr/>
        </p:nvSpPr>
        <p:spPr>
          <a:xfrm rot="18900000">
            <a:off x="-109676" y="6146183"/>
            <a:ext cx="1213920"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5" name="object 5"/>
          <p:cNvSpPr txBox="1"/>
          <p:nvPr/>
        </p:nvSpPr>
        <p:spPr>
          <a:xfrm rot="18900000">
            <a:off x="-270503"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6" name="object 6"/>
          <p:cNvSpPr txBox="1"/>
          <p:nvPr/>
        </p:nvSpPr>
        <p:spPr>
          <a:xfrm rot="18900000">
            <a:off x="-270503"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7" name="object 7"/>
          <p:cNvSpPr txBox="1"/>
          <p:nvPr/>
        </p:nvSpPr>
        <p:spPr>
          <a:xfrm rot="18900000">
            <a:off x="-270503"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8" name="object 8"/>
          <p:cNvSpPr txBox="1"/>
          <p:nvPr/>
        </p:nvSpPr>
        <p:spPr>
          <a:xfrm rot="18900000">
            <a:off x="-207607"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9" name="object 9"/>
          <p:cNvSpPr txBox="1"/>
          <p:nvPr/>
        </p:nvSpPr>
        <p:spPr>
          <a:xfrm rot="18900000">
            <a:off x="131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0" name="object 10"/>
          <p:cNvSpPr txBox="1"/>
          <p:nvPr/>
        </p:nvSpPr>
        <p:spPr>
          <a:xfrm rot="18900000">
            <a:off x="131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1" name="object 11"/>
          <p:cNvSpPr txBox="1"/>
          <p:nvPr/>
        </p:nvSpPr>
        <p:spPr>
          <a:xfrm rot="18900000">
            <a:off x="131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2" name="object 12"/>
          <p:cNvSpPr txBox="1"/>
          <p:nvPr/>
        </p:nvSpPr>
        <p:spPr>
          <a:xfrm rot="18900000">
            <a:off x="131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3" name="object 13"/>
          <p:cNvSpPr txBox="1"/>
          <p:nvPr/>
        </p:nvSpPr>
        <p:spPr>
          <a:xfrm rot="18900000">
            <a:off x="137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4" name="object 14"/>
          <p:cNvSpPr txBox="1"/>
          <p:nvPr/>
        </p:nvSpPr>
        <p:spPr>
          <a:xfrm rot="18900000">
            <a:off x="2904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5" name="object 15"/>
          <p:cNvSpPr txBox="1"/>
          <p:nvPr/>
        </p:nvSpPr>
        <p:spPr>
          <a:xfrm rot="18900000">
            <a:off x="2904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7" name="object 17"/>
          <p:cNvSpPr txBox="1"/>
          <p:nvPr/>
        </p:nvSpPr>
        <p:spPr>
          <a:xfrm rot="18900000">
            <a:off x="2904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8" name="object 18"/>
          <p:cNvSpPr txBox="1"/>
          <p:nvPr/>
        </p:nvSpPr>
        <p:spPr>
          <a:xfrm rot="18900000">
            <a:off x="2967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9" name="object 19"/>
          <p:cNvSpPr txBox="1"/>
          <p:nvPr/>
        </p:nvSpPr>
        <p:spPr>
          <a:xfrm rot="18900000">
            <a:off x="4491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1" name="object 21"/>
          <p:cNvSpPr txBox="1"/>
          <p:nvPr/>
        </p:nvSpPr>
        <p:spPr>
          <a:xfrm rot="18900000">
            <a:off x="4491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2" name="object 22"/>
          <p:cNvSpPr txBox="1"/>
          <p:nvPr/>
        </p:nvSpPr>
        <p:spPr>
          <a:xfrm rot="18900000">
            <a:off x="4491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3" name="object 23"/>
          <p:cNvSpPr txBox="1"/>
          <p:nvPr/>
        </p:nvSpPr>
        <p:spPr>
          <a:xfrm rot="18900000">
            <a:off x="4554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4" name="object 24"/>
          <p:cNvSpPr txBox="1"/>
          <p:nvPr/>
        </p:nvSpPr>
        <p:spPr>
          <a:xfrm rot="18900000">
            <a:off x="6079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5" name="object 25"/>
          <p:cNvSpPr txBox="1"/>
          <p:nvPr/>
        </p:nvSpPr>
        <p:spPr>
          <a:xfrm rot="18900000">
            <a:off x="6079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6" name="object 26"/>
          <p:cNvSpPr txBox="1"/>
          <p:nvPr/>
        </p:nvSpPr>
        <p:spPr>
          <a:xfrm rot="18900000">
            <a:off x="6079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7" name="object 27"/>
          <p:cNvSpPr txBox="1"/>
          <p:nvPr/>
        </p:nvSpPr>
        <p:spPr>
          <a:xfrm rot="18900000">
            <a:off x="6079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8" name="object 28"/>
          <p:cNvSpPr txBox="1"/>
          <p:nvPr/>
        </p:nvSpPr>
        <p:spPr>
          <a:xfrm rot="18900000">
            <a:off x="6142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9" name="object 29"/>
          <p:cNvSpPr txBox="1"/>
          <p:nvPr/>
        </p:nvSpPr>
        <p:spPr>
          <a:xfrm rot="18900000">
            <a:off x="766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0" name="object 30"/>
          <p:cNvSpPr txBox="1"/>
          <p:nvPr/>
        </p:nvSpPr>
        <p:spPr>
          <a:xfrm rot="18900000">
            <a:off x="766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1" name="object 31"/>
          <p:cNvSpPr txBox="1"/>
          <p:nvPr/>
        </p:nvSpPr>
        <p:spPr>
          <a:xfrm rot="18900000">
            <a:off x="766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2" name="object 32"/>
          <p:cNvSpPr txBox="1"/>
          <p:nvPr/>
        </p:nvSpPr>
        <p:spPr>
          <a:xfrm rot="18900000">
            <a:off x="766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3" name="object 33"/>
          <p:cNvSpPr txBox="1"/>
          <p:nvPr/>
        </p:nvSpPr>
        <p:spPr>
          <a:xfrm rot="18900000">
            <a:off x="772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Tree>
  </p:cSld>
  <p:clrMapOvr>
    <a:masterClrMapping/>
  </p:clrMapOvr>
  <p:transition>
    <p:randomBar dir="ver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851275" y="1484249"/>
            <a:ext cx="4600575" cy="2133600"/>
          </a:xfrm>
          <a:prstGeom prst="rect">
            <a:avLst/>
          </a:prstGeom>
          <a:blipFill>
            <a:blip r:embed="rId1" cstate="print"/>
            <a:stretch>
              <a:fillRect/>
            </a:stretch>
          </a:blipFill>
        </p:spPr>
        <p:txBody>
          <a:bodyPr wrap="square" lIns="0" tIns="0" rIns="0" bIns="0" rtlCol="0"/>
          <a:lstStyle/>
          <a:p>
            <a:endParaRPr sz="1800"/>
          </a:p>
        </p:txBody>
      </p:sp>
      <p:sp>
        <p:nvSpPr>
          <p:cNvPr id="3" name="object 3"/>
          <p:cNvSpPr txBox="1"/>
          <p:nvPr/>
        </p:nvSpPr>
        <p:spPr>
          <a:xfrm>
            <a:off x="474065" y="1989582"/>
            <a:ext cx="2959100" cy="1397635"/>
          </a:xfrm>
          <a:prstGeom prst="rect">
            <a:avLst/>
          </a:prstGeom>
        </p:spPr>
        <p:txBody>
          <a:bodyPr vert="horz" wrap="square" lIns="0" tIns="12700" rIns="0" bIns="0" rtlCol="0">
            <a:spAutoFit/>
          </a:bodyPr>
          <a:lstStyle/>
          <a:p>
            <a:pPr marL="184785" indent="-172720">
              <a:lnSpc>
                <a:spcPct val="100000"/>
              </a:lnSpc>
              <a:spcBef>
                <a:spcPts val="100"/>
              </a:spcBef>
              <a:buSzPct val="94000"/>
              <a:buFont typeface="Wingdings" panose="05000000000000000000"/>
              <a:buChar char=""/>
              <a:tabLst>
                <a:tab pos="185420" algn="l"/>
              </a:tabLst>
            </a:pPr>
            <a:r>
              <a:rPr sz="1800" b="1" spc="10" dirty="0">
                <a:latin typeface="Microsoft JhengHei" panose="020B0604030504040204" charset="-120"/>
                <a:cs typeface="Microsoft JhengHei" panose="020B0604030504040204" charset="-120"/>
              </a:rPr>
              <a:t>薄膜型全固态锂电池</a:t>
            </a:r>
            <a:endParaRPr sz="1800">
              <a:latin typeface="Microsoft JhengHei" panose="020B0604030504040204" charset="-120"/>
              <a:cs typeface="Microsoft JhengHei" panose="020B0604030504040204" charset="-120"/>
            </a:endParaRPr>
          </a:p>
          <a:p>
            <a:pPr>
              <a:lnSpc>
                <a:spcPct val="100000"/>
              </a:lnSpc>
              <a:spcBef>
                <a:spcPts val="30"/>
              </a:spcBef>
              <a:buFont typeface="Wingdings" panose="05000000000000000000"/>
              <a:buChar char=""/>
            </a:pPr>
            <a:endParaRPr sz="1850">
              <a:latin typeface="Times New Roman" panose="02020603050405020304"/>
              <a:cs typeface="Times New Roman" panose="02020603050405020304"/>
            </a:endParaRPr>
          </a:p>
          <a:p>
            <a:pPr marL="184785" indent="-172720">
              <a:lnSpc>
                <a:spcPct val="100000"/>
              </a:lnSpc>
              <a:spcBef>
                <a:spcPts val="5"/>
              </a:spcBef>
              <a:buSzPct val="94000"/>
              <a:buFont typeface="Wingdings" panose="05000000000000000000"/>
              <a:buChar char=""/>
              <a:tabLst>
                <a:tab pos="185420" algn="l"/>
              </a:tabLst>
            </a:pPr>
            <a:r>
              <a:rPr sz="1800" b="1" spc="10" dirty="0">
                <a:latin typeface="Microsoft JhengHei" panose="020B0604030504040204" charset="-120"/>
                <a:cs typeface="Microsoft JhengHei" panose="020B0604030504040204" charset="-120"/>
              </a:rPr>
              <a:t>大容量聚合物全固态锂电池</a:t>
            </a:r>
            <a:endParaRPr sz="1800">
              <a:latin typeface="Microsoft JhengHei" panose="020B0604030504040204" charset="-120"/>
              <a:cs typeface="Microsoft JhengHei" panose="020B0604030504040204" charset="-120"/>
            </a:endParaRPr>
          </a:p>
          <a:p>
            <a:pPr>
              <a:lnSpc>
                <a:spcPct val="100000"/>
              </a:lnSpc>
              <a:spcBef>
                <a:spcPts val="30"/>
              </a:spcBef>
              <a:buFont typeface="Wingdings" panose="05000000000000000000"/>
              <a:buChar char=""/>
            </a:pPr>
            <a:endParaRPr sz="1850">
              <a:latin typeface="Times New Roman" panose="02020603050405020304"/>
              <a:cs typeface="Times New Roman" panose="02020603050405020304"/>
            </a:endParaRPr>
          </a:p>
          <a:p>
            <a:pPr marL="184785" indent="-172720">
              <a:lnSpc>
                <a:spcPct val="100000"/>
              </a:lnSpc>
              <a:buSzPct val="94000"/>
              <a:buFont typeface="Wingdings" panose="05000000000000000000"/>
              <a:buChar char=""/>
              <a:tabLst>
                <a:tab pos="185420" algn="l"/>
              </a:tabLst>
            </a:pPr>
            <a:r>
              <a:rPr sz="1800" b="1" spc="10" dirty="0">
                <a:latin typeface="Microsoft JhengHei" panose="020B0604030504040204" charset="-120"/>
                <a:cs typeface="Microsoft JhengHei" panose="020B0604030504040204" charset="-120"/>
              </a:rPr>
              <a:t>大容量无机全固态锂电池</a:t>
            </a:r>
            <a:endParaRPr sz="1800">
              <a:latin typeface="Microsoft JhengHei" panose="020B0604030504040204" charset="-120"/>
              <a:cs typeface="Microsoft JhengHei" panose="020B0604030504040204" charset="-120"/>
            </a:endParaRPr>
          </a:p>
        </p:txBody>
      </p:sp>
      <p:sp>
        <p:nvSpPr>
          <p:cNvPr id="4" name="object 4"/>
          <p:cNvSpPr txBox="1"/>
          <p:nvPr/>
        </p:nvSpPr>
        <p:spPr>
          <a:xfrm>
            <a:off x="4796154" y="4034485"/>
            <a:ext cx="3429000" cy="574675"/>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006FC0"/>
                </a:solidFill>
                <a:latin typeface="宋体" panose="02010600030101010101" pitchFamily="2" charset="-122"/>
                <a:cs typeface="宋体" panose="02010600030101010101" pitchFamily="2" charset="-122"/>
              </a:rPr>
              <a:t>采用激光脉冲沉积（</a:t>
            </a:r>
            <a:r>
              <a:rPr sz="1800" spc="-5" dirty="0">
                <a:solidFill>
                  <a:srgbClr val="006FC0"/>
                </a:solidFill>
                <a:latin typeface="Times New Roman" panose="02020603050405020304"/>
                <a:cs typeface="Times New Roman" panose="02020603050405020304"/>
              </a:rPr>
              <a:t>PLD</a:t>
            </a:r>
            <a:r>
              <a:rPr sz="1800" spc="-5" dirty="0">
                <a:solidFill>
                  <a:srgbClr val="006FC0"/>
                </a:solidFill>
                <a:latin typeface="宋体" panose="02010600030101010101" pitchFamily="2" charset="-122"/>
                <a:cs typeface="宋体" panose="02010600030101010101" pitchFamily="2" charset="-122"/>
              </a:rPr>
              <a:t>）制备的</a:t>
            </a:r>
            <a:endParaRPr sz="1800">
              <a:latin typeface="宋体" panose="02010600030101010101" pitchFamily="2" charset="-122"/>
              <a:cs typeface="宋体" panose="02010600030101010101" pitchFamily="2" charset="-122"/>
            </a:endParaRPr>
          </a:p>
          <a:p>
            <a:pPr marL="12700">
              <a:lnSpc>
                <a:spcPct val="100000"/>
              </a:lnSpc>
            </a:pPr>
            <a:r>
              <a:rPr sz="1800" dirty="0">
                <a:solidFill>
                  <a:srgbClr val="006FC0"/>
                </a:solidFill>
                <a:latin typeface="宋体" panose="02010600030101010101" pitchFamily="2" charset="-122"/>
                <a:cs typeface="宋体" panose="02010600030101010101" pitchFamily="2" charset="-122"/>
              </a:rPr>
              <a:t>全固态薄膜电池</a:t>
            </a:r>
            <a:endParaRPr sz="1800">
              <a:latin typeface="宋体" panose="02010600030101010101" pitchFamily="2" charset="-122"/>
              <a:cs typeface="宋体" panose="02010600030101010101" pitchFamily="2" charset="-122"/>
            </a:endParaRPr>
          </a:p>
        </p:txBody>
      </p:sp>
      <p:sp>
        <p:nvSpPr>
          <p:cNvPr id="5" name="object 5"/>
          <p:cNvSpPr txBox="1"/>
          <p:nvPr/>
        </p:nvSpPr>
        <p:spPr>
          <a:xfrm rot="18900000">
            <a:off x="-109676" y="6146183"/>
            <a:ext cx="1213920"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6" name="object 6"/>
          <p:cNvSpPr txBox="1"/>
          <p:nvPr/>
        </p:nvSpPr>
        <p:spPr>
          <a:xfrm rot="18900000">
            <a:off x="-270503"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7" name="object 7"/>
          <p:cNvSpPr txBox="1"/>
          <p:nvPr/>
        </p:nvSpPr>
        <p:spPr>
          <a:xfrm rot="18900000">
            <a:off x="-270503"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8" name="object 8"/>
          <p:cNvSpPr txBox="1"/>
          <p:nvPr/>
        </p:nvSpPr>
        <p:spPr>
          <a:xfrm rot="18900000">
            <a:off x="-270503"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9" name="object 9"/>
          <p:cNvSpPr txBox="1"/>
          <p:nvPr/>
        </p:nvSpPr>
        <p:spPr>
          <a:xfrm rot="18900000">
            <a:off x="-207607"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0" name="object 10"/>
          <p:cNvSpPr txBox="1"/>
          <p:nvPr/>
        </p:nvSpPr>
        <p:spPr>
          <a:xfrm rot="18900000">
            <a:off x="131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1" name="object 11"/>
          <p:cNvSpPr txBox="1"/>
          <p:nvPr/>
        </p:nvSpPr>
        <p:spPr>
          <a:xfrm rot="18900000">
            <a:off x="131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2" name="object 12"/>
          <p:cNvSpPr txBox="1"/>
          <p:nvPr/>
        </p:nvSpPr>
        <p:spPr>
          <a:xfrm rot="18900000">
            <a:off x="131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3" name="object 13"/>
          <p:cNvSpPr txBox="1"/>
          <p:nvPr/>
        </p:nvSpPr>
        <p:spPr>
          <a:xfrm rot="18900000">
            <a:off x="131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4" name="object 14"/>
          <p:cNvSpPr txBox="1"/>
          <p:nvPr/>
        </p:nvSpPr>
        <p:spPr>
          <a:xfrm rot="18900000">
            <a:off x="137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5" name="object 15"/>
          <p:cNvSpPr txBox="1"/>
          <p:nvPr/>
        </p:nvSpPr>
        <p:spPr>
          <a:xfrm rot="18900000">
            <a:off x="2904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6" name="object 16"/>
          <p:cNvSpPr txBox="1"/>
          <p:nvPr/>
        </p:nvSpPr>
        <p:spPr>
          <a:xfrm rot="18900000">
            <a:off x="2904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7" name="object 17"/>
          <p:cNvSpPr txBox="1"/>
          <p:nvPr/>
        </p:nvSpPr>
        <p:spPr>
          <a:xfrm rot="18900000">
            <a:off x="2904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8" name="object 18"/>
          <p:cNvSpPr txBox="1"/>
          <p:nvPr/>
        </p:nvSpPr>
        <p:spPr>
          <a:xfrm rot="18900000">
            <a:off x="2904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9" name="object 19"/>
          <p:cNvSpPr txBox="1"/>
          <p:nvPr/>
        </p:nvSpPr>
        <p:spPr>
          <a:xfrm rot="18900000">
            <a:off x="2967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0" name="object 20"/>
          <p:cNvSpPr txBox="1"/>
          <p:nvPr/>
        </p:nvSpPr>
        <p:spPr>
          <a:xfrm rot="18900000">
            <a:off x="4491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1" name="object 21"/>
          <p:cNvSpPr txBox="1"/>
          <p:nvPr/>
        </p:nvSpPr>
        <p:spPr>
          <a:xfrm rot="18900000">
            <a:off x="4491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2" name="object 22"/>
          <p:cNvSpPr txBox="1"/>
          <p:nvPr/>
        </p:nvSpPr>
        <p:spPr>
          <a:xfrm rot="18900000">
            <a:off x="4491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3" name="object 23"/>
          <p:cNvSpPr txBox="1"/>
          <p:nvPr/>
        </p:nvSpPr>
        <p:spPr>
          <a:xfrm rot="18900000">
            <a:off x="4491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4" name="object 24"/>
          <p:cNvSpPr txBox="1"/>
          <p:nvPr/>
        </p:nvSpPr>
        <p:spPr>
          <a:xfrm rot="18900000">
            <a:off x="4554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5" name="object 25"/>
          <p:cNvSpPr txBox="1"/>
          <p:nvPr/>
        </p:nvSpPr>
        <p:spPr>
          <a:xfrm rot="18900000">
            <a:off x="6079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6" name="object 26"/>
          <p:cNvSpPr txBox="1"/>
          <p:nvPr/>
        </p:nvSpPr>
        <p:spPr>
          <a:xfrm rot="18900000">
            <a:off x="6079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7" name="object 27"/>
          <p:cNvSpPr txBox="1"/>
          <p:nvPr/>
        </p:nvSpPr>
        <p:spPr>
          <a:xfrm rot="18900000">
            <a:off x="6079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8" name="object 28"/>
          <p:cNvSpPr txBox="1"/>
          <p:nvPr/>
        </p:nvSpPr>
        <p:spPr>
          <a:xfrm rot="18900000">
            <a:off x="6079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9" name="object 29"/>
          <p:cNvSpPr txBox="1"/>
          <p:nvPr/>
        </p:nvSpPr>
        <p:spPr>
          <a:xfrm rot="18900000">
            <a:off x="6142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0" name="object 30"/>
          <p:cNvSpPr txBox="1"/>
          <p:nvPr/>
        </p:nvSpPr>
        <p:spPr>
          <a:xfrm rot="18900000">
            <a:off x="766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1" name="object 31"/>
          <p:cNvSpPr txBox="1"/>
          <p:nvPr/>
        </p:nvSpPr>
        <p:spPr>
          <a:xfrm rot="18900000">
            <a:off x="766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2" name="object 32"/>
          <p:cNvSpPr txBox="1"/>
          <p:nvPr/>
        </p:nvSpPr>
        <p:spPr>
          <a:xfrm rot="18900000">
            <a:off x="766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3" name="object 33"/>
          <p:cNvSpPr txBox="1"/>
          <p:nvPr/>
        </p:nvSpPr>
        <p:spPr>
          <a:xfrm rot="18900000">
            <a:off x="766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4" name="object 34"/>
          <p:cNvSpPr txBox="1"/>
          <p:nvPr/>
        </p:nvSpPr>
        <p:spPr>
          <a:xfrm rot="18900000">
            <a:off x="772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Tree>
  </p:cSld>
  <p:clrMapOvr>
    <a:masterClrMapping/>
  </p:clrMapOvr>
  <p:transition>
    <p:randomBar dir="ver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00112" y="981075"/>
            <a:ext cx="2728849" cy="2301875"/>
          </a:xfrm>
          <a:prstGeom prst="rect">
            <a:avLst/>
          </a:prstGeom>
          <a:blipFill>
            <a:blip r:embed="rId1" cstate="print"/>
            <a:stretch>
              <a:fillRect/>
            </a:stretch>
          </a:blipFill>
        </p:spPr>
        <p:txBody>
          <a:bodyPr wrap="square" lIns="0" tIns="0" rIns="0" bIns="0" rtlCol="0"/>
          <a:lstStyle/>
          <a:p>
            <a:endParaRPr sz="1800"/>
          </a:p>
        </p:txBody>
      </p:sp>
      <p:sp>
        <p:nvSpPr>
          <p:cNvPr id="3" name="object 3"/>
          <p:cNvSpPr txBox="1"/>
          <p:nvPr/>
        </p:nvSpPr>
        <p:spPr>
          <a:xfrm>
            <a:off x="186639" y="3602558"/>
            <a:ext cx="5269865" cy="300355"/>
          </a:xfrm>
          <a:prstGeom prst="rect">
            <a:avLst/>
          </a:prstGeom>
        </p:spPr>
        <p:txBody>
          <a:bodyPr vert="horz" wrap="square" lIns="0" tIns="12700" rIns="0" bIns="0" rtlCol="0">
            <a:spAutoFit/>
          </a:bodyPr>
          <a:lstStyle/>
          <a:p>
            <a:pPr marL="12700">
              <a:lnSpc>
                <a:spcPct val="100000"/>
              </a:lnSpc>
              <a:spcBef>
                <a:spcPts val="100"/>
              </a:spcBef>
            </a:pPr>
            <a:r>
              <a:rPr sz="1800" spc="-5" dirty="0">
                <a:latin typeface="宋体" panose="02010600030101010101" pitchFamily="2" charset="-122"/>
                <a:cs typeface="宋体" panose="02010600030101010101" pitchFamily="2" charset="-122"/>
              </a:rPr>
              <a:t>韩国</a:t>
            </a:r>
            <a:r>
              <a:rPr sz="1800" spc="-5" dirty="0">
                <a:latin typeface="Times New Roman" panose="02020603050405020304"/>
                <a:cs typeface="Times New Roman" panose="02020603050405020304"/>
              </a:rPr>
              <a:t>KAIST</a:t>
            </a:r>
            <a:r>
              <a:rPr sz="1800" spc="-5" dirty="0">
                <a:latin typeface="宋体" panose="02010600030101010101" pitchFamily="2" charset="-122"/>
                <a:cs typeface="宋体" panose="02010600030101010101" pitchFamily="2" charset="-122"/>
              </a:rPr>
              <a:t>制备的典型叠层结构的柔性全固态锂电池</a:t>
            </a:r>
            <a:endParaRPr sz="1800">
              <a:latin typeface="宋体" panose="02010600030101010101" pitchFamily="2" charset="-122"/>
              <a:cs typeface="宋体" panose="02010600030101010101" pitchFamily="2" charset="-122"/>
            </a:endParaRPr>
          </a:p>
        </p:txBody>
      </p:sp>
      <p:sp>
        <p:nvSpPr>
          <p:cNvPr id="4" name="object 4"/>
          <p:cNvSpPr/>
          <p:nvPr/>
        </p:nvSpPr>
        <p:spPr>
          <a:xfrm>
            <a:off x="4146451" y="836675"/>
            <a:ext cx="4140298" cy="2592324"/>
          </a:xfrm>
          <a:prstGeom prst="rect">
            <a:avLst/>
          </a:prstGeom>
          <a:blipFill>
            <a:blip r:embed="rId2" cstate="print"/>
            <a:stretch>
              <a:fillRect/>
            </a:stretch>
          </a:blipFill>
        </p:spPr>
        <p:txBody>
          <a:bodyPr wrap="square" lIns="0" tIns="0" rIns="0" bIns="0" rtlCol="0"/>
          <a:lstStyle/>
          <a:p>
            <a:endParaRPr sz="1800"/>
          </a:p>
        </p:txBody>
      </p:sp>
      <p:sp>
        <p:nvSpPr>
          <p:cNvPr id="5" name="object 5"/>
          <p:cNvSpPr/>
          <p:nvPr/>
        </p:nvSpPr>
        <p:spPr>
          <a:xfrm>
            <a:off x="827087" y="4365625"/>
            <a:ext cx="4476750" cy="1543050"/>
          </a:xfrm>
          <a:prstGeom prst="rect">
            <a:avLst/>
          </a:prstGeom>
          <a:blipFill>
            <a:blip r:embed="rId3" cstate="print"/>
            <a:stretch>
              <a:fillRect/>
            </a:stretch>
          </a:blipFill>
        </p:spPr>
        <p:txBody>
          <a:bodyPr wrap="square" lIns="0" tIns="0" rIns="0" bIns="0" rtlCol="0"/>
          <a:lstStyle/>
          <a:p>
            <a:endParaRPr sz="1800"/>
          </a:p>
        </p:txBody>
      </p:sp>
      <p:sp>
        <p:nvSpPr>
          <p:cNvPr id="6" name="object 6"/>
          <p:cNvSpPr txBox="1">
            <a:spLocks noGrp="1"/>
          </p:cNvSpPr>
          <p:nvPr>
            <p:ph type="title"/>
          </p:nvPr>
        </p:nvSpPr>
        <p:spPr>
          <a:xfrm>
            <a:off x="-36195" y="0"/>
            <a:ext cx="8540750" cy="1143000"/>
          </a:xfrm>
          <a:prstGeom prst="rect">
            <a:avLst/>
          </a:prstGeom>
        </p:spPr>
        <p:txBody>
          <a:bodyPr vert="horz" wrap="square" lIns="0" tIns="12700" rIns="0" bIns="0" rtlCol="0">
            <a:spAutoFit/>
          </a:bodyPr>
          <a:lstStyle/>
          <a:p>
            <a:pPr marL="12700">
              <a:lnSpc>
                <a:spcPct val="100000"/>
              </a:lnSpc>
              <a:spcBef>
                <a:spcPts val="100"/>
              </a:spcBef>
            </a:pPr>
            <a:r>
              <a:rPr spc="5" dirty="0"/>
              <a:t>柔性全固态锂电池</a:t>
            </a:r>
            <a:endParaRPr spc="5" dirty="0"/>
          </a:p>
        </p:txBody>
      </p:sp>
      <p:sp>
        <p:nvSpPr>
          <p:cNvPr id="7" name="object 7"/>
          <p:cNvSpPr txBox="1"/>
          <p:nvPr/>
        </p:nvSpPr>
        <p:spPr>
          <a:xfrm rot="18900000">
            <a:off x="-109676" y="6146183"/>
            <a:ext cx="1213920"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8" name="object 8"/>
          <p:cNvSpPr txBox="1"/>
          <p:nvPr/>
        </p:nvSpPr>
        <p:spPr>
          <a:xfrm rot="18900000">
            <a:off x="-270503"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9" name="object 9"/>
          <p:cNvSpPr txBox="1"/>
          <p:nvPr/>
        </p:nvSpPr>
        <p:spPr>
          <a:xfrm rot="18900000">
            <a:off x="-270503"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0" name="object 10"/>
          <p:cNvSpPr txBox="1"/>
          <p:nvPr/>
        </p:nvSpPr>
        <p:spPr>
          <a:xfrm rot="18900000">
            <a:off x="-270503"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1" name="object 11"/>
          <p:cNvSpPr txBox="1"/>
          <p:nvPr/>
        </p:nvSpPr>
        <p:spPr>
          <a:xfrm rot="18900000">
            <a:off x="-207607"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2" name="object 12"/>
          <p:cNvSpPr txBox="1"/>
          <p:nvPr/>
        </p:nvSpPr>
        <p:spPr>
          <a:xfrm rot="18900000">
            <a:off x="131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3" name="object 13"/>
          <p:cNvSpPr txBox="1"/>
          <p:nvPr/>
        </p:nvSpPr>
        <p:spPr>
          <a:xfrm rot="18900000">
            <a:off x="131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4" name="object 14"/>
          <p:cNvSpPr txBox="1"/>
          <p:nvPr/>
        </p:nvSpPr>
        <p:spPr>
          <a:xfrm rot="18900000">
            <a:off x="131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5" name="object 15"/>
          <p:cNvSpPr txBox="1"/>
          <p:nvPr/>
        </p:nvSpPr>
        <p:spPr>
          <a:xfrm rot="18900000">
            <a:off x="131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6" name="object 16"/>
          <p:cNvSpPr txBox="1"/>
          <p:nvPr/>
        </p:nvSpPr>
        <p:spPr>
          <a:xfrm rot="18900000">
            <a:off x="137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7" name="object 17"/>
          <p:cNvSpPr txBox="1"/>
          <p:nvPr/>
        </p:nvSpPr>
        <p:spPr>
          <a:xfrm rot="18900000">
            <a:off x="2904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8" name="object 18"/>
          <p:cNvSpPr txBox="1"/>
          <p:nvPr/>
        </p:nvSpPr>
        <p:spPr>
          <a:xfrm rot="18900000">
            <a:off x="2904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9" name="object 19"/>
          <p:cNvSpPr txBox="1"/>
          <p:nvPr/>
        </p:nvSpPr>
        <p:spPr>
          <a:xfrm rot="18900000">
            <a:off x="2904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0" name="object 20"/>
          <p:cNvSpPr txBox="1"/>
          <p:nvPr/>
        </p:nvSpPr>
        <p:spPr>
          <a:xfrm rot="18900000">
            <a:off x="2904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1" name="object 21"/>
          <p:cNvSpPr txBox="1"/>
          <p:nvPr/>
        </p:nvSpPr>
        <p:spPr>
          <a:xfrm rot="18900000">
            <a:off x="2967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2" name="object 22"/>
          <p:cNvSpPr txBox="1"/>
          <p:nvPr/>
        </p:nvSpPr>
        <p:spPr>
          <a:xfrm rot="18900000">
            <a:off x="4491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3" name="object 23"/>
          <p:cNvSpPr txBox="1"/>
          <p:nvPr/>
        </p:nvSpPr>
        <p:spPr>
          <a:xfrm rot="18900000">
            <a:off x="4491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4" name="object 24"/>
          <p:cNvSpPr txBox="1"/>
          <p:nvPr/>
        </p:nvSpPr>
        <p:spPr>
          <a:xfrm rot="18900000">
            <a:off x="4491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5" name="object 25"/>
          <p:cNvSpPr txBox="1"/>
          <p:nvPr/>
        </p:nvSpPr>
        <p:spPr>
          <a:xfrm rot="18900000">
            <a:off x="4491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6" name="object 26"/>
          <p:cNvSpPr txBox="1"/>
          <p:nvPr/>
        </p:nvSpPr>
        <p:spPr>
          <a:xfrm rot="18900000">
            <a:off x="4554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7" name="object 27"/>
          <p:cNvSpPr txBox="1"/>
          <p:nvPr/>
        </p:nvSpPr>
        <p:spPr>
          <a:xfrm rot="18900000">
            <a:off x="6079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8" name="object 28"/>
          <p:cNvSpPr txBox="1"/>
          <p:nvPr/>
        </p:nvSpPr>
        <p:spPr>
          <a:xfrm rot="18900000">
            <a:off x="6079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9" name="object 29"/>
          <p:cNvSpPr txBox="1"/>
          <p:nvPr/>
        </p:nvSpPr>
        <p:spPr>
          <a:xfrm rot="18900000">
            <a:off x="6079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0" name="object 30"/>
          <p:cNvSpPr txBox="1"/>
          <p:nvPr/>
        </p:nvSpPr>
        <p:spPr>
          <a:xfrm rot="18900000">
            <a:off x="6079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1" name="object 31"/>
          <p:cNvSpPr txBox="1"/>
          <p:nvPr/>
        </p:nvSpPr>
        <p:spPr>
          <a:xfrm rot="18900000">
            <a:off x="6142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2" name="object 32"/>
          <p:cNvSpPr txBox="1"/>
          <p:nvPr/>
        </p:nvSpPr>
        <p:spPr>
          <a:xfrm rot="18900000">
            <a:off x="766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3" name="object 33"/>
          <p:cNvSpPr txBox="1"/>
          <p:nvPr/>
        </p:nvSpPr>
        <p:spPr>
          <a:xfrm rot="18900000">
            <a:off x="766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4" name="object 34"/>
          <p:cNvSpPr txBox="1"/>
          <p:nvPr/>
        </p:nvSpPr>
        <p:spPr>
          <a:xfrm rot="18900000">
            <a:off x="766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5" name="object 35"/>
          <p:cNvSpPr txBox="1"/>
          <p:nvPr/>
        </p:nvSpPr>
        <p:spPr>
          <a:xfrm rot="18900000">
            <a:off x="766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6" name="object 36"/>
          <p:cNvSpPr txBox="1"/>
          <p:nvPr/>
        </p:nvSpPr>
        <p:spPr>
          <a:xfrm rot="18900000">
            <a:off x="772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Tree>
  </p:cSld>
  <p:clrMapOvr>
    <a:masterClrMapping/>
  </p:clrMapOvr>
  <p:transition>
    <p:randomBar dir="ver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92137" y="742950"/>
            <a:ext cx="8032750" cy="4591050"/>
          </a:xfrm>
          <a:prstGeom prst="rect">
            <a:avLst/>
          </a:prstGeom>
          <a:blipFill>
            <a:blip r:embed="rId1" cstate="print"/>
            <a:stretch>
              <a:fillRect/>
            </a:stretch>
          </a:blipFill>
        </p:spPr>
        <p:txBody>
          <a:bodyPr wrap="square" lIns="0" tIns="0" rIns="0" bIns="0" rtlCol="0"/>
          <a:lstStyle/>
          <a:p>
            <a:endParaRPr sz="1800"/>
          </a:p>
        </p:txBody>
      </p:sp>
      <p:sp>
        <p:nvSpPr>
          <p:cNvPr id="3" name="object 3"/>
          <p:cNvSpPr txBox="1"/>
          <p:nvPr/>
        </p:nvSpPr>
        <p:spPr>
          <a:xfrm>
            <a:off x="178409" y="5638901"/>
            <a:ext cx="8785860" cy="848360"/>
          </a:xfrm>
          <a:prstGeom prst="rect">
            <a:avLst/>
          </a:prstGeom>
        </p:spPr>
        <p:txBody>
          <a:bodyPr vert="horz" wrap="square" lIns="0" tIns="149860" rIns="0" bIns="0" rtlCol="0">
            <a:spAutoFit/>
          </a:bodyPr>
          <a:lstStyle/>
          <a:p>
            <a:pPr algn="ctr">
              <a:lnSpc>
                <a:spcPct val="100000"/>
              </a:lnSpc>
              <a:spcBef>
                <a:spcPts val="1180"/>
              </a:spcBef>
            </a:pPr>
            <a:r>
              <a:rPr sz="1800" b="1" spc="10" dirty="0">
                <a:solidFill>
                  <a:srgbClr val="6F2F9F"/>
                </a:solidFill>
                <a:latin typeface="Microsoft JhengHei" panose="020B0604030504040204" charset="-120"/>
                <a:cs typeface="Microsoft JhengHei" panose="020B0604030504040204" charset="-120"/>
              </a:rPr>
              <a:t>基于无机材料的全固态电池的设计与构建思路</a:t>
            </a:r>
            <a:endParaRPr sz="1800">
              <a:latin typeface="Microsoft JhengHei" panose="020B0604030504040204" charset="-120"/>
              <a:cs typeface="Microsoft JhengHei" panose="020B0604030504040204" charset="-120"/>
            </a:endParaRPr>
          </a:p>
          <a:p>
            <a:pPr algn="ctr">
              <a:lnSpc>
                <a:spcPct val="100000"/>
              </a:lnSpc>
              <a:spcBef>
                <a:spcPts val="1080"/>
              </a:spcBef>
            </a:pPr>
            <a:r>
              <a:rPr sz="1800" dirty="0">
                <a:solidFill>
                  <a:srgbClr val="006FC0"/>
                </a:solidFill>
                <a:latin typeface="Arial" panose="020B0604020202020204"/>
                <a:cs typeface="Arial" panose="020B0604020202020204"/>
              </a:rPr>
              <a:t>The </a:t>
            </a:r>
            <a:r>
              <a:rPr sz="1800" spc="-5" dirty="0">
                <a:solidFill>
                  <a:srgbClr val="006FC0"/>
                </a:solidFill>
                <a:latin typeface="Arial" panose="020B0604020202020204"/>
                <a:cs typeface="Arial" panose="020B0604020202020204"/>
              </a:rPr>
              <a:t>design and construction </a:t>
            </a:r>
            <a:r>
              <a:rPr sz="1800" dirty="0">
                <a:solidFill>
                  <a:srgbClr val="006FC0"/>
                </a:solidFill>
                <a:latin typeface="Arial" panose="020B0604020202020204"/>
                <a:cs typeface="Arial" panose="020B0604020202020204"/>
              </a:rPr>
              <a:t>of </a:t>
            </a:r>
            <a:r>
              <a:rPr sz="1800" spc="-5" dirty="0">
                <a:solidFill>
                  <a:srgbClr val="006FC0"/>
                </a:solidFill>
                <a:latin typeface="Arial" panose="020B0604020202020204"/>
                <a:cs typeface="Arial" panose="020B0604020202020204"/>
              </a:rPr>
              <a:t>all-solid-state lithium cells based on inorganic</a:t>
            </a:r>
            <a:r>
              <a:rPr sz="1800" spc="180" dirty="0">
                <a:solidFill>
                  <a:srgbClr val="006FC0"/>
                </a:solidFill>
                <a:latin typeface="Arial" panose="020B0604020202020204"/>
                <a:cs typeface="Arial" panose="020B0604020202020204"/>
              </a:rPr>
              <a:t> </a:t>
            </a:r>
            <a:r>
              <a:rPr sz="1800" spc="-5" dirty="0">
                <a:solidFill>
                  <a:srgbClr val="006FC0"/>
                </a:solidFill>
                <a:latin typeface="Arial" panose="020B0604020202020204"/>
                <a:cs typeface="Arial" panose="020B0604020202020204"/>
              </a:rPr>
              <a:t>materials</a:t>
            </a:r>
            <a:endParaRPr sz="1800">
              <a:latin typeface="Arial" panose="020B0604020202020204"/>
              <a:cs typeface="Arial" panose="020B0604020202020204"/>
            </a:endParaRPr>
          </a:p>
        </p:txBody>
      </p:sp>
      <p:sp>
        <p:nvSpPr>
          <p:cNvPr id="4" name="object 4"/>
          <p:cNvSpPr txBox="1"/>
          <p:nvPr/>
        </p:nvSpPr>
        <p:spPr>
          <a:xfrm rot="18900000">
            <a:off x="-109676" y="6146183"/>
            <a:ext cx="1213920"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5" name="object 5"/>
          <p:cNvSpPr txBox="1"/>
          <p:nvPr/>
        </p:nvSpPr>
        <p:spPr>
          <a:xfrm rot="18900000">
            <a:off x="-270503"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6" name="object 6"/>
          <p:cNvSpPr txBox="1"/>
          <p:nvPr/>
        </p:nvSpPr>
        <p:spPr>
          <a:xfrm rot="18900000">
            <a:off x="-270503"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7" name="object 7"/>
          <p:cNvSpPr txBox="1"/>
          <p:nvPr/>
        </p:nvSpPr>
        <p:spPr>
          <a:xfrm rot="18900000">
            <a:off x="-270503"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8" name="object 8"/>
          <p:cNvSpPr txBox="1"/>
          <p:nvPr/>
        </p:nvSpPr>
        <p:spPr>
          <a:xfrm rot="18900000">
            <a:off x="-207607"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9" name="object 9"/>
          <p:cNvSpPr txBox="1"/>
          <p:nvPr/>
        </p:nvSpPr>
        <p:spPr>
          <a:xfrm rot="18900000">
            <a:off x="131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0" name="object 10"/>
          <p:cNvSpPr txBox="1"/>
          <p:nvPr/>
        </p:nvSpPr>
        <p:spPr>
          <a:xfrm rot="18900000">
            <a:off x="131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1" name="object 11"/>
          <p:cNvSpPr txBox="1"/>
          <p:nvPr/>
        </p:nvSpPr>
        <p:spPr>
          <a:xfrm rot="18900000">
            <a:off x="131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2" name="object 12"/>
          <p:cNvSpPr txBox="1"/>
          <p:nvPr/>
        </p:nvSpPr>
        <p:spPr>
          <a:xfrm rot="18900000">
            <a:off x="131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3" name="object 13"/>
          <p:cNvSpPr txBox="1"/>
          <p:nvPr/>
        </p:nvSpPr>
        <p:spPr>
          <a:xfrm rot="18900000">
            <a:off x="137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4" name="object 14"/>
          <p:cNvSpPr txBox="1"/>
          <p:nvPr/>
        </p:nvSpPr>
        <p:spPr>
          <a:xfrm rot="18900000">
            <a:off x="2904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5" name="object 15"/>
          <p:cNvSpPr txBox="1"/>
          <p:nvPr/>
        </p:nvSpPr>
        <p:spPr>
          <a:xfrm rot="18900000">
            <a:off x="2904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6" name="object 16"/>
          <p:cNvSpPr txBox="1"/>
          <p:nvPr/>
        </p:nvSpPr>
        <p:spPr>
          <a:xfrm rot="18900000">
            <a:off x="2904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7" name="object 17"/>
          <p:cNvSpPr txBox="1"/>
          <p:nvPr/>
        </p:nvSpPr>
        <p:spPr>
          <a:xfrm rot="18900000">
            <a:off x="2904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8" name="object 18"/>
          <p:cNvSpPr txBox="1"/>
          <p:nvPr/>
        </p:nvSpPr>
        <p:spPr>
          <a:xfrm rot="18900000">
            <a:off x="2967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9" name="object 19"/>
          <p:cNvSpPr txBox="1"/>
          <p:nvPr/>
        </p:nvSpPr>
        <p:spPr>
          <a:xfrm rot="18900000">
            <a:off x="4491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0" name="object 20"/>
          <p:cNvSpPr txBox="1"/>
          <p:nvPr/>
        </p:nvSpPr>
        <p:spPr>
          <a:xfrm rot="18900000">
            <a:off x="4491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1" name="object 21"/>
          <p:cNvSpPr txBox="1"/>
          <p:nvPr/>
        </p:nvSpPr>
        <p:spPr>
          <a:xfrm rot="18900000">
            <a:off x="4491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2" name="object 22"/>
          <p:cNvSpPr txBox="1"/>
          <p:nvPr/>
        </p:nvSpPr>
        <p:spPr>
          <a:xfrm rot="18900000">
            <a:off x="4491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3" name="object 23"/>
          <p:cNvSpPr txBox="1"/>
          <p:nvPr/>
        </p:nvSpPr>
        <p:spPr>
          <a:xfrm rot="18900000">
            <a:off x="4554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4" name="object 24"/>
          <p:cNvSpPr txBox="1"/>
          <p:nvPr/>
        </p:nvSpPr>
        <p:spPr>
          <a:xfrm rot="18900000">
            <a:off x="6079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5" name="object 25"/>
          <p:cNvSpPr txBox="1"/>
          <p:nvPr/>
        </p:nvSpPr>
        <p:spPr>
          <a:xfrm rot="18900000">
            <a:off x="6079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6" name="object 26"/>
          <p:cNvSpPr txBox="1"/>
          <p:nvPr/>
        </p:nvSpPr>
        <p:spPr>
          <a:xfrm rot="18900000">
            <a:off x="6079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7" name="object 27"/>
          <p:cNvSpPr txBox="1"/>
          <p:nvPr/>
        </p:nvSpPr>
        <p:spPr>
          <a:xfrm rot="18900000">
            <a:off x="6079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8" name="object 28"/>
          <p:cNvSpPr txBox="1"/>
          <p:nvPr/>
        </p:nvSpPr>
        <p:spPr>
          <a:xfrm rot="18900000">
            <a:off x="6142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9" name="object 29"/>
          <p:cNvSpPr txBox="1"/>
          <p:nvPr/>
        </p:nvSpPr>
        <p:spPr>
          <a:xfrm rot="18900000">
            <a:off x="766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0" name="object 30"/>
          <p:cNvSpPr txBox="1"/>
          <p:nvPr/>
        </p:nvSpPr>
        <p:spPr>
          <a:xfrm rot="18900000">
            <a:off x="766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1" name="object 31"/>
          <p:cNvSpPr txBox="1"/>
          <p:nvPr/>
        </p:nvSpPr>
        <p:spPr>
          <a:xfrm rot="18900000">
            <a:off x="766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2" name="object 32"/>
          <p:cNvSpPr txBox="1"/>
          <p:nvPr/>
        </p:nvSpPr>
        <p:spPr>
          <a:xfrm rot="18900000">
            <a:off x="766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3" name="object 33"/>
          <p:cNvSpPr txBox="1"/>
          <p:nvPr/>
        </p:nvSpPr>
        <p:spPr>
          <a:xfrm rot="18900000">
            <a:off x="772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Tree>
  </p:cSld>
  <p:clrMapOvr>
    <a:masterClrMapping/>
  </p:clrMapOvr>
  <p:transition>
    <p:randomBar dir="ver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35736" y="620745"/>
            <a:ext cx="992124" cy="490099"/>
          </a:xfrm>
          <a:prstGeom prst="rect">
            <a:avLst/>
          </a:prstGeom>
          <a:blipFill>
            <a:blip r:embed="rId1" cstate="print"/>
            <a:stretch>
              <a:fillRect/>
            </a:stretch>
          </a:blipFill>
        </p:spPr>
        <p:txBody>
          <a:bodyPr wrap="square" lIns="0" tIns="0" rIns="0" bIns="0" rtlCol="0"/>
          <a:lstStyle/>
          <a:p>
            <a:endParaRPr sz="1800"/>
          </a:p>
        </p:txBody>
      </p:sp>
      <p:sp>
        <p:nvSpPr>
          <p:cNvPr id="3" name="object 3"/>
          <p:cNvSpPr/>
          <p:nvPr/>
        </p:nvSpPr>
        <p:spPr>
          <a:xfrm>
            <a:off x="1583436" y="352043"/>
            <a:ext cx="769619" cy="841247"/>
          </a:xfrm>
          <a:prstGeom prst="rect">
            <a:avLst/>
          </a:prstGeom>
          <a:blipFill>
            <a:blip r:embed="rId2" cstate="print"/>
            <a:stretch>
              <a:fillRect/>
            </a:stretch>
          </a:blipFill>
        </p:spPr>
        <p:txBody>
          <a:bodyPr wrap="square" lIns="0" tIns="0" rIns="0" bIns="0" rtlCol="0"/>
          <a:lstStyle/>
          <a:p>
            <a:endParaRPr sz="1800"/>
          </a:p>
        </p:txBody>
      </p:sp>
      <p:sp>
        <p:nvSpPr>
          <p:cNvPr id="4" name="object 4"/>
          <p:cNvSpPr txBox="1"/>
          <p:nvPr/>
        </p:nvSpPr>
        <p:spPr>
          <a:xfrm>
            <a:off x="905967" y="471297"/>
            <a:ext cx="1010919" cy="635000"/>
          </a:xfrm>
          <a:prstGeom prst="rect">
            <a:avLst/>
          </a:prstGeom>
        </p:spPr>
        <p:txBody>
          <a:bodyPr vert="horz" wrap="square" lIns="0" tIns="12065" rIns="0" bIns="0" rtlCol="0">
            <a:spAutoFit/>
          </a:bodyPr>
          <a:lstStyle/>
          <a:p>
            <a:pPr marL="12700">
              <a:lnSpc>
                <a:spcPct val="100000"/>
              </a:lnSpc>
              <a:spcBef>
                <a:spcPts val="95"/>
              </a:spcBef>
            </a:pPr>
            <a:r>
              <a:rPr sz="4000" b="1" spc="-140" dirty="0">
                <a:solidFill>
                  <a:srgbClr val="6F2F9F"/>
                </a:solidFill>
                <a:latin typeface="Microsoft JhengHei UI" panose="020B0604030504040204" charset="-120"/>
                <a:cs typeface="Microsoft JhengHei UI" panose="020B0604030504040204" charset="-120"/>
              </a:rPr>
              <a:t>展望</a:t>
            </a:r>
            <a:endParaRPr sz="4000">
              <a:latin typeface="Microsoft JhengHei UI" panose="020B0604030504040204" charset="-120"/>
              <a:cs typeface="Microsoft JhengHei UI" panose="020B0604030504040204" charset="-120"/>
            </a:endParaRPr>
          </a:p>
        </p:txBody>
      </p:sp>
      <p:sp>
        <p:nvSpPr>
          <p:cNvPr id="5" name="object 5"/>
          <p:cNvSpPr/>
          <p:nvPr/>
        </p:nvSpPr>
        <p:spPr>
          <a:xfrm>
            <a:off x="1525826" y="1761532"/>
            <a:ext cx="5878883" cy="4104189"/>
          </a:xfrm>
          <a:prstGeom prst="rect">
            <a:avLst/>
          </a:prstGeom>
          <a:blipFill>
            <a:blip r:embed="rId3" cstate="print"/>
            <a:stretch>
              <a:fillRect/>
            </a:stretch>
          </a:blipFill>
        </p:spPr>
        <p:txBody>
          <a:bodyPr wrap="square" lIns="0" tIns="0" rIns="0" bIns="0" rtlCol="0"/>
          <a:lstStyle/>
          <a:p>
            <a:endParaRPr sz="1800"/>
          </a:p>
        </p:txBody>
      </p:sp>
      <p:sp>
        <p:nvSpPr>
          <p:cNvPr id="6" name="object 6"/>
          <p:cNvSpPr txBox="1"/>
          <p:nvPr/>
        </p:nvSpPr>
        <p:spPr>
          <a:xfrm rot="18900000">
            <a:off x="-109676" y="6146183"/>
            <a:ext cx="1213920"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7" name="object 7"/>
          <p:cNvSpPr txBox="1"/>
          <p:nvPr/>
        </p:nvSpPr>
        <p:spPr>
          <a:xfrm rot="18900000">
            <a:off x="-270503"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8" name="object 8"/>
          <p:cNvSpPr txBox="1"/>
          <p:nvPr/>
        </p:nvSpPr>
        <p:spPr>
          <a:xfrm rot="18900000">
            <a:off x="-270503"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9" name="object 9"/>
          <p:cNvSpPr txBox="1"/>
          <p:nvPr/>
        </p:nvSpPr>
        <p:spPr>
          <a:xfrm rot="18900000">
            <a:off x="-270503"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0" name="object 10"/>
          <p:cNvSpPr txBox="1"/>
          <p:nvPr/>
        </p:nvSpPr>
        <p:spPr>
          <a:xfrm rot="18900000">
            <a:off x="-207607"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1" name="object 11"/>
          <p:cNvSpPr txBox="1"/>
          <p:nvPr/>
        </p:nvSpPr>
        <p:spPr>
          <a:xfrm rot="18900000">
            <a:off x="131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2" name="object 12"/>
          <p:cNvSpPr txBox="1"/>
          <p:nvPr/>
        </p:nvSpPr>
        <p:spPr>
          <a:xfrm rot="18900000">
            <a:off x="131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3" name="object 13"/>
          <p:cNvSpPr txBox="1"/>
          <p:nvPr/>
        </p:nvSpPr>
        <p:spPr>
          <a:xfrm rot="18900000">
            <a:off x="131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4" name="object 14"/>
          <p:cNvSpPr txBox="1"/>
          <p:nvPr/>
        </p:nvSpPr>
        <p:spPr>
          <a:xfrm rot="18900000">
            <a:off x="131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5" name="object 15"/>
          <p:cNvSpPr txBox="1"/>
          <p:nvPr/>
        </p:nvSpPr>
        <p:spPr>
          <a:xfrm rot="18900000">
            <a:off x="137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6" name="object 16"/>
          <p:cNvSpPr txBox="1"/>
          <p:nvPr/>
        </p:nvSpPr>
        <p:spPr>
          <a:xfrm rot="18900000">
            <a:off x="2904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7" name="object 17"/>
          <p:cNvSpPr txBox="1"/>
          <p:nvPr/>
        </p:nvSpPr>
        <p:spPr>
          <a:xfrm rot="18900000">
            <a:off x="2904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8" name="object 18"/>
          <p:cNvSpPr txBox="1"/>
          <p:nvPr/>
        </p:nvSpPr>
        <p:spPr>
          <a:xfrm rot="18900000">
            <a:off x="2904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19" name="object 19"/>
          <p:cNvSpPr txBox="1"/>
          <p:nvPr/>
        </p:nvSpPr>
        <p:spPr>
          <a:xfrm rot="18900000">
            <a:off x="2904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0" name="object 20"/>
          <p:cNvSpPr txBox="1"/>
          <p:nvPr/>
        </p:nvSpPr>
        <p:spPr>
          <a:xfrm rot="18900000">
            <a:off x="2967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1" name="object 21"/>
          <p:cNvSpPr txBox="1"/>
          <p:nvPr/>
        </p:nvSpPr>
        <p:spPr>
          <a:xfrm rot="18900000">
            <a:off x="4491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2" name="object 22"/>
          <p:cNvSpPr txBox="1"/>
          <p:nvPr/>
        </p:nvSpPr>
        <p:spPr>
          <a:xfrm rot="18900000">
            <a:off x="4491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3" name="object 23"/>
          <p:cNvSpPr txBox="1"/>
          <p:nvPr/>
        </p:nvSpPr>
        <p:spPr>
          <a:xfrm rot="18900000">
            <a:off x="4491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4" name="object 24"/>
          <p:cNvSpPr txBox="1"/>
          <p:nvPr/>
        </p:nvSpPr>
        <p:spPr>
          <a:xfrm rot="18900000">
            <a:off x="4491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5" name="object 25"/>
          <p:cNvSpPr txBox="1"/>
          <p:nvPr/>
        </p:nvSpPr>
        <p:spPr>
          <a:xfrm rot="18900000">
            <a:off x="4554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6" name="object 26"/>
          <p:cNvSpPr txBox="1"/>
          <p:nvPr/>
        </p:nvSpPr>
        <p:spPr>
          <a:xfrm rot="18900000">
            <a:off x="60794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7" name="object 27"/>
          <p:cNvSpPr txBox="1"/>
          <p:nvPr/>
        </p:nvSpPr>
        <p:spPr>
          <a:xfrm rot="18900000">
            <a:off x="60794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8" name="object 28"/>
          <p:cNvSpPr txBox="1"/>
          <p:nvPr/>
        </p:nvSpPr>
        <p:spPr>
          <a:xfrm rot="18900000">
            <a:off x="60794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29" name="object 29"/>
          <p:cNvSpPr txBox="1"/>
          <p:nvPr/>
        </p:nvSpPr>
        <p:spPr>
          <a:xfrm rot="18900000">
            <a:off x="60794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0" name="object 30"/>
          <p:cNvSpPr txBox="1"/>
          <p:nvPr/>
        </p:nvSpPr>
        <p:spPr>
          <a:xfrm rot="18900000">
            <a:off x="61423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1" name="object 31"/>
          <p:cNvSpPr txBox="1"/>
          <p:nvPr/>
        </p:nvSpPr>
        <p:spPr>
          <a:xfrm rot="18900000">
            <a:off x="7666996" y="6214276"/>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2" name="object 32"/>
          <p:cNvSpPr txBox="1"/>
          <p:nvPr/>
        </p:nvSpPr>
        <p:spPr>
          <a:xfrm rot="18900000">
            <a:off x="7666996" y="4690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3" name="object 33"/>
          <p:cNvSpPr txBox="1"/>
          <p:nvPr/>
        </p:nvSpPr>
        <p:spPr>
          <a:xfrm rot="18900000">
            <a:off x="7666996" y="3166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4" name="object 34"/>
          <p:cNvSpPr txBox="1"/>
          <p:nvPr/>
        </p:nvSpPr>
        <p:spPr>
          <a:xfrm rot="18900000">
            <a:off x="7666996" y="1642275"/>
            <a:ext cx="1402379"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
        <p:nvSpPr>
          <p:cNvPr id="35" name="object 35"/>
          <p:cNvSpPr txBox="1"/>
          <p:nvPr/>
        </p:nvSpPr>
        <p:spPr>
          <a:xfrm rot="18900000">
            <a:off x="7729892" y="274808"/>
            <a:ext cx="970117" cy="191770"/>
          </a:xfrm>
          <a:prstGeom prst="rect">
            <a:avLst/>
          </a:prstGeom>
        </p:spPr>
        <p:txBody>
          <a:bodyPr vert="horz" wrap="square" lIns="0" tIns="0" rIns="0" bIns="0" rtlCol="0">
            <a:spAutoFit/>
          </a:bodyPr>
          <a:lstStyle/>
          <a:p>
            <a:pPr>
              <a:lnSpc>
                <a:spcPts val="1500"/>
              </a:lnSpc>
            </a:pPr>
            <a:endParaRPr sz="1500" dirty="0">
              <a:solidFill>
                <a:srgbClr val="9B9B9B"/>
              </a:solidFill>
              <a:latin typeface="微软雅黑" panose="020B0503020204020204" charset="-122"/>
              <a:cs typeface="微软雅黑" panose="020B0503020204020204" charset="-122"/>
            </a:endParaRPr>
          </a:p>
        </p:txBody>
      </p:sp>
    </p:spTree>
  </p:cSld>
  <p:clrMapOvr>
    <a:masterClrMapping/>
  </p:clrMapOvr>
  <p:transition>
    <p:randomBar dir="ver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ext Box 3"/>
          <p:cNvSpPr txBox="1">
            <a:spLocks noChangeArrowheads="1"/>
          </p:cNvSpPr>
          <p:nvPr/>
        </p:nvSpPr>
        <p:spPr bwMode="auto">
          <a:xfrm>
            <a:off x="468313" y="765175"/>
            <a:ext cx="8153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tIns="0" bIns="0">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algn="ctr" eaLnBrk="1" hangingPunct="1">
              <a:lnSpc>
                <a:spcPct val="150000"/>
              </a:lnSpc>
            </a:pPr>
            <a:r>
              <a:rPr lang="zh-CN" altLang="en-US" sz="3600">
                <a:solidFill>
                  <a:srgbClr val="0033CC"/>
                </a:solidFill>
                <a:ea typeface="楷体_GB2312" pitchFamily="49" charset="-122"/>
              </a:rPr>
              <a:t>本章小结</a:t>
            </a:r>
            <a:endParaRPr lang="zh-CN" altLang="en-US" sz="3600">
              <a:solidFill>
                <a:srgbClr val="0033CC"/>
              </a:solidFill>
              <a:ea typeface="楷体_GB2312" pitchFamily="49" charset="-122"/>
            </a:endParaRPr>
          </a:p>
          <a:p>
            <a:pPr algn="ctr" eaLnBrk="1" hangingPunct="1">
              <a:lnSpc>
                <a:spcPct val="150000"/>
              </a:lnSpc>
            </a:pPr>
            <a:endParaRPr lang="zh-CN" altLang="en-US" sz="3600">
              <a:solidFill>
                <a:srgbClr val="0033CC"/>
              </a:solidFill>
              <a:ea typeface="楷体_GB2312" pitchFamily="49" charset="-122"/>
            </a:endParaRPr>
          </a:p>
          <a:p>
            <a:pPr eaLnBrk="1" hangingPunct="1">
              <a:lnSpc>
                <a:spcPct val="150000"/>
              </a:lnSpc>
            </a:pPr>
            <a:r>
              <a:rPr lang="en-US" altLang="zh-CN" sz="2800">
                <a:solidFill>
                  <a:schemeClr val="tx1"/>
                </a:solidFill>
                <a:ea typeface="楷体_GB2312" pitchFamily="49" charset="-122"/>
              </a:rPr>
              <a:t>1</a:t>
            </a:r>
            <a:r>
              <a:rPr lang="zh-CN" altLang="en-US" sz="2800">
                <a:solidFill>
                  <a:schemeClr val="tx1"/>
                </a:solidFill>
                <a:ea typeface="楷体_GB2312" pitchFamily="49" charset="-122"/>
              </a:rPr>
              <a:t>、一次电池（锌锰电池）；</a:t>
            </a:r>
            <a:endParaRPr lang="zh-CN" altLang="en-US" sz="2800">
              <a:solidFill>
                <a:schemeClr val="tx1"/>
              </a:solidFill>
              <a:ea typeface="楷体_GB2312" pitchFamily="49" charset="-122"/>
            </a:endParaRPr>
          </a:p>
          <a:p>
            <a:pPr eaLnBrk="1" hangingPunct="1">
              <a:lnSpc>
                <a:spcPct val="150000"/>
              </a:lnSpc>
            </a:pPr>
            <a:r>
              <a:rPr lang="en-US" altLang="zh-CN" sz="2800">
                <a:solidFill>
                  <a:schemeClr val="tx1"/>
                </a:solidFill>
                <a:ea typeface="楷体_GB2312" pitchFamily="49" charset="-122"/>
              </a:rPr>
              <a:t>2</a:t>
            </a:r>
            <a:r>
              <a:rPr lang="zh-CN" altLang="en-US" sz="2800">
                <a:solidFill>
                  <a:schemeClr val="tx1"/>
                </a:solidFill>
                <a:ea typeface="楷体_GB2312" pitchFamily="49" charset="-122"/>
              </a:rPr>
              <a:t>、二次电池（铅酸蓄电池、锂离子电池）；</a:t>
            </a:r>
            <a:endParaRPr lang="zh-CN" altLang="en-US" sz="2800">
              <a:solidFill>
                <a:schemeClr val="tx1"/>
              </a:solidFill>
              <a:ea typeface="楷体_GB2312" pitchFamily="49" charset="-122"/>
            </a:endParaRPr>
          </a:p>
          <a:p>
            <a:pPr eaLnBrk="1" hangingPunct="1">
              <a:lnSpc>
                <a:spcPct val="150000"/>
              </a:lnSpc>
            </a:pPr>
            <a:r>
              <a:rPr lang="en-US" altLang="zh-CN" sz="2800">
                <a:solidFill>
                  <a:schemeClr val="tx1"/>
                </a:solidFill>
                <a:ea typeface="楷体_GB2312" pitchFamily="49" charset="-122"/>
              </a:rPr>
              <a:t>3</a:t>
            </a:r>
            <a:r>
              <a:rPr lang="zh-CN" altLang="en-US" sz="2800">
                <a:solidFill>
                  <a:schemeClr val="tx1"/>
                </a:solidFill>
                <a:ea typeface="楷体_GB2312" pitchFamily="49" charset="-122"/>
              </a:rPr>
              <a:t>、燃料电池（各种类型）</a:t>
            </a:r>
            <a:endParaRPr lang="zh-CN" altLang="en-US" sz="2800">
              <a:solidFill>
                <a:schemeClr val="tx1"/>
              </a:solidFill>
              <a:ea typeface="楷体_GB2312" pitchFamily="49" charset="-122"/>
            </a:endParaRPr>
          </a:p>
        </p:txBody>
      </p:sp>
    </p:spTree>
  </p:cSld>
  <p:clrMapOvr>
    <a:masterClrMapping/>
  </p:clrMapOvr>
  <p:transition>
    <p:randomBar dir="vert"/>
  </p:transition>
</p:sld>
</file>

<file path=ppt/tags/tag1.xml><?xml version="1.0" encoding="utf-8"?>
<p:tagLst xmlns:p="http://schemas.openxmlformats.org/presentationml/2006/main">
  <p:tag name="KSO_WM_UNIT_PLACING_PICTURE_USER_VIEWPORT" val="{&quot;height&quot;:900,&quot;width&quot;:3770}"/>
</p:tagLst>
</file>

<file path=ppt/tags/tag2.xml><?xml version="1.0" encoding="utf-8"?>
<p:tagLst xmlns:p="http://schemas.openxmlformats.org/presentationml/2006/main">
  <p:tag name="KSO_WM_UNIT_PLACING_PICTURE_USER_VIEWPORT" val="{&quot;height&quot;:900,&quot;width&quot;:3770}"/>
</p:tagLst>
</file>

<file path=ppt/tags/tag3.xml><?xml version="1.0" encoding="utf-8"?>
<p:tagLst xmlns:p="http://schemas.openxmlformats.org/presentationml/2006/main">
  <p:tag name="KSO_WM_UNIT_PLACING_PICTURE_USER_VIEWPORT" val="{&quot;height&quot;:900,&quot;width&quot;:3770}"/>
</p:tagLst>
</file>

<file path=ppt/tags/tag4.xml><?xml version="1.0" encoding="utf-8"?>
<p:tagLst xmlns:p="http://schemas.openxmlformats.org/presentationml/2006/main">
  <p:tag name="KSO_WM_UNIT_PLACING_PICTURE_USER_VIEWPORT" val="{&quot;height&quot;:900,&quot;width&quot;:3770}"/>
</p:tagLst>
</file>

<file path=ppt/tags/tag5.xml><?xml version="1.0" encoding="utf-8"?>
<p:tagLst xmlns:p="http://schemas.openxmlformats.org/presentationml/2006/main">
  <p:tag name="KSO_WM_UNIT_PLACING_PICTURE_USER_VIEWPORT" val="{&quot;height&quot;:900,&quot;width&quot;:3770}"/>
</p:tagLst>
</file>

<file path=ppt/tags/tag6.xml><?xml version="1.0" encoding="utf-8"?>
<p:tagLst xmlns:p="http://schemas.openxmlformats.org/presentationml/2006/main">
  <p:tag name="KSO_WPP_MARK_KEY" val="fb302efb-10e4-432d-9fcd-c9a71537a702"/>
  <p:tag name="COMMONDATA" val="eyJoZGlkIjoiMzgxMjc0NTUwYTA2N2VhZWFmNzBiODNjZjU3OTRiOTMifQ=="/>
  <p:tag name="commondata" val="eyJoZGlkIjoiODIyZGQ3MzI3NDI1MDU1N2YyZWRhMDJkZThkMjhmMDYifQ=="/>
</p:tagLst>
</file>

<file path=ppt/theme/theme1.xml><?xml version="1.0" encoding="utf-8"?>
<a:theme xmlns:a="http://schemas.openxmlformats.org/drawingml/2006/main" name="万里长城">
  <a:themeElements>
    <a:clrScheme name="万里长城 6">
      <a:dk1>
        <a:srgbClr val="000000"/>
      </a:dk1>
      <a:lt1>
        <a:srgbClr val="FFFFCC"/>
      </a:lt1>
      <a:dk2>
        <a:srgbClr val="6756A6"/>
      </a:dk2>
      <a:lt2>
        <a:srgbClr val="969696"/>
      </a:lt2>
      <a:accent1>
        <a:srgbClr val="99CCFF"/>
      </a:accent1>
      <a:accent2>
        <a:srgbClr val="008000"/>
      </a:accent2>
      <a:accent3>
        <a:srgbClr val="FFFFE2"/>
      </a:accent3>
      <a:accent4>
        <a:srgbClr val="000000"/>
      </a:accent4>
      <a:accent5>
        <a:srgbClr val="CAE2FF"/>
      </a:accent5>
      <a:accent6>
        <a:srgbClr val="007300"/>
      </a:accent6>
      <a:hlink>
        <a:srgbClr val="990033"/>
      </a:hlink>
      <a:folHlink>
        <a:srgbClr val="9900CC"/>
      </a:folHlink>
    </a:clrScheme>
    <a:fontScheme name="万里长城">
      <a:majorFont>
        <a:latin typeface="Times New Roman"/>
        <a:ea typeface="楷体_GB2312"/>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万里长城 1">
        <a:dk1>
          <a:srgbClr val="000000"/>
        </a:dk1>
        <a:lt1>
          <a:srgbClr val="FFFFFF"/>
        </a:lt1>
        <a:dk2>
          <a:srgbClr val="000099"/>
        </a:dk2>
        <a:lt2>
          <a:srgbClr val="969696"/>
        </a:lt2>
        <a:accent1>
          <a:srgbClr val="FFFF99"/>
        </a:accent1>
        <a:accent2>
          <a:srgbClr val="006666"/>
        </a:accent2>
        <a:accent3>
          <a:srgbClr val="FFFFFF"/>
        </a:accent3>
        <a:accent4>
          <a:srgbClr val="000000"/>
        </a:accent4>
        <a:accent5>
          <a:srgbClr val="FFFFCA"/>
        </a:accent5>
        <a:accent6>
          <a:srgbClr val="005C5C"/>
        </a:accent6>
        <a:hlink>
          <a:srgbClr val="800080"/>
        </a:hlink>
        <a:folHlink>
          <a:srgbClr val="FF6600"/>
        </a:folHlink>
      </a:clrScheme>
      <a:clrMap bg1="lt1" tx1="dk1" bg2="lt2" tx2="dk2" accent1="accent1" accent2="accent2" accent3="accent3" accent4="accent4" accent5="accent5" accent6="accent6" hlink="hlink" folHlink="folHlink"/>
    </a:extraClrScheme>
    <a:extraClrScheme>
      <a:clrScheme name="万里长城 2">
        <a:dk1>
          <a:srgbClr val="000000"/>
        </a:dk1>
        <a:lt1>
          <a:srgbClr val="8EA4EA"/>
        </a:lt1>
        <a:dk2>
          <a:srgbClr val="0033CC"/>
        </a:dk2>
        <a:lt2>
          <a:srgbClr val="969696"/>
        </a:lt2>
        <a:accent1>
          <a:srgbClr val="86B5B6"/>
        </a:accent1>
        <a:accent2>
          <a:srgbClr val="FFCC66"/>
        </a:accent2>
        <a:accent3>
          <a:srgbClr val="C6CFF3"/>
        </a:accent3>
        <a:accent4>
          <a:srgbClr val="000000"/>
        </a:accent4>
        <a:accent5>
          <a:srgbClr val="C3D7D7"/>
        </a:accent5>
        <a:accent6>
          <a:srgbClr val="E7B95C"/>
        </a:accent6>
        <a:hlink>
          <a:srgbClr val="626292"/>
        </a:hlink>
        <a:folHlink>
          <a:srgbClr val="A2366C"/>
        </a:folHlink>
      </a:clrScheme>
      <a:clrMap bg1="lt1" tx1="dk1" bg2="lt2" tx2="dk2" accent1="accent1" accent2="accent2" accent3="accent3" accent4="accent4" accent5="accent5" accent6="accent6" hlink="hlink" folHlink="folHlink"/>
    </a:extraClrScheme>
    <a:extraClrScheme>
      <a:clrScheme name="万里长城 3">
        <a:dk1>
          <a:srgbClr val="0000FF"/>
        </a:dk1>
        <a:lt1>
          <a:srgbClr val="C0C0C0"/>
        </a:lt1>
        <a:dk2>
          <a:srgbClr val="000000"/>
        </a:dk2>
        <a:lt2>
          <a:srgbClr val="B2B2B2"/>
        </a:lt2>
        <a:accent1>
          <a:srgbClr val="FFCC99"/>
        </a:accent1>
        <a:accent2>
          <a:srgbClr val="FF99CC"/>
        </a:accent2>
        <a:accent3>
          <a:srgbClr val="DCDCDC"/>
        </a:accent3>
        <a:accent4>
          <a:srgbClr val="0000DA"/>
        </a:accent4>
        <a:accent5>
          <a:srgbClr val="FFE2CA"/>
        </a:accent5>
        <a:accent6>
          <a:srgbClr val="E78AB9"/>
        </a:accent6>
        <a:hlink>
          <a:srgbClr val="9C4070"/>
        </a:hlink>
        <a:folHlink>
          <a:srgbClr val="00716E"/>
        </a:folHlink>
      </a:clrScheme>
      <a:clrMap bg1="lt1" tx1="dk1" bg2="lt2" tx2="dk2" accent1="accent1" accent2="accent2" accent3="accent3" accent4="accent4" accent5="accent5" accent6="accent6" hlink="hlink" folHlink="folHlink"/>
    </a:extraClrScheme>
    <a:extraClrScheme>
      <a:clrScheme name="万里长城 4">
        <a:dk1>
          <a:srgbClr val="0029AC"/>
        </a:dk1>
        <a:lt1>
          <a:srgbClr val="CCFFCC"/>
        </a:lt1>
        <a:dk2>
          <a:srgbClr val="993366"/>
        </a:dk2>
        <a:lt2>
          <a:srgbClr val="969696"/>
        </a:lt2>
        <a:accent1>
          <a:srgbClr val="FFCC99"/>
        </a:accent1>
        <a:accent2>
          <a:srgbClr val="6699FF"/>
        </a:accent2>
        <a:accent3>
          <a:srgbClr val="E2FFE2"/>
        </a:accent3>
        <a:accent4>
          <a:srgbClr val="002192"/>
        </a:accent4>
        <a:accent5>
          <a:srgbClr val="FFE2CA"/>
        </a:accent5>
        <a:accent6>
          <a:srgbClr val="5C8AE7"/>
        </a:accent6>
        <a:hlink>
          <a:srgbClr val="006600"/>
        </a:hlink>
        <a:folHlink>
          <a:srgbClr val="3366FF"/>
        </a:folHlink>
      </a:clrScheme>
      <a:clrMap bg1="lt1" tx1="dk1" bg2="lt2" tx2="dk2" accent1="accent1" accent2="accent2" accent3="accent3" accent4="accent4" accent5="accent5" accent6="accent6" hlink="hlink" folHlink="folHlink"/>
    </a:extraClrScheme>
    <a:extraClrScheme>
      <a:clrScheme name="万里长城 5">
        <a:dk1>
          <a:srgbClr val="333333"/>
        </a:dk1>
        <a:lt1>
          <a:srgbClr val="FF99CC"/>
        </a:lt1>
        <a:dk2>
          <a:srgbClr val="006600"/>
        </a:dk2>
        <a:lt2>
          <a:srgbClr val="B2B2B2"/>
        </a:lt2>
        <a:accent1>
          <a:srgbClr val="FFFF66"/>
        </a:accent1>
        <a:accent2>
          <a:srgbClr val="33CCFF"/>
        </a:accent2>
        <a:accent3>
          <a:srgbClr val="FFCAE2"/>
        </a:accent3>
        <a:accent4>
          <a:srgbClr val="2A2A2A"/>
        </a:accent4>
        <a:accent5>
          <a:srgbClr val="FFFFB8"/>
        </a:accent5>
        <a:accent6>
          <a:srgbClr val="2DB9E7"/>
        </a:accent6>
        <a:hlink>
          <a:srgbClr val="6600FF"/>
        </a:hlink>
        <a:folHlink>
          <a:srgbClr val="CC0066"/>
        </a:folHlink>
      </a:clrScheme>
      <a:clrMap bg1="lt1" tx1="dk1" bg2="lt2" tx2="dk2" accent1="accent1" accent2="accent2" accent3="accent3" accent4="accent4" accent5="accent5" accent6="accent6" hlink="hlink" folHlink="folHlink"/>
    </a:extraClrScheme>
    <a:extraClrScheme>
      <a:clrScheme name="万里长城 6">
        <a:dk1>
          <a:srgbClr val="000000"/>
        </a:dk1>
        <a:lt1>
          <a:srgbClr val="FFFFCC"/>
        </a:lt1>
        <a:dk2>
          <a:srgbClr val="6756A6"/>
        </a:dk2>
        <a:lt2>
          <a:srgbClr val="969696"/>
        </a:lt2>
        <a:accent1>
          <a:srgbClr val="99CCFF"/>
        </a:accent1>
        <a:accent2>
          <a:srgbClr val="008000"/>
        </a:accent2>
        <a:accent3>
          <a:srgbClr val="FFFFE2"/>
        </a:accent3>
        <a:accent4>
          <a:srgbClr val="000000"/>
        </a:accent4>
        <a:accent5>
          <a:srgbClr val="CAE2FF"/>
        </a:accent5>
        <a:accent6>
          <a:srgbClr val="007300"/>
        </a:accent6>
        <a:hlink>
          <a:srgbClr val="990033"/>
        </a:hlink>
        <a:folHlink>
          <a:srgbClr val="9900CC"/>
        </a:folHlink>
      </a:clrScheme>
      <a:clrMap bg1="lt1" tx1="dk1" bg2="lt2" tx2="dk2" accent1="accent1" accent2="accent2" accent3="accent3" accent4="accent4" accent5="accent5" accent6="accent6" hlink="hlink" folHlink="folHlink"/>
    </a:extraClrScheme>
    <a:extraClrScheme>
      <a:clrScheme name="万里长城 7">
        <a:dk1>
          <a:srgbClr val="CC3300"/>
        </a:dk1>
        <a:lt1>
          <a:srgbClr val="99CCFF"/>
        </a:lt1>
        <a:dk2>
          <a:srgbClr val="003399"/>
        </a:dk2>
        <a:lt2>
          <a:srgbClr val="969696"/>
        </a:lt2>
        <a:accent1>
          <a:srgbClr val="CED7FE"/>
        </a:accent1>
        <a:accent2>
          <a:srgbClr val="FFFFFF"/>
        </a:accent2>
        <a:accent3>
          <a:srgbClr val="CAE2FF"/>
        </a:accent3>
        <a:accent4>
          <a:srgbClr val="AE2A00"/>
        </a:accent4>
        <a:accent5>
          <a:srgbClr val="E3E8FE"/>
        </a:accent5>
        <a:accent6>
          <a:srgbClr val="E7E7E7"/>
        </a:accent6>
        <a:hlink>
          <a:srgbClr val="006600"/>
        </a:hlink>
        <a:folHlink>
          <a:srgbClr val="777777"/>
        </a:folHlink>
      </a:clrScheme>
      <a:clrMap bg1="lt1" tx1="dk1" bg2="lt2" tx2="dk2" accent1="accent1" accent2="accent2" accent3="accent3" accent4="accent4" accent5="accent5" accent6="accent6" hlink="hlink" folHlink="folHlink"/>
    </a:extraClrScheme>
    <a:extraClrScheme>
      <a:clrScheme name="万里长城 8">
        <a:dk1>
          <a:srgbClr val="006600"/>
        </a:dk1>
        <a:lt1>
          <a:srgbClr val="FFCC99"/>
        </a:lt1>
        <a:dk2>
          <a:srgbClr val="000000"/>
        </a:dk2>
        <a:lt2>
          <a:srgbClr val="B2B2B2"/>
        </a:lt2>
        <a:accent1>
          <a:srgbClr val="FFFFFF"/>
        </a:accent1>
        <a:accent2>
          <a:srgbClr val="FFFF66"/>
        </a:accent2>
        <a:accent3>
          <a:srgbClr val="FFE2CA"/>
        </a:accent3>
        <a:accent4>
          <a:srgbClr val="005600"/>
        </a:accent4>
        <a:accent5>
          <a:srgbClr val="FFFFFF"/>
        </a:accent5>
        <a:accent6>
          <a:srgbClr val="E7E75C"/>
        </a:accent6>
        <a:hlink>
          <a:srgbClr val="5B5B89"/>
        </a:hlink>
        <a:folHlink>
          <a:srgbClr val="3366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CDESIGNA</Template>
  <TotalTime>0</TotalTime>
  <Words>6407</Words>
  <Application>WPS 演示</Application>
  <PresentationFormat>全屏显示(4:3)</PresentationFormat>
  <Paragraphs>368</Paragraphs>
  <Slides>50</Slides>
  <Notes>0</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50</vt:i4>
      </vt:variant>
    </vt:vector>
  </HeadingPairs>
  <TitlesOfParts>
    <vt:vector size="69" baseType="lpstr">
      <vt:lpstr>Arial</vt:lpstr>
      <vt:lpstr>宋体</vt:lpstr>
      <vt:lpstr>Wingdings</vt:lpstr>
      <vt:lpstr>Times New Roman</vt:lpstr>
      <vt:lpstr>黑体</vt:lpstr>
      <vt:lpstr>楷体_GB2312</vt:lpstr>
      <vt:lpstr>新宋体</vt:lpstr>
      <vt:lpstr>微软雅黑</vt:lpstr>
      <vt:lpstr>Arial Unicode MS</vt:lpstr>
      <vt:lpstr>Microsoft JhengHei</vt:lpstr>
      <vt:lpstr>Times New Roman</vt:lpstr>
      <vt:lpstr>等线</vt:lpstr>
      <vt:lpstr>Wingdings</vt:lpstr>
      <vt:lpstr>Arial</vt:lpstr>
      <vt:lpstr>Corbel</vt:lpstr>
      <vt:lpstr>Microsoft JhengHei UI</vt:lpstr>
      <vt:lpstr>Calibri</vt:lpstr>
      <vt:lpstr>万里长城</vt:lpstr>
      <vt:lpstr>1_Office Theme</vt:lpstr>
      <vt:lpstr>3.3.5 燃料电池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3.5 燃料电池</vt:lpstr>
      <vt:lpstr>PowerPoint 演示文稿</vt:lpstr>
      <vt:lpstr>PowerPoint 演示文稿</vt:lpstr>
      <vt:lpstr>电池的安全性问题</vt:lpstr>
      <vt:lpstr>全固态--让梦想照进现实</vt:lpstr>
      <vt:lpstr>全固态锂电池</vt:lpstr>
      <vt:lpstr>全固态锂电池的优点</vt:lpstr>
      <vt:lpstr>全固态锂电池的构造</vt:lpstr>
      <vt:lpstr>PowerPoint 演示文稿</vt:lpstr>
      <vt:lpstr>常用的无机陶瓷电解质</vt:lpstr>
      <vt:lpstr>常用的有机聚合物电解质</vt:lpstr>
      <vt:lpstr>NASICON结构型固体电解质</vt:lpstr>
      <vt:lpstr>石榴石结构型固体电解质</vt:lpstr>
      <vt:lpstr>全固体锂电池的问题</vt:lpstr>
      <vt:lpstr>PowerPoint 演示文稿</vt:lpstr>
      <vt:lpstr>柔性全固态锂电池</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无际</cp:lastModifiedBy>
  <cp:revision>598</cp:revision>
  <dcterms:created xsi:type="dcterms:W3CDTF">2113-01-01T00:00:00Z</dcterms:created>
  <dcterms:modified xsi:type="dcterms:W3CDTF">2025-10-31T01:55:13Z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EF08206DC42E4D66909A73AFE3FD74FC</vt:lpwstr>
  </property>
  <property fmtid="{D5CDD505-2E9C-101B-9397-08002B2CF9AE}" pid="3" name="KSOProductBuildVer">
    <vt:lpwstr>2052-12.1.0.23125</vt:lpwstr>
  </property>
</Properties>
</file>
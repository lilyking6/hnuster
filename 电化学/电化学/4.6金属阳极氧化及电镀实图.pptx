
<file path=[Content_Types].xml><?xml version="1.0" encoding="utf-8"?>
<Types xmlns="http://schemas.openxmlformats.org/package/2006/content-types">
  <Default Extension="jpeg" ContentType="image/jpeg"/>
  <Default Extension="JPG" ContentType="image/.jpg"/>
  <Default Extension="wav" ContentType="audio/x-wav"/>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0"/>
  </p:notesMasterIdLst>
  <p:handoutMasterIdLst>
    <p:handoutMasterId r:id="rId75"/>
  </p:handoutMasterIdLst>
  <p:sldIdLst>
    <p:sldId id="311" r:id="rId4"/>
    <p:sldId id="312" r:id="rId5"/>
    <p:sldId id="313" r:id="rId6"/>
    <p:sldId id="478" r:id="rId7"/>
    <p:sldId id="314" r:id="rId8"/>
    <p:sldId id="315" r:id="rId9"/>
    <p:sldId id="403" r:id="rId10"/>
    <p:sldId id="316" r:id="rId11"/>
    <p:sldId id="317" r:id="rId12"/>
    <p:sldId id="318" r:id="rId13"/>
    <p:sldId id="404" r:id="rId14"/>
    <p:sldId id="415" r:id="rId15"/>
    <p:sldId id="416" r:id="rId16"/>
    <p:sldId id="417" r:id="rId17"/>
    <p:sldId id="418" r:id="rId18"/>
    <p:sldId id="420" r:id="rId19"/>
    <p:sldId id="421" r:id="rId20"/>
    <p:sldId id="422" r:id="rId21"/>
    <p:sldId id="423" r:id="rId22"/>
    <p:sldId id="424" r:id="rId23"/>
    <p:sldId id="425" r:id="rId24"/>
    <p:sldId id="426" r:id="rId25"/>
    <p:sldId id="427" r:id="rId26"/>
    <p:sldId id="428" r:id="rId27"/>
    <p:sldId id="429" r:id="rId28"/>
    <p:sldId id="430" r:id="rId29"/>
    <p:sldId id="431" r:id="rId31"/>
    <p:sldId id="432" r:id="rId32"/>
    <p:sldId id="433" r:id="rId33"/>
    <p:sldId id="434" r:id="rId34"/>
    <p:sldId id="435" r:id="rId35"/>
    <p:sldId id="436" r:id="rId36"/>
    <p:sldId id="437" r:id="rId37"/>
    <p:sldId id="438" r:id="rId38"/>
    <p:sldId id="439" r:id="rId39"/>
    <p:sldId id="440" r:id="rId40"/>
    <p:sldId id="441" r:id="rId41"/>
    <p:sldId id="442" r:id="rId42"/>
    <p:sldId id="443" r:id="rId43"/>
    <p:sldId id="447" r:id="rId44"/>
    <p:sldId id="448" r:id="rId45"/>
    <p:sldId id="449" r:id="rId46"/>
    <p:sldId id="450" r:id="rId47"/>
    <p:sldId id="451" r:id="rId48"/>
    <p:sldId id="452" r:id="rId49"/>
    <p:sldId id="453" r:id="rId50"/>
    <p:sldId id="454" r:id="rId51"/>
    <p:sldId id="455" r:id="rId52"/>
    <p:sldId id="456" r:id="rId53"/>
    <p:sldId id="457" r:id="rId54"/>
    <p:sldId id="458" r:id="rId55"/>
    <p:sldId id="459" r:id="rId56"/>
    <p:sldId id="460" r:id="rId57"/>
    <p:sldId id="461" r:id="rId58"/>
    <p:sldId id="462" r:id="rId59"/>
    <p:sldId id="463" r:id="rId60"/>
    <p:sldId id="464" r:id="rId61"/>
    <p:sldId id="465" r:id="rId62"/>
    <p:sldId id="466" r:id="rId63"/>
    <p:sldId id="467" r:id="rId64"/>
    <p:sldId id="468" r:id="rId65"/>
    <p:sldId id="469" r:id="rId66"/>
    <p:sldId id="470" r:id="rId67"/>
    <p:sldId id="471" r:id="rId68"/>
    <p:sldId id="472" r:id="rId69"/>
    <p:sldId id="473" r:id="rId70"/>
    <p:sldId id="474" r:id="rId71"/>
    <p:sldId id="475" r:id="rId72"/>
    <p:sldId id="476" r:id="rId73"/>
    <p:sldId id="477" r:id="rId74"/>
  </p:sldIdLst>
  <p:sldSz cx="12192000" cy="6858000"/>
  <p:notesSz cx="6858000" cy="9144000"/>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6" d="100"/>
          <a:sy n="86" d="100"/>
        </p:scale>
        <p:origin x="33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1.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notesMaster" Target="notesMasters/notesMaster1.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76529-EFB3-49B2-A301-B4549D563FF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BB0D5-88CA-4D3A-A470-14149B5F68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55E8F25-DE09-472F-AEE7-CE6AEEE13EAF}"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D006C15-BE8C-4F08-A5C6-BA3248BCF8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A07C5F8-9078-4464-AE99-1BDA289C912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4815752-4A44-454F-B5BF-C276C85A8E12}"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5AED3A0-61A3-4CC5-BD49-5792E15D6DE6}"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56BCD42-1757-4D00-9294-1F7216731C04}"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274539F-C45F-4DAB-91C5-584CDBB0920E}"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D3781E2-1FF4-4F8C-9659-CF45A11632CC}"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95DFC8D-60AD-44C7-85F7-8F45DBABDA28}"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A6261E7-8DFE-4108-8A20-4012354FF433}"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7F82A54-505E-4E1D-8FB2-A61198DE6C04}"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64B670A-429C-402B-A3C9-DEFB9F6C94A9}"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F56E6FB-858E-4CC1-87B4-4D059B1AFF76}"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CAE4811-31BA-4DE0-B1DF-6C862E99132D}"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C990417-18F8-4B4F-8165-7A65895D76E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006C15-BE8C-4F08-A5C6-BA3248BCF8B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07C5F8-9078-4464-AE99-1BDA289C912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FFE4BBAF-E04E-448A-B47A-E6DA160EBEA1}"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3.jpeg"/><Relationship Id="rId4" Type="http://schemas.openxmlformats.org/officeDocument/2006/relationships/hyperlink" Target="http://fs01.bokee.net/userfilespace/2006/04/03/bandog25159.jpg" TargetMode="External"/><Relationship Id="rId3" Type="http://schemas.openxmlformats.org/officeDocument/2006/relationships/image" Target="../media/image2.jpeg"/><Relationship Id="rId2" Type="http://schemas.openxmlformats.org/officeDocument/2006/relationships/hyperlink" Target="http://fs01.bokee.net/userfilespace/2006/05/21/bandog46720.jpg" TargetMode="External"/><Relationship Id="rId1" Type="http://schemas.openxmlformats.org/officeDocument/2006/relationships/image" Target="http://bandog.blog.bokee.net/bloggermodule/image_viewblog.do?id=1804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8.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19.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audio" Target="../media/audio1.wav"/><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5.jpeg"/><Relationship Id="rId1" Type="http://schemas.openxmlformats.org/officeDocument/2006/relationships/image" Target="../media/image24.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6.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27.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9.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1.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audio" Target="../media/audio1.wav"/><Relationship Id="rId2" Type="http://schemas.openxmlformats.org/officeDocument/2006/relationships/image" Target="../media/image37.jpeg"/><Relationship Id="rId1" Type="http://schemas.openxmlformats.org/officeDocument/2006/relationships/image" Target="../media/image36.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8.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39.jpe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audio" Target="../media/audio1.wav"/><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40.jpe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audio" Target="../media/audio1.wav"/><Relationship Id="rId4" Type="http://schemas.openxmlformats.org/officeDocument/2006/relationships/image" Target="../media/image46.jpeg"/><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7.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48.jpe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0.jpe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1.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2.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3.jpe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4.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5.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6.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7.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8.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59.jpe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60.jpe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61.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audio" Target="../media/audio1.wav"/><Relationship Id="rId1" Type="http://schemas.openxmlformats.org/officeDocument/2006/relationships/image" Target="../media/image62.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audio" Target="../media/audio1.wav"/></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audio" Target="../media/audio1.wav"/></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4.png"/><Relationship Id="rId1"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6.png"/><Relationship Id="rId1"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8.jpeg"/><Relationship Id="rId1" Type="http://schemas.openxmlformats.org/officeDocument/2006/relationships/image" Target="../media/image67.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audio" Target="../media/audio1.wav"/></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3505200" y="304800"/>
            <a:ext cx="6019800" cy="762000"/>
          </a:xfrm>
        </p:spPr>
        <p:txBody>
          <a:bodyPr/>
          <a:lstStyle/>
          <a:p>
            <a:pPr eaLnBrk="1" hangingPunct="1"/>
            <a:r>
              <a:rPr lang="en-US" altLang="zh-CN" sz="3600" b="1" dirty="0"/>
              <a:t>4.6.1   </a:t>
            </a:r>
            <a:r>
              <a:rPr lang="zh-CN" altLang="en-US" sz="3600" b="1" dirty="0"/>
              <a:t>金属阳极氧化原理</a:t>
            </a:r>
            <a:endParaRPr lang="zh-CN" altLang="en-US" sz="3600" b="1" dirty="0"/>
          </a:p>
        </p:txBody>
      </p:sp>
      <p:sp>
        <p:nvSpPr>
          <p:cNvPr id="93187" name="Rectangle 3"/>
          <p:cNvSpPr>
            <a:spLocks noGrp="1" noChangeArrowheads="1"/>
          </p:cNvSpPr>
          <p:nvPr>
            <p:ph type="body" idx="1"/>
          </p:nvPr>
        </p:nvSpPr>
        <p:spPr>
          <a:xfrm>
            <a:off x="2133600" y="1371600"/>
            <a:ext cx="7924800" cy="4114800"/>
          </a:xfrm>
        </p:spPr>
        <p:txBody>
          <a:bodyPr/>
          <a:lstStyle/>
          <a:p>
            <a:pPr algn="just" eaLnBrk="1" hangingPunct="1">
              <a:lnSpc>
                <a:spcPct val="90000"/>
              </a:lnSpc>
              <a:buFontTx/>
              <a:buNone/>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金属的阳极氧化是以金属作为阳极，根据电解条件的不同，可能经历下列几个不同的过程</a:t>
            </a:r>
            <a:r>
              <a:rPr lang="en-US" altLang="zh-CN" sz="2800" b="1" dirty="0">
                <a:latin typeface="楷体_GB2312" pitchFamily="49" charset="-122"/>
                <a:ea typeface="楷体_GB2312" pitchFamily="49" charset="-122"/>
              </a:rPr>
              <a:t>:</a:t>
            </a:r>
            <a:endParaRPr lang="en-US" altLang="zh-CN" sz="2800" b="1" dirty="0">
              <a:latin typeface="楷体_GB2312" pitchFamily="49" charset="-122"/>
              <a:ea typeface="楷体_GB2312" pitchFamily="49" charset="-122"/>
            </a:endParaRPr>
          </a:p>
          <a:p>
            <a:pPr algn="just" eaLnBrk="1" hangingPunct="1">
              <a:lnSpc>
                <a:spcPct val="90000"/>
              </a:lnSpc>
              <a:buFontTx/>
              <a:buNone/>
            </a:pPr>
            <a:r>
              <a:rPr lang="en-US" altLang="zh-CN" sz="2800" b="1" dirty="0">
                <a:latin typeface="楷体_GB2312" pitchFamily="49" charset="-122"/>
                <a:ea typeface="楷体_GB2312" pitchFamily="49" charset="-122"/>
              </a:rPr>
              <a:t>  (1)</a:t>
            </a:r>
            <a:r>
              <a:rPr lang="zh-CN" altLang="en-US" sz="2800" b="1" dirty="0">
                <a:latin typeface="楷体_GB2312" pitchFamily="49" charset="-122"/>
                <a:ea typeface="楷体_GB2312" pitchFamily="49" charset="-122"/>
              </a:rPr>
              <a:t>金属的阳极溶解，如</a:t>
            </a:r>
            <a:r>
              <a:rPr lang="en-US" altLang="zh-CN" sz="2800" b="1" dirty="0">
                <a:latin typeface="楷体_GB2312" pitchFamily="49" charset="-122"/>
                <a:ea typeface="楷体_GB2312" pitchFamily="49" charset="-122"/>
              </a:rPr>
              <a:t>Fe→Fe</a:t>
            </a:r>
            <a:r>
              <a:rPr lang="en-US" altLang="zh-CN" sz="2800" b="1" baseline="30000" dirty="0">
                <a:latin typeface="楷体_GB2312" pitchFamily="49" charset="-122"/>
                <a:ea typeface="楷体_GB2312" pitchFamily="49" charset="-122"/>
              </a:rPr>
              <a:t>2+ </a:t>
            </a:r>
            <a:r>
              <a:rPr lang="en-US" altLang="zh-CN" sz="2800" b="1" dirty="0">
                <a:latin typeface="楷体_GB2312" pitchFamily="49" charset="-122"/>
                <a:ea typeface="楷体_GB2312" pitchFamily="49" charset="-122"/>
              </a:rPr>
              <a:t>+ 2e; </a:t>
            </a:r>
            <a:endParaRPr lang="en-US" altLang="zh-CN" sz="2800" b="1" dirty="0">
              <a:latin typeface="楷体_GB2312" pitchFamily="49" charset="-122"/>
              <a:ea typeface="楷体_GB2312" pitchFamily="49" charset="-122"/>
            </a:endParaRPr>
          </a:p>
          <a:p>
            <a:pPr algn="just" eaLnBrk="1" hangingPunct="1">
              <a:lnSpc>
                <a:spcPct val="90000"/>
              </a:lnSpc>
              <a:buFontTx/>
              <a:buNone/>
            </a:pPr>
            <a:r>
              <a:rPr lang="en-US" altLang="zh-CN" sz="2800" b="1" dirty="0">
                <a:latin typeface="楷体_GB2312" pitchFamily="49" charset="-122"/>
                <a:ea typeface="楷体_GB2312" pitchFamily="49" charset="-122"/>
              </a:rPr>
              <a:t>  (2)</a:t>
            </a:r>
            <a:r>
              <a:rPr lang="zh-CN" altLang="en-US" sz="2800" b="1" dirty="0">
                <a:latin typeface="楷体_GB2312" pitchFamily="49" charset="-122"/>
                <a:ea typeface="楷体_GB2312" pitchFamily="49" charset="-122"/>
              </a:rPr>
              <a:t>阳极表面形成极薄的钝化膜</a:t>
            </a:r>
            <a:r>
              <a:rPr lang="en-US" altLang="zh-CN" sz="2800" b="1" dirty="0">
                <a:latin typeface="楷体_GB2312" pitchFamily="49" charset="-122"/>
                <a:ea typeface="楷体_GB2312" pitchFamily="49" charset="-122"/>
              </a:rPr>
              <a:t>; </a:t>
            </a:r>
            <a:endParaRPr lang="en-US" altLang="zh-CN" sz="2800" b="1" dirty="0">
              <a:latin typeface="楷体_GB2312" pitchFamily="49" charset="-122"/>
              <a:ea typeface="楷体_GB2312" pitchFamily="49" charset="-122"/>
            </a:endParaRPr>
          </a:p>
          <a:p>
            <a:pPr algn="just" eaLnBrk="1" hangingPunct="1">
              <a:lnSpc>
                <a:spcPct val="90000"/>
              </a:lnSpc>
              <a:buFontTx/>
              <a:buNone/>
            </a:pPr>
            <a:r>
              <a:rPr lang="en-US" altLang="zh-CN" sz="2800" b="1" dirty="0">
                <a:latin typeface="楷体_GB2312" pitchFamily="49" charset="-122"/>
                <a:ea typeface="楷体_GB2312" pitchFamily="49" charset="-122"/>
              </a:rPr>
              <a:t>  (3)</a:t>
            </a:r>
            <a:r>
              <a:rPr lang="zh-CN" altLang="en-US" sz="2800" b="1" dirty="0">
                <a:latin typeface="楷体_GB2312" pitchFamily="49" charset="-122"/>
                <a:ea typeface="楷体_GB2312" pitchFamily="49" charset="-122"/>
              </a:rPr>
              <a:t>阳极表面形成钝化膜的同时，伴随着膜的溶解，金属以高价离子的形式转入溶液中；同时如果达到了氧的析出电势，则阳极还要析出氧</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图</a:t>
            </a:r>
            <a:r>
              <a:rPr lang="en-US" altLang="zh-CN" sz="2800" b="1" dirty="0">
                <a:latin typeface="楷体_GB2312" pitchFamily="49" charset="-122"/>
                <a:ea typeface="楷体_GB2312" pitchFamily="49" charset="-122"/>
              </a:rPr>
              <a:t>4.3</a:t>
            </a:r>
            <a:r>
              <a:rPr lang="zh-CN" altLang="en-US" sz="2800" b="1" dirty="0">
                <a:latin typeface="楷体_GB2312" pitchFamily="49" charset="-122"/>
                <a:ea typeface="楷体_GB2312" pitchFamily="49" charset="-122"/>
              </a:rPr>
              <a:t>为铁在硫酸溶液中的阳极极化曲线</a:t>
            </a:r>
            <a:r>
              <a:rPr lang="en-US" altLang="zh-CN" sz="2800" b="1" dirty="0">
                <a:latin typeface="楷体_GB2312" pitchFamily="49" charset="-122"/>
                <a:ea typeface="楷体_GB2312" pitchFamily="49" charset="-122"/>
              </a:rPr>
              <a:t>.</a:t>
            </a:r>
            <a:r>
              <a:rPr lang="en-US" altLang="zh-CN" dirty="0">
                <a:latin typeface="楷体_GB2312" pitchFamily="49" charset="-122"/>
                <a:ea typeface="楷体_GB2312" pitchFamily="49" charset="-122"/>
              </a:rPr>
              <a:t> </a:t>
            </a:r>
            <a:endParaRPr lang="en-US" altLang="zh-CN" dirty="0">
              <a:latin typeface="楷体_GB2312" pitchFamily="49" charset="-122"/>
              <a:ea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609601"/>
            <a:ext cx="7924800"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050"/>
          <p:cNvSpPr txBox="1">
            <a:spLocks noChangeArrowheads="1"/>
          </p:cNvSpPr>
          <p:nvPr/>
        </p:nvSpPr>
        <p:spPr bwMode="auto">
          <a:xfrm>
            <a:off x="1400810" y="1084580"/>
            <a:ext cx="83058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zh-CN" altLang="en-US" sz="2800" b="1" dirty="0">
                <a:solidFill>
                  <a:srgbClr val="000000"/>
                </a:solidFill>
                <a:latin typeface="楷体_GB2312" pitchFamily="49" charset="-122"/>
                <a:ea typeface="楷体_GB2312" pitchFamily="49" charset="-122"/>
              </a:rPr>
              <a:t>关于金属钝化的机理</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目前存在两种理论</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成膜理论</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认为金属溶解时在电极表面直接生成固态产物</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如果生成固态产物致密和覆盖性良好</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则能形成独立相</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钝化膜</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可将金属与溶液机械的分开</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于是金属溶解速度剧降</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进入钝化态</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吸附理论</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认为金属的钝化是由于在金属表面形成氧或含氧粒子的吸附层而引起的</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这一吸附层使金属表面的反应能力降低而发生钝化现象</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5" name="Text Box 2051"/>
          <p:cNvSpPr txBox="1">
            <a:spLocks noChangeArrowheads="1"/>
          </p:cNvSpPr>
          <p:nvPr/>
        </p:nvSpPr>
        <p:spPr bwMode="auto">
          <a:xfrm>
            <a:off x="1160145" y="1551941"/>
            <a:ext cx="8458200"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400" dirty="0">
                <a:solidFill>
                  <a:srgbClr val="000000"/>
                </a:solidFill>
                <a:ea typeface="楷体_GB2312" pitchFamily="49" charset="-122"/>
              </a:rPr>
              <a:t>        </a:t>
            </a:r>
            <a:r>
              <a:rPr lang="zh-CN" altLang="en-US" sz="2800" b="1" dirty="0">
                <a:solidFill>
                  <a:srgbClr val="000000"/>
                </a:solidFill>
                <a:latin typeface="楷体_GB2312" pitchFamily="49" charset="-122"/>
                <a:ea typeface="楷体_GB2312" pitchFamily="49" charset="-122"/>
              </a:rPr>
              <a:t>在工业实践中</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了解影响金属钝化的因素值至关重要</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zh-CN" altLang="en-US" sz="2800" b="1" dirty="0">
                <a:solidFill>
                  <a:srgbClr val="000000"/>
                </a:solidFill>
                <a:latin typeface="楷体_GB2312" pitchFamily="49" charset="-122"/>
                <a:ea typeface="楷体_GB2312" pitchFamily="49" charset="-122"/>
              </a:rPr>
              <a:t>例如提高电流密度可使金属加速钝化</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zh-CN" altLang="en-US" sz="2800" b="1" dirty="0">
                <a:solidFill>
                  <a:srgbClr val="000000"/>
                </a:solidFill>
                <a:latin typeface="楷体_GB2312" pitchFamily="49" charset="-122"/>
                <a:ea typeface="楷体_GB2312" pitchFamily="49" charset="-122"/>
              </a:rPr>
              <a:t>升高温度加强搅拌则可延缓或避免钝化</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zh-CN" altLang="en-US" sz="2800" b="1" dirty="0">
                <a:solidFill>
                  <a:srgbClr val="000000"/>
                </a:solidFill>
                <a:latin typeface="楷体_GB2312" pitchFamily="49" charset="-122"/>
                <a:ea typeface="楷体_GB2312" pitchFamily="49" charset="-122"/>
              </a:rPr>
              <a:t>电解液的组成</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如</a:t>
            </a:r>
            <a:r>
              <a:rPr lang="en-US" altLang="zh-CN" sz="2800" b="1" dirty="0">
                <a:solidFill>
                  <a:srgbClr val="000000"/>
                </a:solidFill>
                <a:latin typeface="楷体_GB2312" pitchFamily="49" charset="-122"/>
                <a:ea typeface="楷体_GB2312" pitchFamily="49" charset="-122"/>
              </a:rPr>
              <a:t>pH</a:t>
            </a:r>
            <a:r>
              <a:rPr lang="zh-CN" altLang="en-US" sz="2800" b="1" dirty="0">
                <a:solidFill>
                  <a:srgbClr val="000000"/>
                </a:solidFill>
                <a:latin typeface="楷体_GB2312" pitchFamily="49" charset="-122"/>
                <a:ea typeface="楷体_GB2312" pitchFamily="49" charset="-122"/>
              </a:rPr>
              <a:t>值、阴离子性质等均有重要影响</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例如在稀溶液中及中性溶液中较易钝化</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lgn="just" fontAlgn="base">
              <a:spcBef>
                <a:spcPct val="50000"/>
              </a:spcBef>
              <a:spcAft>
                <a:spcPct val="0"/>
              </a:spcAft>
              <a:buNone/>
            </a:pPr>
            <a:r>
              <a:rPr lang="zh-CN" altLang="en-US" sz="2800" b="1" dirty="0">
                <a:solidFill>
                  <a:srgbClr val="000000"/>
                </a:solidFill>
                <a:latin typeface="楷体_GB2312" pitchFamily="49" charset="-122"/>
                <a:ea typeface="楷体_GB2312" pitchFamily="49" charset="-122"/>
              </a:rPr>
              <a:t>而加入卤素离子则可防止钝化</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209800" y="304800"/>
            <a:ext cx="45720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b="1">
                <a:solidFill>
                  <a:srgbClr val="000000"/>
                </a:solidFill>
                <a:ea typeface="楷体_GB2312" pitchFamily="49" charset="-122"/>
              </a:rPr>
              <a:t>4.6.2 </a:t>
            </a:r>
            <a:r>
              <a:rPr lang="zh-CN" altLang="en-US" b="1">
                <a:solidFill>
                  <a:srgbClr val="000000"/>
                </a:solidFill>
                <a:ea typeface="楷体_GB2312" pitchFamily="49" charset="-122"/>
              </a:rPr>
              <a:t>铝的阳极氧化</a:t>
            </a:r>
            <a:endParaRPr lang="zh-CN" altLang="en-US" b="1">
              <a:solidFill>
                <a:srgbClr val="000000"/>
              </a:solidFill>
              <a:ea typeface="楷体_GB2312" pitchFamily="49" charset="-122"/>
            </a:endParaRPr>
          </a:p>
        </p:txBody>
      </p:sp>
      <p:sp>
        <p:nvSpPr>
          <p:cNvPr id="96259" name="Text Box 3"/>
          <p:cNvSpPr txBox="1">
            <a:spLocks noChangeArrowheads="1"/>
          </p:cNvSpPr>
          <p:nvPr/>
        </p:nvSpPr>
        <p:spPr bwMode="auto">
          <a:xfrm>
            <a:off x="2286000" y="1066800"/>
            <a:ext cx="76962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800" b="1" dirty="0">
                <a:solidFill>
                  <a:srgbClr val="000000"/>
                </a:solidFill>
                <a:latin typeface="Arial Unicode MS" charset="-122"/>
                <a:ea typeface="楷体_GB2312" pitchFamily="49" charset="-122"/>
              </a:rPr>
              <a:t>        </a:t>
            </a:r>
            <a:r>
              <a:rPr lang="zh-CN" altLang="en-US" sz="2800" b="1" dirty="0">
                <a:solidFill>
                  <a:srgbClr val="FF3300"/>
                </a:solidFill>
                <a:latin typeface="Arial Unicode MS" charset="-122"/>
                <a:ea typeface="楷体_GB2312" pitchFamily="49" charset="-122"/>
              </a:rPr>
              <a:t>通过阳极氧化方法在铝及其合金表面形成的氧化物膜，不但具有良好的机械性能，而且耐蚀性和吸附涂料与颜料的能力都十分优异，已在许多领域得到了应用</a:t>
            </a:r>
            <a:r>
              <a:rPr lang="zh-CN" altLang="en-US" sz="2800" b="1" dirty="0">
                <a:solidFill>
                  <a:srgbClr val="000000"/>
                </a:solidFill>
                <a:latin typeface="Arial Unicode MS" charset="-122"/>
                <a:ea typeface="楷体_GB2312" pitchFamily="49" charset="-122"/>
              </a:rPr>
              <a:t>。</a:t>
            </a:r>
            <a:r>
              <a:rPr lang="en-US" altLang="zh-CN" sz="2800" b="1" dirty="0">
                <a:solidFill>
                  <a:srgbClr val="000000"/>
                </a:solidFill>
                <a:latin typeface="Arial Unicode MS" charset="-122"/>
                <a:ea typeface="楷体_GB2312" pitchFamily="49" charset="-122"/>
              </a:rPr>
              <a:t> </a:t>
            </a:r>
            <a:r>
              <a:rPr lang="zh-CN" altLang="en-US" sz="2800" b="1" dirty="0">
                <a:solidFill>
                  <a:srgbClr val="000000"/>
                </a:solidFill>
                <a:latin typeface="Arial Unicode MS" charset="-122"/>
                <a:ea typeface="楷体_GB2312" pitchFamily="49" charset="-122"/>
              </a:rPr>
              <a:t>氧化铝膜的形成不仅与电势有关，还与溶液 的</a:t>
            </a:r>
            <a:r>
              <a:rPr lang="en-US" altLang="zh-CN" sz="2800" b="1" dirty="0">
                <a:solidFill>
                  <a:srgbClr val="000000"/>
                </a:solidFill>
                <a:latin typeface="Arial Unicode MS" charset="-122"/>
                <a:ea typeface="楷体_GB2312" pitchFamily="49" charset="-122"/>
              </a:rPr>
              <a:t>pH</a:t>
            </a:r>
            <a:r>
              <a:rPr lang="zh-CN" altLang="en-US" sz="2800" b="1" dirty="0">
                <a:solidFill>
                  <a:srgbClr val="000000"/>
                </a:solidFill>
                <a:latin typeface="Arial Unicode MS" charset="-122"/>
                <a:ea typeface="楷体_GB2312" pitchFamily="49" charset="-122"/>
              </a:rPr>
              <a:t>值有关，其有效的</a:t>
            </a:r>
            <a:r>
              <a:rPr lang="en-US" altLang="zh-CN" sz="2800" b="1" dirty="0">
                <a:solidFill>
                  <a:srgbClr val="000000"/>
                </a:solidFill>
                <a:latin typeface="Arial Unicode MS" charset="-122"/>
                <a:ea typeface="楷体_GB2312" pitchFamily="49" charset="-122"/>
              </a:rPr>
              <a:t>pH</a:t>
            </a:r>
            <a:r>
              <a:rPr lang="zh-CN" altLang="en-US" sz="2800" b="1" dirty="0">
                <a:solidFill>
                  <a:srgbClr val="000000"/>
                </a:solidFill>
                <a:latin typeface="Arial Unicode MS" charset="-122"/>
                <a:ea typeface="楷体_GB2312" pitchFamily="49" charset="-122"/>
              </a:rPr>
              <a:t>范位为</a:t>
            </a:r>
            <a:r>
              <a:rPr lang="en-US" altLang="zh-CN" sz="2800" b="1" dirty="0">
                <a:solidFill>
                  <a:srgbClr val="000000"/>
                </a:solidFill>
                <a:latin typeface="Arial Unicode MS" charset="-122"/>
                <a:ea typeface="楷体_GB2312" pitchFamily="49" charset="-122"/>
              </a:rPr>
              <a:t>4.5</a:t>
            </a:r>
            <a:r>
              <a:rPr lang="en-US" altLang="zh-CN" sz="2800" b="1" dirty="0">
                <a:solidFill>
                  <a:srgbClr val="000000"/>
                </a:solidFill>
                <a:latin typeface="Arial Unicode MS" charset="-122"/>
                <a:ea typeface="楷体_GB2312" pitchFamily="49" charset="-122"/>
              </a:rPr>
              <a:t>5</a:t>
            </a:r>
            <a:r>
              <a:rPr lang="en-US" altLang="zh-CN" sz="2800" b="1" dirty="0">
                <a:solidFill>
                  <a:srgbClr val="000000"/>
                </a:solidFill>
                <a:ea typeface="楷体_GB2312" pitchFamily="49" charset="-122"/>
              </a:rPr>
              <a:t>—</a:t>
            </a:r>
            <a:r>
              <a:rPr lang="en-US" altLang="zh-CN" sz="2800" b="1" dirty="0">
                <a:solidFill>
                  <a:srgbClr val="000000"/>
                </a:solidFill>
                <a:latin typeface="Arial Unicode MS" charset="-122"/>
                <a:ea typeface="楷体_GB2312" pitchFamily="49" charset="-122"/>
              </a:rPr>
              <a:t>8.58</a:t>
            </a:r>
            <a:r>
              <a:rPr lang="zh-CN" altLang="en-US" sz="2800" b="1" dirty="0">
                <a:solidFill>
                  <a:srgbClr val="000000"/>
                </a:solidFill>
                <a:latin typeface="Arial Unicode MS" charset="-122"/>
                <a:ea typeface="楷体_GB2312" pitchFamily="49" charset="-122"/>
              </a:rPr>
              <a:t>之间。 </a:t>
            </a:r>
            <a:endParaRPr lang="zh-CN" altLang="en-US" sz="2800" b="1" dirty="0">
              <a:solidFill>
                <a:srgbClr val="000000"/>
              </a:solidFill>
              <a:latin typeface="Arial Unicode MS" charset="-122"/>
              <a:ea typeface="楷体_GB2312" pitchFamily="49" charset="-122"/>
            </a:endParaRPr>
          </a:p>
        </p:txBody>
      </p:sp>
      <p:sp>
        <p:nvSpPr>
          <p:cNvPr id="96260" name="Text Box 4"/>
          <p:cNvSpPr txBox="1">
            <a:spLocks noChangeArrowheads="1"/>
          </p:cNvSpPr>
          <p:nvPr/>
        </p:nvSpPr>
        <p:spPr bwMode="auto">
          <a:xfrm>
            <a:off x="2286000" y="4191000"/>
            <a:ext cx="7772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800" b="1" dirty="0">
                <a:solidFill>
                  <a:srgbClr val="000000"/>
                </a:solidFill>
                <a:latin typeface="楷体_GB2312" pitchFamily="49" charset="-122"/>
                <a:ea typeface="楷体_GB2312" pitchFamily="49" charset="-122"/>
              </a:rPr>
              <a:t>    </a:t>
            </a:r>
            <a:r>
              <a:rPr lang="zh-CN" altLang="en-US" sz="2800" b="1" dirty="0">
                <a:solidFill>
                  <a:srgbClr val="000000"/>
                </a:solidFill>
                <a:latin typeface="楷体_GB2312" pitchFamily="49" charset="-122"/>
                <a:ea typeface="楷体_GB2312" pitchFamily="49" charset="-122"/>
              </a:rPr>
              <a:t>铝及其合金的阳极氧化视生成的氧化膜用途的不同</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一般可分为防护装饰性阳极氧化、电绝缘性阳极氧化、抗磨性阳极氧化和氧化着色等。</a:t>
            </a:r>
            <a:endParaRPr lang="zh-CN" altLang="en-US" sz="2800" b="1" dirty="0">
              <a:solidFill>
                <a:srgbClr val="000000"/>
              </a:solidFill>
              <a:latin typeface="楷体_GB2312" pitchFamily="49" charset="-122"/>
              <a:ea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1981200" y="457200"/>
            <a:ext cx="8001000" cy="50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400" dirty="0">
                <a:solidFill>
                  <a:srgbClr val="000000"/>
                </a:solidFill>
                <a:latin typeface="Arial Unicode MS" charset="-122"/>
                <a:ea typeface="楷体_GB2312" pitchFamily="49" charset="-122"/>
              </a:rPr>
              <a:t>        </a:t>
            </a:r>
            <a:r>
              <a:rPr lang="zh-CN" altLang="en-US" sz="2800" b="1" dirty="0">
                <a:solidFill>
                  <a:srgbClr val="FF3300"/>
                </a:solidFill>
                <a:latin typeface="楷体_GB2312" pitchFamily="49" charset="-122"/>
                <a:ea typeface="楷体_GB2312" pitchFamily="49" charset="-122"/>
              </a:rPr>
              <a:t>对于防护装饰型铝及其合金的阳极氧化，要求产生的氧化物膜达到一定厚度以上才能具有一定的防护性能。这类氧化物膜的形成，一般是在溶解能力高的硫酸、铬酸、草酸或磷酸等电解液中实现的</a:t>
            </a:r>
            <a:r>
              <a:rPr lang="en-US" altLang="zh-CN" sz="2800" b="1" dirty="0">
                <a:solidFill>
                  <a:srgbClr val="FF3300"/>
                </a:solidFill>
                <a:latin typeface="楷体_GB2312" pitchFamily="49" charset="-122"/>
                <a:ea typeface="楷体_GB2312" pitchFamily="49" charset="-122"/>
              </a:rPr>
              <a:t>. </a:t>
            </a:r>
            <a:endParaRPr lang="en-US" altLang="zh-CN" sz="2800" b="1" dirty="0">
              <a:solidFill>
                <a:srgbClr val="FF3300"/>
              </a:solidFill>
              <a:latin typeface="楷体_GB2312" pitchFamily="49" charset="-122"/>
              <a:ea typeface="楷体_GB2312" pitchFamily="49" charset="-122"/>
            </a:endParaRPr>
          </a:p>
          <a:p>
            <a:pPr algn="just" fontAlgn="base">
              <a:spcBef>
                <a:spcPct val="50000"/>
              </a:spcBef>
              <a:spcAft>
                <a:spcPct val="0"/>
              </a:spcAft>
              <a:buNone/>
            </a:pPr>
            <a:r>
              <a:rPr lang="en-US" altLang="zh-CN" sz="2800" b="1" dirty="0">
                <a:solidFill>
                  <a:srgbClr val="000000"/>
                </a:solidFill>
                <a:latin typeface="楷体_GB2312" pitchFamily="49" charset="-122"/>
                <a:ea typeface="楷体_GB2312" pitchFamily="49" charset="-122"/>
              </a:rPr>
              <a:t>    </a:t>
            </a:r>
            <a:r>
              <a:rPr lang="zh-CN" altLang="en-US" sz="2800" b="1" dirty="0">
                <a:solidFill>
                  <a:srgbClr val="000000"/>
                </a:solidFill>
                <a:latin typeface="楷体_GB2312" pitchFamily="49" charset="-122"/>
                <a:ea typeface="楷体_GB2312" pitchFamily="49" charset="-122"/>
              </a:rPr>
              <a:t>例如对于</a:t>
            </a:r>
            <a:r>
              <a:rPr lang="en-US" altLang="zh-CN" sz="2800" b="1" dirty="0">
                <a:solidFill>
                  <a:srgbClr val="000000"/>
                </a:solidFill>
                <a:latin typeface="楷体_GB2312" pitchFamily="49" charset="-122"/>
                <a:ea typeface="楷体_GB2312" pitchFamily="49" charset="-122"/>
              </a:rPr>
              <a:t>10</a:t>
            </a:r>
            <a:r>
              <a:rPr lang="zh-CN" altLang="en-US" sz="2800" b="1" dirty="0">
                <a:solidFill>
                  <a:srgbClr val="000000"/>
                </a:solidFill>
                <a:latin typeface="楷体_GB2312" pitchFamily="49" charset="-122"/>
                <a:ea typeface="楷体_GB2312" pitchFamily="49" charset="-122"/>
              </a:rPr>
              <a:t>％一</a:t>
            </a:r>
            <a:r>
              <a:rPr lang="en-US" altLang="zh-CN" sz="2800" b="1" dirty="0">
                <a:solidFill>
                  <a:srgbClr val="000000"/>
                </a:solidFill>
                <a:latin typeface="楷体_GB2312" pitchFamily="49" charset="-122"/>
                <a:ea typeface="楷体_GB2312" pitchFamily="49" charset="-122"/>
              </a:rPr>
              <a:t>20</a:t>
            </a:r>
            <a:r>
              <a:rPr lang="zh-CN" altLang="en-US" sz="2800" b="1" dirty="0">
                <a:solidFill>
                  <a:srgbClr val="000000"/>
                </a:solidFill>
                <a:latin typeface="楷体_GB2312" pitchFamily="49" charset="-122"/>
                <a:ea typeface="楷体_GB2312" pitchFamily="49" charset="-122"/>
              </a:rPr>
              <a:t>％的硫酸电解液，铝及其合金的阳极氧化，一般电解条件为：电流密度</a:t>
            </a:r>
            <a:r>
              <a:rPr lang="en-US" altLang="zh-CN" sz="2800" b="1" dirty="0">
                <a:solidFill>
                  <a:srgbClr val="000000"/>
                </a:solidFill>
                <a:latin typeface="楷体_GB2312" pitchFamily="49" charset="-122"/>
                <a:ea typeface="楷体_GB2312" pitchFamily="49" charset="-122"/>
              </a:rPr>
              <a:t>190-250A</a:t>
            </a:r>
            <a:r>
              <a:rPr lang="en-US" altLang="zh-CN" sz="2800" b="1" dirty="0">
                <a:solidFill>
                  <a:srgbClr val="000000"/>
                </a:solidFill>
                <a:ea typeface="楷体_GB2312" pitchFamily="49" charset="-122"/>
              </a:rPr>
              <a:t>·</a:t>
            </a:r>
            <a:r>
              <a:rPr lang="en-US" altLang="zh-CN" sz="2800" b="1" dirty="0">
                <a:solidFill>
                  <a:srgbClr val="000000"/>
                </a:solidFill>
                <a:latin typeface="楷体_GB2312" pitchFamily="49" charset="-122"/>
                <a:ea typeface="楷体_GB2312" pitchFamily="49" charset="-122"/>
              </a:rPr>
              <a:t>dm</a:t>
            </a:r>
            <a:r>
              <a:rPr lang="en-US" altLang="zh-CN" sz="2800" b="1" baseline="30000"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．工作温度为</a:t>
            </a:r>
            <a:r>
              <a:rPr lang="en-US" altLang="zh-CN" sz="2800" b="1" dirty="0">
                <a:solidFill>
                  <a:srgbClr val="000000"/>
                </a:solidFill>
                <a:latin typeface="楷体_GB2312" pitchFamily="49" charset="-122"/>
                <a:ea typeface="楷体_GB2312" pitchFamily="49" charset="-122"/>
              </a:rPr>
              <a:t>15-25℃</a:t>
            </a:r>
            <a:r>
              <a:rPr lang="zh-CN" altLang="en-US" sz="2800" b="1" dirty="0">
                <a:solidFill>
                  <a:srgbClr val="000000"/>
                </a:solidFill>
                <a:latin typeface="楷体_GB2312" pitchFamily="49" charset="-122"/>
                <a:ea typeface="楷体_GB2312" pitchFamily="49" charset="-122"/>
              </a:rPr>
              <a:t>，电解时间为</a:t>
            </a:r>
            <a:r>
              <a:rPr lang="en-US" altLang="zh-CN" sz="2800" b="1" dirty="0">
                <a:solidFill>
                  <a:srgbClr val="000000"/>
                </a:solidFill>
                <a:latin typeface="楷体_GB2312" pitchFamily="49" charset="-122"/>
                <a:ea typeface="楷体_GB2312" pitchFamily="49" charset="-122"/>
              </a:rPr>
              <a:t>20-60min</a:t>
            </a:r>
            <a:r>
              <a:rPr lang="zh-CN" altLang="en-US" sz="2800" b="1" dirty="0">
                <a:solidFill>
                  <a:srgbClr val="000000"/>
                </a:solidFill>
                <a:latin typeface="楷体_GB2312" pitchFamily="49" charset="-122"/>
                <a:ea typeface="楷体_GB2312" pitchFamily="49" charset="-122"/>
              </a:rPr>
              <a:t>。阳极氧化时一般采用通直流电的方式，施加电压看实际情况而定</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Arial Unicode MS" charset="-122"/>
                <a:ea typeface="楷体_GB2312" pitchFamily="49" charset="-122"/>
              </a:rPr>
              <a:t>起主导作用的是硫酸的浓度和工作温度</a:t>
            </a:r>
            <a:r>
              <a:rPr lang="zh-CN" altLang="en-US" sz="2800" b="1" dirty="0">
                <a:solidFill>
                  <a:srgbClr val="000000"/>
                </a:solidFill>
                <a:latin typeface="楷体_GB2312" pitchFamily="49" charset="-122"/>
                <a:ea typeface="楷体_GB2312" pitchFamily="49" charset="-122"/>
              </a:rPr>
              <a:t> </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有时加入添加剂改善膜层的性能</a:t>
            </a:r>
            <a:r>
              <a:rPr lang="en-US" altLang="zh-CN"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link="rId1"/>
          <a:srcRect/>
          <a:tile tx="0" ty="0" sx="100000" sy="100000" flip="none" algn="tl"/>
        </a:blipFill>
        <a:effectLst/>
      </p:bgPr>
    </p:bg>
    <p:spTree>
      <p:nvGrpSpPr>
        <p:cNvPr id="1" name=""/>
        <p:cNvGrpSpPr/>
        <p:nvPr/>
      </p:nvGrpSpPr>
      <p:grpSpPr>
        <a:xfrm>
          <a:off x="0" y="0"/>
          <a:ext cx="0" cy="0"/>
          <a:chOff x="0" y="0"/>
          <a:chExt cx="0" cy="0"/>
        </a:xfrm>
      </p:grpSpPr>
      <p:pic>
        <p:nvPicPr>
          <p:cNvPr id="98306" name="Picture 5" descr="bandog46720">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3" y="333376"/>
            <a:ext cx="3471862"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Text Box 6"/>
          <p:cNvSpPr txBox="1">
            <a:spLocks noChangeArrowheads="1"/>
          </p:cNvSpPr>
          <p:nvPr/>
        </p:nvSpPr>
        <p:spPr bwMode="auto">
          <a:xfrm>
            <a:off x="2711451" y="5229225"/>
            <a:ext cx="460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endParaRPr lang="zh-CN" altLang="zh-CN" sz="2400">
              <a:solidFill>
                <a:srgbClr val="000000"/>
              </a:solidFill>
            </a:endParaRPr>
          </a:p>
        </p:txBody>
      </p:sp>
      <p:sp>
        <p:nvSpPr>
          <p:cNvPr id="98308" name="Text Box 9"/>
          <p:cNvSpPr txBox="1">
            <a:spLocks noChangeArrowheads="1"/>
          </p:cNvSpPr>
          <p:nvPr/>
        </p:nvSpPr>
        <p:spPr bwMode="auto">
          <a:xfrm>
            <a:off x="4800601" y="5157788"/>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装饰性铝阳极氧化 </a:t>
            </a:r>
            <a:endParaRPr lang="zh-CN" altLang="en-US" sz="2400">
              <a:solidFill>
                <a:srgbClr val="000000"/>
              </a:solidFill>
            </a:endParaRPr>
          </a:p>
        </p:txBody>
      </p:sp>
      <p:pic>
        <p:nvPicPr>
          <p:cNvPr id="98309" name="Picture 11" descr="bandog25159">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538" y="404813"/>
            <a:ext cx="3810000"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1026"/>
          <p:cNvSpPr txBox="1">
            <a:spLocks noChangeArrowheads="1"/>
          </p:cNvSpPr>
          <p:nvPr/>
        </p:nvSpPr>
        <p:spPr bwMode="auto">
          <a:xfrm>
            <a:off x="2209800" y="381001"/>
            <a:ext cx="8153400" cy="612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zh-CN" altLang="en-US" sz="2800" b="1" dirty="0">
                <a:solidFill>
                  <a:srgbClr val="FF3300"/>
                </a:solidFill>
                <a:latin typeface="Arial Unicode MS" charset="-122"/>
                <a:ea typeface="楷体_GB2312" pitchFamily="49" charset="-122"/>
              </a:rPr>
              <a:t>对于电绝缘型铝及其合金的阳极氧化．要求产生的氧化物膜薄且致密，具有高的绝缘性，一般用作电解电容器的介电材料。这类氧化物膜的形成一般是在溶解能力十分低的电解液</a:t>
            </a:r>
            <a:r>
              <a:rPr lang="en-US" altLang="zh-CN" sz="2800" b="1" dirty="0">
                <a:solidFill>
                  <a:srgbClr val="FF3300"/>
                </a:solidFill>
                <a:latin typeface="Arial Unicode MS" charset="-122"/>
                <a:ea typeface="楷体_GB2312" pitchFamily="49" charset="-122"/>
              </a:rPr>
              <a:t>,</a:t>
            </a:r>
            <a:r>
              <a:rPr lang="zh-CN" altLang="en-US" sz="2800" b="1" dirty="0">
                <a:solidFill>
                  <a:srgbClr val="FF3300"/>
                </a:solidFill>
                <a:latin typeface="Arial Unicode MS" charset="-122"/>
                <a:ea typeface="楷体_GB2312" pitchFamily="49" charset="-122"/>
              </a:rPr>
              <a:t>如硼酸、酒石酸、柠檬酸和其他弱酸或它们的盐溶液中实现的</a:t>
            </a:r>
            <a:r>
              <a:rPr lang="zh-CN" altLang="en-US" sz="2800" b="1" dirty="0">
                <a:solidFill>
                  <a:srgbClr val="000000"/>
                </a:solidFill>
                <a:latin typeface="Arial Unicode MS" charset="-122"/>
                <a:ea typeface="楷体_GB2312" pitchFamily="49" charset="-122"/>
              </a:rPr>
              <a:t>。 制造电解电容器用的铝薄板的阳极氧化有两种方法．即一步法和两步法</a:t>
            </a:r>
            <a:r>
              <a:rPr lang="en-US" altLang="zh-CN" sz="2800" b="1" dirty="0">
                <a:solidFill>
                  <a:srgbClr val="000000"/>
                </a:solidFill>
                <a:latin typeface="Arial Unicode MS" charset="-122"/>
                <a:ea typeface="楷体_GB2312" pitchFamily="49" charset="-122"/>
              </a:rPr>
              <a:t>.</a:t>
            </a:r>
            <a:r>
              <a:rPr lang="zh-CN" altLang="en-US" sz="2800" b="1" dirty="0">
                <a:solidFill>
                  <a:srgbClr val="000000"/>
                </a:solidFill>
                <a:latin typeface="Arial Unicode MS" charset="-122"/>
                <a:ea typeface="楷体_GB2312" pitchFamily="49" charset="-122"/>
              </a:rPr>
              <a:t>一步法普遍采用添加小量氨水的硼酸溶液进行氧化，其浓度视电容器的额定工作电压而定</a:t>
            </a:r>
            <a:r>
              <a:rPr lang="en-US" altLang="zh-CN" sz="2800" b="1" dirty="0">
                <a:solidFill>
                  <a:srgbClr val="000000"/>
                </a:solidFill>
                <a:latin typeface="Arial Unicode MS" charset="-122"/>
                <a:ea typeface="楷体_GB2312" pitchFamily="49" charset="-122"/>
              </a:rPr>
              <a:t>,</a:t>
            </a:r>
            <a:r>
              <a:rPr lang="zh-CN" altLang="en-US" sz="2800" b="1" dirty="0">
                <a:solidFill>
                  <a:srgbClr val="000000"/>
                </a:solidFill>
                <a:latin typeface="Arial Unicode MS" charset="-122"/>
                <a:ea typeface="楷体_GB2312" pitchFamily="49" charset="-122"/>
              </a:rPr>
              <a:t>额定工作电压高，则电解液的浓度要略稀。电解液的温度为</a:t>
            </a:r>
            <a:r>
              <a:rPr lang="en-US" altLang="zh-CN" sz="2800" b="1" dirty="0">
                <a:solidFill>
                  <a:srgbClr val="000000"/>
                </a:solidFill>
                <a:latin typeface="Arial Unicode MS" charset="-122"/>
                <a:ea typeface="楷体_GB2312" pitchFamily="49" charset="-122"/>
              </a:rPr>
              <a:t>85</a:t>
            </a:r>
            <a:r>
              <a:rPr lang="zh-CN" altLang="en-US" sz="2800" b="1" dirty="0">
                <a:solidFill>
                  <a:srgbClr val="000000"/>
                </a:solidFill>
                <a:latin typeface="Arial Unicode MS" charset="-122"/>
                <a:ea typeface="楷体_GB2312" pitchFamily="49" charset="-122"/>
              </a:rPr>
              <a:t>一</a:t>
            </a:r>
            <a:r>
              <a:rPr lang="en-US" altLang="zh-CN" sz="2800" b="1" dirty="0">
                <a:solidFill>
                  <a:srgbClr val="000000"/>
                </a:solidFill>
                <a:latin typeface="Arial Unicode MS" charset="-122"/>
                <a:ea typeface="楷体_GB2312" pitchFamily="49" charset="-122"/>
              </a:rPr>
              <a:t>I05℃</a:t>
            </a:r>
            <a:r>
              <a:rPr lang="zh-CN" altLang="en-US" sz="2800" b="1" dirty="0">
                <a:solidFill>
                  <a:srgbClr val="000000"/>
                </a:solidFill>
                <a:latin typeface="Arial Unicode MS" charset="-122"/>
                <a:ea typeface="楷体_GB2312" pitchFamily="49" charset="-122"/>
              </a:rPr>
              <a:t>。阳极氧化的电流密度较低，为维持电流密度恒定，氧化过程中电压必须相应地逐渐提高， 但最高不得超过由电解电容器的额定电压的</a:t>
            </a:r>
            <a:r>
              <a:rPr lang="en-US" altLang="zh-CN" sz="2800" b="1" dirty="0">
                <a:solidFill>
                  <a:srgbClr val="000000"/>
                </a:solidFill>
                <a:latin typeface="Arial Unicode MS" charset="-122"/>
                <a:ea typeface="楷体_GB2312" pitchFamily="49" charset="-122"/>
              </a:rPr>
              <a:t>10</a:t>
            </a:r>
            <a:r>
              <a:rPr lang="zh-CN" altLang="en-US" sz="2800" b="1" dirty="0">
                <a:solidFill>
                  <a:srgbClr val="000000"/>
                </a:solidFill>
                <a:latin typeface="Arial Unicode MS" charset="-122"/>
                <a:ea typeface="楷体_GB2312" pitchFamily="49" charset="-122"/>
              </a:rPr>
              <a:t>％一</a:t>
            </a:r>
            <a:r>
              <a:rPr lang="en-US" altLang="zh-CN" sz="2800" b="1" dirty="0">
                <a:solidFill>
                  <a:srgbClr val="000000"/>
                </a:solidFill>
                <a:latin typeface="Arial Unicode MS" charset="-122"/>
                <a:ea typeface="楷体_GB2312" pitchFamily="49" charset="-122"/>
              </a:rPr>
              <a:t>15</a:t>
            </a:r>
            <a:r>
              <a:rPr lang="zh-CN" altLang="en-US" sz="2800" b="1" dirty="0">
                <a:solidFill>
                  <a:srgbClr val="000000"/>
                </a:solidFill>
                <a:latin typeface="Arial Unicode MS" charset="-122"/>
                <a:ea typeface="楷体_GB2312" pitchFamily="49" charset="-122"/>
              </a:rPr>
              <a:t>％；当阳极电压达到规定的最高位时</a:t>
            </a:r>
            <a:r>
              <a:rPr lang="en-US" altLang="zh-CN" sz="2800" b="1" dirty="0">
                <a:solidFill>
                  <a:srgbClr val="000000"/>
                </a:solidFill>
                <a:latin typeface="Arial Unicode MS" charset="-122"/>
                <a:ea typeface="楷体_GB2312" pitchFamily="49" charset="-122"/>
              </a:rPr>
              <a:t>,</a:t>
            </a:r>
            <a:endParaRPr lang="en-US" altLang="zh-CN" sz="2800" b="1" dirty="0">
              <a:solidFill>
                <a:srgbClr val="000000"/>
              </a:solidFill>
              <a:ea typeface="楷体_GB2312"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2209800" y="457201"/>
            <a:ext cx="81534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zh-CN" altLang="en-US" sz="2800" b="1">
                <a:solidFill>
                  <a:srgbClr val="000000"/>
                </a:solidFill>
                <a:latin typeface="Arial Unicode MS" charset="-122"/>
                <a:ea typeface="楷体_GB2312" pitchFamily="49" charset="-122"/>
              </a:rPr>
              <a:t>阳极氧化转变为恒压下进行．此时电流密度逐渐下降，直到降低到 </a:t>
            </a:r>
            <a:r>
              <a:rPr lang="en-US" altLang="zh-CN" sz="2800" b="1">
                <a:solidFill>
                  <a:srgbClr val="000000"/>
                </a:solidFill>
                <a:latin typeface="Arial Unicode MS" charset="-122"/>
                <a:ea typeface="楷体_GB2312" pitchFamily="49" charset="-122"/>
              </a:rPr>
              <a:t>0.1-1.0 mA.dm</a:t>
            </a:r>
            <a:r>
              <a:rPr lang="en-US" altLang="zh-CN" sz="2800" b="1" baseline="30000">
                <a:solidFill>
                  <a:srgbClr val="000000"/>
                </a:solidFill>
                <a:latin typeface="Arial Unicode MS" charset="-122"/>
                <a:ea typeface="楷体_GB2312" pitchFamily="49" charset="-122"/>
              </a:rPr>
              <a:t>-2</a:t>
            </a:r>
            <a:r>
              <a:rPr lang="en-US" altLang="zh-CN" sz="2800" b="1">
                <a:solidFill>
                  <a:srgbClr val="000000"/>
                </a:solidFill>
                <a:latin typeface="Arial Unicode MS" charset="-122"/>
                <a:ea typeface="楷体_GB2312" pitchFamily="49" charset="-122"/>
              </a:rPr>
              <a:t>(</a:t>
            </a:r>
            <a:r>
              <a:rPr lang="zh-CN" altLang="en-US" sz="2800" b="1">
                <a:solidFill>
                  <a:srgbClr val="000000"/>
                </a:solidFill>
                <a:latin typeface="Arial Unicode MS" charset="-122"/>
                <a:ea typeface="楷体_GB2312" pitchFamily="49" charset="-122"/>
              </a:rPr>
              <a:t>对于平滑表面</a:t>
            </a:r>
            <a:r>
              <a:rPr lang="en-US" altLang="zh-CN" sz="2800" b="1">
                <a:solidFill>
                  <a:srgbClr val="000000"/>
                </a:solidFill>
                <a:latin typeface="Arial Unicode MS" charset="-122"/>
                <a:ea typeface="楷体_GB2312" pitchFamily="49" charset="-122"/>
              </a:rPr>
              <a:t>)</a:t>
            </a:r>
            <a:r>
              <a:rPr lang="zh-CN" altLang="en-US" sz="2800" b="1">
                <a:solidFill>
                  <a:srgbClr val="000000"/>
                </a:solidFill>
                <a:latin typeface="Arial Unicode MS" charset="-122"/>
                <a:ea typeface="楷体_GB2312" pitchFamily="49" charset="-122"/>
              </a:rPr>
              <a:t>和</a:t>
            </a:r>
            <a:r>
              <a:rPr lang="en-US" altLang="zh-CN" sz="2800" b="1">
                <a:solidFill>
                  <a:srgbClr val="000000"/>
                </a:solidFill>
                <a:latin typeface="Arial Unicode MS" charset="-122"/>
                <a:ea typeface="楷体_GB2312" pitchFamily="49" charset="-122"/>
              </a:rPr>
              <a:t>1.5-2. 0 mA.dm</a:t>
            </a:r>
            <a:r>
              <a:rPr lang="en-US" altLang="zh-CN" sz="2800" b="1" baseline="30000">
                <a:solidFill>
                  <a:srgbClr val="000000"/>
                </a:solidFill>
                <a:latin typeface="Arial Unicode MS" charset="-122"/>
                <a:ea typeface="楷体_GB2312" pitchFamily="49" charset="-122"/>
              </a:rPr>
              <a:t>-2</a:t>
            </a:r>
            <a:r>
              <a:rPr lang="en-US" altLang="zh-CN" sz="2800" b="1">
                <a:solidFill>
                  <a:srgbClr val="000000"/>
                </a:solidFill>
                <a:latin typeface="Arial Unicode MS" charset="-122"/>
                <a:ea typeface="楷体_GB2312" pitchFamily="49" charset="-122"/>
              </a:rPr>
              <a:t>(</a:t>
            </a:r>
            <a:r>
              <a:rPr lang="zh-CN" altLang="en-US" sz="2800" b="1">
                <a:solidFill>
                  <a:srgbClr val="000000"/>
                </a:solidFill>
                <a:latin typeface="Arial Unicode MS" charset="-122"/>
                <a:ea typeface="楷体_GB2312" pitchFamily="49" charset="-122"/>
              </a:rPr>
              <a:t>对于粗糙化表面</a:t>
            </a:r>
            <a:r>
              <a:rPr lang="en-US" altLang="zh-CN" sz="2800" b="1">
                <a:solidFill>
                  <a:srgbClr val="000000"/>
                </a:solidFill>
                <a:latin typeface="Arial Unicode MS" charset="-122"/>
                <a:ea typeface="楷体_GB2312" pitchFamily="49" charset="-122"/>
              </a:rPr>
              <a:t>)</a:t>
            </a:r>
            <a:r>
              <a:rPr lang="zh-CN" altLang="en-US" sz="2800" b="1">
                <a:solidFill>
                  <a:srgbClr val="000000"/>
                </a:solidFill>
                <a:latin typeface="Arial Unicode MS" charset="-122"/>
                <a:ea typeface="楷体_GB2312" pitchFamily="49" charset="-122"/>
              </a:rPr>
              <a:t>的数 值．则过程停止。</a:t>
            </a:r>
            <a:r>
              <a:rPr lang="zh-CN" altLang="en-US" sz="2800" b="1">
                <a:solidFill>
                  <a:srgbClr val="000000"/>
                </a:solidFill>
                <a:latin typeface="楷体_GB2312" pitchFamily="49" charset="-122"/>
                <a:ea typeface="楷体_GB2312" pitchFamily="49" charset="-122"/>
              </a:rPr>
              <a:t>两步法是铝板先在具有中等溶解能力的电解液</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如</a:t>
            </a:r>
            <a:r>
              <a:rPr lang="en-US" altLang="zh-CN" sz="2800" b="1">
                <a:solidFill>
                  <a:srgbClr val="000000"/>
                </a:solidFill>
                <a:latin typeface="楷体_GB2312" pitchFamily="49" charset="-122"/>
                <a:ea typeface="楷体_GB2312" pitchFamily="49" charset="-122"/>
              </a:rPr>
              <a:t>5</a:t>
            </a:r>
            <a:r>
              <a:rPr lang="zh-CN" altLang="en-US" sz="2800" b="1">
                <a:solidFill>
                  <a:srgbClr val="000000"/>
                </a:solidFill>
                <a:latin typeface="楷体_GB2312" pitchFamily="49" charset="-122"/>
                <a:ea typeface="楷体_GB2312" pitchFamily="49" charset="-122"/>
              </a:rPr>
              <a:t>％一</a:t>
            </a:r>
            <a:r>
              <a:rPr lang="en-US" altLang="zh-CN" sz="2800" b="1">
                <a:solidFill>
                  <a:srgbClr val="000000"/>
                </a:solidFill>
                <a:latin typeface="楷体_GB2312" pitchFamily="49" charset="-122"/>
                <a:ea typeface="楷体_GB2312" pitchFamily="49" charset="-122"/>
              </a:rPr>
              <a:t>10</a:t>
            </a:r>
            <a:r>
              <a:rPr lang="zh-CN" altLang="en-US" sz="2800" b="1">
                <a:solidFill>
                  <a:srgbClr val="000000"/>
                </a:solidFill>
                <a:latin typeface="楷体_GB2312" pitchFamily="49" charset="-122"/>
                <a:ea typeface="楷体_GB2312" pitchFamily="49" charset="-122"/>
              </a:rPr>
              <a:t>％的草酸</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中阳极氧化，然后在低浓度的电解液</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如</a:t>
            </a:r>
            <a:r>
              <a:rPr lang="en-US" altLang="zh-CN" sz="2800" b="1">
                <a:solidFill>
                  <a:srgbClr val="000000"/>
                </a:solidFill>
                <a:latin typeface="楷体_GB2312" pitchFamily="49" charset="-122"/>
                <a:ea typeface="楷体_GB2312" pitchFamily="49" charset="-122"/>
              </a:rPr>
              <a:t>1</a:t>
            </a:r>
            <a:r>
              <a:rPr lang="zh-CN" altLang="en-US" sz="2800" b="1">
                <a:solidFill>
                  <a:srgbClr val="000000"/>
                </a:solidFill>
                <a:latin typeface="楷体_GB2312" pitchFamily="49" charset="-122"/>
                <a:ea typeface="楷体_GB2312" pitchFamily="49" charset="-122"/>
              </a:rPr>
              <a:t>％硼酸</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中再次进行阳极化。需要说明的是，对于作为电解电容器用的铝板，为了使电解铝板具有一定的电容值</a:t>
            </a:r>
            <a:r>
              <a:rPr lang="en-US" altLang="zh-CN" sz="2800" b="1">
                <a:solidFill>
                  <a:srgbClr val="000000"/>
                </a:solidFill>
                <a:latin typeface="楷体_GB2312" pitchFamily="49" charset="-122"/>
                <a:ea typeface="楷体_GB2312" pitchFamily="49" charset="-122"/>
              </a:rPr>
              <a:t>, </a:t>
            </a:r>
            <a:r>
              <a:rPr lang="zh-CN" altLang="en-US" sz="2800" b="1">
                <a:solidFill>
                  <a:srgbClr val="000000"/>
                </a:solidFill>
                <a:latin typeface="楷体_GB2312" pitchFamily="49" charset="-122"/>
                <a:ea typeface="楷体_GB2312" pitchFamily="49" charset="-122"/>
              </a:rPr>
              <a:t>需在阳极化处理前使铝板先粗糙化以增加表面积；同时</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对铝板和电解液的纯度要求亦十分严格，只有高纯度的铝板才能制得致密的膜层，对电解液的污染最为敏感的氯离子则不得超过</a:t>
            </a:r>
            <a:r>
              <a:rPr lang="en-US" altLang="zh-CN" sz="2800" b="1">
                <a:solidFill>
                  <a:srgbClr val="000000"/>
                </a:solidFill>
                <a:latin typeface="楷体_GB2312" pitchFamily="49" charset="-122"/>
                <a:ea typeface="楷体_GB2312" pitchFamily="49" charset="-122"/>
              </a:rPr>
              <a:t>2ppm</a:t>
            </a:r>
            <a:endParaRPr lang="en-US" altLang="zh-CN" sz="2800" b="1">
              <a:solidFill>
                <a:srgbClr val="000000"/>
              </a:solidFill>
              <a:latin typeface="楷体_GB2312" pitchFamily="49" charset="-122"/>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2438400" y="304800"/>
            <a:ext cx="7696200" cy="439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800" b="1">
                <a:solidFill>
                  <a:srgbClr val="000000"/>
                </a:solidFill>
                <a:latin typeface="楷体_GB2312" pitchFamily="49" charset="-122"/>
                <a:ea typeface="楷体_GB2312" pitchFamily="49" charset="-122"/>
              </a:rPr>
              <a:t>    </a:t>
            </a:r>
            <a:r>
              <a:rPr lang="zh-CN" altLang="en-US" sz="2800" b="1">
                <a:solidFill>
                  <a:srgbClr val="FF3300"/>
                </a:solidFill>
                <a:latin typeface="楷体_GB2312" pitchFamily="49" charset="-122"/>
                <a:ea typeface="楷体_GB2312" pitchFamily="49" charset="-122"/>
              </a:rPr>
              <a:t>对于抗磨型铝及其合金的阳极氧化，要求产生的氧化物膜硬度高，耐磨性好。这类氧化物膜一般可通过在低浓度的硫酸</a:t>
            </a:r>
            <a:r>
              <a:rPr lang="en-US" altLang="zh-CN" sz="2800" b="1">
                <a:solidFill>
                  <a:srgbClr val="FF3300"/>
                </a:solidFill>
                <a:latin typeface="楷体_GB2312" pitchFamily="49" charset="-122"/>
                <a:ea typeface="楷体_GB2312" pitchFamily="49" charset="-122"/>
              </a:rPr>
              <a:t>(</a:t>
            </a:r>
            <a:r>
              <a:rPr lang="zh-CN" altLang="en-US" sz="2800" b="1">
                <a:solidFill>
                  <a:srgbClr val="FF3300"/>
                </a:solidFill>
                <a:latin typeface="楷体_GB2312" pitchFamily="49" charset="-122"/>
                <a:ea typeface="楷体_GB2312" pitchFamily="49" charset="-122"/>
              </a:rPr>
              <a:t>或草酸</a:t>
            </a:r>
            <a:r>
              <a:rPr lang="en-US" altLang="zh-CN" sz="2800" b="1">
                <a:solidFill>
                  <a:srgbClr val="FF3300"/>
                </a:solidFill>
                <a:latin typeface="楷体_GB2312" pitchFamily="49" charset="-122"/>
                <a:ea typeface="楷体_GB2312" pitchFamily="49" charset="-122"/>
              </a:rPr>
              <a:t>)</a:t>
            </a:r>
            <a:r>
              <a:rPr lang="zh-CN" altLang="en-US" sz="2800" b="1">
                <a:solidFill>
                  <a:srgbClr val="FF3300"/>
                </a:solidFill>
                <a:latin typeface="楷体_GB2312" pitchFamily="49" charset="-122"/>
                <a:ea typeface="楷体_GB2312" pitchFamily="49" charset="-122"/>
              </a:rPr>
              <a:t>电解液和低的工作温度下阳极氧化而得到。</a:t>
            </a:r>
            <a:r>
              <a:rPr lang="zh-CN" altLang="en-US" sz="2800" b="1">
                <a:solidFill>
                  <a:srgbClr val="000000"/>
                </a:solidFill>
                <a:latin typeface="楷体_GB2312" pitchFamily="49" charset="-122"/>
                <a:ea typeface="楷体_GB2312" pitchFamily="49" charset="-122"/>
              </a:rPr>
              <a:t>较为传统的方法是用</a:t>
            </a:r>
            <a:r>
              <a:rPr lang="en-US" altLang="zh-CN" sz="2800" b="1">
                <a:solidFill>
                  <a:srgbClr val="000000"/>
                </a:solidFill>
                <a:latin typeface="楷体_GB2312" pitchFamily="49" charset="-122"/>
                <a:ea typeface="楷体_GB2312" pitchFamily="49" charset="-122"/>
              </a:rPr>
              <a:t>20</a:t>
            </a:r>
            <a:r>
              <a:rPr lang="zh-CN" altLang="en-US" sz="2800" b="1">
                <a:solidFill>
                  <a:srgbClr val="000000"/>
                </a:solidFill>
                <a:latin typeface="楷体_GB2312" pitchFamily="49" charset="-122"/>
                <a:ea typeface="楷体_GB2312" pitchFamily="49" charset="-122"/>
              </a:rPr>
              <a:t>％硫酸电解液在</a:t>
            </a:r>
            <a:r>
              <a:rPr lang="en-US" altLang="zh-CN" sz="2800" b="1">
                <a:solidFill>
                  <a:srgbClr val="000000"/>
                </a:solidFill>
                <a:latin typeface="楷体_GB2312" pitchFamily="49" charset="-122"/>
                <a:ea typeface="楷体_GB2312" pitchFamily="49" charset="-122"/>
              </a:rPr>
              <a:t>1-3℃</a:t>
            </a:r>
            <a:r>
              <a:rPr lang="zh-CN" altLang="en-US" sz="2800" b="1">
                <a:solidFill>
                  <a:srgbClr val="000000"/>
                </a:solidFill>
                <a:latin typeface="楷体_GB2312" pitchFamily="49" charset="-122"/>
                <a:ea typeface="楷体_GB2312" pitchFamily="49" charset="-122"/>
              </a:rPr>
              <a:t>下，且电流密度为 </a:t>
            </a:r>
            <a:r>
              <a:rPr lang="en-US" altLang="zh-CN" sz="2800" b="1">
                <a:solidFill>
                  <a:srgbClr val="000000"/>
                </a:solidFill>
                <a:latin typeface="楷体_GB2312" pitchFamily="49" charset="-122"/>
                <a:ea typeface="楷体_GB2312" pitchFamily="49" charset="-122"/>
              </a:rPr>
              <a:t>200-500 mA.dm</a:t>
            </a:r>
            <a:r>
              <a:rPr lang="en-US" altLang="zh-CN" sz="2800" b="1" baseline="30000">
                <a:solidFill>
                  <a:srgbClr val="000000"/>
                </a:solidFill>
                <a:latin typeface="楷体_GB2312" pitchFamily="49" charset="-122"/>
                <a:ea typeface="楷体_GB2312" pitchFamily="49" charset="-122"/>
              </a:rPr>
              <a:t>-2</a:t>
            </a:r>
            <a:r>
              <a:rPr lang="zh-CN" altLang="en-US" sz="2800" b="1">
                <a:solidFill>
                  <a:srgbClr val="000000"/>
                </a:solidFill>
                <a:latin typeface="楷体_GB2312" pitchFamily="49" charset="-122"/>
                <a:ea typeface="楷体_GB2312" pitchFamily="49" charset="-122"/>
              </a:rPr>
              <a:t>，且电压从</a:t>
            </a:r>
            <a:r>
              <a:rPr lang="en-US" altLang="zh-CN" sz="2800" b="1">
                <a:solidFill>
                  <a:srgbClr val="000000"/>
                </a:solidFill>
                <a:latin typeface="楷体_GB2312" pitchFamily="49" charset="-122"/>
                <a:ea typeface="楷体_GB2312" pitchFamily="49" charset="-122"/>
              </a:rPr>
              <a:t>23V</a:t>
            </a:r>
            <a:r>
              <a:rPr lang="zh-CN" altLang="en-US" sz="2800" b="1">
                <a:solidFill>
                  <a:srgbClr val="000000"/>
                </a:solidFill>
                <a:latin typeface="楷体_GB2312" pitchFamily="49" charset="-122"/>
                <a:ea typeface="楷体_GB2312" pitchFamily="49" charset="-122"/>
              </a:rPr>
              <a:t>增至</a:t>
            </a:r>
            <a:r>
              <a:rPr lang="en-US" altLang="zh-CN" sz="2800" b="1">
                <a:solidFill>
                  <a:srgbClr val="000000"/>
                </a:solidFill>
                <a:latin typeface="楷体_GB2312" pitchFamily="49" charset="-122"/>
                <a:ea typeface="楷体_GB2312" pitchFamily="49" charset="-122"/>
              </a:rPr>
              <a:t>220v</a:t>
            </a:r>
            <a:r>
              <a:rPr lang="zh-CN" altLang="en-US" sz="2800" b="1">
                <a:solidFill>
                  <a:srgbClr val="000000"/>
                </a:solidFill>
                <a:latin typeface="楷体_GB2312" pitchFamily="49" charset="-122"/>
                <a:ea typeface="楷体_GB2312" pitchFamily="49" charset="-122"/>
              </a:rPr>
              <a:t>时，在纯铝上经</a:t>
            </a:r>
            <a:r>
              <a:rPr lang="en-US" altLang="zh-CN" sz="2800" b="1">
                <a:solidFill>
                  <a:srgbClr val="000000"/>
                </a:solidFill>
                <a:latin typeface="楷体_GB2312" pitchFamily="49" charset="-122"/>
                <a:ea typeface="楷体_GB2312" pitchFamily="49" charset="-122"/>
              </a:rPr>
              <a:t>4</a:t>
            </a:r>
            <a:r>
              <a:rPr lang="zh-CN" altLang="en-US" sz="2800" b="1">
                <a:solidFill>
                  <a:srgbClr val="000000"/>
                </a:solidFill>
                <a:latin typeface="楷体_GB2312" pitchFamily="49" charset="-122"/>
                <a:ea typeface="楷体_GB2312" pitchFamily="49" charset="-122"/>
              </a:rPr>
              <a:t>小时阳极化可以得到 厚度达</a:t>
            </a:r>
            <a:r>
              <a:rPr lang="en-US" altLang="zh-CN" sz="2800" b="1">
                <a:solidFill>
                  <a:srgbClr val="000000"/>
                </a:solidFill>
                <a:latin typeface="楷体_GB2312" pitchFamily="49" charset="-122"/>
                <a:ea typeface="楷体_GB2312" pitchFamily="49" charset="-122"/>
              </a:rPr>
              <a:t>200</a:t>
            </a:r>
            <a:r>
              <a:rPr lang="en-US" altLang="zh-CN" sz="2800" b="1">
                <a:solidFill>
                  <a:srgbClr val="000000"/>
                </a:solidFill>
                <a:latin typeface="楷体_GB2312" pitchFamily="49" charset="-122"/>
                <a:ea typeface="楷体_GB2312" pitchFamily="49" charset="-122"/>
                <a:sym typeface="Symbol" panose="05050102010706020507" pitchFamily="18" charset="2"/>
              </a:rPr>
              <a:t>m</a:t>
            </a:r>
            <a:r>
              <a:rPr lang="zh-CN" altLang="en-US" sz="2800" b="1">
                <a:solidFill>
                  <a:srgbClr val="000000"/>
                </a:solidFill>
                <a:latin typeface="楷体_GB2312" pitchFamily="49" charset="-122"/>
                <a:ea typeface="楷体_GB2312" pitchFamily="49" charset="-122"/>
              </a:rPr>
              <a:t>的硬膜</a:t>
            </a:r>
            <a:r>
              <a:rPr lang="en-US" altLang="zh-CN" sz="2800" b="1">
                <a:solidFill>
                  <a:srgbClr val="000000"/>
                </a:solidFill>
                <a:latin typeface="楷体_GB2312" pitchFamily="49" charset="-122"/>
                <a:ea typeface="楷体_GB2312" pitchFamily="49" charset="-122"/>
              </a:rPr>
              <a:t>.</a:t>
            </a:r>
            <a:r>
              <a:rPr lang="zh-CN" altLang="en-US" sz="2800" b="1">
                <a:solidFill>
                  <a:srgbClr val="000000"/>
                </a:solidFill>
                <a:latin typeface="楷体_GB2312" pitchFamily="49" charset="-122"/>
                <a:ea typeface="楷体_GB2312" pitchFamily="49" charset="-122"/>
              </a:rPr>
              <a:t>实验研究发现，氧化物膜的硬度与温度、电解液浓度和电流密度等有关，温度控制是影响膜层硬度的重要因素。</a:t>
            </a:r>
            <a:endParaRPr lang="zh-CN" altLang="en-US" sz="2800" b="1">
              <a:solidFill>
                <a:srgbClr val="000000"/>
              </a:solidFill>
              <a:latin typeface="楷体_GB2312" pitchFamily="49" charset="-122"/>
              <a:ea typeface="楷体_GB2312" pitchFamily="49" charset="-122"/>
            </a:endParaRPr>
          </a:p>
        </p:txBody>
      </p:sp>
      <p:sp>
        <p:nvSpPr>
          <p:cNvPr id="101379" name="Text Box 3"/>
          <p:cNvSpPr txBox="1">
            <a:spLocks noChangeArrowheads="1"/>
          </p:cNvSpPr>
          <p:nvPr/>
        </p:nvSpPr>
        <p:spPr bwMode="auto">
          <a:xfrm>
            <a:off x="2514600" y="4724401"/>
            <a:ext cx="7391400"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2800" b="1">
                <a:solidFill>
                  <a:srgbClr val="000000"/>
                </a:solidFill>
                <a:latin typeface="楷体_GB2312" pitchFamily="49" charset="-122"/>
                <a:ea typeface="楷体_GB2312" pitchFamily="49" charset="-122"/>
              </a:rPr>
              <a:t>    </a:t>
            </a:r>
            <a:r>
              <a:rPr lang="zh-CN" altLang="en-US" sz="2800" b="1">
                <a:solidFill>
                  <a:srgbClr val="FF3300"/>
                </a:solidFill>
                <a:latin typeface="楷体_GB2312" pitchFamily="49" charset="-122"/>
                <a:ea typeface="楷体_GB2312" pitchFamily="49" charset="-122"/>
              </a:rPr>
              <a:t>铝及其合金的阳极氧化与着色是指通过阳极氧化方法得到多孔的氧化物膜后利用膜表面的吸附性能、吸附天机颜料或有机染料，使膜表面染色。</a:t>
            </a:r>
            <a:endParaRPr lang="zh-CN" altLang="en-US" sz="2800" b="1">
              <a:solidFill>
                <a:srgbClr val="FF3300"/>
              </a:solidFill>
              <a:latin typeface="楷体_GB2312" pitchFamily="49" charset="-122"/>
              <a:ea typeface="楷体_GB2312"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4" descr="2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1451" y="404814"/>
            <a:ext cx="7199313"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3" name="Rectangle 5"/>
          <p:cNvSpPr>
            <a:spLocks noChangeArrowheads="1"/>
          </p:cNvSpPr>
          <p:nvPr/>
        </p:nvSpPr>
        <p:spPr bwMode="auto">
          <a:xfrm>
            <a:off x="4440238" y="5589588"/>
            <a:ext cx="3541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b="1" u="sng">
                <a:solidFill>
                  <a:srgbClr val="000000"/>
                </a:solidFill>
              </a:rPr>
              <a:t>氧化铝</a:t>
            </a:r>
            <a:r>
              <a:rPr lang="zh-CN" altLang="en-US" sz="2400">
                <a:solidFill>
                  <a:srgbClr val="000000"/>
                </a:solidFill>
              </a:rPr>
              <a:t>膜防护笔记本电脑</a:t>
            </a:r>
            <a:endParaRPr lang="zh-CN" altLang="en-US" sz="24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ChangeArrowheads="1"/>
          </p:cNvSpPr>
          <p:nvPr/>
        </p:nvSpPr>
        <p:spPr bwMode="auto">
          <a:xfrm>
            <a:off x="3505200" y="609600"/>
            <a:ext cx="4800600" cy="838200"/>
          </a:xfrm>
          <a:prstGeom prst="rect">
            <a:avLst/>
          </a:prstGeom>
          <a:noFill/>
          <a:ln w="9525">
            <a:noFill/>
            <a:miter lim="800000"/>
          </a:ln>
          <a:effectLst/>
        </p:spPr>
        <p:txBody>
          <a:bodyPr/>
          <a:lstStyle/>
          <a:p>
            <a:pPr marL="342900" indent="-342900" algn="just" fontAlgn="base">
              <a:spcBef>
                <a:spcPct val="20000"/>
              </a:spcBef>
              <a:spcAft>
                <a:spcPct val="0"/>
              </a:spcAft>
              <a:defRPr/>
            </a:pPr>
            <a:r>
              <a:rPr kumimoji="1" lang="zh-CN" altLang="en-US" sz="3600" b="1">
                <a:solidFill>
                  <a:srgbClr val="E4005C"/>
                </a:solidFill>
                <a:effectLst>
                  <a:outerShdw blurRad="38100" dist="38100" dir="2700000" algn="tl">
                    <a:srgbClr val="C0C0C0"/>
                  </a:outerShdw>
                </a:effectLst>
                <a:latin typeface="Times New Roman" panose="02020603050405020304" pitchFamily="18" charset="0"/>
                <a:ea typeface="宋体" panose="02010600030101010101" pitchFamily="2" charset="-122"/>
              </a:rPr>
              <a:t>实际电镀生产过程录像</a:t>
            </a:r>
            <a:endParaRPr kumimoji="1" lang="zh-CN" altLang="en-US" sz="4000">
              <a:solidFill>
                <a:srgbClr val="3333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pic>
        <p:nvPicPr>
          <p:cNvPr id="103427" name="Picture 3" descr="100_02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9200" y="2152650"/>
            <a:ext cx="5334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 Box 4"/>
          <p:cNvSpPr txBox="1">
            <a:spLocks noChangeArrowheads="1"/>
          </p:cNvSpPr>
          <p:nvPr/>
        </p:nvSpPr>
        <p:spPr bwMode="auto">
          <a:xfrm>
            <a:off x="2286000" y="1752600"/>
            <a:ext cx="44196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b="1">
                <a:solidFill>
                  <a:srgbClr val="006600"/>
                </a:solidFill>
              </a:rPr>
              <a:t>郑州煤矿机械有限责任公司</a:t>
            </a:r>
            <a:endParaRPr lang="zh-CN" altLang="en-US" sz="2400" b="1">
              <a:solidFill>
                <a:srgbClr val="006600"/>
              </a:solidFill>
            </a:endParaRPr>
          </a:p>
          <a:p>
            <a:pPr fontAlgn="base">
              <a:spcBef>
                <a:spcPct val="50000"/>
              </a:spcBef>
              <a:spcAft>
                <a:spcPct val="0"/>
              </a:spcAft>
              <a:buNone/>
            </a:pPr>
            <a:r>
              <a:rPr lang="en-US" altLang="zh-CN" sz="2400" b="1">
                <a:solidFill>
                  <a:srgbClr val="3333CC"/>
                </a:solidFill>
              </a:rPr>
              <a:t>1 </a:t>
            </a:r>
            <a:r>
              <a:rPr lang="zh-CN" altLang="en-US" sz="2400" b="1">
                <a:solidFill>
                  <a:srgbClr val="3333CC"/>
                </a:solidFill>
              </a:rPr>
              <a:t>电镀锌</a:t>
            </a:r>
            <a:endParaRPr lang="zh-CN" altLang="en-US" sz="2400" b="1">
              <a:solidFill>
                <a:srgbClr val="3333CC"/>
              </a:solidFill>
            </a:endParaRPr>
          </a:p>
          <a:p>
            <a:pPr fontAlgn="base">
              <a:spcBef>
                <a:spcPct val="50000"/>
              </a:spcBef>
              <a:spcAft>
                <a:spcPct val="0"/>
              </a:spcAft>
              <a:buNone/>
            </a:pPr>
            <a:r>
              <a:rPr lang="en-US" altLang="zh-CN" sz="2400" b="1">
                <a:solidFill>
                  <a:srgbClr val="3333CC"/>
                </a:solidFill>
              </a:rPr>
              <a:t>2 </a:t>
            </a:r>
            <a:r>
              <a:rPr lang="zh-CN" altLang="en-US" sz="2400" b="1">
                <a:solidFill>
                  <a:srgbClr val="3333CC"/>
                </a:solidFill>
              </a:rPr>
              <a:t>电镀铬</a:t>
            </a:r>
            <a:endParaRPr lang="zh-CN" altLang="en-US" sz="2400" b="1">
              <a:solidFill>
                <a:srgbClr val="3333CC"/>
              </a:solidFill>
            </a:endParaRPr>
          </a:p>
          <a:p>
            <a:pPr fontAlgn="base">
              <a:spcBef>
                <a:spcPct val="50000"/>
              </a:spcBef>
              <a:spcAft>
                <a:spcPct val="0"/>
              </a:spcAft>
              <a:buNone/>
            </a:pPr>
            <a:r>
              <a:rPr lang="en-US" altLang="zh-CN" sz="2400" b="1">
                <a:solidFill>
                  <a:srgbClr val="3333CC"/>
                </a:solidFill>
              </a:rPr>
              <a:t>3 </a:t>
            </a:r>
            <a:r>
              <a:rPr lang="zh-CN" altLang="en-US" sz="2400" b="1">
                <a:solidFill>
                  <a:srgbClr val="3333CC"/>
                </a:solidFill>
              </a:rPr>
              <a:t>电镀铜锡合金</a:t>
            </a:r>
            <a:endParaRPr lang="zh-CN" altLang="en-US" sz="2400" b="1">
              <a:solidFill>
                <a:srgbClr val="3333CC"/>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电镀锌工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0375" y="836613"/>
            <a:ext cx="5976938" cy="448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1" name="Text Box 3"/>
          <p:cNvSpPr txBox="1">
            <a:spLocks noChangeArrowheads="1"/>
          </p:cNvSpPr>
          <p:nvPr/>
        </p:nvSpPr>
        <p:spPr bwMode="auto">
          <a:xfrm>
            <a:off x="4727576" y="5589588"/>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3333CC"/>
                </a:solidFill>
              </a:rPr>
              <a:t>电镀锌彩色钝化</a:t>
            </a:r>
            <a:endParaRPr lang="zh-CN" altLang="en-US" sz="2400">
              <a:solidFill>
                <a:srgbClr val="3333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descr="电镀铜锡合金工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4" y="476250"/>
            <a:ext cx="7324725" cy="54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Text Box 3"/>
          <p:cNvSpPr txBox="1">
            <a:spLocks noChangeArrowheads="1"/>
          </p:cNvSpPr>
          <p:nvPr/>
        </p:nvSpPr>
        <p:spPr bwMode="auto">
          <a:xfrm>
            <a:off x="4727576" y="6092825"/>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3333CC"/>
                </a:solidFill>
              </a:rPr>
              <a:t>电镀铜锡合金</a:t>
            </a:r>
            <a:endParaRPr lang="zh-CN" altLang="en-US" sz="2400">
              <a:solidFill>
                <a:srgbClr val="3333C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descr="电镀铬工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2889" y="620713"/>
            <a:ext cx="6696075" cy="502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9" name="Text Box 3"/>
          <p:cNvSpPr txBox="1">
            <a:spLocks noChangeArrowheads="1"/>
          </p:cNvSpPr>
          <p:nvPr/>
        </p:nvSpPr>
        <p:spPr bwMode="auto">
          <a:xfrm>
            <a:off x="4727576" y="5805488"/>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3333CC"/>
                </a:solidFill>
              </a:rPr>
              <a:t>电镀铬</a:t>
            </a:r>
            <a:endParaRPr lang="zh-CN" altLang="en-US" sz="2400">
              <a:solidFill>
                <a:srgbClr val="3333CC"/>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descr="Ni–WC 0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838201"/>
            <a:ext cx="655320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3" name="Text Box 3"/>
          <p:cNvSpPr txBox="1">
            <a:spLocks noChangeArrowheads="1"/>
          </p:cNvSpPr>
          <p:nvPr/>
        </p:nvSpPr>
        <p:spPr bwMode="auto">
          <a:xfrm>
            <a:off x="2819400" y="5410201"/>
            <a:ext cx="6324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lnSpc>
                <a:spcPct val="90000"/>
              </a:lnSpc>
              <a:spcBef>
                <a:spcPct val="50000"/>
              </a:spcBef>
              <a:spcAft>
                <a:spcPct val="0"/>
              </a:spcAft>
              <a:buNone/>
            </a:pPr>
            <a:r>
              <a:rPr lang="en-US" altLang="zh-CN" sz="1800">
                <a:solidFill>
                  <a:srgbClr val="0000FF"/>
                </a:solidFill>
                <a:latin typeface="AdvTT5843c571" charset="0"/>
              </a:rPr>
              <a:t>Electrochemical behavior of electrodeposited Ni–WC composite coatings  M. Surender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descr="Ni–WC 00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762000"/>
            <a:ext cx="7010400"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Text Box 3"/>
          <p:cNvSpPr txBox="1">
            <a:spLocks noChangeArrowheads="1"/>
          </p:cNvSpPr>
          <p:nvPr/>
        </p:nvSpPr>
        <p:spPr bwMode="auto">
          <a:xfrm>
            <a:off x="2819400" y="5410201"/>
            <a:ext cx="6324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lnSpc>
                <a:spcPct val="90000"/>
              </a:lnSpc>
              <a:spcBef>
                <a:spcPct val="50000"/>
              </a:spcBef>
              <a:spcAft>
                <a:spcPct val="0"/>
              </a:spcAft>
              <a:buNone/>
            </a:pPr>
            <a:r>
              <a:rPr lang="en-US" altLang="zh-CN" sz="1800">
                <a:solidFill>
                  <a:srgbClr val="0000FF"/>
                </a:solidFill>
                <a:latin typeface="AdvTT5843c571" charset="0"/>
              </a:rPr>
              <a:t>Electrochemical behavior of electrodeposited Ni–WC composite coatings  M. Surender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Ni–WC 00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795339"/>
            <a:ext cx="69342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Text Box 3"/>
          <p:cNvSpPr txBox="1">
            <a:spLocks noChangeArrowheads="1"/>
          </p:cNvSpPr>
          <p:nvPr/>
        </p:nvSpPr>
        <p:spPr bwMode="auto">
          <a:xfrm>
            <a:off x="2819400" y="5410201"/>
            <a:ext cx="6324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lnSpc>
                <a:spcPct val="90000"/>
              </a:lnSpc>
              <a:spcBef>
                <a:spcPct val="50000"/>
              </a:spcBef>
              <a:spcAft>
                <a:spcPct val="0"/>
              </a:spcAft>
              <a:buNone/>
            </a:pPr>
            <a:r>
              <a:rPr lang="en-US" altLang="zh-CN" sz="1800">
                <a:solidFill>
                  <a:srgbClr val="0000FF"/>
                </a:solidFill>
                <a:latin typeface="AdvTT5843c571" charset="0"/>
              </a:rPr>
              <a:t>Electrochemical behavior of electrodeposited Ni–WC composite coatings  M. Surender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Ni–WC 000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914401"/>
            <a:ext cx="678180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5" name="Text Box 3"/>
          <p:cNvSpPr txBox="1">
            <a:spLocks noChangeArrowheads="1"/>
          </p:cNvSpPr>
          <p:nvPr/>
        </p:nvSpPr>
        <p:spPr bwMode="auto">
          <a:xfrm>
            <a:off x="2819400" y="5410201"/>
            <a:ext cx="6324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lnSpc>
                <a:spcPct val="90000"/>
              </a:lnSpc>
              <a:spcBef>
                <a:spcPct val="50000"/>
              </a:spcBef>
              <a:spcAft>
                <a:spcPct val="0"/>
              </a:spcAft>
              <a:buNone/>
            </a:pPr>
            <a:r>
              <a:rPr lang="en-US" altLang="zh-CN" sz="1800">
                <a:solidFill>
                  <a:srgbClr val="0000FF"/>
                </a:solidFill>
                <a:latin typeface="AdvTT5843c571" charset="0"/>
              </a:rPr>
              <a:t>Electrochemical behavior of electrodeposited Ni–WC composite coatings  M. Surender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9-5000-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762001"/>
            <a:ext cx="6400800"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Text Box 3"/>
          <p:cNvSpPr txBox="1">
            <a:spLocks noChangeArrowheads="1"/>
          </p:cNvSpPr>
          <p:nvPr/>
        </p:nvSpPr>
        <p:spPr bwMode="auto">
          <a:xfrm>
            <a:off x="2971800" y="5486400"/>
            <a:ext cx="6629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fontAlgn="base">
              <a:spcBef>
                <a:spcPct val="50000"/>
              </a:spcBef>
              <a:spcAft>
                <a:spcPct val="0"/>
              </a:spcAft>
              <a:buNone/>
            </a:pPr>
            <a:r>
              <a:rPr lang="en-US" altLang="zh-CN" sz="1800">
                <a:solidFill>
                  <a:srgbClr val="0000FF"/>
                </a:solidFill>
                <a:latin typeface="Arial Unicode MS" charset="-122"/>
                <a:ea typeface="Arial Unicode MS" charset="-122"/>
              </a:rPr>
              <a:t>Study on Overpotential of the Electrochemical Hydrogen Storage of Multiwalled Carbon Nanotubes   FengHui et al.</a:t>
            </a:r>
            <a:endParaRPr lang="en-US" altLang="zh-CN" sz="1800">
              <a:solidFill>
                <a:srgbClr val="0000FF"/>
              </a:solidFill>
            </a:endParaRPr>
          </a:p>
        </p:txBody>
      </p:sp>
      <p:sp>
        <p:nvSpPr>
          <p:cNvPr id="111620" name="Rectangle 4"/>
          <p:cNvSpPr>
            <a:spLocks noChangeArrowheads="1"/>
          </p:cNvSpPr>
          <p:nvPr/>
        </p:nvSpPr>
        <p:spPr bwMode="auto">
          <a:xfrm>
            <a:off x="3359150" y="6021388"/>
            <a:ext cx="628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a:solidFill>
                  <a:srgbClr val="000000"/>
                </a:solidFill>
              </a:rPr>
              <a:t>电沉积方法研究碳基吸附材料的吸附储氢技术</a:t>
            </a:r>
            <a:endParaRPr lang="zh-CN" altLang="en-US" sz="2400">
              <a:solidFill>
                <a:srgbClr val="000000"/>
              </a:solidFill>
            </a:endParaRPr>
          </a:p>
        </p:txBody>
      </p:sp>
    </p:spTree>
  </p:cSld>
  <p:clrMapOvr>
    <a:masterClrMapping/>
  </p:clrMapOvr>
  <p:transition>
    <p:zoom/>
    <p:sndAc>
      <p:stSnd>
        <p:snd r:embed="rId2" name="projctor.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9-10000-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762000"/>
            <a:ext cx="7162800" cy="48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Text Box 3"/>
          <p:cNvSpPr txBox="1">
            <a:spLocks noChangeArrowheads="1"/>
          </p:cNvSpPr>
          <p:nvPr/>
        </p:nvSpPr>
        <p:spPr bwMode="auto">
          <a:xfrm>
            <a:off x="3048000" y="5562600"/>
            <a:ext cx="6553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en-US" altLang="zh-CN" sz="1800">
                <a:solidFill>
                  <a:srgbClr val="0000FF"/>
                </a:solidFill>
                <a:latin typeface="Arial Unicode MS" charset="-122"/>
                <a:ea typeface="Arial Unicode MS" charset="-122"/>
              </a:rPr>
              <a:t>Study on Overpotential of the Electrochemical Hydrogen Storage of Multiwalled Carbon Nanotubes   FengHui et al.</a:t>
            </a:r>
            <a:endParaRPr lang="en-US" altLang="zh-CN" sz="1800">
              <a:solidFill>
                <a:srgbClr val="0000FF"/>
              </a:solidFill>
              <a:latin typeface="Arial Unicode MS" charset="-122"/>
              <a:ea typeface="Arial Unicode MS" charset="-122"/>
            </a:endParaRPr>
          </a:p>
        </p:txBody>
      </p:sp>
    </p:spTree>
  </p:cSld>
  <p:clrMapOvr>
    <a:masterClrMapping/>
  </p:clrMapOvr>
  <p:transition>
    <p:zoom/>
    <p:sndAc>
      <p:stSnd>
        <p:snd r:embed="rId2" name="projctor.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9-10000-3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19601" y="838200"/>
            <a:ext cx="3713163"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7" name="Text Box 3"/>
          <p:cNvSpPr txBox="1">
            <a:spLocks noChangeArrowheads="1"/>
          </p:cNvSpPr>
          <p:nvPr/>
        </p:nvSpPr>
        <p:spPr bwMode="auto">
          <a:xfrm>
            <a:off x="3048000" y="5562600"/>
            <a:ext cx="6553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en-US" altLang="zh-CN" sz="1800">
                <a:solidFill>
                  <a:srgbClr val="0000FF"/>
                </a:solidFill>
                <a:latin typeface="Arial Unicode MS" charset="-122"/>
                <a:ea typeface="Arial Unicode MS" charset="-122"/>
              </a:rPr>
              <a:t>Study on Overpotential of the Electrochemical Hydrogen Storage of Multiwalled Carbon Nanotubes   FengHui et al.</a:t>
            </a:r>
            <a:endParaRPr lang="en-US" altLang="zh-CN" sz="1800">
              <a:solidFill>
                <a:srgbClr val="0000FF"/>
              </a:solidFill>
              <a:latin typeface="Arial Unicode MS" charset="-122"/>
              <a:ea typeface="Arial Unicode MS" charset="-122"/>
            </a:endParaRPr>
          </a:p>
        </p:txBody>
      </p:sp>
    </p:spTree>
  </p:cSld>
  <p:clrMapOvr>
    <a:masterClrMapping/>
  </p:clrMapOvr>
  <p:transition>
    <p:zoom/>
    <p:sndAc>
      <p:stSnd>
        <p:snd r:embed="rId2" name="projctor.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descr="C纤维非电解镀镍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584201"/>
            <a:ext cx="64770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1" name="Text Box 3"/>
          <p:cNvSpPr txBox="1">
            <a:spLocks noChangeArrowheads="1"/>
          </p:cNvSpPr>
          <p:nvPr/>
        </p:nvSpPr>
        <p:spPr bwMode="auto">
          <a:xfrm>
            <a:off x="4114800" y="5715001"/>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碳纤维非电解镀镍</a:t>
            </a:r>
            <a:r>
              <a:rPr lang="en-US" altLang="zh-CN" sz="1800">
                <a:solidFill>
                  <a:srgbClr val="0000FF"/>
                </a:solidFill>
                <a:latin typeface="AdvPSTim" charset="-122"/>
              </a:rPr>
              <a:t>Susumu Arai</a:t>
            </a:r>
            <a:r>
              <a:rPr lang="zh-CN" altLang="en-US" sz="1800">
                <a:solidFill>
                  <a:srgbClr val="0000FF"/>
                </a:solidFill>
                <a:latin typeface="AdvPSTim" charset="-122"/>
              </a:rPr>
              <a:t>等</a:t>
            </a:r>
            <a:endParaRPr lang="zh-CN" altLang="en-US" sz="1800">
              <a:solidFill>
                <a:srgbClr val="000000"/>
              </a:solidFill>
            </a:endParaRPr>
          </a:p>
        </p:txBody>
      </p:sp>
    </p:spTree>
  </p:cSld>
  <p:clrMapOvr>
    <a:masterClrMapping/>
  </p:clrMapOvr>
  <p:transition>
    <p:zoom/>
    <p:sndAc>
      <p:stSnd>
        <p:snd r:embed="rId2" name="projctor.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多壁MWNTs镀镍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762001"/>
            <a:ext cx="6248400"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5" name="Text Box 3"/>
          <p:cNvSpPr txBox="1">
            <a:spLocks noChangeArrowheads="1"/>
          </p:cNvSpPr>
          <p:nvPr/>
        </p:nvSpPr>
        <p:spPr bwMode="auto">
          <a:xfrm>
            <a:off x="3810000" y="5638800"/>
            <a:ext cx="518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en-US" altLang="zh-CN" sz="1800">
                <a:solidFill>
                  <a:srgbClr val="0000FF"/>
                </a:solidFill>
                <a:latin typeface="AdvPSTim" charset="-122"/>
                <a:ea typeface="AdvPSTim" charset="-122"/>
              </a:rPr>
              <a:t>Ni-deposited multi-walled carbon nanotubes by electrodeposition Susumu Arai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descr="多壁MWNTs镀镍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4200" y="762000"/>
            <a:ext cx="6172200"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39" name="Text Box 3"/>
          <p:cNvSpPr txBox="1">
            <a:spLocks noChangeArrowheads="1"/>
          </p:cNvSpPr>
          <p:nvPr/>
        </p:nvSpPr>
        <p:spPr bwMode="auto">
          <a:xfrm>
            <a:off x="3810000" y="5638800"/>
            <a:ext cx="518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en-US" altLang="zh-CN" sz="1800">
                <a:solidFill>
                  <a:srgbClr val="0000FF"/>
                </a:solidFill>
                <a:latin typeface="AdvPSTim" charset="-122"/>
                <a:ea typeface="AdvPSTim" charset="-122"/>
              </a:rPr>
              <a:t>Ni-deposited multi-walled carbon nanotubes by electrodeposition Susumu Arai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多壁MWNTs镀镍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7600" y="1066801"/>
            <a:ext cx="5181600"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Text Box 3"/>
          <p:cNvSpPr txBox="1">
            <a:spLocks noChangeArrowheads="1"/>
          </p:cNvSpPr>
          <p:nvPr/>
        </p:nvSpPr>
        <p:spPr bwMode="auto">
          <a:xfrm>
            <a:off x="3810000" y="5638800"/>
            <a:ext cx="518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en-US" altLang="zh-CN" sz="1800">
                <a:solidFill>
                  <a:srgbClr val="0000FF"/>
                </a:solidFill>
                <a:latin typeface="AdvPSTim" charset="-122"/>
                <a:ea typeface="AdvPSTim" charset="-122"/>
              </a:rPr>
              <a:t>Ni-deposited multi-walled carbon nanotubes by electrodeposition Susumu Arai et al.</a:t>
            </a:r>
            <a:endParaRPr lang="en-US" altLang="zh-CN" sz="1800">
              <a:solidFill>
                <a:srgbClr val="0000FF"/>
              </a:solidFill>
            </a:endParaRPr>
          </a:p>
        </p:txBody>
      </p:sp>
    </p:spTree>
  </p:cSld>
  <p:clrMapOvr>
    <a:masterClrMapping/>
  </p:clrMapOvr>
  <p:transition>
    <p:zoom/>
    <p:sndAc>
      <p:stSnd>
        <p:snd r:embed="rId2" name="projctor.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descr="镀层梯度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1" y="1143000"/>
            <a:ext cx="262096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1" name="Picture 3" descr="纳米多层镀层梯度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1" y="1066800"/>
            <a:ext cx="28670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2" name="Picture 4" descr="纳米多层镀层梯度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066801"/>
            <a:ext cx="342900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3" name="Text Box 5"/>
          <p:cNvSpPr txBox="1">
            <a:spLocks noChangeArrowheads="1"/>
          </p:cNvSpPr>
          <p:nvPr/>
        </p:nvSpPr>
        <p:spPr bwMode="auto">
          <a:xfrm>
            <a:off x="2819400" y="4876801"/>
            <a:ext cx="6019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纳米多层膜断面扫描电镜形貌</a:t>
            </a:r>
            <a:endParaRPr lang="zh-CN" altLang="en-US" sz="1800">
              <a:solidFill>
                <a:srgbClr val="0000FF"/>
              </a:solidFill>
            </a:endParaRPr>
          </a:p>
          <a:p>
            <a:pPr algn="ctr" fontAlgn="ctr">
              <a:spcBef>
                <a:spcPct val="50000"/>
              </a:spcBef>
              <a:spcAft>
                <a:spcPct val="0"/>
              </a:spcAft>
              <a:buNone/>
            </a:pPr>
            <a:r>
              <a:rPr lang="zh-CN" altLang="en-US" sz="1800">
                <a:solidFill>
                  <a:srgbClr val="3333CC"/>
                </a:solidFill>
              </a:rPr>
              <a:t>天津大学 姚素微 国家自然科学基金优秀项目</a:t>
            </a:r>
            <a:endParaRPr lang="zh-CN" altLang="en-US" sz="1800">
              <a:solidFill>
                <a:srgbClr val="3333CC"/>
              </a:solidFill>
            </a:endParaRPr>
          </a:p>
        </p:txBody>
      </p:sp>
    </p:spTree>
  </p:cSld>
  <p:clrMapOvr>
    <a:masterClrMapping/>
  </p:clrMapOvr>
  <p:transition>
    <p:zoom/>
    <p:sndAc>
      <p:stSnd>
        <p:snd r:embed="rId4" name="projctor.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descr="d1-3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850" y="1"/>
            <a:ext cx="7704138" cy="646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5" name="Rectangle 3"/>
          <p:cNvSpPr>
            <a:spLocks noGrp="1" noChangeArrowheads="1"/>
          </p:cNvSpPr>
          <p:nvPr>
            <p:ph type="body" idx="1"/>
          </p:nvPr>
        </p:nvSpPr>
        <p:spPr>
          <a:xfrm>
            <a:off x="4008438" y="5876926"/>
            <a:ext cx="4462462" cy="650875"/>
          </a:xfrm>
        </p:spPr>
        <p:txBody>
          <a:bodyPr/>
          <a:lstStyle/>
          <a:p>
            <a:pPr eaLnBrk="1" fontAlgn="ctr" hangingPunct="1">
              <a:lnSpc>
                <a:spcPct val="140000"/>
              </a:lnSpc>
            </a:pPr>
            <a:r>
              <a:rPr lang="zh-CN" altLang="en-US" sz="2000">
                <a:solidFill>
                  <a:srgbClr val="0000FF"/>
                </a:solidFill>
              </a:rPr>
              <a:t>单金属多纳米层电镀铬   冯辉</a:t>
            </a:r>
            <a:r>
              <a:rPr lang="en-US" altLang="zh-CN" sz="2000">
                <a:solidFill>
                  <a:srgbClr val="0000FF"/>
                </a:solidFill>
              </a:rPr>
              <a:t>2007</a:t>
            </a:r>
            <a:endParaRPr lang="en-US" altLang="zh-CN" sz="2000">
              <a:solidFill>
                <a:srgbClr val="0000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d2-2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850" y="836614"/>
            <a:ext cx="4248150"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59" name="Picture 3" descr="d3-22 拷贝"/>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1539" y="1052513"/>
            <a:ext cx="3951287"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ChangeArrowheads="1"/>
          </p:cNvSpPr>
          <p:nvPr/>
        </p:nvSpPr>
        <p:spPr bwMode="auto">
          <a:xfrm>
            <a:off x="4008438" y="5876926"/>
            <a:ext cx="446246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ctr">
              <a:lnSpc>
                <a:spcPct val="140000"/>
              </a:lnSpc>
              <a:spcAft>
                <a:spcPct val="0"/>
              </a:spcAft>
            </a:pPr>
            <a:r>
              <a:rPr lang="zh-CN" altLang="en-US" sz="2000">
                <a:solidFill>
                  <a:srgbClr val="0000FF"/>
                </a:solidFill>
              </a:rPr>
              <a:t>单金属多纳米层电镀铬   冯辉</a:t>
            </a:r>
            <a:r>
              <a:rPr lang="en-US" altLang="zh-CN" sz="2000">
                <a:solidFill>
                  <a:srgbClr val="0000FF"/>
                </a:solidFill>
              </a:rPr>
              <a:t>2007</a:t>
            </a:r>
            <a:endParaRPr lang="en-US" altLang="zh-CN" sz="2000">
              <a:solidFill>
                <a:srgbClr val="0000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3287714" y="5876926"/>
            <a:ext cx="518318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ctr">
              <a:lnSpc>
                <a:spcPct val="140000"/>
              </a:lnSpc>
              <a:spcAft>
                <a:spcPct val="0"/>
              </a:spcAft>
            </a:pPr>
            <a:r>
              <a:rPr lang="zh-CN" altLang="en-US" sz="2000">
                <a:solidFill>
                  <a:srgbClr val="0000FF"/>
                </a:solidFill>
              </a:rPr>
              <a:t>单金属多纳米层电镀铬断面   冯辉</a:t>
            </a:r>
            <a:r>
              <a:rPr lang="en-US" altLang="zh-CN" sz="2000">
                <a:solidFill>
                  <a:srgbClr val="0000FF"/>
                </a:solidFill>
              </a:rPr>
              <a:t>2007</a:t>
            </a:r>
            <a:endParaRPr lang="en-US" altLang="zh-CN" sz="2000">
              <a:solidFill>
                <a:srgbClr val="0000FF"/>
              </a:solidFill>
            </a:endParaRPr>
          </a:p>
        </p:txBody>
      </p:sp>
      <p:pic>
        <p:nvPicPr>
          <p:cNvPr id="122883" name="Picture 3" descr="400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89" y="333376"/>
            <a:ext cx="7272337" cy="545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线路板电镀"/>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24201" y="838200"/>
            <a:ext cx="4968875"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Text Box 3"/>
          <p:cNvSpPr txBox="1">
            <a:spLocks noChangeArrowheads="1"/>
          </p:cNvSpPr>
          <p:nvPr/>
        </p:nvSpPr>
        <p:spPr bwMode="auto">
          <a:xfrm>
            <a:off x="8610600" y="914401"/>
            <a:ext cx="15240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base">
              <a:spcBef>
                <a:spcPct val="50000"/>
              </a:spcBef>
              <a:spcAft>
                <a:spcPct val="0"/>
              </a:spcAft>
              <a:buNone/>
            </a:pPr>
            <a:r>
              <a:rPr lang="zh-CN" altLang="en-US" sz="1800">
                <a:solidFill>
                  <a:srgbClr val="0000FF"/>
                </a:solidFill>
              </a:rPr>
              <a:t>线路板电镀</a:t>
            </a:r>
            <a:endParaRPr lang="zh-CN" altLang="en-US" sz="1800">
              <a:solidFill>
                <a:srgbClr val="0000FF"/>
              </a:solidFill>
            </a:endParaRPr>
          </a:p>
          <a:p>
            <a:pPr algn="ctr" fontAlgn="base">
              <a:spcBef>
                <a:spcPct val="50000"/>
              </a:spcBef>
              <a:spcAft>
                <a:spcPct val="0"/>
              </a:spcAft>
              <a:buNone/>
            </a:pPr>
            <a:r>
              <a:rPr lang="zh-CN" altLang="en-US" sz="1800">
                <a:solidFill>
                  <a:srgbClr val="0000FF"/>
                </a:solidFill>
              </a:rPr>
              <a:t>孔金属化</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4008438" y="5876926"/>
            <a:ext cx="446246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ctr">
              <a:lnSpc>
                <a:spcPct val="140000"/>
              </a:lnSpc>
              <a:spcAft>
                <a:spcPct val="0"/>
              </a:spcAft>
            </a:pPr>
            <a:r>
              <a:rPr lang="zh-CN" altLang="en-US" sz="2000">
                <a:solidFill>
                  <a:srgbClr val="0000FF"/>
                </a:solidFill>
              </a:rPr>
              <a:t>铝阳极氧化   冯辉</a:t>
            </a:r>
            <a:r>
              <a:rPr lang="en-US" altLang="zh-CN" sz="2000">
                <a:solidFill>
                  <a:srgbClr val="0000FF"/>
                </a:solidFill>
              </a:rPr>
              <a:t>2007</a:t>
            </a:r>
            <a:endParaRPr lang="en-US" altLang="zh-CN" sz="2000">
              <a:solidFill>
                <a:srgbClr val="0000FF"/>
              </a:solidFill>
            </a:endParaRPr>
          </a:p>
        </p:txBody>
      </p:sp>
      <p:pic>
        <p:nvPicPr>
          <p:cNvPr id="124931" name="Picture 3" descr="2-30000-20kv"/>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5551" y="476251"/>
            <a:ext cx="7127875" cy="534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ChangeArrowheads="1"/>
          </p:cNvSpPr>
          <p:nvPr/>
        </p:nvSpPr>
        <p:spPr bwMode="auto">
          <a:xfrm>
            <a:off x="4008438" y="5876926"/>
            <a:ext cx="446246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ctr">
              <a:lnSpc>
                <a:spcPct val="140000"/>
              </a:lnSpc>
              <a:spcAft>
                <a:spcPct val="0"/>
              </a:spcAft>
            </a:pPr>
            <a:r>
              <a:rPr lang="zh-CN" altLang="en-US" sz="2000">
                <a:solidFill>
                  <a:srgbClr val="0000FF"/>
                </a:solidFill>
              </a:rPr>
              <a:t>铝阳极氧化   冯辉</a:t>
            </a:r>
            <a:r>
              <a:rPr lang="en-US" altLang="zh-CN" sz="2000">
                <a:solidFill>
                  <a:srgbClr val="0000FF"/>
                </a:solidFill>
              </a:rPr>
              <a:t>2007</a:t>
            </a:r>
            <a:endParaRPr lang="en-US" altLang="zh-CN" sz="2000">
              <a:solidFill>
                <a:srgbClr val="0000FF"/>
              </a:solidFill>
            </a:endParaRPr>
          </a:p>
        </p:txBody>
      </p:sp>
      <p:pic>
        <p:nvPicPr>
          <p:cNvPr id="125955" name="Picture 3" descr="3-30000-20kv"/>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476250"/>
            <a:ext cx="7199312" cy="539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533400"/>
            <a:ext cx="6705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79" name="Text Box 3"/>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a:t>
            </a:r>
            <a:endParaRPr lang="zh-CN" altLang="en-US" sz="1800">
              <a:solidFill>
                <a:srgbClr val="3333CC"/>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  冯辉</a:t>
            </a:r>
            <a:r>
              <a:rPr lang="en-US" altLang="zh-CN" sz="1800">
                <a:solidFill>
                  <a:srgbClr val="0000FF"/>
                </a:solidFill>
              </a:rPr>
              <a:t>2007</a:t>
            </a:r>
            <a:endParaRPr lang="en-US" altLang="zh-CN" sz="1800">
              <a:solidFill>
                <a:srgbClr val="3333CC"/>
              </a:solidFill>
            </a:endParaRPr>
          </a:p>
        </p:txBody>
      </p:sp>
      <p:pic>
        <p:nvPicPr>
          <p:cNvPr id="128003" name="Picture 3" descr="3-1900-15kv"/>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5550" y="404813"/>
            <a:ext cx="6840538" cy="512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1" y="685801"/>
            <a:ext cx="680561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7" name="Text Box 3"/>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a:t>
            </a:r>
            <a:endParaRPr lang="zh-CN" altLang="en-US" sz="1800">
              <a:solidFill>
                <a:srgbClr val="3333CC"/>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1" y="685801"/>
            <a:ext cx="6715125"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1" name="Text Box 3"/>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a:t>
            </a:r>
            <a:endParaRPr lang="zh-CN" altLang="en-US" sz="1800">
              <a:solidFill>
                <a:srgbClr val="3333CC"/>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1" y="685801"/>
            <a:ext cx="6729413"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5" name="Text Box 3"/>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a:t>
            </a:r>
            <a:endParaRPr lang="zh-CN" altLang="en-US" sz="1800">
              <a:solidFill>
                <a:srgbClr val="3333CC"/>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1" y="762000"/>
            <a:ext cx="6938963"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Text Box 3"/>
          <p:cNvSpPr txBox="1">
            <a:spLocks noChangeArrowheads="1"/>
          </p:cNvSpPr>
          <p:nvPr/>
        </p:nvSpPr>
        <p:spPr bwMode="auto">
          <a:xfrm>
            <a:off x="2819400" y="5715001"/>
            <a:ext cx="601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fontAlgn="ctr">
              <a:spcBef>
                <a:spcPct val="50000"/>
              </a:spcBef>
              <a:spcAft>
                <a:spcPct val="0"/>
              </a:spcAft>
              <a:buNone/>
            </a:pPr>
            <a:r>
              <a:rPr lang="zh-CN" altLang="en-US" sz="1800">
                <a:solidFill>
                  <a:srgbClr val="0000FF"/>
                </a:solidFill>
              </a:rPr>
              <a:t>微弧法铝阳极氧化表面扫描电镜形貌</a:t>
            </a:r>
            <a:endParaRPr lang="zh-CN" altLang="en-US" sz="1800">
              <a:solidFill>
                <a:srgbClr val="3333CC"/>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descr="整流电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1" y="457200"/>
            <a:ext cx="51911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23" name="Picture 3" descr="实验用整流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143000"/>
            <a:ext cx="3657600"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Text Box 4"/>
          <p:cNvSpPr txBox="1">
            <a:spLocks noChangeArrowheads="1"/>
          </p:cNvSpPr>
          <p:nvPr/>
        </p:nvSpPr>
        <p:spPr bwMode="auto">
          <a:xfrm>
            <a:off x="8153400" y="5181601"/>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电镀电源</a:t>
            </a:r>
            <a:endParaRPr lang="zh-CN" altLang="en-US" sz="1800">
              <a:solidFill>
                <a:srgbClr val="0000FF"/>
              </a:solidFill>
            </a:endParaRPr>
          </a:p>
        </p:txBody>
      </p:sp>
    </p:spTree>
  </p:cSld>
  <p:clrMapOvr>
    <a:masterClrMapping/>
  </p:clrMapOvr>
  <p:transition>
    <p:zoom/>
    <p:sndAc>
      <p:stSnd>
        <p:snd r:embed="rId3" name="projctor.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开关电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381000"/>
            <a:ext cx="74676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7" name="Text Box 3"/>
          <p:cNvSpPr txBox="1">
            <a:spLocks noChangeArrowheads="1"/>
          </p:cNvSpPr>
          <p:nvPr/>
        </p:nvSpPr>
        <p:spPr bwMode="auto">
          <a:xfrm>
            <a:off x="3886200" y="6019801"/>
            <a:ext cx="434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可输出</a:t>
            </a:r>
            <a:r>
              <a:rPr lang="en-US" altLang="zh-CN" sz="1800">
                <a:solidFill>
                  <a:srgbClr val="0000FF"/>
                </a:solidFill>
              </a:rPr>
              <a:t>4000A</a:t>
            </a:r>
            <a:r>
              <a:rPr lang="zh-CN" altLang="en-US" sz="1800">
                <a:solidFill>
                  <a:srgbClr val="0000FF"/>
                </a:solidFill>
              </a:rPr>
              <a:t>电流的开关式电镀电源－</a:t>
            </a:r>
            <a:endParaRPr lang="zh-CN" altLang="en-US" sz="1800">
              <a:solidFill>
                <a:srgbClr val="0000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descr="过滤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838200"/>
            <a:ext cx="6781800"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194" name="Group 2"/>
          <p:cNvGrpSpPr/>
          <p:nvPr/>
        </p:nvGrpSpPr>
        <p:grpSpPr bwMode="auto">
          <a:xfrm>
            <a:off x="2133600" y="1447800"/>
            <a:ext cx="4038600" cy="3733800"/>
            <a:chOff x="600" y="768"/>
            <a:chExt cx="3864" cy="3077"/>
          </a:xfrm>
        </p:grpSpPr>
        <p:pic>
          <p:nvPicPr>
            <p:cNvPr id="136198" name="Picture 3" descr="过滤机01"/>
            <p:cNvPicPr>
              <a:picLocks noChangeAspect="1" noChangeArrowheads="1"/>
            </p:cNvPicPr>
            <p:nvPr/>
          </p:nvPicPr>
          <p:blipFill>
            <a:blip r:embed="rId1">
              <a:lum bright="6000"/>
              <a:extLst>
                <a:ext uri="{28A0092B-C50C-407E-A947-70E740481C1C}">
                  <a14:useLocalDpi xmlns:a14="http://schemas.microsoft.com/office/drawing/2010/main" val="0"/>
                </a:ext>
              </a:extLst>
            </a:blip>
            <a:srcRect/>
            <a:stretch>
              <a:fillRect/>
            </a:stretch>
          </p:blipFill>
          <p:spPr bwMode="auto">
            <a:xfrm>
              <a:off x="600" y="768"/>
              <a:ext cx="2011" cy="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199" name="Picture 4" descr="过滤机02"/>
            <p:cNvPicPr>
              <a:picLocks noChangeAspect="1" noChangeArrowheads="1"/>
            </p:cNvPicPr>
            <p:nvPr/>
          </p:nvPicPr>
          <p:blipFill>
            <a:blip r:embed="rId2">
              <a:lum bright="6000"/>
              <a:extLst>
                <a:ext uri="{28A0092B-C50C-407E-A947-70E740481C1C}">
                  <a14:useLocalDpi xmlns:a14="http://schemas.microsoft.com/office/drawing/2010/main" val="0"/>
                </a:ext>
              </a:extLst>
            </a:blip>
            <a:srcRect/>
            <a:stretch>
              <a:fillRect/>
            </a:stretch>
          </p:blipFill>
          <p:spPr bwMode="auto">
            <a:xfrm>
              <a:off x="2544" y="768"/>
              <a:ext cx="1920" cy="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6195" name="Text Box 5"/>
          <p:cNvSpPr txBox="1">
            <a:spLocks noChangeArrowheads="1"/>
          </p:cNvSpPr>
          <p:nvPr/>
        </p:nvSpPr>
        <p:spPr bwMode="auto">
          <a:xfrm>
            <a:off x="3505200" y="5410201"/>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过滤机</a:t>
            </a:r>
            <a:endParaRPr lang="zh-CN" altLang="en-US" sz="1800">
              <a:solidFill>
                <a:srgbClr val="0000FF"/>
              </a:solidFill>
            </a:endParaRPr>
          </a:p>
        </p:txBody>
      </p:sp>
      <p:pic>
        <p:nvPicPr>
          <p:cNvPr id="136196" name="Picture 6" descr="过滤芯"/>
          <p:cNvPicPr>
            <a:picLocks noChangeAspect="1" noChangeArrowheads="1"/>
          </p:cNvPicPr>
          <p:nvPr/>
        </p:nvPicPr>
        <p:blipFill>
          <a:blip r:embed="rId3">
            <a:lum bright="12000"/>
            <a:extLst>
              <a:ext uri="{28A0092B-C50C-407E-A947-70E740481C1C}">
                <a14:useLocalDpi xmlns:a14="http://schemas.microsoft.com/office/drawing/2010/main" val="0"/>
              </a:ext>
            </a:extLst>
          </a:blip>
          <a:srcRect/>
          <a:stretch>
            <a:fillRect/>
          </a:stretch>
        </p:blipFill>
        <p:spPr bwMode="auto">
          <a:xfrm>
            <a:off x="6477001" y="1524000"/>
            <a:ext cx="35845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7" name="Text Box 7"/>
          <p:cNvSpPr txBox="1">
            <a:spLocks noChangeArrowheads="1"/>
          </p:cNvSpPr>
          <p:nvPr/>
        </p:nvSpPr>
        <p:spPr bwMode="auto">
          <a:xfrm>
            <a:off x="7620000" y="5486401"/>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过滤芯</a:t>
            </a:r>
            <a:endParaRPr lang="zh-CN" altLang="en-US" sz="1800">
              <a:solidFill>
                <a:srgbClr val="0000FF"/>
              </a:solidFill>
            </a:endParaRPr>
          </a:p>
        </p:txBody>
      </p:sp>
    </p:spTree>
  </p:cSld>
  <p:clrMapOvr>
    <a:masterClrMapping/>
  </p:clrMapOvr>
  <p:transition>
    <p:zoom/>
    <p:sndAc>
      <p:stSnd>
        <p:snd r:embed="rId4" name="projctor.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descr="氟塑料电加热器"/>
          <p:cNvPicPr>
            <a:picLocks noChangeAspect="1" noChangeArrowheads="1"/>
          </p:cNvPicPr>
          <p:nvPr/>
        </p:nvPicPr>
        <p:blipFill>
          <a:blip r:embed="rId1">
            <a:lum bright="12000"/>
            <a:extLst>
              <a:ext uri="{28A0092B-C50C-407E-A947-70E740481C1C}">
                <a14:useLocalDpi xmlns:a14="http://schemas.microsoft.com/office/drawing/2010/main" val="0"/>
              </a:ext>
            </a:extLst>
          </a:blip>
          <a:srcRect/>
          <a:stretch>
            <a:fillRect/>
          </a:stretch>
        </p:blipFill>
        <p:spPr bwMode="auto">
          <a:xfrm>
            <a:off x="3124201" y="3200400"/>
            <a:ext cx="205581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19" name="Picture 3" descr="氟塑料电加热器2"/>
          <p:cNvPicPr>
            <a:picLocks noChangeAspect="1" noChangeArrowheads="1"/>
          </p:cNvPicPr>
          <p:nvPr/>
        </p:nvPicPr>
        <p:blipFill>
          <a:blip r:embed="rId2">
            <a:lum bright="12000"/>
            <a:extLst>
              <a:ext uri="{28A0092B-C50C-407E-A947-70E740481C1C}">
                <a14:useLocalDpi xmlns:a14="http://schemas.microsoft.com/office/drawing/2010/main" val="0"/>
              </a:ext>
            </a:extLst>
          </a:blip>
          <a:srcRect/>
          <a:stretch>
            <a:fillRect/>
          </a:stretch>
        </p:blipFill>
        <p:spPr bwMode="auto">
          <a:xfrm>
            <a:off x="5791200" y="1143000"/>
            <a:ext cx="3276600"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0" name="Picture 4" descr="氟塑料电加热器3"/>
          <p:cNvPicPr>
            <a:picLocks noChangeAspect="1" noChangeArrowheads="1"/>
          </p:cNvPicPr>
          <p:nvPr/>
        </p:nvPicPr>
        <p:blipFill>
          <a:blip r:embed="rId3">
            <a:lum bright="18000"/>
            <a:extLst>
              <a:ext uri="{28A0092B-C50C-407E-A947-70E740481C1C}">
                <a14:useLocalDpi xmlns:a14="http://schemas.microsoft.com/office/drawing/2010/main" val="0"/>
              </a:ext>
            </a:extLst>
          </a:blip>
          <a:srcRect/>
          <a:stretch>
            <a:fillRect/>
          </a:stretch>
        </p:blipFill>
        <p:spPr bwMode="auto">
          <a:xfrm>
            <a:off x="2819400" y="1179513"/>
            <a:ext cx="243840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1" name="Picture 5" descr="钛电加热器"/>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352800"/>
            <a:ext cx="3733800"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2" name="Text Box 6"/>
          <p:cNvSpPr txBox="1">
            <a:spLocks noChangeArrowheads="1"/>
          </p:cNvSpPr>
          <p:nvPr/>
        </p:nvSpPr>
        <p:spPr bwMode="auto">
          <a:xfrm>
            <a:off x="5257800" y="5791201"/>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各种电加热器</a:t>
            </a:r>
            <a:endParaRPr lang="zh-CN" altLang="en-US" sz="1800">
              <a:solidFill>
                <a:srgbClr val="0000FF"/>
              </a:solidFill>
            </a:endParaRPr>
          </a:p>
        </p:txBody>
      </p:sp>
    </p:spTree>
  </p:cSld>
  <p:clrMapOvr>
    <a:masterClrMapping/>
  </p:clrMapOvr>
  <p:transition>
    <p:zoom/>
    <p:sndAc>
      <p:stSnd>
        <p:snd r:embed="rId5" name="projctor.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descr="IMG0054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1" y="381001"/>
            <a:ext cx="6048375" cy="574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3200TIC导线架卷对卷电镀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9000" y="1028700"/>
            <a:ext cx="57912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descr="垂直环形自动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801689"/>
            <a:ext cx="72390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大跨度氧化生产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957263"/>
            <a:ext cx="70104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descr="滚镀自动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779463"/>
            <a:ext cx="7010400" cy="528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descr="回转式电镀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9800" y="762001"/>
            <a:ext cx="5334000" cy="511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3" name="Text Box 3"/>
          <p:cNvSpPr txBox="1">
            <a:spLocks noChangeArrowheads="1"/>
          </p:cNvSpPr>
          <p:nvPr/>
        </p:nvSpPr>
        <p:spPr bwMode="auto">
          <a:xfrm>
            <a:off x="8305800" y="1371601"/>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回转式</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descr="连接器部分专用电镀"/>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838200"/>
            <a:ext cx="7239000"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气缸活塞专用电镀"/>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838200"/>
            <a:ext cx="7696200" cy="52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descr="双枪干喷砂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1" y="838201"/>
            <a:ext cx="3897313"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sndAc>
      <p:stSnd>
        <p:snd r:embed="rId2" name="projctor.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descr="自动吊镀设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838200"/>
            <a:ext cx="7315200"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59" name="Text Box 3"/>
          <p:cNvSpPr txBox="1">
            <a:spLocks noChangeArrowheads="1"/>
          </p:cNvSpPr>
          <p:nvPr/>
        </p:nvSpPr>
        <p:spPr bwMode="auto">
          <a:xfrm>
            <a:off x="5181600" y="5715001"/>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直线式自动吊镀</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2" descr="悬臂式滚镀自动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633414"/>
            <a:ext cx="7315200" cy="485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3" name="Text Box 3"/>
          <p:cNvSpPr txBox="1">
            <a:spLocks noChangeArrowheads="1"/>
          </p:cNvSpPr>
          <p:nvPr/>
        </p:nvSpPr>
        <p:spPr bwMode="auto">
          <a:xfrm>
            <a:off x="5486400" y="5715001"/>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悬臂式</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descr="压板式环形自动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838200"/>
            <a:ext cx="6629400" cy="475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07" name="Text Box 3"/>
          <p:cNvSpPr txBox="1">
            <a:spLocks noChangeArrowheads="1"/>
          </p:cNvSpPr>
          <p:nvPr/>
        </p:nvSpPr>
        <p:spPr bwMode="auto">
          <a:xfrm>
            <a:off x="5562600" y="5715001"/>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压板式</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descr="液压升降自动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990601"/>
            <a:ext cx="7323138" cy="468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1" name="Text Box 3"/>
          <p:cNvSpPr txBox="1">
            <a:spLocks noChangeArrowheads="1"/>
          </p:cNvSpPr>
          <p:nvPr/>
        </p:nvSpPr>
        <p:spPr bwMode="auto">
          <a:xfrm>
            <a:off x="5410200" y="5715001"/>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液压升降式</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descr="自动升降电镀生产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1447801"/>
            <a:ext cx="8458200"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5" name="Text Box 3"/>
          <p:cNvSpPr txBox="1">
            <a:spLocks noChangeArrowheads="1"/>
          </p:cNvSpPr>
          <p:nvPr/>
        </p:nvSpPr>
        <p:spPr bwMode="auto">
          <a:xfrm>
            <a:off x="5410200" y="5638801"/>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自动升降式</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descr="自动线工位控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914401"/>
            <a:ext cx="63246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9" name="Text Box 3"/>
          <p:cNvSpPr txBox="1">
            <a:spLocks noChangeArrowheads="1"/>
          </p:cNvSpPr>
          <p:nvPr/>
        </p:nvSpPr>
        <p:spPr bwMode="auto">
          <a:xfrm>
            <a:off x="4953000" y="5867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自动线的工位控制</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descr="双向变速多头滚镀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838200"/>
            <a:ext cx="70866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3" name="Text Box 3"/>
          <p:cNvSpPr txBox="1">
            <a:spLocks noChangeArrowheads="1"/>
          </p:cNvSpPr>
          <p:nvPr/>
        </p:nvSpPr>
        <p:spPr bwMode="auto">
          <a:xfrm>
            <a:off x="5638800" y="586740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1800">
                <a:solidFill>
                  <a:srgbClr val="0000FF"/>
                </a:solidFill>
              </a:rPr>
              <a:t>滚镀机</a:t>
            </a:r>
            <a:endParaRPr lang="zh-CN" altLang="en-US" sz="1800">
              <a:solidFill>
                <a:srgbClr val="0000FF"/>
              </a:solidFill>
            </a:endParaRPr>
          </a:p>
        </p:txBody>
      </p:sp>
    </p:spTree>
  </p:cSld>
  <p:clrMapOvr>
    <a:masterClrMapping/>
  </p:clrMapOvr>
  <p:transition>
    <p:zoom/>
    <p:sndAc>
      <p:stSnd>
        <p:snd r:embed="rId2" name="projctor.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4" name="Text Box 4"/>
          <p:cNvSpPr txBox="1">
            <a:spLocks noChangeArrowheads="1"/>
          </p:cNvSpPr>
          <p:nvPr/>
        </p:nvSpPr>
        <p:spPr bwMode="auto">
          <a:xfrm>
            <a:off x="1981200" y="762001"/>
            <a:ext cx="8305800" cy="5326063"/>
          </a:xfrm>
          <a:prstGeom prst="rect">
            <a:avLst/>
          </a:prstGeom>
          <a:noFill/>
          <a:ln w="9525">
            <a:noFill/>
            <a:miter lim="800000"/>
          </a:ln>
          <a:effectLst/>
        </p:spPr>
        <p:txBody>
          <a:bodyPr>
            <a:spAutoFit/>
          </a:bodyPr>
          <a:lstStyle/>
          <a:p>
            <a:pPr algn="just" fontAlgn="base">
              <a:spcBef>
                <a:spcPct val="50000"/>
              </a:spcBef>
              <a:spcAft>
                <a:spcPct val="0"/>
              </a:spcAft>
              <a:defRPr/>
            </a:pPr>
            <a:r>
              <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rPr>
              <a:t>电镀技术的发展：</a:t>
            </a:r>
            <a:r>
              <a:rPr kumimoji="1" lang="zh-CN" altLang="en-US" sz="2000">
                <a:solidFill>
                  <a:srgbClr val="0000FF"/>
                </a:solidFill>
                <a:latin typeface="Times New Roman" panose="02020603050405020304" pitchFamily="18" charset="0"/>
                <a:ea typeface="宋体" panose="02010600030101010101" pitchFamily="2" charset="-122"/>
              </a:rPr>
              <a:t>电镀技术的发展主要分两方面：</a:t>
            </a:r>
            <a:endParaRPr kumimoji="1" lang="zh-CN" altLang="en-US" sz="2000">
              <a:solidFill>
                <a:srgbClr val="0000FF"/>
              </a:solidFill>
              <a:latin typeface="Times New Roman" panose="02020603050405020304" pitchFamily="18" charset="0"/>
              <a:ea typeface="宋体" panose="02010600030101010101" pitchFamily="2" charset="-122"/>
            </a:endParaRPr>
          </a:p>
          <a:p>
            <a:pPr algn="just" fontAlgn="base">
              <a:spcBef>
                <a:spcPct val="50000"/>
              </a:spcBef>
              <a:spcAft>
                <a:spcPct val="0"/>
              </a:spcAft>
              <a:defRPr/>
            </a:pPr>
            <a:r>
              <a:rPr kumimoji="1" lang="zh-CN" altLang="en-US" sz="2000">
                <a:solidFill>
                  <a:srgbClr val="0000FF"/>
                </a:solidFill>
                <a:latin typeface="Times New Roman" panose="02020603050405020304" pitchFamily="18" charset="0"/>
                <a:ea typeface="宋体" panose="02010600030101010101" pitchFamily="2" charset="-122"/>
              </a:rPr>
              <a:t>                                       </a:t>
            </a:r>
            <a:r>
              <a:rPr kumimoji="1" lang="en-US" altLang="zh-CN" sz="2000">
                <a:solidFill>
                  <a:srgbClr val="0000FF"/>
                </a:solidFill>
                <a:latin typeface="Times New Roman" panose="02020603050405020304" pitchFamily="18" charset="0"/>
                <a:ea typeface="宋体" panose="02010600030101010101" pitchFamily="2" charset="-122"/>
              </a:rPr>
              <a:t>1 </a:t>
            </a:r>
            <a:r>
              <a:rPr kumimoji="1" lang="zh-CN" altLang="en-US" sz="2000">
                <a:solidFill>
                  <a:srgbClr val="0000FF"/>
                </a:solidFill>
                <a:latin typeface="Times New Roman" panose="02020603050405020304" pitchFamily="18" charset="0"/>
                <a:ea typeface="宋体" panose="02010600030101010101" pitchFamily="2" charset="-122"/>
              </a:rPr>
              <a:t>电镀设备的发展   </a:t>
            </a:r>
            <a:r>
              <a:rPr kumimoji="1" lang="en-US" altLang="zh-CN" sz="2000">
                <a:solidFill>
                  <a:srgbClr val="0000FF"/>
                </a:solidFill>
                <a:latin typeface="Times New Roman" panose="02020603050405020304" pitchFamily="18" charset="0"/>
                <a:ea typeface="宋体" panose="02010600030101010101" pitchFamily="2" charset="-122"/>
              </a:rPr>
              <a:t>2 </a:t>
            </a:r>
            <a:r>
              <a:rPr kumimoji="1" lang="zh-CN" altLang="en-US" sz="2000">
                <a:solidFill>
                  <a:srgbClr val="0000FF"/>
                </a:solidFill>
                <a:latin typeface="Times New Roman" panose="02020603050405020304" pitchFamily="18" charset="0"/>
                <a:ea typeface="宋体" panose="02010600030101010101" pitchFamily="2" charset="-122"/>
              </a:rPr>
              <a:t>电镀工艺技术的发展</a:t>
            </a:r>
            <a:endParaRPr kumimoji="1" lang="zh-CN" altLang="en-US" sz="2000">
              <a:solidFill>
                <a:srgbClr val="0000FF"/>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en-US" altLang="zh-CN"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rPr>
              <a:t>1 </a:t>
            </a:r>
            <a:r>
              <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rPr>
              <a:t>电镀设备的发展</a:t>
            </a:r>
            <a:endPar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① 电源：蓄电池→</a:t>
            </a:r>
            <a:r>
              <a:rPr kumimoji="1" lang="zh-CN" altLang="en-US" sz="2000">
                <a:solidFill>
                  <a:srgbClr val="006600"/>
                </a:solidFill>
                <a:latin typeface="Times New Roman" panose="02020603050405020304" pitchFamily="18" charset="0"/>
                <a:ea typeface="宋体" panose="02010600030101010101" pitchFamily="2" charset="-122"/>
              </a:rPr>
              <a:t>直流发电机→可控硅整流电源</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a:solidFill>
                  <a:srgbClr val="006600"/>
                </a:solidFill>
                <a:latin typeface="Times New Roman" panose="02020603050405020304" pitchFamily="18" charset="0"/>
                <a:ea typeface="宋体" panose="02010600030101010101" pitchFamily="2" charset="-122"/>
              </a:rPr>
              <a:t>                  →多波形脉冲电源→不对称可调换向硅整流电源</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a:solidFill>
                  <a:srgbClr val="006600"/>
                </a:solidFill>
                <a:latin typeface="Times New Roman" panose="02020603050405020304" pitchFamily="18" charset="0"/>
                <a:ea typeface="宋体" panose="02010600030101010101" pitchFamily="2" charset="-122"/>
              </a:rPr>
              <a:t>                  →开关式电镀电源                                       </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② 阳极：  </a:t>
            </a:r>
            <a:r>
              <a:rPr kumimoji="1" lang="zh-CN" altLang="en-US" sz="2000">
                <a:solidFill>
                  <a:srgbClr val="006600"/>
                </a:solidFill>
                <a:latin typeface="Times New Roman" panose="02020603050405020304" pitchFamily="18" charset="0"/>
                <a:ea typeface="宋体" panose="02010600030101010101" pitchFamily="2" charset="-122"/>
              </a:rPr>
              <a:t>阳极板吊挂→球形小块阳极（使用钛筐）</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③ 搅拌：</a:t>
            </a:r>
            <a:r>
              <a:rPr kumimoji="1" lang="zh-CN" altLang="en-US" sz="2000">
                <a:solidFill>
                  <a:srgbClr val="006600"/>
                </a:solidFill>
                <a:latin typeface="Times New Roman" panose="02020603050405020304" pitchFamily="18" charset="0"/>
                <a:ea typeface="宋体" panose="02010600030101010101" pitchFamily="2" charset="-122"/>
              </a:rPr>
              <a:t>不搅拌→机械阴极移动→气体搅拌加循环过滤</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b="1">
                <a:solidFill>
                  <a:srgbClr val="006600"/>
                </a:solidFill>
                <a:latin typeface="Times New Roman" panose="02020603050405020304" pitchFamily="18" charset="0"/>
                <a:ea typeface="宋体" panose="02010600030101010101" pitchFamily="2" charset="-122"/>
              </a:rPr>
              <a:t>                                                         </a:t>
            </a:r>
            <a:r>
              <a:rPr kumimoji="1" lang="zh-CN" altLang="en-US" sz="2000">
                <a:solidFill>
                  <a:srgbClr val="006600"/>
                </a:solidFill>
                <a:latin typeface="Times New Roman" panose="02020603050405020304" pitchFamily="18" charset="0"/>
                <a:ea typeface="宋体" panose="02010600030101010101" pitchFamily="2" charset="-122"/>
              </a:rPr>
              <a:t>→高速电解液对流</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④ 控制：</a:t>
            </a:r>
            <a:r>
              <a:rPr kumimoji="1" lang="zh-CN" altLang="en-US" sz="2000">
                <a:solidFill>
                  <a:srgbClr val="006600"/>
                </a:solidFill>
                <a:latin typeface="Times New Roman" panose="02020603050405020304" pitchFamily="18" charset="0"/>
                <a:ea typeface="宋体" panose="02010600030101010101" pitchFamily="2" charset="-122"/>
              </a:rPr>
              <a:t>人工控制（温度、电流、添加剂含量、</a:t>
            </a:r>
            <a:r>
              <a:rPr kumimoji="1" lang="en-US" altLang="zh-CN" sz="2000">
                <a:solidFill>
                  <a:srgbClr val="006600"/>
                </a:solidFill>
                <a:latin typeface="Times New Roman" panose="02020603050405020304" pitchFamily="18" charset="0"/>
                <a:ea typeface="宋体" panose="02010600030101010101" pitchFamily="2" charset="-122"/>
              </a:rPr>
              <a:t>pH</a:t>
            </a:r>
            <a:r>
              <a:rPr kumimoji="1" lang="zh-CN" altLang="en-US" sz="2000">
                <a:solidFill>
                  <a:srgbClr val="006600"/>
                </a:solidFill>
                <a:latin typeface="Times New Roman" panose="02020603050405020304" pitchFamily="18" charset="0"/>
                <a:ea typeface="宋体" panose="02010600030101010101" pitchFamily="2" charset="-122"/>
              </a:rPr>
              <a:t>值等）</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lnSpc>
                <a:spcPct val="80000"/>
              </a:lnSpc>
              <a:spcBef>
                <a:spcPct val="50000"/>
              </a:spcBef>
              <a:spcAft>
                <a:spcPct val="0"/>
              </a:spcAft>
              <a:defRPr/>
            </a:pPr>
            <a:r>
              <a:rPr kumimoji="1" lang="zh-CN" altLang="en-US" sz="2000">
                <a:solidFill>
                  <a:srgbClr val="006600"/>
                </a:solidFill>
                <a:latin typeface="Times New Roman" panose="02020603050405020304" pitchFamily="18" charset="0"/>
                <a:ea typeface="宋体" panose="02010600030101010101" pitchFamily="2" charset="-122"/>
              </a:rPr>
              <a:t>                  →半自动→全自动</a:t>
            </a:r>
            <a:endParaRPr kumimoji="1" lang="zh-CN" altLang="en-US" sz="2000">
              <a:solidFill>
                <a:srgbClr val="006600"/>
              </a:solidFill>
              <a:latin typeface="Times New Roman" panose="02020603050405020304" pitchFamily="18" charset="0"/>
              <a:ea typeface="宋体" panose="02010600030101010101" pitchFamily="2" charset="-122"/>
            </a:endParaRPr>
          </a:p>
          <a:p>
            <a:pPr algn="just" fontAlgn="base">
              <a:spcBef>
                <a:spcPct val="50000"/>
              </a:spcBef>
              <a:spcAft>
                <a:spcPct val="0"/>
              </a:spcAft>
              <a:defRPr/>
            </a:pPr>
            <a:r>
              <a:rPr kumimoji="1" lang="zh-CN" altLang="en-US" sz="2000">
                <a:solidFill>
                  <a:srgbClr val="0000FF"/>
                </a:solidFill>
                <a:latin typeface="宋体" panose="02010600030101010101" pitchFamily="2" charset="-122"/>
                <a:ea typeface="宋体" panose="02010600030101010101" pitchFamily="2" charset="-122"/>
              </a:rPr>
              <a:t>操作工艺经历了手工操作</a:t>
            </a:r>
            <a:r>
              <a:rPr kumimoji="1" lang="zh-CN" altLang="en-US" sz="2000">
                <a:solidFill>
                  <a:srgbClr val="FF3399"/>
                </a:solidFill>
                <a:latin typeface="宋体" panose="02010600030101010101" pitchFamily="2" charset="-122"/>
                <a:ea typeface="宋体" panose="02010600030101010101" pitchFamily="2" charset="-122"/>
              </a:rPr>
              <a:t>吊镀→半手工操作（机械搅拌，工件吊装机械化）→</a:t>
            </a:r>
            <a:r>
              <a:rPr kumimoji="1" lang="zh-CN" altLang="en-US" sz="2000">
                <a:solidFill>
                  <a:srgbClr val="FF3399"/>
                </a:solidFill>
                <a:latin typeface="Times New Roman" panose="02020603050405020304" pitchFamily="18" charset="0"/>
                <a:ea typeface="宋体" panose="02010600030101010101" pitchFamily="2" charset="-122"/>
              </a:rPr>
              <a:t> </a:t>
            </a:r>
            <a:r>
              <a:rPr kumimoji="1" lang="zh-CN" altLang="en-US" sz="2000">
                <a:solidFill>
                  <a:srgbClr val="FF3399"/>
                </a:solidFill>
                <a:latin typeface="宋体" panose="02010600030101010101" pitchFamily="2" charset="-122"/>
                <a:ea typeface="宋体" panose="02010600030101010101" pitchFamily="2" charset="-122"/>
              </a:rPr>
              <a:t>液压程序控制全自动电镀生产线（分直线型和环型）</a:t>
            </a:r>
            <a:endParaRPr kumimoji="1" lang="zh-CN" altLang="en-US" sz="2000">
              <a:solidFill>
                <a:srgbClr val="FF3399"/>
              </a:solidFill>
              <a:latin typeface="宋体" panose="02010600030101010101" pitchFamily="2" charset="-122"/>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2057400" y="1143000"/>
            <a:ext cx="8001000" cy="3925888"/>
          </a:xfrm>
          <a:prstGeom prst="rect">
            <a:avLst/>
          </a:prstGeom>
          <a:noFill/>
          <a:ln w="9525">
            <a:noFill/>
            <a:miter lim="800000"/>
          </a:ln>
          <a:effectLst/>
        </p:spPr>
        <p:txBody>
          <a:bodyPr>
            <a:spAutoFit/>
          </a:bodyPr>
          <a:lstStyle/>
          <a:p>
            <a:pPr fontAlgn="base">
              <a:lnSpc>
                <a:spcPct val="150000"/>
              </a:lnSpc>
              <a:spcBef>
                <a:spcPct val="0"/>
              </a:spcBef>
              <a:spcAft>
                <a:spcPct val="0"/>
              </a:spcAft>
              <a:defRPr/>
            </a:pPr>
            <a:r>
              <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rPr>
              <a:t>电镀工业的进一步发展</a:t>
            </a:r>
            <a:endPar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p>
            <a:pPr fontAlgn="base">
              <a:lnSpc>
                <a:spcPct val="150000"/>
              </a:lnSpc>
              <a:spcBef>
                <a:spcPct val="0"/>
              </a:spcBef>
              <a:spcAft>
                <a:spcPct val="0"/>
              </a:spcAft>
              <a:defRPr/>
            </a:pPr>
            <a:r>
              <a:rPr kumimoji="1" lang="zh-CN" altLang="en-US" sz="2400">
                <a:solidFill>
                  <a:srgbClr val="006600"/>
                </a:solidFill>
                <a:latin typeface="Times New Roman" panose="02020603050405020304" pitchFamily="18" charset="0"/>
                <a:ea typeface="宋体" panose="02010600030101010101" pitchFamily="2" charset="-122"/>
              </a:rPr>
              <a:t>        </a:t>
            </a:r>
            <a:r>
              <a:rPr kumimoji="1" lang="zh-CN" altLang="en-US" sz="2400" b="1">
                <a:solidFill>
                  <a:srgbClr val="006600"/>
                </a:solidFill>
                <a:latin typeface="Times New Roman" panose="02020603050405020304" pitchFamily="18" charset="0"/>
                <a:ea typeface="宋体" panose="02010600030101010101" pitchFamily="2" charset="-122"/>
              </a:rPr>
              <a:t>随着经济水平提高和机械设备的自动化程度提高，电镀进一步倾向于无污染的清洁生产发展，高精度以及具有特殊功能方向发展。如铝上电镀增加表面硬度和抗腐蚀、带有颜色的装饰性电镀等，并利用近年来发展的高科技手段在加热、除油、干燥等各方面提高电镀的精度和减小污染程度。在技术上不断进一步研究改进。</a:t>
            </a:r>
            <a:endParaRPr kumimoji="1" lang="zh-CN" altLang="en-US" sz="2400" b="1">
              <a:solidFill>
                <a:srgbClr val="006600"/>
              </a:solidFill>
              <a:latin typeface="Times New Roman" panose="02020603050405020304" pitchFamily="18" charset="0"/>
              <a:ea typeface="宋体" panose="02010600030101010101" pitchFamily="2" charset="-122"/>
            </a:endParaRPr>
          </a:p>
        </p:txBody>
      </p:sp>
    </p:spTree>
  </p:cSld>
  <p:clrMapOvr>
    <a:masterClrMapping/>
  </p:clrMapOvr>
  <p:transition>
    <p:zoom/>
    <p:sndAc>
      <p:stSnd>
        <p:snd r:embed="rId1" name="projctor.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2057400" y="1447800"/>
            <a:ext cx="8001000" cy="3925888"/>
          </a:xfrm>
          <a:prstGeom prst="rect">
            <a:avLst/>
          </a:prstGeom>
          <a:noFill/>
          <a:ln w="9525">
            <a:noFill/>
            <a:miter lim="800000"/>
          </a:ln>
          <a:effectLst/>
        </p:spPr>
        <p:txBody>
          <a:bodyPr>
            <a:spAutoFit/>
          </a:bodyPr>
          <a:lstStyle/>
          <a:p>
            <a:pPr fontAlgn="base">
              <a:lnSpc>
                <a:spcPct val="150000"/>
              </a:lnSpc>
              <a:spcBef>
                <a:spcPct val="0"/>
              </a:spcBef>
              <a:spcAft>
                <a:spcPct val="0"/>
              </a:spcAft>
              <a:defRPr/>
            </a:pPr>
            <a:r>
              <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rPr>
              <a:t>目前国内外主要的电镀专业刊物：</a:t>
            </a:r>
            <a:endParaRPr kumimoji="1" lang="zh-CN" altLang="en-US" sz="2400" b="1">
              <a:solidFill>
                <a:srgbClr val="FF0066"/>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p>
            <a:pPr fontAlgn="base">
              <a:lnSpc>
                <a:spcPct val="150000"/>
              </a:lnSpc>
              <a:spcBef>
                <a:spcPct val="0"/>
              </a:spcBef>
              <a:spcAft>
                <a:spcPct val="0"/>
              </a:spcAft>
              <a:defRPr/>
            </a:pPr>
            <a:r>
              <a:rPr kumimoji="1" lang="zh-CN" altLang="en-US" sz="2400" b="1">
                <a:solidFill>
                  <a:srgbClr val="006600"/>
                </a:solidFill>
                <a:latin typeface="Times New Roman" panose="02020603050405020304" pitchFamily="18" charset="0"/>
                <a:ea typeface="宋体" panose="02010600030101010101" pitchFamily="2" charset="-122"/>
              </a:rPr>
              <a:t>      专业刊物有：电镀与环保；电镀与精饰；表面处理等；近年来由于电镀技术也广发应用于各种材料的修饰，复合材料的制备等，因此一些电镀的论文也发表在和相应材料有关的杂志上或相应学科杂志上。如和催化有关的则在催化方面杂志上；和纳米材料有关的则在纳米材料相关杂志上。</a:t>
            </a:r>
            <a:endParaRPr kumimoji="1" lang="zh-CN" altLang="en-US" sz="2400" b="1">
              <a:solidFill>
                <a:srgbClr val="006600"/>
              </a:solidFill>
              <a:latin typeface="Times New Roman" panose="02020603050405020304" pitchFamily="18"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Group 2"/>
          <p:cNvGraphicFramePr>
            <a:graphicFrameLocks noGrp="1"/>
          </p:cNvGraphicFramePr>
          <p:nvPr/>
        </p:nvGraphicFramePr>
        <p:xfrm>
          <a:off x="1981200" y="381001"/>
          <a:ext cx="7924800" cy="5959489"/>
        </p:xfrm>
        <a:graphic>
          <a:graphicData uri="http://schemas.openxmlformats.org/drawingml/2006/table">
            <a:tbl>
              <a:tblPr/>
              <a:tblGrid>
                <a:gridCol w="4568825"/>
                <a:gridCol w="3355975"/>
              </a:tblGrid>
              <a:tr h="518144">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表</a:t>
                      </a:r>
                      <a:r>
                        <a:rPr kumimoji="1" lang="en-US" altLang="zh-CN"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2  </a:t>
                      </a:r>
                      <a:r>
                        <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国内外主要电镀专业杂志</a:t>
                      </a:r>
                      <a:endPar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marT="45714" marB="45714"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cPr/>
                </a:tc>
              </a:tr>
              <a:tr h="482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期刊名称</a:t>
                      </a:r>
                      <a:endPar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714" marB="45714" anchor="ct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主办单位</a:t>
                      </a:r>
                      <a:endPar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62787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电镀与环保</a:t>
                      </a:r>
                      <a:endPar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电镀与精饰</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(CN12-1096/TG)</a:t>
                      </a:r>
                      <a:endPar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上海市轻工业科技情报研究所 </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天津市电镀工程学会</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395227">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电镀与涂饰（月刊</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CN44-1237/TS</a:t>
                      </a: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a:t>
                      </a:r>
                      <a:endPar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广州市二轻工业科学技术研究所</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628552">
                <a:tc>
                  <a:txBody>
                    <a:bodyPr/>
                    <a:lstStyle/>
                    <a:p>
                      <a:pPr marL="0" marR="0" lvl="0" indent="0" algn="l" defTabSz="914400" rtl="0" eaLnBrk="1" fontAlgn="ctr"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腐蚀与防护</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(CN31-1456/TQ</a:t>
                      </a: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r>
                        <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核心</a:t>
                      </a:r>
                      <a:endPar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上海市腐蚀与科学技术学会</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上海材料研究所</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477764">
                <a:tc>
                  <a:txBody>
                    <a:bodyPr/>
                    <a:lstStyle/>
                    <a:p>
                      <a:pPr marL="0" marR="0" lvl="0" indent="0" algn="l" defTabSz="914400" rtl="0" eaLnBrk="1" fontAlgn="ctr"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腐蚀科学与防护技术                      </a:t>
                      </a:r>
                      <a:r>
                        <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核心</a:t>
                      </a:r>
                      <a:endPar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中国科学院金属研究所</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627871">
                <a:tc>
                  <a:txBody>
                    <a:bodyPr/>
                    <a:lstStyle/>
                    <a:p>
                      <a:pPr marL="0" marR="0" lvl="0" indent="0" algn="l" defTabSz="914400" rtl="0" eaLnBrk="1" fontAlgn="ctr"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中国腐蚀与防护学报           </a:t>
                      </a:r>
                      <a:r>
                        <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核心</a:t>
                      </a:r>
                      <a:endPar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中国腐蚀与</a:t>
                      </a:r>
                      <a:r>
                        <a:rPr kumimoji="1" lang="zh-CN" altLang="en-US" sz="1600" b="0" i="0" u="none" strike="noStrike" cap="none" normalizeH="0" baseline="0">
                          <a:ln>
                            <a:noFill/>
                          </a:ln>
                          <a:solidFill>
                            <a:schemeClr val="accent2"/>
                          </a:solidFill>
                          <a:effectLst/>
                          <a:latin typeface="宋体" panose="02010600030101010101" pitchFamily="2" charset="-122"/>
                          <a:ea typeface="宋体" panose="02010600030101010101" pitchFamily="2" charset="-122"/>
                        </a:rPr>
                        <a:t>防护</a:t>
                      </a: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学会</a:t>
                      </a:r>
                      <a:endPar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中国科学院金属研究所</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41586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材料保护（月刊 </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CN42-1215/TB</a:t>
                      </a: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a:t>
                      </a:r>
                      <a:r>
                        <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核心</a:t>
                      </a:r>
                      <a:endParaRPr kumimoji="1" lang="zh-CN" altLang="en-US"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武汉材料保护研究所</a:t>
                      </a:r>
                      <a:r>
                        <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 </a:t>
                      </a:r>
                      <a:endParaRPr kumimoji="1" lang="zh-CN" altLang="en-US"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50950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PLATING AND SURFACE FINISHING</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0000FF"/>
                          </a:solidFill>
                          <a:effectLst/>
                          <a:latin typeface="宋体" panose="02010600030101010101" pitchFamily="2" charset="-122"/>
                          <a:ea typeface="宋体" panose="02010600030101010101" pitchFamily="2" charset="-122"/>
                        </a:rPr>
                        <a:t>SCI</a:t>
                      </a: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 </a:t>
                      </a:r>
                      <a:r>
                        <a:rPr kumimoji="1" lang="en-US" altLang="zh-CN" sz="1600" b="0" i="0" u="none" strike="noStrike" cap="none" normalizeH="0" baseline="0">
                          <a:ln>
                            <a:noFill/>
                          </a:ln>
                          <a:solidFill>
                            <a:srgbClr val="FF0066"/>
                          </a:solidFill>
                          <a:effectLst/>
                          <a:latin typeface="宋体" panose="02010600030101010101" pitchFamily="2" charset="-122"/>
                          <a:ea typeface="宋体" panose="02010600030101010101" pitchFamily="2" charset="-122"/>
                        </a:rPr>
                        <a:t>0.189</a:t>
                      </a: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 </a:t>
                      </a: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美国电镀工程协会</a:t>
                      </a: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44760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APPLIED SURFACE SCIENCE</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0000FF"/>
                          </a:solidFill>
                          <a:effectLst/>
                          <a:latin typeface="宋体" panose="02010600030101010101" pitchFamily="2" charset="-122"/>
                          <a:ea typeface="宋体" panose="02010600030101010101" pitchFamily="2" charset="-122"/>
                        </a:rPr>
                        <a:t>SCI</a:t>
                      </a: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 </a:t>
                      </a:r>
                      <a:r>
                        <a:rPr kumimoji="1" lang="en-US" altLang="zh-CN" sz="1600" b="0" i="0" u="none" strike="noStrike" cap="none" normalizeH="0" baseline="0">
                          <a:ln>
                            <a:noFill/>
                          </a:ln>
                          <a:solidFill>
                            <a:srgbClr val="FF0066"/>
                          </a:solidFill>
                          <a:effectLst/>
                          <a:latin typeface="宋体" panose="02010600030101010101" pitchFamily="2" charset="-122"/>
                          <a:ea typeface="宋体" panose="02010600030101010101" pitchFamily="2" charset="-122"/>
                        </a:rPr>
                        <a:t>1.222</a:t>
                      </a: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 </a:t>
                      </a:r>
                      <a:r>
                        <a:rPr kumimoji="1" lang="zh-CN" altLang="en-US" sz="1600" b="0" i="0" u="none" strike="noStrike" cap="none" normalizeH="0" baseline="0">
                          <a:ln>
                            <a:noFill/>
                          </a:ln>
                          <a:solidFill>
                            <a:srgbClr val="0033CC"/>
                          </a:solidFill>
                          <a:effectLst/>
                          <a:latin typeface="宋体" panose="02010600030101010101" pitchFamily="2" charset="-122"/>
                          <a:ea typeface="宋体" panose="02010600030101010101" pitchFamily="2" charset="-122"/>
                        </a:rPr>
                        <a:t>国际表面科学学会</a:t>
                      </a:r>
                      <a:r>
                        <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zh-CN" altLang="en-US"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43173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SURFACE &amp; COATINGS TECHNOLOGY</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SCI</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r>
                        <a:rPr kumimoji="1"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1.236</a:t>
                      </a:r>
                      <a:endParaRPr kumimoji="1"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a:noFill/>
                    </a:lnB>
                    <a:lnTlToBr>
                      <a:noFill/>
                    </a:lnTlToBr>
                    <a:lnBlToTr>
                      <a:noFill/>
                    </a:lnBlToTr>
                    <a:noFill/>
                  </a:tcPr>
                </a:tc>
              </a:tr>
              <a:tr h="3968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SURFACE SCIENCE REPORTS</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endPar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SCI</a:t>
                      </a:r>
                      <a:r>
                        <a:rPr kumimoji="1" lang="en-US"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 </a:t>
                      </a:r>
                      <a:r>
                        <a:rPr kumimoji="1"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14.952</a:t>
                      </a:r>
                      <a:endParaRPr kumimoji="1"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14" marB="45714"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sndAc>
      <p:stSnd>
        <p:snd r:embed="rId1" name="projctor.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9858" name="Group 2"/>
          <p:cNvGraphicFramePr>
            <a:graphicFrameLocks noGrp="1"/>
          </p:cNvGraphicFramePr>
          <p:nvPr>
            <p:ph sz="half" idx="2"/>
          </p:nvPr>
        </p:nvGraphicFramePr>
        <p:xfrm>
          <a:off x="1992313" y="333376"/>
          <a:ext cx="8064500" cy="6049963"/>
        </p:xfrm>
        <a:graphic>
          <a:graphicData uri="http://schemas.openxmlformats.org/drawingml/2006/table">
            <a:tbl>
              <a:tblPr/>
              <a:tblGrid>
                <a:gridCol w="4649787"/>
                <a:gridCol w="3414713"/>
              </a:tblGrid>
              <a:tr h="5922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表</a:t>
                      </a:r>
                      <a:r>
                        <a:rPr kumimoji="1" lang="en-US" altLang="zh-CN"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2  </a:t>
                      </a:r>
                      <a:r>
                        <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国内外主要电镀专业杂志</a:t>
                      </a:r>
                      <a:endParaRPr kumimoji="1" lang="zh-CN" altLang="en-US" sz="20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marT="45725" marB="45725"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cPr/>
                </a:tc>
              </a:tr>
              <a:tr h="4524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期刊名称</a:t>
                      </a:r>
                      <a:endPar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725" marB="45725" anchor="ct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主办单位</a:t>
                      </a:r>
                      <a:endParaRPr kumimoji="1" lang="zh-CN" altLang="en-US" sz="20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5725" marB="45725" anchor="ct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7192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rPr>
                        <a:t>Electrodeposition and Surface Treatment</a:t>
                      </a:r>
                      <a:endParaRPr kumimoji="1" lang="en-US" altLang="zh-CN" sz="1800" b="1" i="0" u="none" strike="noStrike" cap="none" normalizeH="0" baseline="0">
                        <a:ln>
                          <a:noFill/>
                        </a:ln>
                        <a:solidFill>
                          <a:srgbClr val="66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0000FF"/>
                          </a:solidFill>
                          <a:effectLst/>
                          <a:latin typeface="宋体" panose="02010600030101010101" pitchFamily="2" charset="-122"/>
                          <a:ea typeface="宋体" panose="02010600030101010101" pitchFamily="2" charset="-122"/>
                        </a:rPr>
                        <a:t>SCI</a:t>
                      </a:r>
                      <a:r>
                        <a:rPr kumimoji="1" lang="en-US" altLang="zh-CN" sz="1600" b="0" i="0" u="none" strike="noStrike" cap="none" normalizeH="0" baseline="0">
                          <a:ln>
                            <a:noFill/>
                          </a:ln>
                          <a:solidFill>
                            <a:srgbClr val="800080"/>
                          </a:solidFill>
                          <a:effectLst/>
                          <a:latin typeface="宋体" panose="02010600030101010101" pitchFamily="2" charset="-122"/>
                          <a:ea typeface="宋体" panose="02010600030101010101" pitchFamily="2" charset="-122"/>
                        </a:rPr>
                        <a:t> </a:t>
                      </a:r>
                      <a:endParaRPr kumimoji="1" lang="en-US" altLang="zh-CN" sz="1600" b="0" i="0" u="none" strike="noStrike" cap="none" normalizeH="0" baseline="0">
                        <a:ln>
                          <a:noFill/>
                        </a:ln>
                        <a:solidFill>
                          <a:srgbClr val="0033CC"/>
                        </a:solidFill>
                        <a:effectLst/>
                        <a:latin typeface="宋体" panose="02010600030101010101" pitchFamily="2" charset="-122"/>
                        <a:ea typeface="宋体" panose="02010600030101010101" pitchFamily="2" charset="-122"/>
                      </a:endParaRPr>
                    </a:p>
                  </a:txBody>
                  <a:tcPr marT="45725" marB="45725"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tr>
              <a:tr h="38262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719213">
                <a:tc>
                  <a:txBody>
                    <a:bodyPr/>
                    <a:lstStyle/>
                    <a:p>
                      <a:pPr marL="0" marR="0" lvl="0" indent="0" algn="l" defTabSz="914400" rtl="0" eaLnBrk="1" fontAlgn="ctr"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384215">
                <a:tc>
                  <a:txBody>
                    <a:bodyPr/>
                    <a:lstStyle/>
                    <a:p>
                      <a:pPr marL="0" marR="0" lvl="0" indent="0" algn="l" defTabSz="914400" rtl="0" eaLnBrk="1" fontAlgn="ctr"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719213">
                <a:tc>
                  <a:txBody>
                    <a:bodyPr/>
                    <a:lstStyle/>
                    <a:p>
                      <a:pPr marL="0" marR="0" lvl="0" indent="0" algn="l" defTabSz="914400" rtl="0" eaLnBrk="1" fontAlgn="ctr"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38262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548697">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1800" b="0" i="0" u="none" strike="noStrike" cap="none" normalizeH="0" baseline="0">
                        <a:ln>
                          <a:noFill/>
                        </a:ln>
                        <a:solidFill>
                          <a:srgbClr val="660066"/>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1000" b="0" i="0" u="none" strike="noStrike" cap="none" normalizeH="0" baseline="0">
                        <a:ln>
                          <a:noFill/>
                        </a:ln>
                        <a:solidFill>
                          <a:srgbClr val="660066"/>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38262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38421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a:noFill/>
                    </a:lnB>
                    <a:lnTlToBr>
                      <a:noFill/>
                    </a:lnTlToBr>
                    <a:lnBlToTr>
                      <a:noFill/>
                    </a:lnBlToTr>
                    <a:noFill/>
                  </a:tcPr>
                </a:tc>
              </a:tr>
              <a:tr h="38262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5725" marB="45725"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marT="45725" marB="45725"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C0257897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3750" y="908050"/>
            <a:ext cx="3835400"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747" name="Picture 3" descr="C037645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36613"/>
            <a:ext cx="3373438"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descr="C0169433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3750" y="765176"/>
            <a:ext cx="372745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771" name="Picture 3" descr="C016757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564" y="692150"/>
            <a:ext cx="375602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C003960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8213" y="692150"/>
            <a:ext cx="39433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5" name="Picture 3" descr="7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463" y="692150"/>
            <a:ext cx="3897312"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3954" name="Group 2"/>
          <p:cNvGraphicFramePr>
            <a:graphicFrameLocks noGrp="1"/>
          </p:cNvGraphicFramePr>
          <p:nvPr/>
        </p:nvGraphicFramePr>
        <p:xfrm>
          <a:off x="1828800" y="762000"/>
          <a:ext cx="8458200" cy="5338764"/>
        </p:xfrm>
        <a:graphic>
          <a:graphicData uri="http://schemas.openxmlformats.org/drawingml/2006/table">
            <a:tbl>
              <a:tblPr/>
              <a:tblGrid>
                <a:gridCol w="4191000"/>
                <a:gridCol w="4267200"/>
              </a:tblGrid>
              <a:tr h="535075">
                <a:tc grid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9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zh-CN" altLang="en-US" sz="24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表</a:t>
                      </a:r>
                      <a:r>
                        <a:rPr kumimoji="1" lang="en-US" altLang="zh-CN" sz="24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3  </a:t>
                      </a:r>
                      <a:r>
                        <a:rPr kumimoji="1" lang="zh-CN" altLang="en-US" sz="24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与电镀相关的一些专著</a:t>
                      </a:r>
                      <a:endParaRPr kumimoji="1" lang="zh-CN" altLang="en-US" sz="2400" b="1" i="0" u="none" strike="noStrike" cap="none" normalizeH="0" baseline="0">
                        <a:ln>
                          <a:noFill/>
                        </a:ln>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marT="46543" marB="46543"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cPr/>
                </a:tc>
              </a:tr>
              <a:tr h="46543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  </a:t>
                      </a:r>
                      <a:r>
                        <a:rPr kumimoji="1" lang="zh-CN" altLang="en-US"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专著名称</a:t>
                      </a:r>
                      <a:endParaRPr kumimoji="1" lang="zh-CN" altLang="en-US"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      </a:t>
                      </a:r>
                      <a:r>
                        <a:rPr kumimoji="1" lang="zh-CN" altLang="en-US"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rPr>
                        <a:t>说    明</a:t>
                      </a:r>
                      <a:endParaRPr kumimoji="1" lang="zh-CN" altLang="en-US" sz="2400" b="0" i="0" u="none" strike="noStrike" cap="none" normalizeH="0" baseline="0">
                        <a:ln>
                          <a:noFill/>
                        </a:ln>
                        <a:solidFill>
                          <a:srgbClr val="006600"/>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731242">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电镀工艺学（王鸿建）</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solidFill>
                      <a:srgbClr val="FFFFED"/>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该书出版年代较早，但电镀基本理论叙述较详细</a:t>
                      </a:r>
                      <a:endPar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solidFill>
                      <a:srgbClr val="FFFFED"/>
                    </a:solidFill>
                  </a:tcPr>
                </a:tc>
              </a:tr>
              <a:tr h="551082">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电镀工程（张胜涛）</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a:noFill/>
                    </a:lnT>
                    <a:lnB>
                      <a:noFill/>
                    </a:lnB>
                    <a:lnTlToBr>
                      <a:noFill/>
                    </a:lnTlToBr>
                    <a:lnBlToTr>
                      <a:noFill/>
                    </a:lnBlToTr>
                    <a:solidFill>
                      <a:srgbClr val="FFF7FF"/>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该书收集了大量新工艺</a:t>
                      </a:r>
                      <a:endPar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a:noFill/>
                    </a:lnT>
                    <a:lnB>
                      <a:noFill/>
                    </a:lnB>
                    <a:lnTlToBr>
                      <a:noFill/>
                    </a:lnTlToBr>
                    <a:lnBlToTr>
                      <a:noFill/>
                    </a:lnBlToTr>
                    <a:solidFill>
                      <a:srgbClr val="FFF7FF"/>
                    </a:solidFill>
                  </a:tcPr>
                </a:tc>
              </a:tr>
              <a:tr h="731242">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现代实用电镀技术（陈亚）</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a:noFill/>
                    </a:lnT>
                    <a:lnB>
                      <a:noFill/>
                    </a:lnB>
                    <a:lnTlToBr>
                      <a:noFill/>
                    </a:lnTlToBr>
                    <a:lnBlToTr>
                      <a:noFill/>
                    </a:lnBlToTr>
                    <a:solidFill>
                      <a:srgbClr val="FFFFED"/>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该书收集了大量新工艺，并有部分新理论</a:t>
                      </a:r>
                      <a:endPar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a:noFill/>
                    </a:lnT>
                    <a:lnB>
                      <a:noFill/>
                    </a:lnB>
                    <a:lnTlToBr>
                      <a:noFill/>
                    </a:lnTlToBr>
                    <a:lnBlToTr>
                      <a:noFill/>
                    </a:lnBlToTr>
                    <a:solidFill>
                      <a:srgbClr val="FFFFED"/>
                    </a:solidFill>
                  </a:tcPr>
                </a:tc>
              </a:tr>
              <a:tr h="817735">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理论电化学（郭鹤同）</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a:noFill/>
                    </a:lnT>
                    <a:lnB>
                      <a:noFill/>
                    </a:lnB>
                    <a:lnTlToBr>
                      <a:noFill/>
                    </a:lnTlToBr>
                    <a:lnBlToTr>
                      <a:noFill/>
                    </a:lnBlToTr>
                    <a:solidFill>
                      <a:srgbClr val="FFF7FF"/>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电镀理论的来源，最基本的理论如浓差极化，阴极过程等</a:t>
                      </a:r>
                      <a:endPar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a:noFill/>
                    </a:lnT>
                    <a:lnB>
                      <a:noFill/>
                    </a:lnB>
                    <a:lnTlToBr>
                      <a:noFill/>
                    </a:lnTlToBr>
                    <a:lnBlToTr>
                      <a:noFill/>
                    </a:lnBlToTr>
                    <a:solidFill>
                      <a:srgbClr val="FFF7FF"/>
                    </a:solidFill>
                  </a:tcPr>
                </a:tc>
              </a:tr>
              <a:tr h="731242">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电镀工艺与理论（黄子勋）</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a:noFill/>
                    </a:lnT>
                    <a:lnB>
                      <a:noFill/>
                    </a:lnB>
                    <a:lnTlToBr>
                      <a:noFill/>
                    </a:lnTlToBr>
                    <a:lnBlToTr>
                      <a:noFill/>
                    </a:lnBlToTr>
                    <a:solidFill>
                      <a:srgbClr val="FFFFED"/>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rgbClr val="0033CC"/>
                          </a:solidFill>
                          <a:effectLst/>
                          <a:latin typeface="Times New Roman" panose="02020603050405020304" pitchFamily="18" charset="0"/>
                          <a:ea typeface="宋体" panose="02010600030101010101" pitchFamily="2" charset="-122"/>
                        </a:rPr>
                        <a:t>该书出版年代较早，但电镀基本理论叙述较详细</a:t>
                      </a:r>
                      <a:endParaRPr kumimoji="1" lang="zh-CN" altLang="en-US" sz="2400" b="0" i="0" u="none" strike="noStrike" cap="none" normalizeH="0" baseline="0">
                        <a:ln>
                          <a:noFill/>
                        </a:ln>
                        <a:solidFill>
                          <a:srgbClr val="0033CC"/>
                        </a:solidFill>
                        <a:effectLst>
                          <a:outerShdw blurRad="38100" dist="38100" dir="2700000" algn="tl">
                            <a:srgbClr val="000000"/>
                          </a:outerShdw>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a:noFill/>
                    </a:lnT>
                    <a:lnB>
                      <a:noFill/>
                    </a:lnB>
                    <a:lnTlToBr>
                      <a:noFill/>
                    </a:lnTlToBr>
                    <a:lnBlToTr>
                      <a:noFill/>
                    </a:lnBlToTr>
                    <a:solidFill>
                      <a:srgbClr val="FFFFED"/>
                    </a:solidFill>
                  </a:tcPr>
                </a:tc>
              </a:tr>
              <a:tr h="775716">
                <a:tc>
                  <a:txBody>
                    <a:bodyPr/>
                    <a:lstStyle/>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电化学方法原理和应用</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p>
                      <a:pPr marL="0" marR="0" lvl="0" indent="0" algn="just"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（美  阿伦</a:t>
                      </a:r>
                      <a:r>
                        <a:rPr kumimoji="1" lang="en-US" altLang="zh-CN"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.J.</a:t>
                      </a:r>
                      <a:r>
                        <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rPr>
                        <a:t>巴德等）</a:t>
                      </a:r>
                      <a:endParaRPr kumimoji="1" lang="zh-CN" altLang="en-US" sz="2000" b="0" i="0" u="none" strike="noStrike" cap="none" normalizeH="0" baseline="0">
                        <a:ln>
                          <a:noFill/>
                        </a:ln>
                        <a:solidFill>
                          <a:srgbClr val="800080"/>
                        </a:solidFill>
                        <a:effectLst/>
                        <a:latin typeface="Times New Roman" panose="02020603050405020304" pitchFamily="18" charset="0"/>
                        <a:ea typeface="宋体" panose="02010600030101010101" pitchFamily="2" charset="-122"/>
                      </a:endParaRPr>
                    </a:p>
                  </a:txBody>
                  <a:tcPr marT="46543" marB="46543" anchor="ct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FFF7FF"/>
                    </a:solidFill>
                  </a:tcPr>
                </a:tc>
                <a:tc>
                  <a:txBody>
                    <a:body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1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该书详细介绍了电化学方法及应用，部分内容与电镀技术紧密结合</a:t>
                      </a:r>
                      <a:endParaRPr kumimoji="1" lang="zh-CN" altLang="en-US" sz="1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T="46543" marB="46543" anchor="ct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solidFill>
                      <a:srgbClr val="FFF7FF"/>
                    </a:solidFill>
                  </a:tcPr>
                </a:tc>
              </a:tr>
            </a:tbl>
          </a:graphicData>
        </a:graphic>
      </p:graphicFrame>
    </p:spTree>
  </p:cSld>
  <p:clrMapOvr>
    <a:masterClrMapping/>
  </p:clrMapOvr>
  <p:transition>
    <p:zoom/>
    <p:sndAc>
      <p:stSnd>
        <p:snd r:embed="rId1" name="projctor.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2057400" y="457200"/>
            <a:ext cx="2819400" cy="579438"/>
          </a:xfrm>
          <a:prstGeom prst="rect">
            <a:avLst/>
          </a:prstGeom>
          <a:noFill/>
          <a:ln w="9525">
            <a:noFill/>
            <a:miter lim="800000"/>
          </a:ln>
          <a:effectLst/>
        </p:spPr>
        <p:txBody>
          <a:bodyPr>
            <a:spAutoFit/>
          </a:bodyPr>
          <a:lstStyle/>
          <a:p>
            <a:pPr fontAlgn="base">
              <a:spcBef>
                <a:spcPct val="50000"/>
              </a:spcBef>
              <a:spcAft>
                <a:spcPct val="0"/>
              </a:spcAft>
              <a:defRPr/>
            </a:pPr>
            <a:r>
              <a:rPr kumimoji="1" lang="zh-CN" altLang="en-US" sz="32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作业</a:t>
            </a:r>
            <a:endParaRPr kumimoji="1" lang="zh-CN" altLang="en-US" sz="3200" b="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63843" name="Text Box 3"/>
          <p:cNvSpPr txBox="1">
            <a:spLocks noChangeArrowheads="1"/>
          </p:cNvSpPr>
          <p:nvPr/>
        </p:nvSpPr>
        <p:spPr bwMode="auto">
          <a:xfrm>
            <a:off x="2286000" y="1371601"/>
            <a:ext cx="716280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lnSpc>
                <a:spcPct val="150000"/>
              </a:lnSpc>
              <a:spcBef>
                <a:spcPct val="0"/>
              </a:spcBef>
              <a:spcAft>
                <a:spcPct val="0"/>
              </a:spcAft>
              <a:buNone/>
            </a:pPr>
            <a:r>
              <a:rPr lang="en-US" altLang="zh-CN" sz="2800" b="1">
                <a:solidFill>
                  <a:srgbClr val="000000"/>
                </a:solidFill>
                <a:latin typeface="宋体" panose="02010600030101010101" pitchFamily="2" charset="-122"/>
              </a:rPr>
              <a:t>1. </a:t>
            </a:r>
            <a:r>
              <a:rPr lang="zh-CN" altLang="en-US" sz="2800" b="1">
                <a:solidFill>
                  <a:srgbClr val="000000"/>
                </a:solidFill>
                <a:latin typeface="宋体" panose="02010600030101010101" pitchFamily="2" charset="-122"/>
              </a:rPr>
              <a:t>电镀的定义是什么？</a:t>
            </a:r>
            <a:endParaRPr lang="zh-CN" altLang="en-US" sz="2800" b="1">
              <a:solidFill>
                <a:srgbClr val="000000"/>
              </a:solidFill>
              <a:latin typeface="宋体" panose="02010600030101010101" pitchFamily="2" charset="-122"/>
            </a:endParaRPr>
          </a:p>
          <a:p>
            <a:pPr fontAlgn="base">
              <a:lnSpc>
                <a:spcPct val="150000"/>
              </a:lnSpc>
              <a:spcBef>
                <a:spcPct val="0"/>
              </a:spcBef>
              <a:spcAft>
                <a:spcPct val="0"/>
              </a:spcAft>
              <a:buNone/>
            </a:pPr>
            <a:r>
              <a:rPr lang="en-US" altLang="zh-CN" sz="2800" b="1">
                <a:solidFill>
                  <a:srgbClr val="000000"/>
                </a:solidFill>
                <a:latin typeface="宋体" panose="02010600030101010101" pitchFamily="2" charset="-122"/>
              </a:rPr>
              <a:t>2. </a:t>
            </a:r>
            <a:r>
              <a:rPr lang="zh-CN" altLang="en-US" sz="2800" b="1">
                <a:solidFill>
                  <a:srgbClr val="000000"/>
                </a:solidFill>
                <a:latin typeface="宋体" panose="02010600030101010101" pitchFamily="2" charset="-122"/>
              </a:rPr>
              <a:t>影响镀层的质量因素主要有哪些？电镀工艺主要影响因数有哪些？</a:t>
            </a:r>
            <a:endParaRPr lang="zh-CN" altLang="en-US" sz="2800" b="1">
              <a:solidFill>
                <a:srgbClr val="000000"/>
              </a:solidFill>
              <a:latin typeface="宋体" panose="02010600030101010101" pitchFamily="2" charset="-122"/>
            </a:endParaRPr>
          </a:p>
        </p:txBody>
      </p:sp>
      <p:sp>
        <p:nvSpPr>
          <p:cNvPr id="164866" name="矩形 1"/>
          <p:cNvSpPr>
            <a:spLocks noChangeArrowheads="1"/>
          </p:cNvSpPr>
          <p:nvPr/>
        </p:nvSpPr>
        <p:spPr bwMode="auto">
          <a:xfrm>
            <a:off x="2266950" y="3470275"/>
            <a:ext cx="72009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3. </a:t>
            </a:r>
            <a:r>
              <a:rPr lang="zh-CN" altLang="en-US" sz="2800">
                <a:solidFill>
                  <a:srgbClr val="000000"/>
                </a:solidFill>
              </a:rPr>
              <a:t>镀镍时，通过</a:t>
            </a:r>
            <a:r>
              <a:rPr lang="en-US" altLang="zh-CN" sz="2800">
                <a:solidFill>
                  <a:srgbClr val="000000"/>
                </a:solidFill>
              </a:rPr>
              <a:t>2.5A</a:t>
            </a:r>
            <a:r>
              <a:rPr lang="zh-CN" altLang="en-US" sz="2800">
                <a:solidFill>
                  <a:srgbClr val="000000"/>
                </a:solidFill>
              </a:rPr>
              <a:t>电流</a:t>
            </a:r>
            <a:r>
              <a:rPr lang="en-US" altLang="zh-CN" sz="2800">
                <a:solidFill>
                  <a:srgbClr val="000000"/>
                </a:solidFill>
              </a:rPr>
              <a:t>1h</a:t>
            </a:r>
            <a:r>
              <a:rPr lang="zh-CN" altLang="en-US" sz="2800">
                <a:solidFill>
                  <a:srgbClr val="000000"/>
                </a:solidFill>
              </a:rPr>
              <a:t>，电极增重</a:t>
            </a:r>
            <a:r>
              <a:rPr lang="en-US" altLang="zh-CN" sz="2800">
                <a:solidFill>
                  <a:srgbClr val="000000"/>
                </a:solidFill>
              </a:rPr>
              <a:t>2.55g</a:t>
            </a:r>
            <a:r>
              <a:rPr lang="zh-CN" altLang="en-US" sz="2800">
                <a:solidFill>
                  <a:srgbClr val="000000"/>
                </a:solidFill>
              </a:rPr>
              <a:t>，计算电流效率。</a:t>
            </a:r>
            <a:endParaRPr lang="zh-CN" altLang="en-US" sz="2800">
              <a:solidFill>
                <a:srgbClr val="000000"/>
              </a:solidFill>
            </a:endParaRPr>
          </a:p>
        </p:txBody>
      </p:sp>
      <p:sp>
        <p:nvSpPr>
          <p:cNvPr id="164867" name="矩形 2"/>
          <p:cNvSpPr>
            <a:spLocks noChangeArrowheads="1"/>
          </p:cNvSpPr>
          <p:nvPr/>
        </p:nvSpPr>
        <p:spPr bwMode="auto">
          <a:xfrm>
            <a:off x="2266633" y="4731703"/>
            <a:ext cx="7594600"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a:solidFill>
                  <a:srgbClr val="000000"/>
                </a:solidFill>
              </a:rPr>
              <a:t>4. </a:t>
            </a:r>
            <a:r>
              <a:rPr lang="zh-CN" altLang="en-US" sz="2800">
                <a:solidFill>
                  <a:srgbClr val="000000"/>
                </a:solidFill>
              </a:rPr>
              <a:t>在含有</a:t>
            </a:r>
            <a:r>
              <a:rPr lang="en-US" altLang="zh-CN" sz="2800">
                <a:solidFill>
                  <a:srgbClr val="000000"/>
                </a:solidFill>
              </a:rPr>
              <a:t>NiSO</a:t>
            </a:r>
            <a:r>
              <a:rPr lang="en-US" altLang="zh-CN" sz="2800" baseline="-25000">
                <a:solidFill>
                  <a:srgbClr val="000000"/>
                </a:solidFill>
              </a:rPr>
              <a:t>4</a:t>
            </a:r>
            <a:r>
              <a:rPr lang="zh-CN" altLang="en-US" sz="2800">
                <a:solidFill>
                  <a:srgbClr val="000000"/>
                </a:solidFill>
              </a:rPr>
              <a:t>的溶液中进行电镀，被镀物件总表面积为</a:t>
            </a:r>
            <a:r>
              <a:rPr lang="en-US" altLang="zh-CN" sz="2800">
                <a:solidFill>
                  <a:srgbClr val="000000"/>
                </a:solidFill>
              </a:rPr>
              <a:t>100cm</a:t>
            </a:r>
            <a:r>
              <a:rPr lang="en-US" altLang="zh-CN" sz="2800" baseline="30000">
                <a:solidFill>
                  <a:srgbClr val="000000"/>
                </a:solidFill>
              </a:rPr>
              <a:t>2</a:t>
            </a:r>
            <a:r>
              <a:rPr lang="zh-CN" altLang="en-US" sz="2800">
                <a:solidFill>
                  <a:srgbClr val="000000"/>
                </a:solidFill>
              </a:rPr>
              <a:t>通过电流为</a:t>
            </a:r>
            <a:r>
              <a:rPr lang="en-US" altLang="zh-CN" sz="2800">
                <a:solidFill>
                  <a:srgbClr val="000000"/>
                </a:solidFill>
              </a:rPr>
              <a:t>3A</a:t>
            </a:r>
            <a:r>
              <a:rPr lang="zh-CN" altLang="en-US" sz="2800">
                <a:solidFill>
                  <a:srgbClr val="000000"/>
                </a:solidFill>
              </a:rPr>
              <a:t>，试问，镀上</a:t>
            </a:r>
            <a:r>
              <a:rPr lang="en-US" altLang="zh-CN" sz="2800">
                <a:solidFill>
                  <a:srgbClr val="000000"/>
                </a:solidFill>
              </a:rPr>
              <a:t>0.3mm</a:t>
            </a:r>
            <a:r>
              <a:rPr lang="zh-CN" altLang="en-US" sz="2800">
                <a:solidFill>
                  <a:srgbClr val="000000"/>
                </a:solidFill>
              </a:rPr>
              <a:t>的镀层需要多少时间？已知电流效率为</a:t>
            </a:r>
            <a:r>
              <a:rPr lang="en-US" altLang="zh-CN" sz="2800">
                <a:solidFill>
                  <a:srgbClr val="000000"/>
                </a:solidFill>
              </a:rPr>
              <a:t>90%</a:t>
            </a:r>
            <a:r>
              <a:rPr lang="zh-CN" altLang="en-US" sz="2800">
                <a:solidFill>
                  <a:srgbClr val="000000"/>
                </a:solidFill>
              </a:rPr>
              <a:t>，</a:t>
            </a:r>
            <a:r>
              <a:rPr lang="en-US" altLang="zh-CN" sz="2800">
                <a:solidFill>
                  <a:srgbClr val="000000"/>
                </a:solidFill>
              </a:rPr>
              <a:t>Ni</a:t>
            </a:r>
            <a:r>
              <a:rPr lang="zh-CN" altLang="en-US" sz="2800">
                <a:solidFill>
                  <a:srgbClr val="000000"/>
                </a:solidFill>
              </a:rPr>
              <a:t>的密度为</a:t>
            </a:r>
            <a:r>
              <a:rPr lang="en-US" altLang="zh-CN" sz="2800">
                <a:solidFill>
                  <a:srgbClr val="000000"/>
                </a:solidFill>
              </a:rPr>
              <a:t>8.9g/cm</a:t>
            </a:r>
            <a:r>
              <a:rPr lang="en-US" altLang="zh-CN" sz="2800" baseline="30000">
                <a:solidFill>
                  <a:srgbClr val="000000"/>
                </a:solidFill>
              </a:rPr>
              <a:t>3.</a:t>
            </a:r>
            <a:endParaRPr lang="en-US" altLang="zh-CN" sz="2800" baseline="30000">
              <a:solidFill>
                <a:srgbClr val="000000"/>
              </a:solidFill>
            </a:endParaRPr>
          </a:p>
        </p:txBody>
      </p:sp>
    </p:spTree>
  </p:cSld>
  <p:clrMapOvr>
    <a:masterClrMapping/>
  </p:clrMapOvr>
  <p:transition>
    <p:zoom/>
    <p:sndAc>
      <p:stSnd>
        <p:snd r:embed="rId1" name="projctor.wav"/>
      </p:stSnd>
    </p:sndAc>
  </p:transition>
</p:sld>
</file>

<file path=ppt/tags/tag1.xml><?xml version="1.0" encoding="utf-8"?>
<p:tagLst xmlns:p="http://schemas.openxmlformats.org/presentationml/2006/main">
  <p:tag name="KSO_WPP_MARK_KEY" val="b3918dc5-64d3-4a7d-ab69-b8108d0d66cf"/>
  <p:tag name="COMMONDATA" val="eyJoZGlkIjoiODIyZGQ3MzI3NDI1MDU1N2YyZWRhMDJkZThkMjhm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4984</Words>
  <Application>WPS 演示</Application>
  <PresentationFormat>宽屏</PresentationFormat>
  <Paragraphs>256</Paragraphs>
  <Slides>70</Slides>
  <Notes>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70</vt:i4>
      </vt:variant>
    </vt:vector>
  </HeadingPairs>
  <TitlesOfParts>
    <vt:vector size="86" baseType="lpstr">
      <vt:lpstr>Arial</vt:lpstr>
      <vt:lpstr>宋体</vt:lpstr>
      <vt:lpstr>Wingdings</vt:lpstr>
      <vt:lpstr>Times New Roman</vt:lpstr>
      <vt:lpstr>楷体_GB2312</vt:lpstr>
      <vt:lpstr>新宋体</vt:lpstr>
      <vt:lpstr>Arial Unicode MS</vt:lpstr>
      <vt:lpstr>Symbol</vt:lpstr>
      <vt:lpstr>微软雅黑</vt:lpstr>
      <vt:lpstr>Arial Unicode MS</vt:lpstr>
      <vt:lpstr>等线</vt:lpstr>
      <vt:lpstr>AdvTT5843c571</vt:lpstr>
      <vt:lpstr>Segoe Print</vt:lpstr>
      <vt:lpstr>AdvPSTim</vt:lpstr>
      <vt:lpstr>Office 主题​​</vt:lpstr>
      <vt:lpstr>默认设计模板</vt:lpstr>
      <vt:lpstr>4.3.1   金属阳极氧化原理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4.3   金属阳极氧化原理</dc:title>
  <dc:creator>yj</dc:creator>
  <cp:lastModifiedBy>无际</cp:lastModifiedBy>
  <cp:revision>13</cp:revision>
  <dcterms:created xsi:type="dcterms:W3CDTF">2020-02-11T09:19:00Z</dcterms:created>
  <dcterms:modified xsi:type="dcterms:W3CDTF">2025-11-14T00:50:27Z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CC525CE64D3742DAB1ECD208517FAF82</vt:lpwstr>
  </property>
  <property fmtid="{D5CDD505-2E9C-101B-9397-08002B2CF9AE}" pid="3" name="KSOProductBuildVer">
    <vt:lpwstr>2052-12.1.0.23542</vt:lpwstr>
  </property>
</Properties>
</file>
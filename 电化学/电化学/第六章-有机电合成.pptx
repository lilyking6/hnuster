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handoutMasterIdLst>
    <p:handoutMasterId r:id="rId96"/>
  </p:handoutMasterIdLst>
  <p:sldIdLst>
    <p:sldId id="256" r:id="rId3"/>
    <p:sldId id="257" r:id="rId4"/>
    <p:sldId id="317" r:id="rId5"/>
    <p:sldId id="334" r:id="rId6"/>
    <p:sldId id="352" r:id="rId7"/>
    <p:sldId id="353" r:id="rId8"/>
    <p:sldId id="354" r:id="rId9"/>
    <p:sldId id="349" r:id="rId10"/>
    <p:sldId id="506" r:id="rId11"/>
    <p:sldId id="507" r:id="rId12"/>
    <p:sldId id="508" r:id="rId13"/>
    <p:sldId id="509" r:id="rId14"/>
    <p:sldId id="510" r:id="rId15"/>
    <p:sldId id="511" r:id="rId16"/>
    <p:sldId id="512" r:id="rId17"/>
    <p:sldId id="320" r:id="rId18"/>
    <p:sldId id="335" r:id="rId20"/>
    <p:sldId id="258" r:id="rId21"/>
    <p:sldId id="513" r:id="rId22"/>
    <p:sldId id="432" r:id="rId23"/>
    <p:sldId id="433" r:id="rId24"/>
    <p:sldId id="336" r:id="rId25"/>
    <p:sldId id="262" r:id="rId26"/>
    <p:sldId id="265" r:id="rId27"/>
    <p:sldId id="267" r:id="rId28"/>
    <p:sldId id="266" r:id="rId29"/>
    <p:sldId id="269" r:id="rId30"/>
    <p:sldId id="337" r:id="rId31"/>
    <p:sldId id="271" r:id="rId32"/>
    <p:sldId id="272" r:id="rId33"/>
    <p:sldId id="273" r:id="rId34"/>
    <p:sldId id="274" r:id="rId35"/>
    <p:sldId id="275" r:id="rId36"/>
    <p:sldId id="338" r:id="rId37"/>
    <p:sldId id="277" r:id="rId38"/>
    <p:sldId id="278" r:id="rId39"/>
    <p:sldId id="279" r:id="rId40"/>
    <p:sldId id="340" r:id="rId41"/>
    <p:sldId id="341" r:id="rId42"/>
    <p:sldId id="281" r:id="rId43"/>
    <p:sldId id="282" r:id="rId44"/>
    <p:sldId id="283" r:id="rId45"/>
    <p:sldId id="342" r:id="rId46"/>
    <p:sldId id="286" r:id="rId47"/>
    <p:sldId id="285" r:id="rId48"/>
    <p:sldId id="287" r:id="rId49"/>
    <p:sldId id="288" r:id="rId50"/>
    <p:sldId id="289" r:id="rId51"/>
    <p:sldId id="290" r:id="rId52"/>
    <p:sldId id="291" r:id="rId53"/>
    <p:sldId id="292" r:id="rId54"/>
    <p:sldId id="323" r:id="rId55"/>
    <p:sldId id="343" r:id="rId56"/>
    <p:sldId id="294" r:id="rId57"/>
    <p:sldId id="360" r:id="rId58"/>
    <p:sldId id="295" r:id="rId59"/>
    <p:sldId id="296" r:id="rId60"/>
    <p:sldId id="297" r:id="rId61"/>
    <p:sldId id="298" r:id="rId62"/>
    <p:sldId id="299" r:id="rId63"/>
    <p:sldId id="300" r:id="rId64"/>
    <p:sldId id="302" r:id="rId65"/>
    <p:sldId id="303" r:id="rId66"/>
    <p:sldId id="344" r:id="rId67"/>
    <p:sldId id="301" r:id="rId68"/>
    <p:sldId id="304" r:id="rId69"/>
    <p:sldId id="305" r:id="rId70"/>
    <p:sldId id="306" r:id="rId71"/>
    <p:sldId id="355" r:id="rId72"/>
    <p:sldId id="307" r:id="rId73"/>
    <p:sldId id="356" r:id="rId74"/>
    <p:sldId id="345" r:id="rId75"/>
    <p:sldId id="308" r:id="rId76"/>
    <p:sldId id="309" r:id="rId77"/>
    <p:sldId id="357" r:id="rId78"/>
    <p:sldId id="310" r:id="rId79"/>
    <p:sldId id="311" r:id="rId80"/>
    <p:sldId id="312" r:id="rId81"/>
    <p:sldId id="313" r:id="rId82"/>
    <p:sldId id="314" r:id="rId83"/>
    <p:sldId id="315" r:id="rId84"/>
    <p:sldId id="316" r:id="rId85"/>
    <p:sldId id="358" r:id="rId86"/>
    <p:sldId id="359" r:id="rId87"/>
    <p:sldId id="325" r:id="rId88"/>
    <p:sldId id="346" r:id="rId89"/>
    <p:sldId id="327" r:id="rId90"/>
    <p:sldId id="328" r:id="rId91"/>
    <p:sldId id="329" r:id="rId92"/>
    <p:sldId id="347" r:id="rId93"/>
    <p:sldId id="332" r:id="rId94"/>
    <p:sldId id="348" r:id="rId95"/>
  </p:sldIdLst>
  <p:sldSz cx="9144000" cy="6858000" type="screen4x3"/>
  <p:notesSz cx="6858000" cy="9144000"/>
  <p:custDataLst>
    <p:tags r:id="rId100"/>
  </p:custDataLst>
  <p:defaultTextStyle>
    <a:defPPr>
      <a:defRPr lang="zh-CN"/>
    </a:defPPr>
    <a:lvl1pPr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988" autoAdjust="0"/>
  </p:normalViewPr>
  <p:slideViewPr>
    <p:cSldViewPr showGuides="1">
      <p:cViewPr varScale="1">
        <p:scale>
          <a:sx n="79" d="100"/>
          <a:sy n="79" d="100"/>
        </p:scale>
        <p:origin x="636"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tableStyles" Target="tableStyles.xml"/><Relationship Id="rId98" Type="http://schemas.openxmlformats.org/officeDocument/2006/relationships/viewProps" Target="viewProps.xml"/><Relationship Id="rId97" Type="http://schemas.openxmlformats.org/officeDocument/2006/relationships/presProps" Target="presProps.xml"/><Relationship Id="rId96" Type="http://schemas.openxmlformats.org/officeDocument/2006/relationships/handoutMaster" Target="handoutMasters/handoutMaster1.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0" Type="http://schemas.openxmlformats.org/officeDocument/2006/relationships/tags" Target="tags/tag5.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926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a:defRPr/>
            </a:pPr>
            <a:endParaRPr lang="en-US" altLang="zh-CN"/>
          </a:p>
        </p:txBody>
      </p:sp>
      <p:sp>
        <p:nvSpPr>
          <p:cNvPr id="139267"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a:defRPr/>
            </a:pPr>
            <a:endParaRPr lang="en-US" altLang="zh-CN"/>
          </a:p>
        </p:txBody>
      </p:sp>
      <p:sp>
        <p:nvSpPr>
          <p:cNvPr id="139268"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a:defRPr/>
            </a:pPr>
            <a:endParaRPr lang="en-US" altLang="zh-CN"/>
          </a:p>
        </p:txBody>
      </p:sp>
      <p:sp>
        <p:nvSpPr>
          <p:cNvPr id="139269"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smtClean="0"/>
            </a:lvl1pPr>
          </a:lstStyle>
          <a:p>
            <a:pPr>
              <a:defRPr/>
            </a:pPr>
            <a:fld id="{5446DA97-F0EE-4A05-8B88-98A558DBEB04}"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68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a:defRPr/>
            </a:pPr>
            <a:endParaRPr lang="en-US" altLang="zh-CN"/>
          </a:p>
        </p:txBody>
      </p:sp>
      <p:sp>
        <p:nvSpPr>
          <p:cNvPr id="7168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a:defRPr/>
            </a:pPr>
            <a:endParaRPr lang="en-US" altLang="zh-CN"/>
          </a:p>
        </p:txBody>
      </p:sp>
      <p:sp>
        <p:nvSpPr>
          <p:cNvPr id="3076"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7168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7168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a:defRPr/>
            </a:pPr>
            <a:endParaRPr lang="en-US" altLang="zh-CN"/>
          </a:p>
        </p:txBody>
      </p:sp>
      <p:sp>
        <p:nvSpPr>
          <p:cNvPr id="7168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smtClean="0"/>
            </a:lvl1pPr>
          </a:lstStyle>
          <a:p>
            <a:pPr>
              <a:defRPr/>
            </a:pPr>
            <a:fld id="{CC8C0BF3-20BB-4BE5-9563-7D95677A22FA}"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对硝基氯苯，对硝基苯酚钠，对硝基苯酚，对氨基苯酚；</a:t>
            </a:r>
            <a:r>
              <a:rPr lang="en-US" altLang="zh-CN"/>
              <a:t>   </a:t>
            </a:r>
            <a:r>
              <a:rPr lang="zh-CN" altLang="en-US"/>
              <a:t>硝基苯</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Ar</a:t>
            </a:r>
            <a:r>
              <a:rPr lang="zh-CN" altLang="en-US"/>
              <a:t>：苯基；甲苯，苯甲醛</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5867400" cy="6858000"/>
            <a:chOff x="0" y="0"/>
            <a:chExt cx="3696" cy="4320"/>
          </a:xfrm>
        </p:grpSpPr>
        <p:sp>
          <p:nvSpPr>
            <p:cNvPr id="5" name="Rectangle 3"/>
            <p:cNvSpPr>
              <a:spLocks noChangeArrowheads="1"/>
            </p:cNvSpPr>
            <p:nvPr/>
          </p:nvSpPr>
          <p:spPr bwMode="auto">
            <a:xfrm>
              <a:off x="0" y="0"/>
              <a:ext cx="2880" cy="432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a:latin typeface="Times New Roman" panose="02020603050405020304" pitchFamily="18" charset="0"/>
              </a:endParaRPr>
            </a:p>
          </p:txBody>
        </p:sp>
        <p:sp>
          <p:nvSpPr>
            <p:cNvPr id="6" name="AutoShape 4"/>
            <p:cNvSpPr>
              <a:spLocks noChangeArrowheads="1"/>
            </p:cNvSpPr>
            <p:nvPr/>
          </p:nvSpPr>
          <p:spPr bwMode="white">
            <a:xfrm>
              <a:off x="432" y="624"/>
              <a:ext cx="3264" cy="1200"/>
            </a:xfrm>
            <a:prstGeom prst="roundRect">
              <a:avLst>
                <a:gd name="adj" fmla="val 50000"/>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2400">
                <a:latin typeface="Times New Roman" panose="02020603050405020304" pitchFamily="18" charset="0"/>
              </a:endParaRPr>
            </a:p>
          </p:txBody>
        </p:sp>
      </p:grpSp>
      <p:grpSp>
        <p:nvGrpSpPr>
          <p:cNvPr id="7" name="Group 5"/>
          <p:cNvGrpSpPr/>
          <p:nvPr/>
        </p:nvGrpSpPr>
        <p:grpSpPr bwMode="auto">
          <a:xfrm>
            <a:off x="3632200" y="4889500"/>
            <a:ext cx="4876800" cy="319088"/>
            <a:chOff x="2288" y="3080"/>
            <a:chExt cx="3072" cy="201"/>
          </a:xfrm>
        </p:grpSpPr>
        <p:sp>
          <p:nvSpPr>
            <p:cNvPr id="8" name="AutoShape 6"/>
            <p:cNvSpPr>
              <a:spLocks noChangeArrowheads="1"/>
            </p:cNvSpPr>
            <p:nvPr/>
          </p:nvSpPr>
          <p:spPr bwMode="auto">
            <a:xfrm flipH="1">
              <a:off x="2288" y="3080"/>
              <a:ext cx="2914" cy="200"/>
            </a:xfrm>
            <a:prstGeom prst="roundRect">
              <a:avLst>
                <a:gd name="adj" fmla="val 0"/>
              </a:avLst>
            </a:prstGeom>
            <a:solidFill>
              <a:schemeClr va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 name="AutoShape 7"/>
            <p:cNvSpPr>
              <a:spLocks noChangeArrowheads="1"/>
            </p:cNvSpPr>
            <p:nvPr/>
          </p:nvSpPr>
          <p:spPr bwMode="auto">
            <a:xfrm>
              <a:off x="5196" y="3080"/>
              <a:ext cx="164" cy="201"/>
            </a:xfrm>
            <a:prstGeom prst="flowChartDelay">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5128" name="Rectangle 8"/>
          <p:cNvSpPr>
            <a:spLocks noGrp="1" noChangeArrowheads="1"/>
          </p:cNvSpPr>
          <p:nvPr>
            <p:ph type="subTitle" idx="1"/>
          </p:nvPr>
        </p:nvSpPr>
        <p:spPr>
          <a:xfrm>
            <a:off x="4673600" y="2927350"/>
            <a:ext cx="4013200" cy="1822450"/>
          </a:xfrm>
        </p:spPr>
        <p:txBody>
          <a:bodyPr anchor="b"/>
          <a:lstStyle>
            <a:lvl1pPr marL="0" indent="0">
              <a:buFont typeface="Wingdings" panose="05000000000000000000" pitchFamily="2" charset="2"/>
              <a:buNone/>
              <a:defRPr>
                <a:solidFill>
                  <a:schemeClr val="tx2"/>
                </a:solidFill>
              </a:defRPr>
            </a:lvl1pPr>
          </a:lstStyle>
          <a:p>
            <a:r>
              <a:rPr lang="zh-CN" altLang="en-US"/>
              <a:t>单击此处编辑母版副标题样式</a:t>
            </a:r>
            <a:endParaRPr lang="zh-CN" altLang="en-US"/>
          </a:p>
        </p:txBody>
      </p:sp>
      <p:sp>
        <p:nvSpPr>
          <p:cNvPr id="5132" name="AutoShape 12"/>
          <p:cNvSpPr>
            <a:spLocks noGrp="1" noChangeArrowheads="1"/>
          </p:cNvSpPr>
          <p:nvPr>
            <p:ph type="ctrTitle" sz="quarter"/>
          </p:nvPr>
        </p:nvSpPr>
        <p:spPr>
          <a:xfrm>
            <a:off x="685800" y="990600"/>
            <a:ext cx="8229600" cy="1905000"/>
          </a:xfrm>
          <a:prstGeom prst="roundRect">
            <a:avLst>
              <a:gd name="adj" fmla="val 50000"/>
            </a:avLst>
          </a:prstGeom>
        </p:spPr>
        <p:txBody>
          <a:bodyPr anchor="ctr"/>
          <a:lstStyle>
            <a:lvl1pPr algn="ctr">
              <a:defRPr>
                <a:solidFill>
                  <a:schemeClr val="tx1"/>
                </a:solidFill>
              </a:defRPr>
            </a:lvl1pPr>
          </a:lstStyle>
          <a:p>
            <a:r>
              <a:rPr lang="zh-CN" altLang="en-US"/>
              <a:t>单击此处编辑母版标题样式</a:t>
            </a:r>
            <a:endParaRPr lang="zh-CN" altLang="en-US"/>
          </a:p>
        </p:txBody>
      </p:sp>
      <p:sp>
        <p:nvSpPr>
          <p:cNvPr id="10" name="Rectangle 9"/>
          <p:cNvSpPr>
            <a:spLocks noGrp="1" noChangeArrowheads="1"/>
          </p:cNvSpPr>
          <p:nvPr>
            <p:ph type="dt" sz="quarter" idx="10"/>
          </p:nvPr>
        </p:nvSpPr>
        <p:spPr bwMode="auto">
          <a:xfrm>
            <a:off x="2438400" y="6248400"/>
            <a:ext cx="2130425" cy="474663"/>
          </a:xfrm>
          <a:prstGeom prst="rect">
            <a:avLst/>
          </a:prstGeom>
          <a:ln>
            <a:miter lim="800000"/>
          </a:ln>
        </p:spPr>
        <p:txBody>
          <a:bodyPr vert="horz" wrap="square" lIns="91440" tIns="45720" rIns="91440" bIns="45720" numCol="1" anchor="b" anchorCtr="0" compatLnSpc="1"/>
          <a:lstStyle>
            <a:lvl1pPr algn="r" eaLnBrk="1" hangingPunct="1">
              <a:defRPr sz="1400">
                <a:solidFill>
                  <a:schemeClr val="bg1"/>
                </a:solidFill>
                <a:latin typeface="Arial" panose="020B0604020202020204" pitchFamily="34" charset="0"/>
              </a:defRPr>
            </a:lvl1pPr>
          </a:lstStyle>
          <a:p>
            <a:pPr>
              <a:defRPr/>
            </a:pPr>
            <a:endParaRPr lang="en-US" altLang="zh-CN"/>
          </a:p>
        </p:txBody>
      </p:sp>
      <p:sp>
        <p:nvSpPr>
          <p:cNvPr id="11" name="Rectangle 10"/>
          <p:cNvSpPr>
            <a:spLocks noGrp="1" noChangeArrowheads="1"/>
          </p:cNvSpPr>
          <p:nvPr>
            <p:ph type="ftr" sz="quarter" idx="11"/>
          </p:nvPr>
        </p:nvSpPr>
        <p:spPr bwMode="auto">
          <a:xfrm>
            <a:off x="5791200" y="6248400"/>
            <a:ext cx="2897188" cy="474663"/>
          </a:xfrm>
          <a:prstGeom prst="rect">
            <a:avLst/>
          </a:prstGeom>
          <a:ln>
            <a:miter lim="800000"/>
          </a:ln>
        </p:spPr>
        <p:txBody>
          <a:bodyPr vert="horz" wrap="square" lIns="91440" tIns="45720" rIns="91440" bIns="45720" numCol="1" anchor="b" anchorCtr="0" compatLnSpc="1"/>
          <a:lstStyle>
            <a:lvl1pPr algn="r" eaLnBrk="1" hangingPunct="1">
              <a:defRPr sz="1400">
                <a:latin typeface="Arial" panose="020B0604020202020204" pitchFamily="34" charset="0"/>
              </a:defRPr>
            </a:lvl1pPr>
          </a:lstStyle>
          <a:p>
            <a:pPr>
              <a:defRPr/>
            </a:pPr>
            <a:endParaRPr lang="en-US" altLang="zh-CN"/>
          </a:p>
        </p:txBody>
      </p:sp>
      <p:sp>
        <p:nvSpPr>
          <p:cNvPr id="12" name="Rectangle 11"/>
          <p:cNvSpPr>
            <a:spLocks noGrp="1" noChangeArrowheads="1"/>
          </p:cNvSpPr>
          <p:nvPr>
            <p:ph type="sldNum" sz="quarter" idx="12"/>
          </p:nvPr>
        </p:nvSpPr>
        <p:spPr>
          <a:xfrm>
            <a:off x="76200" y="6248400"/>
            <a:ext cx="587375" cy="488950"/>
          </a:xfrm>
        </p:spPr>
        <p:txBody>
          <a:bodyPr anchorCtr="0"/>
          <a:lstStyle>
            <a:lvl1pPr>
              <a:defRPr smtClean="0"/>
            </a:lvl1pPr>
          </a:lstStyle>
          <a:p>
            <a:pPr>
              <a:defRPr/>
            </a:pPr>
            <a:fld id="{9EB847A8-BEBF-4F08-815D-E6B593417AE6}"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3"/>
          <p:cNvSpPr>
            <a:spLocks noGrp="1" noChangeArrowheads="1"/>
          </p:cNvSpPr>
          <p:nvPr>
            <p:ph type="sldNum" sz="quarter" idx="10"/>
          </p:nvPr>
        </p:nvSpPr>
        <p:spPr/>
        <p:txBody>
          <a:bodyPr/>
          <a:lstStyle>
            <a:lvl1pPr>
              <a:defRPr/>
            </a:lvl1pPr>
          </a:lstStyle>
          <a:p>
            <a:pPr>
              <a:defRPr/>
            </a:pPr>
            <a:fld id="{3143F917-05C9-406D-A56B-F183E24CE16F}"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13"/>
          <p:cNvSpPr>
            <a:spLocks noGrp="1" noChangeArrowheads="1"/>
          </p:cNvSpPr>
          <p:nvPr>
            <p:ph type="sldNum" sz="quarter" idx="10"/>
          </p:nvPr>
        </p:nvSpPr>
        <p:spPr/>
        <p:txBody>
          <a:bodyPr/>
          <a:lstStyle>
            <a:lvl1pPr>
              <a:defRPr/>
            </a:lvl1pPr>
          </a:lstStyle>
          <a:p>
            <a:pPr>
              <a:defRPr/>
            </a:pPr>
            <a:fld id="{ACF29AA6-A4EC-4A69-97C7-BEA1F9AB0A7C}"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0" y="2033588"/>
            <a:ext cx="3992563" cy="46355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900613" y="2033588"/>
            <a:ext cx="3992562" cy="46355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13"/>
          <p:cNvSpPr>
            <a:spLocks noGrp="1" noChangeArrowheads="1"/>
          </p:cNvSpPr>
          <p:nvPr>
            <p:ph type="sldNum" sz="quarter" idx="10"/>
          </p:nvPr>
        </p:nvSpPr>
        <p:spPr/>
        <p:txBody>
          <a:bodyPr/>
          <a:lstStyle>
            <a:lvl1pPr>
              <a:defRPr/>
            </a:lvl1pPr>
          </a:lstStyle>
          <a:p>
            <a:pPr>
              <a:defRPr/>
            </a:pPr>
            <a:fld id="{868425EA-8E9D-4CB9-A30C-390173146A85}"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13"/>
          <p:cNvSpPr>
            <a:spLocks noGrp="1" noChangeArrowheads="1"/>
          </p:cNvSpPr>
          <p:nvPr>
            <p:ph type="sldNum" sz="quarter" idx="10"/>
          </p:nvPr>
        </p:nvSpPr>
        <p:spPr/>
        <p:txBody>
          <a:bodyPr/>
          <a:lstStyle>
            <a:lvl1pPr>
              <a:defRPr/>
            </a:lvl1pPr>
          </a:lstStyle>
          <a:p>
            <a:pPr>
              <a:defRPr/>
            </a:pPr>
            <a:fld id="{B3D1A321-3371-4C05-ABDF-A29B6904E8E4}"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13"/>
          <p:cNvSpPr>
            <a:spLocks noGrp="1" noChangeArrowheads="1"/>
          </p:cNvSpPr>
          <p:nvPr>
            <p:ph type="sldNum" sz="quarter" idx="10"/>
          </p:nvPr>
        </p:nvSpPr>
        <p:spPr/>
        <p:txBody>
          <a:bodyPr/>
          <a:lstStyle>
            <a:lvl1pPr>
              <a:defRPr/>
            </a:lvl1pPr>
          </a:lstStyle>
          <a:p>
            <a:pPr>
              <a:defRPr/>
            </a:pPr>
            <a:fld id="{B3107D22-EEC8-49FD-80D1-9376366E9867}"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3"/>
          <p:cNvSpPr>
            <a:spLocks noGrp="1" noChangeArrowheads="1"/>
          </p:cNvSpPr>
          <p:nvPr>
            <p:ph type="sldNum" sz="quarter" idx="10"/>
          </p:nvPr>
        </p:nvSpPr>
        <p:spPr/>
        <p:txBody>
          <a:bodyPr/>
          <a:lstStyle>
            <a:lvl1pPr>
              <a:defRPr/>
            </a:lvl1pPr>
          </a:lstStyle>
          <a:p>
            <a:pPr>
              <a:defRPr/>
            </a:pPr>
            <a:fld id="{0CEEDB82-37F3-4A60-A748-F61070E6D170}"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13"/>
          <p:cNvSpPr>
            <a:spLocks noGrp="1" noChangeArrowheads="1"/>
          </p:cNvSpPr>
          <p:nvPr>
            <p:ph type="sldNum" sz="quarter" idx="10"/>
          </p:nvPr>
        </p:nvSpPr>
        <p:spPr/>
        <p:txBody>
          <a:bodyPr/>
          <a:lstStyle>
            <a:lvl1pPr>
              <a:defRPr/>
            </a:lvl1pPr>
          </a:lstStyle>
          <a:p>
            <a:pPr>
              <a:defRPr/>
            </a:pPr>
            <a:fld id="{59A1F56B-ED84-4D86-81FD-0D896A542B92}"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13"/>
          <p:cNvSpPr>
            <a:spLocks noGrp="1" noChangeArrowheads="1"/>
          </p:cNvSpPr>
          <p:nvPr>
            <p:ph type="sldNum" sz="quarter" idx="10"/>
          </p:nvPr>
        </p:nvSpPr>
        <p:spPr/>
        <p:txBody>
          <a:bodyPr/>
          <a:lstStyle>
            <a:lvl1pPr>
              <a:defRPr/>
            </a:lvl1pPr>
          </a:lstStyle>
          <a:p>
            <a:pPr>
              <a:defRPr/>
            </a:pPr>
            <a:fld id="{79814E86-EB49-4CCA-911F-CD38F6C412AF}"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3"/>
          <p:cNvSpPr>
            <a:spLocks noGrp="1" noChangeArrowheads="1"/>
          </p:cNvSpPr>
          <p:nvPr>
            <p:ph type="sldNum" sz="quarter" idx="10"/>
          </p:nvPr>
        </p:nvSpPr>
        <p:spPr/>
        <p:txBody>
          <a:bodyPr/>
          <a:lstStyle>
            <a:lvl1pPr>
              <a:defRPr/>
            </a:lvl1pPr>
          </a:lstStyle>
          <a:p>
            <a:pPr>
              <a:defRPr/>
            </a:pPr>
            <a:fld id="{C2B4F82D-82AC-4919-B23E-C366E9B2FDB3}"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9588" y="188913"/>
            <a:ext cx="2033587" cy="648017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0" y="188913"/>
            <a:ext cx="5951538" cy="648017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3"/>
          <p:cNvSpPr>
            <a:spLocks noGrp="1" noChangeArrowheads="1"/>
          </p:cNvSpPr>
          <p:nvPr>
            <p:ph type="sldNum" sz="quarter" idx="10"/>
          </p:nvPr>
        </p:nvSpPr>
        <p:spPr/>
        <p:txBody>
          <a:bodyPr/>
          <a:lstStyle>
            <a:lvl1pPr>
              <a:defRPr/>
            </a:lvl1pPr>
          </a:lstStyle>
          <a:p>
            <a:pPr>
              <a:defRPr/>
            </a:pPr>
            <a:fld id="{D0E4BB61-9F70-4FC8-BB2C-F84B4B1E1D33}"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3"/>
          <p:cNvGrpSpPr/>
          <p:nvPr/>
        </p:nvGrpSpPr>
        <p:grpSpPr bwMode="auto">
          <a:xfrm>
            <a:off x="0" y="0"/>
            <a:ext cx="3200400" cy="6858000"/>
            <a:chOff x="0" y="0"/>
            <a:chExt cx="2016" cy="4320"/>
          </a:xfrm>
        </p:grpSpPr>
        <p:sp>
          <p:nvSpPr>
            <p:cNvPr id="1033" name="Rectangle 4"/>
            <p:cNvSpPr>
              <a:spLocks noChangeArrowheads="1"/>
            </p:cNvSpPr>
            <p:nvPr userDrawn="1"/>
          </p:nvSpPr>
          <p:spPr bwMode="auto">
            <a:xfrm>
              <a:off x="0" y="0"/>
              <a:ext cx="480" cy="432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34" name="Freeform 5"/>
            <p:cNvSpPr/>
            <p:nvPr userDrawn="1"/>
          </p:nvSpPr>
          <p:spPr bwMode="auto">
            <a:xfrm>
              <a:off x="288" y="0"/>
              <a:ext cx="1728" cy="735"/>
            </a:xfrm>
            <a:custGeom>
              <a:avLst/>
              <a:gdLst>
                <a:gd name="T0" fmla="*/ 1728 w 1728"/>
                <a:gd name="T1" fmla="*/ 0 h 735"/>
                <a:gd name="T2" fmla="*/ 1728 w 1728"/>
                <a:gd name="T3" fmla="*/ 480 h 735"/>
                <a:gd name="T4" fmla="*/ 380 w 1728"/>
                <a:gd name="T5" fmla="*/ 482 h 735"/>
                <a:gd name="T6" fmla="*/ 354 w 1728"/>
                <a:gd name="T7" fmla="*/ 480 h 735"/>
                <a:gd name="T8" fmla="*/ 308 w 1728"/>
                <a:gd name="T9" fmla="*/ 489 h 735"/>
                <a:gd name="T10" fmla="*/ 246 w 1728"/>
                <a:gd name="T11" fmla="*/ 531 h 735"/>
                <a:gd name="T12" fmla="*/ 206 w 1728"/>
                <a:gd name="T13" fmla="*/ 597 h 735"/>
                <a:gd name="T14" fmla="*/ 192 w 1728"/>
                <a:gd name="T15" fmla="*/ 666 h 735"/>
                <a:gd name="T16" fmla="*/ 192 w 1728"/>
                <a:gd name="T17" fmla="*/ 735 h 735"/>
                <a:gd name="T18" fmla="*/ 0 w 1728"/>
                <a:gd name="T19" fmla="*/ 735 h 735"/>
                <a:gd name="T20" fmla="*/ 0 w 1728"/>
                <a:gd name="T21" fmla="*/ 480 h 735"/>
                <a:gd name="T22" fmla="*/ 0 w 1728"/>
                <a:gd name="T23" fmla="*/ 0 h 735"/>
                <a:gd name="T24" fmla="*/ 1728 w 1728"/>
                <a:gd name="T25" fmla="*/ 0 h 7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chemeClr val="accent2"/>
            </a:solidFill>
            <a:ln>
              <a:noFill/>
            </a:ln>
            <a:extLst>
              <a:ext uri="{91240B29-F687-4F45-9708-019B960494DF}">
                <a14:hiddenLine xmlns:a14="http://schemas.microsoft.com/office/drawing/2010/main" w="9525">
                  <a:solidFill>
                    <a:srgbClr val="000000"/>
                  </a:solidFill>
                  <a:prstDash val="solid"/>
                  <a:miter lim="800000"/>
                  <a:headEnd type="none" w="med" len="med"/>
                  <a:tailEnd type="none" w="med" len="med"/>
                </a14:hiddenLine>
              </a:ext>
            </a:extLst>
          </p:spPr>
          <p:txBody>
            <a:bodyPr wrap="none"/>
            <a:lstStyle/>
            <a:p>
              <a:endParaRPr lang="zh-CN" altLang="en-US"/>
            </a:p>
          </p:txBody>
        </p:sp>
      </p:grpSp>
      <p:grpSp>
        <p:nvGrpSpPr>
          <p:cNvPr id="1027" name="Group 6"/>
          <p:cNvGrpSpPr/>
          <p:nvPr/>
        </p:nvGrpSpPr>
        <p:grpSpPr bwMode="auto">
          <a:xfrm>
            <a:off x="539750" y="1484313"/>
            <a:ext cx="7391400" cy="319087"/>
            <a:chOff x="144" y="1248"/>
            <a:chExt cx="4656" cy="201"/>
          </a:xfrm>
        </p:grpSpPr>
        <p:sp>
          <p:nvSpPr>
            <p:cNvPr id="1031" name="AutoShape 7"/>
            <p:cNvSpPr>
              <a:spLocks noChangeArrowheads="1"/>
            </p:cNvSpPr>
            <p:nvPr/>
          </p:nvSpPr>
          <p:spPr bwMode="auto">
            <a:xfrm>
              <a:off x="384" y="1248"/>
              <a:ext cx="4416" cy="200"/>
            </a:xfrm>
            <a:prstGeom prst="roundRect">
              <a:avLst>
                <a:gd name="adj" fmla="val 0"/>
              </a:avLst>
            </a:prstGeom>
            <a:solidFill>
              <a:schemeClr val="hlink"/>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32" name="AutoShape 8"/>
            <p:cNvSpPr>
              <a:spLocks noChangeArrowheads="1"/>
            </p:cNvSpPr>
            <p:nvPr/>
          </p:nvSpPr>
          <p:spPr bwMode="auto">
            <a:xfrm flipH="1">
              <a:off x="144" y="1248"/>
              <a:ext cx="248" cy="201"/>
            </a:xfrm>
            <a:prstGeom prst="flowChartDelay">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1028" name="Rectangle 9"/>
          <p:cNvSpPr>
            <a:spLocks noGrp="1" noChangeArrowheads="1"/>
          </p:cNvSpPr>
          <p:nvPr>
            <p:ph type="title"/>
          </p:nvPr>
        </p:nvSpPr>
        <p:spPr bwMode="auto">
          <a:xfrm>
            <a:off x="755650" y="188913"/>
            <a:ext cx="7924800" cy="1143000"/>
          </a:xfrm>
          <a:prstGeom prst="roundRect">
            <a:avLst>
              <a:gd name="adj" fmla="val 21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b" anchorCtr="0" compatLnSpc="1"/>
          <a:lstStyle/>
          <a:p>
            <a:pPr lvl="0"/>
            <a:endParaRPr lang="zh-CN" altLang="zh-CN"/>
          </a:p>
        </p:txBody>
      </p:sp>
      <p:sp>
        <p:nvSpPr>
          <p:cNvPr id="1029" name="Rectangle 10"/>
          <p:cNvSpPr>
            <a:spLocks noGrp="1" noChangeArrowheads="1"/>
          </p:cNvSpPr>
          <p:nvPr>
            <p:ph type="body" idx="1"/>
          </p:nvPr>
        </p:nvSpPr>
        <p:spPr bwMode="auto">
          <a:xfrm>
            <a:off x="755650" y="2033588"/>
            <a:ext cx="8137525" cy="463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1"/>
            <a:endParaRPr lang="zh-CN" altLang="zh-CN"/>
          </a:p>
        </p:txBody>
      </p:sp>
      <p:sp>
        <p:nvSpPr>
          <p:cNvPr id="4109" name="Rectangle 13"/>
          <p:cNvSpPr>
            <a:spLocks noGrp="1" noChangeArrowheads="1"/>
          </p:cNvSpPr>
          <p:nvPr>
            <p:ph type="sldNum" sz="quarter" idx="4"/>
          </p:nvPr>
        </p:nvSpPr>
        <p:spPr bwMode="auto">
          <a:xfrm>
            <a:off x="84138" y="6242050"/>
            <a:ext cx="587375" cy="488950"/>
          </a:xfrm>
          <a:prstGeom prst="rect">
            <a:avLst/>
          </a:prstGeom>
          <a:noFill/>
          <a:ln w="9525">
            <a:noFill/>
            <a:miter lim="800000"/>
          </a:ln>
          <a:effectLst/>
        </p:spPr>
        <p:txBody>
          <a:bodyPr vert="horz" wrap="square" lIns="91440" tIns="45720" rIns="91440" bIns="45720" numCol="1" anchor="b" anchorCtr="1" compatLnSpc="1"/>
          <a:lstStyle>
            <a:lvl1pPr eaLnBrk="1" hangingPunct="1">
              <a:defRPr sz="2600" b="1" smtClean="0">
                <a:solidFill>
                  <a:schemeClr val="bg1"/>
                </a:solidFill>
              </a:defRPr>
            </a:lvl1pPr>
          </a:lstStyle>
          <a:p>
            <a:pPr>
              <a:defRPr/>
            </a:pPr>
            <a:fld id="{08ED1738-4210-473A-8078-A53ACD924EED}"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0" fontAlgn="base" hangingPunct="0">
        <a:lnSpc>
          <a:spcPct val="90000"/>
        </a:lnSpc>
        <a:spcBef>
          <a:spcPct val="0"/>
        </a:spcBef>
        <a:spcAft>
          <a:spcPct val="0"/>
        </a:spcAft>
        <a:defRPr sz="3200" b="1">
          <a:solidFill>
            <a:schemeClr val="tx2"/>
          </a:solidFill>
          <a:latin typeface="+mj-lt"/>
          <a:ea typeface="+mj-ea"/>
          <a:cs typeface="+mj-cs"/>
        </a:defRPr>
      </a:lvl1pPr>
      <a:lvl2pPr algn="l" rtl="0" eaLnBrk="0" fontAlgn="base" hangingPunct="0">
        <a:lnSpc>
          <a:spcPct val="90000"/>
        </a:lnSpc>
        <a:spcBef>
          <a:spcPct val="0"/>
        </a:spcBef>
        <a:spcAft>
          <a:spcPct val="0"/>
        </a:spcAft>
        <a:defRPr sz="3200" b="1">
          <a:solidFill>
            <a:schemeClr val="tx2"/>
          </a:solidFill>
          <a:latin typeface="Arial" panose="020B0604020202020204" pitchFamily="34" charset="0"/>
          <a:ea typeface="宋体" panose="02010600030101010101" pitchFamily="2" charset="-122"/>
        </a:defRPr>
      </a:lvl2pPr>
      <a:lvl3pPr algn="l" rtl="0" eaLnBrk="0" fontAlgn="base" hangingPunct="0">
        <a:lnSpc>
          <a:spcPct val="90000"/>
        </a:lnSpc>
        <a:spcBef>
          <a:spcPct val="0"/>
        </a:spcBef>
        <a:spcAft>
          <a:spcPct val="0"/>
        </a:spcAft>
        <a:defRPr sz="3200" b="1">
          <a:solidFill>
            <a:schemeClr val="tx2"/>
          </a:solidFill>
          <a:latin typeface="Arial" panose="020B0604020202020204" pitchFamily="34" charset="0"/>
          <a:ea typeface="宋体" panose="02010600030101010101" pitchFamily="2" charset="-122"/>
        </a:defRPr>
      </a:lvl3pPr>
      <a:lvl4pPr algn="l" rtl="0" eaLnBrk="0" fontAlgn="base" hangingPunct="0">
        <a:lnSpc>
          <a:spcPct val="90000"/>
        </a:lnSpc>
        <a:spcBef>
          <a:spcPct val="0"/>
        </a:spcBef>
        <a:spcAft>
          <a:spcPct val="0"/>
        </a:spcAft>
        <a:defRPr sz="3200" b="1">
          <a:solidFill>
            <a:schemeClr val="tx2"/>
          </a:solidFill>
          <a:latin typeface="Arial" panose="020B0604020202020204" pitchFamily="34" charset="0"/>
          <a:ea typeface="宋体" panose="02010600030101010101" pitchFamily="2" charset="-122"/>
        </a:defRPr>
      </a:lvl4pPr>
      <a:lvl5pPr algn="l" rtl="0" eaLnBrk="0" fontAlgn="base" hangingPunct="0">
        <a:lnSpc>
          <a:spcPct val="90000"/>
        </a:lnSpc>
        <a:spcBef>
          <a:spcPct val="0"/>
        </a:spcBef>
        <a:spcAft>
          <a:spcPct val="0"/>
        </a:spcAft>
        <a:defRPr sz="3200" b="1">
          <a:solidFill>
            <a:schemeClr val="tx2"/>
          </a:solidFill>
          <a:latin typeface="Arial" panose="020B0604020202020204" pitchFamily="34" charset="0"/>
          <a:ea typeface="宋体" panose="02010600030101010101" pitchFamily="2" charset="-122"/>
        </a:defRPr>
      </a:lvl5pPr>
      <a:lvl6pPr marL="457200" algn="l" rtl="0" fontAlgn="base">
        <a:lnSpc>
          <a:spcPct val="90000"/>
        </a:lnSpc>
        <a:spcBef>
          <a:spcPct val="0"/>
        </a:spcBef>
        <a:spcAft>
          <a:spcPct val="0"/>
        </a:spcAft>
        <a:defRPr sz="3200" b="1">
          <a:solidFill>
            <a:schemeClr val="tx2"/>
          </a:solidFill>
          <a:latin typeface="Arial" panose="020B0604020202020204" pitchFamily="34" charset="0"/>
          <a:ea typeface="宋体" panose="02010600030101010101" pitchFamily="2" charset="-122"/>
        </a:defRPr>
      </a:lvl6pPr>
      <a:lvl7pPr marL="914400" algn="l" rtl="0" fontAlgn="base">
        <a:lnSpc>
          <a:spcPct val="90000"/>
        </a:lnSpc>
        <a:spcBef>
          <a:spcPct val="0"/>
        </a:spcBef>
        <a:spcAft>
          <a:spcPct val="0"/>
        </a:spcAft>
        <a:defRPr sz="3200" b="1">
          <a:solidFill>
            <a:schemeClr val="tx2"/>
          </a:solidFill>
          <a:latin typeface="Arial" panose="020B0604020202020204" pitchFamily="34" charset="0"/>
          <a:ea typeface="宋体" panose="02010600030101010101" pitchFamily="2" charset="-122"/>
        </a:defRPr>
      </a:lvl7pPr>
      <a:lvl8pPr marL="1371600" algn="l" rtl="0" fontAlgn="base">
        <a:lnSpc>
          <a:spcPct val="90000"/>
        </a:lnSpc>
        <a:spcBef>
          <a:spcPct val="0"/>
        </a:spcBef>
        <a:spcAft>
          <a:spcPct val="0"/>
        </a:spcAft>
        <a:defRPr sz="3200" b="1">
          <a:solidFill>
            <a:schemeClr val="tx2"/>
          </a:solidFill>
          <a:latin typeface="Arial" panose="020B0604020202020204" pitchFamily="34" charset="0"/>
          <a:ea typeface="宋体" panose="02010600030101010101" pitchFamily="2" charset="-122"/>
        </a:defRPr>
      </a:lvl8pPr>
      <a:lvl9pPr marL="1828800" algn="l" rtl="0" fontAlgn="base">
        <a:lnSpc>
          <a:spcPct val="90000"/>
        </a:lnSpc>
        <a:spcBef>
          <a:spcPct val="0"/>
        </a:spcBef>
        <a:spcAft>
          <a:spcPct val="0"/>
        </a:spcAft>
        <a:defRPr sz="32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1"/>
        </a:buClr>
        <a:buSzPct val="75000"/>
        <a:buFont typeface="Wingdings" panose="05000000000000000000" pitchFamily="2" charset="2"/>
        <a:buChar char="l"/>
        <a:defRPr sz="2800">
          <a:solidFill>
            <a:schemeClr val="tx1"/>
          </a:solidFill>
          <a:latin typeface="+mn-lt"/>
          <a:ea typeface="+mn-ea"/>
          <a:cs typeface="+mn-cs"/>
        </a:defRPr>
      </a:lvl1pPr>
      <a:lvl2pPr marL="742950" indent="-285750" algn="l" rtl="0" eaLnBrk="0" fontAlgn="base" hangingPunct="0">
        <a:lnSpc>
          <a:spcPct val="120000"/>
        </a:lnSpc>
        <a:spcBef>
          <a:spcPct val="20000"/>
        </a:spcBef>
        <a:spcAft>
          <a:spcPct val="0"/>
        </a:spcAft>
        <a:buClr>
          <a:schemeClr val="tx1"/>
        </a:buClr>
        <a:buSzPct val="75000"/>
        <a:buChar char="–"/>
        <a:defRPr sz="2800">
          <a:solidFill>
            <a:srgbClr val="000000"/>
          </a:solidFill>
          <a:latin typeface="+mn-lt"/>
          <a:ea typeface="+mn-ea"/>
        </a:defRPr>
      </a:lvl2pPr>
      <a:lvl3pPr marL="1143000" indent="-228600" algn="l" rtl="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80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mn-lt"/>
          <a:ea typeface="+mn-ea"/>
        </a:defRPr>
      </a:lvl5pPr>
      <a:lvl6pPr marL="2514600" indent="-228600" algn="l" rtl="0" fontAlgn="base">
        <a:spcBef>
          <a:spcPct val="20000"/>
        </a:spcBef>
        <a:spcAft>
          <a:spcPct val="0"/>
        </a:spcAft>
        <a:buClr>
          <a:schemeClr val="tx1"/>
        </a:buClr>
        <a:buSzPct val="65000"/>
        <a:buFont typeface="Wingdings" panose="05000000000000000000" pitchFamily="2" charset="2"/>
        <a:buChar char="l"/>
        <a:defRPr>
          <a:solidFill>
            <a:schemeClr val="tx1"/>
          </a:solidFill>
          <a:latin typeface="+mn-lt"/>
          <a:ea typeface="+mn-ea"/>
        </a:defRPr>
      </a:lvl6pPr>
      <a:lvl7pPr marL="2971800" indent="-228600" algn="l" rtl="0" fontAlgn="base">
        <a:spcBef>
          <a:spcPct val="20000"/>
        </a:spcBef>
        <a:spcAft>
          <a:spcPct val="0"/>
        </a:spcAft>
        <a:buClr>
          <a:schemeClr val="tx1"/>
        </a:buClr>
        <a:buSzPct val="65000"/>
        <a:buFont typeface="Wingdings" panose="05000000000000000000" pitchFamily="2" charset="2"/>
        <a:buChar char="l"/>
        <a:defRPr>
          <a:solidFill>
            <a:schemeClr val="tx1"/>
          </a:solidFill>
          <a:latin typeface="+mn-lt"/>
          <a:ea typeface="+mn-ea"/>
        </a:defRPr>
      </a:lvl7pPr>
      <a:lvl8pPr marL="3429000" indent="-228600" algn="l" rtl="0" fontAlgn="base">
        <a:spcBef>
          <a:spcPct val="20000"/>
        </a:spcBef>
        <a:spcAft>
          <a:spcPct val="0"/>
        </a:spcAft>
        <a:buClr>
          <a:schemeClr val="tx1"/>
        </a:buClr>
        <a:buSzPct val="65000"/>
        <a:buFont typeface="Wingdings" panose="05000000000000000000" pitchFamily="2" charset="2"/>
        <a:buChar char="l"/>
        <a:defRPr>
          <a:solidFill>
            <a:schemeClr val="tx1"/>
          </a:solidFill>
          <a:latin typeface="+mn-lt"/>
          <a:ea typeface="+mn-ea"/>
        </a:defRPr>
      </a:lvl8pPr>
      <a:lvl9pPr marL="3886200" indent="-228600" algn="l" rtl="0" fontAlgn="base">
        <a:spcBef>
          <a:spcPct val="20000"/>
        </a:spcBef>
        <a:spcAft>
          <a:spcPct val="0"/>
        </a:spcAft>
        <a:buClr>
          <a:schemeClr val="tx1"/>
        </a:buClr>
        <a:buSzPct val="65000"/>
        <a:buFont typeface="Wingdings" panose="05000000000000000000" pitchFamily="2" charset="2"/>
        <a:buChar char="l"/>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wmf"/><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17.wmf"/><Relationship Id="rId1" Type="http://schemas.openxmlformats.org/officeDocument/2006/relationships/image" Target="../media/image16.wmf"/></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wmf"/></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tags" Target="../tags/tag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4.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tags" Target="../tags/tag3.xml"/><Relationship Id="rId3" Type="http://schemas.openxmlformats.org/officeDocument/2006/relationships/image" Target="../media/image26.png"/><Relationship Id="rId2" Type="http://schemas.openxmlformats.org/officeDocument/2006/relationships/tags" Target="../tags/tag2.xml"/><Relationship Id="rId1" Type="http://schemas.openxmlformats.org/officeDocument/2006/relationships/image" Target="../media/image25.wmf"/></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2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1.wmf"/><Relationship Id="rId1" Type="http://schemas.openxmlformats.org/officeDocument/2006/relationships/image" Target="../media/image30.wmf"/></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wmf"/></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3.wmf"/><Relationship Id="rId1" Type="http://schemas.openxmlformats.org/officeDocument/2006/relationships/tags" Target="../tags/tag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1.wmf"/><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5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4.jpeg"/><Relationship Id="rId3" Type="http://schemas.openxmlformats.org/officeDocument/2006/relationships/image" Target="../media/image43.jpeg"/><Relationship Id="rId2" Type="http://schemas.openxmlformats.org/officeDocument/2006/relationships/image" Target="NULL" TargetMode="External"/><Relationship Id="rId1" Type="http://schemas.openxmlformats.org/officeDocument/2006/relationships/image" Target="../media/image42.jpe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7.wmf"/><Relationship Id="rId1" Type="http://schemas.openxmlformats.org/officeDocument/2006/relationships/image" Target="../media/image4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8.wm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image" Target="../media/image49.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2.wmf"/></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3.wmf"/></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71.xml.rels><?xml version="1.0" encoding="UTF-8" standalone="yes"?>
<Relationships xmlns="http://schemas.openxmlformats.org/package/2006/relationships"><Relationship Id="rId9" Type="http://schemas.openxmlformats.org/officeDocument/2006/relationships/image" Target="../media/image63.wmf"/><Relationship Id="rId8" Type="http://schemas.openxmlformats.org/officeDocument/2006/relationships/image" Target="../media/image62.wmf"/><Relationship Id="rId7" Type="http://schemas.openxmlformats.org/officeDocument/2006/relationships/image" Target="../media/image61.wmf"/><Relationship Id="rId6" Type="http://schemas.openxmlformats.org/officeDocument/2006/relationships/image" Target="../media/image60.wmf"/><Relationship Id="rId5" Type="http://schemas.openxmlformats.org/officeDocument/2006/relationships/image" Target="../media/image59.png"/><Relationship Id="rId4" Type="http://schemas.openxmlformats.org/officeDocument/2006/relationships/image" Target="../media/image58.wmf"/><Relationship Id="rId3" Type="http://schemas.openxmlformats.org/officeDocument/2006/relationships/image" Target="../media/image57.wmf"/><Relationship Id="rId2" Type="http://schemas.openxmlformats.org/officeDocument/2006/relationships/image" Target="../media/image56.png"/><Relationship Id="rId16" Type="http://schemas.openxmlformats.org/officeDocument/2006/relationships/slideLayout" Target="../slideLayouts/slideLayout7.xml"/><Relationship Id="rId15" Type="http://schemas.openxmlformats.org/officeDocument/2006/relationships/image" Target="../media/image69.png"/><Relationship Id="rId14" Type="http://schemas.openxmlformats.org/officeDocument/2006/relationships/image" Target="../media/image68.png"/><Relationship Id="rId13" Type="http://schemas.openxmlformats.org/officeDocument/2006/relationships/image" Target="../media/image67.wmf"/><Relationship Id="rId12" Type="http://schemas.openxmlformats.org/officeDocument/2006/relationships/image" Target="../media/image66.png"/><Relationship Id="rId11" Type="http://schemas.openxmlformats.org/officeDocument/2006/relationships/image" Target="../media/image65.wmf"/><Relationship Id="rId10" Type="http://schemas.openxmlformats.org/officeDocument/2006/relationships/image" Target="../media/image64.wmf"/><Relationship Id="rId1" Type="http://schemas.openxmlformats.org/officeDocument/2006/relationships/image" Target="../media/image55.wmf"/></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1.png"/><Relationship Id="rId1" Type="http://schemas.openxmlformats.org/officeDocument/2006/relationships/image" Target="../media/image70.w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2.wmf"/></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5.jpeg"/><Relationship Id="rId2" Type="http://schemas.openxmlformats.org/officeDocument/2006/relationships/image" Target="../media/image74.wmf"/><Relationship Id="rId1" Type="http://schemas.openxmlformats.org/officeDocument/2006/relationships/image" Target="../media/image73.wmf"/></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7.png"/><Relationship Id="rId1" Type="http://schemas.openxmlformats.org/officeDocument/2006/relationships/image" Target="../media/image76.wmf"/></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8.wmf"/></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0.wmf"/><Relationship Id="rId1" Type="http://schemas.openxmlformats.org/officeDocument/2006/relationships/image" Target="../media/image79.wmf"/></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1.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p:cNvSpPr>
            <a:spLocks noGrp="1" noChangeArrowheads="1"/>
          </p:cNvSpPr>
          <p:nvPr>
            <p:ph type="ctrTitle"/>
          </p:nvPr>
        </p:nvSpPr>
        <p:spPr/>
        <p:txBody>
          <a:bodyPr/>
          <a:lstStyle/>
          <a:p>
            <a:pPr eaLnBrk="1" hangingPunct="1"/>
            <a:r>
              <a:rPr lang="zh-CN" altLang="en-US" sz="4400">
                <a:latin typeface="Arial" panose="020B0604020202020204" pitchFamily="34" charset="0"/>
                <a:ea typeface="微软雅黑" panose="020B0503020204020204" charset="-122"/>
              </a:rPr>
              <a:t>第六章  有机物电合成</a:t>
            </a:r>
            <a:endParaRPr lang="zh-CN" altLang="en-US" sz="4400">
              <a:latin typeface="Arial" panose="020B0604020202020204" pitchFamily="34" charset="0"/>
              <a:ea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AutoShape 2"/>
          <p:cNvSpPr>
            <a:spLocks noGrp="1" noChangeArrowheads="1"/>
          </p:cNvSpPr>
          <p:nvPr>
            <p:ph type="title"/>
          </p:nvPr>
        </p:nvSpPr>
        <p:spPr/>
        <p:txBody>
          <a:bodyPr/>
          <a:lstStyle/>
          <a:p>
            <a:pPr eaLnBrk="1" hangingPunct="1"/>
            <a:r>
              <a:rPr lang="zh-CN" altLang="en-US">
                <a:latin typeface="Arial" panose="020B0604020202020204" pitchFamily="34" charset="0"/>
                <a:ea typeface="微软雅黑" panose="020B0503020204020204" charset="-122"/>
              </a:rPr>
              <a:t>本章主要内容：</a:t>
            </a:r>
            <a:endParaRPr lang="zh-CN" altLang="en-US">
              <a:latin typeface="Arial" panose="020B0604020202020204" pitchFamily="34" charset="0"/>
              <a:ea typeface="微软雅黑" panose="020B0503020204020204" charset="-122"/>
            </a:endParaRPr>
          </a:p>
        </p:txBody>
      </p:sp>
      <p:sp>
        <p:nvSpPr>
          <p:cNvPr id="6147" name="Rectangle 3"/>
          <p:cNvSpPr>
            <a:spLocks noGrp="1" noChangeArrowheads="1"/>
          </p:cNvSpPr>
          <p:nvPr>
            <p:ph type="body" idx="1"/>
          </p:nvPr>
        </p:nvSpPr>
        <p:spPr>
          <a:xfrm>
            <a:off x="755650" y="1916113"/>
            <a:ext cx="8137525" cy="4752975"/>
          </a:xfrm>
        </p:spPr>
        <p:txBody>
          <a:bodyPr/>
          <a:lstStyle/>
          <a:p>
            <a:pPr eaLnBrk="1" hangingPunct="1">
              <a:lnSpc>
                <a:spcPct val="150000"/>
              </a:lnSpc>
              <a:buFont typeface="Wingdings" panose="05000000000000000000" pitchFamily="2" charset="2"/>
              <a:buNone/>
            </a:pPr>
            <a:r>
              <a:rPr lang="en-US" altLang="zh-CN" sz="3200" b="1">
                <a:latin typeface="Arial" panose="020B0604020202020204" pitchFamily="34" charset="0"/>
                <a:ea typeface="微软雅黑" panose="020B0503020204020204" charset="-122"/>
              </a:rPr>
              <a:t>1</a:t>
            </a:r>
            <a:r>
              <a:rPr lang="zh-CN" altLang="en-US" sz="3200" b="1">
                <a:latin typeface="Arial" panose="020B0604020202020204" pitchFamily="34" charset="0"/>
                <a:ea typeface="微软雅黑" panose="020B0503020204020204" charset="-122"/>
              </a:rPr>
              <a:t>、概述</a:t>
            </a:r>
            <a:endParaRPr lang="zh-CN" altLang="en-US" sz="3200" b="1">
              <a:latin typeface="Arial" panose="020B0604020202020204" pitchFamily="34" charset="0"/>
              <a:ea typeface="微软雅黑" panose="020B0503020204020204" charset="-122"/>
            </a:endParaRPr>
          </a:p>
          <a:p>
            <a:pPr eaLnBrk="1" hangingPunct="1">
              <a:lnSpc>
                <a:spcPct val="150000"/>
              </a:lnSpc>
              <a:buFont typeface="Wingdings" panose="05000000000000000000" pitchFamily="2" charset="2"/>
              <a:buNone/>
            </a:pPr>
            <a:r>
              <a:rPr lang="en-US" altLang="zh-CN" sz="3200" b="1">
                <a:latin typeface="Arial" panose="020B0604020202020204" pitchFamily="34" charset="0"/>
                <a:ea typeface="微软雅黑" panose="020B0503020204020204" charset="-122"/>
              </a:rPr>
              <a:t>2</a:t>
            </a:r>
            <a:r>
              <a:rPr lang="zh-CN" altLang="en-US" sz="3200" b="1">
                <a:latin typeface="Arial" panose="020B0604020202020204" pitchFamily="34" charset="0"/>
                <a:ea typeface="微软雅黑" panose="020B0503020204020204" charset="-122"/>
              </a:rPr>
              <a:t>、有机电合成的分类</a:t>
            </a:r>
            <a:endParaRPr lang="zh-CN" altLang="en-US" sz="3200" b="1">
              <a:latin typeface="Arial" panose="020B0604020202020204" pitchFamily="34" charset="0"/>
              <a:ea typeface="微软雅黑" panose="020B0503020204020204" charset="-122"/>
            </a:endParaRPr>
          </a:p>
          <a:p>
            <a:pPr eaLnBrk="1" hangingPunct="1">
              <a:lnSpc>
                <a:spcPct val="150000"/>
              </a:lnSpc>
              <a:buFont typeface="Wingdings" panose="05000000000000000000" pitchFamily="2" charset="2"/>
              <a:buNone/>
            </a:pPr>
            <a:r>
              <a:rPr lang="en-US" altLang="zh-CN" sz="3200" b="1">
                <a:latin typeface="Arial" panose="020B0604020202020204" pitchFamily="34" charset="0"/>
                <a:ea typeface="微软雅黑" panose="020B0503020204020204" charset="-122"/>
              </a:rPr>
              <a:t>3</a:t>
            </a:r>
            <a:r>
              <a:rPr lang="zh-CN" altLang="en-US" sz="3200" b="1">
                <a:latin typeface="Arial" panose="020B0604020202020204" pitchFamily="34" charset="0"/>
                <a:ea typeface="微软雅黑" panose="020B0503020204020204" charset="-122"/>
              </a:rPr>
              <a:t>、有机电合成的若干实际问题</a:t>
            </a:r>
            <a:endParaRPr lang="zh-CN" altLang="en-US" sz="3200" b="1">
              <a:latin typeface="Arial" panose="020B0604020202020204" pitchFamily="34" charset="0"/>
              <a:ea typeface="微软雅黑" panose="020B0503020204020204" charset="-122"/>
            </a:endParaRPr>
          </a:p>
          <a:p>
            <a:pPr eaLnBrk="1" hangingPunct="1">
              <a:lnSpc>
                <a:spcPct val="150000"/>
              </a:lnSpc>
              <a:buFont typeface="Wingdings" panose="05000000000000000000" pitchFamily="2" charset="2"/>
              <a:buNone/>
            </a:pPr>
            <a:r>
              <a:rPr lang="en-US" altLang="zh-CN" sz="3200" b="1">
                <a:latin typeface="Arial" panose="020B0604020202020204" pitchFamily="34" charset="0"/>
                <a:ea typeface="微软雅黑" panose="020B0503020204020204" charset="-122"/>
              </a:rPr>
              <a:t>4</a:t>
            </a:r>
            <a:r>
              <a:rPr lang="zh-CN" altLang="en-US" sz="3200" b="1">
                <a:latin typeface="Arial" panose="020B0604020202020204" pitchFamily="34" charset="0"/>
                <a:ea typeface="微软雅黑" panose="020B0503020204020204" charset="-122"/>
              </a:rPr>
              <a:t>、有机电合成的工业实例</a:t>
            </a:r>
            <a:endParaRPr lang="zh-CN" altLang="en-US" sz="3200" b="1">
              <a:latin typeface="Arial" panose="020B0604020202020204" pitchFamily="34" charset="0"/>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AutoShape 4"/>
          <p:cNvSpPr>
            <a:spLocks noChangeArrowheads="1"/>
          </p:cNvSpPr>
          <p:nvPr/>
        </p:nvSpPr>
        <p:spPr bwMode="auto">
          <a:xfrm>
            <a:off x="755650" y="188913"/>
            <a:ext cx="7924800" cy="1143000"/>
          </a:xfrm>
          <a:prstGeom prst="roundRect">
            <a:avLst>
              <a:gd name="adj" fmla="val 21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b"/>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0"/>
              </a:spcBef>
              <a:buClrTx/>
              <a:buSzTx/>
              <a:buFontTx/>
              <a:buNone/>
            </a:pPr>
            <a:r>
              <a:rPr lang="en-US" altLang="zh-CN" sz="3200" b="1">
                <a:solidFill>
                  <a:schemeClr val="tx2"/>
                </a:solidFill>
                <a:ea typeface="微软雅黑" panose="020B0503020204020204" charset="-122"/>
              </a:rPr>
              <a:t>6</a:t>
            </a:r>
            <a:r>
              <a:rPr lang="zh-CN" altLang="en-US" sz="3200" b="1">
                <a:solidFill>
                  <a:schemeClr val="tx2"/>
                </a:solidFill>
                <a:ea typeface="微软雅黑" panose="020B0503020204020204" charset="-122"/>
              </a:rPr>
              <a:t>－</a:t>
            </a:r>
            <a:r>
              <a:rPr lang="en-US" altLang="zh-CN" sz="3200" b="1">
                <a:solidFill>
                  <a:schemeClr val="tx2"/>
                </a:solidFill>
                <a:ea typeface="微软雅黑" panose="020B0503020204020204" charset="-122"/>
              </a:rPr>
              <a:t>1 </a:t>
            </a:r>
            <a:r>
              <a:rPr lang="zh-CN" altLang="en-US" sz="3200" b="1">
                <a:solidFill>
                  <a:schemeClr val="tx2"/>
                </a:solidFill>
                <a:ea typeface="微软雅黑" panose="020B0503020204020204" charset="-122"/>
              </a:rPr>
              <a:t>概述</a:t>
            </a:r>
            <a:endParaRPr lang="zh-CN" altLang="en-US" sz="3200" b="1">
              <a:solidFill>
                <a:schemeClr val="tx2"/>
              </a:solidFill>
              <a:ea typeface="微软雅黑" panose="020B0503020204020204" charset="-122"/>
            </a:endParaRPr>
          </a:p>
        </p:txBody>
      </p:sp>
      <p:sp>
        <p:nvSpPr>
          <p:cNvPr id="101381" name="Text Box 5"/>
          <p:cNvSpPr txBox="1">
            <a:spLocks noChangeArrowheads="1"/>
          </p:cNvSpPr>
          <p:nvPr/>
        </p:nvSpPr>
        <p:spPr bwMode="auto">
          <a:xfrm>
            <a:off x="900113" y="2708275"/>
            <a:ext cx="7848600" cy="333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pPr>
            <a:r>
              <a:rPr lang="en-US" altLang="zh-CN" sz="2700" b="1">
                <a:ea typeface="微软雅黑" panose="020B0503020204020204" charset="-122"/>
              </a:rPr>
              <a:t>        </a:t>
            </a:r>
            <a:r>
              <a:rPr lang="zh-CN" altLang="en-US" sz="2700" b="1">
                <a:ea typeface="微软雅黑" panose="020B0503020204020204" charset="-122"/>
              </a:rPr>
              <a:t>有机电化学合成是有机合成与电化学技术相结合的一门边缘学科，广泛应用于染料、药物、农药、香料、有机试剂、氨基酸等精细化学品及有机中间体的合成。近</a:t>
            </a:r>
            <a:r>
              <a:rPr lang="en-US" altLang="zh-CN" sz="2700" b="1">
                <a:ea typeface="微软雅黑" panose="020B0503020204020204" charset="-122"/>
              </a:rPr>
              <a:t>20</a:t>
            </a:r>
            <a:r>
              <a:rPr lang="zh-CN" altLang="en-US" sz="2700" b="1">
                <a:ea typeface="微软雅黑" panose="020B0503020204020204" charset="-122"/>
              </a:rPr>
              <a:t>年来，世界各国在这一领域的发展速度很快，相继有近百个有机产品进入了工业化生产或中试阶段。</a:t>
            </a:r>
            <a:endParaRPr lang="zh-CN" altLang="en-US" sz="2700" b="1">
              <a:ea typeface="微软雅黑" panose="020B0503020204020204" charset="-122"/>
            </a:endParaRPr>
          </a:p>
        </p:txBody>
      </p:sp>
      <p:sp>
        <p:nvSpPr>
          <p:cNvPr id="7172" name="Text Box 6"/>
          <p:cNvSpPr txBox="1">
            <a:spLocks noChangeArrowheads="1"/>
          </p:cNvSpPr>
          <p:nvPr/>
        </p:nvSpPr>
        <p:spPr bwMode="auto">
          <a:xfrm>
            <a:off x="900113" y="1844675"/>
            <a:ext cx="5256212"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3200" b="1">
                <a:ea typeface="微软雅黑" panose="020B0503020204020204" charset="-122"/>
              </a:rPr>
              <a:t>1</a:t>
            </a:r>
            <a:r>
              <a:rPr lang="zh-CN" altLang="en-US" sz="3200" b="1">
                <a:ea typeface="微软雅黑" panose="020B0503020204020204" charset="-122"/>
              </a:rPr>
              <a:t>、什么是有机电合成</a:t>
            </a:r>
            <a:endParaRPr lang="zh-CN" altLang="en-US" sz="3200" b="1">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101381"/>
                                        </p:tgtEl>
                                        <p:attrNameLst>
                                          <p:attrName>style.visibility</p:attrName>
                                        </p:attrNameLst>
                                      </p:cBhvr>
                                      <p:to>
                                        <p:strVal val="visible"/>
                                      </p:to>
                                    </p:set>
                                    <p:animEffect transition="in" filter="slide(fromLeft)">
                                      <p:cBhvr>
                                        <p:cTn id="7" dur="1000"/>
                                        <p:tgtEl>
                                          <p:spTgt spid="1013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8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ext Box 2"/>
          <p:cNvSpPr txBox="1">
            <a:spLocks noChangeArrowheads="1"/>
          </p:cNvSpPr>
          <p:nvPr/>
        </p:nvSpPr>
        <p:spPr bwMode="auto">
          <a:xfrm>
            <a:off x="1042988" y="2060575"/>
            <a:ext cx="7273925" cy="422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Tx/>
              <a:buNone/>
            </a:pPr>
            <a:r>
              <a:rPr lang="en-US" altLang="zh-CN" b="1">
                <a:ea typeface="微软雅黑" panose="020B0503020204020204" charset="-122"/>
              </a:rPr>
              <a:t>       </a:t>
            </a:r>
            <a:r>
              <a:rPr lang="zh-CN" altLang="en-US" b="1">
                <a:ea typeface="微软雅黑" panose="020B0503020204020204" charset="-122"/>
              </a:rPr>
              <a:t>尤其是进人</a:t>
            </a:r>
            <a:r>
              <a:rPr lang="en-US" altLang="zh-CN" b="1">
                <a:ea typeface="微软雅黑" panose="020B0503020204020204" charset="-122"/>
              </a:rPr>
              <a:t>21</a:t>
            </a:r>
            <a:r>
              <a:rPr lang="zh-CN" altLang="en-US" b="1">
                <a:ea typeface="微软雅黑" panose="020B0503020204020204" charset="-122"/>
              </a:rPr>
              <a:t>世纪后，一场以节约资源和能源，保护生态环境平衡为主的绿色工业革命正在蓬勃兴起。人们都在设想用原子经济性的科学方法来重新设计新的合成路线，从而在源头上防止污染的产生。这种以绿色合成为目标的方法和技术除化学催化合成和酶催化合成以外，最引人瞩目的合成方法当属有机电化学合成技术。</a:t>
            </a:r>
            <a:endParaRPr lang="zh-CN" altLang="en-US" b="1">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20834"/>
                                        </p:tgtEl>
                                        <p:attrNameLst>
                                          <p:attrName>style.visibility</p:attrName>
                                        </p:attrNameLst>
                                      </p:cBhvr>
                                      <p:to>
                                        <p:strVal val="visible"/>
                                      </p:to>
                                    </p:set>
                                    <p:animEffect transition="in" filter="slide(fromBottom)">
                                      <p:cBhvr>
                                        <p:cTn id="7" dur="1000"/>
                                        <p:tgtEl>
                                          <p:spTgt spid="1208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AutoShape 2"/>
          <p:cNvSpPr>
            <a:spLocks noGrp="1" noChangeArrowheads="1"/>
          </p:cNvSpPr>
          <p:nvPr>
            <p:ph type="title"/>
          </p:nvPr>
        </p:nvSpPr>
        <p:spPr/>
        <p:txBody>
          <a:bodyPr/>
          <a:lstStyle/>
          <a:p>
            <a:pPr eaLnBrk="1" hangingPunct="1"/>
            <a:r>
              <a:rPr lang="en-US" altLang="zh-CN">
                <a:latin typeface="Arial" panose="020B0604020202020204" pitchFamily="34" charset="0"/>
                <a:ea typeface="微软雅黑" panose="020B0503020204020204" charset="-122"/>
              </a:rPr>
              <a:t>2</a:t>
            </a:r>
            <a:r>
              <a:rPr lang="zh-CN" altLang="en-US">
                <a:latin typeface="Arial" panose="020B0604020202020204" pitchFamily="34" charset="0"/>
                <a:ea typeface="微软雅黑" panose="020B0503020204020204" charset="-122"/>
              </a:rPr>
              <a:t>、有机电合成的发展</a:t>
            </a:r>
            <a:endParaRPr lang="zh-CN" altLang="en-US">
              <a:latin typeface="Arial" panose="020B0604020202020204" pitchFamily="34" charset="0"/>
              <a:ea typeface="微软雅黑" panose="020B0503020204020204" charset="-122"/>
            </a:endParaRPr>
          </a:p>
        </p:txBody>
      </p:sp>
      <p:sp>
        <p:nvSpPr>
          <p:cNvPr id="145411" name="Rectangle 3"/>
          <p:cNvSpPr>
            <a:spLocks noGrp="1" noChangeArrowheads="1"/>
          </p:cNvSpPr>
          <p:nvPr>
            <p:ph type="body" idx="1"/>
          </p:nvPr>
        </p:nvSpPr>
        <p:spPr>
          <a:xfrm>
            <a:off x="755650" y="1916113"/>
            <a:ext cx="8137525" cy="4635500"/>
          </a:xfrm>
        </p:spPr>
        <p:txBody>
          <a:bodyPr/>
          <a:lstStyle/>
          <a:p>
            <a:pPr eaLnBrk="1" hangingPunct="1">
              <a:lnSpc>
                <a:spcPct val="130000"/>
              </a:lnSpc>
              <a:buFont typeface="Wingdings" panose="05000000000000000000" pitchFamily="2" charset="2"/>
              <a:buNone/>
            </a:pPr>
            <a:r>
              <a:rPr lang="en-US" altLang="zh-CN" sz="2600" b="1">
                <a:latin typeface="Arial" panose="020B0604020202020204" pitchFamily="34" charset="0"/>
                <a:ea typeface="微软雅黑" panose="020B0503020204020204" charset="-122"/>
              </a:rPr>
              <a:t>1834</a:t>
            </a:r>
            <a:r>
              <a:rPr lang="zh-CN" altLang="en-US" sz="2600" b="1">
                <a:latin typeface="Arial" panose="020B0604020202020204" pitchFamily="34" charset="0"/>
                <a:ea typeface="微软雅黑" panose="020B0503020204020204" charset="-122"/>
              </a:rPr>
              <a:t>年：法拉第宣称在电解乙酸时获得某种烃；</a:t>
            </a:r>
            <a:endParaRPr lang="zh-CN" altLang="en-US" sz="2600" b="1">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endParaRPr lang="zh-CN" altLang="en-US" sz="2600" b="1">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r>
              <a:rPr lang="en-US" altLang="zh-CN" sz="2600" b="1">
                <a:latin typeface="Arial" panose="020B0604020202020204" pitchFamily="34" charset="0"/>
                <a:ea typeface="微软雅黑" panose="020B0503020204020204" charset="-122"/>
              </a:rPr>
              <a:t>1849</a:t>
            </a:r>
            <a:r>
              <a:rPr lang="zh-CN" altLang="en-US" sz="2600" b="1">
                <a:latin typeface="Arial" panose="020B0604020202020204" pitchFamily="34" charset="0"/>
                <a:ea typeface="微软雅黑" panose="020B0503020204020204" charset="-122"/>
              </a:rPr>
              <a:t>年：柯尔贝通过试验指出了这类反应的规律；</a:t>
            </a:r>
            <a:endParaRPr lang="zh-CN" altLang="en-US" sz="2600" b="1">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endParaRPr lang="zh-CN" altLang="en-US" sz="2600" b="1">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r>
              <a:rPr lang="zh-CN" altLang="en-US" sz="2600" b="1">
                <a:latin typeface="Arial" panose="020B0604020202020204" pitchFamily="34" charset="0"/>
                <a:ea typeface="微软雅黑" panose="020B0503020204020204" charset="-122"/>
              </a:rPr>
              <a:t> </a:t>
            </a:r>
            <a:r>
              <a:rPr lang="en-US" altLang="zh-CN" sz="2600" b="1">
                <a:latin typeface="Arial" panose="020B0604020202020204" pitchFamily="34" charset="0"/>
                <a:ea typeface="微软雅黑" panose="020B0503020204020204" charset="-122"/>
              </a:rPr>
              <a:t>1850</a:t>
            </a:r>
            <a:r>
              <a:rPr lang="zh-CN" altLang="en-US" sz="2600" b="1">
                <a:latin typeface="Arial" panose="020B0604020202020204" pitchFamily="34" charset="0"/>
                <a:ea typeface="微软雅黑" panose="020B0503020204020204" charset="-122"/>
              </a:rPr>
              <a:t>至</a:t>
            </a:r>
            <a:r>
              <a:rPr lang="en-US" altLang="zh-CN" sz="2600" b="1">
                <a:latin typeface="Arial" panose="020B0604020202020204" pitchFamily="34" charset="0"/>
                <a:ea typeface="微软雅黑" panose="020B0503020204020204" charset="-122"/>
              </a:rPr>
              <a:t>1960</a:t>
            </a:r>
            <a:r>
              <a:rPr lang="zh-CN" altLang="en-US" sz="2600" b="1">
                <a:latin typeface="Arial" panose="020B0604020202020204" pitchFamily="34" charset="0"/>
                <a:ea typeface="微软雅黑" panose="020B0503020204020204" charset="-122"/>
              </a:rPr>
              <a:t>年，实验研究阶段：芳香族硝基化合物的还原、不饱和醛和酮的还原、各种脂肪族化合物和杂环化合物的氧化、不同的阳极取代反应等。</a:t>
            </a:r>
            <a:endParaRPr lang="zh-CN" altLang="en-US" sz="2600" b="1">
              <a:latin typeface="Arial" panose="020B0604020202020204" pitchFamily="34" charset="0"/>
              <a:ea typeface="微软雅黑" panose="020B0503020204020204" charset="-122"/>
            </a:endParaRPr>
          </a:p>
        </p:txBody>
      </p:sp>
      <p:pic>
        <p:nvPicPr>
          <p:cNvPr id="14541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47813" y="3716338"/>
            <a:ext cx="640080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750" y="2500313"/>
            <a:ext cx="6389688" cy="642937"/>
          </a:xfrm>
          <a:prstGeom prst="rect">
            <a:avLst/>
          </a:prstGeom>
          <a:solidFill>
            <a:srgbClr val="FFCC99">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5411">
                                            <p:txEl>
                                              <p:pRg st="2" end="2"/>
                                            </p:txEl>
                                          </p:spTgt>
                                        </p:tgtEl>
                                        <p:attrNameLst>
                                          <p:attrName>style.visibility</p:attrName>
                                        </p:attrNameLst>
                                      </p:cBhvr>
                                      <p:to>
                                        <p:strVal val="visible"/>
                                      </p:to>
                                    </p:set>
                                    <p:anim calcmode="lin" valueType="num">
                                      <p:cBhvr additive="base">
                                        <p:cTn id="7" dur="500" fill="hold"/>
                                        <p:tgtEl>
                                          <p:spTgt spid="14541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54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45412"/>
                                        </p:tgtEl>
                                        <p:attrNameLst>
                                          <p:attrName>style.visibility</p:attrName>
                                        </p:attrNameLst>
                                      </p:cBhvr>
                                      <p:to>
                                        <p:strVal val="visible"/>
                                      </p:to>
                                    </p:set>
                                    <p:anim calcmode="lin" valueType="num">
                                      <p:cBhvr>
                                        <p:cTn id="13" dur="500" fill="hold"/>
                                        <p:tgtEl>
                                          <p:spTgt spid="145412"/>
                                        </p:tgtEl>
                                        <p:attrNameLst>
                                          <p:attrName>ppt_w</p:attrName>
                                        </p:attrNameLst>
                                      </p:cBhvr>
                                      <p:tavLst>
                                        <p:tav tm="0">
                                          <p:val>
                                            <p:fltVal val="0"/>
                                          </p:val>
                                        </p:tav>
                                        <p:tav tm="100000">
                                          <p:val>
                                            <p:strVal val="#ppt_w"/>
                                          </p:val>
                                        </p:tav>
                                      </p:tavLst>
                                    </p:anim>
                                    <p:anim calcmode="lin" valueType="num">
                                      <p:cBhvr>
                                        <p:cTn id="14" dur="500" fill="hold"/>
                                        <p:tgtEl>
                                          <p:spTgt spid="145412"/>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145411">
                                            <p:txEl>
                                              <p:pRg st="4" end="4"/>
                                            </p:txEl>
                                          </p:spTgt>
                                        </p:tgtEl>
                                        <p:attrNameLst>
                                          <p:attrName>style.visibility</p:attrName>
                                        </p:attrNameLst>
                                      </p:cBhvr>
                                      <p:to>
                                        <p:strVal val="visible"/>
                                      </p:to>
                                    </p:set>
                                    <p:anim calcmode="lin" valueType="num">
                                      <p:cBhvr>
                                        <p:cTn id="19" dur="500" fill="hold"/>
                                        <p:tgtEl>
                                          <p:spTgt spid="145411">
                                            <p:txEl>
                                              <p:pRg st="4" end="4"/>
                                            </p:txEl>
                                          </p:spTgt>
                                        </p:tgtEl>
                                        <p:attrNameLst>
                                          <p:attrName>ppt_w</p:attrName>
                                        </p:attrNameLst>
                                      </p:cBhvr>
                                      <p:tavLst>
                                        <p:tav tm="0">
                                          <p:val>
                                            <p:fltVal val="0"/>
                                          </p:val>
                                        </p:tav>
                                        <p:tav tm="100000">
                                          <p:val>
                                            <p:strVal val="#ppt_w"/>
                                          </p:val>
                                        </p:tav>
                                      </p:tavLst>
                                    </p:anim>
                                    <p:anim calcmode="lin" valueType="num">
                                      <p:cBhvr>
                                        <p:cTn id="20" dur="500" fill="hold"/>
                                        <p:tgtEl>
                                          <p:spTgt spid="145411">
                                            <p:txEl>
                                              <p:pRg st="4" end="4"/>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body" idx="1"/>
          </p:nvPr>
        </p:nvSpPr>
        <p:spPr>
          <a:xfrm>
            <a:off x="755650" y="1844675"/>
            <a:ext cx="7920038" cy="4537075"/>
          </a:xfrm>
        </p:spPr>
        <p:txBody>
          <a:bodyPr/>
          <a:lstStyle/>
          <a:p>
            <a:pPr eaLnBrk="1" hangingPunct="1">
              <a:lnSpc>
                <a:spcPct val="130000"/>
              </a:lnSpc>
              <a:buFont typeface="Wingdings" panose="05000000000000000000" pitchFamily="2" charset="2"/>
              <a:buNone/>
            </a:pPr>
            <a:r>
              <a:rPr lang="en-US" altLang="zh-CN">
                <a:latin typeface="Arial" panose="020B0604020202020204" pitchFamily="34" charset="0"/>
                <a:ea typeface="微软雅黑" panose="020B0503020204020204" charset="-122"/>
              </a:rPr>
              <a:t> </a:t>
            </a:r>
            <a:r>
              <a:rPr lang="en-US" altLang="zh-CN" b="1">
                <a:latin typeface="Arial" panose="020B0604020202020204" pitchFamily="34" charset="0"/>
                <a:ea typeface="微软雅黑" panose="020B0503020204020204" charset="-122"/>
              </a:rPr>
              <a:t>1960</a:t>
            </a:r>
            <a:r>
              <a:rPr lang="zh-CN" altLang="en-US" b="1">
                <a:latin typeface="Arial" panose="020B0604020202020204" pitchFamily="34" charset="0"/>
                <a:ea typeface="微软雅黑" panose="020B0503020204020204" charset="-122"/>
              </a:rPr>
              <a:t>年代的工业化时代：</a:t>
            </a:r>
            <a:endParaRPr lang="zh-CN" altLang="en-US" b="1">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r>
              <a:rPr lang="zh-CN" altLang="en-US" b="1">
                <a:latin typeface="Arial" panose="020B0604020202020204" pitchFamily="34" charset="0"/>
                <a:ea typeface="微软雅黑" panose="020B0503020204020204" charset="-122"/>
              </a:rPr>
              <a:t> </a:t>
            </a:r>
            <a:r>
              <a:rPr lang="en-US" altLang="zh-CN" b="1">
                <a:latin typeface="Arial" panose="020B0604020202020204" pitchFamily="34" charset="0"/>
                <a:ea typeface="微软雅黑" panose="020B0503020204020204" charset="-122"/>
              </a:rPr>
              <a:t>1964</a:t>
            </a:r>
            <a:r>
              <a:rPr lang="zh-CN" altLang="en-US" b="1">
                <a:latin typeface="Arial" panose="020B0604020202020204" pitchFamily="34" charset="0"/>
                <a:ea typeface="微软雅黑" panose="020B0503020204020204" charset="-122"/>
              </a:rPr>
              <a:t>年：美国纳尔柯公司建成年产</a:t>
            </a:r>
            <a:r>
              <a:rPr lang="en-US" altLang="zh-CN" b="1">
                <a:latin typeface="Arial" panose="020B0604020202020204" pitchFamily="34" charset="0"/>
                <a:ea typeface="微软雅黑" panose="020B0503020204020204" charset="-122"/>
              </a:rPr>
              <a:t>18000</a:t>
            </a:r>
            <a:r>
              <a:rPr lang="zh-CN" altLang="en-US" b="1">
                <a:latin typeface="Arial" panose="020B0604020202020204" pitchFamily="34" charset="0"/>
                <a:ea typeface="微软雅黑" panose="020B0503020204020204" charset="-122"/>
              </a:rPr>
              <a:t>吨四乙基铅的电解工厂；</a:t>
            </a:r>
            <a:endParaRPr lang="zh-CN" altLang="en-US" b="1">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r>
              <a:rPr lang="zh-CN" altLang="en-US" b="1">
                <a:latin typeface="Arial" panose="020B0604020202020204" pitchFamily="34" charset="0"/>
                <a:ea typeface="微软雅黑" panose="020B0503020204020204" charset="-122"/>
              </a:rPr>
              <a:t> </a:t>
            </a:r>
            <a:r>
              <a:rPr lang="en-US" altLang="zh-CN" b="1">
                <a:latin typeface="Arial" panose="020B0604020202020204" pitchFamily="34" charset="0"/>
                <a:ea typeface="微软雅黑" panose="020B0503020204020204" charset="-122"/>
              </a:rPr>
              <a:t>1965</a:t>
            </a:r>
            <a:r>
              <a:rPr lang="zh-CN" altLang="en-US" b="1">
                <a:latin typeface="Arial" panose="020B0604020202020204" pitchFamily="34" charset="0"/>
                <a:ea typeface="微软雅黑" panose="020B0503020204020204" charset="-122"/>
              </a:rPr>
              <a:t>年：美国蒙山都公司建立年产</a:t>
            </a:r>
            <a:r>
              <a:rPr lang="en-US" altLang="zh-CN" b="1">
                <a:latin typeface="Arial" panose="020B0604020202020204" pitchFamily="34" charset="0"/>
                <a:ea typeface="微软雅黑" panose="020B0503020204020204" charset="-122"/>
              </a:rPr>
              <a:t>15000</a:t>
            </a:r>
            <a:r>
              <a:rPr lang="zh-CN" altLang="en-US" b="1">
                <a:latin typeface="Arial" panose="020B0604020202020204" pitchFamily="34" charset="0"/>
                <a:ea typeface="微软雅黑" panose="020B0503020204020204" charset="-122"/>
              </a:rPr>
              <a:t>吨己二腈的电合成工厂，标志有机电合成进入了工业化的时代。</a:t>
            </a:r>
            <a:endParaRPr lang="zh-CN" altLang="en-US" b="1">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46434">
                                            <p:txEl>
                                              <p:pRg st="0" end="0"/>
                                            </p:txEl>
                                          </p:spTgt>
                                        </p:tgtEl>
                                        <p:attrNameLst>
                                          <p:attrName>style.visibility</p:attrName>
                                        </p:attrNameLst>
                                      </p:cBhvr>
                                      <p:to>
                                        <p:strVal val="visible"/>
                                      </p:to>
                                    </p:set>
                                    <p:animEffect transition="in" filter="slide(fromBottom)">
                                      <p:cBhvr>
                                        <p:cTn id="7" dur="500"/>
                                        <p:tgtEl>
                                          <p:spTgt spid="1464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46434">
                                            <p:txEl>
                                              <p:pRg st="1" end="1"/>
                                            </p:txEl>
                                          </p:spTgt>
                                        </p:tgtEl>
                                        <p:attrNameLst>
                                          <p:attrName>style.visibility</p:attrName>
                                        </p:attrNameLst>
                                      </p:cBhvr>
                                      <p:to>
                                        <p:strVal val="visible"/>
                                      </p:to>
                                    </p:set>
                                    <p:animEffect transition="in" filter="slide(fromBottom)">
                                      <p:cBhvr>
                                        <p:cTn id="12" dur="500"/>
                                        <p:tgtEl>
                                          <p:spTgt spid="14643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46434">
                                            <p:txEl>
                                              <p:pRg st="2" end="2"/>
                                            </p:txEl>
                                          </p:spTgt>
                                        </p:tgtEl>
                                        <p:attrNameLst>
                                          <p:attrName>style.visibility</p:attrName>
                                        </p:attrNameLst>
                                      </p:cBhvr>
                                      <p:to>
                                        <p:strVal val="visible"/>
                                      </p:to>
                                    </p:set>
                                    <p:animEffect transition="in" filter="slide(fromBottom)">
                                      <p:cBhvr>
                                        <p:cTn id="17" dur="500"/>
                                        <p:tgtEl>
                                          <p:spTgt spid="14643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body" idx="1"/>
          </p:nvPr>
        </p:nvSpPr>
        <p:spPr/>
        <p:txBody>
          <a:bodyPr/>
          <a:lstStyle/>
          <a:p>
            <a:pPr eaLnBrk="1" hangingPunct="1">
              <a:lnSpc>
                <a:spcPct val="130000"/>
              </a:lnSpc>
              <a:buFont typeface="Wingdings" panose="05000000000000000000" pitchFamily="2" charset="2"/>
              <a:buNone/>
            </a:pPr>
            <a:r>
              <a:rPr lang="en-US" altLang="zh-CN" b="1">
                <a:latin typeface="Arial" panose="020B0604020202020204" pitchFamily="34" charset="0"/>
                <a:ea typeface="微软雅黑" panose="020B0503020204020204" charset="-122"/>
              </a:rPr>
              <a:t>        </a:t>
            </a:r>
            <a:r>
              <a:rPr lang="zh-CN" altLang="en-US" b="1">
                <a:latin typeface="Arial" panose="020B0604020202020204" pitchFamily="34" charset="0"/>
                <a:ea typeface="微软雅黑" panose="020B0503020204020204" charset="-122"/>
              </a:rPr>
              <a:t>近年来，有机电合成在一些新领域展开了探索性研究，颇引人注目。</a:t>
            </a:r>
            <a:endParaRPr lang="zh-CN" altLang="en-US" b="1">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r>
              <a:rPr lang="zh-CN" altLang="en-US" b="1">
                <a:latin typeface="Arial" panose="020B0604020202020204" pitchFamily="34" charset="0"/>
                <a:ea typeface="微软雅黑" panose="020B0503020204020204" charset="-122"/>
              </a:rPr>
              <a:t>           如：利用光电化学反应将</a:t>
            </a:r>
            <a:r>
              <a:rPr lang="en-US" altLang="zh-CN" b="1">
                <a:latin typeface="Arial" panose="020B0604020202020204" pitchFamily="34" charset="0"/>
                <a:ea typeface="微软雅黑" panose="020B0503020204020204" charset="-122"/>
              </a:rPr>
              <a:t>CO</a:t>
            </a:r>
            <a:r>
              <a:rPr lang="en-US" altLang="zh-CN" b="1" baseline="-25000">
                <a:latin typeface="Arial" panose="020B0604020202020204" pitchFamily="34" charset="0"/>
                <a:ea typeface="微软雅黑" panose="020B0503020204020204" charset="-122"/>
              </a:rPr>
              <a:t>2</a:t>
            </a:r>
            <a:r>
              <a:rPr lang="zh-CN" altLang="en-US" b="1">
                <a:latin typeface="Arial" panose="020B0604020202020204" pitchFamily="34" charset="0"/>
                <a:ea typeface="微软雅黑" panose="020B0503020204020204" charset="-122"/>
              </a:rPr>
              <a:t>转化为甲酸、甲醛、甲醇；电解合成导电有机聚合物，如聚苯胺、聚吡咯。</a:t>
            </a:r>
            <a:endParaRPr lang="zh-CN" altLang="en-US" b="1">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endParaRPr lang="zh-CN" altLang="en-US" b="1">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endParaRPr lang="en-US" altLang="zh-CN" b="1">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47458">
                                            <p:txEl>
                                              <p:pRg st="1" end="1"/>
                                            </p:txEl>
                                          </p:spTgt>
                                        </p:tgtEl>
                                        <p:attrNameLst>
                                          <p:attrName>style.visibility</p:attrName>
                                        </p:attrNameLst>
                                      </p:cBhvr>
                                      <p:to>
                                        <p:strVal val="visible"/>
                                      </p:to>
                                    </p:set>
                                    <p:anim calcmode="lin" valueType="num">
                                      <p:cBhvr>
                                        <p:cTn id="7" dur="500" fill="hold"/>
                                        <p:tgtEl>
                                          <p:spTgt spid="147458">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147458">
                                            <p:txEl>
                                              <p:pRg st="1" end="1"/>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5"/>
          <p:cNvSpPr txBox="1">
            <a:spLocks noChangeArrowheads="1"/>
          </p:cNvSpPr>
          <p:nvPr/>
        </p:nvSpPr>
        <p:spPr bwMode="auto">
          <a:xfrm>
            <a:off x="0" y="0"/>
            <a:ext cx="4968875"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3200" b="1">
                <a:ea typeface="微软雅黑" panose="020B0503020204020204" charset="-122"/>
              </a:rPr>
              <a:t>3</a:t>
            </a:r>
            <a:r>
              <a:rPr lang="zh-CN" altLang="en-US" sz="3200" b="1">
                <a:ea typeface="微软雅黑" panose="020B0503020204020204" charset="-122"/>
              </a:rPr>
              <a:t>、有机电合成的特点</a:t>
            </a:r>
            <a:endParaRPr lang="zh-CN" altLang="en-US" sz="3200" b="1">
              <a:ea typeface="微软雅黑" panose="020B0503020204020204" charset="-122"/>
            </a:endParaRPr>
          </a:p>
        </p:txBody>
      </p:sp>
      <p:pic>
        <p:nvPicPr>
          <p:cNvPr id="2" name="图片 1"/>
          <p:cNvPicPr>
            <a:picLocks noChangeAspect="1"/>
          </p:cNvPicPr>
          <p:nvPr/>
        </p:nvPicPr>
        <p:blipFill>
          <a:blip r:embed="rId1"/>
          <a:stretch>
            <a:fillRect/>
          </a:stretch>
        </p:blipFill>
        <p:spPr>
          <a:xfrm>
            <a:off x="467360" y="692785"/>
            <a:ext cx="7569200" cy="986155"/>
          </a:xfrm>
          <a:prstGeom prst="rect">
            <a:avLst/>
          </a:prstGeom>
        </p:spPr>
      </p:pic>
      <p:pic>
        <p:nvPicPr>
          <p:cNvPr id="3" name="图片 2"/>
          <p:cNvPicPr>
            <a:picLocks noChangeAspect="1"/>
          </p:cNvPicPr>
          <p:nvPr/>
        </p:nvPicPr>
        <p:blipFill>
          <a:blip r:embed="rId2"/>
          <a:stretch>
            <a:fillRect/>
          </a:stretch>
        </p:blipFill>
        <p:spPr>
          <a:xfrm>
            <a:off x="0" y="1628775"/>
            <a:ext cx="9167495" cy="3122295"/>
          </a:xfrm>
          <a:prstGeom prst="rect">
            <a:avLst/>
          </a:prstGeom>
        </p:spPr>
      </p:pic>
      <p:pic>
        <p:nvPicPr>
          <p:cNvPr id="4" name="图片 3"/>
          <p:cNvPicPr>
            <a:picLocks noChangeAspect="1"/>
          </p:cNvPicPr>
          <p:nvPr/>
        </p:nvPicPr>
        <p:blipFill>
          <a:blip r:embed="rId3"/>
          <a:stretch>
            <a:fillRect/>
          </a:stretch>
        </p:blipFill>
        <p:spPr>
          <a:xfrm>
            <a:off x="2627630" y="4725035"/>
            <a:ext cx="5619750" cy="1181100"/>
          </a:xfrm>
          <a:prstGeom prst="rect">
            <a:avLst/>
          </a:prstGeom>
        </p:spPr>
      </p:pic>
      <p:pic>
        <p:nvPicPr>
          <p:cNvPr id="5" name="图片 4"/>
          <p:cNvPicPr>
            <a:picLocks noChangeAspect="1"/>
          </p:cNvPicPr>
          <p:nvPr/>
        </p:nvPicPr>
        <p:blipFill>
          <a:blip r:embed="rId4"/>
          <a:stretch>
            <a:fillRect/>
          </a:stretch>
        </p:blipFill>
        <p:spPr>
          <a:xfrm>
            <a:off x="3131820" y="5876925"/>
            <a:ext cx="4886325" cy="1019175"/>
          </a:xfrm>
          <a:prstGeom prst="rect">
            <a:avLst/>
          </a:prstGeom>
        </p:spPr>
      </p:pic>
    </p:spTree>
  </p:cSld>
  <p:clrMapOvr>
    <a:masterClrMapping/>
  </p:clrMapOvr>
  <p:transition>
    <p:cover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467360" y="692785"/>
            <a:ext cx="7569200" cy="986155"/>
          </a:xfrm>
          <a:prstGeom prst="rect">
            <a:avLst/>
          </a:prstGeom>
        </p:spPr>
      </p:pic>
      <p:pic>
        <p:nvPicPr>
          <p:cNvPr id="3" name="图片 2"/>
          <p:cNvPicPr>
            <a:picLocks noChangeAspect="1"/>
          </p:cNvPicPr>
          <p:nvPr/>
        </p:nvPicPr>
        <p:blipFill>
          <a:blip r:embed="rId2"/>
          <a:stretch>
            <a:fillRect/>
          </a:stretch>
        </p:blipFill>
        <p:spPr>
          <a:xfrm>
            <a:off x="-635" y="1535430"/>
            <a:ext cx="9141460" cy="378460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1835785" y="1484630"/>
            <a:ext cx="5229225" cy="3248025"/>
          </a:xfrm>
          <a:prstGeom prst="rect">
            <a:avLst/>
          </a:prstGeom>
        </p:spPr>
      </p:pic>
      <p:sp>
        <p:nvSpPr>
          <p:cNvPr id="2" name="文本框 1"/>
          <p:cNvSpPr txBox="1"/>
          <p:nvPr/>
        </p:nvSpPr>
        <p:spPr>
          <a:xfrm>
            <a:off x="755650" y="4869180"/>
            <a:ext cx="8484235" cy="1691640"/>
          </a:xfrm>
          <a:prstGeom prst="rect">
            <a:avLst/>
          </a:prstGeom>
          <a:noFill/>
        </p:spPr>
        <p:txBody>
          <a:bodyPr wrap="square" rtlCol="0" anchor="t">
            <a:spAutoFit/>
          </a:bodyPr>
          <a:p>
            <a:r>
              <a:rPr lang="zh-CN" altLang="en-US" b="1">
                <a:ea typeface="微软雅黑" panose="020B0503020204020204" charset="-122"/>
                <a:sym typeface="+mn-ea"/>
              </a:rPr>
              <a:t>有机电合成：可控因素多</a:t>
            </a:r>
            <a:endParaRPr lang="zh-CN" altLang="en-US" b="1">
              <a:ea typeface="微软雅黑" panose="020B0503020204020204" charset="-122"/>
              <a:sym typeface="+mn-ea"/>
            </a:endParaRPr>
          </a:p>
          <a:p>
            <a:pPr marL="342900" indent="-342900">
              <a:buFont typeface="Wingdings" panose="05000000000000000000" charset="0"/>
              <a:buChar char="ü"/>
            </a:pPr>
            <a:r>
              <a:rPr lang="zh-CN" altLang="en-US" sz="2400" b="1">
                <a:ea typeface="微软雅黑" panose="020B0503020204020204" charset="-122"/>
                <a:sym typeface="+mn-ea"/>
              </a:rPr>
              <a:t>反应的可控性更好，较容易准确地对生产的控制</a:t>
            </a:r>
            <a:endParaRPr lang="zh-CN" altLang="en-US" sz="2400" b="1">
              <a:ea typeface="微软雅黑" panose="020B0503020204020204" charset="-122"/>
              <a:sym typeface="+mn-ea"/>
            </a:endParaRPr>
          </a:p>
          <a:p>
            <a:pPr marL="342900" indent="-342900">
              <a:buFont typeface="Arial" panose="020B0604020202020204" pitchFamily="34" charset="0"/>
              <a:buChar char="×"/>
            </a:pPr>
            <a:r>
              <a:rPr lang="zh-CN" altLang="en-US" sz="2400" b="1">
                <a:ea typeface="微软雅黑" panose="020B0503020204020204" charset="-122"/>
                <a:sym typeface="+mn-ea"/>
              </a:rPr>
              <a:t>太多的可控因素，使生产工艺的优化变得复杂，各条件波动都可能影响产品的一致性。</a:t>
            </a:r>
            <a:endParaRPr lang="zh-CN" altLang="en-US" sz="2400" b="1">
              <a:ea typeface="微软雅黑" panose="020B050302020402020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4"/>
                                        </p:tgtEl>
                                        <p:attrNameLst>
                                          <p:attrName>ppt_x</p:attrName>
                                        </p:attrNameLst>
                                      </p:cBhvr>
                                      <p:tavLst>
                                        <p:tav tm="0">
                                          <p:val>
                                            <p:strVal val="ppt_x"/>
                                          </p:val>
                                        </p:tav>
                                        <p:tav tm="100000">
                                          <p:val>
                                            <p:strVal val="ppt_x"/>
                                          </p:val>
                                        </p:tav>
                                      </p:tavLst>
                                    </p:anim>
                                    <p:anim calcmode="lin" valueType="num">
                                      <p:cBhvr additive="base">
                                        <p:cTn id="7" dur="500"/>
                                        <p:tgtEl>
                                          <p:spTgt spid="4"/>
                                        </p:tgtEl>
                                        <p:attrNameLst>
                                          <p:attrName>ppt_y</p:attrName>
                                        </p:attrNameLst>
                                      </p:cBhvr>
                                      <p:tavLst>
                                        <p:tav tm="0">
                                          <p:val>
                                            <p:strVal val="ppt_y"/>
                                          </p:val>
                                        </p:tav>
                                        <p:tav tm="100000">
                                          <p:val>
                                            <p:strVal val="1+ppt_h/2"/>
                                          </p:val>
                                        </p:tav>
                                      </p:tavLst>
                                    </p:anim>
                                    <p:set>
                                      <p:cBhvr>
                                        <p:cTn id="8"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539750" y="404495"/>
            <a:ext cx="7569200" cy="986155"/>
          </a:xfrm>
          <a:prstGeom prst="rect">
            <a:avLst/>
          </a:prstGeom>
        </p:spPr>
      </p:pic>
      <p:pic>
        <p:nvPicPr>
          <p:cNvPr id="3" name="图片 2"/>
          <p:cNvPicPr>
            <a:picLocks noChangeAspect="1"/>
          </p:cNvPicPr>
          <p:nvPr/>
        </p:nvPicPr>
        <p:blipFill>
          <a:blip r:embed="rId2"/>
          <a:stretch>
            <a:fillRect/>
          </a:stretch>
        </p:blipFill>
        <p:spPr>
          <a:xfrm>
            <a:off x="-108585" y="1340485"/>
            <a:ext cx="9286875" cy="39909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539750" y="404495"/>
            <a:ext cx="7569200" cy="986155"/>
          </a:xfrm>
          <a:prstGeom prst="rect">
            <a:avLst/>
          </a:prstGeom>
        </p:spPr>
      </p:pic>
      <p:pic>
        <p:nvPicPr>
          <p:cNvPr id="3" name="图片 2"/>
          <p:cNvPicPr>
            <a:picLocks noChangeAspect="1"/>
          </p:cNvPicPr>
          <p:nvPr/>
        </p:nvPicPr>
        <p:blipFill>
          <a:blip r:embed="rId2"/>
          <a:stretch>
            <a:fillRect/>
          </a:stretch>
        </p:blipFill>
        <p:spPr>
          <a:xfrm>
            <a:off x="38100" y="1185545"/>
            <a:ext cx="9067800" cy="4486275"/>
          </a:xfrm>
          <a:prstGeom prst="rect">
            <a:avLst/>
          </a:prstGeom>
        </p:spPr>
      </p:pic>
      <p:pic>
        <p:nvPicPr>
          <p:cNvPr id="4" name="图片 3"/>
          <p:cNvPicPr>
            <a:picLocks noChangeAspect="1"/>
          </p:cNvPicPr>
          <p:nvPr/>
        </p:nvPicPr>
        <p:blipFill>
          <a:blip r:embed="rId3"/>
          <a:stretch>
            <a:fillRect/>
          </a:stretch>
        </p:blipFill>
        <p:spPr>
          <a:xfrm>
            <a:off x="1475740" y="5589270"/>
            <a:ext cx="7639050" cy="8191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467360" y="188595"/>
            <a:ext cx="7569200" cy="986155"/>
          </a:xfrm>
          <a:prstGeom prst="rect">
            <a:avLst/>
          </a:prstGeom>
        </p:spPr>
      </p:pic>
      <p:pic>
        <p:nvPicPr>
          <p:cNvPr id="3" name="图片 2"/>
          <p:cNvPicPr>
            <a:picLocks noChangeAspect="1"/>
          </p:cNvPicPr>
          <p:nvPr/>
        </p:nvPicPr>
        <p:blipFill>
          <a:blip r:embed="rId2"/>
          <a:stretch>
            <a:fillRect/>
          </a:stretch>
        </p:blipFill>
        <p:spPr>
          <a:xfrm>
            <a:off x="-180340" y="836295"/>
            <a:ext cx="9363075" cy="4629150"/>
          </a:xfrm>
          <a:prstGeom prst="rect">
            <a:avLst/>
          </a:prstGeom>
        </p:spPr>
      </p:pic>
      <p:pic>
        <p:nvPicPr>
          <p:cNvPr id="4" name="图片 3"/>
          <p:cNvPicPr>
            <a:picLocks noChangeAspect="1"/>
          </p:cNvPicPr>
          <p:nvPr/>
        </p:nvPicPr>
        <p:blipFill>
          <a:blip r:embed="rId3"/>
          <a:stretch>
            <a:fillRect/>
          </a:stretch>
        </p:blipFill>
        <p:spPr>
          <a:xfrm>
            <a:off x="1403985" y="5516880"/>
            <a:ext cx="7629525" cy="762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467360" y="188595"/>
            <a:ext cx="7569200" cy="986155"/>
          </a:xfrm>
          <a:prstGeom prst="rect">
            <a:avLst/>
          </a:prstGeom>
        </p:spPr>
      </p:pic>
      <p:pic>
        <p:nvPicPr>
          <p:cNvPr id="3" name="图片 2"/>
          <p:cNvPicPr>
            <a:picLocks noChangeAspect="1"/>
          </p:cNvPicPr>
          <p:nvPr/>
        </p:nvPicPr>
        <p:blipFill>
          <a:blip r:embed="rId2"/>
          <a:stretch>
            <a:fillRect/>
          </a:stretch>
        </p:blipFill>
        <p:spPr>
          <a:xfrm>
            <a:off x="251460" y="1340485"/>
            <a:ext cx="8620125" cy="47529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图片1"/>
          <p:cNvPicPr>
            <a:picLocks noChangeAspect="1"/>
          </p:cNvPicPr>
          <p:nvPr/>
        </p:nvPicPr>
        <p:blipFill>
          <a:blip r:embed="rId1"/>
          <a:stretch>
            <a:fillRect/>
          </a:stretch>
        </p:blipFill>
        <p:spPr>
          <a:xfrm>
            <a:off x="1073785" y="0"/>
            <a:ext cx="6995795" cy="685800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6" name="Picture 4"/>
          <p:cNvPicPr>
            <a:picLocks noChangeAspect="1" noChangeArrowheads="1"/>
          </p:cNvPicPr>
          <p:nvPr/>
        </p:nvPicPr>
        <p:blipFill>
          <a:blip r:embed="rId1">
            <a:lum contrast="44000"/>
            <a:extLst>
              <a:ext uri="{28A0092B-C50C-407E-A947-70E740481C1C}">
                <a14:useLocalDpi xmlns:a14="http://schemas.microsoft.com/office/drawing/2010/main" val="0"/>
              </a:ext>
            </a:extLst>
          </a:blip>
          <a:srcRect/>
          <a:stretch>
            <a:fillRect/>
          </a:stretch>
        </p:blipFill>
        <p:spPr bwMode="auto">
          <a:xfrm>
            <a:off x="755650" y="765175"/>
            <a:ext cx="8388350" cy="245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477" name="Picture 5"/>
          <p:cNvPicPr>
            <a:picLocks noChangeAspect="1" noChangeArrowheads="1"/>
          </p:cNvPicPr>
          <p:nvPr/>
        </p:nvPicPr>
        <p:blipFill>
          <a:blip r:embed="rId2">
            <a:lum contrast="56000"/>
            <a:extLst>
              <a:ext uri="{28A0092B-C50C-407E-A947-70E740481C1C}">
                <a14:useLocalDpi xmlns:a14="http://schemas.microsoft.com/office/drawing/2010/main" val="0"/>
              </a:ext>
            </a:extLst>
          </a:blip>
          <a:srcRect/>
          <a:stretch>
            <a:fillRect/>
          </a:stretch>
        </p:blipFill>
        <p:spPr bwMode="auto">
          <a:xfrm>
            <a:off x="755650" y="3573463"/>
            <a:ext cx="8388350" cy="247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05476"/>
                                        </p:tgtEl>
                                        <p:attrNameLst>
                                          <p:attrName>style.visibility</p:attrName>
                                        </p:attrNameLst>
                                      </p:cBhvr>
                                      <p:to>
                                        <p:strVal val="visible"/>
                                      </p:to>
                                    </p:set>
                                    <p:anim calcmode="lin" valueType="num">
                                      <p:cBhvr>
                                        <p:cTn id="7" dur="500" fill="hold"/>
                                        <p:tgtEl>
                                          <p:spTgt spid="105476"/>
                                        </p:tgtEl>
                                        <p:attrNameLst>
                                          <p:attrName>ppt_w</p:attrName>
                                        </p:attrNameLst>
                                      </p:cBhvr>
                                      <p:tavLst>
                                        <p:tav tm="0">
                                          <p:val>
                                            <p:fltVal val="0"/>
                                          </p:val>
                                        </p:tav>
                                        <p:tav tm="100000">
                                          <p:val>
                                            <p:strVal val="#ppt_w"/>
                                          </p:val>
                                        </p:tav>
                                      </p:tavLst>
                                    </p:anim>
                                    <p:anim calcmode="lin" valueType="num">
                                      <p:cBhvr>
                                        <p:cTn id="8" dur="500" fill="hold"/>
                                        <p:tgtEl>
                                          <p:spTgt spid="105476"/>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37" presetClass="entr" presetSubtype="0" fill="hold" nodeType="clickEffect">
                                  <p:stCondLst>
                                    <p:cond delay="0"/>
                                  </p:stCondLst>
                                  <p:childTnLst>
                                    <p:set>
                                      <p:cBhvr>
                                        <p:cTn id="12" dur="1" fill="hold">
                                          <p:stCondLst>
                                            <p:cond delay="0"/>
                                          </p:stCondLst>
                                        </p:cTn>
                                        <p:tgtEl>
                                          <p:spTgt spid="105477"/>
                                        </p:tgtEl>
                                        <p:attrNameLst>
                                          <p:attrName>style.visibility</p:attrName>
                                        </p:attrNameLst>
                                      </p:cBhvr>
                                      <p:to>
                                        <p:strVal val="visible"/>
                                      </p:to>
                                    </p:set>
                                    <p:animEffect transition="in" filter="fade">
                                      <p:cBhvr>
                                        <p:cTn id="13" dur="1000"/>
                                        <p:tgtEl>
                                          <p:spTgt spid="105477"/>
                                        </p:tgtEl>
                                      </p:cBhvr>
                                    </p:animEffect>
                                    <p:anim calcmode="lin" valueType="num">
                                      <p:cBhvr>
                                        <p:cTn id="14" dur="1000" fill="hold"/>
                                        <p:tgtEl>
                                          <p:spTgt spid="105477"/>
                                        </p:tgtEl>
                                        <p:attrNameLst>
                                          <p:attrName>ppt_x</p:attrName>
                                        </p:attrNameLst>
                                      </p:cBhvr>
                                      <p:tavLst>
                                        <p:tav tm="0">
                                          <p:val>
                                            <p:strVal val="#ppt_x"/>
                                          </p:val>
                                        </p:tav>
                                        <p:tav tm="100000">
                                          <p:val>
                                            <p:strVal val="#ppt_x"/>
                                          </p:val>
                                        </p:tav>
                                      </p:tavLst>
                                    </p:anim>
                                    <p:anim calcmode="lin" valueType="num">
                                      <p:cBhvr>
                                        <p:cTn id="15" dur="900" decel="100000" fill="hold"/>
                                        <p:tgtEl>
                                          <p:spTgt spid="105477"/>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105477"/>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85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476250"/>
            <a:ext cx="9144000" cy="569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21858"/>
                                        </p:tgtEl>
                                        <p:attrNameLst>
                                          <p:attrName>style.visibility</p:attrName>
                                        </p:attrNameLst>
                                      </p:cBhvr>
                                      <p:to>
                                        <p:strVal val="visible"/>
                                      </p:to>
                                    </p:set>
                                    <p:anim calcmode="lin" valueType="num">
                                      <p:cBhvr>
                                        <p:cTn id="7" dur="500" fill="hold"/>
                                        <p:tgtEl>
                                          <p:spTgt spid="121858"/>
                                        </p:tgtEl>
                                        <p:attrNameLst>
                                          <p:attrName>ppt_w</p:attrName>
                                        </p:attrNameLst>
                                      </p:cBhvr>
                                      <p:tavLst>
                                        <p:tav tm="0">
                                          <p:val>
                                            <p:fltVal val="0"/>
                                          </p:val>
                                        </p:tav>
                                        <p:tav tm="100000">
                                          <p:val>
                                            <p:strVal val="#ppt_w"/>
                                          </p:val>
                                        </p:tav>
                                      </p:tavLst>
                                    </p:anim>
                                    <p:anim calcmode="lin" valueType="num">
                                      <p:cBhvr>
                                        <p:cTn id="8" dur="500" fill="hold"/>
                                        <p:tgtEl>
                                          <p:spTgt spid="12185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body" idx="1"/>
          </p:nvPr>
        </p:nvSpPr>
        <p:spPr>
          <a:xfrm>
            <a:off x="755650" y="1916113"/>
            <a:ext cx="8388350" cy="4635500"/>
          </a:xfrm>
        </p:spPr>
        <p:txBody>
          <a:bodyPr/>
          <a:lstStyle/>
          <a:p>
            <a:pPr eaLnBrk="1" hangingPunct="1">
              <a:lnSpc>
                <a:spcPct val="150000"/>
              </a:lnSpc>
              <a:buFont typeface="Wingdings" panose="05000000000000000000" pitchFamily="2" charset="2"/>
              <a:buNone/>
            </a:pPr>
            <a:r>
              <a:rPr lang="zh-CN" altLang="en-US" b="1">
                <a:latin typeface="Arial" panose="020B0604020202020204" pitchFamily="34" charset="0"/>
                <a:ea typeface="微软雅黑" panose="020B0503020204020204" charset="-122"/>
              </a:rPr>
              <a:t>无机电合成</a:t>
            </a:r>
            <a:r>
              <a:rPr lang="zh-CN" altLang="en-US">
                <a:latin typeface="Arial" panose="020B0604020202020204" pitchFamily="34" charset="0"/>
                <a:ea typeface="微软雅黑" panose="020B0503020204020204" charset="-122"/>
              </a:rPr>
              <a:t>：以电化学方法制取无机单质和化合物。</a:t>
            </a:r>
            <a:endParaRPr lang="zh-CN" altLang="en-US">
              <a:latin typeface="Arial" panose="020B0604020202020204" pitchFamily="34" charset="0"/>
              <a:ea typeface="微软雅黑" panose="020B0503020204020204" charset="-122"/>
            </a:endParaRPr>
          </a:p>
          <a:p>
            <a:pPr eaLnBrk="1" hangingPunct="1">
              <a:lnSpc>
                <a:spcPct val="150000"/>
              </a:lnSpc>
              <a:buFont typeface="Wingdings" panose="05000000000000000000" pitchFamily="2" charset="2"/>
              <a:buNone/>
            </a:pPr>
            <a:r>
              <a:rPr lang="zh-CN" altLang="en-US">
                <a:latin typeface="Arial" panose="020B0604020202020204" pitchFamily="34" charset="0"/>
                <a:ea typeface="微软雅黑" panose="020B0503020204020204" charset="-122"/>
              </a:rPr>
              <a:t>基本化工原料，产量大，单位质量产品的产值较低。</a:t>
            </a:r>
            <a:endParaRPr lang="zh-CN" altLang="en-US">
              <a:latin typeface="Arial" panose="020B0604020202020204" pitchFamily="34" charset="0"/>
              <a:ea typeface="微软雅黑" panose="020B0503020204020204" charset="-122"/>
            </a:endParaRPr>
          </a:p>
          <a:p>
            <a:pPr eaLnBrk="1" hangingPunct="1">
              <a:lnSpc>
                <a:spcPct val="150000"/>
              </a:lnSpc>
              <a:buFont typeface="Wingdings" panose="05000000000000000000" pitchFamily="2" charset="2"/>
              <a:buNone/>
            </a:pPr>
            <a:endParaRPr lang="zh-CN" altLang="en-US">
              <a:latin typeface="Arial" panose="020B0604020202020204" pitchFamily="34" charset="0"/>
              <a:ea typeface="微软雅黑" panose="020B0503020204020204" charset="-122"/>
            </a:endParaRPr>
          </a:p>
          <a:p>
            <a:pPr eaLnBrk="1" hangingPunct="1">
              <a:lnSpc>
                <a:spcPct val="150000"/>
              </a:lnSpc>
              <a:buFont typeface="Wingdings" panose="05000000000000000000" pitchFamily="2" charset="2"/>
              <a:buNone/>
            </a:pPr>
            <a:r>
              <a:rPr lang="zh-CN" altLang="en-US" b="1">
                <a:latin typeface="Arial" panose="020B0604020202020204" pitchFamily="34" charset="0"/>
                <a:ea typeface="微软雅黑" panose="020B0503020204020204" charset="-122"/>
              </a:rPr>
              <a:t>有机电合成</a:t>
            </a:r>
            <a:r>
              <a:rPr lang="zh-CN" altLang="en-US">
                <a:latin typeface="Arial" panose="020B0604020202020204" pitchFamily="34" charset="0"/>
                <a:ea typeface="微软雅黑" panose="020B0503020204020204" charset="-122"/>
              </a:rPr>
              <a:t>：以电化学方法合成有机化合物。</a:t>
            </a:r>
            <a:endParaRPr lang="zh-CN" altLang="en-US">
              <a:latin typeface="Arial" panose="020B0604020202020204" pitchFamily="34" charset="0"/>
              <a:ea typeface="微软雅黑" panose="020B0503020204020204" charset="-122"/>
            </a:endParaRPr>
          </a:p>
          <a:p>
            <a:pPr eaLnBrk="1" hangingPunct="1">
              <a:lnSpc>
                <a:spcPct val="150000"/>
              </a:lnSpc>
              <a:buFont typeface="Wingdings" panose="05000000000000000000" pitchFamily="2" charset="2"/>
              <a:buNone/>
            </a:pPr>
            <a:r>
              <a:rPr lang="zh-CN" altLang="en-US">
                <a:latin typeface="Arial" panose="020B0604020202020204" pitchFamily="34" charset="0"/>
                <a:ea typeface="微软雅黑" panose="020B0503020204020204" charset="-122"/>
              </a:rPr>
              <a:t>精细化工产品，产量小，产值与利润较高。</a:t>
            </a:r>
            <a:endParaRPr lang="zh-CN" altLang="en-US">
              <a:latin typeface="Arial" panose="020B0604020202020204" pitchFamily="34" charset="0"/>
              <a:ea typeface="微软雅黑" panose="020B0503020204020204" charset="-122"/>
            </a:endParaRPr>
          </a:p>
        </p:txBody>
      </p:sp>
      <p:sp>
        <p:nvSpPr>
          <p:cNvPr id="13315" name="Text Box 5"/>
          <p:cNvSpPr txBox="1">
            <a:spLocks noChangeArrowheads="1"/>
          </p:cNvSpPr>
          <p:nvPr/>
        </p:nvSpPr>
        <p:spPr bwMode="auto">
          <a:xfrm>
            <a:off x="1187450" y="908050"/>
            <a:ext cx="4968875"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3200" b="1">
                <a:ea typeface="微软雅黑" panose="020B0503020204020204" charset="-122"/>
              </a:rPr>
              <a:t>3</a:t>
            </a:r>
            <a:r>
              <a:rPr lang="zh-CN" altLang="en-US" sz="3200" b="1">
                <a:ea typeface="微软雅黑" panose="020B0503020204020204" charset="-122"/>
              </a:rPr>
              <a:t>、有机电合成的特点</a:t>
            </a:r>
            <a:endParaRPr lang="zh-CN" altLang="en-US" sz="3200" b="1">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 calcmode="lin" valueType="num">
                                      <p:cBhvr>
                                        <p:cTn id="7" dur="500" fill="hold"/>
                                        <p:tgtEl>
                                          <p:spTgt spid="7171">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7171">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7171">
                                            <p:txEl>
                                              <p:pRg st="1" end="1"/>
                                            </p:txEl>
                                          </p:spTgt>
                                        </p:tgtEl>
                                        <p:attrNameLst>
                                          <p:attrName>style.visibility</p:attrName>
                                        </p:attrNameLst>
                                      </p:cBhvr>
                                      <p:to>
                                        <p:strVal val="visible"/>
                                      </p:to>
                                    </p:set>
                                    <p:anim calcmode="lin" valueType="num">
                                      <p:cBhvr>
                                        <p:cTn id="13" dur="500" fill="hold"/>
                                        <p:tgtEl>
                                          <p:spTgt spid="7171">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7171">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7171">
                                            <p:txEl>
                                              <p:pRg st="3" end="3"/>
                                            </p:txEl>
                                          </p:spTgt>
                                        </p:tgtEl>
                                        <p:attrNameLst>
                                          <p:attrName>style.visibility</p:attrName>
                                        </p:attrNameLst>
                                      </p:cBhvr>
                                      <p:to>
                                        <p:strVal val="visible"/>
                                      </p:to>
                                    </p:set>
                                    <p:anim calcmode="lin" valueType="num">
                                      <p:cBhvr>
                                        <p:cTn id="19" dur="500" fill="hold"/>
                                        <p:tgtEl>
                                          <p:spTgt spid="7171">
                                            <p:txEl>
                                              <p:pRg st="3" end="3"/>
                                            </p:txEl>
                                          </p:spTgt>
                                        </p:tgtEl>
                                        <p:attrNameLst>
                                          <p:attrName>ppt_w</p:attrName>
                                        </p:attrNameLst>
                                      </p:cBhvr>
                                      <p:tavLst>
                                        <p:tav tm="0">
                                          <p:val>
                                            <p:fltVal val="0"/>
                                          </p:val>
                                        </p:tav>
                                        <p:tav tm="100000">
                                          <p:val>
                                            <p:strVal val="#ppt_w"/>
                                          </p:val>
                                        </p:tav>
                                      </p:tavLst>
                                    </p:anim>
                                    <p:anim calcmode="lin" valueType="num">
                                      <p:cBhvr>
                                        <p:cTn id="20" dur="500" fill="hold"/>
                                        <p:tgtEl>
                                          <p:spTgt spid="7171">
                                            <p:txEl>
                                              <p:pRg st="3" end="3"/>
                                            </p:txEl>
                                          </p:spTgt>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grpId="0" nodeType="clickEffect">
                                  <p:stCondLst>
                                    <p:cond delay="0"/>
                                  </p:stCondLst>
                                  <p:childTnLst>
                                    <p:set>
                                      <p:cBhvr>
                                        <p:cTn id="24" dur="1" fill="hold">
                                          <p:stCondLst>
                                            <p:cond delay="0"/>
                                          </p:stCondLst>
                                        </p:cTn>
                                        <p:tgtEl>
                                          <p:spTgt spid="7171">
                                            <p:txEl>
                                              <p:pRg st="4" end="4"/>
                                            </p:txEl>
                                          </p:spTgt>
                                        </p:tgtEl>
                                        <p:attrNameLst>
                                          <p:attrName>style.visibility</p:attrName>
                                        </p:attrNameLst>
                                      </p:cBhvr>
                                      <p:to>
                                        <p:strVal val="visible"/>
                                      </p:to>
                                    </p:set>
                                    <p:anim calcmode="lin" valueType="num">
                                      <p:cBhvr>
                                        <p:cTn id="25" dur="500" fill="hold"/>
                                        <p:tgtEl>
                                          <p:spTgt spid="7171">
                                            <p:txEl>
                                              <p:pRg st="4" end="4"/>
                                            </p:txEl>
                                          </p:spTgt>
                                        </p:tgtEl>
                                        <p:attrNameLst>
                                          <p:attrName>ppt_w</p:attrName>
                                        </p:attrNameLst>
                                      </p:cBhvr>
                                      <p:tavLst>
                                        <p:tav tm="0">
                                          <p:val>
                                            <p:fltVal val="0"/>
                                          </p:val>
                                        </p:tav>
                                        <p:tav tm="100000">
                                          <p:val>
                                            <p:strVal val="#ppt_w"/>
                                          </p:val>
                                        </p:tav>
                                      </p:tavLst>
                                    </p:anim>
                                    <p:anim calcmode="lin" valueType="num">
                                      <p:cBhvr>
                                        <p:cTn id="26" dur="500" fill="hold"/>
                                        <p:tgtEl>
                                          <p:spTgt spid="7171">
                                            <p:txEl>
                                              <p:pRg st="4" end="4"/>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29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115888"/>
            <a:ext cx="8378825" cy="6192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899160" y="2204720"/>
            <a:ext cx="8013700" cy="3876675"/>
          </a:xfrm>
          <a:prstGeom prst="rect">
            <a:avLst/>
          </a:prstGeom>
        </p:spPr>
      </p:pic>
      <p:pic>
        <p:nvPicPr>
          <p:cNvPr id="3" name="图片 2"/>
          <p:cNvPicPr>
            <a:picLocks noChangeAspect="1"/>
          </p:cNvPicPr>
          <p:nvPr/>
        </p:nvPicPr>
        <p:blipFill>
          <a:blip r:embed="rId3"/>
          <a:stretch>
            <a:fillRect/>
          </a:stretch>
        </p:blipFill>
        <p:spPr>
          <a:xfrm>
            <a:off x="1187450" y="764540"/>
            <a:ext cx="5029200" cy="7048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763395" y="2637155"/>
            <a:ext cx="6677025" cy="17335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AutoShape 2"/>
          <p:cNvSpPr>
            <a:spLocks noGrp="1" noChangeArrowheads="1"/>
          </p:cNvSpPr>
          <p:nvPr>
            <p:ph type="title"/>
          </p:nvPr>
        </p:nvSpPr>
        <p:spPr/>
        <p:txBody>
          <a:bodyPr/>
          <a:lstStyle/>
          <a:p>
            <a:pPr eaLnBrk="1" hangingPunct="1"/>
            <a:r>
              <a:rPr lang="en-US" altLang="zh-CN">
                <a:latin typeface="Arial" panose="020B0604020202020204" pitchFamily="34" charset="0"/>
                <a:ea typeface="微软雅黑" panose="020B0503020204020204" charset="-122"/>
              </a:rPr>
              <a:t>4</a:t>
            </a:r>
            <a:r>
              <a:rPr lang="zh-CN" altLang="en-US">
                <a:latin typeface="Arial" panose="020B0604020202020204" pitchFamily="34" charset="0"/>
                <a:ea typeface="微软雅黑" panose="020B0503020204020204" charset="-122"/>
              </a:rPr>
              <a:t>、有机电合成反应历程</a:t>
            </a:r>
            <a:endParaRPr lang="zh-CN" altLang="en-US">
              <a:latin typeface="Arial" panose="020B0604020202020204" pitchFamily="34" charset="0"/>
              <a:ea typeface="微软雅黑" panose="020B0503020204020204" charset="-122"/>
            </a:endParaRPr>
          </a:p>
        </p:txBody>
      </p:sp>
      <p:sp>
        <p:nvSpPr>
          <p:cNvPr id="17411" name="Rectangle 3"/>
          <p:cNvSpPr>
            <a:spLocks noGrp="1" noChangeArrowheads="1"/>
          </p:cNvSpPr>
          <p:nvPr>
            <p:ph type="body" idx="1"/>
          </p:nvPr>
        </p:nvSpPr>
        <p:spPr>
          <a:xfrm>
            <a:off x="827405" y="2033588"/>
            <a:ext cx="8137525" cy="4635500"/>
          </a:xfrm>
        </p:spPr>
        <p:txBody>
          <a:bodyPr/>
          <a:lstStyle/>
          <a:p>
            <a:pPr eaLnBrk="1" hangingPunct="1">
              <a:lnSpc>
                <a:spcPct val="130000"/>
              </a:lnSpc>
              <a:buFont typeface="Wingdings" panose="05000000000000000000" pitchFamily="2" charset="2"/>
              <a:buNone/>
            </a:pPr>
            <a:r>
              <a:rPr lang="en-US" altLang="zh-CN">
                <a:latin typeface="Arial" panose="020B0604020202020204" pitchFamily="34" charset="0"/>
                <a:ea typeface="微软雅黑" panose="020B0503020204020204" charset="-122"/>
              </a:rPr>
              <a:t>          </a:t>
            </a:r>
            <a:r>
              <a:rPr lang="zh-CN" altLang="en-US">
                <a:latin typeface="Arial" panose="020B0604020202020204" pitchFamily="34" charset="0"/>
                <a:ea typeface="微软雅黑" panose="020B0503020204020204" charset="-122"/>
              </a:rPr>
              <a:t>有机电合成是一系列电子转移步骤与化学过程的组合。它们或在电极与电解液界面进行，或在电极表面附近的均相溶液中进行。通常分两步进行：</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r>
              <a:rPr lang="zh-CN" altLang="en-US">
                <a:latin typeface="Arial" panose="020B0604020202020204" pitchFamily="34" charset="0"/>
                <a:ea typeface="微软雅黑" panose="020B0503020204020204" charset="-122"/>
              </a:rPr>
              <a:t>①由电极反应生成某种中间粒子</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如负碳离子、游离基、正碳离子、离子官能团等</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r>
              <a:rPr lang="zh-CN" altLang="en-US">
                <a:latin typeface="Arial" panose="020B0604020202020204" pitchFamily="34" charset="0"/>
                <a:ea typeface="微软雅黑" panose="020B0503020204020204" charset="-122"/>
              </a:rPr>
              <a:t>②中间粒子通过各种有机反应转变为产物。</a:t>
            </a:r>
            <a:endParaRPr lang="zh-CN" altLang="en-US">
              <a:latin typeface="Arial" panose="020B0604020202020204" pitchFamily="34" charset="0"/>
              <a:ea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AutoShape 2"/>
          <p:cNvSpPr>
            <a:spLocks noGrp="1" noChangeArrowheads="1"/>
          </p:cNvSpPr>
          <p:nvPr>
            <p:ph type="title"/>
          </p:nvPr>
        </p:nvSpPr>
        <p:spPr/>
        <p:txBody>
          <a:bodyPr/>
          <a:lstStyle/>
          <a:p>
            <a:pPr eaLnBrk="1" hangingPunct="1"/>
            <a:r>
              <a:rPr lang="en-US" altLang="zh-CN">
                <a:latin typeface="Arial" panose="020B0604020202020204" pitchFamily="34" charset="0"/>
                <a:ea typeface="微软雅黑" panose="020B0503020204020204" charset="-122"/>
              </a:rPr>
              <a:t>5</a:t>
            </a:r>
            <a:r>
              <a:rPr lang="zh-CN" altLang="en-US">
                <a:latin typeface="Arial" panose="020B0604020202020204" pitchFamily="34" charset="0"/>
                <a:ea typeface="微软雅黑" panose="020B0503020204020204" charset="-122"/>
              </a:rPr>
              <a:t>、有机电合成的研究开发方向</a:t>
            </a:r>
            <a:endParaRPr lang="zh-CN" altLang="en-US">
              <a:latin typeface="Arial" panose="020B0604020202020204" pitchFamily="34" charset="0"/>
              <a:ea typeface="微软雅黑" panose="020B0503020204020204" charset="-122"/>
            </a:endParaRPr>
          </a:p>
        </p:txBody>
      </p:sp>
      <p:sp>
        <p:nvSpPr>
          <p:cNvPr id="11267" name="Rectangle 3"/>
          <p:cNvSpPr>
            <a:spLocks noGrp="1" noChangeArrowheads="1"/>
          </p:cNvSpPr>
          <p:nvPr>
            <p:ph type="body" idx="1"/>
          </p:nvPr>
        </p:nvSpPr>
        <p:spPr>
          <a:xfrm>
            <a:off x="539750" y="1989138"/>
            <a:ext cx="8388350" cy="4059237"/>
          </a:xfrm>
        </p:spPr>
        <p:txBody>
          <a:bodyPr/>
          <a:lstStyle/>
          <a:p>
            <a:pPr eaLnBrk="1" hangingPunct="1">
              <a:lnSpc>
                <a:spcPct val="130000"/>
              </a:lnSpc>
              <a:buFont typeface="Wingdings" panose="05000000000000000000" pitchFamily="2" charset="2"/>
              <a:buNone/>
            </a:pPr>
            <a:r>
              <a:rPr lang="zh-CN" altLang="en-US" b="1">
                <a:latin typeface="Arial" panose="020B0604020202020204" pitchFamily="34" charset="0"/>
                <a:ea typeface="微软雅黑" panose="020B0503020204020204" charset="-122"/>
              </a:rPr>
              <a:t>（</a:t>
            </a:r>
            <a:r>
              <a:rPr lang="en-US" altLang="zh-CN" b="1">
                <a:latin typeface="Arial" panose="020B0604020202020204" pitchFamily="34" charset="0"/>
                <a:ea typeface="微软雅黑" panose="020B0503020204020204" charset="-122"/>
              </a:rPr>
              <a:t>1</a:t>
            </a:r>
            <a:r>
              <a:rPr lang="zh-CN" altLang="en-US" b="1">
                <a:latin typeface="Arial" panose="020B0604020202020204" pitchFamily="34" charset="0"/>
                <a:ea typeface="微软雅黑" panose="020B0503020204020204" charset="-122"/>
              </a:rPr>
              <a:t>）提高有机电合成反应的选择性及产率，降低能耗和物耗。</a:t>
            </a:r>
            <a:endParaRPr lang="zh-CN" altLang="en-US" b="1">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r>
              <a:rPr lang="zh-CN" altLang="en-US" b="1">
                <a:latin typeface="Arial" panose="020B0604020202020204" pitchFamily="34" charset="0"/>
                <a:ea typeface="微软雅黑" panose="020B0503020204020204" charset="-122"/>
              </a:rPr>
              <a:t>（</a:t>
            </a:r>
            <a:r>
              <a:rPr lang="en-US" altLang="zh-CN" b="1">
                <a:latin typeface="Arial" panose="020B0604020202020204" pitchFamily="34" charset="0"/>
                <a:ea typeface="微软雅黑" panose="020B0503020204020204" charset="-122"/>
              </a:rPr>
              <a:t>2</a:t>
            </a:r>
            <a:r>
              <a:rPr lang="zh-CN" altLang="en-US" b="1">
                <a:latin typeface="Arial" panose="020B0604020202020204" pitchFamily="34" charset="0"/>
                <a:ea typeface="微软雅黑" panose="020B0503020204020204" charset="-122"/>
              </a:rPr>
              <a:t>）提高生产强度及反应器的空间</a:t>
            </a:r>
            <a:r>
              <a:rPr lang="en-US" altLang="zh-CN" b="1">
                <a:latin typeface="Arial" panose="020B0604020202020204" pitchFamily="34" charset="0"/>
                <a:ea typeface="微软雅黑" panose="020B0503020204020204" charset="-122"/>
              </a:rPr>
              <a:t>—</a:t>
            </a:r>
            <a:r>
              <a:rPr lang="zh-CN" altLang="en-US" b="1">
                <a:latin typeface="Arial" panose="020B0604020202020204" pitchFamily="34" charset="0"/>
                <a:ea typeface="微软雅黑" panose="020B0503020204020204" charset="-122"/>
              </a:rPr>
              <a:t>时间产率。</a:t>
            </a:r>
            <a:endParaRPr lang="zh-CN" altLang="en-US" b="1">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r>
              <a:rPr lang="zh-CN" altLang="en-US" b="1">
                <a:latin typeface="Arial" panose="020B0604020202020204" pitchFamily="34" charset="0"/>
                <a:ea typeface="微软雅黑" panose="020B0503020204020204" charset="-122"/>
              </a:rPr>
              <a:t>（</a:t>
            </a:r>
            <a:r>
              <a:rPr lang="en-US" altLang="zh-CN" b="1">
                <a:latin typeface="Arial" panose="020B0604020202020204" pitchFamily="34" charset="0"/>
                <a:ea typeface="微软雅黑" panose="020B0503020204020204" charset="-122"/>
              </a:rPr>
              <a:t>3</a:t>
            </a:r>
            <a:r>
              <a:rPr lang="zh-CN" altLang="en-US" b="1">
                <a:latin typeface="Arial" panose="020B0604020202020204" pitchFamily="34" charset="0"/>
                <a:ea typeface="微软雅黑" panose="020B0503020204020204" charset="-122"/>
              </a:rPr>
              <a:t>）选择合适的产品，如产量不大、产值高的精细化工产品或现有有机合成工艺生产困难的产品。</a:t>
            </a:r>
            <a:endParaRPr lang="zh-CN" altLang="en-US" b="1">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endParaRPr lang="zh-CN" altLang="en-US" b="1">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endParaRPr lang="en-US" altLang="zh-CN" b="1">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box(in)">
                                      <p:cBhvr>
                                        <p:cTn id="7" dur="500"/>
                                        <p:tgtEl>
                                          <p:spTgt spid="11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7" presetClass="entr" presetSubtype="0" fill="hold" nodeType="clickEffect">
                                  <p:stCondLst>
                                    <p:cond delay="0"/>
                                  </p:stCondLst>
                                  <p:childTnLst>
                                    <p:set>
                                      <p:cBhvr>
                                        <p:cTn id="11" dur="1" fill="hold">
                                          <p:stCondLst>
                                            <p:cond delay="0"/>
                                          </p:stCondLst>
                                        </p:cTn>
                                        <p:tgtEl>
                                          <p:spTgt spid="11267">
                                            <p:txEl>
                                              <p:pRg st="1" end="1"/>
                                            </p:txEl>
                                          </p:spTgt>
                                        </p:tgtEl>
                                        <p:attrNameLst>
                                          <p:attrName>style.visibility</p:attrName>
                                        </p:attrNameLst>
                                      </p:cBhvr>
                                      <p:to>
                                        <p:strVal val="visible"/>
                                      </p:to>
                                    </p:set>
                                    <p:animEffect transition="in" filter="fade">
                                      <p:cBhvr>
                                        <p:cTn id="12" dur="1000"/>
                                        <p:tgtEl>
                                          <p:spTgt spid="11267">
                                            <p:txEl>
                                              <p:pRg st="1" end="1"/>
                                            </p:txEl>
                                          </p:spTgt>
                                        </p:tgtEl>
                                      </p:cBhvr>
                                    </p:animEffect>
                                    <p:anim calcmode="lin" valueType="num">
                                      <p:cBhvr>
                                        <p:cTn id="13" dur="1000" fill="hold"/>
                                        <p:tgtEl>
                                          <p:spTgt spid="11267">
                                            <p:txEl>
                                              <p:pRg st="1" end="1"/>
                                            </p:txEl>
                                          </p:spTgt>
                                        </p:tgtEl>
                                        <p:attrNameLst>
                                          <p:attrName>ppt_x</p:attrName>
                                        </p:attrNameLst>
                                      </p:cBhvr>
                                      <p:tavLst>
                                        <p:tav tm="0">
                                          <p:val>
                                            <p:strVal val="#ppt_x"/>
                                          </p:val>
                                        </p:tav>
                                        <p:tav tm="100000">
                                          <p:val>
                                            <p:strVal val="#ppt_x"/>
                                          </p:val>
                                        </p:tav>
                                      </p:tavLst>
                                    </p:anim>
                                    <p:anim calcmode="lin" valueType="num">
                                      <p:cBhvr>
                                        <p:cTn id="14" dur="900" decel="100000" fill="hold"/>
                                        <p:tgtEl>
                                          <p:spTgt spid="11267">
                                            <p:txEl>
                                              <p:pRg st="1" end="1"/>
                                            </p:txEl>
                                          </p:spTgt>
                                        </p:tgtEl>
                                        <p:attrNameLst>
                                          <p:attrName>ppt_y</p:attrName>
                                        </p:attrNameLst>
                                      </p:cBhvr>
                                      <p:tavLst>
                                        <p:tav tm="0">
                                          <p:val>
                                            <p:strVal val="#ppt_y+1"/>
                                          </p:val>
                                        </p:tav>
                                        <p:tav tm="100000">
                                          <p:val>
                                            <p:strVal val="#ppt_y-.03"/>
                                          </p:val>
                                        </p:tav>
                                      </p:tavLst>
                                    </p:anim>
                                    <p:anim calcmode="lin" valueType="num">
                                      <p:cBhvr>
                                        <p:cTn id="15" dur="100" accel="100000" fill="hold">
                                          <p:stCondLst>
                                            <p:cond delay="900"/>
                                          </p:stCondLst>
                                        </p:cTn>
                                        <p:tgtEl>
                                          <p:spTgt spid="11267">
                                            <p:txEl>
                                              <p:pRg st="1" end="1"/>
                                            </p:txEl>
                                          </p:spTgt>
                                        </p:tgtEl>
                                        <p:attrNameLst>
                                          <p:attrName>ppt_y</p:attrName>
                                        </p:attrNameLst>
                                      </p:cBhvr>
                                      <p:tavLst>
                                        <p:tav tm="0">
                                          <p:val>
                                            <p:strVal val="#ppt_y-.03"/>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2" presetClass="entr" presetSubtype="8" fill="hold" nodeType="clickEffect">
                                  <p:stCondLst>
                                    <p:cond delay="0"/>
                                  </p:stCondLst>
                                  <p:childTnLst>
                                    <p:set>
                                      <p:cBhvr>
                                        <p:cTn id="19" dur="1" fill="hold">
                                          <p:stCondLst>
                                            <p:cond delay="0"/>
                                          </p:stCondLst>
                                        </p:cTn>
                                        <p:tgtEl>
                                          <p:spTgt spid="11267">
                                            <p:txEl>
                                              <p:pRg st="2" end="2"/>
                                            </p:txEl>
                                          </p:spTgt>
                                        </p:tgtEl>
                                        <p:attrNameLst>
                                          <p:attrName>style.visibility</p:attrName>
                                        </p:attrNameLst>
                                      </p:cBhvr>
                                      <p:to>
                                        <p:strVal val="visible"/>
                                      </p:to>
                                    </p:set>
                                    <p:animEffect transition="in" filter="slide(fromLeft)">
                                      <p:cBhvr>
                                        <p:cTn id="20" dur="1000"/>
                                        <p:tgtEl>
                                          <p:spTgt spid="112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AutoShape 2"/>
          <p:cNvSpPr>
            <a:spLocks noGrp="1" noChangeArrowheads="1"/>
          </p:cNvSpPr>
          <p:nvPr>
            <p:ph type="title"/>
          </p:nvPr>
        </p:nvSpPr>
        <p:spPr/>
        <p:txBody>
          <a:bodyPr/>
          <a:lstStyle/>
          <a:p>
            <a:pPr algn="ctr" eaLnBrk="1" hangingPunct="1"/>
            <a:r>
              <a:rPr lang="en-US" altLang="zh-CN">
                <a:latin typeface="Arial" panose="020B0604020202020204" pitchFamily="34" charset="0"/>
                <a:ea typeface="微软雅黑" panose="020B0503020204020204" charset="-122"/>
              </a:rPr>
              <a:t>6－2 </a:t>
            </a:r>
            <a:r>
              <a:rPr lang="zh-CN" altLang="en-US">
                <a:latin typeface="Arial" panose="020B0604020202020204" pitchFamily="34" charset="0"/>
                <a:ea typeface="微软雅黑" panose="020B0503020204020204" charset="-122"/>
              </a:rPr>
              <a:t>有机电合成的分类</a:t>
            </a:r>
            <a:endParaRPr lang="zh-CN" altLang="en-US">
              <a:latin typeface="Arial" panose="020B0604020202020204" pitchFamily="34" charset="0"/>
              <a:ea typeface="微软雅黑" panose="020B0503020204020204" charset="-122"/>
            </a:endParaRPr>
          </a:p>
        </p:txBody>
      </p:sp>
      <p:sp>
        <p:nvSpPr>
          <p:cNvPr id="14339" name="Rectangle 3"/>
          <p:cNvSpPr>
            <a:spLocks noGrp="1" noChangeArrowheads="1"/>
          </p:cNvSpPr>
          <p:nvPr>
            <p:ph type="body" idx="1"/>
          </p:nvPr>
        </p:nvSpPr>
        <p:spPr>
          <a:xfrm>
            <a:off x="755650" y="1773238"/>
            <a:ext cx="8137525" cy="5084762"/>
          </a:xfrm>
        </p:spPr>
        <p:txBody>
          <a:bodyPr/>
          <a:lstStyle/>
          <a:p>
            <a:pPr eaLnBrk="1" hangingPunct="1">
              <a:lnSpc>
                <a:spcPct val="120000"/>
              </a:lnSpc>
              <a:buFont typeface="Wingdings" panose="05000000000000000000" pitchFamily="2" charset="2"/>
              <a:buNone/>
            </a:pPr>
            <a:r>
              <a:rPr lang="zh-CN" altLang="en-US">
                <a:latin typeface="Arial" panose="020B0604020202020204" pitchFamily="34" charset="0"/>
                <a:ea typeface="微软雅黑" panose="020B0503020204020204" charset="-122"/>
              </a:rPr>
              <a:t>按电极反应在整个有机合成过程中的作用及地位，可将有机电合成分为两大类：</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b="1">
                <a:latin typeface="Arial" panose="020B0604020202020204" pitchFamily="34" charset="0"/>
                <a:ea typeface="微软雅黑" panose="020B0503020204020204" charset="-122"/>
              </a:rPr>
              <a:t>（</a:t>
            </a:r>
            <a:r>
              <a:rPr lang="en-US" altLang="zh-CN" b="1">
                <a:latin typeface="Arial" panose="020B0604020202020204" pitchFamily="34" charset="0"/>
                <a:ea typeface="微软雅黑" panose="020B0503020204020204" charset="-122"/>
              </a:rPr>
              <a:t>1</a:t>
            </a:r>
            <a:r>
              <a:rPr lang="zh-CN" altLang="en-US" b="1">
                <a:latin typeface="Arial" panose="020B0604020202020204" pitchFamily="34" charset="0"/>
                <a:ea typeface="微软雅黑" panose="020B0503020204020204" charset="-122"/>
              </a:rPr>
              <a:t>）直接有机电合成</a:t>
            </a:r>
            <a:r>
              <a:rPr lang="zh-CN" altLang="en-US">
                <a:latin typeface="Arial" panose="020B0604020202020204" pitchFamily="34" charset="0"/>
                <a:ea typeface="微软雅黑" panose="020B0503020204020204" charset="-122"/>
              </a:rPr>
              <a:t> ： 有机合成反应直接在电极表面完成。</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b="1">
                <a:latin typeface="Arial" panose="020B0604020202020204" pitchFamily="34" charset="0"/>
                <a:ea typeface="微软雅黑" panose="020B0503020204020204" charset="-122"/>
              </a:rPr>
              <a:t>（</a:t>
            </a:r>
            <a:r>
              <a:rPr lang="en-US" altLang="zh-CN" b="1">
                <a:latin typeface="Arial" panose="020B0604020202020204" pitchFamily="34" charset="0"/>
                <a:ea typeface="微软雅黑" panose="020B0503020204020204" charset="-122"/>
              </a:rPr>
              <a:t>2</a:t>
            </a:r>
            <a:r>
              <a:rPr lang="zh-CN" altLang="en-US" b="1">
                <a:latin typeface="Arial" panose="020B0604020202020204" pitchFamily="34" charset="0"/>
                <a:ea typeface="微软雅黑" panose="020B0503020204020204" charset="-122"/>
              </a:rPr>
              <a:t>）间接有机电合成</a:t>
            </a:r>
            <a:r>
              <a:rPr lang="zh-CN" altLang="en-US">
                <a:latin typeface="Arial" panose="020B0604020202020204" pitchFamily="34" charset="0"/>
                <a:ea typeface="微软雅黑" panose="020B0503020204020204" charset="-122"/>
              </a:rPr>
              <a:t>：  仍采用氧化剂</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或还原剂</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，用传统的化学方法进行。但氧化剂</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或还原剂</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在反应后以电化学方法</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电解氧化或电解还原</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再生后反复使用，间接有机电合成只限于有机物的氧化或还原。</a:t>
            </a:r>
            <a:endParaRPr lang="zh-CN" altLang="en-US">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4339">
                                            <p:txEl>
                                              <p:pRg st="1" end="1"/>
                                            </p:txEl>
                                          </p:spTgt>
                                        </p:tgtEl>
                                        <p:attrNameLst>
                                          <p:attrName>style.visibility</p:attrName>
                                        </p:attrNameLst>
                                      </p:cBhvr>
                                      <p:to>
                                        <p:strVal val="visible"/>
                                      </p:to>
                                    </p:set>
                                    <p:animEffect transition="in" filter="slide(fromBottom)">
                                      <p:cBhvr>
                                        <p:cTn id="7" dur="500"/>
                                        <p:tgtEl>
                                          <p:spTgt spid="1433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14339">
                                            <p:txEl>
                                              <p:pRg st="2" end="2"/>
                                            </p:txEl>
                                          </p:spTgt>
                                        </p:tgtEl>
                                        <p:attrNameLst>
                                          <p:attrName>style.visibility</p:attrName>
                                        </p:attrNameLst>
                                      </p:cBhvr>
                                      <p:to>
                                        <p:strVal val="visible"/>
                                      </p:to>
                                    </p:set>
                                    <p:anim calcmode="lin" valueType="num">
                                      <p:cBhvr>
                                        <p:cTn id="12" dur="500" fill="hold"/>
                                        <p:tgtEl>
                                          <p:spTgt spid="14339">
                                            <p:txEl>
                                              <p:pRg st="2" end="2"/>
                                            </p:txEl>
                                          </p:spTgt>
                                        </p:tgtEl>
                                        <p:attrNameLst>
                                          <p:attrName>ppt_w</p:attrName>
                                        </p:attrNameLst>
                                      </p:cBhvr>
                                      <p:tavLst>
                                        <p:tav tm="0">
                                          <p:val>
                                            <p:fltVal val="0"/>
                                          </p:val>
                                        </p:tav>
                                        <p:tav tm="100000">
                                          <p:val>
                                            <p:strVal val="#ppt_w"/>
                                          </p:val>
                                        </p:tav>
                                      </p:tavLst>
                                    </p:anim>
                                    <p:anim calcmode="lin" valueType="num">
                                      <p:cBhvr>
                                        <p:cTn id="13" dur="500" fill="hold"/>
                                        <p:tgtEl>
                                          <p:spTgt spid="14339">
                                            <p:txEl>
                                              <p:pRg st="2" end="2"/>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type="body" idx="1"/>
          </p:nvPr>
        </p:nvSpPr>
        <p:spPr>
          <a:xfrm>
            <a:off x="755650" y="1844675"/>
            <a:ext cx="8388350" cy="4635500"/>
          </a:xfrm>
        </p:spPr>
        <p:txBody>
          <a:bodyPr/>
          <a:lstStyle/>
          <a:p>
            <a:pPr eaLnBrk="1" hangingPunct="1">
              <a:lnSpc>
                <a:spcPct val="120000"/>
              </a:lnSpc>
              <a:buFont typeface="Wingdings" panose="05000000000000000000" pitchFamily="2" charset="2"/>
              <a:buNone/>
            </a:pPr>
            <a:r>
              <a:rPr lang="en-US" altLang="zh-CN">
                <a:latin typeface="Arial" panose="020B0604020202020204" pitchFamily="34" charset="0"/>
                <a:ea typeface="微软雅黑" panose="020B0503020204020204" charset="-122"/>
              </a:rPr>
              <a:t>     </a:t>
            </a:r>
            <a:r>
              <a:rPr lang="zh-CN" altLang="en-US">
                <a:latin typeface="Arial" panose="020B0604020202020204" pitchFamily="34" charset="0"/>
                <a:ea typeface="微软雅黑" panose="020B0503020204020204" charset="-122"/>
              </a:rPr>
              <a:t>按照电极表面发生的有机反应的类别，将直接有机电合成分成两类：</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b="1">
                <a:latin typeface="Arial" panose="020B0604020202020204" pitchFamily="34" charset="0"/>
                <a:ea typeface="微软雅黑" panose="020B0503020204020204" charset="-122"/>
              </a:rPr>
              <a:t>（</a:t>
            </a:r>
            <a:r>
              <a:rPr lang="en-US" altLang="zh-CN" b="1">
                <a:latin typeface="Arial" panose="020B0604020202020204" pitchFamily="34" charset="0"/>
                <a:ea typeface="微软雅黑" panose="020B0503020204020204" charset="-122"/>
              </a:rPr>
              <a:t>1</a:t>
            </a:r>
            <a:r>
              <a:rPr lang="zh-CN" altLang="en-US" b="1">
                <a:latin typeface="Arial" panose="020B0604020202020204" pitchFamily="34" charset="0"/>
                <a:ea typeface="微软雅黑" panose="020B0503020204020204" charset="-122"/>
              </a:rPr>
              <a:t>）官能作用和官能团转换：</a:t>
            </a:r>
            <a:endParaRPr lang="zh-CN" altLang="en-US" b="1">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a:latin typeface="Arial" panose="020B0604020202020204" pitchFamily="34" charset="0"/>
                <a:ea typeface="微软雅黑" panose="020B0503020204020204" charset="-122"/>
              </a:rPr>
              <a:t>阴极过程：加氢；阳极过程：氧化。</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b="1">
                <a:latin typeface="Arial" panose="020B0604020202020204" pitchFamily="34" charset="0"/>
                <a:ea typeface="微软雅黑" panose="020B0503020204020204" charset="-122"/>
              </a:rPr>
              <a:t>（</a:t>
            </a:r>
            <a:r>
              <a:rPr lang="en-US" altLang="zh-CN" b="1">
                <a:latin typeface="Arial" panose="020B0604020202020204" pitchFamily="34" charset="0"/>
                <a:ea typeface="微软雅黑" panose="020B0503020204020204" charset="-122"/>
              </a:rPr>
              <a:t>2</a:t>
            </a:r>
            <a:r>
              <a:rPr lang="zh-CN" altLang="en-US" b="1">
                <a:latin typeface="Arial" panose="020B0604020202020204" pitchFamily="34" charset="0"/>
                <a:ea typeface="微软雅黑" panose="020B0503020204020204" charset="-122"/>
              </a:rPr>
              <a:t>）偶合</a:t>
            </a:r>
            <a:r>
              <a:rPr lang="zh-CN" altLang="en-US">
                <a:latin typeface="Arial" panose="020B0604020202020204" pitchFamily="34" charset="0"/>
                <a:ea typeface="微软雅黑" panose="020B0503020204020204" charset="-122"/>
              </a:rPr>
              <a:t>：将许多个分子偶合，能合成新的产物。</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a:latin typeface="Arial" panose="020B0604020202020204" pitchFamily="34" charset="0"/>
                <a:ea typeface="微软雅黑" panose="020B0503020204020204" charset="-122"/>
              </a:rPr>
              <a:t>阴极偶合：如，丙烯腈电解合成己二腈，甲醛电解合成</a:t>
            </a:r>
            <a:r>
              <a:rPr lang="en-US" altLang="zh-CN">
                <a:latin typeface="Arial" panose="020B0604020202020204" pitchFamily="34" charset="0"/>
                <a:ea typeface="微软雅黑" panose="020B0503020204020204" charset="-122"/>
              </a:rPr>
              <a:t>1</a:t>
            </a:r>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2</a:t>
            </a:r>
            <a:r>
              <a:rPr lang="zh-CN" altLang="en-US">
                <a:latin typeface="Arial" panose="020B0604020202020204" pitchFamily="34" charset="0"/>
                <a:ea typeface="微软雅黑" panose="020B0503020204020204" charset="-122"/>
              </a:rPr>
              <a:t>－亚乙基二醇。</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a:latin typeface="Arial" panose="020B0604020202020204" pitchFamily="34" charset="0"/>
                <a:ea typeface="微软雅黑" panose="020B0503020204020204" charset="-122"/>
              </a:rPr>
              <a:t>阳极偶合：柯尔贝反应（羧酸盐电解制备烃类的一种方法）。</a:t>
            </a:r>
            <a:endParaRPr lang="zh-CN" altLang="en-US">
              <a:latin typeface="Arial" panose="020B0604020202020204" pitchFamily="34" charset="0"/>
              <a:ea typeface="微软雅黑" panose="020B0503020204020204" charset="-122"/>
            </a:endParaRPr>
          </a:p>
        </p:txBody>
      </p:sp>
      <p:sp>
        <p:nvSpPr>
          <p:cNvPr id="20483" name="Text Box 5"/>
          <p:cNvSpPr txBox="1">
            <a:spLocks noChangeArrowheads="1"/>
          </p:cNvSpPr>
          <p:nvPr/>
        </p:nvSpPr>
        <p:spPr bwMode="auto">
          <a:xfrm>
            <a:off x="755650" y="765175"/>
            <a:ext cx="77771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endParaRPr lang="zh-CN" altLang="zh-CN" sz="3200"/>
          </a:p>
        </p:txBody>
      </p:sp>
      <p:sp>
        <p:nvSpPr>
          <p:cNvPr id="20484" name="Text Box 6"/>
          <p:cNvSpPr txBox="1">
            <a:spLocks noChangeArrowheads="1"/>
          </p:cNvSpPr>
          <p:nvPr/>
        </p:nvSpPr>
        <p:spPr bwMode="auto">
          <a:xfrm>
            <a:off x="755650" y="765175"/>
            <a:ext cx="8208963"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3200">
                <a:ea typeface="微软雅黑" panose="020B0503020204020204" charset="-122"/>
              </a:rPr>
              <a:t>直接有机电合成：</a:t>
            </a:r>
            <a:endParaRPr lang="zh-CN" altLang="en-US" sz="320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16387">
                                            <p:txEl>
                                              <p:pRg st="1" end="1"/>
                                            </p:txEl>
                                          </p:spTgt>
                                        </p:tgtEl>
                                        <p:attrNameLst>
                                          <p:attrName>style.visibility</p:attrName>
                                        </p:attrNameLst>
                                      </p:cBhvr>
                                      <p:to>
                                        <p:strVal val="visible"/>
                                      </p:to>
                                    </p:set>
                                    <p:animEffect transition="in" filter="fade">
                                      <p:cBhvr>
                                        <p:cTn id="7" dur="1000"/>
                                        <p:tgtEl>
                                          <p:spTgt spid="16387">
                                            <p:txEl>
                                              <p:pRg st="1" end="1"/>
                                            </p:txEl>
                                          </p:spTgt>
                                        </p:tgtEl>
                                      </p:cBhvr>
                                    </p:animEffect>
                                    <p:anim calcmode="lin" valueType="num">
                                      <p:cBhvr>
                                        <p:cTn id="8" dur="1000" fill="hold"/>
                                        <p:tgtEl>
                                          <p:spTgt spid="16387">
                                            <p:txEl>
                                              <p:pRg st="1" end="1"/>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16387">
                                            <p:txEl>
                                              <p:pRg st="1" end="1"/>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16387">
                                            <p:txEl>
                                              <p:pRg st="1" end="1"/>
                                            </p:txEl>
                                          </p:spTgt>
                                        </p:tgtEl>
                                        <p:attrNameLst>
                                          <p:attrName>ppt_y</p:attrName>
                                        </p:attrNameLst>
                                      </p:cBhvr>
                                      <p:tavLst>
                                        <p:tav tm="0">
                                          <p:val>
                                            <p:strVal val="#ppt_y-.03"/>
                                          </p:val>
                                        </p:tav>
                                        <p:tav tm="100000">
                                          <p:val>
                                            <p:strVal val="#ppt_y"/>
                                          </p:val>
                                        </p:tav>
                                      </p:tavLst>
                                    </p:anim>
                                  </p:childTnLst>
                                </p:cTn>
                              </p:par>
                              <p:par>
                                <p:cTn id="11" presetID="37" presetClass="entr" presetSubtype="0" fill="hold" nodeType="withEffect">
                                  <p:stCondLst>
                                    <p:cond delay="0"/>
                                  </p:stCondLst>
                                  <p:childTnLst>
                                    <p:set>
                                      <p:cBhvr>
                                        <p:cTn id="12" dur="1" fill="hold">
                                          <p:stCondLst>
                                            <p:cond delay="0"/>
                                          </p:stCondLst>
                                        </p:cTn>
                                        <p:tgtEl>
                                          <p:spTgt spid="16387">
                                            <p:txEl>
                                              <p:pRg st="2" end="2"/>
                                            </p:txEl>
                                          </p:spTgt>
                                        </p:tgtEl>
                                        <p:attrNameLst>
                                          <p:attrName>style.visibility</p:attrName>
                                        </p:attrNameLst>
                                      </p:cBhvr>
                                      <p:to>
                                        <p:strVal val="visible"/>
                                      </p:to>
                                    </p:set>
                                    <p:animEffect transition="in" filter="fade">
                                      <p:cBhvr>
                                        <p:cTn id="13" dur="1000"/>
                                        <p:tgtEl>
                                          <p:spTgt spid="16387">
                                            <p:txEl>
                                              <p:pRg st="2" end="2"/>
                                            </p:txEl>
                                          </p:spTgt>
                                        </p:tgtEl>
                                      </p:cBhvr>
                                    </p:animEffect>
                                    <p:anim calcmode="lin" valueType="num">
                                      <p:cBhvr>
                                        <p:cTn id="14" dur="1000" fill="hold"/>
                                        <p:tgtEl>
                                          <p:spTgt spid="16387">
                                            <p:txEl>
                                              <p:pRg st="2" end="2"/>
                                            </p:txEl>
                                          </p:spTgt>
                                        </p:tgtEl>
                                        <p:attrNameLst>
                                          <p:attrName>ppt_x</p:attrName>
                                        </p:attrNameLst>
                                      </p:cBhvr>
                                      <p:tavLst>
                                        <p:tav tm="0">
                                          <p:val>
                                            <p:strVal val="#ppt_x"/>
                                          </p:val>
                                        </p:tav>
                                        <p:tav tm="100000">
                                          <p:val>
                                            <p:strVal val="#ppt_x"/>
                                          </p:val>
                                        </p:tav>
                                      </p:tavLst>
                                    </p:anim>
                                    <p:anim calcmode="lin" valueType="num">
                                      <p:cBhvr>
                                        <p:cTn id="15" dur="900" decel="100000" fill="hold"/>
                                        <p:tgtEl>
                                          <p:spTgt spid="16387">
                                            <p:txEl>
                                              <p:pRg st="2" end="2"/>
                                            </p:txEl>
                                          </p:spTgt>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16387">
                                            <p:txEl>
                                              <p:pRg st="2" end="2"/>
                                            </p:txEl>
                                          </p:spTgt>
                                        </p:tgtEl>
                                        <p:attrNameLst>
                                          <p:attrName>ppt_y</p:attrName>
                                        </p:attrNameLst>
                                      </p:cBhvr>
                                      <p:tavLst>
                                        <p:tav tm="0">
                                          <p:val>
                                            <p:strVal val="#ppt_y-.03"/>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6387">
                                            <p:txEl>
                                              <p:pRg st="3" end="3"/>
                                            </p:txEl>
                                          </p:spTgt>
                                        </p:tgtEl>
                                        <p:attrNameLst>
                                          <p:attrName>style.visibility</p:attrName>
                                        </p:attrNameLst>
                                      </p:cBhvr>
                                      <p:to>
                                        <p:strVal val="visible"/>
                                      </p:to>
                                    </p:set>
                                    <p:anim calcmode="lin" valueType="num">
                                      <p:cBhvr additive="base">
                                        <p:cTn id="21" dur="500" fill="hold"/>
                                        <p:tgtEl>
                                          <p:spTgt spid="1638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6387">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6387">
                                            <p:txEl>
                                              <p:pRg st="4" end="4"/>
                                            </p:txEl>
                                          </p:spTgt>
                                        </p:tgtEl>
                                        <p:attrNameLst>
                                          <p:attrName>style.visibility</p:attrName>
                                        </p:attrNameLst>
                                      </p:cBhvr>
                                      <p:to>
                                        <p:strVal val="visible"/>
                                      </p:to>
                                    </p:set>
                                    <p:anim calcmode="lin" valueType="num">
                                      <p:cBhvr additive="base">
                                        <p:cTn id="25" dur="500" fill="hold"/>
                                        <p:tgtEl>
                                          <p:spTgt spid="1638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387">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6387">
                                            <p:txEl>
                                              <p:pRg st="5" end="5"/>
                                            </p:txEl>
                                          </p:spTgt>
                                        </p:tgtEl>
                                        <p:attrNameLst>
                                          <p:attrName>style.visibility</p:attrName>
                                        </p:attrNameLst>
                                      </p:cBhvr>
                                      <p:to>
                                        <p:strVal val="visible"/>
                                      </p:to>
                                    </p:set>
                                    <p:anim calcmode="lin" valueType="num">
                                      <p:cBhvr additive="base">
                                        <p:cTn id="29" dur="500" fill="hold"/>
                                        <p:tgtEl>
                                          <p:spTgt spid="16387">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638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AutoShape 2"/>
          <p:cNvSpPr>
            <a:spLocks noGrp="1" noChangeArrowheads="1"/>
          </p:cNvSpPr>
          <p:nvPr>
            <p:ph type="title"/>
          </p:nvPr>
        </p:nvSpPr>
        <p:spPr/>
        <p:txBody>
          <a:bodyPr/>
          <a:lstStyle/>
          <a:p>
            <a:pPr eaLnBrk="1" hangingPunct="1"/>
            <a:r>
              <a:rPr lang="zh-CN" altLang="en-US">
                <a:latin typeface="Arial" panose="020B0604020202020204" pitchFamily="34" charset="0"/>
                <a:ea typeface="微软雅黑" panose="020B0503020204020204" charset="-122"/>
              </a:rPr>
              <a:t>典型的直接有机合成反应：</a:t>
            </a:r>
            <a:endParaRPr lang="zh-CN" altLang="en-US">
              <a:latin typeface="Arial" panose="020B0604020202020204" pitchFamily="34" charset="0"/>
              <a:ea typeface="微软雅黑" panose="020B0503020204020204" charset="-122"/>
            </a:endParaRPr>
          </a:p>
        </p:txBody>
      </p:sp>
      <p:pic>
        <p:nvPicPr>
          <p:cNvPr id="2" name="图片 1" descr="图片1(1)"/>
          <p:cNvPicPr>
            <a:picLocks noChangeAspect="1"/>
          </p:cNvPicPr>
          <p:nvPr/>
        </p:nvPicPr>
        <p:blipFill>
          <a:blip r:embed="rId1"/>
          <a:stretch>
            <a:fillRect/>
          </a:stretch>
        </p:blipFill>
        <p:spPr>
          <a:xfrm>
            <a:off x="827405" y="1916430"/>
            <a:ext cx="8054340" cy="480885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AutoShape 2"/>
          <p:cNvSpPr>
            <a:spLocks noGrp="1" noChangeArrowheads="1"/>
          </p:cNvSpPr>
          <p:nvPr>
            <p:ph type="title"/>
          </p:nvPr>
        </p:nvSpPr>
        <p:spPr/>
        <p:txBody>
          <a:bodyPr/>
          <a:lstStyle/>
          <a:p>
            <a:pPr eaLnBrk="1" hangingPunct="1"/>
            <a:r>
              <a:rPr lang="zh-CN" altLang="en-US">
                <a:latin typeface="Arial" panose="020B0604020202020204" pitchFamily="34" charset="0"/>
                <a:ea typeface="微软雅黑" panose="020B0503020204020204" charset="-122"/>
              </a:rPr>
              <a:t>阳极过程：</a:t>
            </a:r>
            <a:endParaRPr lang="zh-CN" altLang="en-US">
              <a:latin typeface="Arial" panose="020B0604020202020204" pitchFamily="34" charset="0"/>
              <a:ea typeface="微软雅黑" panose="020B0503020204020204" charset="-122"/>
            </a:endParaRPr>
          </a:p>
        </p:txBody>
      </p:sp>
      <p:pic>
        <p:nvPicPr>
          <p:cNvPr id="18436" name="Picture 4"/>
          <p:cNvPicPr>
            <a:picLocks noChangeAspect="1" noChangeArrowheads="1"/>
          </p:cNvPicPr>
          <p:nvPr>
            <p:ph type="body" idx="1"/>
          </p:nvPr>
        </p:nvPicPr>
        <p:blipFill>
          <a:blip r:embed="rId1">
            <a:extLst>
              <a:ext uri="{28A0092B-C50C-407E-A947-70E740481C1C}">
                <a14:useLocalDpi xmlns:a14="http://schemas.microsoft.com/office/drawing/2010/main" val="0"/>
              </a:ext>
            </a:extLst>
          </a:blip>
          <a:srcRect/>
          <a:stretch>
            <a:fillRect/>
          </a:stretch>
        </p:blipFill>
        <p:spPr>
          <a:xfrm>
            <a:off x="2339975" y="1916113"/>
            <a:ext cx="4319588" cy="2665412"/>
          </a:xfrm>
          <a:noFill/>
        </p:spPr>
      </p:pic>
      <p:sp>
        <p:nvSpPr>
          <p:cNvPr id="18437" name="Text Box 5"/>
          <p:cNvSpPr txBox="1">
            <a:spLocks noChangeArrowheads="1"/>
          </p:cNvSpPr>
          <p:nvPr/>
        </p:nvSpPr>
        <p:spPr bwMode="auto">
          <a:xfrm>
            <a:off x="684213" y="4868863"/>
            <a:ext cx="813752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b="1">
                <a:ea typeface="微软雅黑" panose="020B0503020204020204" charset="-122"/>
              </a:rPr>
              <a:t>  </a:t>
            </a:r>
            <a:r>
              <a:rPr lang="zh-CN" altLang="en-US" b="1">
                <a:ea typeface="微软雅黑" panose="020B0503020204020204" charset="-122"/>
              </a:rPr>
              <a:t>多采用</a:t>
            </a:r>
            <a:r>
              <a:rPr lang="en-US" altLang="zh-CN" b="1">
                <a:ea typeface="微软雅黑" panose="020B0503020204020204" charset="-122"/>
              </a:rPr>
              <a:t>PbO</a:t>
            </a:r>
            <a:r>
              <a:rPr lang="en-US" altLang="zh-CN" b="1" baseline="-25000">
                <a:ea typeface="微软雅黑" panose="020B0503020204020204" charset="-122"/>
              </a:rPr>
              <a:t>2</a:t>
            </a:r>
            <a:r>
              <a:rPr lang="zh-CN" altLang="en-US" b="1">
                <a:ea typeface="微软雅黑" panose="020B0503020204020204" charset="-122"/>
              </a:rPr>
              <a:t>阳极，在稀硫酸溶液中进行直接氧化</a:t>
            </a:r>
            <a:endParaRPr lang="zh-CN" altLang="en-US" b="1">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8436"/>
                                        </p:tgtEl>
                                        <p:attrNameLst>
                                          <p:attrName>style.visibility</p:attrName>
                                        </p:attrNameLst>
                                      </p:cBhvr>
                                      <p:to>
                                        <p:strVal val="visible"/>
                                      </p:to>
                                    </p:set>
                                    <p:anim calcmode="lin" valueType="num">
                                      <p:cBhvr>
                                        <p:cTn id="7" dur="500" fill="hold"/>
                                        <p:tgtEl>
                                          <p:spTgt spid="18436"/>
                                        </p:tgtEl>
                                        <p:attrNameLst>
                                          <p:attrName>ppt_w</p:attrName>
                                        </p:attrNameLst>
                                      </p:cBhvr>
                                      <p:tavLst>
                                        <p:tav tm="0">
                                          <p:val>
                                            <p:fltVal val="0"/>
                                          </p:val>
                                        </p:tav>
                                        <p:tav tm="100000">
                                          <p:val>
                                            <p:strVal val="#ppt_w"/>
                                          </p:val>
                                        </p:tav>
                                      </p:tavLst>
                                    </p:anim>
                                    <p:anim calcmode="lin" valueType="num">
                                      <p:cBhvr>
                                        <p:cTn id="8" dur="500" fill="hold"/>
                                        <p:tgtEl>
                                          <p:spTgt spid="18436"/>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37" presetClass="entr" presetSubtype="0" fill="hold" grpId="0" nodeType="clickEffect">
                                  <p:stCondLst>
                                    <p:cond delay="0"/>
                                  </p:stCondLst>
                                  <p:childTnLst>
                                    <p:set>
                                      <p:cBhvr>
                                        <p:cTn id="12" dur="1" fill="hold">
                                          <p:stCondLst>
                                            <p:cond delay="0"/>
                                          </p:stCondLst>
                                        </p:cTn>
                                        <p:tgtEl>
                                          <p:spTgt spid="18437"/>
                                        </p:tgtEl>
                                        <p:attrNameLst>
                                          <p:attrName>style.visibility</p:attrName>
                                        </p:attrNameLst>
                                      </p:cBhvr>
                                      <p:to>
                                        <p:strVal val="visible"/>
                                      </p:to>
                                    </p:set>
                                    <p:animEffect transition="in" filter="fade">
                                      <p:cBhvr>
                                        <p:cTn id="13" dur="1000"/>
                                        <p:tgtEl>
                                          <p:spTgt spid="18437"/>
                                        </p:tgtEl>
                                      </p:cBhvr>
                                    </p:animEffect>
                                    <p:anim calcmode="lin" valueType="num">
                                      <p:cBhvr>
                                        <p:cTn id="14" dur="1000" fill="hold"/>
                                        <p:tgtEl>
                                          <p:spTgt spid="18437"/>
                                        </p:tgtEl>
                                        <p:attrNameLst>
                                          <p:attrName>ppt_x</p:attrName>
                                        </p:attrNameLst>
                                      </p:cBhvr>
                                      <p:tavLst>
                                        <p:tav tm="0">
                                          <p:val>
                                            <p:strVal val="#ppt_x"/>
                                          </p:val>
                                        </p:tav>
                                        <p:tav tm="100000">
                                          <p:val>
                                            <p:strVal val="#ppt_x"/>
                                          </p:val>
                                        </p:tav>
                                      </p:tavLst>
                                    </p:anim>
                                    <p:anim calcmode="lin" valueType="num">
                                      <p:cBhvr>
                                        <p:cTn id="15" dur="900" decel="100000" fill="hold"/>
                                        <p:tgtEl>
                                          <p:spTgt spid="18437"/>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18437"/>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AutoShape 2"/>
          <p:cNvSpPr>
            <a:spLocks noGrp="1" noChangeArrowheads="1"/>
          </p:cNvSpPr>
          <p:nvPr>
            <p:ph type="title"/>
          </p:nvPr>
        </p:nvSpPr>
        <p:spPr/>
        <p:txBody>
          <a:bodyPr/>
          <a:lstStyle/>
          <a:p>
            <a:pPr eaLnBrk="1" hangingPunct="1"/>
            <a:r>
              <a:rPr lang="zh-CN" altLang="en-US">
                <a:latin typeface="Arial" panose="020B0604020202020204" pitchFamily="34" charset="0"/>
                <a:ea typeface="微软雅黑" panose="020B0503020204020204" charset="-122"/>
              </a:rPr>
              <a:t>间接有机电合成</a:t>
            </a:r>
            <a:endParaRPr lang="zh-CN" altLang="en-US">
              <a:latin typeface="Arial" panose="020B0604020202020204" pitchFamily="34" charset="0"/>
              <a:ea typeface="微软雅黑" panose="020B0503020204020204" charset="-122"/>
            </a:endParaRPr>
          </a:p>
        </p:txBody>
      </p:sp>
      <p:sp>
        <p:nvSpPr>
          <p:cNvPr id="124931" name="Rectangle 3"/>
          <p:cNvSpPr>
            <a:spLocks noGrp="1" noChangeArrowheads="1"/>
          </p:cNvSpPr>
          <p:nvPr>
            <p:ph type="body" idx="1"/>
          </p:nvPr>
        </p:nvSpPr>
        <p:spPr>
          <a:xfrm>
            <a:off x="539750" y="2060575"/>
            <a:ext cx="8353425" cy="3916363"/>
          </a:xfrm>
        </p:spPr>
        <p:txBody>
          <a:bodyPr/>
          <a:lstStyle/>
          <a:p>
            <a:pPr eaLnBrk="1" hangingPunct="1">
              <a:lnSpc>
                <a:spcPct val="140000"/>
              </a:lnSpc>
              <a:buFont typeface="Wingdings" panose="05000000000000000000" pitchFamily="2" charset="2"/>
              <a:buNone/>
            </a:pPr>
            <a:r>
              <a:rPr lang="en-US" altLang="zh-CN" b="1">
                <a:latin typeface="Arial" panose="020B0604020202020204" pitchFamily="34" charset="0"/>
                <a:ea typeface="微软雅黑" panose="020B0503020204020204" charset="-122"/>
              </a:rPr>
              <a:t>          </a:t>
            </a:r>
            <a:r>
              <a:rPr lang="zh-CN" altLang="en-US" b="1">
                <a:latin typeface="Arial" panose="020B0604020202020204" pitchFamily="34" charset="0"/>
                <a:ea typeface="微软雅黑" panose="020B0503020204020204" charset="-122"/>
              </a:rPr>
              <a:t>间接有机电合成</a:t>
            </a:r>
            <a:r>
              <a:rPr lang="zh-CN" altLang="en-US">
                <a:latin typeface="Arial" panose="020B0604020202020204" pitchFamily="34" charset="0"/>
                <a:ea typeface="微软雅黑" panose="020B0503020204020204" charset="-122"/>
              </a:rPr>
              <a:t>：媒质电解合成，它利用水溶性无机氧化还原电偶作为媒质</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即电子介体</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，与有机物反应，然后将水相和有机相分离，获得产物，而水相中失去氧化</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或还原</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能力的媒质，则通过电极反应氧化</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或还原</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后再生，反复使用。</a:t>
            </a:r>
            <a:endParaRPr lang="zh-CN" altLang="en-US">
              <a:latin typeface="Arial" panose="020B0604020202020204" pitchFamily="34" charset="0"/>
              <a:ea typeface="微软雅黑" panose="020B0503020204020204" charset="-122"/>
            </a:endParaRPr>
          </a:p>
          <a:p>
            <a:pPr eaLnBrk="1" hangingPunct="1">
              <a:lnSpc>
                <a:spcPct val="140000"/>
              </a:lnSpc>
              <a:buFont typeface="Wingdings" panose="05000000000000000000" pitchFamily="2" charset="2"/>
              <a:buNone/>
            </a:pPr>
            <a:endParaRPr lang="en-US" altLang="zh-CN">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124931">
                                            <p:txEl>
                                              <p:pRg st="0" end="0"/>
                                            </p:txEl>
                                          </p:spTgt>
                                        </p:tgtEl>
                                        <p:attrNameLst>
                                          <p:attrName>style.visibility</p:attrName>
                                        </p:attrNameLst>
                                      </p:cBhvr>
                                      <p:to>
                                        <p:strVal val="visible"/>
                                      </p:to>
                                    </p:set>
                                    <p:anim calcmode="lin" valueType="num">
                                      <p:cBhvr>
                                        <p:cTn id="7" dur="1000" fill="hold"/>
                                        <p:tgtEl>
                                          <p:spTgt spid="124931">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24931">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249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1"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AutoShape 2"/>
          <p:cNvSpPr>
            <a:spLocks noGrp="1" noChangeArrowheads="1"/>
          </p:cNvSpPr>
          <p:nvPr>
            <p:ph type="title"/>
          </p:nvPr>
        </p:nvSpPr>
        <p:spPr/>
        <p:txBody>
          <a:bodyPr/>
          <a:lstStyle/>
          <a:p>
            <a:pPr eaLnBrk="1" hangingPunct="1"/>
            <a:r>
              <a:rPr lang="zh-CN" altLang="en-US">
                <a:latin typeface="Arial" panose="020B0604020202020204" pitchFamily="34" charset="0"/>
                <a:ea typeface="微软雅黑" panose="020B0503020204020204" charset="-122"/>
              </a:rPr>
              <a:t>间接有机电合成分类：</a:t>
            </a:r>
            <a:endParaRPr lang="zh-CN" altLang="en-US">
              <a:latin typeface="Arial" panose="020B0604020202020204" pitchFamily="34" charset="0"/>
              <a:ea typeface="微软雅黑" panose="020B0503020204020204" charset="-122"/>
            </a:endParaRPr>
          </a:p>
        </p:txBody>
      </p:sp>
      <p:sp>
        <p:nvSpPr>
          <p:cNvPr id="20483" name="Rectangle 3"/>
          <p:cNvSpPr>
            <a:spLocks noGrp="1" noChangeArrowheads="1"/>
          </p:cNvSpPr>
          <p:nvPr>
            <p:ph type="body" idx="1"/>
          </p:nvPr>
        </p:nvSpPr>
        <p:spPr/>
        <p:txBody>
          <a:bodyPr/>
          <a:lstStyle/>
          <a:p>
            <a:pPr eaLnBrk="1" hangingPunct="1">
              <a:lnSpc>
                <a:spcPct val="130000"/>
              </a:lnSpc>
              <a:buFont typeface="Wingdings" panose="05000000000000000000" pitchFamily="2" charset="2"/>
              <a:buNone/>
            </a:pPr>
            <a:r>
              <a:rPr lang="zh-CN" altLang="en-US" b="1">
                <a:latin typeface="Arial" panose="020B0604020202020204" pitchFamily="34" charset="0"/>
                <a:ea typeface="微软雅黑" panose="020B0503020204020204" charset="-122"/>
              </a:rPr>
              <a:t>槽内式间接有机电合成</a:t>
            </a:r>
            <a:r>
              <a:rPr lang="zh-CN" altLang="en-US">
                <a:latin typeface="Arial" panose="020B0604020202020204" pitchFamily="34" charset="0"/>
                <a:ea typeface="微软雅黑" panose="020B0503020204020204" charset="-122"/>
              </a:rPr>
              <a:t>：有机合成与媒质再生同在电化学反应器内进行。</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endParaRPr lang="zh-CN" altLang="en-US" sz="1200">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r>
              <a:rPr lang="zh-CN" altLang="en-US" b="1">
                <a:latin typeface="Arial" panose="020B0604020202020204" pitchFamily="34" charset="0"/>
                <a:ea typeface="微软雅黑" panose="020B0503020204020204" charset="-122"/>
              </a:rPr>
              <a:t>槽外式间接有机电合成</a:t>
            </a:r>
            <a:r>
              <a:rPr lang="zh-CN" altLang="en-US">
                <a:latin typeface="Arial" panose="020B0604020202020204" pitchFamily="34" charset="0"/>
                <a:ea typeface="微软雅黑" panose="020B0503020204020204" charset="-122"/>
              </a:rPr>
              <a:t>：有机合成与媒质再生分别在化学反应器及电化学反应器内进行，可避免有机物与电极直接接触。</a:t>
            </a:r>
            <a:endParaRPr lang="zh-CN" altLang="en-US">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483">
                                            <p:txEl>
                                              <p:pRg st="2" end="2"/>
                                            </p:txEl>
                                          </p:spTgt>
                                        </p:tgtEl>
                                        <p:attrNameLst>
                                          <p:attrName>style.visibility</p:attrName>
                                        </p:attrNameLst>
                                      </p:cBhvr>
                                      <p:to>
                                        <p:strVal val="visible"/>
                                      </p:to>
                                    </p:set>
                                    <p:anim calcmode="lin" valueType="num">
                                      <p:cBhvr additive="base">
                                        <p:cTn id="13"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48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AutoShape 2"/>
          <p:cNvSpPr>
            <a:spLocks noGrp="1" noChangeArrowheads="1"/>
          </p:cNvSpPr>
          <p:nvPr>
            <p:ph type="title"/>
          </p:nvPr>
        </p:nvSpPr>
        <p:spPr>
          <a:xfrm>
            <a:off x="755650" y="332423"/>
            <a:ext cx="7924800" cy="1143000"/>
          </a:xfrm>
        </p:spPr>
        <p:txBody>
          <a:bodyPr/>
          <a:lstStyle/>
          <a:p>
            <a:pPr eaLnBrk="1" hangingPunct="1"/>
            <a:r>
              <a:rPr lang="zh-CN" altLang="en-US">
                <a:latin typeface="Arial" panose="020B0604020202020204" pitchFamily="34" charset="0"/>
                <a:ea typeface="微软雅黑" panose="020B0503020204020204" charset="-122"/>
              </a:rPr>
              <a:t>间接有机电合成的特点：</a:t>
            </a:r>
            <a:endParaRPr lang="zh-CN" altLang="en-US">
              <a:latin typeface="Arial" panose="020B0604020202020204" pitchFamily="34" charset="0"/>
              <a:ea typeface="微软雅黑" panose="020B0503020204020204" charset="-122"/>
            </a:endParaRPr>
          </a:p>
        </p:txBody>
      </p:sp>
      <p:sp>
        <p:nvSpPr>
          <p:cNvPr id="21507" name="Rectangle 3"/>
          <p:cNvSpPr>
            <a:spLocks noGrp="1" noChangeArrowheads="1"/>
          </p:cNvSpPr>
          <p:nvPr>
            <p:ph type="body" idx="1"/>
          </p:nvPr>
        </p:nvSpPr>
        <p:spPr/>
        <p:txBody>
          <a:bodyPr/>
          <a:lstStyle/>
          <a:p>
            <a:pPr eaLnBrk="1" hangingPunct="1">
              <a:lnSpc>
                <a:spcPct val="150000"/>
              </a:lnSpc>
              <a:buFont typeface="Wingdings" panose="05000000000000000000" pitchFamily="2" charset="2"/>
              <a:buNone/>
            </a:pPr>
            <a:r>
              <a:rPr lang="en-US" altLang="zh-CN">
                <a:latin typeface="Arial" panose="020B0604020202020204" pitchFamily="34" charset="0"/>
                <a:ea typeface="微软雅黑" panose="020B0503020204020204" charset="-122"/>
              </a:rPr>
              <a:t>         </a:t>
            </a:r>
            <a:r>
              <a:rPr lang="zh-CN" altLang="en-US">
                <a:latin typeface="Arial" panose="020B0604020202020204" pitchFamily="34" charset="0"/>
                <a:ea typeface="微软雅黑" panose="020B0503020204020204" charset="-122"/>
              </a:rPr>
              <a:t>可使电合成反应以较高的电流密度在水溶液中进行，并使有机电合成过程优化和提高选择性，同时由于氧化剂</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或还原剂</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的再生，可以减少物耗及公害。</a:t>
            </a:r>
            <a:endParaRPr lang="zh-CN" altLang="en-US">
              <a:latin typeface="Arial" panose="020B0604020202020204" pitchFamily="34" charset="0"/>
              <a:ea typeface="微软雅黑" panose="020B0503020204020204" charset="-122"/>
            </a:endParaRPr>
          </a:p>
          <a:p>
            <a:pPr eaLnBrk="1" hangingPunct="1">
              <a:lnSpc>
                <a:spcPct val="150000"/>
              </a:lnSpc>
              <a:buFont typeface="Wingdings" panose="05000000000000000000" pitchFamily="2" charset="2"/>
              <a:buNone/>
            </a:pPr>
            <a:endParaRPr lang="en-US" altLang="zh-CN">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 calcmode="lin" valueType="num">
                                      <p:cBhvr>
                                        <p:cTn id="7" dur="500" fill="hold"/>
                                        <p:tgtEl>
                                          <p:spTgt spid="2150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1507">
                                            <p:txEl>
                                              <p:pRg st="0" end="0"/>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92275" y="2133600"/>
            <a:ext cx="5616575"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Text Box 5"/>
          <p:cNvSpPr txBox="1">
            <a:spLocks noChangeArrowheads="1"/>
          </p:cNvSpPr>
          <p:nvPr/>
        </p:nvSpPr>
        <p:spPr bwMode="auto">
          <a:xfrm>
            <a:off x="900113" y="765175"/>
            <a:ext cx="698500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3200">
                <a:ea typeface="微软雅黑" panose="020B0503020204020204" charset="-122"/>
              </a:rPr>
              <a:t>蒽氧化为蒽醌的间接电合成：</a:t>
            </a:r>
            <a:endParaRPr lang="zh-CN" altLang="en-US" sz="3200">
              <a:ea typeface="微软雅黑" panose="020B0503020204020204" charset="-122"/>
            </a:endParaRPr>
          </a:p>
        </p:txBody>
      </p:sp>
      <p:pic>
        <p:nvPicPr>
          <p:cNvPr id="2" name="图片 1"/>
          <p:cNvPicPr>
            <a:picLocks noChangeAspect="1"/>
          </p:cNvPicPr>
          <p:nvPr>
            <p:custDataLst>
              <p:tags r:id="rId2"/>
            </p:custDataLst>
          </p:nvPr>
        </p:nvPicPr>
        <p:blipFill>
          <a:blip r:embed="rId3"/>
          <a:stretch>
            <a:fillRect/>
          </a:stretch>
        </p:blipFill>
        <p:spPr>
          <a:xfrm>
            <a:off x="6948170" y="3716655"/>
            <a:ext cx="1706245" cy="2037715"/>
          </a:xfrm>
          <a:prstGeom prst="rect">
            <a:avLst/>
          </a:prstGeom>
        </p:spPr>
      </p:pic>
      <p:pic>
        <p:nvPicPr>
          <p:cNvPr id="3" name="图片 2"/>
          <p:cNvPicPr>
            <a:picLocks noChangeAspect="1"/>
          </p:cNvPicPr>
          <p:nvPr>
            <p:custDataLst>
              <p:tags r:id="rId4"/>
            </p:custDataLst>
          </p:nvPr>
        </p:nvPicPr>
        <p:blipFill>
          <a:blip r:embed="rId5"/>
          <a:stretch>
            <a:fillRect/>
          </a:stretch>
        </p:blipFill>
        <p:spPr>
          <a:xfrm>
            <a:off x="7020560" y="2780665"/>
            <a:ext cx="1442085" cy="683260"/>
          </a:xfrm>
          <a:prstGeom prst="rect">
            <a:avLst/>
          </a:prstGeom>
        </p:spPr>
      </p:pic>
      <p:cxnSp>
        <p:nvCxnSpPr>
          <p:cNvPr id="4" name="直接箭头连接符 3"/>
          <p:cNvCxnSpPr/>
          <p:nvPr/>
        </p:nvCxnSpPr>
        <p:spPr>
          <a:xfrm>
            <a:off x="7740650" y="3463925"/>
            <a:ext cx="0" cy="396875"/>
          </a:xfrm>
          <a:prstGeom prst="straightConnector1">
            <a:avLst/>
          </a:prstGeom>
          <a:ln>
            <a:solidFill>
              <a:schemeClr val="tx1">
                <a:lumMod val="60000"/>
                <a:lumOff val="40000"/>
              </a:schemeClr>
            </a:solidFill>
            <a:tailEnd type="arrow" w="med" len="med"/>
          </a:ln>
        </p:spPr>
        <p:style>
          <a:lnRef idx="2">
            <a:schemeClr val="accent1"/>
          </a:lnRef>
          <a:fillRef idx="0">
            <a:srgbClr val="FFFFFF"/>
          </a:fillRef>
          <a:effectRef idx="0">
            <a:srgbClr val="FFFFFF"/>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2532"/>
                                        </p:tgtEl>
                                        <p:attrNameLst>
                                          <p:attrName>style.visibility</p:attrName>
                                        </p:attrNameLst>
                                      </p:cBhvr>
                                      <p:to>
                                        <p:strVal val="visible"/>
                                      </p:to>
                                    </p:set>
                                    <p:anim calcmode="lin" valueType="num">
                                      <p:cBhvr>
                                        <p:cTn id="7" dur="500" fill="hold"/>
                                        <p:tgtEl>
                                          <p:spTgt spid="22532"/>
                                        </p:tgtEl>
                                        <p:attrNameLst>
                                          <p:attrName>ppt_w</p:attrName>
                                        </p:attrNameLst>
                                      </p:cBhvr>
                                      <p:tavLst>
                                        <p:tav tm="0">
                                          <p:val>
                                            <p:fltVal val="0"/>
                                          </p:val>
                                        </p:tav>
                                        <p:tav tm="100000">
                                          <p:val>
                                            <p:strVal val="#ppt_w"/>
                                          </p:val>
                                        </p:tav>
                                      </p:tavLst>
                                    </p:anim>
                                    <p:anim calcmode="lin" valueType="num">
                                      <p:cBhvr>
                                        <p:cTn id="8" dur="500" fill="hold"/>
                                        <p:tgtEl>
                                          <p:spTgt spid="2253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16013" y="2349500"/>
            <a:ext cx="6985000" cy="133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1"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4365625"/>
            <a:ext cx="568801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AutoShape 2"/>
          <p:cNvSpPr>
            <a:spLocks noGrp="1" noChangeArrowheads="1"/>
          </p:cNvSpPr>
          <p:nvPr>
            <p:ph type="title"/>
          </p:nvPr>
        </p:nvSpPr>
        <p:spPr/>
        <p:txBody>
          <a:bodyPr/>
          <a:lstStyle/>
          <a:p>
            <a:pPr eaLnBrk="1" hangingPunct="1"/>
            <a:r>
              <a:rPr lang="en-US" altLang="zh-CN">
                <a:latin typeface="Arial" panose="020B0604020202020204" pitchFamily="34" charset="0"/>
                <a:ea typeface="微软雅黑" panose="020B0503020204020204" charset="-122"/>
              </a:rPr>
              <a:t>6</a:t>
            </a:r>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3 </a:t>
            </a:r>
            <a:r>
              <a:rPr lang="zh-CN" altLang="en-US">
                <a:latin typeface="Arial" panose="020B0604020202020204" pitchFamily="34" charset="0"/>
                <a:ea typeface="微软雅黑" panose="020B0503020204020204" charset="-122"/>
              </a:rPr>
              <a:t>有机电合成中的若干实际问题</a:t>
            </a:r>
            <a:endParaRPr lang="zh-CN" altLang="en-US">
              <a:latin typeface="Arial" panose="020B0604020202020204" pitchFamily="34" charset="0"/>
              <a:ea typeface="微软雅黑" panose="020B0503020204020204" charset="-122"/>
            </a:endParaRPr>
          </a:p>
        </p:txBody>
      </p:sp>
      <p:sp>
        <p:nvSpPr>
          <p:cNvPr id="24579" name="Rectangle 3"/>
          <p:cNvSpPr>
            <a:spLocks noGrp="1" noChangeArrowheads="1"/>
          </p:cNvSpPr>
          <p:nvPr>
            <p:ph type="body" idx="1"/>
          </p:nvPr>
        </p:nvSpPr>
        <p:spPr/>
        <p:txBody>
          <a:bodyPr/>
          <a:lstStyle/>
          <a:p>
            <a:pPr eaLnBrk="1" hangingPunct="1">
              <a:lnSpc>
                <a:spcPct val="130000"/>
              </a:lnSpc>
              <a:buFont typeface="Wingdings" panose="05000000000000000000" pitchFamily="2" charset="2"/>
              <a:buNone/>
            </a:pPr>
            <a:r>
              <a:rPr lang="en-US" altLang="zh-CN" b="1">
                <a:latin typeface="Arial" panose="020B0604020202020204" pitchFamily="34" charset="0"/>
                <a:ea typeface="微软雅黑" panose="020B0503020204020204" charset="-122"/>
              </a:rPr>
              <a:t>1</a:t>
            </a:r>
            <a:r>
              <a:rPr lang="zh-CN" altLang="en-US" b="1">
                <a:latin typeface="Arial" panose="020B0604020202020204" pitchFamily="34" charset="0"/>
                <a:ea typeface="微软雅黑" panose="020B0503020204020204" charset="-122"/>
              </a:rPr>
              <a:t>、电极电位</a:t>
            </a:r>
            <a:endParaRPr lang="zh-CN" altLang="en-US" b="1">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r>
              <a:rPr lang="zh-CN" altLang="en-US">
                <a:latin typeface="Arial" panose="020B0604020202020204" pitchFamily="34" charset="0"/>
                <a:ea typeface="微软雅黑" panose="020B0503020204020204" charset="-122"/>
              </a:rPr>
              <a:t>         通过改变与控制电极电位，可改变电化学反应的方向、速度，然而有机电合成时，电极电位的变化区间要宽得多，这与电化学热力学和动力学两方面的原因有关。</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endParaRPr lang="en-US" altLang="zh-CN">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4579">
                                            <p:txEl>
                                              <p:pRg st="1" end="1"/>
                                            </p:txEl>
                                          </p:spTgt>
                                        </p:tgtEl>
                                        <p:attrNameLst>
                                          <p:attrName>style.visibility</p:attrName>
                                        </p:attrNameLst>
                                      </p:cBhvr>
                                      <p:to>
                                        <p:strVal val="visible"/>
                                      </p:to>
                                    </p:set>
                                    <p:animEffect transition="in" filter="slide(fromBottom)">
                                      <p:cBhvr>
                                        <p:cTn id="7" dur="500"/>
                                        <p:tgtEl>
                                          <p:spTgt spid="2457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body" idx="1"/>
          </p:nvPr>
        </p:nvSpPr>
        <p:spPr/>
        <p:txBody>
          <a:bodyPr/>
          <a:lstStyle/>
          <a:p>
            <a:pPr eaLnBrk="1" hangingPunct="1">
              <a:lnSpc>
                <a:spcPct val="130000"/>
              </a:lnSpc>
              <a:buFont typeface="Wingdings" panose="05000000000000000000" pitchFamily="2" charset="2"/>
              <a:buNone/>
            </a:pPr>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1</a:t>
            </a:r>
            <a:r>
              <a:rPr lang="zh-CN" altLang="en-US">
                <a:latin typeface="Arial" panose="020B0604020202020204" pitchFamily="34" charset="0"/>
                <a:ea typeface="微软雅黑" panose="020B0503020204020204" charset="-122"/>
              </a:rPr>
              <a:t>）由于有机电合成采用多种溶剂，而有机化合物的组成、结构也远比无机物复杂，同时在电场作用下，有机分子内部各基团之间的相互作用，也对其氧化还原电位产生影响。</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2</a:t>
            </a:r>
            <a:r>
              <a:rPr lang="zh-CN" altLang="en-US">
                <a:latin typeface="Arial" panose="020B0604020202020204" pitchFamily="34" charset="0"/>
                <a:ea typeface="微软雅黑" panose="020B0503020204020204" charset="-122"/>
              </a:rPr>
              <a:t>）有机电合成反应的可逆性很小，因此极化很大，具有较高的过电位。</a:t>
            </a:r>
            <a:endParaRPr lang="zh-CN" altLang="en-US">
              <a:latin typeface="Arial" panose="020B0604020202020204" pitchFamily="34" charset="0"/>
              <a:ea typeface="微软雅黑" panose="020B050302020402020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25954">
                                            <p:txEl>
                                              <p:pRg st="0" end="0"/>
                                            </p:txEl>
                                          </p:spTgt>
                                        </p:tgtEl>
                                        <p:attrNameLst>
                                          <p:attrName>style.visibility</p:attrName>
                                        </p:attrNameLst>
                                      </p:cBhvr>
                                      <p:to>
                                        <p:strVal val="visible"/>
                                      </p:to>
                                    </p:set>
                                    <p:animEffect transition="in" filter="slide(fromBottom)">
                                      <p:cBhvr>
                                        <p:cTn id="7" dur="500"/>
                                        <p:tgtEl>
                                          <p:spTgt spid="1259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25954">
                                            <p:txEl>
                                              <p:pRg st="1" end="1"/>
                                            </p:txEl>
                                          </p:spTgt>
                                        </p:tgtEl>
                                        <p:attrNameLst>
                                          <p:attrName>style.visibility</p:attrName>
                                        </p:attrNameLst>
                                      </p:cBhvr>
                                      <p:to>
                                        <p:strVal val="visible"/>
                                      </p:to>
                                    </p:set>
                                    <p:animEffect transition="in" filter="slide(fromBottom)">
                                      <p:cBhvr>
                                        <p:cTn id="12" dur="500"/>
                                        <p:tgtEl>
                                          <p:spTgt spid="12595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4"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AutoShape 2"/>
          <p:cNvSpPr>
            <a:spLocks noGrp="1" noChangeArrowheads="1"/>
          </p:cNvSpPr>
          <p:nvPr>
            <p:ph type="title"/>
          </p:nvPr>
        </p:nvSpPr>
        <p:spPr/>
        <p:txBody>
          <a:bodyPr/>
          <a:lstStyle/>
          <a:p>
            <a:pPr eaLnBrk="1" hangingPunct="1"/>
            <a:r>
              <a:rPr lang="en-US" altLang="zh-CN">
                <a:latin typeface="Arial" panose="020B0604020202020204" pitchFamily="34" charset="0"/>
                <a:ea typeface="微软雅黑" panose="020B0503020204020204" charset="-122"/>
              </a:rPr>
              <a:t>2</a:t>
            </a:r>
            <a:r>
              <a:rPr lang="zh-CN" altLang="en-US">
                <a:latin typeface="Arial" panose="020B0604020202020204" pitchFamily="34" charset="0"/>
                <a:ea typeface="微软雅黑" panose="020B0503020204020204" charset="-122"/>
              </a:rPr>
              <a:t>、电极材料</a:t>
            </a:r>
            <a:endParaRPr lang="zh-CN" altLang="en-US">
              <a:latin typeface="Arial" panose="020B0604020202020204" pitchFamily="34" charset="0"/>
              <a:ea typeface="微软雅黑" panose="020B0503020204020204" charset="-122"/>
            </a:endParaRPr>
          </a:p>
        </p:txBody>
      </p:sp>
      <p:sp>
        <p:nvSpPr>
          <p:cNvPr id="30723" name="Rectangle 3"/>
          <p:cNvSpPr>
            <a:spLocks noGrp="1" noChangeArrowheads="1"/>
          </p:cNvSpPr>
          <p:nvPr>
            <p:ph type="body" idx="1"/>
          </p:nvPr>
        </p:nvSpPr>
        <p:spPr>
          <a:xfrm>
            <a:off x="539750" y="1989138"/>
            <a:ext cx="8424863" cy="4321175"/>
          </a:xfrm>
        </p:spPr>
        <p:txBody>
          <a:bodyPr/>
          <a:lstStyle/>
          <a:p>
            <a:pPr eaLnBrk="1" hangingPunct="1">
              <a:lnSpc>
                <a:spcPct val="130000"/>
              </a:lnSpc>
              <a:buFont typeface="Wingdings" panose="05000000000000000000" pitchFamily="2" charset="2"/>
              <a:buNone/>
            </a:pPr>
            <a:r>
              <a:rPr lang="en-US" altLang="zh-CN">
                <a:latin typeface="Arial" panose="020B0604020202020204" pitchFamily="34" charset="0"/>
                <a:ea typeface="微软雅黑" panose="020B0503020204020204" charset="-122"/>
              </a:rPr>
              <a:t>        </a:t>
            </a:r>
            <a:r>
              <a:rPr lang="zh-CN" altLang="en-US">
                <a:latin typeface="Arial" panose="020B0604020202020204" pitchFamily="34" charset="0"/>
                <a:ea typeface="微软雅黑" panose="020B0503020204020204" charset="-122"/>
              </a:rPr>
              <a:t>选择电极材料，是有机电合成研究的重要任务之一，它往往决定了有机电合成的成败。电极材料及其表面状态对于有机电合成影响较大。</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r>
              <a:rPr lang="zh-CN" altLang="en-US">
                <a:latin typeface="Arial" panose="020B0604020202020204" pitchFamily="34" charset="0"/>
                <a:ea typeface="微软雅黑" panose="020B0503020204020204" charset="-122"/>
              </a:rPr>
              <a:t>        电极材料不仅改变热力学电极电位，电极材料及其表面状态的变化，将可能改变反应的历程、电极过程动力学的特点及其它电化学反应的规律。</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endParaRPr lang="en-US" altLang="zh-CN">
              <a:latin typeface="Arial" panose="020B0604020202020204" pitchFamily="34" charset="0"/>
              <a:ea typeface="微软雅黑" panose="020B0503020204020204" charset="-122"/>
            </a:endParaRPr>
          </a:p>
        </p:txBody>
      </p:sp>
    </p:spTree>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AutoShape 2"/>
          <p:cNvSpPr>
            <a:spLocks noGrp="1" noChangeArrowheads="1"/>
          </p:cNvSpPr>
          <p:nvPr>
            <p:ph type="title"/>
          </p:nvPr>
        </p:nvSpPr>
        <p:spPr/>
        <p:txBody>
          <a:bodyPr/>
          <a:lstStyle/>
          <a:p>
            <a:pPr eaLnBrk="1" hangingPunct="1"/>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1</a:t>
            </a:r>
            <a:r>
              <a:rPr lang="zh-CN" altLang="en-US">
                <a:latin typeface="Arial" panose="020B0604020202020204" pitchFamily="34" charset="0"/>
                <a:ea typeface="微软雅黑" panose="020B0503020204020204" charset="-122"/>
              </a:rPr>
              <a:t>）不同电极材料对有机电合成影响</a:t>
            </a:r>
            <a:endParaRPr lang="zh-CN" altLang="en-US">
              <a:latin typeface="Arial" panose="020B0604020202020204" pitchFamily="34" charset="0"/>
              <a:ea typeface="微软雅黑" panose="020B0503020204020204" charset="-122"/>
            </a:endParaRPr>
          </a:p>
        </p:txBody>
      </p:sp>
      <p:sp>
        <p:nvSpPr>
          <p:cNvPr id="28675" name="Rectangle 3"/>
          <p:cNvSpPr>
            <a:spLocks noGrp="1" noChangeArrowheads="1"/>
          </p:cNvSpPr>
          <p:nvPr>
            <p:ph type="body" idx="1"/>
          </p:nvPr>
        </p:nvSpPr>
        <p:spPr/>
        <p:txBody>
          <a:bodyPr/>
          <a:lstStyle/>
          <a:p>
            <a:pPr eaLnBrk="1" hangingPunct="1">
              <a:lnSpc>
                <a:spcPct val="120000"/>
              </a:lnSpc>
              <a:buFont typeface="Wingdings" panose="05000000000000000000" pitchFamily="2" charset="2"/>
              <a:buNone/>
            </a:pPr>
            <a:r>
              <a:rPr lang="en-US" altLang="zh-CN">
                <a:latin typeface="Arial" panose="020B0604020202020204" pitchFamily="34" charset="0"/>
                <a:ea typeface="微软雅黑" panose="020B0503020204020204" charset="-122"/>
              </a:rPr>
              <a:t>①</a:t>
            </a:r>
            <a:r>
              <a:rPr lang="zh-CN" altLang="en-US">
                <a:latin typeface="Arial" panose="020B0604020202020204" pitchFamily="34" charset="0"/>
                <a:ea typeface="微软雅黑" panose="020B0503020204020204" charset="-122"/>
              </a:rPr>
              <a:t>烷基卤及其还原中间产物在汞阴极表面的吸附，使得这一反应在汞阴极比在碳或铂电极表面更易进行，还原电位降低达</a:t>
            </a:r>
            <a:r>
              <a:rPr lang="en-US" altLang="zh-CN">
                <a:latin typeface="Arial" panose="020B0604020202020204" pitchFamily="34" charset="0"/>
                <a:ea typeface="微软雅黑" panose="020B0503020204020204" charset="-122"/>
              </a:rPr>
              <a:t>500mV</a:t>
            </a:r>
            <a:r>
              <a:rPr lang="zh-CN" altLang="en-US">
                <a:latin typeface="Arial" panose="020B0604020202020204" pitchFamily="34" charset="0"/>
                <a:ea typeface="微软雅黑" panose="020B0503020204020204" charset="-122"/>
              </a:rPr>
              <a:t>。</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a:latin typeface="Arial" panose="020B0604020202020204" pitchFamily="34" charset="0"/>
                <a:ea typeface="微软雅黑" panose="020B0503020204020204" charset="-122"/>
              </a:rPr>
              <a:t>②在不同电极表面进行的柯尔贝反应，结果迥异。</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a:latin typeface="Arial" panose="020B0604020202020204" pitchFamily="34" charset="0"/>
                <a:ea typeface="微软雅黑" panose="020B0503020204020204" charset="-122"/>
              </a:rPr>
              <a:t>铂阳极：中间产物自由基优先偶合。</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endParaRPr lang="en-US" altLang="zh-CN">
              <a:latin typeface="Arial" panose="020B0604020202020204" pitchFamily="34" charset="0"/>
              <a:ea typeface="微软雅黑" panose="020B0503020204020204" charset="-122"/>
            </a:endParaRPr>
          </a:p>
        </p:txBody>
      </p:sp>
      <p:pic>
        <p:nvPicPr>
          <p:cNvPr id="2867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92275" y="5013325"/>
            <a:ext cx="4968875"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5949950"/>
            <a:ext cx="2808288"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28675">
                                            <p:txEl>
                                              <p:pRg st="1" end="1"/>
                                            </p:txEl>
                                          </p:spTgt>
                                        </p:tgtEl>
                                        <p:attrNameLst>
                                          <p:attrName>style.visibility</p:attrName>
                                        </p:attrNameLst>
                                      </p:cBhvr>
                                      <p:to>
                                        <p:strVal val="visible"/>
                                      </p:to>
                                    </p:set>
                                    <p:animEffect transition="in" filter="fade">
                                      <p:cBhvr>
                                        <p:cTn id="7" dur="1000"/>
                                        <p:tgtEl>
                                          <p:spTgt spid="28675">
                                            <p:txEl>
                                              <p:pRg st="1" end="1"/>
                                            </p:txEl>
                                          </p:spTgt>
                                        </p:tgtEl>
                                      </p:cBhvr>
                                    </p:animEffect>
                                    <p:anim calcmode="lin" valueType="num">
                                      <p:cBhvr>
                                        <p:cTn id="8" dur="1000" fill="hold"/>
                                        <p:tgtEl>
                                          <p:spTgt spid="28675">
                                            <p:txEl>
                                              <p:pRg st="1" end="1"/>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28675">
                                            <p:txEl>
                                              <p:pRg st="1" end="1"/>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28675">
                                            <p:txEl>
                                              <p:pRg st="1" end="1"/>
                                            </p:txEl>
                                          </p:spTgt>
                                        </p:tgtEl>
                                        <p:attrNameLst>
                                          <p:attrName>ppt_y</p:attrName>
                                        </p:attrNameLst>
                                      </p:cBhvr>
                                      <p:tavLst>
                                        <p:tav tm="0">
                                          <p:val>
                                            <p:strVal val="#ppt_y-.03"/>
                                          </p:val>
                                        </p:tav>
                                        <p:tav tm="100000">
                                          <p:val>
                                            <p:strVal val="#ppt_y"/>
                                          </p:val>
                                        </p:tav>
                                      </p:tavLst>
                                    </p:anim>
                                  </p:childTnLst>
                                </p:cTn>
                              </p:par>
                              <p:par>
                                <p:cTn id="11" presetID="37" presetClass="entr" presetSubtype="0" fill="hold" nodeType="withEffect">
                                  <p:stCondLst>
                                    <p:cond delay="0"/>
                                  </p:stCondLst>
                                  <p:childTnLst>
                                    <p:set>
                                      <p:cBhvr>
                                        <p:cTn id="12" dur="1" fill="hold">
                                          <p:stCondLst>
                                            <p:cond delay="0"/>
                                          </p:stCondLst>
                                        </p:cTn>
                                        <p:tgtEl>
                                          <p:spTgt spid="28675">
                                            <p:txEl>
                                              <p:pRg st="2" end="2"/>
                                            </p:txEl>
                                          </p:spTgt>
                                        </p:tgtEl>
                                        <p:attrNameLst>
                                          <p:attrName>style.visibility</p:attrName>
                                        </p:attrNameLst>
                                      </p:cBhvr>
                                      <p:to>
                                        <p:strVal val="visible"/>
                                      </p:to>
                                    </p:set>
                                    <p:animEffect transition="in" filter="fade">
                                      <p:cBhvr>
                                        <p:cTn id="13" dur="1000"/>
                                        <p:tgtEl>
                                          <p:spTgt spid="28675">
                                            <p:txEl>
                                              <p:pRg st="2" end="2"/>
                                            </p:txEl>
                                          </p:spTgt>
                                        </p:tgtEl>
                                      </p:cBhvr>
                                    </p:animEffect>
                                    <p:anim calcmode="lin" valueType="num">
                                      <p:cBhvr>
                                        <p:cTn id="14" dur="1000" fill="hold"/>
                                        <p:tgtEl>
                                          <p:spTgt spid="28675">
                                            <p:txEl>
                                              <p:pRg st="2" end="2"/>
                                            </p:txEl>
                                          </p:spTgt>
                                        </p:tgtEl>
                                        <p:attrNameLst>
                                          <p:attrName>ppt_x</p:attrName>
                                        </p:attrNameLst>
                                      </p:cBhvr>
                                      <p:tavLst>
                                        <p:tav tm="0">
                                          <p:val>
                                            <p:strVal val="#ppt_x"/>
                                          </p:val>
                                        </p:tav>
                                        <p:tav tm="100000">
                                          <p:val>
                                            <p:strVal val="#ppt_x"/>
                                          </p:val>
                                        </p:tav>
                                      </p:tavLst>
                                    </p:anim>
                                    <p:anim calcmode="lin" valueType="num">
                                      <p:cBhvr>
                                        <p:cTn id="15" dur="900" decel="100000" fill="hold"/>
                                        <p:tgtEl>
                                          <p:spTgt spid="28675">
                                            <p:txEl>
                                              <p:pRg st="2" end="2"/>
                                            </p:txEl>
                                          </p:spTgt>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28675">
                                            <p:txEl>
                                              <p:pRg st="2" end="2"/>
                                            </p:txEl>
                                          </p:spTgt>
                                        </p:tgtEl>
                                        <p:attrNameLst>
                                          <p:attrName>ppt_y</p:attrName>
                                        </p:attrNameLst>
                                      </p:cBhvr>
                                      <p:tavLst>
                                        <p:tav tm="0">
                                          <p:val>
                                            <p:strVal val="#ppt_y-.03"/>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3" presetClass="entr" presetSubtype="16" fill="hold" nodeType="clickEffect">
                                  <p:stCondLst>
                                    <p:cond delay="0"/>
                                  </p:stCondLst>
                                  <p:childTnLst>
                                    <p:set>
                                      <p:cBhvr>
                                        <p:cTn id="20" dur="1" fill="hold">
                                          <p:stCondLst>
                                            <p:cond delay="0"/>
                                          </p:stCondLst>
                                        </p:cTn>
                                        <p:tgtEl>
                                          <p:spTgt spid="28676"/>
                                        </p:tgtEl>
                                        <p:attrNameLst>
                                          <p:attrName>style.visibility</p:attrName>
                                        </p:attrNameLst>
                                      </p:cBhvr>
                                      <p:to>
                                        <p:strVal val="visible"/>
                                      </p:to>
                                    </p:set>
                                    <p:anim calcmode="lin" valueType="num">
                                      <p:cBhvr>
                                        <p:cTn id="21" dur="500" fill="hold"/>
                                        <p:tgtEl>
                                          <p:spTgt spid="28676"/>
                                        </p:tgtEl>
                                        <p:attrNameLst>
                                          <p:attrName>ppt_w</p:attrName>
                                        </p:attrNameLst>
                                      </p:cBhvr>
                                      <p:tavLst>
                                        <p:tav tm="0">
                                          <p:val>
                                            <p:fltVal val="0"/>
                                          </p:val>
                                        </p:tav>
                                        <p:tav tm="100000">
                                          <p:val>
                                            <p:strVal val="#ppt_w"/>
                                          </p:val>
                                        </p:tav>
                                      </p:tavLst>
                                    </p:anim>
                                    <p:anim calcmode="lin" valueType="num">
                                      <p:cBhvr>
                                        <p:cTn id="22" dur="500" fill="hold"/>
                                        <p:tgtEl>
                                          <p:spTgt spid="28676"/>
                                        </p:tgtEl>
                                        <p:attrNameLst>
                                          <p:attrName>ppt_h</p:attrName>
                                        </p:attrNameLst>
                                      </p:cBhvr>
                                      <p:tavLst>
                                        <p:tav tm="0">
                                          <p:val>
                                            <p:fltVal val="0"/>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nodeType="clickEffect">
                                  <p:stCondLst>
                                    <p:cond delay="0"/>
                                  </p:stCondLst>
                                  <p:childTnLst>
                                    <p:set>
                                      <p:cBhvr>
                                        <p:cTn id="26" dur="1" fill="hold">
                                          <p:stCondLst>
                                            <p:cond delay="0"/>
                                          </p:stCondLst>
                                        </p:cTn>
                                        <p:tgtEl>
                                          <p:spTgt spid="28677"/>
                                        </p:tgtEl>
                                        <p:attrNameLst>
                                          <p:attrName>style.visibility</p:attrName>
                                        </p:attrNameLst>
                                      </p:cBhvr>
                                      <p:to>
                                        <p:strVal val="visible"/>
                                      </p:to>
                                    </p:set>
                                    <p:anim calcmode="lin" valueType="num">
                                      <p:cBhvr>
                                        <p:cTn id="27" dur="500" fill="hold"/>
                                        <p:tgtEl>
                                          <p:spTgt spid="28677"/>
                                        </p:tgtEl>
                                        <p:attrNameLst>
                                          <p:attrName>ppt_w</p:attrName>
                                        </p:attrNameLst>
                                      </p:cBhvr>
                                      <p:tavLst>
                                        <p:tav tm="0">
                                          <p:val>
                                            <p:fltVal val="0"/>
                                          </p:val>
                                        </p:tav>
                                        <p:tav tm="100000">
                                          <p:val>
                                            <p:strVal val="#ppt_w"/>
                                          </p:val>
                                        </p:tav>
                                      </p:tavLst>
                                    </p:anim>
                                    <p:anim calcmode="lin" valueType="num">
                                      <p:cBhvr>
                                        <p:cTn id="28" dur="500" fill="hold"/>
                                        <p:tgtEl>
                                          <p:spTgt spid="2867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type="body" idx="1"/>
          </p:nvPr>
        </p:nvSpPr>
        <p:spPr/>
        <p:txBody>
          <a:bodyPr/>
          <a:lstStyle/>
          <a:p>
            <a:pPr eaLnBrk="1" hangingPunct="1">
              <a:lnSpc>
                <a:spcPct val="130000"/>
              </a:lnSpc>
              <a:buFont typeface="Wingdings" panose="05000000000000000000" pitchFamily="2" charset="2"/>
              <a:buNone/>
            </a:pPr>
            <a:r>
              <a:rPr lang="zh-CN" altLang="en-US">
                <a:latin typeface="Arial" panose="020B0604020202020204" pitchFamily="34" charset="0"/>
                <a:ea typeface="微软雅黑" panose="020B0503020204020204" charset="-122"/>
              </a:rPr>
              <a:t>如：用铂阳极电解醋酸水溶液时，产物乙烷的电流效率接近</a:t>
            </a:r>
            <a:r>
              <a:rPr lang="en-US" altLang="zh-CN">
                <a:latin typeface="Arial" panose="020B0604020202020204" pitchFamily="34" charset="0"/>
                <a:ea typeface="微软雅黑" panose="020B0503020204020204" charset="-122"/>
              </a:rPr>
              <a:t>100</a:t>
            </a:r>
            <a:r>
              <a:rPr lang="zh-CN" altLang="en-US">
                <a:latin typeface="Arial" panose="020B0604020202020204" pitchFamily="34" charset="0"/>
                <a:ea typeface="微软雅黑" panose="020B0503020204020204" charset="-122"/>
              </a:rPr>
              <a:t>％。</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r>
              <a:rPr lang="zh-CN" altLang="en-US">
                <a:latin typeface="Arial" panose="020B0604020202020204" pitchFamily="34" charset="0"/>
                <a:ea typeface="微软雅黑" panose="020B0503020204020204" charset="-122"/>
              </a:rPr>
              <a:t>碳阳极：反应历程发生变化，中间产物自由基在碳阳极进一步氧化，生成正碳离子，可通过化学反应生成烯烃、醇、醚、酯等产物。</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endParaRPr lang="en-US" altLang="zh-CN">
              <a:latin typeface="Arial" panose="020B0604020202020204" pitchFamily="34" charset="0"/>
              <a:ea typeface="微软雅黑" panose="020B0503020204020204" charset="-122"/>
            </a:endParaRPr>
          </a:p>
        </p:txBody>
      </p:sp>
      <p:pic>
        <p:nvPicPr>
          <p:cNvPr id="29701"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31913" y="5157788"/>
            <a:ext cx="5400675"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699">
                                            <p:txEl>
                                              <p:pRg st="1" end="1"/>
                                            </p:txEl>
                                          </p:spTgt>
                                        </p:tgtEl>
                                        <p:attrNameLst>
                                          <p:attrName>style.visibility</p:attrName>
                                        </p:attrNameLst>
                                      </p:cBhvr>
                                      <p:to>
                                        <p:strVal val="visible"/>
                                      </p:to>
                                    </p:set>
                                    <p:anim calcmode="lin" valueType="num">
                                      <p:cBhvr additive="base">
                                        <p:cTn id="7" dur="500" fill="hold"/>
                                        <p:tgtEl>
                                          <p:spTgt spid="2969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6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29701"/>
                                        </p:tgtEl>
                                        <p:attrNameLst>
                                          <p:attrName>style.visibility</p:attrName>
                                        </p:attrNameLst>
                                      </p:cBhvr>
                                      <p:to>
                                        <p:strVal val="visible"/>
                                      </p:to>
                                    </p:set>
                                    <p:anim calcmode="lin" valueType="num">
                                      <p:cBhvr>
                                        <p:cTn id="13" dur="500" fill="hold"/>
                                        <p:tgtEl>
                                          <p:spTgt spid="29701"/>
                                        </p:tgtEl>
                                        <p:attrNameLst>
                                          <p:attrName>ppt_w</p:attrName>
                                        </p:attrNameLst>
                                      </p:cBhvr>
                                      <p:tavLst>
                                        <p:tav tm="0">
                                          <p:val>
                                            <p:fltVal val="0"/>
                                          </p:val>
                                        </p:tav>
                                        <p:tav tm="100000">
                                          <p:val>
                                            <p:strVal val="#ppt_w"/>
                                          </p:val>
                                        </p:tav>
                                      </p:tavLst>
                                    </p:anim>
                                    <p:anim calcmode="lin" valueType="num">
                                      <p:cBhvr>
                                        <p:cTn id="14" dur="500" fill="hold"/>
                                        <p:tgtEl>
                                          <p:spTgt spid="2970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2" name="Picture 2"/>
          <p:cNvPicPr>
            <a:picLocks noChangeAspect="1" noChangeArrowheads="1"/>
          </p:cNvPicPr>
          <p:nvPr>
            <p:custDataLst>
              <p:tags r:id="rId1"/>
            </p:custDataLst>
          </p:nvPr>
        </p:nvPicPr>
        <p:blipFill>
          <a:blip r:embed="rId2">
            <a:lum contrast="60000"/>
            <a:extLst>
              <a:ext uri="{28A0092B-C50C-407E-A947-70E740481C1C}">
                <a14:useLocalDpi xmlns:a14="http://schemas.microsoft.com/office/drawing/2010/main" val="0"/>
              </a:ext>
            </a:extLst>
          </a:blip>
          <a:srcRect/>
          <a:stretch>
            <a:fillRect/>
          </a:stretch>
        </p:blipFill>
        <p:spPr bwMode="auto">
          <a:xfrm>
            <a:off x="755650" y="650875"/>
            <a:ext cx="8388350" cy="616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28002"/>
                                        </p:tgtEl>
                                        <p:attrNameLst>
                                          <p:attrName>style.visibility</p:attrName>
                                        </p:attrNameLst>
                                      </p:cBhvr>
                                      <p:to>
                                        <p:strVal val="visible"/>
                                      </p:to>
                                    </p:set>
                                    <p:anim calcmode="lin" valueType="num">
                                      <p:cBhvr>
                                        <p:cTn id="7" dur="500" fill="hold"/>
                                        <p:tgtEl>
                                          <p:spTgt spid="128002"/>
                                        </p:tgtEl>
                                        <p:attrNameLst>
                                          <p:attrName>ppt_w</p:attrName>
                                        </p:attrNameLst>
                                      </p:cBhvr>
                                      <p:tavLst>
                                        <p:tav tm="0">
                                          <p:val>
                                            <p:fltVal val="0"/>
                                          </p:val>
                                        </p:tav>
                                        <p:tav tm="100000">
                                          <p:val>
                                            <p:strVal val="#ppt_w"/>
                                          </p:val>
                                        </p:tav>
                                      </p:tavLst>
                                    </p:anim>
                                    <p:anim calcmode="lin" valueType="num">
                                      <p:cBhvr>
                                        <p:cTn id="8" dur="500" fill="hold"/>
                                        <p:tgtEl>
                                          <p:spTgt spid="12800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AutoShape 2"/>
          <p:cNvSpPr>
            <a:spLocks noGrp="1" noChangeArrowheads="1"/>
          </p:cNvSpPr>
          <p:nvPr>
            <p:ph type="title"/>
          </p:nvPr>
        </p:nvSpPr>
        <p:spPr>
          <a:xfrm>
            <a:off x="468313" y="188913"/>
            <a:ext cx="8856662" cy="1143000"/>
          </a:xfrm>
        </p:spPr>
        <p:txBody>
          <a:bodyPr/>
          <a:lstStyle/>
          <a:p>
            <a:pPr eaLnBrk="1" hangingPunct="1"/>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2</a:t>
            </a:r>
            <a:r>
              <a:rPr lang="zh-CN" altLang="en-US">
                <a:latin typeface="Arial" panose="020B0604020202020204" pitchFamily="34" charset="0"/>
                <a:ea typeface="微软雅黑" panose="020B0503020204020204" charset="-122"/>
              </a:rPr>
              <a:t>）电极材料表面结构状态对有机电合成影响：</a:t>
            </a:r>
            <a:endParaRPr lang="zh-CN" altLang="en-US">
              <a:latin typeface="Arial" panose="020B0604020202020204" pitchFamily="34" charset="0"/>
              <a:ea typeface="微软雅黑" panose="020B0503020204020204" charset="-122"/>
            </a:endParaRPr>
          </a:p>
        </p:txBody>
      </p:sp>
      <p:sp>
        <p:nvSpPr>
          <p:cNvPr id="34819" name="Rectangle 3"/>
          <p:cNvSpPr>
            <a:spLocks noGrp="1" noChangeArrowheads="1"/>
          </p:cNvSpPr>
          <p:nvPr>
            <p:ph type="body" idx="1"/>
          </p:nvPr>
        </p:nvSpPr>
        <p:spPr>
          <a:xfrm>
            <a:off x="899795" y="2132013"/>
            <a:ext cx="8137525" cy="4635500"/>
          </a:xfrm>
        </p:spPr>
        <p:txBody>
          <a:bodyPr/>
          <a:lstStyle/>
          <a:p>
            <a:pPr eaLnBrk="1" hangingPunct="1">
              <a:lnSpc>
                <a:spcPct val="150000"/>
              </a:lnSpc>
              <a:buFont typeface="Wingdings" panose="05000000000000000000" pitchFamily="2" charset="2"/>
              <a:buNone/>
            </a:pPr>
            <a:r>
              <a:rPr lang="zh-CN" altLang="en-US">
                <a:latin typeface="Arial" panose="020B0604020202020204" pitchFamily="34" charset="0"/>
                <a:ea typeface="微软雅黑" panose="020B0503020204020204" charset="-122"/>
              </a:rPr>
              <a:t>海绵状银电极：可使四氯吡啶羧酸阴极还原生成</a:t>
            </a:r>
            <a:r>
              <a:rPr lang="en-US" altLang="zh-CN">
                <a:latin typeface="Arial" panose="020B0604020202020204" pitchFamily="34" charset="0"/>
                <a:ea typeface="微软雅黑" panose="020B0503020204020204" charset="-122"/>
              </a:rPr>
              <a:t>3</a:t>
            </a:r>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6—</a:t>
            </a:r>
            <a:r>
              <a:rPr lang="zh-CN" altLang="en-US">
                <a:latin typeface="Arial" panose="020B0604020202020204" pitchFamily="34" charset="0"/>
                <a:ea typeface="微软雅黑" panose="020B0503020204020204" charset="-122"/>
              </a:rPr>
              <a:t>二氯吡啶羧酸，其选择性可达</a:t>
            </a:r>
            <a:r>
              <a:rPr lang="en-US" altLang="zh-CN">
                <a:latin typeface="Arial" panose="020B0604020202020204" pitchFamily="34" charset="0"/>
                <a:ea typeface="微软雅黑" panose="020B0503020204020204" charset="-122"/>
              </a:rPr>
              <a:t>90</a:t>
            </a:r>
            <a:r>
              <a:rPr lang="zh-CN" altLang="en-US">
                <a:latin typeface="Arial" panose="020B0604020202020204" pitchFamily="34" charset="0"/>
                <a:ea typeface="微软雅黑" panose="020B0503020204020204" charset="-122"/>
              </a:rPr>
              <a:t>％；</a:t>
            </a:r>
            <a:endParaRPr lang="zh-CN" altLang="en-US">
              <a:latin typeface="Arial" panose="020B0604020202020204" pitchFamily="34" charset="0"/>
              <a:ea typeface="微软雅黑" panose="020B0503020204020204" charset="-122"/>
            </a:endParaRPr>
          </a:p>
          <a:p>
            <a:pPr eaLnBrk="1" hangingPunct="1">
              <a:lnSpc>
                <a:spcPct val="150000"/>
              </a:lnSpc>
              <a:buFont typeface="Wingdings" panose="05000000000000000000" pitchFamily="2" charset="2"/>
              <a:buNone/>
            </a:pPr>
            <a:endParaRPr lang="zh-CN" altLang="en-US">
              <a:latin typeface="Arial" panose="020B0604020202020204" pitchFamily="34" charset="0"/>
              <a:ea typeface="微软雅黑" panose="020B0503020204020204" charset="-122"/>
            </a:endParaRPr>
          </a:p>
          <a:p>
            <a:pPr eaLnBrk="1" hangingPunct="1">
              <a:lnSpc>
                <a:spcPct val="150000"/>
              </a:lnSpc>
              <a:buFont typeface="Wingdings" panose="05000000000000000000" pitchFamily="2" charset="2"/>
              <a:buNone/>
            </a:pPr>
            <a:r>
              <a:rPr lang="zh-CN" altLang="en-US">
                <a:latin typeface="Arial" panose="020B0604020202020204" pitchFamily="34" charset="0"/>
                <a:ea typeface="微软雅黑" panose="020B0503020204020204" charset="-122"/>
              </a:rPr>
              <a:t>普通的板状银电极，上述反应则不能发生。</a:t>
            </a:r>
            <a:endParaRPr lang="zh-CN" altLang="en-US">
              <a:latin typeface="Arial" panose="020B0604020202020204" pitchFamily="34" charset="0"/>
              <a:ea typeface="微软雅黑" panose="020B0503020204020204" charset="-122"/>
            </a:endParaRPr>
          </a:p>
          <a:p>
            <a:pPr eaLnBrk="1" hangingPunct="1">
              <a:lnSpc>
                <a:spcPct val="150000"/>
              </a:lnSpc>
              <a:buFont typeface="Wingdings" panose="05000000000000000000" pitchFamily="2" charset="2"/>
              <a:buNone/>
            </a:pPr>
            <a:endParaRPr lang="en-US" altLang="zh-CN">
              <a:latin typeface="Arial" panose="020B0604020202020204" pitchFamily="34" charset="0"/>
              <a:ea typeface="微软雅黑" panose="020B0503020204020204" charset="-122"/>
            </a:endParaRPr>
          </a:p>
        </p:txBody>
      </p:sp>
    </p:spTree>
  </p:cSld>
  <p:clrMapOvr>
    <a:masterClrMapping/>
  </p:clrMapOvr>
  <p:transition>
    <p:pull dir="l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AutoShape 2"/>
          <p:cNvSpPr>
            <a:spLocks noGrp="1" noChangeArrowheads="1"/>
          </p:cNvSpPr>
          <p:nvPr>
            <p:ph type="title"/>
          </p:nvPr>
        </p:nvSpPr>
        <p:spPr>
          <a:xfrm>
            <a:off x="683260" y="331788"/>
            <a:ext cx="7924800" cy="1143000"/>
          </a:xfrm>
        </p:spPr>
        <p:txBody>
          <a:bodyPr/>
          <a:lstStyle/>
          <a:p>
            <a:pPr eaLnBrk="1" hangingPunct="1"/>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3</a:t>
            </a:r>
            <a:r>
              <a:rPr lang="zh-CN" altLang="en-US">
                <a:latin typeface="Arial" panose="020B0604020202020204" pitchFamily="34" charset="0"/>
                <a:ea typeface="微软雅黑" panose="020B0503020204020204" charset="-122"/>
              </a:rPr>
              <a:t>）电极材料的选择</a:t>
            </a:r>
            <a:endParaRPr lang="zh-CN" altLang="en-US">
              <a:latin typeface="Arial" panose="020B0604020202020204" pitchFamily="34" charset="0"/>
              <a:ea typeface="微软雅黑" panose="020B0503020204020204" charset="-122"/>
            </a:endParaRPr>
          </a:p>
        </p:txBody>
      </p:sp>
      <p:sp>
        <p:nvSpPr>
          <p:cNvPr id="35843" name="Rectangle 3"/>
          <p:cNvSpPr>
            <a:spLocks noGrp="1" noChangeArrowheads="1"/>
          </p:cNvSpPr>
          <p:nvPr>
            <p:ph type="body" idx="1"/>
          </p:nvPr>
        </p:nvSpPr>
        <p:spPr>
          <a:xfrm>
            <a:off x="755650" y="1844675"/>
            <a:ext cx="7781290" cy="4635500"/>
          </a:xfrm>
        </p:spPr>
        <p:txBody>
          <a:bodyPr/>
          <a:lstStyle/>
          <a:p>
            <a:pPr eaLnBrk="1" hangingPunct="1">
              <a:lnSpc>
                <a:spcPct val="120000"/>
              </a:lnSpc>
              <a:buFont typeface="Wingdings" panose="05000000000000000000" pitchFamily="2" charset="2"/>
              <a:buNone/>
            </a:pPr>
            <a:r>
              <a:rPr lang="en-US" altLang="zh-CN">
                <a:latin typeface="Arial" panose="020B0604020202020204" pitchFamily="34" charset="0"/>
                <a:ea typeface="微软雅黑" panose="020B0503020204020204" charset="-122"/>
              </a:rPr>
              <a:t>   ①</a:t>
            </a:r>
            <a:r>
              <a:rPr lang="zh-CN" altLang="en-US">
                <a:latin typeface="Arial" panose="020B0604020202020204" pitchFamily="34" charset="0"/>
                <a:ea typeface="微软雅黑" panose="020B0503020204020204" charset="-122"/>
              </a:rPr>
              <a:t>阴极材料的选择：</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b="1">
                <a:latin typeface="Arial" panose="020B0604020202020204" pitchFamily="34" charset="0"/>
                <a:ea typeface="微软雅黑" panose="020B0503020204020204" charset="-122"/>
              </a:rPr>
              <a:t>工作电极</a:t>
            </a:r>
            <a:r>
              <a:rPr lang="zh-CN" altLang="en-US">
                <a:latin typeface="Arial" panose="020B0604020202020204" pitchFamily="34" charset="0"/>
                <a:ea typeface="微软雅黑" panose="020B0503020204020204" charset="-122"/>
              </a:rPr>
              <a:t>：</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charset="0"/>
              <a:buChar char="ü"/>
            </a:pPr>
            <a:r>
              <a:rPr lang="zh-CN" altLang="en-US">
                <a:latin typeface="Arial" panose="020B0604020202020204" pitchFamily="34" charset="0"/>
                <a:ea typeface="微软雅黑" panose="020B0503020204020204" charset="-122"/>
              </a:rPr>
              <a:t>依靠阴极还原反应形成产物时</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析氢过电位高的材料，如铅、锌、汞等。</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charset="0"/>
              <a:buChar char="ü"/>
            </a:pPr>
            <a:r>
              <a:rPr lang="zh-CN" altLang="en-US">
                <a:latin typeface="Arial" panose="020B0604020202020204" pitchFamily="34" charset="0"/>
                <a:ea typeface="微软雅黑" panose="020B0503020204020204" charset="-122"/>
              </a:rPr>
              <a:t>欲发生电解加氢反应</a:t>
            </a:r>
            <a:r>
              <a:rPr lang="en-US" altLang="zh-CN">
                <a:latin typeface="Arial" panose="020B0604020202020204" pitchFamily="34" charset="0"/>
                <a:ea typeface="微软雅黑" panose="020B0503020204020204" charset="-122"/>
                <a:sym typeface="+mn-ea"/>
              </a:rPr>
              <a:t>——</a:t>
            </a:r>
            <a:r>
              <a:rPr lang="zh-CN" altLang="en-US">
                <a:latin typeface="Arial" panose="020B0604020202020204" pitchFamily="34" charset="0"/>
                <a:ea typeface="微软雅黑" panose="020B0503020204020204" charset="-122"/>
              </a:rPr>
              <a:t>析氢过电位低的电极材料，如铂、镍、铁等。</a:t>
            </a:r>
            <a:endParaRPr lang="zh-CN" altLang="en-US">
              <a:latin typeface="Arial" panose="020B0604020202020204" pitchFamily="34" charset="0"/>
              <a:ea typeface="微软雅黑" panose="020B0503020204020204" charset="-122"/>
            </a:endParaRPr>
          </a:p>
          <a:p>
            <a:pPr marL="0" indent="0" eaLnBrk="1" hangingPunct="1">
              <a:lnSpc>
                <a:spcPct val="120000"/>
              </a:lnSpc>
              <a:buFont typeface="Wingdings" panose="05000000000000000000" charset="0"/>
              <a:buNone/>
            </a:pPr>
            <a:r>
              <a:rPr lang="zh-CN" altLang="en-US" sz="2400">
                <a:latin typeface="Arial" panose="020B0604020202020204" pitchFamily="34" charset="0"/>
                <a:ea typeface="微软雅黑" panose="020B0503020204020204" charset="-122"/>
                <a:sym typeface="+mn-ea"/>
              </a:rPr>
              <a:t>即需要首先在阴极表面产生</a:t>
            </a:r>
            <a:r>
              <a:rPr lang="en-US" altLang="zh-CN" sz="2400">
                <a:latin typeface="Arial" panose="020B0604020202020204" pitchFamily="34" charset="0"/>
                <a:ea typeface="微软雅黑" panose="020B0503020204020204" charset="-122"/>
                <a:sym typeface="+mn-ea"/>
              </a:rPr>
              <a:t>H</a:t>
            </a:r>
            <a:r>
              <a:rPr lang="en-US" altLang="zh-CN" sz="2400" baseline="-25000">
                <a:latin typeface="Arial" panose="020B0604020202020204" pitchFamily="34" charset="0"/>
                <a:ea typeface="微软雅黑" panose="020B0503020204020204" charset="-122"/>
                <a:sym typeface="+mn-ea"/>
              </a:rPr>
              <a:t>2</a:t>
            </a:r>
            <a:r>
              <a:rPr lang="zh-CN" altLang="en-US" sz="2400">
                <a:latin typeface="Arial" panose="020B0604020202020204" pitchFamily="34" charset="0"/>
                <a:ea typeface="微软雅黑" panose="020B0503020204020204" charset="-122"/>
                <a:sym typeface="+mn-ea"/>
              </a:rPr>
              <a:t>，然后再与有机分子进行加氢反应</a:t>
            </a:r>
            <a:endParaRPr lang="zh-CN" altLang="en-US" sz="2400">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endParaRPr lang="en-US" altLang="zh-CN" sz="2400">
              <a:latin typeface="Arial" panose="020B0604020202020204" pitchFamily="34" charset="0"/>
              <a:ea typeface="微软雅黑" panose="020B0503020204020204" charset="-122"/>
            </a:endParaRPr>
          </a:p>
        </p:txBody>
      </p:sp>
    </p:spTree>
  </p:cSld>
  <p:clrMapOvr>
    <a:masterClrMapping/>
  </p:clrMapOvr>
  <p:transition>
    <p:pull dir="l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type="body" idx="1"/>
          </p:nvPr>
        </p:nvSpPr>
        <p:spPr>
          <a:xfrm>
            <a:off x="828040" y="2033588"/>
            <a:ext cx="8137525" cy="4635500"/>
          </a:xfrm>
        </p:spPr>
        <p:txBody>
          <a:bodyPr/>
          <a:lstStyle/>
          <a:p>
            <a:pPr eaLnBrk="1" hangingPunct="1">
              <a:lnSpc>
                <a:spcPct val="130000"/>
              </a:lnSpc>
              <a:buFont typeface="Wingdings" panose="05000000000000000000" pitchFamily="2" charset="2"/>
              <a:buNone/>
            </a:pPr>
            <a:r>
              <a:rPr lang="zh-CN" altLang="en-US" b="1">
                <a:latin typeface="Arial" panose="020B0604020202020204" pitchFamily="34" charset="0"/>
                <a:ea typeface="微软雅黑" panose="020B0503020204020204" charset="-122"/>
              </a:rPr>
              <a:t>对电极</a:t>
            </a:r>
            <a:r>
              <a:rPr lang="zh-CN" altLang="en-US">
                <a:latin typeface="Arial" panose="020B0604020202020204" pitchFamily="34" charset="0"/>
                <a:ea typeface="微软雅黑" panose="020B0503020204020204" charset="-122"/>
              </a:rPr>
              <a:t>：在阴极仅作为辅助电极（对电极），</a:t>
            </a:r>
            <a:r>
              <a:rPr lang="zh-CN" altLang="en-US">
                <a:latin typeface="Arial" panose="020B0604020202020204" pitchFamily="34" charset="0"/>
                <a:ea typeface="微软雅黑" panose="020B0503020204020204" charset="-122"/>
                <a:sym typeface="+mn-ea"/>
              </a:rPr>
              <a:t>阳极发生有机电合成反应</a:t>
            </a:r>
            <a:r>
              <a:rPr lang="zh-CN" altLang="en-US">
                <a:latin typeface="Arial" panose="020B0604020202020204" pitchFamily="34" charset="0"/>
                <a:ea typeface="微软雅黑" panose="020B0503020204020204" charset="-122"/>
              </a:rPr>
              <a:t>。</a:t>
            </a:r>
            <a:endParaRPr lang="zh-CN" altLang="en-US">
              <a:latin typeface="Arial" panose="020B0604020202020204" pitchFamily="34" charset="0"/>
              <a:ea typeface="微软雅黑" panose="020B0503020204020204" charset="-122"/>
            </a:endParaRPr>
          </a:p>
          <a:p>
            <a:pPr indent="711200" eaLnBrk="1" latinLnBrk="0" hangingPunct="1">
              <a:lnSpc>
                <a:spcPct val="130000"/>
              </a:lnSpc>
              <a:spcBef>
                <a:spcPts val="0"/>
              </a:spcBef>
              <a:buFont typeface="Wingdings" panose="05000000000000000000" charset="0"/>
              <a:buChar char="u"/>
              <a:extLst>
                <a:ext uri="{35155182-B16C-46BC-9424-99874614C6A1}">
                  <wpsdc:indentchars xmlns:wpsdc="http://www.wps.cn/officeDocument/2017/drawingmlCustomData" val="200" checksum="3773799597"/>
                </a:ext>
              </a:extLst>
            </a:pPr>
            <a:r>
              <a:rPr lang="zh-CN" altLang="en-US">
                <a:latin typeface="Arial" panose="020B0604020202020204" pitchFamily="34" charset="0"/>
                <a:ea typeface="微软雅黑" panose="020B0503020204020204" charset="-122"/>
              </a:rPr>
              <a:t>阴极析</a:t>
            </a:r>
            <a:r>
              <a:rPr lang="en-US" altLang="zh-CN">
                <a:latin typeface="Arial" panose="020B0604020202020204" pitchFamily="34" charset="0"/>
                <a:ea typeface="微软雅黑" panose="020B0503020204020204" charset="-122"/>
              </a:rPr>
              <a:t>H</a:t>
            </a:r>
            <a:r>
              <a:rPr lang="en-US" altLang="zh-CN" baseline="-25000">
                <a:latin typeface="Arial" panose="020B0604020202020204" pitchFamily="34" charset="0"/>
                <a:ea typeface="微软雅黑" panose="020B0503020204020204" charset="-122"/>
              </a:rPr>
              <a:t>2</a:t>
            </a:r>
            <a:r>
              <a:rPr lang="zh-CN" altLang="en-US">
                <a:latin typeface="Arial" panose="020B0604020202020204" pitchFamily="34" charset="0"/>
                <a:ea typeface="微软雅黑" panose="020B0503020204020204" charset="-122"/>
              </a:rPr>
              <a:t>反应成为主反应</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r>
              <a:rPr lang="en-US" altLang="zh-CN">
                <a:latin typeface="Arial" panose="020B0604020202020204" pitchFamily="34" charset="0"/>
                <a:ea typeface="微软雅黑" panose="020B0503020204020204" charset="-122"/>
                <a:sym typeface="+mn-ea"/>
              </a:rPr>
              <a:t>——</a:t>
            </a:r>
            <a:r>
              <a:rPr lang="zh-CN" altLang="en-US">
                <a:latin typeface="Arial" panose="020B0604020202020204" pitchFamily="34" charset="0"/>
                <a:ea typeface="微软雅黑" panose="020B0503020204020204" charset="-122"/>
              </a:rPr>
              <a:t>应采用析氢过电位低的电极材料</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r>
              <a:rPr lang="en-US" altLang="zh-CN">
                <a:latin typeface="Arial" panose="020B0604020202020204" pitchFamily="34" charset="0"/>
                <a:ea typeface="微软雅黑" panose="020B0503020204020204" charset="-122"/>
                <a:sym typeface="+mn-ea"/>
              </a:rPr>
              <a:t>——</a:t>
            </a:r>
            <a:r>
              <a:rPr lang="zh-CN" altLang="en-US">
                <a:latin typeface="Arial" panose="020B0604020202020204" pitchFamily="34" charset="0"/>
                <a:ea typeface="微软雅黑" panose="020B0503020204020204" charset="-122"/>
              </a:rPr>
              <a:t>还应防止因合成产物在对电极发生副反应而降低收率。</a:t>
            </a:r>
            <a:endParaRPr lang="zh-CN" altLang="en-US">
              <a:latin typeface="Arial" panose="020B0604020202020204" pitchFamily="34" charset="0"/>
              <a:ea typeface="微软雅黑" panose="020B0503020204020204" charset="-122"/>
            </a:endParaRPr>
          </a:p>
          <a:p>
            <a:pPr eaLnBrk="1" hangingPunct="1">
              <a:buFont typeface="Wingdings" panose="05000000000000000000" pitchFamily="2" charset="2"/>
              <a:buNone/>
            </a:pPr>
            <a:r>
              <a:rPr lang="zh-CN" altLang="en-US">
                <a:latin typeface="Arial" panose="020B0604020202020204" pitchFamily="34" charset="0"/>
                <a:ea typeface="微软雅黑" panose="020B0503020204020204" charset="-122"/>
              </a:rPr>
              <a:t>         研究表明，阴极表面沉积微量的金属杂质或有机杂质都将影响电极性能。</a:t>
            </a:r>
            <a:endParaRPr lang="zh-CN" altLang="en-US">
              <a:latin typeface="Arial" panose="020B0604020202020204" pitchFamily="34" charset="0"/>
              <a:ea typeface="微软雅黑" panose="020B0503020204020204" charset="-122"/>
            </a:endParaRPr>
          </a:p>
        </p:txBody>
      </p:sp>
    </p:spTree>
  </p:cSld>
  <p:clrMapOvr>
    <a:masterClrMapping/>
  </p:clrMapOvr>
  <p:transition>
    <p:pull dir="l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AutoShape 2"/>
          <p:cNvSpPr>
            <a:spLocks noGrp="1" noChangeArrowheads="1"/>
          </p:cNvSpPr>
          <p:nvPr>
            <p:ph type="title"/>
          </p:nvPr>
        </p:nvSpPr>
        <p:spPr>
          <a:xfrm>
            <a:off x="755650" y="404178"/>
            <a:ext cx="7924800" cy="1143000"/>
          </a:xfrm>
        </p:spPr>
        <p:txBody>
          <a:bodyPr/>
          <a:lstStyle/>
          <a:p>
            <a:pPr eaLnBrk="1" hangingPunct="1"/>
            <a:r>
              <a:rPr lang="en-US" altLang="zh-CN">
                <a:latin typeface="Arial" panose="020B0604020202020204" pitchFamily="34" charset="0"/>
                <a:ea typeface="微软雅黑" panose="020B0503020204020204" charset="-122"/>
              </a:rPr>
              <a:t>②</a:t>
            </a:r>
            <a:r>
              <a:rPr lang="zh-CN" altLang="en-US">
                <a:latin typeface="Arial" panose="020B0604020202020204" pitchFamily="34" charset="0"/>
                <a:ea typeface="微软雅黑" panose="020B0503020204020204" charset="-122"/>
              </a:rPr>
              <a:t>阳极材料的选择</a:t>
            </a:r>
            <a:endParaRPr lang="zh-CN" altLang="en-US">
              <a:latin typeface="Arial" panose="020B0604020202020204" pitchFamily="34" charset="0"/>
              <a:ea typeface="微软雅黑" panose="020B0503020204020204" charset="-122"/>
            </a:endParaRPr>
          </a:p>
        </p:txBody>
      </p:sp>
      <p:sp>
        <p:nvSpPr>
          <p:cNvPr id="37891" name="Rectangle 3"/>
          <p:cNvSpPr>
            <a:spLocks noGrp="1" noChangeArrowheads="1"/>
          </p:cNvSpPr>
          <p:nvPr>
            <p:ph type="body" idx="1"/>
          </p:nvPr>
        </p:nvSpPr>
        <p:spPr>
          <a:xfrm>
            <a:off x="1043305" y="1628775"/>
            <a:ext cx="7841615" cy="5085080"/>
          </a:xfrm>
        </p:spPr>
        <p:txBody>
          <a:bodyPr/>
          <a:lstStyle/>
          <a:p>
            <a:pPr eaLnBrk="1" hangingPunct="1">
              <a:lnSpc>
                <a:spcPct val="120000"/>
              </a:lnSpc>
              <a:buFont typeface="Wingdings" panose="05000000000000000000" pitchFamily="2" charset="2"/>
              <a:buNone/>
            </a:pPr>
            <a:r>
              <a:rPr lang="en-US" altLang="zh-CN">
                <a:latin typeface="Arial" panose="020B0604020202020204" pitchFamily="34" charset="0"/>
                <a:ea typeface="微软雅黑" panose="020B0503020204020204" charset="-122"/>
              </a:rPr>
              <a:t>        </a:t>
            </a:r>
            <a:endParaRPr lang="en-US" altLang="zh-CN">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en-US" altLang="zh-CN">
                <a:latin typeface="Arial" panose="020B0604020202020204" pitchFamily="34" charset="0"/>
                <a:ea typeface="微软雅黑" panose="020B0503020204020204" charset="-122"/>
              </a:rPr>
              <a:t>         </a:t>
            </a:r>
            <a:r>
              <a:rPr lang="zh-CN" altLang="en-US">
                <a:latin typeface="Arial" panose="020B0604020202020204" pitchFamily="34" charset="0"/>
                <a:ea typeface="微软雅黑" panose="020B0503020204020204" charset="-122"/>
              </a:rPr>
              <a:t>阳极材料，如</a:t>
            </a:r>
            <a:r>
              <a:rPr lang="en-US" altLang="zh-CN">
                <a:latin typeface="Arial" panose="020B0604020202020204" pitchFamily="34" charset="0"/>
                <a:ea typeface="微软雅黑" panose="020B0503020204020204" charset="-122"/>
              </a:rPr>
              <a:t>Pt</a:t>
            </a:r>
            <a:r>
              <a:rPr lang="zh-CN" altLang="en-US">
                <a:latin typeface="Arial" panose="020B0604020202020204" pitchFamily="34" charset="0"/>
                <a:ea typeface="微软雅黑" panose="020B0503020204020204" charset="-122"/>
              </a:rPr>
              <a:t>、石墨、玻璃碳、</a:t>
            </a:r>
            <a:r>
              <a:rPr lang="en-US" altLang="zh-CN">
                <a:latin typeface="Arial" panose="020B0604020202020204" pitchFamily="34" charset="0"/>
                <a:ea typeface="微软雅黑" panose="020B0503020204020204" charset="-122"/>
              </a:rPr>
              <a:t>DSA</a:t>
            </a:r>
            <a:r>
              <a:rPr lang="zh-CN" altLang="en-US">
                <a:latin typeface="Arial" panose="020B0604020202020204" pitchFamily="34" charset="0"/>
                <a:ea typeface="微软雅黑" panose="020B0503020204020204" charset="-122"/>
              </a:rPr>
              <a:t>阳极、</a:t>
            </a:r>
            <a:r>
              <a:rPr lang="en-US" altLang="zh-CN">
                <a:latin typeface="Arial" panose="020B0604020202020204" pitchFamily="34" charset="0"/>
                <a:ea typeface="微软雅黑" panose="020B0503020204020204" charset="-122"/>
              </a:rPr>
              <a:t>PbO</a:t>
            </a:r>
            <a:r>
              <a:rPr lang="en-US" altLang="zh-CN" baseline="-25000">
                <a:latin typeface="Arial" panose="020B0604020202020204" pitchFamily="34" charset="0"/>
                <a:ea typeface="微软雅黑" panose="020B0503020204020204" charset="-122"/>
              </a:rPr>
              <a:t>2</a:t>
            </a:r>
            <a:r>
              <a:rPr lang="zh-CN" altLang="en-US">
                <a:latin typeface="Arial" panose="020B0604020202020204" pitchFamily="34" charset="0"/>
                <a:ea typeface="微软雅黑" panose="020B0503020204020204" charset="-122"/>
              </a:rPr>
              <a:t>都可在考虑及试用之列。</a:t>
            </a:r>
            <a:endParaRPr lang="zh-CN" altLang="en-US">
              <a:latin typeface="Arial" panose="020B0604020202020204" pitchFamily="34" charset="0"/>
              <a:ea typeface="微软雅黑" panose="020B0503020204020204" charset="-122"/>
            </a:endParaRPr>
          </a:p>
          <a:p>
            <a:pPr marL="0" indent="609600" eaLnBrk="1" latinLnBrk="0" hangingPunct="1">
              <a:lnSpc>
                <a:spcPct val="150000"/>
              </a:lnSpc>
              <a:spcBef>
                <a:spcPts val="0"/>
              </a:spcBef>
              <a:buFont typeface="Wingdings" panose="05000000000000000000" pitchFamily="2" charset="2"/>
              <a:buNone/>
              <a:extLst>
                <a:ext uri="{35155182-B16C-46BC-9424-99874614C6A1}">
                  <wpsdc:indentchars xmlns:wpsdc="http://www.wps.cn/officeDocument/2017/drawingmlCustomData" val="200" checksum="4158780845"/>
                </a:ext>
              </a:extLst>
            </a:pPr>
            <a:endParaRPr lang="zh-CN" altLang="en-US" sz="2400">
              <a:latin typeface="Arial" panose="020B0604020202020204" pitchFamily="34" charset="0"/>
              <a:ea typeface="微软雅黑" panose="020B0503020204020204" charset="-122"/>
            </a:endParaRPr>
          </a:p>
          <a:p>
            <a:pPr marL="0" indent="609600" eaLnBrk="1" latinLnBrk="0" hangingPunct="1">
              <a:lnSpc>
                <a:spcPct val="150000"/>
              </a:lnSpc>
              <a:spcBef>
                <a:spcPts val="0"/>
              </a:spcBef>
              <a:buFont typeface="Wingdings" panose="05000000000000000000" pitchFamily="2" charset="2"/>
              <a:buNone/>
              <a:extLst>
                <a:ext uri="{35155182-B16C-46BC-9424-99874614C6A1}">
                  <wpsdc:indentchars xmlns:wpsdc="http://www.wps.cn/officeDocument/2017/drawingmlCustomData" val="200" checksum="4158780845"/>
                </a:ext>
              </a:extLst>
            </a:pPr>
            <a:r>
              <a:rPr lang="zh-CN" altLang="en-US" sz="2400">
                <a:solidFill>
                  <a:schemeClr val="tx1">
                    <a:lumMod val="50000"/>
                  </a:schemeClr>
                </a:solidFill>
                <a:latin typeface="Arial" panose="020B0604020202020204" pitchFamily="34" charset="0"/>
                <a:ea typeface="微软雅黑" panose="020B0503020204020204" charset="-122"/>
              </a:rPr>
              <a:t>近年来还研究了各种“</a:t>
            </a:r>
            <a:r>
              <a:rPr lang="zh-CN" altLang="en-US" sz="2400" b="1">
                <a:solidFill>
                  <a:schemeClr val="tx1"/>
                </a:solidFill>
                <a:latin typeface="Arial" panose="020B0604020202020204" pitchFamily="34" charset="0"/>
                <a:ea typeface="微软雅黑" panose="020B0503020204020204" charset="-122"/>
              </a:rPr>
              <a:t>修饰电极</a:t>
            </a:r>
            <a:r>
              <a:rPr lang="zh-CN" altLang="en-US" sz="2400">
                <a:solidFill>
                  <a:schemeClr val="tx1">
                    <a:lumMod val="50000"/>
                  </a:schemeClr>
                </a:solidFill>
                <a:latin typeface="Arial" panose="020B0604020202020204" pitchFamily="34" charset="0"/>
                <a:ea typeface="微软雅黑" panose="020B0503020204020204" charset="-122"/>
              </a:rPr>
              <a:t>”在有机电合成中的应用。</a:t>
            </a:r>
            <a:endParaRPr lang="zh-CN" altLang="en-US" sz="2400">
              <a:solidFill>
                <a:schemeClr val="tx1">
                  <a:lumMod val="50000"/>
                </a:schemeClr>
              </a:solidFill>
              <a:latin typeface="Arial" panose="020B0604020202020204" pitchFamily="34" charset="0"/>
              <a:ea typeface="微软雅黑" panose="020B0503020204020204" charset="-122"/>
            </a:endParaRPr>
          </a:p>
          <a:p>
            <a:pPr marL="0" indent="609600" eaLnBrk="1" latinLnBrk="0" hangingPunct="1">
              <a:lnSpc>
                <a:spcPct val="150000"/>
              </a:lnSpc>
              <a:spcBef>
                <a:spcPts val="0"/>
              </a:spcBef>
              <a:buFont typeface="Wingdings" panose="05000000000000000000" pitchFamily="2" charset="2"/>
              <a:buNone/>
              <a:extLst>
                <a:ext uri="{35155182-B16C-46BC-9424-99874614C6A1}">
                  <wpsdc:indentchars xmlns:wpsdc="http://www.wps.cn/officeDocument/2017/drawingmlCustomData" val="200" checksum="4158780845"/>
                </a:ext>
              </a:extLst>
            </a:pPr>
            <a:r>
              <a:rPr lang="zh-CN" altLang="en-US" sz="2400">
                <a:solidFill>
                  <a:schemeClr val="tx1">
                    <a:lumMod val="50000"/>
                  </a:schemeClr>
                </a:solidFill>
                <a:latin typeface="Arial" panose="020B0604020202020204" pitchFamily="34" charset="0"/>
                <a:ea typeface="微软雅黑" panose="020B0503020204020204" charset="-122"/>
              </a:rPr>
              <a:t>修饰电极即对电极进行适当的表面修饰，如</a:t>
            </a:r>
            <a:r>
              <a:rPr lang="zh-CN" altLang="en-US" sz="2400" b="1">
                <a:solidFill>
                  <a:schemeClr val="tx1"/>
                </a:solidFill>
                <a:latin typeface="Arial" panose="020B0604020202020204" pitchFamily="34" charset="0"/>
                <a:ea typeface="微软雅黑" panose="020B0503020204020204" charset="-122"/>
              </a:rPr>
              <a:t>吸附、硅烷化，形成各种表面功能膜</a:t>
            </a:r>
            <a:r>
              <a:rPr lang="zh-CN" altLang="en-US" sz="2400">
                <a:solidFill>
                  <a:schemeClr val="tx1">
                    <a:lumMod val="50000"/>
                  </a:schemeClr>
                </a:solidFill>
                <a:latin typeface="Arial" panose="020B0604020202020204" pitchFamily="34" charset="0"/>
                <a:ea typeface="微软雅黑" panose="020B0503020204020204" charset="-122"/>
              </a:rPr>
              <a:t>，赋予电极新的电催化功能。</a:t>
            </a:r>
            <a:endParaRPr lang="zh-CN" altLang="en-US" sz="2400">
              <a:solidFill>
                <a:schemeClr val="tx1">
                  <a:lumMod val="50000"/>
                </a:schemeClr>
              </a:solidFill>
              <a:latin typeface="Arial" panose="020B0604020202020204" pitchFamily="34" charset="0"/>
              <a:ea typeface="微软雅黑" panose="020B0503020204020204" charset="-122"/>
            </a:endParaRPr>
          </a:p>
        </p:txBody>
      </p:sp>
    </p:spTree>
  </p:cSld>
  <p:clrMapOvr>
    <a:masterClrMapping/>
  </p:clrMapOvr>
  <p:transition>
    <p:pull dir="l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AutoShape 2"/>
          <p:cNvSpPr>
            <a:spLocks noGrp="1" noChangeArrowheads="1"/>
          </p:cNvSpPr>
          <p:nvPr>
            <p:ph type="title"/>
          </p:nvPr>
        </p:nvSpPr>
        <p:spPr>
          <a:xfrm>
            <a:off x="755650" y="331788"/>
            <a:ext cx="7924800" cy="1143000"/>
          </a:xfrm>
        </p:spPr>
        <p:txBody>
          <a:bodyPr/>
          <a:lstStyle/>
          <a:p>
            <a:pPr eaLnBrk="1" hangingPunct="1"/>
            <a:r>
              <a:rPr lang="en-US" altLang="zh-CN">
                <a:latin typeface="Arial" panose="020B0604020202020204" pitchFamily="34" charset="0"/>
                <a:ea typeface="微软雅黑" panose="020B0503020204020204" charset="-122"/>
              </a:rPr>
              <a:t>3</a:t>
            </a:r>
            <a:r>
              <a:rPr lang="zh-CN" altLang="en-US">
                <a:latin typeface="Arial" panose="020B0604020202020204" pitchFamily="34" charset="0"/>
                <a:ea typeface="微软雅黑" panose="020B0503020204020204" charset="-122"/>
              </a:rPr>
              <a:t>、溶剂－电解质体系</a:t>
            </a:r>
            <a:endParaRPr lang="zh-CN" altLang="en-US">
              <a:latin typeface="Arial" panose="020B0604020202020204" pitchFamily="34" charset="0"/>
              <a:ea typeface="微软雅黑" panose="020B0503020204020204" charset="-122"/>
            </a:endParaRPr>
          </a:p>
        </p:txBody>
      </p:sp>
      <p:sp>
        <p:nvSpPr>
          <p:cNvPr id="130051" name="Rectangle 3"/>
          <p:cNvSpPr>
            <a:spLocks noGrp="1" noChangeArrowheads="1"/>
          </p:cNvSpPr>
          <p:nvPr>
            <p:ph type="body" idx="1"/>
          </p:nvPr>
        </p:nvSpPr>
        <p:spPr/>
        <p:txBody>
          <a:bodyPr/>
          <a:lstStyle/>
          <a:p>
            <a:pPr eaLnBrk="1" hangingPunct="1">
              <a:lnSpc>
                <a:spcPct val="120000"/>
              </a:lnSpc>
              <a:buFont typeface="Wingdings" panose="05000000000000000000" pitchFamily="2" charset="2"/>
              <a:buNone/>
            </a:pPr>
            <a:r>
              <a:rPr lang="zh-CN" altLang="en-US" b="1">
                <a:latin typeface="Arial" panose="020B0604020202020204" pitchFamily="34" charset="0"/>
                <a:ea typeface="微软雅黑" panose="020B0503020204020204" charset="-122"/>
              </a:rPr>
              <a:t>无机电合成</a:t>
            </a:r>
            <a:r>
              <a:rPr lang="zh-CN" altLang="en-US">
                <a:latin typeface="Arial" panose="020B0604020202020204" pitchFamily="34" charset="0"/>
                <a:ea typeface="微软雅黑" panose="020B0503020204020204" charset="-122"/>
              </a:rPr>
              <a:t>：以水为溶剂的电解质水溶液，其导电性、安全性、经济性均较理想。</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endParaRPr lang="zh-CN" altLang="en-US" sz="1200">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b="1">
                <a:latin typeface="Arial" panose="020B0604020202020204" pitchFamily="34" charset="0"/>
                <a:ea typeface="微软雅黑" panose="020B0503020204020204" charset="-122"/>
              </a:rPr>
              <a:t>有机电合成</a:t>
            </a:r>
            <a:r>
              <a:rPr lang="zh-CN" altLang="en-US">
                <a:latin typeface="Arial" panose="020B0604020202020204" pitchFamily="34" charset="0"/>
                <a:ea typeface="微软雅黑" panose="020B0503020204020204" charset="-122"/>
              </a:rPr>
              <a:t>：大部分有机物不溶于水，选择、构成具有一定溶解度、导电性，并与电极材料相容，在电极反应的电位区间内稳定的工作介质，即溶剂</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电解质体系，成为有机电合成中的一个重要技术问题。</a:t>
            </a:r>
            <a:endParaRPr lang="zh-CN" altLang="en-US">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30051">
                                            <p:txEl>
                                              <p:pRg st="2" end="2"/>
                                            </p:txEl>
                                          </p:spTgt>
                                        </p:tgtEl>
                                        <p:attrNameLst>
                                          <p:attrName>style.visibility</p:attrName>
                                        </p:attrNameLst>
                                      </p:cBhvr>
                                      <p:to>
                                        <p:strVal val="visible"/>
                                      </p:to>
                                    </p:set>
                                    <p:anim calcmode="lin" valueType="num">
                                      <p:cBhvr>
                                        <p:cTn id="7" dur="500" fill="hold"/>
                                        <p:tgtEl>
                                          <p:spTgt spid="130051">
                                            <p:txEl>
                                              <p:pRg st="2" end="2"/>
                                            </p:txEl>
                                          </p:spTgt>
                                        </p:tgtEl>
                                        <p:attrNameLst>
                                          <p:attrName>ppt_w</p:attrName>
                                        </p:attrNameLst>
                                      </p:cBhvr>
                                      <p:tavLst>
                                        <p:tav tm="0">
                                          <p:val>
                                            <p:fltVal val="0"/>
                                          </p:val>
                                        </p:tav>
                                        <p:tav tm="100000">
                                          <p:val>
                                            <p:strVal val="#ppt_w"/>
                                          </p:val>
                                        </p:tav>
                                      </p:tavLst>
                                    </p:anim>
                                    <p:anim calcmode="lin" valueType="num">
                                      <p:cBhvr>
                                        <p:cTn id="8" dur="500" fill="hold"/>
                                        <p:tgtEl>
                                          <p:spTgt spid="130051">
                                            <p:txEl>
                                              <p:pRg st="2" end="2"/>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p:cNvSpPr>
            <a:spLocks noGrp="1" noChangeArrowheads="1"/>
          </p:cNvSpPr>
          <p:nvPr>
            <p:ph type="title"/>
          </p:nvPr>
        </p:nvSpPr>
        <p:spPr>
          <a:xfrm>
            <a:off x="683260" y="331788"/>
            <a:ext cx="7924800" cy="1143000"/>
          </a:xfrm>
        </p:spPr>
        <p:txBody>
          <a:bodyPr/>
          <a:lstStyle/>
          <a:p>
            <a:pPr eaLnBrk="1" hangingPunct="1"/>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1</a:t>
            </a:r>
            <a:r>
              <a:rPr lang="zh-CN" altLang="en-US">
                <a:latin typeface="Arial" panose="020B0604020202020204" pitchFamily="34" charset="0"/>
                <a:ea typeface="微软雅黑" panose="020B0503020204020204" charset="-122"/>
              </a:rPr>
              <a:t>）溶液的分类及选用原则：</a:t>
            </a:r>
            <a:endParaRPr lang="zh-CN" altLang="en-US">
              <a:latin typeface="Arial" panose="020B0604020202020204" pitchFamily="34" charset="0"/>
              <a:ea typeface="微软雅黑" panose="020B0503020204020204" charset="-122"/>
            </a:endParaRPr>
          </a:p>
        </p:txBody>
      </p:sp>
      <p:sp>
        <p:nvSpPr>
          <p:cNvPr id="37891" name="Rectangle 3"/>
          <p:cNvSpPr>
            <a:spLocks noGrp="1" noChangeArrowheads="1"/>
          </p:cNvSpPr>
          <p:nvPr>
            <p:ph type="body" idx="1"/>
          </p:nvPr>
        </p:nvSpPr>
        <p:spPr>
          <a:xfrm>
            <a:off x="755650" y="2033905"/>
            <a:ext cx="8322310" cy="4635500"/>
          </a:xfrm>
        </p:spPr>
        <p:txBody>
          <a:bodyPr/>
          <a:lstStyle/>
          <a:p>
            <a:pPr eaLnBrk="1" hangingPunct="1">
              <a:lnSpc>
                <a:spcPct val="120000"/>
              </a:lnSpc>
              <a:buFont typeface="Wingdings" panose="05000000000000000000" charset="0"/>
              <a:buChar char="u"/>
            </a:pPr>
            <a:r>
              <a:rPr lang="zh-CN" altLang="en-US">
                <a:latin typeface="Arial" panose="020B0604020202020204" pitchFamily="34" charset="0"/>
                <a:ea typeface="微软雅黑" panose="020B0503020204020204" charset="-122"/>
              </a:rPr>
              <a:t>使用水溶液：水不干扰所进行的电合成反应，且稳定。</a:t>
            </a:r>
            <a:endParaRPr lang="zh-CN" altLang="en-US">
              <a:latin typeface="Arial" panose="020B0604020202020204" pitchFamily="34" charset="0"/>
              <a:ea typeface="微软雅黑" panose="020B0503020204020204" charset="-122"/>
            </a:endParaRPr>
          </a:p>
          <a:p>
            <a:pPr marL="812800" indent="0" eaLnBrk="1" latinLnBrk="0" hangingPunct="1">
              <a:lnSpc>
                <a:spcPct val="120000"/>
              </a:lnSpc>
              <a:spcBef>
                <a:spcPts val="0"/>
              </a:spcBef>
              <a:buFont typeface="Wingdings" panose="05000000000000000000" pitchFamily="2" charset="2"/>
              <a:buNone/>
              <a:extLst>
                <a:ext uri="{35155182-B16C-46BC-9424-99874614C6A1}">
                  <wpsdc:marlchars xmlns:wpsdc="http://www.wps.cn/officeDocument/2017/drawingmlCustomData" val="200" checksum="34799616"/>
                </a:ext>
              </a:extLst>
            </a:pPr>
            <a:r>
              <a:rPr lang="zh-CN" altLang="en-US" sz="2200">
                <a:latin typeface="Arial" panose="020B0604020202020204" pitchFamily="34" charset="0"/>
                <a:ea typeface="微软雅黑" panose="020B0503020204020204" charset="-122"/>
              </a:rPr>
              <a:t>如：硫酸、高氯酸、氢氧化物、无机或有机的季胺盐溶液。</a:t>
            </a:r>
            <a:endParaRPr lang="zh-CN" altLang="en-US" sz="2200">
              <a:latin typeface="Arial" panose="020B0604020202020204" pitchFamily="34" charset="0"/>
              <a:ea typeface="微软雅黑" panose="020B0503020204020204" charset="-122"/>
            </a:endParaRPr>
          </a:p>
          <a:p>
            <a:pPr eaLnBrk="1" hangingPunct="1">
              <a:lnSpc>
                <a:spcPct val="120000"/>
              </a:lnSpc>
              <a:buFont typeface="Wingdings" panose="05000000000000000000" charset="0"/>
              <a:buChar char="u"/>
            </a:pPr>
            <a:r>
              <a:rPr lang="zh-CN" altLang="en-US">
                <a:latin typeface="Arial" panose="020B0604020202020204" pitchFamily="34" charset="0"/>
                <a:ea typeface="微软雅黑" panose="020B0503020204020204" charset="-122"/>
                <a:sym typeface="+mn-ea"/>
              </a:rPr>
              <a:t>必须</a:t>
            </a:r>
            <a:r>
              <a:rPr lang="zh-CN" altLang="en-US">
                <a:latin typeface="Arial" panose="020B0604020202020204" pitchFamily="34" charset="0"/>
                <a:ea typeface="微软雅黑" panose="020B0503020204020204" charset="-122"/>
                <a:sym typeface="+mn-ea"/>
              </a:rPr>
              <a:t>使用非水溶液的情况：</a:t>
            </a:r>
            <a:endParaRPr lang="zh-CN" altLang="en-US">
              <a:latin typeface="Arial" panose="020B0604020202020204" pitchFamily="34" charset="0"/>
              <a:ea typeface="微软雅黑" panose="020B0503020204020204" charset="-122"/>
              <a:sym typeface="+mn-ea"/>
            </a:endParaRPr>
          </a:p>
          <a:p>
            <a:pPr marL="812800" indent="0" eaLnBrk="1" latinLnBrk="0" hangingPunct="1">
              <a:lnSpc>
                <a:spcPct val="120000"/>
              </a:lnSpc>
              <a:spcBef>
                <a:spcPts val="0"/>
              </a:spcBef>
              <a:buFont typeface="Wingdings" panose="05000000000000000000" charset="0"/>
              <a:buChar char="ü"/>
              <a:extLst>
                <a:ext uri="{35155182-B16C-46BC-9424-99874614C6A1}">
                  <wpsdc:marlchars xmlns:wpsdc="http://www.wps.cn/officeDocument/2017/drawingmlCustomData" val="200" checksum="34799616"/>
                </a:ext>
              </a:extLst>
            </a:pPr>
            <a:r>
              <a:rPr lang="zh-CN" altLang="en-US">
                <a:latin typeface="Arial" panose="020B0604020202020204" pitchFamily="34" charset="0"/>
                <a:ea typeface="微软雅黑" panose="020B0503020204020204" charset="-122"/>
              </a:rPr>
              <a:t>当电解的电极电位达到水分解的电位时；</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sz="2200">
                <a:latin typeface="Arial" panose="020B0604020202020204" pitchFamily="34" charset="0"/>
                <a:ea typeface="微软雅黑" panose="020B0503020204020204" charset="-122"/>
              </a:rPr>
              <a:t>将主要发生析</a:t>
            </a:r>
            <a:r>
              <a:rPr lang="en-US" altLang="zh-CN" sz="2200">
                <a:latin typeface="Arial" panose="020B0604020202020204" pitchFamily="34" charset="0"/>
                <a:ea typeface="微软雅黑" panose="020B0503020204020204" charset="-122"/>
              </a:rPr>
              <a:t>H</a:t>
            </a:r>
            <a:r>
              <a:rPr lang="en-US" altLang="zh-CN" sz="2200" baseline="-25000">
                <a:latin typeface="Arial" panose="020B0604020202020204" pitchFamily="34" charset="0"/>
                <a:ea typeface="微软雅黑" panose="020B0503020204020204" charset="-122"/>
              </a:rPr>
              <a:t>2</a:t>
            </a:r>
            <a:r>
              <a:rPr lang="zh-CN" altLang="en-US" sz="2200">
                <a:latin typeface="Arial" panose="020B0604020202020204" pitchFamily="34" charset="0"/>
                <a:ea typeface="微软雅黑" panose="020B0503020204020204" charset="-122"/>
              </a:rPr>
              <a:t>或</a:t>
            </a:r>
            <a:r>
              <a:rPr lang="en-US" altLang="zh-CN" sz="2200">
                <a:latin typeface="Arial" panose="020B0604020202020204" pitchFamily="34" charset="0"/>
                <a:ea typeface="微软雅黑" panose="020B0503020204020204" charset="-122"/>
              </a:rPr>
              <a:t>O</a:t>
            </a:r>
            <a:r>
              <a:rPr lang="en-US" altLang="zh-CN" sz="2200" baseline="-25000">
                <a:latin typeface="Arial" panose="020B0604020202020204" pitchFamily="34" charset="0"/>
                <a:ea typeface="微软雅黑" panose="020B0503020204020204" charset="-122"/>
              </a:rPr>
              <a:t>2</a:t>
            </a:r>
            <a:r>
              <a:rPr lang="zh-CN" altLang="en-US" sz="2200">
                <a:latin typeface="Arial" panose="020B0604020202020204" pitchFamily="34" charset="0"/>
                <a:ea typeface="微软雅黑" panose="020B0503020204020204" charset="-122"/>
              </a:rPr>
              <a:t>反应，使有机电合成反应无法进行。</a:t>
            </a:r>
            <a:endParaRPr lang="zh-CN" altLang="en-US" sz="2200">
              <a:latin typeface="Arial" panose="020B0604020202020204" pitchFamily="34" charset="0"/>
              <a:ea typeface="微软雅黑" panose="020B0503020204020204" charset="-122"/>
            </a:endParaRPr>
          </a:p>
          <a:p>
            <a:pPr marL="812800" indent="0" eaLnBrk="1" latinLnBrk="0" hangingPunct="1">
              <a:lnSpc>
                <a:spcPct val="120000"/>
              </a:lnSpc>
              <a:spcBef>
                <a:spcPts val="0"/>
              </a:spcBef>
              <a:buFont typeface="Wingdings" panose="05000000000000000000" charset="0"/>
              <a:buChar char="ü"/>
              <a:extLst>
                <a:ext uri="{35155182-B16C-46BC-9424-99874614C6A1}">
                  <wpsdc:marlchars xmlns:wpsdc="http://www.wps.cn/officeDocument/2017/drawingmlCustomData" val="200" checksum="34799616"/>
                </a:ext>
              </a:extLst>
            </a:pPr>
            <a:r>
              <a:rPr lang="zh-CN" altLang="en-US">
                <a:latin typeface="Arial" panose="020B0604020202020204" pitchFamily="34" charset="0"/>
                <a:ea typeface="微软雅黑" panose="020B0503020204020204" charset="-122"/>
              </a:rPr>
              <a:t>有机电合成的反应物、产物在水溶液中不稳定。</a:t>
            </a:r>
            <a:endParaRPr lang="zh-CN" altLang="en-US">
              <a:latin typeface="Arial" panose="020B0604020202020204" pitchFamily="34" charset="0"/>
              <a:ea typeface="微软雅黑" panose="020B0503020204020204" charset="-122"/>
            </a:endParaRPr>
          </a:p>
        </p:txBody>
      </p:sp>
    </p:spTree>
  </p:cSld>
  <p:clrMapOvr>
    <a:masterClrMapping/>
  </p:clrMapOvr>
  <p:transition>
    <p:spli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Effect transition="in" filter="slide(fromBottom)">
                                      <p:cBhvr>
                                        <p:cTn id="7" dur="500"/>
                                        <p:tgtEl>
                                          <p:spTgt spid="378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37891">
                                            <p:txEl>
                                              <p:pRg st="1" end="1"/>
                                            </p:txEl>
                                          </p:spTgt>
                                        </p:tgtEl>
                                        <p:attrNameLst>
                                          <p:attrName>style.visibility</p:attrName>
                                        </p:attrNameLst>
                                      </p:cBhvr>
                                      <p:to>
                                        <p:strVal val="visible"/>
                                      </p:to>
                                    </p:set>
                                    <p:animEffect transition="in" filter="slide(fromBottom)">
                                      <p:cBhvr>
                                        <p:cTn id="12" dur="500"/>
                                        <p:tgtEl>
                                          <p:spTgt spid="378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37891">
                                            <p:txEl>
                                              <p:pRg st="2" end="2"/>
                                            </p:txEl>
                                          </p:spTgt>
                                        </p:tgtEl>
                                        <p:attrNameLst>
                                          <p:attrName>style.visibility</p:attrName>
                                        </p:attrNameLst>
                                      </p:cBhvr>
                                      <p:to>
                                        <p:strVal val="visible"/>
                                      </p:to>
                                    </p:set>
                                    <p:animEffect transition="in" filter="slide(fromBottom)">
                                      <p:cBhvr>
                                        <p:cTn id="17" dur="500"/>
                                        <p:tgtEl>
                                          <p:spTgt spid="378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37891">
                                            <p:txEl>
                                              <p:pRg st="3" end="3"/>
                                            </p:txEl>
                                          </p:spTgt>
                                        </p:tgtEl>
                                        <p:attrNameLst>
                                          <p:attrName>style.visibility</p:attrName>
                                        </p:attrNameLst>
                                      </p:cBhvr>
                                      <p:to>
                                        <p:strVal val="visible"/>
                                      </p:to>
                                    </p:set>
                                    <p:animEffect transition="in" filter="slide(fromBottom)">
                                      <p:cBhvr>
                                        <p:cTn id="22" dur="500"/>
                                        <p:tgtEl>
                                          <p:spTgt spid="378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37891">
                                            <p:txEl>
                                              <p:pRg st="4" end="4"/>
                                            </p:txEl>
                                          </p:spTgt>
                                        </p:tgtEl>
                                        <p:attrNameLst>
                                          <p:attrName>style.visibility</p:attrName>
                                        </p:attrNameLst>
                                      </p:cBhvr>
                                      <p:to>
                                        <p:strVal val="visible"/>
                                      </p:to>
                                    </p:set>
                                    <p:animEffect transition="in" filter="slide(fromBottom)">
                                      <p:cBhvr>
                                        <p:cTn id="27" dur="500"/>
                                        <p:tgtEl>
                                          <p:spTgt spid="3789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37891">
                                            <p:txEl>
                                              <p:pRg st="5" end="5"/>
                                            </p:txEl>
                                          </p:spTgt>
                                        </p:tgtEl>
                                        <p:attrNameLst>
                                          <p:attrName>style.visibility</p:attrName>
                                        </p:attrNameLst>
                                      </p:cBhvr>
                                      <p:to>
                                        <p:strVal val="visible"/>
                                      </p:to>
                                    </p:set>
                                    <p:animEffect transition="in" filter="slide(fromBottom)">
                                      <p:cBhvr>
                                        <p:cTn id="32" dur="500"/>
                                        <p:tgtEl>
                                          <p:spTgt spid="3789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AutoShape 2"/>
          <p:cNvSpPr>
            <a:spLocks noGrp="1" noChangeArrowheads="1"/>
          </p:cNvSpPr>
          <p:nvPr>
            <p:ph type="title"/>
          </p:nvPr>
        </p:nvSpPr>
        <p:spPr>
          <a:xfrm>
            <a:off x="755650" y="331788"/>
            <a:ext cx="7924800" cy="1143000"/>
          </a:xfrm>
        </p:spPr>
        <p:txBody>
          <a:bodyPr/>
          <a:lstStyle/>
          <a:p>
            <a:pPr eaLnBrk="1" hangingPunct="1"/>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2</a:t>
            </a:r>
            <a:r>
              <a:rPr lang="zh-CN" altLang="en-US">
                <a:latin typeface="Arial" panose="020B0604020202020204" pitchFamily="34" charset="0"/>
                <a:ea typeface="微软雅黑" panose="020B0503020204020204" charset="-122"/>
              </a:rPr>
              <a:t>）水溶液</a:t>
            </a:r>
            <a:endParaRPr lang="zh-CN" altLang="en-US">
              <a:latin typeface="Arial" panose="020B0604020202020204" pitchFamily="34" charset="0"/>
              <a:ea typeface="微软雅黑" panose="020B0503020204020204" charset="-122"/>
            </a:endParaRPr>
          </a:p>
        </p:txBody>
      </p:sp>
      <p:sp>
        <p:nvSpPr>
          <p:cNvPr id="40963" name="Rectangle 3"/>
          <p:cNvSpPr>
            <a:spLocks noGrp="1" noChangeArrowheads="1"/>
          </p:cNvSpPr>
          <p:nvPr>
            <p:ph type="body" idx="1"/>
          </p:nvPr>
        </p:nvSpPr>
        <p:spPr>
          <a:xfrm>
            <a:off x="996950" y="1844675"/>
            <a:ext cx="7736205" cy="4635500"/>
          </a:xfrm>
        </p:spPr>
        <p:txBody>
          <a:bodyPr/>
          <a:lstStyle/>
          <a:p>
            <a:pPr marL="0" indent="720090" eaLnBrk="1" latinLnBrk="0" hangingPunct="1">
              <a:spcBef>
                <a:spcPts val="0"/>
              </a:spcBef>
              <a:buFont typeface="Wingdings" panose="05000000000000000000" pitchFamily="2" charset="2"/>
              <a:buNone/>
            </a:pPr>
            <a:r>
              <a:rPr lang="zh-CN" altLang="en-US">
                <a:latin typeface="Arial" panose="020B0604020202020204" pitchFamily="34" charset="0"/>
                <a:ea typeface="微软雅黑" panose="020B0503020204020204" charset="-122"/>
              </a:rPr>
              <a:t>由于许多有机物在水溶液中的溶解度有限，可采取下列措施将其溶于水中：</a:t>
            </a:r>
            <a:endParaRPr lang="zh-CN" altLang="en-US">
              <a:latin typeface="Arial" panose="020B0604020202020204" pitchFamily="34" charset="0"/>
              <a:ea typeface="微软雅黑" panose="020B0503020204020204" charset="-122"/>
            </a:endParaRPr>
          </a:p>
          <a:p>
            <a:pPr eaLnBrk="1" hangingPunct="1">
              <a:buFont typeface="Wingdings" panose="05000000000000000000" pitchFamily="2" charset="2"/>
              <a:buNone/>
            </a:pPr>
            <a:endParaRPr lang="zh-CN" altLang="en-US" sz="1200" b="1">
              <a:latin typeface="Arial" panose="020B0604020202020204" pitchFamily="34" charset="0"/>
              <a:ea typeface="微软雅黑" panose="020B0503020204020204" charset="-122"/>
            </a:endParaRPr>
          </a:p>
          <a:p>
            <a:pPr marL="0" indent="720090" eaLnBrk="1" latinLnBrk="0" hangingPunct="1">
              <a:lnSpc>
                <a:spcPct val="150000"/>
              </a:lnSpc>
              <a:spcBef>
                <a:spcPts val="0"/>
              </a:spcBef>
              <a:buFont typeface="Wingdings" panose="05000000000000000000" pitchFamily="2" charset="2"/>
              <a:buNone/>
            </a:pPr>
            <a:r>
              <a:rPr lang="zh-CN" altLang="en-US" sz="3000" b="1">
                <a:latin typeface="Arial" panose="020B0604020202020204" pitchFamily="34" charset="0"/>
                <a:ea typeface="微软雅黑" panose="020B0503020204020204" charset="-122"/>
              </a:rPr>
              <a:t>不溶于水的固态有机物</a:t>
            </a:r>
            <a:r>
              <a:rPr lang="zh-CN" altLang="en-US" sz="3000">
                <a:latin typeface="Arial" panose="020B0604020202020204" pitchFamily="34" charset="0"/>
                <a:ea typeface="微软雅黑" panose="020B0503020204020204" charset="-122"/>
              </a:rPr>
              <a:t>：</a:t>
            </a:r>
            <a:endParaRPr lang="zh-CN" altLang="en-US" sz="3000">
              <a:latin typeface="Arial" panose="020B0604020202020204" pitchFamily="34" charset="0"/>
              <a:ea typeface="微软雅黑" panose="020B0503020204020204" charset="-122"/>
            </a:endParaRPr>
          </a:p>
          <a:p>
            <a:pPr marL="0" indent="0" eaLnBrk="1" latinLnBrk="0" hangingPunct="1">
              <a:lnSpc>
                <a:spcPct val="150000"/>
              </a:lnSpc>
              <a:spcBef>
                <a:spcPts val="0"/>
              </a:spcBef>
              <a:buFont typeface="Wingdings" panose="05000000000000000000" pitchFamily="2" charset="2"/>
              <a:buNone/>
            </a:pPr>
            <a:r>
              <a:rPr lang="zh-CN" altLang="en-US" sz="2400">
                <a:latin typeface="Arial" panose="020B0604020202020204" pitchFamily="34" charset="0"/>
                <a:ea typeface="微软雅黑" panose="020B0503020204020204" charset="-122"/>
              </a:rPr>
              <a:t>可将其先溶于某种有机溶剂中，再分散到水溶液中，形成可导电的混合介质；</a:t>
            </a:r>
            <a:endParaRPr lang="zh-CN" altLang="en-US" sz="2400">
              <a:latin typeface="Arial" panose="020B0604020202020204" pitchFamily="34" charset="0"/>
              <a:ea typeface="微软雅黑" panose="020B0503020204020204" charset="-122"/>
            </a:endParaRPr>
          </a:p>
          <a:p>
            <a:pPr marL="0" indent="0" eaLnBrk="1" latinLnBrk="0" hangingPunct="1">
              <a:lnSpc>
                <a:spcPct val="150000"/>
              </a:lnSpc>
              <a:spcBef>
                <a:spcPts val="0"/>
              </a:spcBef>
              <a:buFont typeface="Wingdings" panose="05000000000000000000" pitchFamily="2" charset="2"/>
              <a:buNone/>
            </a:pPr>
            <a:endParaRPr lang="zh-CN" altLang="en-US" sz="1200" b="1">
              <a:latin typeface="Arial" panose="020B0604020202020204" pitchFamily="34" charset="0"/>
              <a:ea typeface="微软雅黑" panose="020B0503020204020204" charset="-122"/>
            </a:endParaRPr>
          </a:p>
          <a:p>
            <a:pPr marL="0" indent="720090" eaLnBrk="1" latinLnBrk="0" hangingPunct="1">
              <a:lnSpc>
                <a:spcPct val="150000"/>
              </a:lnSpc>
              <a:spcBef>
                <a:spcPts val="0"/>
              </a:spcBef>
              <a:buFont typeface="Wingdings" panose="05000000000000000000" pitchFamily="2" charset="2"/>
              <a:buNone/>
            </a:pPr>
            <a:r>
              <a:rPr lang="zh-CN" altLang="en-US" sz="3000" b="1">
                <a:latin typeface="Arial" panose="020B0604020202020204" pitchFamily="34" charset="0"/>
                <a:ea typeface="微软雅黑" panose="020B0503020204020204" charset="-122"/>
              </a:rPr>
              <a:t>液态有机物</a:t>
            </a:r>
            <a:r>
              <a:rPr lang="zh-CN" altLang="en-US" sz="3000">
                <a:latin typeface="Arial" panose="020B0604020202020204" pitchFamily="34" charset="0"/>
                <a:ea typeface="微软雅黑" panose="020B0503020204020204" charset="-122"/>
              </a:rPr>
              <a:t>：</a:t>
            </a:r>
            <a:endParaRPr lang="zh-CN" altLang="en-US" sz="3000">
              <a:latin typeface="Arial" panose="020B0604020202020204" pitchFamily="34" charset="0"/>
              <a:ea typeface="微软雅黑" panose="020B0503020204020204" charset="-122"/>
            </a:endParaRPr>
          </a:p>
          <a:p>
            <a:pPr marL="0" indent="0" eaLnBrk="1" latinLnBrk="0" hangingPunct="1">
              <a:lnSpc>
                <a:spcPct val="150000"/>
              </a:lnSpc>
              <a:spcBef>
                <a:spcPts val="0"/>
              </a:spcBef>
              <a:buFont typeface="Wingdings" panose="05000000000000000000" pitchFamily="2" charset="2"/>
              <a:buNone/>
            </a:pPr>
            <a:r>
              <a:rPr lang="zh-CN" altLang="en-US" sz="2400">
                <a:latin typeface="Arial" panose="020B0604020202020204" pitchFamily="34" charset="0"/>
                <a:ea typeface="微软雅黑" panose="020B0503020204020204" charset="-122"/>
              </a:rPr>
              <a:t>可与水配成乳浊液，或加入水中之后在强力搅拌下电解。</a:t>
            </a:r>
            <a:endParaRPr lang="zh-CN" altLang="en-US" sz="2400">
              <a:latin typeface="Arial" panose="020B0604020202020204" pitchFamily="34" charset="0"/>
              <a:ea typeface="微软雅黑" panose="020B0503020204020204" charset="-122"/>
            </a:endParaRPr>
          </a:p>
        </p:txBody>
      </p:sp>
    </p:spTree>
  </p:cSld>
  <p:clrMapOvr>
    <a:masterClrMapping/>
  </p:clrMapOvr>
  <p:transition>
    <p:spli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AutoShape 2"/>
          <p:cNvSpPr>
            <a:spLocks noGrp="1" noChangeArrowheads="1"/>
          </p:cNvSpPr>
          <p:nvPr>
            <p:ph type="title"/>
          </p:nvPr>
        </p:nvSpPr>
        <p:spPr>
          <a:xfrm>
            <a:off x="755650" y="404178"/>
            <a:ext cx="7924800" cy="1143000"/>
          </a:xfrm>
        </p:spPr>
        <p:txBody>
          <a:bodyPr/>
          <a:lstStyle/>
          <a:p>
            <a:pPr eaLnBrk="1" hangingPunct="1"/>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3</a:t>
            </a:r>
            <a:r>
              <a:rPr lang="zh-CN" altLang="en-US">
                <a:latin typeface="Arial" panose="020B0604020202020204" pitchFamily="34" charset="0"/>
                <a:ea typeface="微软雅黑" panose="020B0503020204020204" charset="-122"/>
              </a:rPr>
              <a:t>）非水溶液</a:t>
            </a:r>
            <a:endParaRPr lang="zh-CN" altLang="en-US">
              <a:latin typeface="Arial" panose="020B0604020202020204" pitchFamily="34" charset="0"/>
              <a:ea typeface="微软雅黑" panose="020B0503020204020204" charset="-122"/>
            </a:endParaRPr>
          </a:p>
        </p:txBody>
      </p:sp>
      <p:sp>
        <p:nvSpPr>
          <p:cNvPr id="41987" name="Rectangle 3"/>
          <p:cNvSpPr>
            <a:spLocks noGrp="1" noChangeArrowheads="1"/>
          </p:cNvSpPr>
          <p:nvPr>
            <p:ph type="body" idx="1"/>
          </p:nvPr>
        </p:nvSpPr>
        <p:spPr>
          <a:xfrm>
            <a:off x="899795" y="1989455"/>
            <a:ext cx="8157210" cy="4490720"/>
          </a:xfrm>
        </p:spPr>
        <p:txBody>
          <a:bodyPr/>
          <a:lstStyle/>
          <a:p>
            <a:pPr eaLnBrk="1" hangingPunct="1">
              <a:lnSpc>
                <a:spcPct val="130000"/>
              </a:lnSpc>
              <a:buFont typeface="Wingdings" panose="05000000000000000000" pitchFamily="2" charset="2"/>
              <a:buNone/>
            </a:pPr>
            <a:r>
              <a:rPr lang="en-US" altLang="zh-CN">
                <a:latin typeface="Arial" panose="020B0604020202020204" pitchFamily="34" charset="0"/>
                <a:ea typeface="微软雅黑" panose="020B0503020204020204" charset="-122"/>
              </a:rPr>
              <a:t>      </a:t>
            </a:r>
            <a:r>
              <a:rPr lang="zh-CN" altLang="en-US">
                <a:latin typeface="Arial" panose="020B0604020202020204" pitchFamily="34" charset="0"/>
                <a:ea typeface="微软雅黑" panose="020B0503020204020204" charset="-122"/>
              </a:rPr>
              <a:t>由有机溶剂加有机或无机局外电解质组成，常用的有机溶剂包括甲醇、乙醇、异丙醇、乙腈等。</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r>
              <a:rPr lang="zh-CN" altLang="en-US">
                <a:latin typeface="Arial" panose="020B0604020202020204" pitchFamily="34" charset="0"/>
                <a:ea typeface="微软雅黑" panose="020B0503020204020204" charset="-122"/>
              </a:rPr>
              <a:t>         </a:t>
            </a:r>
            <a:r>
              <a:rPr lang="zh-CN" altLang="en-US">
                <a:latin typeface="Arial" panose="020B0604020202020204" pitchFamily="34" charset="0"/>
                <a:ea typeface="微软雅黑" panose="020B0503020204020204" charset="-122"/>
                <a:sym typeface="+mn-ea"/>
              </a:rPr>
              <a:t>溶剂</a:t>
            </a:r>
            <a:r>
              <a:rPr lang="zh-CN" altLang="en-US">
                <a:latin typeface="Arial" panose="020B0604020202020204" pitchFamily="34" charset="0"/>
                <a:ea typeface="微软雅黑" panose="020B0503020204020204" charset="-122"/>
              </a:rPr>
              <a:t>据提供质子能力的强弱分为两类：</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r>
              <a:rPr lang="zh-CN" altLang="en-US">
                <a:latin typeface="Arial" panose="020B0604020202020204" pitchFamily="34" charset="0"/>
                <a:ea typeface="微软雅黑" panose="020B0503020204020204" charset="-122"/>
              </a:rPr>
              <a:t>①</a:t>
            </a:r>
            <a:r>
              <a:rPr lang="zh-CN" altLang="en-US" b="1">
                <a:latin typeface="Arial" panose="020B0604020202020204" pitchFamily="34" charset="0"/>
                <a:ea typeface="微软雅黑" panose="020B0503020204020204" charset="-122"/>
              </a:rPr>
              <a:t>提供质子能力强的溶剂</a:t>
            </a:r>
            <a:r>
              <a:rPr lang="zh-CN" altLang="en-US">
                <a:latin typeface="Arial" panose="020B0604020202020204" pitchFamily="34" charset="0"/>
                <a:ea typeface="微软雅黑" panose="020B0503020204020204" charset="-122"/>
              </a:rPr>
              <a:t>，如水、酸、甲醇、乙醇。</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r>
              <a:rPr lang="en-US" altLang="zh-CN">
                <a:latin typeface="Arial" panose="020B0604020202020204" pitchFamily="34" charset="0"/>
                <a:ea typeface="微软雅黑" panose="020B0503020204020204" charset="-122"/>
                <a:sym typeface="+mn-ea"/>
              </a:rPr>
              <a:t>②</a:t>
            </a:r>
            <a:r>
              <a:rPr lang="zh-CN" altLang="en-US" b="1">
                <a:latin typeface="Arial" panose="020B0604020202020204" pitchFamily="34" charset="0"/>
                <a:ea typeface="微软雅黑" panose="020B0503020204020204" charset="-122"/>
                <a:sym typeface="+mn-ea"/>
              </a:rPr>
              <a:t>提供质子能力弱的溶剂</a:t>
            </a:r>
            <a:r>
              <a:rPr lang="zh-CN" altLang="en-US">
                <a:latin typeface="Arial" panose="020B0604020202020204" pitchFamily="34" charset="0"/>
                <a:ea typeface="微软雅黑" panose="020B0503020204020204" charset="-122"/>
                <a:sym typeface="+mn-ea"/>
              </a:rPr>
              <a:t>，如乙腈、二甲基甲酰胺、环丁砜、吡啶等。</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endParaRPr lang="zh-CN" altLang="en-US">
              <a:latin typeface="Arial" panose="020B0604020202020204" pitchFamily="34" charset="0"/>
              <a:ea typeface="微软雅黑" panose="020B0503020204020204" charset="-122"/>
            </a:endParaRPr>
          </a:p>
        </p:txBody>
      </p:sp>
    </p:spTree>
  </p:cSld>
  <p:clrMapOvr>
    <a:masterClrMapping/>
  </p:clrMapOvr>
  <p:transition>
    <p:spli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p:cNvSpPr>
            <a:spLocks noGrp="1" noChangeArrowheads="1"/>
          </p:cNvSpPr>
          <p:nvPr>
            <p:ph type="body" idx="1"/>
          </p:nvPr>
        </p:nvSpPr>
        <p:spPr>
          <a:xfrm>
            <a:off x="828040" y="3284538"/>
            <a:ext cx="8137525" cy="4635500"/>
          </a:xfrm>
        </p:spPr>
        <p:txBody>
          <a:bodyPr/>
          <a:lstStyle/>
          <a:p>
            <a:pPr eaLnBrk="1" hangingPunct="1">
              <a:lnSpc>
                <a:spcPct val="130000"/>
              </a:lnSpc>
              <a:buFont typeface="Wingdings" panose="05000000000000000000" pitchFamily="2" charset="2"/>
              <a:buNone/>
            </a:pPr>
            <a:r>
              <a:rPr lang="en-US" altLang="zh-CN">
                <a:latin typeface="Arial" panose="020B0604020202020204" pitchFamily="34" charset="0"/>
                <a:ea typeface="微软雅黑" panose="020B0503020204020204" charset="-122"/>
              </a:rPr>
              <a:t>②</a:t>
            </a:r>
            <a:r>
              <a:rPr lang="zh-CN" altLang="en-US" b="1">
                <a:latin typeface="Arial" panose="020B0604020202020204" pitchFamily="34" charset="0"/>
                <a:ea typeface="微软雅黑" panose="020B0503020204020204" charset="-122"/>
              </a:rPr>
              <a:t>提供质子能力弱的溶剂</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charset="0"/>
              <a:buChar char="ü"/>
            </a:pPr>
            <a:r>
              <a:rPr lang="zh-CN" altLang="en-US" sz="2400">
                <a:latin typeface="Arial" panose="020B0604020202020204" pitchFamily="34" charset="0"/>
                <a:ea typeface="微软雅黑" panose="020B0503020204020204" charset="-122"/>
              </a:rPr>
              <a:t>乙腈：阳极合成，酸碱性很低，化学及电化学性质稳定，溶解性和挥发性也理想，容易在分离产物时除去。</a:t>
            </a:r>
            <a:endParaRPr lang="zh-CN" altLang="en-US" sz="2400">
              <a:latin typeface="Arial" panose="020B0604020202020204" pitchFamily="34" charset="0"/>
              <a:ea typeface="微软雅黑" panose="020B0503020204020204" charset="-122"/>
            </a:endParaRPr>
          </a:p>
          <a:p>
            <a:pPr eaLnBrk="1" hangingPunct="1">
              <a:lnSpc>
                <a:spcPct val="130000"/>
              </a:lnSpc>
              <a:buFont typeface="Wingdings" panose="05000000000000000000" charset="0"/>
              <a:buChar char="ü"/>
            </a:pPr>
            <a:r>
              <a:rPr lang="zh-CN" altLang="en-US" sz="2400">
                <a:latin typeface="Arial" panose="020B0604020202020204" pitchFamily="34" charset="0"/>
                <a:ea typeface="微软雅黑" panose="020B0503020204020204" charset="-122"/>
              </a:rPr>
              <a:t>二甲基甲酰胺：阴极电合成。</a:t>
            </a:r>
            <a:endParaRPr lang="zh-CN" altLang="en-US" sz="2400">
              <a:latin typeface="Arial" panose="020B0604020202020204" pitchFamily="34" charset="0"/>
              <a:ea typeface="微软雅黑" panose="020B0503020204020204" charset="-122"/>
            </a:endParaRPr>
          </a:p>
          <a:p>
            <a:pPr eaLnBrk="1" hangingPunct="1">
              <a:lnSpc>
                <a:spcPct val="130000"/>
              </a:lnSpc>
              <a:buFont typeface="Wingdings" panose="05000000000000000000" charset="0"/>
              <a:buChar char="ü"/>
            </a:pPr>
            <a:r>
              <a:rPr lang="zh-CN" altLang="en-US" sz="2400">
                <a:latin typeface="Arial" panose="020B0604020202020204" pitchFamily="34" charset="0"/>
                <a:ea typeface="微软雅黑" panose="020B0503020204020204" charset="-122"/>
              </a:rPr>
              <a:t>醚类：溶解度及导电率较低，但易挥发和去除，有利于提高产品的纯度。</a:t>
            </a:r>
            <a:endParaRPr lang="zh-CN" altLang="en-US" sz="2400">
              <a:latin typeface="Arial" panose="020B0604020202020204" pitchFamily="34" charset="0"/>
              <a:ea typeface="微软雅黑" panose="020B0503020204020204" charset="-122"/>
            </a:endParaRPr>
          </a:p>
        </p:txBody>
      </p:sp>
      <p:sp>
        <p:nvSpPr>
          <p:cNvPr id="2" name="文本框 1"/>
          <p:cNvSpPr txBox="1"/>
          <p:nvPr/>
        </p:nvSpPr>
        <p:spPr>
          <a:xfrm>
            <a:off x="899795" y="1772285"/>
            <a:ext cx="7993380" cy="1777365"/>
          </a:xfrm>
          <a:prstGeom prst="rect">
            <a:avLst/>
          </a:prstGeom>
          <a:noFill/>
        </p:spPr>
        <p:txBody>
          <a:bodyPr wrap="square" rtlCol="0" anchor="t">
            <a:spAutoFit/>
          </a:bodyPr>
          <a:p>
            <a:r>
              <a:rPr lang="zh-CN" altLang="en-US" sz="2800">
                <a:ea typeface="微软雅黑" panose="020B0503020204020204" charset="-122"/>
                <a:sym typeface="+mn-ea"/>
              </a:rPr>
              <a:t> ①</a:t>
            </a:r>
            <a:r>
              <a:rPr lang="zh-CN" altLang="en-US" sz="2800" b="1">
                <a:ea typeface="微软雅黑" panose="020B0503020204020204" charset="-122"/>
                <a:sym typeface="+mn-ea"/>
              </a:rPr>
              <a:t>提供质子能力强的溶剂</a:t>
            </a:r>
            <a:endParaRPr lang="zh-CN" altLang="en-US" sz="2800" b="1">
              <a:ea typeface="微软雅黑" panose="020B0503020204020204" charset="-122"/>
              <a:sym typeface="+mn-ea"/>
            </a:endParaRPr>
          </a:p>
          <a:p>
            <a:pPr>
              <a:lnSpc>
                <a:spcPct val="120000"/>
              </a:lnSpc>
            </a:pPr>
            <a:r>
              <a:rPr lang="zh-CN" altLang="en-US" sz="2400">
                <a:ea typeface="微软雅黑" panose="020B0503020204020204" charset="-122"/>
                <a:sym typeface="+mn-ea"/>
              </a:rPr>
              <a:t>甲醇的溶解性和挥发性均好，既可用于阳极合成，也可用于阴极合成。</a:t>
            </a:r>
            <a:endParaRPr lang="zh-CN" altLang="en-US" sz="2400">
              <a:latin typeface="Arial" panose="020B0604020202020204" pitchFamily="34" charset="0"/>
              <a:ea typeface="微软雅黑" panose="020B0503020204020204" charset="-122"/>
            </a:endParaRPr>
          </a:p>
          <a:p>
            <a:endParaRPr lang="zh-CN" altLang="en-US" sz="2400" b="1">
              <a:ea typeface="微软雅黑" panose="020B0503020204020204" charset="-122"/>
              <a:sym typeface="+mn-ea"/>
            </a:endParaRPr>
          </a:p>
        </p:txBody>
      </p:sp>
    </p:spTree>
  </p:cSld>
  <p:clrMapOvr>
    <a:masterClrMapping/>
  </p:clrMapOvr>
  <p:transition>
    <p:spli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AutoShape 2"/>
          <p:cNvSpPr>
            <a:spLocks noGrp="1" noChangeArrowheads="1"/>
          </p:cNvSpPr>
          <p:nvPr>
            <p:ph type="title"/>
          </p:nvPr>
        </p:nvSpPr>
        <p:spPr>
          <a:xfrm>
            <a:off x="684213" y="404813"/>
            <a:ext cx="7924800" cy="1143000"/>
          </a:xfrm>
        </p:spPr>
        <p:txBody>
          <a:bodyPr/>
          <a:lstStyle/>
          <a:p>
            <a:pPr eaLnBrk="1" hangingPunct="1"/>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4</a:t>
            </a:r>
            <a:r>
              <a:rPr lang="zh-CN" altLang="en-US">
                <a:latin typeface="Arial" panose="020B0604020202020204" pitchFamily="34" charset="0"/>
                <a:ea typeface="微软雅黑" panose="020B0503020204020204" charset="-122"/>
              </a:rPr>
              <a:t>）支持电解质</a:t>
            </a:r>
            <a:endParaRPr lang="zh-CN" altLang="en-US">
              <a:latin typeface="Arial" panose="020B0604020202020204" pitchFamily="34" charset="0"/>
              <a:ea typeface="微软雅黑" panose="020B0503020204020204" charset="-122"/>
            </a:endParaRPr>
          </a:p>
        </p:txBody>
      </p:sp>
      <p:sp>
        <p:nvSpPr>
          <p:cNvPr id="40963" name="Rectangle 3"/>
          <p:cNvSpPr>
            <a:spLocks noGrp="1" noChangeArrowheads="1"/>
          </p:cNvSpPr>
          <p:nvPr>
            <p:ph type="body" idx="1"/>
          </p:nvPr>
        </p:nvSpPr>
        <p:spPr>
          <a:xfrm>
            <a:off x="827723" y="1916430"/>
            <a:ext cx="8137525" cy="4635500"/>
          </a:xfrm>
        </p:spPr>
        <p:txBody>
          <a:bodyPr/>
          <a:lstStyle/>
          <a:p>
            <a:pPr marL="0" indent="711200" eaLnBrk="1" latinLnBrk="0" hangingPunct="1">
              <a:lnSpc>
                <a:spcPct val="130000"/>
              </a:lnSpc>
              <a:spcBef>
                <a:spcPts val="0"/>
              </a:spcBef>
              <a:buFont typeface="Wingdings" panose="05000000000000000000" pitchFamily="2" charset="2"/>
              <a:buNone/>
              <a:extLst>
                <a:ext uri="{35155182-B16C-46BC-9424-99874614C6A1}">
                  <wpsdc:indentchars xmlns:wpsdc="http://www.wps.cn/officeDocument/2017/drawingmlCustomData" val="200" checksum="3773799597"/>
                </a:ext>
              </a:extLst>
            </a:pPr>
            <a:r>
              <a:rPr lang="zh-CN" altLang="en-US">
                <a:latin typeface="Arial" panose="020B0604020202020204" pitchFamily="34" charset="0"/>
                <a:ea typeface="微软雅黑" panose="020B0503020204020204" charset="-122"/>
              </a:rPr>
              <a:t>为了提高电解液的导电性及溶解性，有机电合成中常使用一定量的可电离的盐、酸和碱。</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charset="0"/>
              <a:buChar char="ü"/>
            </a:pPr>
            <a:r>
              <a:rPr lang="zh-CN" altLang="en-US">
                <a:latin typeface="Arial" panose="020B0604020202020204" pitchFamily="34" charset="0"/>
                <a:ea typeface="微软雅黑" panose="020B0503020204020204" charset="-122"/>
              </a:rPr>
              <a:t>水溶液及水</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有机物混合介质：→</a:t>
            </a:r>
            <a:r>
              <a:rPr lang="zh-CN" altLang="en-US">
                <a:solidFill>
                  <a:srgbClr val="000000"/>
                </a:solidFill>
                <a:latin typeface="Arial" panose="020B0604020202020204" pitchFamily="34" charset="0"/>
                <a:ea typeface="微软雅黑" panose="020B0503020204020204" charset="-122"/>
              </a:rPr>
              <a:t>酸、碱、盐</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charset="0"/>
              <a:buChar char="ü"/>
            </a:pPr>
            <a:r>
              <a:rPr lang="zh-CN" altLang="en-US">
                <a:latin typeface="Arial" panose="020B0604020202020204" pitchFamily="34" charset="0"/>
                <a:ea typeface="微软雅黑" panose="020B0503020204020204" charset="-122"/>
              </a:rPr>
              <a:t>甲醇或乙醇：</a:t>
            </a:r>
            <a:r>
              <a:rPr lang="zh-CN" altLang="en-US">
                <a:latin typeface="Arial" panose="020B0604020202020204" pitchFamily="34" charset="0"/>
                <a:ea typeface="微软雅黑" panose="020B0503020204020204" charset="-122"/>
                <a:sym typeface="+mn-ea"/>
              </a:rPr>
              <a:t>→</a:t>
            </a:r>
            <a:r>
              <a:rPr lang="zh-CN" altLang="en-US">
                <a:solidFill>
                  <a:srgbClr val="000000"/>
                </a:solidFill>
                <a:latin typeface="Arial" panose="020B0604020202020204" pitchFamily="34" charset="0"/>
                <a:ea typeface="微软雅黑" panose="020B0503020204020204" charset="-122"/>
              </a:rPr>
              <a:t>氢氧化物</a:t>
            </a:r>
            <a:endParaRPr lang="zh-CN" altLang="en-US">
              <a:solidFill>
                <a:srgbClr val="000000"/>
              </a:solidFill>
              <a:latin typeface="Arial" panose="020B0604020202020204" pitchFamily="34" charset="0"/>
              <a:ea typeface="微软雅黑" panose="020B0503020204020204" charset="-122"/>
            </a:endParaRPr>
          </a:p>
          <a:p>
            <a:pPr eaLnBrk="1" hangingPunct="1">
              <a:lnSpc>
                <a:spcPct val="130000"/>
              </a:lnSpc>
              <a:buFont typeface="Wingdings" panose="05000000000000000000" charset="0"/>
              <a:buChar char="ü"/>
            </a:pPr>
            <a:r>
              <a:rPr lang="zh-CN" altLang="en-US">
                <a:latin typeface="Arial" panose="020B0604020202020204" pitchFamily="34" charset="0"/>
                <a:ea typeface="微软雅黑" panose="020B0503020204020204" charset="-122"/>
              </a:rPr>
              <a:t>乙腈、二甲基甲酰胺、四氢呋喃、二甲亚砜等介质</a:t>
            </a:r>
            <a:r>
              <a:rPr lang="zh-CN" altLang="en-US">
                <a:latin typeface="Arial" panose="020B0604020202020204" pitchFamily="34" charset="0"/>
                <a:ea typeface="微软雅黑" panose="020B0503020204020204" charset="-122"/>
                <a:sym typeface="+mn-ea"/>
              </a:rPr>
              <a:t>：→</a:t>
            </a:r>
            <a:endParaRPr lang="zh-CN" altLang="en-US">
              <a:latin typeface="Arial" panose="020B0604020202020204" pitchFamily="34" charset="0"/>
              <a:ea typeface="微软雅黑" panose="020B0503020204020204" charset="-122"/>
            </a:endParaRPr>
          </a:p>
        </p:txBody>
      </p:sp>
      <p:pic>
        <p:nvPicPr>
          <p:cNvPr id="40965"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1368" y="5588953"/>
            <a:ext cx="55149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963">
                                            <p:txEl>
                                              <p:pRg st="1" end="1"/>
                                            </p:txEl>
                                          </p:spTgt>
                                        </p:tgtEl>
                                        <p:attrNameLst>
                                          <p:attrName>style.visibility</p:attrName>
                                        </p:attrNameLst>
                                      </p:cBhvr>
                                      <p:to>
                                        <p:strVal val="visible"/>
                                      </p:to>
                                    </p:set>
                                    <p:anim calcmode="lin" valueType="num">
                                      <p:cBhvr additive="base">
                                        <p:cTn id="7" dur="500" fill="hold"/>
                                        <p:tgtEl>
                                          <p:spTgt spid="4096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96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0963">
                                            <p:txEl>
                                              <p:pRg st="2" end="2"/>
                                            </p:txEl>
                                          </p:spTgt>
                                        </p:tgtEl>
                                        <p:attrNameLst>
                                          <p:attrName>style.visibility</p:attrName>
                                        </p:attrNameLst>
                                      </p:cBhvr>
                                      <p:to>
                                        <p:strVal val="visible"/>
                                      </p:to>
                                    </p:set>
                                    <p:anim calcmode="lin" valueType="num">
                                      <p:cBhvr additive="base">
                                        <p:cTn id="11" dur="500" fill="hold"/>
                                        <p:tgtEl>
                                          <p:spTgt spid="4096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096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0963">
                                            <p:txEl>
                                              <p:pRg st="3" end="3"/>
                                            </p:txEl>
                                          </p:spTgt>
                                        </p:tgtEl>
                                        <p:attrNameLst>
                                          <p:attrName>style.visibility</p:attrName>
                                        </p:attrNameLst>
                                      </p:cBhvr>
                                      <p:to>
                                        <p:strVal val="visible"/>
                                      </p:to>
                                    </p:set>
                                    <p:anim calcmode="lin" valueType="num">
                                      <p:cBhvr additive="base">
                                        <p:cTn id="15" dur="500" fill="hold"/>
                                        <p:tgtEl>
                                          <p:spTgt spid="4096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096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3" presetClass="entr" presetSubtype="16" fill="hold" nodeType="clickEffect">
                                  <p:stCondLst>
                                    <p:cond delay="0"/>
                                  </p:stCondLst>
                                  <p:childTnLst>
                                    <p:set>
                                      <p:cBhvr>
                                        <p:cTn id="20" dur="1" fill="hold">
                                          <p:stCondLst>
                                            <p:cond delay="0"/>
                                          </p:stCondLst>
                                        </p:cTn>
                                        <p:tgtEl>
                                          <p:spTgt spid="40965"/>
                                        </p:tgtEl>
                                        <p:attrNameLst>
                                          <p:attrName>style.visibility</p:attrName>
                                        </p:attrNameLst>
                                      </p:cBhvr>
                                      <p:to>
                                        <p:strVal val="visible"/>
                                      </p:to>
                                    </p:set>
                                    <p:anim calcmode="lin" valueType="num">
                                      <p:cBhvr>
                                        <p:cTn id="21" dur="500" fill="hold"/>
                                        <p:tgtEl>
                                          <p:spTgt spid="40965"/>
                                        </p:tgtEl>
                                        <p:attrNameLst>
                                          <p:attrName>ppt_w</p:attrName>
                                        </p:attrNameLst>
                                      </p:cBhvr>
                                      <p:tavLst>
                                        <p:tav tm="0">
                                          <p:val>
                                            <p:fltVal val="0"/>
                                          </p:val>
                                        </p:tav>
                                        <p:tav tm="100000">
                                          <p:val>
                                            <p:strVal val="#ppt_w"/>
                                          </p:val>
                                        </p:tav>
                                      </p:tavLst>
                                    </p:anim>
                                    <p:anim calcmode="lin" valueType="num">
                                      <p:cBhvr>
                                        <p:cTn id="22" dur="500" fill="hold"/>
                                        <p:tgtEl>
                                          <p:spTgt spid="4096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type="body" idx="1"/>
          </p:nvPr>
        </p:nvSpPr>
        <p:spPr>
          <a:xfrm>
            <a:off x="1006475" y="1844675"/>
            <a:ext cx="8137525" cy="4635500"/>
          </a:xfrm>
        </p:spPr>
        <p:txBody>
          <a:bodyPr/>
          <a:lstStyle/>
          <a:p>
            <a:pPr eaLnBrk="1" hangingPunct="1">
              <a:lnSpc>
                <a:spcPct val="130000"/>
              </a:lnSpc>
              <a:buFont typeface="Wingdings" panose="05000000000000000000" pitchFamily="2" charset="2"/>
              <a:buNone/>
            </a:pPr>
            <a:r>
              <a:rPr lang="en-US" altLang="zh-CN">
                <a:latin typeface="Arial" panose="020B0604020202020204" pitchFamily="34" charset="0"/>
                <a:ea typeface="微软雅黑" panose="020B0503020204020204" charset="-122"/>
              </a:rPr>
              <a:t> </a:t>
            </a:r>
            <a:r>
              <a:rPr lang="en-US" altLang="zh-CN">
                <a:latin typeface="Arial" panose="020B0604020202020204" pitchFamily="34" charset="0"/>
                <a:ea typeface="微软雅黑" panose="020B0503020204020204" charset="-122"/>
              </a:rPr>
              <a:t>① </a:t>
            </a:r>
            <a:r>
              <a:rPr lang="zh-CN" altLang="en-US">
                <a:latin typeface="Arial" panose="020B0604020202020204" pitchFamily="34" charset="0"/>
                <a:ea typeface="微软雅黑" panose="020B0503020204020204" charset="-122"/>
              </a:rPr>
              <a:t>在无隔膜的电解槽中，支持电解质可能在对电极上发生电极反应</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charset="0"/>
              <a:buChar char="Ø"/>
            </a:pPr>
            <a:r>
              <a:rPr lang="zh-CN" altLang="en-US" sz="2400">
                <a:latin typeface="Arial" panose="020B0604020202020204" pitchFamily="34" charset="0"/>
                <a:ea typeface="微软雅黑" panose="020B0503020204020204" charset="-122"/>
              </a:rPr>
              <a:t>有时藉此可抑制对电极上不利的反应。</a:t>
            </a:r>
            <a:endParaRPr lang="zh-CN" altLang="en-US" sz="2400">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r>
              <a:rPr lang="zh-CN" altLang="en-US">
                <a:latin typeface="Arial" panose="020B0604020202020204" pitchFamily="34" charset="0"/>
                <a:ea typeface="微软雅黑" panose="020B0503020204020204" charset="-122"/>
              </a:rPr>
              <a:t> </a:t>
            </a:r>
            <a:r>
              <a:rPr lang="zh-CN" altLang="en-US">
                <a:latin typeface="Arial" panose="020B0604020202020204" pitchFamily="34" charset="0"/>
                <a:ea typeface="微软雅黑" panose="020B0503020204020204" charset="-122"/>
              </a:rPr>
              <a:t>② 支持电解质还可能影响有机电合成的结果。</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charset="0"/>
              <a:buChar char="ü"/>
            </a:pPr>
            <a:r>
              <a:rPr lang="zh-CN" altLang="en-US" sz="2400">
                <a:latin typeface="Arial" panose="020B0604020202020204" pitchFamily="34" charset="0"/>
                <a:ea typeface="微软雅黑" panose="020B0503020204020204" charset="-122"/>
              </a:rPr>
              <a:t>丙烯腈阴极还原时，如采用季胺盐为支持电解质，丙烯腈将在阴极表面发生加氢二聚生成己二腈；</a:t>
            </a:r>
            <a:endParaRPr lang="zh-CN" altLang="en-US" sz="2400">
              <a:latin typeface="Arial" panose="020B0604020202020204" pitchFamily="34" charset="0"/>
              <a:ea typeface="微软雅黑" panose="020B0503020204020204" charset="-122"/>
            </a:endParaRPr>
          </a:p>
          <a:p>
            <a:pPr eaLnBrk="1" hangingPunct="1">
              <a:lnSpc>
                <a:spcPct val="130000"/>
              </a:lnSpc>
              <a:buFont typeface="Wingdings" panose="05000000000000000000" charset="0"/>
              <a:buChar char="ü"/>
            </a:pPr>
            <a:r>
              <a:rPr lang="zh-CN" altLang="en-US" sz="2400">
                <a:latin typeface="Arial" panose="020B0604020202020204" pitchFamily="34" charset="0"/>
                <a:ea typeface="微软雅黑" panose="020B0503020204020204" charset="-122"/>
              </a:rPr>
              <a:t>但如使用碱金属盐作为支持电解质，还原加氢产物则为丙腈。</a:t>
            </a:r>
            <a:endParaRPr lang="zh-CN" altLang="en-US" sz="2400">
              <a:latin typeface="Arial" panose="020B0604020202020204" pitchFamily="34" charset="0"/>
              <a:ea typeface="微软雅黑" panose="020B0503020204020204" charset="-122"/>
            </a:endParaRPr>
          </a:p>
        </p:txBody>
      </p:sp>
      <p:sp>
        <p:nvSpPr>
          <p:cNvPr id="45059" name="Text Box 4"/>
          <p:cNvSpPr txBox="1">
            <a:spLocks noChangeArrowheads="1"/>
          </p:cNvSpPr>
          <p:nvPr/>
        </p:nvSpPr>
        <p:spPr bwMode="auto">
          <a:xfrm>
            <a:off x="827088" y="836613"/>
            <a:ext cx="8066087"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3200">
                <a:ea typeface="微软雅黑" panose="020B0503020204020204" charset="-122"/>
              </a:rPr>
              <a:t>支持电解质对有机电合成反应的影响：</a:t>
            </a:r>
            <a:endParaRPr lang="zh-CN" altLang="en-US" sz="320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animEffect transition="in" filter="fade">
                                      <p:cBhvr>
                                        <p:cTn id="7" dur="1000"/>
                                        <p:tgtEl>
                                          <p:spTgt spid="41987">
                                            <p:txEl>
                                              <p:pRg st="0" end="0"/>
                                            </p:txEl>
                                          </p:spTgt>
                                        </p:tgtEl>
                                      </p:cBhvr>
                                    </p:animEffect>
                                    <p:anim calcmode="lin" valueType="num">
                                      <p:cBhvr>
                                        <p:cTn id="8" dur="1000" fill="hold"/>
                                        <p:tgtEl>
                                          <p:spTgt spid="41987">
                                            <p:txEl>
                                              <p:pRg st="0" end="0"/>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41987">
                                            <p:txEl>
                                              <p:pRg st="0" end="0"/>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41987">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nodeType="clickEffect">
                                  <p:stCondLst>
                                    <p:cond delay="0"/>
                                  </p:stCondLst>
                                  <p:childTnLst>
                                    <p:set>
                                      <p:cBhvr>
                                        <p:cTn id="14" dur="1" fill="hold">
                                          <p:stCondLst>
                                            <p:cond delay="0"/>
                                          </p:stCondLst>
                                        </p:cTn>
                                        <p:tgtEl>
                                          <p:spTgt spid="41987">
                                            <p:txEl>
                                              <p:pRg st="1" end="1"/>
                                            </p:txEl>
                                          </p:spTgt>
                                        </p:tgtEl>
                                        <p:attrNameLst>
                                          <p:attrName>style.visibility</p:attrName>
                                        </p:attrNameLst>
                                      </p:cBhvr>
                                      <p:to>
                                        <p:strVal val="visible"/>
                                      </p:to>
                                    </p:set>
                                    <p:animEffect transition="in" filter="fade">
                                      <p:cBhvr>
                                        <p:cTn id="15" dur="1000"/>
                                        <p:tgtEl>
                                          <p:spTgt spid="41987">
                                            <p:txEl>
                                              <p:pRg st="1" end="1"/>
                                            </p:txEl>
                                          </p:spTgt>
                                        </p:tgtEl>
                                      </p:cBhvr>
                                    </p:animEffect>
                                    <p:anim calcmode="lin" valueType="num">
                                      <p:cBhvr>
                                        <p:cTn id="16" dur="1000" fill="hold"/>
                                        <p:tgtEl>
                                          <p:spTgt spid="41987">
                                            <p:txEl>
                                              <p:pRg st="1" end="1"/>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41987">
                                            <p:txEl>
                                              <p:pRg st="1" end="1"/>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41987">
                                            <p:txEl>
                                              <p:pRg st="1" end="1"/>
                                            </p:txEl>
                                          </p:spTgt>
                                        </p:tgtEl>
                                        <p:attrNameLst>
                                          <p:attrName>ppt_y</p:attrName>
                                        </p:attrNameLst>
                                      </p:cBhvr>
                                      <p:tavLst>
                                        <p:tav tm="0">
                                          <p:val>
                                            <p:strVal val="#ppt_y-.03"/>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nodeType="clickEffect">
                                  <p:stCondLst>
                                    <p:cond delay="0"/>
                                  </p:stCondLst>
                                  <p:childTnLst>
                                    <p:set>
                                      <p:cBhvr>
                                        <p:cTn id="22" dur="1" fill="hold">
                                          <p:stCondLst>
                                            <p:cond delay="0"/>
                                          </p:stCondLst>
                                        </p:cTn>
                                        <p:tgtEl>
                                          <p:spTgt spid="41987">
                                            <p:txEl>
                                              <p:pRg st="2" end="2"/>
                                            </p:txEl>
                                          </p:spTgt>
                                        </p:tgtEl>
                                        <p:attrNameLst>
                                          <p:attrName>style.visibility</p:attrName>
                                        </p:attrNameLst>
                                      </p:cBhvr>
                                      <p:to>
                                        <p:strVal val="visible"/>
                                      </p:to>
                                    </p:set>
                                    <p:anim calcmode="lin" valueType="num">
                                      <p:cBhvr>
                                        <p:cTn id="23" dur="500" fill="hold"/>
                                        <p:tgtEl>
                                          <p:spTgt spid="41987">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41987">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nodeType="clickEffect">
                                  <p:stCondLst>
                                    <p:cond delay="0"/>
                                  </p:stCondLst>
                                  <p:childTnLst>
                                    <p:set>
                                      <p:cBhvr>
                                        <p:cTn id="28" dur="1" fill="hold">
                                          <p:stCondLst>
                                            <p:cond delay="0"/>
                                          </p:stCondLst>
                                        </p:cTn>
                                        <p:tgtEl>
                                          <p:spTgt spid="41987">
                                            <p:txEl>
                                              <p:pRg st="3" end="3"/>
                                            </p:txEl>
                                          </p:spTgt>
                                        </p:tgtEl>
                                        <p:attrNameLst>
                                          <p:attrName>style.visibility</p:attrName>
                                        </p:attrNameLst>
                                      </p:cBhvr>
                                      <p:to>
                                        <p:strVal val="visible"/>
                                      </p:to>
                                    </p:set>
                                    <p:anim calcmode="lin" valueType="num">
                                      <p:cBhvr>
                                        <p:cTn id="29" dur="500" fill="hold"/>
                                        <p:tgtEl>
                                          <p:spTgt spid="41987">
                                            <p:txEl>
                                              <p:pRg st="3" end="3"/>
                                            </p:txEl>
                                          </p:spTgt>
                                        </p:tgtEl>
                                        <p:attrNameLst>
                                          <p:attrName>ppt_w</p:attrName>
                                        </p:attrNameLst>
                                      </p:cBhvr>
                                      <p:tavLst>
                                        <p:tav tm="0">
                                          <p:val>
                                            <p:fltVal val="0"/>
                                          </p:val>
                                        </p:tav>
                                        <p:tav tm="100000">
                                          <p:val>
                                            <p:strVal val="#ppt_w"/>
                                          </p:val>
                                        </p:tav>
                                      </p:tavLst>
                                    </p:anim>
                                    <p:anim calcmode="lin" valueType="num">
                                      <p:cBhvr>
                                        <p:cTn id="30" dur="500" fill="hold"/>
                                        <p:tgtEl>
                                          <p:spTgt spid="41987">
                                            <p:txEl>
                                              <p:pRg st="3" end="3"/>
                                            </p:txEl>
                                          </p:spTgt>
                                        </p:tgtEl>
                                        <p:attrNameLst>
                                          <p:attrName>ppt_h</p:attrName>
                                        </p:attrNameLst>
                                      </p:cBhvr>
                                      <p:tavLst>
                                        <p:tav tm="0">
                                          <p:val>
                                            <p:fltVal val="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nodeType="clickEffect">
                                  <p:stCondLst>
                                    <p:cond delay="0"/>
                                  </p:stCondLst>
                                  <p:childTnLst>
                                    <p:set>
                                      <p:cBhvr>
                                        <p:cTn id="34" dur="1" fill="hold">
                                          <p:stCondLst>
                                            <p:cond delay="0"/>
                                          </p:stCondLst>
                                        </p:cTn>
                                        <p:tgtEl>
                                          <p:spTgt spid="41987">
                                            <p:txEl>
                                              <p:pRg st="4" end="4"/>
                                            </p:txEl>
                                          </p:spTgt>
                                        </p:tgtEl>
                                        <p:attrNameLst>
                                          <p:attrName>style.visibility</p:attrName>
                                        </p:attrNameLst>
                                      </p:cBhvr>
                                      <p:to>
                                        <p:strVal val="visible"/>
                                      </p:to>
                                    </p:set>
                                    <p:anim calcmode="lin" valueType="num">
                                      <p:cBhvr>
                                        <p:cTn id="35" dur="500" fill="hold"/>
                                        <p:tgtEl>
                                          <p:spTgt spid="41987">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41987">
                                            <p:txEl>
                                              <p:pRg st="4" end="4"/>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AutoShape 2"/>
          <p:cNvSpPr>
            <a:spLocks noGrp="1" noChangeArrowheads="1"/>
          </p:cNvSpPr>
          <p:nvPr>
            <p:ph type="title"/>
          </p:nvPr>
        </p:nvSpPr>
        <p:spPr>
          <a:xfrm>
            <a:off x="755650" y="331788"/>
            <a:ext cx="7924800" cy="1143000"/>
          </a:xfrm>
        </p:spPr>
        <p:txBody>
          <a:bodyPr/>
          <a:lstStyle/>
          <a:p>
            <a:pPr eaLnBrk="1" hangingPunct="1"/>
            <a:r>
              <a:rPr lang="en-US" altLang="zh-CN">
                <a:latin typeface="Arial" panose="020B0604020202020204" pitchFamily="34" charset="0"/>
                <a:ea typeface="微软雅黑" panose="020B0503020204020204" charset="-122"/>
              </a:rPr>
              <a:t>4</a:t>
            </a:r>
            <a:r>
              <a:rPr lang="zh-CN" altLang="en-US">
                <a:latin typeface="Arial" panose="020B0604020202020204" pitchFamily="34" charset="0"/>
                <a:ea typeface="微软雅黑" panose="020B0503020204020204" charset="-122"/>
              </a:rPr>
              <a:t>、有机电合成的电化学反应器</a:t>
            </a:r>
            <a:endParaRPr lang="zh-CN" altLang="en-US">
              <a:latin typeface="Arial" panose="020B0604020202020204" pitchFamily="34" charset="0"/>
              <a:ea typeface="微软雅黑" panose="020B0503020204020204" charset="-122"/>
            </a:endParaRPr>
          </a:p>
        </p:txBody>
      </p:sp>
      <p:sp>
        <p:nvSpPr>
          <p:cNvPr id="43011" name="Rectangle 3"/>
          <p:cNvSpPr>
            <a:spLocks noGrp="1" noChangeArrowheads="1"/>
          </p:cNvSpPr>
          <p:nvPr>
            <p:ph type="body" idx="1"/>
          </p:nvPr>
        </p:nvSpPr>
        <p:spPr>
          <a:xfrm>
            <a:off x="755650" y="1844675"/>
            <a:ext cx="8137525" cy="5013325"/>
          </a:xfrm>
        </p:spPr>
        <p:txBody>
          <a:bodyPr/>
          <a:lstStyle/>
          <a:p>
            <a:pPr eaLnBrk="1" hangingPunct="1">
              <a:lnSpc>
                <a:spcPct val="120000"/>
              </a:lnSpc>
              <a:buFont typeface="Wingdings" panose="05000000000000000000" pitchFamily="2" charset="2"/>
              <a:buNone/>
            </a:pPr>
            <a:r>
              <a:rPr lang="en-US" altLang="zh-CN">
                <a:latin typeface="Arial" panose="020B0604020202020204" pitchFamily="34" charset="0"/>
                <a:ea typeface="微软雅黑" panose="020B0503020204020204" charset="-122"/>
              </a:rPr>
              <a:t>          </a:t>
            </a:r>
            <a:r>
              <a:rPr lang="zh-CN" altLang="en-US">
                <a:latin typeface="Arial" panose="020B0604020202020204" pitchFamily="34" charset="0"/>
                <a:ea typeface="微软雅黑" panose="020B0503020204020204" charset="-122"/>
              </a:rPr>
              <a:t>在设计有机电合成的电化学反应器时，首先应考虑有机电合成体系及过程的以下特点：</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sz="2400">
                <a:latin typeface="Arial" panose="020B0604020202020204" pitchFamily="34" charset="0"/>
                <a:ea typeface="微软雅黑" panose="020B0503020204020204" charset="-122"/>
              </a:rPr>
              <a:t>（</a:t>
            </a:r>
            <a:r>
              <a:rPr lang="en-US" altLang="zh-CN" sz="2400">
                <a:latin typeface="Arial" panose="020B0604020202020204" pitchFamily="34" charset="0"/>
                <a:ea typeface="微软雅黑" panose="020B0503020204020204" charset="-122"/>
              </a:rPr>
              <a:t>1</a:t>
            </a:r>
            <a:r>
              <a:rPr lang="zh-CN" altLang="en-US" sz="2400">
                <a:latin typeface="Arial" panose="020B0604020202020204" pitchFamily="34" charset="0"/>
                <a:ea typeface="微软雅黑" panose="020B0503020204020204" charset="-122"/>
              </a:rPr>
              <a:t>）电解液的电导率较低；</a:t>
            </a:r>
            <a:endParaRPr lang="zh-CN" altLang="en-US" sz="2400">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sz="2400">
                <a:latin typeface="Arial" panose="020B0604020202020204" pitchFamily="34" charset="0"/>
                <a:ea typeface="微软雅黑" panose="020B0503020204020204" charset="-122"/>
              </a:rPr>
              <a:t>（</a:t>
            </a:r>
            <a:r>
              <a:rPr lang="en-US" altLang="zh-CN" sz="2400">
                <a:latin typeface="Arial" panose="020B0604020202020204" pitchFamily="34" charset="0"/>
                <a:ea typeface="微软雅黑" panose="020B0503020204020204" charset="-122"/>
              </a:rPr>
              <a:t>2</a:t>
            </a:r>
            <a:r>
              <a:rPr lang="zh-CN" altLang="en-US" sz="2400">
                <a:latin typeface="Arial" panose="020B0604020202020204" pitchFamily="34" charset="0"/>
                <a:ea typeface="微软雅黑" panose="020B0503020204020204" charset="-122"/>
              </a:rPr>
              <a:t>）反应物浓度较低，电极反应常为扩散控制；</a:t>
            </a:r>
            <a:endParaRPr lang="zh-CN" altLang="en-US" sz="2400">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sz="2400">
                <a:latin typeface="Arial" panose="020B0604020202020204" pitchFamily="34" charset="0"/>
                <a:ea typeface="微软雅黑" panose="020B0503020204020204" charset="-122"/>
              </a:rPr>
              <a:t>（</a:t>
            </a:r>
            <a:r>
              <a:rPr lang="en-US" altLang="zh-CN" sz="2400">
                <a:latin typeface="Arial" panose="020B0604020202020204" pitchFamily="34" charset="0"/>
                <a:ea typeface="微软雅黑" panose="020B0503020204020204" charset="-122"/>
              </a:rPr>
              <a:t>3</a:t>
            </a:r>
            <a:r>
              <a:rPr lang="zh-CN" altLang="en-US" sz="2400">
                <a:latin typeface="Arial" panose="020B0604020202020204" pitchFamily="34" charset="0"/>
                <a:ea typeface="微软雅黑" panose="020B0503020204020204" charset="-122"/>
              </a:rPr>
              <a:t>）电极过程本身的可逆性，反应速度有限。</a:t>
            </a:r>
            <a:endParaRPr lang="zh-CN" altLang="en-US" sz="2400">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a:latin typeface="Arial" panose="020B0604020202020204" pitchFamily="34" charset="0"/>
                <a:ea typeface="微软雅黑" panose="020B0503020204020204" charset="-122"/>
              </a:rPr>
              <a:t>          因此，减小溶液的欧姆压降、强化传质，增加</a:t>
            </a:r>
            <a:r>
              <a:rPr lang="zh-CN" altLang="en-US">
                <a:latin typeface="Arial" panose="020B0604020202020204" pitchFamily="34" charset="0"/>
                <a:ea typeface="微软雅黑" panose="020B0503020204020204" charset="-122"/>
                <a:sym typeface="+mn-ea"/>
              </a:rPr>
              <a:t>反应器的比电极面积，</a:t>
            </a:r>
            <a:r>
              <a:rPr lang="zh-CN" altLang="en-US">
                <a:latin typeface="Arial" panose="020B0604020202020204" pitchFamily="34" charset="0"/>
                <a:ea typeface="微软雅黑" panose="020B0503020204020204" charset="-122"/>
              </a:rPr>
              <a:t>提高反应速度、时空产率，降低槽压和能耗成为有机电合成反应器设计中应特别重视的问题。</a:t>
            </a:r>
            <a:endParaRPr lang="zh-CN" altLang="en-US">
              <a:latin typeface="Arial" panose="020B0604020202020204" pitchFamily="34" charset="0"/>
              <a:ea typeface="微软雅黑" panose="020B0503020204020204" charset="-122"/>
            </a:endParaRP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 calcmode="lin" valueType="num">
                                      <p:cBhvr additive="base">
                                        <p:cTn id="7" dur="500" fill="hold"/>
                                        <p:tgtEl>
                                          <p:spTgt spid="430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0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3011">
                                            <p:txEl>
                                              <p:pRg st="1" end="1"/>
                                            </p:txEl>
                                          </p:spTgt>
                                        </p:tgtEl>
                                        <p:attrNameLst>
                                          <p:attrName>style.visibility</p:attrName>
                                        </p:attrNameLst>
                                      </p:cBhvr>
                                      <p:to>
                                        <p:strVal val="visible"/>
                                      </p:to>
                                    </p:set>
                                    <p:anim calcmode="lin" valueType="num">
                                      <p:cBhvr additive="base">
                                        <p:cTn id="13" dur="500" fill="hold"/>
                                        <p:tgtEl>
                                          <p:spTgt spid="430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30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3011">
                                            <p:txEl>
                                              <p:pRg st="2" end="2"/>
                                            </p:txEl>
                                          </p:spTgt>
                                        </p:tgtEl>
                                        <p:attrNameLst>
                                          <p:attrName>style.visibility</p:attrName>
                                        </p:attrNameLst>
                                      </p:cBhvr>
                                      <p:to>
                                        <p:strVal val="visible"/>
                                      </p:to>
                                    </p:set>
                                    <p:anim calcmode="lin" valueType="num">
                                      <p:cBhvr additive="base">
                                        <p:cTn id="19" dur="500" fill="hold"/>
                                        <p:tgtEl>
                                          <p:spTgt spid="4301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30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3011">
                                            <p:txEl>
                                              <p:pRg st="3" end="3"/>
                                            </p:txEl>
                                          </p:spTgt>
                                        </p:tgtEl>
                                        <p:attrNameLst>
                                          <p:attrName>style.visibility</p:attrName>
                                        </p:attrNameLst>
                                      </p:cBhvr>
                                      <p:to>
                                        <p:strVal val="visible"/>
                                      </p:to>
                                    </p:set>
                                    <p:anim calcmode="lin" valueType="num">
                                      <p:cBhvr additive="base">
                                        <p:cTn id="25" dur="500" fill="hold"/>
                                        <p:tgtEl>
                                          <p:spTgt spid="4301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30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3011">
                                            <p:txEl>
                                              <p:pRg st="4" end="4"/>
                                            </p:txEl>
                                          </p:spTgt>
                                        </p:tgtEl>
                                        <p:attrNameLst>
                                          <p:attrName>style.visibility</p:attrName>
                                        </p:attrNameLst>
                                      </p:cBhvr>
                                      <p:to>
                                        <p:strVal val="visible"/>
                                      </p:to>
                                    </p:set>
                                    <p:anim calcmode="lin" valueType="num">
                                      <p:cBhvr additive="base">
                                        <p:cTn id="31" dur="500" fill="hold"/>
                                        <p:tgtEl>
                                          <p:spTgt spid="4301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301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AutoShape 2"/>
          <p:cNvSpPr>
            <a:spLocks noGrp="1" noChangeArrowheads="1"/>
          </p:cNvSpPr>
          <p:nvPr>
            <p:ph type="title"/>
          </p:nvPr>
        </p:nvSpPr>
        <p:spPr>
          <a:xfrm>
            <a:off x="755650" y="331788"/>
            <a:ext cx="7924800" cy="1143000"/>
          </a:xfrm>
        </p:spPr>
        <p:txBody>
          <a:bodyPr/>
          <a:lstStyle/>
          <a:p>
            <a:pPr eaLnBrk="1" hangingPunct="1"/>
            <a:r>
              <a:rPr lang="en-US" altLang="zh-CN">
                <a:latin typeface="Arial" panose="020B0604020202020204" pitchFamily="34" charset="0"/>
                <a:ea typeface="微软雅黑" panose="020B0503020204020204" charset="-122"/>
              </a:rPr>
              <a:t>6－4 </a:t>
            </a:r>
            <a:r>
              <a:rPr lang="zh-CN" altLang="en-US">
                <a:latin typeface="Arial" panose="020B0604020202020204" pitchFamily="34" charset="0"/>
                <a:ea typeface="微软雅黑" panose="020B0503020204020204" charset="-122"/>
              </a:rPr>
              <a:t>有机电合成的工业实例</a:t>
            </a:r>
            <a:endParaRPr lang="zh-CN" altLang="en-US">
              <a:latin typeface="Arial" panose="020B0604020202020204" pitchFamily="34" charset="0"/>
              <a:ea typeface="微软雅黑" panose="020B0503020204020204" charset="-122"/>
            </a:endParaRPr>
          </a:p>
        </p:txBody>
      </p:sp>
      <p:sp>
        <p:nvSpPr>
          <p:cNvPr id="47107" name="Rectangle 3"/>
          <p:cNvSpPr>
            <a:spLocks noGrp="1" noChangeArrowheads="1"/>
          </p:cNvSpPr>
          <p:nvPr>
            <p:ph type="body" idx="1"/>
          </p:nvPr>
        </p:nvSpPr>
        <p:spPr/>
        <p:txBody>
          <a:bodyPr/>
          <a:lstStyle/>
          <a:p>
            <a:pPr eaLnBrk="1" hangingPunct="1">
              <a:lnSpc>
                <a:spcPct val="200000"/>
              </a:lnSpc>
              <a:buFont typeface="Wingdings" panose="05000000000000000000" pitchFamily="2" charset="2"/>
              <a:buNone/>
            </a:pPr>
            <a:r>
              <a:rPr lang="zh-CN" altLang="en-US" sz="3200" b="1">
                <a:latin typeface="Arial" panose="020B0604020202020204" pitchFamily="34" charset="0"/>
                <a:ea typeface="微软雅黑" panose="020B0503020204020204" charset="-122"/>
              </a:rPr>
              <a:t>一、己二腈的合成</a:t>
            </a:r>
            <a:endParaRPr lang="zh-CN" altLang="en-US" sz="3200" b="1">
              <a:latin typeface="Arial" panose="020B0604020202020204" pitchFamily="34" charset="0"/>
              <a:ea typeface="微软雅黑" panose="020B0503020204020204" charset="-122"/>
            </a:endParaRPr>
          </a:p>
          <a:p>
            <a:pPr eaLnBrk="1" hangingPunct="1">
              <a:lnSpc>
                <a:spcPct val="200000"/>
              </a:lnSpc>
              <a:buFont typeface="Wingdings" panose="05000000000000000000" pitchFamily="2" charset="2"/>
              <a:buNone/>
            </a:pPr>
            <a:r>
              <a:rPr lang="zh-CN" altLang="en-US" sz="3200" b="1">
                <a:latin typeface="Arial" panose="020B0604020202020204" pitchFamily="34" charset="0"/>
                <a:ea typeface="微软雅黑" panose="020B0503020204020204" charset="-122"/>
              </a:rPr>
              <a:t>二、四烷基铅的电解合成</a:t>
            </a:r>
            <a:endParaRPr lang="zh-CN" altLang="en-US" sz="3200" b="1">
              <a:latin typeface="Arial" panose="020B0604020202020204" pitchFamily="34" charset="0"/>
              <a:ea typeface="微软雅黑" panose="020B0503020204020204" charset="-122"/>
            </a:endParaRPr>
          </a:p>
          <a:p>
            <a:pPr eaLnBrk="1" hangingPunct="1">
              <a:lnSpc>
                <a:spcPct val="200000"/>
              </a:lnSpc>
              <a:buFont typeface="Wingdings" panose="05000000000000000000" pitchFamily="2" charset="2"/>
              <a:buNone/>
            </a:pPr>
            <a:r>
              <a:rPr lang="zh-CN" altLang="en-US" sz="3200" b="1">
                <a:latin typeface="Arial" panose="020B0604020202020204" pitchFamily="34" charset="0"/>
                <a:ea typeface="微软雅黑" panose="020B0503020204020204" charset="-122"/>
              </a:rPr>
              <a:t>三、有机氟化物的电解合成</a:t>
            </a:r>
            <a:endParaRPr lang="zh-CN" altLang="en-US" sz="3200" b="1">
              <a:latin typeface="Arial" panose="020B0604020202020204" pitchFamily="34" charset="0"/>
              <a:ea typeface="微软雅黑" panose="020B0503020204020204" charset="-122"/>
            </a:endParaRPr>
          </a:p>
          <a:p>
            <a:pPr eaLnBrk="1" hangingPunct="1">
              <a:lnSpc>
                <a:spcPct val="200000"/>
              </a:lnSpc>
              <a:buFont typeface="Wingdings" panose="05000000000000000000" pitchFamily="2" charset="2"/>
              <a:buNone/>
            </a:pPr>
            <a:r>
              <a:rPr lang="zh-CN" altLang="en-US" sz="3200" b="1">
                <a:latin typeface="Arial" panose="020B0604020202020204" pitchFamily="34" charset="0"/>
                <a:ea typeface="微软雅黑" panose="020B0503020204020204" charset="-122"/>
              </a:rPr>
              <a:t>四、其他</a:t>
            </a:r>
            <a:endParaRPr lang="zh-CN" altLang="en-US" sz="3200" b="1">
              <a:latin typeface="Arial" panose="020B0604020202020204" pitchFamily="34" charset="0"/>
              <a:ea typeface="微软雅黑" panose="020B050302020402020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AutoShape 4"/>
          <p:cNvSpPr>
            <a:spLocks noChangeArrowheads="1"/>
          </p:cNvSpPr>
          <p:nvPr/>
        </p:nvSpPr>
        <p:spPr bwMode="auto">
          <a:xfrm>
            <a:off x="828040" y="404178"/>
            <a:ext cx="7924800" cy="1143000"/>
          </a:xfrm>
          <a:prstGeom prst="roundRect">
            <a:avLst>
              <a:gd name="adj" fmla="val 21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b"/>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0"/>
              </a:spcBef>
              <a:buClrTx/>
              <a:buSzTx/>
              <a:buFontTx/>
              <a:buNone/>
            </a:pPr>
            <a:r>
              <a:rPr lang="zh-CN" altLang="en-US" sz="3200" b="1">
                <a:solidFill>
                  <a:schemeClr val="tx2"/>
                </a:solidFill>
                <a:ea typeface="微软雅黑" panose="020B0503020204020204" charset="-122"/>
              </a:rPr>
              <a:t>一、己二腈的电合成</a:t>
            </a:r>
            <a:endParaRPr lang="zh-CN" altLang="en-US" sz="3200" b="1">
              <a:solidFill>
                <a:schemeClr val="tx2"/>
              </a:solidFill>
              <a:ea typeface="微软雅黑" panose="020B0503020204020204" charset="-122"/>
            </a:endParaRPr>
          </a:p>
        </p:txBody>
      </p:sp>
      <p:pic>
        <p:nvPicPr>
          <p:cNvPr id="48131"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58888" y="1412875"/>
            <a:ext cx="3240087"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2"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0563" y="1412875"/>
            <a:ext cx="3168650"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3"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975" y="4260850"/>
            <a:ext cx="4510088" cy="259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4" name="Picture 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58888" y="1412875"/>
            <a:ext cx="3240087"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5"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0563" y="1412875"/>
            <a:ext cx="3168650"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6"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975" y="4260850"/>
            <a:ext cx="4510088" cy="259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7" name="Picture 1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58888" y="1412875"/>
            <a:ext cx="3240087"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8"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0563" y="1412875"/>
            <a:ext cx="3168650"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edg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body" idx="1"/>
          </p:nvPr>
        </p:nvSpPr>
        <p:spPr/>
        <p:txBody>
          <a:bodyPr/>
          <a:lstStyle/>
          <a:p>
            <a:pPr eaLnBrk="1" hangingPunct="1">
              <a:lnSpc>
                <a:spcPct val="130000"/>
              </a:lnSpc>
              <a:buFont typeface="Wingdings" panose="05000000000000000000" pitchFamily="2" charset="2"/>
              <a:buNone/>
            </a:pPr>
            <a:r>
              <a:rPr lang="en-US" altLang="zh-CN">
                <a:latin typeface="Arial" panose="020B0604020202020204" pitchFamily="34" charset="0"/>
                <a:ea typeface="微软雅黑" panose="020B0503020204020204" charset="-122"/>
              </a:rPr>
              <a:t>           </a:t>
            </a:r>
            <a:r>
              <a:rPr lang="zh-CN" altLang="en-US">
                <a:latin typeface="Arial" panose="020B0604020202020204" pitchFamily="34" charset="0"/>
                <a:ea typeface="微软雅黑" panose="020B0503020204020204" charset="-122"/>
              </a:rPr>
              <a:t>已二腈是制造尼龙</a:t>
            </a:r>
            <a:r>
              <a:rPr lang="en-US" altLang="zh-CN">
                <a:latin typeface="Arial" panose="020B0604020202020204" pitchFamily="34" charset="0"/>
                <a:ea typeface="微软雅黑" panose="020B0503020204020204" charset="-122"/>
              </a:rPr>
              <a:t>66</a:t>
            </a:r>
            <a:r>
              <a:rPr lang="zh-CN" altLang="en-US">
                <a:latin typeface="Arial" panose="020B0604020202020204" pitchFamily="34" charset="0"/>
                <a:ea typeface="微软雅黑" panose="020B0503020204020204" charset="-122"/>
              </a:rPr>
              <a:t>（聚己二酰己二胺）的中间体，同时又可作为橡胶生产的助剂，防锈剂。</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charset="0"/>
              <a:buChar char="Ø"/>
            </a:pPr>
            <a:r>
              <a:rPr lang="zh-CN" altLang="en-US" b="1">
                <a:latin typeface="Arial" panose="020B0604020202020204" pitchFamily="34" charset="0"/>
                <a:ea typeface="微软雅黑" panose="020B0503020204020204" charset="-122"/>
              </a:rPr>
              <a:t>化学合成方法</a:t>
            </a:r>
            <a:r>
              <a:rPr lang="zh-CN" altLang="en-US">
                <a:latin typeface="Arial" panose="020B0604020202020204" pitchFamily="34" charset="0"/>
                <a:ea typeface="微软雅黑" panose="020B0503020204020204" charset="-122"/>
              </a:rPr>
              <a:t>：己二酸法、丁二烯氯化</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氰化法、丁二烯直接氢氰化法。</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charset="0"/>
              <a:buChar char="Ø"/>
            </a:pPr>
            <a:r>
              <a:rPr lang="zh-CN" altLang="en-US" b="1">
                <a:latin typeface="Arial" panose="020B0604020202020204" pitchFamily="34" charset="0"/>
                <a:ea typeface="微软雅黑" panose="020B0503020204020204" charset="-122"/>
              </a:rPr>
              <a:t>电合成方法</a:t>
            </a:r>
            <a:r>
              <a:rPr lang="zh-CN" altLang="en-US">
                <a:latin typeface="Arial" panose="020B0604020202020204" pitchFamily="34" charset="0"/>
                <a:ea typeface="微软雅黑" panose="020B0503020204020204" charset="-122"/>
              </a:rPr>
              <a:t>：丙烯腈加氢二聚法。</a:t>
            </a:r>
            <a:endParaRPr lang="zh-CN" altLang="en-US">
              <a:latin typeface="Arial" panose="020B0604020202020204" pitchFamily="34" charset="0"/>
              <a:ea typeface="微软雅黑" panose="020B0503020204020204" charset="-122"/>
            </a:endParaRPr>
          </a:p>
          <a:p>
            <a:pPr marL="0" indent="0" eaLnBrk="1" hangingPunct="1">
              <a:lnSpc>
                <a:spcPct val="130000"/>
              </a:lnSpc>
              <a:buFont typeface="Wingdings" panose="05000000000000000000" charset="0"/>
              <a:buNone/>
            </a:pPr>
            <a:r>
              <a:rPr lang="zh-CN" altLang="en-US" sz="2400">
                <a:latin typeface="Arial" panose="020B0604020202020204" pitchFamily="34" charset="0"/>
                <a:ea typeface="微软雅黑" panose="020B0503020204020204" charset="-122"/>
              </a:rPr>
              <a:t>由干这一方法原料价廉易得，反应易控制，很快得到推广，成为现今世界规模最大的有机电合成工业</a:t>
            </a:r>
            <a:r>
              <a:rPr lang="zh-CN" altLang="en-US">
                <a:latin typeface="Arial" panose="020B0604020202020204" pitchFamily="34" charset="0"/>
                <a:ea typeface="微软雅黑" panose="020B0503020204020204" charset="-122"/>
              </a:rPr>
              <a:t>。</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endParaRPr lang="en-US" altLang="zh-CN">
              <a:latin typeface="Arial" panose="020B0604020202020204" pitchFamily="34" charset="0"/>
              <a:ea typeface="微软雅黑" panose="020B0503020204020204" charset="-122"/>
            </a:endParaRPr>
          </a:p>
        </p:txBody>
      </p:sp>
      <p:sp>
        <p:nvSpPr>
          <p:cNvPr id="50179" name="AutoShape 3"/>
          <p:cNvSpPr>
            <a:spLocks noChangeArrowheads="1"/>
          </p:cNvSpPr>
          <p:nvPr/>
        </p:nvSpPr>
        <p:spPr bwMode="auto">
          <a:xfrm>
            <a:off x="755650" y="331788"/>
            <a:ext cx="7924800" cy="1143000"/>
          </a:xfrm>
          <a:prstGeom prst="roundRect">
            <a:avLst>
              <a:gd name="adj" fmla="val 21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b"/>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0"/>
              </a:spcBef>
              <a:buClrTx/>
              <a:buSzTx/>
              <a:buFontTx/>
              <a:buNone/>
            </a:pPr>
            <a:r>
              <a:rPr lang="zh-CN" altLang="en-US" sz="3200" b="1">
                <a:solidFill>
                  <a:schemeClr val="tx2"/>
                </a:solidFill>
                <a:ea typeface="微软雅黑" panose="020B0503020204020204" charset="-122"/>
              </a:rPr>
              <a:t>一、己二腈的电合成</a:t>
            </a:r>
            <a:endParaRPr lang="zh-CN" altLang="en-US" sz="3200" b="1">
              <a:solidFill>
                <a:schemeClr val="tx2"/>
              </a:solidFill>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1074">
                                            <p:txEl>
                                              <p:pRg st="1" end="1"/>
                                            </p:txEl>
                                          </p:spTgt>
                                        </p:tgtEl>
                                        <p:attrNameLst>
                                          <p:attrName>style.visibility</p:attrName>
                                        </p:attrNameLst>
                                      </p:cBhvr>
                                      <p:to>
                                        <p:strVal val="visible"/>
                                      </p:to>
                                    </p:set>
                                    <p:anim calcmode="lin" valueType="num">
                                      <p:cBhvr additive="base">
                                        <p:cTn id="7" dur="500" fill="hold"/>
                                        <p:tgtEl>
                                          <p:spTgt spid="13107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107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7" presetClass="entr" presetSubtype="0" fill="hold" nodeType="clickEffect">
                                  <p:stCondLst>
                                    <p:cond delay="0"/>
                                  </p:stCondLst>
                                  <p:childTnLst>
                                    <p:set>
                                      <p:cBhvr>
                                        <p:cTn id="12" dur="1" fill="hold">
                                          <p:stCondLst>
                                            <p:cond delay="0"/>
                                          </p:stCondLst>
                                        </p:cTn>
                                        <p:tgtEl>
                                          <p:spTgt spid="131074">
                                            <p:txEl>
                                              <p:pRg st="2" end="2"/>
                                            </p:txEl>
                                          </p:spTgt>
                                        </p:tgtEl>
                                        <p:attrNameLst>
                                          <p:attrName>style.visibility</p:attrName>
                                        </p:attrNameLst>
                                      </p:cBhvr>
                                      <p:to>
                                        <p:strVal val="visible"/>
                                      </p:to>
                                    </p:set>
                                    <p:animEffect transition="in" filter="fade">
                                      <p:cBhvr>
                                        <p:cTn id="13" dur="1000"/>
                                        <p:tgtEl>
                                          <p:spTgt spid="131074">
                                            <p:txEl>
                                              <p:pRg st="2" end="2"/>
                                            </p:txEl>
                                          </p:spTgt>
                                        </p:tgtEl>
                                      </p:cBhvr>
                                    </p:animEffect>
                                    <p:anim calcmode="lin" valueType="num">
                                      <p:cBhvr>
                                        <p:cTn id="14" dur="1000" fill="hold"/>
                                        <p:tgtEl>
                                          <p:spTgt spid="131074">
                                            <p:txEl>
                                              <p:pRg st="2" end="2"/>
                                            </p:txEl>
                                          </p:spTgt>
                                        </p:tgtEl>
                                        <p:attrNameLst>
                                          <p:attrName>ppt_x</p:attrName>
                                        </p:attrNameLst>
                                      </p:cBhvr>
                                      <p:tavLst>
                                        <p:tav tm="0">
                                          <p:val>
                                            <p:strVal val="#ppt_x"/>
                                          </p:val>
                                        </p:tav>
                                        <p:tav tm="100000">
                                          <p:val>
                                            <p:strVal val="#ppt_x"/>
                                          </p:val>
                                        </p:tav>
                                      </p:tavLst>
                                    </p:anim>
                                    <p:anim calcmode="lin" valueType="num">
                                      <p:cBhvr>
                                        <p:cTn id="15" dur="900" decel="100000" fill="hold"/>
                                        <p:tgtEl>
                                          <p:spTgt spid="131074">
                                            <p:txEl>
                                              <p:pRg st="2" end="2"/>
                                            </p:txEl>
                                          </p:spTgt>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131074">
                                            <p:txEl>
                                              <p:pRg st="2" end="2"/>
                                            </p:txEl>
                                          </p:spTgt>
                                        </p:tgtEl>
                                        <p:attrNameLst>
                                          <p:attrName>ppt_y</p:attrName>
                                        </p:attrNameLst>
                                      </p:cBhvr>
                                      <p:tavLst>
                                        <p:tav tm="0">
                                          <p:val>
                                            <p:strVal val="#ppt_y-.03"/>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7" presetClass="entr" presetSubtype="0" fill="hold" nodeType="clickEffect">
                                  <p:stCondLst>
                                    <p:cond delay="0"/>
                                  </p:stCondLst>
                                  <p:childTnLst>
                                    <p:set>
                                      <p:cBhvr>
                                        <p:cTn id="20" dur="1" fill="hold">
                                          <p:stCondLst>
                                            <p:cond delay="0"/>
                                          </p:stCondLst>
                                        </p:cTn>
                                        <p:tgtEl>
                                          <p:spTgt spid="131074">
                                            <p:txEl>
                                              <p:pRg st="3" end="3"/>
                                            </p:txEl>
                                          </p:spTgt>
                                        </p:tgtEl>
                                        <p:attrNameLst>
                                          <p:attrName>style.visibility</p:attrName>
                                        </p:attrNameLst>
                                      </p:cBhvr>
                                      <p:to>
                                        <p:strVal val="visible"/>
                                      </p:to>
                                    </p:set>
                                    <p:animEffect transition="in" filter="fade">
                                      <p:cBhvr>
                                        <p:cTn id="21" dur="1000"/>
                                        <p:tgtEl>
                                          <p:spTgt spid="131074">
                                            <p:txEl>
                                              <p:pRg st="3" end="3"/>
                                            </p:txEl>
                                          </p:spTgt>
                                        </p:tgtEl>
                                      </p:cBhvr>
                                    </p:animEffect>
                                    <p:anim calcmode="lin" valueType="num">
                                      <p:cBhvr>
                                        <p:cTn id="22" dur="1000" fill="hold"/>
                                        <p:tgtEl>
                                          <p:spTgt spid="131074">
                                            <p:txEl>
                                              <p:pRg st="3" end="3"/>
                                            </p:txEl>
                                          </p:spTgt>
                                        </p:tgtEl>
                                        <p:attrNameLst>
                                          <p:attrName>ppt_x</p:attrName>
                                        </p:attrNameLst>
                                      </p:cBhvr>
                                      <p:tavLst>
                                        <p:tav tm="0">
                                          <p:val>
                                            <p:strVal val="#ppt_x"/>
                                          </p:val>
                                        </p:tav>
                                        <p:tav tm="100000">
                                          <p:val>
                                            <p:strVal val="#ppt_x"/>
                                          </p:val>
                                        </p:tav>
                                      </p:tavLst>
                                    </p:anim>
                                    <p:anim calcmode="lin" valueType="num">
                                      <p:cBhvr>
                                        <p:cTn id="23" dur="900" decel="100000" fill="hold"/>
                                        <p:tgtEl>
                                          <p:spTgt spid="131074">
                                            <p:txEl>
                                              <p:pRg st="3" end="3"/>
                                            </p:txEl>
                                          </p:spTgt>
                                        </p:tgtEl>
                                        <p:attrNameLst>
                                          <p:attrName>ppt_y</p:attrName>
                                        </p:attrNameLst>
                                      </p:cBhvr>
                                      <p:tavLst>
                                        <p:tav tm="0">
                                          <p:val>
                                            <p:strVal val="#ppt_y+1"/>
                                          </p:val>
                                        </p:tav>
                                        <p:tav tm="100000">
                                          <p:val>
                                            <p:strVal val="#ppt_y-.03"/>
                                          </p:val>
                                        </p:tav>
                                      </p:tavLst>
                                    </p:anim>
                                    <p:anim calcmode="lin" valueType="num">
                                      <p:cBhvr>
                                        <p:cTn id="24" dur="100" accel="100000" fill="hold">
                                          <p:stCondLst>
                                            <p:cond delay="900"/>
                                          </p:stCondLst>
                                        </p:cTn>
                                        <p:tgtEl>
                                          <p:spTgt spid="131074">
                                            <p:txEl>
                                              <p:pRg st="3" end="3"/>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AutoShape 2"/>
          <p:cNvSpPr>
            <a:spLocks noGrp="1" noChangeArrowheads="1"/>
          </p:cNvSpPr>
          <p:nvPr>
            <p:ph type="title"/>
          </p:nvPr>
        </p:nvSpPr>
        <p:spPr>
          <a:xfrm>
            <a:off x="755650" y="331788"/>
            <a:ext cx="7924800" cy="1143000"/>
          </a:xfrm>
        </p:spPr>
        <p:txBody>
          <a:bodyPr/>
          <a:lstStyle/>
          <a:p>
            <a:pPr eaLnBrk="1" hangingPunct="1"/>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1</a:t>
            </a:r>
            <a:r>
              <a:rPr lang="zh-CN" altLang="en-US">
                <a:latin typeface="Arial" panose="020B0604020202020204" pitchFamily="34" charset="0"/>
                <a:ea typeface="微软雅黑" panose="020B0503020204020204" charset="-122"/>
              </a:rPr>
              <a:t>）己二腈的电解合成</a:t>
            </a:r>
            <a:endParaRPr lang="zh-CN" altLang="en-US">
              <a:latin typeface="Arial" panose="020B0604020202020204" pitchFamily="34" charset="0"/>
              <a:ea typeface="微软雅黑" panose="020B0503020204020204" charset="-122"/>
            </a:endParaRPr>
          </a:p>
        </p:txBody>
      </p:sp>
      <p:sp>
        <p:nvSpPr>
          <p:cNvPr id="46083" name="Rectangle 3"/>
          <p:cNvSpPr>
            <a:spLocks noGrp="1" noChangeArrowheads="1"/>
          </p:cNvSpPr>
          <p:nvPr>
            <p:ph type="body" idx="1"/>
          </p:nvPr>
        </p:nvSpPr>
        <p:spPr>
          <a:xfrm>
            <a:off x="755650" y="1771968"/>
            <a:ext cx="8137525" cy="4635500"/>
          </a:xfrm>
        </p:spPr>
        <p:txBody>
          <a:bodyPr/>
          <a:lstStyle/>
          <a:p>
            <a:pPr eaLnBrk="1" hangingPunct="1">
              <a:lnSpc>
                <a:spcPct val="120000"/>
              </a:lnSpc>
              <a:buFont typeface="Wingdings" panose="05000000000000000000" pitchFamily="2" charset="2"/>
              <a:buNone/>
            </a:pPr>
            <a:r>
              <a:rPr lang="en-US" altLang="zh-CN" sz="2400">
                <a:latin typeface="Arial" panose="020B0604020202020204" pitchFamily="34" charset="0"/>
                <a:ea typeface="微软雅黑" panose="020B0503020204020204" charset="-122"/>
              </a:rPr>
              <a:t>        </a:t>
            </a:r>
            <a:r>
              <a:rPr lang="zh-CN" altLang="en-US">
                <a:latin typeface="Arial" panose="020B0604020202020204" pitchFamily="34" charset="0"/>
                <a:ea typeface="微软雅黑" panose="020B0503020204020204" charset="-122"/>
              </a:rPr>
              <a:t>己二腈的电解合成分为两步：</a:t>
            </a:r>
            <a:endParaRPr lang="zh-CN" altLang="en-US">
              <a:latin typeface="Arial" panose="020B0604020202020204" pitchFamily="34" charset="0"/>
              <a:ea typeface="微软雅黑" panose="020B0503020204020204" charset="-122"/>
            </a:endParaRPr>
          </a:p>
          <a:p>
            <a:pPr marL="514350" indent="-514350" eaLnBrk="1" hangingPunct="1">
              <a:lnSpc>
                <a:spcPct val="120000"/>
              </a:lnSpc>
              <a:buFont typeface="+mj-lt"/>
              <a:buAutoNum type="arabicPeriod"/>
            </a:pPr>
            <a:r>
              <a:rPr lang="zh-CN" altLang="en-US">
                <a:latin typeface="Arial" panose="020B0604020202020204" pitchFamily="34" charset="0"/>
                <a:ea typeface="微软雅黑" panose="020B0503020204020204" charset="-122"/>
              </a:rPr>
              <a:t>以石油工业的丙烯为原料，将其加工为丙烯腈：</a:t>
            </a:r>
            <a:endParaRPr lang="zh-CN" altLang="en-US">
              <a:latin typeface="Arial" panose="020B0604020202020204" pitchFamily="34" charset="0"/>
              <a:ea typeface="微软雅黑" panose="020B0503020204020204" charset="-122"/>
            </a:endParaRPr>
          </a:p>
          <a:p>
            <a:pPr eaLnBrk="1" hangingPunct="1">
              <a:buFont typeface="Wingdings" panose="05000000000000000000" pitchFamily="2" charset="2"/>
              <a:buNone/>
            </a:pPr>
            <a:endParaRPr lang="zh-CN" altLang="en-US">
              <a:latin typeface="Arial" panose="020B0604020202020204" pitchFamily="34" charset="0"/>
              <a:ea typeface="微软雅黑" panose="020B0503020204020204" charset="-122"/>
            </a:endParaRPr>
          </a:p>
          <a:p>
            <a:pPr marL="514350" indent="-514350" eaLnBrk="1" hangingPunct="1">
              <a:buFont typeface="+mj-lt"/>
              <a:buAutoNum type="arabicPeriod" startAt="2"/>
            </a:pPr>
            <a:r>
              <a:rPr lang="zh-CN" altLang="en-US">
                <a:latin typeface="Arial" panose="020B0604020202020204" pitchFamily="34" charset="0"/>
                <a:ea typeface="微软雅黑" panose="020B0503020204020204" charset="-122"/>
              </a:rPr>
              <a:t>通过电解，在阴极表面加氢二聚生成己二腈 ：</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a:latin typeface="Arial" panose="020B0604020202020204" pitchFamily="34" charset="0"/>
                <a:ea typeface="微软雅黑" panose="020B0503020204020204" charset="-122"/>
              </a:rPr>
              <a:t>阳极</a:t>
            </a:r>
            <a:r>
              <a:rPr lang="zh-CN" altLang="en-US" sz="2400">
                <a:latin typeface="Arial" panose="020B0604020202020204" pitchFamily="34" charset="0"/>
                <a:ea typeface="微软雅黑" panose="020B0503020204020204" charset="-122"/>
              </a:rPr>
              <a:t>：</a:t>
            </a:r>
            <a:endParaRPr lang="zh-CN" altLang="en-US" sz="2400">
              <a:latin typeface="Arial" panose="020B0604020202020204" pitchFamily="34" charset="0"/>
              <a:ea typeface="微软雅黑" panose="020B0503020204020204" charset="-122"/>
            </a:endParaRPr>
          </a:p>
        </p:txBody>
      </p:sp>
      <p:pic>
        <p:nvPicPr>
          <p:cNvPr id="4608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35468" y="2924810"/>
            <a:ext cx="51117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0" y="4148773"/>
            <a:ext cx="755967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4075" y="4724400"/>
            <a:ext cx="3743325"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8"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5445125"/>
            <a:ext cx="6183313"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slide(fromBottom)">
                                      <p:cBhvr>
                                        <p:cTn id="7" dur="500"/>
                                        <p:tgtEl>
                                          <p:spTgt spid="460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46083">
                                            <p:txEl>
                                              <p:pRg st="1" end="1"/>
                                            </p:txEl>
                                          </p:spTgt>
                                        </p:tgtEl>
                                        <p:attrNameLst>
                                          <p:attrName>style.visibility</p:attrName>
                                        </p:attrNameLst>
                                      </p:cBhvr>
                                      <p:to>
                                        <p:strVal val="visible"/>
                                      </p:to>
                                    </p:set>
                                    <p:animEffect transition="in" filter="slide(fromBottom)">
                                      <p:cBhvr>
                                        <p:cTn id="12" dur="500"/>
                                        <p:tgtEl>
                                          <p:spTgt spid="460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46084"/>
                                        </p:tgtEl>
                                        <p:attrNameLst>
                                          <p:attrName>style.visibility</p:attrName>
                                        </p:attrNameLst>
                                      </p:cBhvr>
                                      <p:to>
                                        <p:strVal val="visible"/>
                                      </p:to>
                                    </p:set>
                                    <p:anim calcmode="lin" valueType="num">
                                      <p:cBhvr>
                                        <p:cTn id="17" dur="500" fill="hold"/>
                                        <p:tgtEl>
                                          <p:spTgt spid="46084"/>
                                        </p:tgtEl>
                                        <p:attrNameLst>
                                          <p:attrName>ppt_w</p:attrName>
                                        </p:attrNameLst>
                                      </p:cBhvr>
                                      <p:tavLst>
                                        <p:tav tm="0">
                                          <p:val>
                                            <p:fltVal val="0"/>
                                          </p:val>
                                        </p:tav>
                                        <p:tav tm="100000">
                                          <p:val>
                                            <p:strVal val="#ppt_w"/>
                                          </p:val>
                                        </p:tav>
                                      </p:tavLst>
                                    </p:anim>
                                    <p:anim calcmode="lin" valueType="num">
                                      <p:cBhvr>
                                        <p:cTn id="18" dur="500" fill="hold"/>
                                        <p:tgtEl>
                                          <p:spTgt spid="46084"/>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6083">
                                            <p:txEl>
                                              <p:pRg st="3" end="3"/>
                                            </p:txEl>
                                          </p:spTgt>
                                        </p:tgtEl>
                                        <p:attrNameLst>
                                          <p:attrName>style.visibility</p:attrName>
                                        </p:attrNameLst>
                                      </p:cBhvr>
                                      <p:to>
                                        <p:strVal val="visible"/>
                                      </p:to>
                                    </p:set>
                                    <p:anim calcmode="lin" valueType="num">
                                      <p:cBhvr additive="base">
                                        <p:cTn id="23" dur="500" fill="hold"/>
                                        <p:tgtEl>
                                          <p:spTgt spid="4608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60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55" presetClass="entr" presetSubtype="0" fill="hold" nodeType="clickEffect">
                                  <p:stCondLst>
                                    <p:cond delay="0"/>
                                  </p:stCondLst>
                                  <p:childTnLst>
                                    <p:set>
                                      <p:cBhvr>
                                        <p:cTn id="28" dur="1" fill="hold">
                                          <p:stCondLst>
                                            <p:cond delay="0"/>
                                          </p:stCondLst>
                                        </p:cTn>
                                        <p:tgtEl>
                                          <p:spTgt spid="46086"/>
                                        </p:tgtEl>
                                        <p:attrNameLst>
                                          <p:attrName>style.visibility</p:attrName>
                                        </p:attrNameLst>
                                      </p:cBhvr>
                                      <p:to>
                                        <p:strVal val="visible"/>
                                      </p:to>
                                    </p:set>
                                    <p:anim calcmode="lin" valueType="num">
                                      <p:cBhvr>
                                        <p:cTn id="29" dur="1000" fill="hold"/>
                                        <p:tgtEl>
                                          <p:spTgt spid="46086"/>
                                        </p:tgtEl>
                                        <p:attrNameLst>
                                          <p:attrName>ppt_w</p:attrName>
                                        </p:attrNameLst>
                                      </p:cBhvr>
                                      <p:tavLst>
                                        <p:tav tm="0">
                                          <p:val>
                                            <p:strVal val="#ppt_w*0.70"/>
                                          </p:val>
                                        </p:tav>
                                        <p:tav tm="100000">
                                          <p:val>
                                            <p:strVal val="#ppt_w"/>
                                          </p:val>
                                        </p:tav>
                                      </p:tavLst>
                                    </p:anim>
                                    <p:anim calcmode="lin" valueType="num">
                                      <p:cBhvr>
                                        <p:cTn id="30" dur="1000" fill="hold"/>
                                        <p:tgtEl>
                                          <p:spTgt spid="46086"/>
                                        </p:tgtEl>
                                        <p:attrNameLst>
                                          <p:attrName>ppt_h</p:attrName>
                                        </p:attrNameLst>
                                      </p:cBhvr>
                                      <p:tavLst>
                                        <p:tav tm="0">
                                          <p:val>
                                            <p:strVal val="#ppt_h"/>
                                          </p:val>
                                        </p:tav>
                                        <p:tav tm="100000">
                                          <p:val>
                                            <p:strVal val="#ppt_h"/>
                                          </p:val>
                                        </p:tav>
                                      </p:tavLst>
                                    </p:anim>
                                    <p:animEffect transition="in" filter="fade">
                                      <p:cBhvr>
                                        <p:cTn id="31" dur="1000"/>
                                        <p:tgtEl>
                                          <p:spTgt spid="46086"/>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4" fill="hold" nodeType="clickEffect">
                                  <p:stCondLst>
                                    <p:cond delay="0"/>
                                  </p:stCondLst>
                                  <p:childTnLst>
                                    <p:set>
                                      <p:cBhvr>
                                        <p:cTn id="35" dur="1" fill="hold">
                                          <p:stCondLst>
                                            <p:cond delay="0"/>
                                          </p:stCondLst>
                                        </p:cTn>
                                        <p:tgtEl>
                                          <p:spTgt spid="46083">
                                            <p:txEl>
                                              <p:pRg st="5" end="5"/>
                                            </p:txEl>
                                          </p:spTgt>
                                        </p:tgtEl>
                                        <p:attrNameLst>
                                          <p:attrName>style.visibility</p:attrName>
                                        </p:attrNameLst>
                                      </p:cBhvr>
                                      <p:to>
                                        <p:strVal val="visible"/>
                                      </p:to>
                                    </p:set>
                                    <p:animEffect transition="in" filter="slide(fromBottom)">
                                      <p:cBhvr>
                                        <p:cTn id="36" dur="500"/>
                                        <p:tgtEl>
                                          <p:spTgt spid="46083">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nodeType="clickEffect">
                                  <p:stCondLst>
                                    <p:cond delay="0"/>
                                  </p:stCondLst>
                                  <p:childTnLst>
                                    <p:set>
                                      <p:cBhvr>
                                        <p:cTn id="40" dur="1" fill="hold">
                                          <p:stCondLst>
                                            <p:cond delay="0"/>
                                          </p:stCondLst>
                                        </p:cTn>
                                        <p:tgtEl>
                                          <p:spTgt spid="46087"/>
                                        </p:tgtEl>
                                        <p:attrNameLst>
                                          <p:attrName>style.visibility</p:attrName>
                                        </p:attrNameLst>
                                      </p:cBhvr>
                                      <p:to>
                                        <p:strVal val="visible"/>
                                      </p:to>
                                    </p:set>
                                    <p:anim calcmode="lin" valueType="num">
                                      <p:cBhvr>
                                        <p:cTn id="41" dur="500" fill="hold"/>
                                        <p:tgtEl>
                                          <p:spTgt spid="46087"/>
                                        </p:tgtEl>
                                        <p:attrNameLst>
                                          <p:attrName>ppt_w</p:attrName>
                                        </p:attrNameLst>
                                      </p:cBhvr>
                                      <p:tavLst>
                                        <p:tav tm="0">
                                          <p:val>
                                            <p:fltVal val="0"/>
                                          </p:val>
                                        </p:tav>
                                        <p:tav tm="100000">
                                          <p:val>
                                            <p:strVal val="#ppt_w"/>
                                          </p:val>
                                        </p:tav>
                                      </p:tavLst>
                                    </p:anim>
                                    <p:anim calcmode="lin" valueType="num">
                                      <p:cBhvr>
                                        <p:cTn id="42" dur="500" fill="hold"/>
                                        <p:tgtEl>
                                          <p:spTgt spid="46087"/>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nodeType="clickEffect">
                                  <p:stCondLst>
                                    <p:cond delay="0"/>
                                  </p:stCondLst>
                                  <p:childTnLst>
                                    <p:set>
                                      <p:cBhvr>
                                        <p:cTn id="46" dur="1" fill="hold">
                                          <p:stCondLst>
                                            <p:cond delay="0"/>
                                          </p:stCondLst>
                                        </p:cTn>
                                        <p:tgtEl>
                                          <p:spTgt spid="46088"/>
                                        </p:tgtEl>
                                        <p:attrNameLst>
                                          <p:attrName>style.visibility</p:attrName>
                                        </p:attrNameLst>
                                      </p:cBhvr>
                                      <p:to>
                                        <p:strVal val="visible"/>
                                      </p:to>
                                    </p:set>
                                    <p:animEffect transition="in" filter="slide(fromBottom)">
                                      <p:cBhvr>
                                        <p:cTn id="47" dur="500"/>
                                        <p:tgtEl>
                                          <p:spTgt spid="460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5" descr="http://jpkc.qust.edu.cn/index/qiuruchen/pages/file/kejian/hggy/2003年化学工艺课件/CH3/3-3-4.61.jpg"/>
          <p:cNvPicPr>
            <a:picLocks noChangeAspect="1" noChangeArrowheads="1"/>
          </p:cNvPicPr>
          <p:nvPr/>
        </p:nvPicPr>
        <p:blipFill>
          <a:blip r:embed="rId1" r:link="rId2">
            <a:extLst>
              <a:ext uri="{28A0092B-C50C-407E-A947-70E740481C1C}">
                <a14:useLocalDpi xmlns:a14="http://schemas.microsoft.com/office/drawing/2010/main" val="0"/>
              </a:ext>
            </a:extLst>
          </a:blip>
          <a:srcRect/>
          <a:stretch>
            <a:fillRect/>
          </a:stretch>
        </p:blipFill>
        <p:spPr bwMode="auto">
          <a:xfrm>
            <a:off x="785813" y="4214813"/>
            <a:ext cx="7273925"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7" name="Picture 4" descr="http://jpkc.qust.edu.cn/index/qiuruchen/pages/file/kejian/hggy/2003年化学工艺课件/CH3/3-3-4.62.jpg"/>
          <p:cNvPicPr>
            <a:picLocks noChangeAspect="1" noChangeArrowheads="1"/>
          </p:cNvPicPr>
          <p:nvPr/>
        </p:nvPicPr>
        <p:blipFill>
          <a:blip r:embed="rId3" r:link="rId2">
            <a:extLst>
              <a:ext uri="{28A0092B-C50C-407E-A947-70E740481C1C}">
                <a14:useLocalDpi xmlns:a14="http://schemas.microsoft.com/office/drawing/2010/main" val="0"/>
              </a:ext>
            </a:extLst>
          </a:blip>
          <a:srcRect/>
          <a:stretch>
            <a:fillRect/>
          </a:stretch>
        </p:blipFill>
        <p:spPr bwMode="auto">
          <a:xfrm>
            <a:off x="1357313" y="5500688"/>
            <a:ext cx="6626225"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8" name="Rectangle 6"/>
          <p:cNvSpPr>
            <a:spLocks noChangeArrowheads="1"/>
          </p:cNvSpPr>
          <p:nvPr/>
        </p:nvSpPr>
        <p:spPr bwMode="auto">
          <a:xfrm>
            <a:off x="1071563" y="3000693"/>
            <a:ext cx="7715250" cy="1291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b="1">
                <a:solidFill>
                  <a:srgbClr val="0000FF"/>
                </a:solidFill>
                <a:ea typeface="微软雅黑" panose="020B0503020204020204" charset="-122"/>
                <a:cs typeface="Times New Roman" panose="02020603050405020304" pitchFamily="18" charset="0"/>
              </a:rPr>
              <a:t>第二步是形成的丙烯腈阴离子与丙烯腈反应生成二聚阴离子</a:t>
            </a:r>
            <a:r>
              <a:rPr lang="en-US" altLang="zh-CN" b="1">
                <a:solidFill>
                  <a:srgbClr val="0000FF"/>
                </a:solidFill>
                <a:ea typeface="微软雅黑" panose="020B0503020204020204" charset="-122"/>
                <a:cs typeface="Times New Roman" panose="02020603050405020304" pitchFamily="18" charset="0"/>
              </a:rPr>
              <a:t>: </a:t>
            </a:r>
            <a:endParaRPr lang="en-US" altLang="zh-CN">
              <a:ea typeface="微软雅黑" panose="020B0503020204020204" charset="-122"/>
              <a:cs typeface="Times New Roman" panose="02020603050405020304" pitchFamily="18" charset="0"/>
            </a:endParaRPr>
          </a:p>
          <a:p>
            <a:pPr>
              <a:spcBef>
                <a:spcPct val="0"/>
              </a:spcBef>
              <a:buClrTx/>
              <a:buSzTx/>
              <a:buFontTx/>
              <a:buNone/>
            </a:pPr>
            <a:r>
              <a:rPr lang="en-US" altLang="zh-CN" sz="2200" b="1">
                <a:solidFill>
                  <a:srgbClr val="0000FF"/>
                </a:solidFill>
                <a:ea typeface="微软雅黑" panose="020B0503020204020204" charset="-122"/>
                <a:cs typeface="Times New Roman" panose="02020603050405020304" pitchFamily="18" charset="0"/>
              </a:rPr>
              <a:t>              </a:t>
            </a:r>
            <a:endParaRPr lang="en-US" altLang="zh-CN" sz="3200">
              <a:ea typeface="微软雅黑" panose="020B0503020204020204" charset="-122"/>
              <a:cs typeface="Times New Roman" panose="02020603050405020304" pitchFamily="18" charset="0"/>
            </a:endParaRPr>
          </a:p>
        </p:txBody>
      </p:sp>
      <p:sp>
        <p:nvSpPr>
          <p:cNvPr id="52229" name="Rectangle 7"/>
          <p:cNvSpPr>
            <a:spLocks noChangeArrowheads="1"/>
          </p:cNvSpPr>
          <p:nvPr/>
        </p:nvSpPr>
        <p:spPr bwMode="auto">
          <a:xfrm>
            <a:off x="928688" y="4715669"/>
            <a:ext cx="751205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200" b="1">
                <a:solidFill>
                  <a:srgbClr val="0000FF"/>
                </a:solidFill>
                <a:ea typeface="微软雅黑" panose="020B0503020204020204" charset="-122"/>
                <a:cs typeface="Times New Roman" panose="02020603050405020304" pitchFamily="18" charset="0"/>
              </a:rPr>
              <a:t>  </a:t>
            </a:r>
            <a:endParaRPr lang="en-US" altLang="zh-CN" sz="800">
              <a:ea typeface="微软雅黑" panose="020B0503020204020204" charset="-122"/>
              <a:cs typeface="Times New Roman" panose="02020603050405020304" pitchFamily="18" charset="0"/>
            </a:endParaRPr>
          </a:p>
          <a:p>
            <a:pPr>
              <a:spcBef>
                <a:spcPct val="0"/>
              </a:spcBef>
              <a:buClrTx/>
              <a:buSzTx/>
              <a:buFontTx/>
              <a:buNone/>
            </a:pPr>
            <a:r>
              <a:rPr lang="zh-CN" altLang="en-US" b="1">
                <a:solidFill>
                  <a:srgbClr val="0000FF"/>
                </a:solidFill>
                <a:ea typeface="微软雅黑" panose="020B0503020204020204" charset="-122"/>
                <a:cs typeface="Times New Roman" panose="02020603050405020304" pitchFamily="18" charset="0"/>
              </a:rPr>
              <a:t>第三步为二聚阴离子与氢质子反应生成己二腈</a:t>
            </a:r>
            <a:r>
              <a:rPr lang="en-US" altLang="zh-CN" b="1">
                <a:solidFill>
                  <a:srgbClr val="0000FF"/>
                </a:solidFill>
                <a:ea typeface="微软雅黑" panose="020B0503020204020204" charset="-122"/>
                <a:cs typeface="Times New Roman" panose="02020603050405020304" pitchFamily="18" charset="0"/>
              </a:rPr>
              <a:t>: </a:t>
            </a:r>
            <a:endParaRPr lang="en-US" altLang="zh-CN">
              <a:ea typeface="微软雅黑" panose="020B0503020204020204" charset="-122"/>
              <a:cs typeface="Times New Roman" panose="02020603050405020304" pitchFamily="18" charset="0"/>
            </a:endParaRPr>
          </a:p>
        </p:txBody>
      </p:sp>
      <p:sp>
        <p:nvSpPr>
          <p:cNvPr id="52230" name="Rectangle 8"/>
          <p:cNvSpPr>
            <a:spLocks noChangeArrowheads="1"/>
          </p:cNvSpPr>
          <p:nvPr/>
        </p:nvSpPr>
        <p:spPr bwMode="auto">
          <a:xfrm>
            <a:off x="827088" y="620554"/>
            <a:ext cx="8142287"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200" b="1">
                <a:solidFill>
                  <a:srgbClr val="0000FF"/>
                </a:solidFill>
                <a:ea typeface="微软雅黑" panose="020B0503020204020204" charset="-122"/>
                <a:cs typeface="Times New Roman" panose="02020603050405020304" pitchFamily="18" charset="0"/>
              </a:rPr>
              <a:t>  </a:t>
            </a:r>
            <a:r>
              <a:rPr lang="zh-CN" altLang="en-US" b="1">
                <a:solidFill>
                  <a:srgbClr val="0000FF"/>
                </a:solidFill>
                <a:ea typeface="微软雅黑" panose="020B0503020204020204" charset="-122"/>
                <a:cs typeface="Times New Roman" panose="02020603050405020304" pitchFamily="18" charset="0"/>
              </a:rPr>
              <a:t>丙烯腈在阴极上氢化二聚分为三步。第一步</a:t>
            </a:r>
            <a:r>
              <a:rPr lang="en-US" altLang="zh-CN" b="1">
                <a:solidFill>
                  <a:srgbClr val="0000FF"/>
                </a:solidFill>
                <a:ea typeface="微软雅黑" panose="020B0503020204020204" charset="-122"/>
                <a:cs typeface="Times New Roman" panose="02020603050405020304" pitchFamily="18" charset="0"/>
              </a:rPr>
              <a:t>,</a:t>
            </a:r>
            <a:r>
              <a:rPr lang="zh-CN" altLang="en-US" b="1">
                <a:solidFill>
                  <a:srgbClr val="0000FF"/>
                </a:solidFill>
                <a:ea typeface="微软雅黑" panose="020B0503020204020204" charset="-122"/>
                <a:cs typeface="Times New Roman" panose="02020603050405020304" pitchFamily="18" charset="0"/>
              </a:rPr>
              <a:t>丙烯腈结合二个电子和一个氢质子</a:t>
            </a:r>
            <a:r>
              <a:rPr lang="en-US" altLang="zh-CN" b="1">
                <a:solidFill>
                  <a:srgbClr val="0000FF"/>
                </a:solidFill>
                <a:ea typeface="微软雅黑" panose="020B0503020204020204" charset="-122"/>
                <a:cs typeface="Times New Roman" panose="02020603050405020304" pitchFamily="18" charset="0"/>
              </a:rPr>
              <a:t>, </a:t>
            </a:r>
            <a:r>
              <a:rPr lang="zh-CN" altLang="en-US" b="1">
                <a:solidFill>
                  <a:srgbClr val="0000FF"/>
                </a:solidFill>
                <a:ea typeface="微软雅黑" panose="020B0503020204020204" charset="-122"/>
                <a:cs typeface="Times New Roman" panose="02020603050405020304" pitchFamily="18" charset="0"/>
              </a:rPr>
              <a:t>生成丙烯腈阴离子</a:t>
            </a:r>
            <a:r>
              <a:rPr lang="en-US" altLang="zh-CN" b="1">
                <a:solidFill>
                  <a:srgbClr val="0000FF"/>
                </a:solidFill>
                <a:ea typeface="微软雅黑" panose="020B0503020204020204" charset="-122"/>
                <a:cs typeface="Times New Roman" panose="02020603050405020304" pitchFamily="18" charset="0"/>
              </a:rPr>
              <a:t>:                 </a:t>
            </a:r>
            <a:endParaRPr lang="en-US" altLang="zh-CN">
              <a:ea typeface="微软雅黑" panose="020B0503020204020204" charset="-122"/>
              <a:cs typeface="Times New Roman" panose="02020603050405020304" pitchFamily="18" charset="0"/>
            </a:endParaRPr>
          </a:p>
        </p:txBody>
      </p:sp>
      <p:pic>
        <p:nvPicPr>
          <p:cNvPr id="52231" name="Picture 5" descr="http://jpkc.qust.edu.cn/index/qiuruchen/pages/file/kejian/hggy/2003年化学工艺课件/CH3/3-3-4.60.jpg"/>
          <p:cNvPicPr>
            <a:picLocks noChangeAspect="1" noChangeArrowheads="1"/>
          </p:cNvPicPr>
          <p:nvPr/>
        </p:nvPicPr>
        <p:blipFill>
          <a:blip r:embed="rId4" r:link="rId2">
            <a:extLst>
              <a:ext uri="{28A0092B-C50C-407E-A947-70E740481C1C}">
                <a14:useLocalDpi xmlns:a14="http://schemas.microsoft.com/office/drawing/2010/main" val="0"/>
              </a:ext>
            </a:extLst>
          </a:blip>
          <a:srcRect/>
          <a:stretch>
            <a:fillRect/>
          </a:stretch>
        </p:blipFill>
        <p:spPr bwMode="auto">
          <a:xfrm>
            <a:off x="1357313" y="1928813"/>
            <a:ext cx="6337300" cy="84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AutoShape 2"/>
          <p:cNvSpPr>
            <a:spLocks noGrp="1" noChangeArrowheads="1"/>
          </p:cNvSpPr>
          <p:nvPr>
            <p:ph type="title"/>
          </p:nvPr>
        </p:nvSpPr>
        <p:spPr>
          <a:xfrm>
            <a:off x="755650" y="260033"/>
            <a:ext cx="7924800" cy="1143000"/>
          </a:xfrm>
        </p:spPr>
        <p:txBody>
          <a:bodyPr/>
          <a:lstStyle/>
          <a:p>
            <a:pPr eaLnBrk="1" hangingPunct="1"/>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2</a:t>
            </a:r>
            <a:r>
              <a:rPr lang="zh-CN" altLang="en-US">
                <a:latin typeface="Arial" panose="020B0604020202020204" pitchFamily="34" charset="0"/>
                <a:ea typeface="微软雅黑" panose="020B0503020204020204" charset="-122"/>
              </a:rPr>
              <a:t>）己二腈电解合成的副反应</a:t>
            </a:r>
            <a:endParaRPr lang="zh-CN" altLang="en-US">
              <a:latin typeface="Arial" panose="020B0604020202020204" pitchFamily="34" charset="0"/>
              <a:ea typeface="微软雅黑" panose="020B0503020204020204" charset="-122"/>
            </a:endParaRPr>
          </a:p>
        </p:txBody>
      </p:sp>
      <p:sp>
        <p:nvSpPr>
          <p:cNvPr id="48131" name="Rectangle 3"/>
          <p:cNvSpPr>
            <a:spLocks noGrp="1" noChangeArrowheads="1"/>
          </p:cNvSpPr>
          <p:nvPr>
            <p:ph type="body" idx="1"/>
          </p:nvPr>
        </p:nvSpPr>
        <p:spPr>
          <a:xfrm>
            <a:off x="755650" y="1916113"/>
            <a:ext cx="8137525" cy="4635500"/>
          </a:xfrm>
        </p:spPr>
        <p:txBody>
          <a:bodyPr/>
          <a:lstStyle/>
          <a:p>
            <a:pPr eaLnBrk="1" hangingPunct="1">
              <a:lnSpc>
                <a:spcPct val="150000"/>
              </a:lnSpc>
              <a:buFont typeface="Wingdings" panose="05000000000000000000" pitchFamily="2" charset="2"/>
              <a:buNone/>
            </a:pPr>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1</a:t>
            </a:r>
            <a:r>
              <a:rPr lang="zh-CN" altLang="en-US">
                <a:latin typeface="Arial" panose="020B0604020202020204" pitchFamily="34" charset="0"/>
                <a:ea typeface="微软雅黑" panose="020B0503020204020204" charset="-122"/>
              </a:rPr>
              <a:t>）生成丙腈及三聚物的反应；</a:t>
            </a:r>
            <a:endParaRPr lang="zh-CN" altLang="en-US">
              <a:latin typeface="Arial" panose="020B0604020202020204" pitchFamily="34" charset="0"/>
              <a:ea typeface="微软雅黑" panose="020B0503020204020204" charset="-122"/>
            </a:endParaRPr>
          </a:p>
          <a:p>
            <a:pPr eaLnBrk="1" hangingPunct="1">
              <a:lnSpc>
                <a:spcPct val="150000"/>
              </a:lnSpc>
              <a:buFont typeface="Wingdings" panose="05000000000000000000" pitchFamily="2" charset="2"/>
              <a:buNone/>
            </a:pPr>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2</a:t>
            </a:r>
            <a:r>
              <a:rPr lang="zh-CN" altLang="en-US">
                <a:latin typeface="Arial" panose="020B0604020202020204" pitchFamily="34" charset="0"/>
                <a:ea typeface="微软雅黑" panose="020B0503020204020204" charset="-122"/>
              </a:rPr>
              <a:t>）由于阴极附近</a:t>
            </a:r>
            <a:r>
              <a:rPr lang="en-US" altLang="zh-CN">
                <a:latin typeface="Arial" panose="020B0604020202020204" pitchFamily="34" charset="0"/>
                <a:ea typeface="微软雅黑" panose="020B0503020204020204" charset="-122"/>
              </a:rPr>
              <a:t>pH</a:t>
            </a:r>
            <a:r>
              <a:rPr lang="zh-CN" altLang="en-US">
                <a:latin typeface="Arial" panose="020B0604020202020204" pitchFamily="34" charset="0"/>
                <a:ea typeface="微软雅黑" panose="020B0503020204020204" charset="-122"/>
              </a:rPr>
              <a:t>提高，生成羟基丙腈和双氰基乙基醚。</a:t>
            </a:r>
            <a:endParaRPr lang="zh-CN" altLang="en-US">
              <a:latin typeface="Arial" panose="020B0604020202020204" pitchFamily="34" charset="0"/>
              <a:ea typeface="微软雅黑" panose="020B0503020204020204" charset="-122"/>
            </a:endParaRPr>
          </a:p>
          <a:p>
            <a:pPr eaLnBrk="1" hangingPunct="1">
              <a:lnSpc>
                <a:spcPct val="150000"/>
              </a:lnSpc>
              <a:buFont typeface="Wingdings" panose="05000000000000000000" pitchFamily="2" charset="2"/>
              <a:buNone/>
            </a:pPr>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3</a:t>
            </a:r>
            <a:r>
              <a:rPr lang="zh-CN" altLang="en-US">
                <a:latin typeface="Arial" panose="020B0604020202020204" pitchFamily="34" charset="0"/>
                <a:ea typeface="微软雅黑" panose="020B0503020204020204" charset="-122"/>
              </a:rPr>
              <a:t>）由于丙烯腈还原电位很负</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1.9V)</a:t>
            </a:r>
            <a:r>
              <a:rPr lang="zh-CN" altLang="en-US">
                <a:latin typeface="Arial" panose="020B0604020202020204" pitchFamily="34" charset="0"/>
                <a:ea typeface="微软雅黑" panose="020B0503020204020204" charset="-122"/>
              </a:rPr>
              <a:t>，阴极可能发生析氢反应。</a:t>
            </a:r>
            <a:endParaRPr lang="zh-CN" altLang="en-US">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 calcmode="lin" valueType="num">
                                      <p:cBhvr additive="base">
                                        <p:cTn id="7" dur="500" fill="hold"/>
                                        <p:tgtEl>
                                          <p:spTgt spid="481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81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8131">
                                            <p:txEl>
                                              <p:pRg st="1" end="1"/>
                                            </p:txEl>
                                          </p:spTgt>
                                        </p:tgtEl>
                                        <p:attrNameLst>
                                          <p:attrName>style.visibility</p:attrName>
                                        </p:attrNameLst>
                                      </p:cBhvr>
                                      <p:to>
                                        <p:strVal val="visible"/>
                                      </p:to>
                                    </p:set>
                                    <p:anim calcmode="lin" valueType="num">
                                      <p:cBhvr additive="base">
                                        <p:cTn id="13" dur="500" fill="hold"/>
                                        <p:tgtEl>
                                          <p:spTgt spid="4813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813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8131">
                                            <p:txEl>
                                              <p:pRg st="2" end="2"/>
                                            </p:txEl>
                                          </p:spTgt>
                                        </p:tgtEl>
                                        <p:attrNameLst>
                                          <p:attrName>style.visibility</p:attrName>
                                        </p:attrNameLst>
                                      </p:cBhvr>
                                      <p:to>
                                        <p:strVal val="visible"/>
                                      </p:to>
                                    </p:set>
                                    <p:anim calcmode="lin" valueType="num">
                                      <p:cBhvr additive="base">
                                        <p:cTn id="19" dur="500" fill="hold"/>
                                        <p:tgtEl>
                                          <p:spTgt spid="4813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813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noChangeArrowheads="1"/>
          </p:cNvSpPr>
          <p:nvPr>
            <p:ph type="body" idx="1"/>
          </p:nvPr>
        </p:nvSpPr>
        <p:spPr/>
        <p:txBody>
          <a:bodyPr/>
          <a:lstStyle/>
          <a:p>
            <a:pPr eaLnBrk="1" hangingPunct="1">
              <a:lnSpc>
                <a:spcPct val="150000"/>
              </a:lnSpc>
              <a:buFont typeface="Wingdings" panose="05000000000000000000" pitchFamily="2" charset="2"/>
              <a:buNone/>
            </a:pPr>
            <a:r>
              <a:rPr lang="en-US" altLang="zh-CN">
                <a:latin typeface="Arial" panose="020B0604020202020204" pitchFamily="34" charset="0"/>
                <a:ea typeface="微软雅黑" panose="020B0503020204020204" charset="-122"/>
              </a:rPr>
              <a:t>         </a:t>
            </a:r>
            <a:r>
              <a:rPr lang="zh-CN" altLang="en-US">
                <a:latin typeface="Arial" panose="020B0604020202020204" pitchFamily="34" charset="0"/>
                <a:ea typeface="微软雅黑" panose="020B0503020204020204" charset="-122"/>
              </a:rPr>
              <a:t>为提高产率，</a:t>
            </a:r>
            <a:r>
              <a:rPr lang="en-US" altLang="zh-CN">
                <a:latin typeface="Arial" panose="020B0604020202020204" pitchFamily="34" charset="0"/>
                <a:ea typeface="微软雅黑" panose="020B0503020204020204" charset="-122"/>
              </a:rPr>
              <a:t>Baizer</a:t>
            </a:r>
            <a:r>
              <a:rPr lang="zh-CN" altLang="en-US">
                <a:latin typeface="Arial" panose="020B0604020202020204" pitchFamily="34" charset="0"/>
                <a:ea typeface="微软雅黑" panose="020B0503020204020204" charset="-122"/>
              </a:rPr>
              <a:t>提出用</a:t>
            </a:r>
            <a:r>
              <a:rPr lang="zh-CN" altLang="en-US" b="1">
                <a:latin typeface="Arial" panose="020B0604020202020204" pitchFamily="34" charset="0"/>
                <a:ea typeface="微软雅黑" panose="020B0503020204020204" charset="-122"/>
              </a:rPr>
              <a:t>季胺盐</a:t>
            </a:r>
            <a:r>
              <a:rPr lang="zh-CN" altLang="en-US">
                <a:latin typeface="Arial" panose="020B0604020202020204" pitchFamily="34" charset="0"/>
                <a:ea typeface="微软雅黑" panose="020B0503020204020204" charset="-122"/>
              </a:rPr>
              <a:t>作为电解质，其阳离子可在阴极表面吸附，形成缺水层，可避免丙烯腈游离基阴离子的直接质子化，抑制其生成丙腈的副反应。同时它还能有效提高丙稀腈在含水介质中的溶解度。</a:t>
            </a:r>
            <a:endParaRPr lang="zh-CN" altLang="en-US">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anim calcmode="lin" valueType="num">
                                      <p:cBhvr>
                                        <p:cTn id="7" dur="500" fill="hold"/>
                                        <p:tgtEl>
                                          <p:spTgt spid="4915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9155">
                                            <p:txEl>
                                              <p:pRg st="0" end="0"/>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AutoShape 2"/>
          <p:cNvSpPr>
            <a:spLocks noGrp="1" noChangeArrowheads="1"/>
          </p:cNvSpPr>
          <p:nvPr>
            <p:ph type="title"/>
          </p:nvPr>
        </p:nvSpPr>
        <p:spPr/>
        <p:txBody>
          <a:bodyPr/>
          <a:lstStyle/>
          <a:p>
            <a:pPr eaLnBrk="1" hangingPunct="1"/>
            <a:r>
              <a:rPr lang="zh-CN" altLang="en-US" sz="2800">
                <a:latin typeface="Arial" panose="020B0604020202020204" pitchFamily="34" charset="0"/>
                <a:ea typeface="微软雅黑" panose="020B0503020204020204" charset="-122"/>
              </a:rPr>
              <a:t>早期的蒙山都电合成己二腈过程</a:t>
            </a:r>
            <a:endParaRPr lang="zh-CN" altLang="en-US" sz="2800">
              <a:latin typeface="Arial" panose="020B0604020202020204" pitchFamily="34" charset="0"/>
              <a:ea typeface="微软雅黑" panose="020B0503020204020204" charset="-122"/>
            </a:endParaRPr>
          </a:p>
        </p:txBody>
      </p:sp>
      <p:pic>
        <p:nvPicPr>
          <p:cNvPr id="55299"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47813" y="1844675"/>
            <a:ext cx="6337300" cy="496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AutoShape 2"/>
          <p:cNvSpPr>
            <a:spLocks noGrp="1" noChangeArrowheads="1"/>
          </p:cNvSpPr>
          <p:nvPr>
            <p:ph type="title"/>
          </p:nvPr>
        </p:nvSpPr>
        <p:spPr>
          <a:xfrm>
            <a:off x="755650" y="331788"/>
            <a:ext cx="7924800" cy="1143000"/>
          </a:xfrm>
        </p:spPr>
        <p:txBody>
          <a:bodyPr/>
          <a:lstStyle/>
          <a:p>
            <a:pPr eaLnBrk="1" hangingPunct="1"/>
            <a:r>
              <a:rPr lang="zh-CN" altLang="en-US">
                <a:latin typeface="Arial" panose="020B0604020202020204" pitchFamily="34" charset="0"/>
                <a:ea typeface="微软雅黑" panose="020B0503020204020204" charset="-122"/>
              </a:rPr>
              <a:t>早期合成己二腈的特点：</a:t>
            </a:r>
            <a:endParaRPr lang="zh-CN" altLang="en-US">
              <a:latin typeface="Arial" panose="020B0604020202020204" pitchFamily="34" charset="0"/>
              <a:ea typeface="微软雅黑" panose="020B0503020204020204" charset="-122"/>
            </a:endParaRPr>
          </a:p>
        </p:txBody>
      </p:sp>
      <p:sp>
        <p:nvSpPr>
          <p:cNvPr id="51203" name="Rectangle 3"/>
          <p:cNvSpPr>
            <a:spLocks noGrp="1" noChangeArrowheads="1"/>
          </p:cNvSpPr>
          <p:nvPr>
            <p:ph type="body" idx="1"/>
          </p:nvPr>
        </p:nvSpPr>
        <p:spPr>
          <a:xfrm>
            <a:off x="539750" y="1844675"/>
            <a:ext cx="8604250" cy="5013325"/>
          </a:xfrm>
        </p:spPr>
        <p:txBody>
          <a:bodyPr/>
          <a:lstStyle/>
          <a:p>
            <a:pPr eaLnBrk="1" hangingPunct="1">
              <a:lnSpc>
                <a:spcPct val="120000"/>
              </a:lnSpc>
              <a:buFont typeface="Wingdings" panose="05000000000000000000" pitchFamily="2" charset="2"/>
              <a:buNone/>
            </a:pPr>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1</a:t>
            </a:r>
            <a:r>
              <a:rPr lang="zh-CN" altLang="en-US">
                <a:latin typeface="Arial" panose="020B0604020202020204" pitchFamily="34" charset="0"/>
                <a:ea typeface="微软雅黑" panose="020B0503020204020204" charset="-122"/>
              </a:rPr>
              <a:t>）阴极液含有高浓度的丙稀腈和季胺盐，而阳极液则为</a:t>
            </a:r>
            <a:r>
              <a:rPr lang="en-US" altLang="zh-CN">
                <a:latin typeface="Arial" panose="020B0604020202020204" pitchFamily="34" charset="0"/>
                <a:ea typeface="微软雅黑" panose="020B0503020204020204" charset="-122"/>
              </a:rPr>
              <a:t>5</a:t>
            </a:r>
            <a:r>
              <a:rPr lang="zh-CN" altLang="en-US">
                <a:latin typeface="Arial" panose="020B0604020202020204" pitchFamily="34" charset="0"/>
                <a:ea typeface="微软雅黑" panose="020B0503020204020204" charset="-122"/>
              </a:rPr>
              <a:t>％的硫酸；</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2</a:t>
            </a:r>
            <a:r>
              <a:rPr lang="zh-CN" altLang="en-US">
                <a:latin typeface="Arial" panose="020B0604020202020204" pitchFamily="34" charset="0"/>
                <a:ea typeface="微软雅黑" panose="020B0503020204020204" charset="-122"/>
              </a:rPr>
              <a:t>）为防止阴极区物质进入阳极液中，采用阳离子交换膜作为隔膜；</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3</a:t>
            </a:r>
            <a:r>
              <a:rPr lang="zh-CN" altLang="en-US">
                <a:latin typeface="Arial" panose="020B0604020202020204" pitchFamily="34" charset="0"/>
                <a:ea typeface="微软雅黑" panose="020B0503020204020204" charset="-122"/>
              </a:rPr>
              <a:t>）采用析氢过电位高的阴极材料，防止析氢；</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4</a:t>
            </a:r>
            <a:r>
              <a:rPr lang="zh-CN" altLang="en-US">
                <a:latin typeface="Arial" panose="020B0604020202020204" pitchFamily="34" charset="0"/>
                <a:ea typeface="微软雅黑" panose="020B0503020204020204" charset="-122"/>
              </a:rPr>
              <a:t>）阳极采用</a:t>
            </a:r>
            <a:r>
              <a:rPr lang="en-US" altLang="zh-CN">
                <a:latin typeface="Arial" panose="020B0604020202020204" pitchFamily="34" charset="0"/>
                <a:ea typeface="微软雅黑" panose="020B0503020204020204" charset="-122"/>
              </a:rPr>
              <a:t>Pb</a:t>
            </a:r>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Ag</a:t>
            </a:r>
            <a:r>
              <a:rPr lang="zh-CN" altLang="en-US">
                <a:latin typeface="Arial" panose="020B0604020202020204" pitchFamily="34" charset="0"/>
                <a:ea typeface="微软雅黑" panose="020B0503020204020204" charset="-122"/>
              </a:rPr>
              <a:t>合金，可降低析氧的过电位，且提高电极的抗蚀性；</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5</a:t>
            </a:r>
            <a:r>
              <a:rPr lang="zh-CN" altLang="en-US">
                <a:latin typeface="Arial" panose="020B0604020202020204" pitchFamily="34" charset="0"/>
                <a:ea typeface="微软雅黑" panose="020B0503020204020204" charset="-122"/>
              </a:rPr>
              <a:t>）为避免阴极副反应的发生，需将</a:t>
            </a:r>
            <a:r>
              <a:rPr lang="en-US" altLang="zh-CN">
                <a:latin typeface="Arial" panose="020B0604020202020204" pitchFamily="34" charset="0"/>
                <a:ea typeface="微软雅黑" panose="020B0503020204020204" charset="-122"/>
              </a:rPr>
              <a:t>OH</a:t>
            </a:r>
            <a:r>
              <a:rPr lang="en-US" altLang="zh-CN" baseline="30000">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尽快移出阴极区。</a:t>
            </a:r>
            <a:endParaRPr lang="zh-CN" altLang="en-US">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anim calcmode="lin" valueType="num">
                                      <p:cBhvr additive="base">
                                        <p:cTn id="7" dur="500" fill="hold"/>
                                        <p:tgtEl>
                                          <p:spTgt spid="512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203">
                                            <p:txEl>
                                              <p:pRg st="1" end="1"/>
                                            </p:txEl>
                                          </p:spTgt>
                                        </p:tgtEl>
                                        <p:attrNameLst>
                                          <p:attrName>style.visibility</p:attrName>
                                        </p:attrNameLst>
                                      </p:cBhvr>
                                      <p:to>
                                        <p:strVal val="visible"/>
                                      </p:to>
                                    </p:set>
                                    <p:anim calcmode="lin" valueType="num">
                                      <p:cBhvr additive="base">
                                        <p:cTn id="13" dur="500" fill="hold"/>
                                        <p:tgtEl>
                                          <p:spTgt spid="5120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20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1203">
                                            <p:txEl>
                                              <p:pRg st="2" end="2"/>
                                            </p:txEl>
                                          </p:spTgt>
                                        </p:tgtEl>
                                        <p:attrNameLst>
                                          <p:attrName>style.visibility</p:attrName>
                                        </p:attrNameLst>
                                      </p:cBhvr>
                                      <p:to>
                                        <p:strVal val="visible"/>
                                      </p:to>
                                    </p:set>
                                    <p:anim calcmode="lin" valueType="num">
                                      <p:cBhvr additive="base">
                                        <p:cTn id="19" dur="500" fill="hold"/>
                                        <p:tgtEl>
                                          <p:spTgt spid="5120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120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1203">
                                            <p:txEl>
                                              <p:pRg st="3" end="3"/>
                                            </p:txEl>
                                          </p:spTgt>
                                        </p:tgtEl>
                                        <p:attrNameLst>
                                          <p:attrName>style.visibility</p:attrName>
                                        </p:attrNameLst>
                                      </p:cBhvr>
                                      <p:to>
                                        <p:strVal val="visible"/>
                                      </p:to>
                                    </p:set>
                                    <p:anim calcmode="lin" valueType="num">
                                      <p:cBhvr additive="base">
                                        <p:cTn id="25" dur="500" fill="hold"/>
                                        <p:tgtEl>
                                          <p:spTgt spid="5120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120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1203">
                                            <p:txEl>
                                              <p:pRg st="4" end="4"/>
                                            </p:txEl>
                                          </p:spTgt>
                                        </p:tgtEl>
                                        <p:attrNameLst>
                                          <p:attrName>style.visibility</p:attrName>
                                        </p:attrNameLst>
                                      </p:cBhvr>
                                      <p:to>
                                        <p:strVal val="visible"/>
                                      </p:to>
                                    </p:set>
                                    <p:anim calcmode="lin" valueType="num">
                                      <p:cBhvr additive="base">
                                        <p:cTn id="31" dur="500" fill="hold"/>
                                        <p:tgtEl>
                                          <p:spTgt spid="5120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120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AutoShape 2"/>
          <p:cNvSpPr>
            <a:spLocks noGrp="1" noChangeArrowheads="1"/>
          </p:cNvSpPr>
          <p:nvPr>
            <p:ph type="title"/>
          </p:nvPr>
        </p:nvSpPr>
        <p:spPr>
          <a:xfrm>
            <a:off x="3276600" y="0"/>
            <a:ext cx="5545138" cy="711200"/>
          </a:xfrm>
        </p:spPr>
        <p:txBody>
          <a:bodyPr/>
          <a:lstStyle/>
          <a:p>
            <a:pPr eaLnBrk="1" hangingPunct="1"/>
            <a:r>
              <a:rPr lang="zh-CN" altLang="en-US" sz="2800">
                <a:latin typeface="Arial" panose="020B0604020202020204" pitchFamily="34" charset="0"/>
                <a:ea typeface="微软雅黑" panose="020B0503020204020204" charset="-122"/>
              </a:rPr>
              <a:t>蒙山都法合成己二腈的工艺流程</a:t>
            </a:r>
            <a:endParaRPr lang="zh-CN" altLang="en-US" sz="2800">
              <a:latin typeface="Arial" panose="020B0604020202020204" pitchFamily="34" charset="0"/>
              <a:ea typeface="微软雅黑" panose="020B0503020204020204" charset="-122"/>
            </a:endParaRPr>
          </a:p>
        </p:txBody>
      </p:sp>
      <p:pic>
        <p:nvPicPr>
          <p:cNvPr id="57347"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5650" y="725488"/>
            <a:ext cx="7993063" cy="4719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8"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5661025"/>
            <a:ext cx="7875588"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AutoShape 2"/>
          <p:cNvSpPr>
            <a:spLocks noGrp="1" noChangeArrowheads="1"/>
          </p:cNvSpPr>
          <p:nvPr>
            <p:ph type="title"/>
          </p:nvPr>
        </p:nvSpPr>
        <p:spPr/>
        <p:txBody>
          <a:bodyPr/>
          <a:lstStyle/>
          <a:p>
            <a:pPr eaLnBrk="1" hangingPunct="1"/>
            <a:r>
              <a:rPr lang="zh-CN" altLang="en-US">
                <a:latin typeface="Arial" panose="020B0604020202020204" pitchFamily="34" charset="0"/>
                <a:ea typeface="微软雅黑" panose="020B0503020204020204" charset="-122"/>
              </a:rPr>
              <a:t>该生产工艺的缺点：</a:t>
            </a:r>
            <a:endParaRPr lang="zh-CN" altLang="en-US">
              <a:latin typeface="Arial" panose="020B0604020202020204" pitchFamily="34" charset="0"/>
              <a:ea typeface="微软雅黑" panose="020B0503020204020204" charset="-122"/>
            </a:endParaRPr>
          </a:p>
        </p:txBody>
      </p:sp>
      <p:sp>
        <p:nvSpPr>
          <p:cNvPr id="53251" name="Rectangle 3"/>
          <p:cNvSpPr>
            <a:spLocks noGrp="1" noChangeArrowheads="1"/>
          </p:cNvSpPr>
          <p:nvPr>
            <p:ph type="body" idx="1"/>
          </p:nvPr>
        </p:nvSpPr>
        <p:spPr>
          <a:xfrm>
            <a:off x="539750" y="1844675"/>
            <a:ext cx="8353425" cy="4752975"/>
          </a:xfrm>
        </p:spPr>
        <p:txBody>
          <a:bodyPr/>
          <a:lstStyle/>
          <a:p>
            <a:pPr eaLnBrk="1" hangingPunct="1">
              <a:lnSpc>
                <a:spcPct val="130000"/>
              </a:lnSpc>
              <a:buFont typeface="Wingdings" panose="05000000000000000000" pitchFamily="2" charset="2"/>
              <a:buNone/>
            </a:pPr>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1</a:t>
            </a:r>
            <a:r>
              <a:rPr lang="zh-CN" altLang="en-US">
                <a:latin typeface="Arial" panose="020B0604020202020204" pitchFamily="34" charset="0"/>
                <a:ea typeface="微软雅黑" panose="020B0503020204020204" charset="-122"/>
              </a:rPr>
              <a:t>）能耗高。因采用隔膜和阴极液的电导率低导致能耗高。研究表明：槽压中</a:t>
            </a:r>
            <a:r>
              <a:rPr lang="en-US" altLang="zh-CN">
                <a:latin typeface="Arial" panose="020B0604020202020204" pitchFamily="34" charset="0"/>
                <a:ea typeface="微软雅黑" panose="020B0503020204020204" charset="-122"/>
              </a:rPr>
              <a:t>70</a:t>
            </a:r>
            <a:r>
              <a:rPr lang="zh-CN" altLang="en-US">
                <a:latin typeface="Arial" panose="020B0604020202020204" pitchFamily="34" charset="0"/>
                <a:ea typeface="微软雅黑" panose="020B0503020204020204" charset="-122"/>
              </a:rPr>
              <a:t>％是这两部分压降构成。</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r>
              <a:rPr lang="zh-CN" altLang="en-US">
                <a:latin typeface="Arial" panose="020B0604020202020204" pitchFamily="34" charset="0"/>
                <a:ea typeface="微软雅黑" panose="020B0503020204020204" charset="-122"/>
              </a:rPr>
              <a:t> （</a:t>
            </a:r>
            <a:r>
              <a:rPr lang="en-US" altLang="zh-CN">
                <a:latin typeface="Arial" panose="020B0604020202020204" pitchFamily="34" charset="0"/>
                <a:ea typeface="微软雅黑" panose="020B0503020204020204" charset="-122"/>
              </a:rPr>
              <a:t>2</a:t>
            </a:r>
            <a:r>
              <a:rPr lang="zh-CN" altLang="en-US">
                <a:latin typeface="Arial" panose="020B0604020202020204" pitchFamily="34" charset="0"/>
                <a:ea typeface="微软雅黑" panose="020B0503020204020204" charset="-122"/>
              </a:rPr>
              <a:t>）大量采用季胺盐，成本高，回收麻烦。</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r>
              <a:rPr lang="zh-CN" altLang="en-US">
                <a:latin typeface="Arial" panose="020B0604020202020204" pitchFamily="34" charset="0"/>
                <a:ea typeface="微软雅黑" panose="020B0503020204020204" charset="-122"/>
              </a:rPr>
              <a:t> （</a:t>
            </a:r>
            <a:r>
              <a:rPr lang="en-US" altLang="zh-CN">
                <a:latin typeface="Arial" panose="020B0604020202020204" pitchFamily="34" charset="0"/>
                <a:ea typeface="微软雅黑" panose="020B0503020204020204" charset="-122"/>
              </a:rPr>
              <a:t>3</a:t>
            </a:r>
            <a:r>
              <a:rPr lang="zh-CN" altLang="en-US">
                <a:latin typeface="Arial" panose="020B0604020202020204" pitchFamily="34" charset="0"/>
                <a:ea typeface="微软雅黑" panose="020B0503020204020204" charset="-122"/>
              </a:rPr>
              <a:t>）电槽结构复杂，并需定时更换隔膜。</a:t>
            </a:r>
            <a:endParaRPr lang="zh-CN" altLang="en-US">
              <a:latin typeface="Arial" panose="020B0604020202020204" pitchFamily="34" charset="0"/>
              <a:ea typeface="微软雅黑" panose="020B0503020204020204" charset="-122"/>
            </a:endParaRPr>
          </a:p>
          <a:p>
            <a:pPr eaLnBrk="1" hangingPunct="1">
              <a:lnSpc>
                <a:spcPct val="90000"/>
              </a:lnSpc>
              <a:buFont typeface="Wingdings" panose="05000000000000000000" pitchFamily="2" charset="2"/>
              <a:buNone/>
            </a:pPr>
            <a:r>
              <a:rPr lang="zh-CN" altLang="en-US">
                <a:latin typeface="Arial" panose="020B0604020202020204" pitchFamily="34" charset="0"/>
                <a:ea typeface="微软雅黑" panose="020B0503020204020204" charset="-122"/>
              </a:rPr>
              <a:t>          </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a:latin typeface="Arial" panose="020B0604020202020204" pitchFamily="34" charset="0"/>
                <a:ea typeface="微软雅黑" panose="020B0503020204020204" charset="-122"/>
              </a:rPr>
              <a:t>        第二代电解槽及生产工艺的开发，使工艺大为改进，并降低了投资和能耗。</a:t>
            </a:r>
            <a:endParaRPr lang="zh-CN" altLang="en-US">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anim calcmode="lin" valueType="num">
                                      <p:cBhvr additive="base">
                                        <p:cTn id="7" dur="500" fill="hold"/>
                                        <p:tgtEl>
                                          <p:spTgt spid="532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32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3251">
                                            <p:txEl>
                                              <p:pRg st="1" end="1"/>
                                            </p:txEl>
                                          </p:spTgt>
                                        </p:tgtEl>
                                        <p:attrNameLst>
                                          <p:attrName>style.visibility</p:attrName>
                                        </p:attrNameLst>
                                      </p:cBhvr>
                                      <p:to>
                                        <p:strVal val="visible"/>
                                      </p:to>
                                    </p:set>
                                    <p:anim calcmode="lin" valueType="num">
                                      <p:cBhvr additive="base">
                                        <p:cTn id="13" dur="500" fill="hold"/>
                                        <p:tgtEl>
                                          <p:spTgt spid="5325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32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3251">
                                            <p:txEl>
                                              <p:pRg st="2" end="2"/>
                                            </p:txEl>
                                          </p:spTgt>
                                        </p:tgtEl>
                                        <p:attrNameLst>
                                          <p:attrName>style.visibility</p:attrName>
                                        </p:attrNameLst>
                                      </p:cBhvr>
                                      <p:to>
                                        <p:strVal val="visible"/>
                                      </p:to>
                                    </p:set>
                                    <p:anim calcmode="lin" valueType="num">
                                      <p:cBhvr additive="base">
                                        <p:cTn id="19" dur="500" fill="hold"/>
                                        <p:tgtEl>
                                          <p:spTgt spid="5325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325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3251">
                                            <p:txEl>
                                              <p:pRg st="3" end="3"/>
                                            </p:txEl>
                                          </p:spTgt>
                                        </p:tgtEl>
                                        <p:attrNameLst>
                                          <p:attrName>style.visibility</p:attrName>
                                        </p:attrNameLst>
                                      </p:cBhvr>
                                      <p:to>
                                        <p:strVal val="visible"/>
                                      </p:to>
                                    </p:set>
                                    <p:anim calcmode="lin" valueType="num">
                                      <p:cBhvr additive="base">
                                        <p:cTn id="25" dur="500" fill="hold"/>
                                        <p:tgtEl>
                                          <p:spTgt spid="5325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325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3251">
                                            <p:txEl>
                                              <p:pRg st="4" end="4"/>
                                            </p:txEl>
                                          </p:spTgt>
                                        </p:tgtEl>
                                        <p:attrNameLst>
                                          <p:attrName>style.visibility</p:attrName>
                                        </p:attrNameLst>
                                      </p:cBhvr>
                                      <p:to>
                                        <p:strVal val="visible"/>
                                      </p:to>
                                    </p:set>
                                    <p:anim calcmode="lin" valueType="num">
                                      <p:cBhvr additive="base">
                                        <p:cTn id="31" dur="500" fill="hold"/>
                                        <p:tgtEl>
                                          <p:spTgt spid="5325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325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AutoShape 2"/>
          <p:cNvSpPr>
            <a:spLocks noGrp="1" noChangeArrowheads="1"/>
          </p:cNvSpPr>
          <p:nvPr>
            <p:ph type="title"/>
          </p:nvPr>
        </p:nvSpPr>
        <p:spPr/>
        <p:txBody>
          <a:bodyPr/>
          <a:lstStyle/>
          <a:p>
            <a:pPr eaLnBrk="1" hangingPunct="1"/>
            <a:r>
              <a:rPr lang="zh-CN" altLang="en-US">
                <a:latin typeface="Arial" panose="020B0604020202020204" pitchFamily="34" charset="0"/>
                <a:ea typeface="微软雅黑" panose="020B0503020204020204" charset="-122"/>
              </a:rPr>
              <a:t>第二代电解槽：</a:t>
            </a:r>
            <a:endParaRPr lang="zh-CN" altLang="en-US">
              <a:latin typeface="Arial" panose="020B0604020202020204" pitchFamily="34" charset="0"/>
              <a:ea typeface="微软雅黑" panose="020B0503020204020204" charset="-122"/>
            </a:endParaRPr>
          </a:p>
        </p:txBody>
      </p:sp>
      <p:sp>
        <p:nvSpPr>
          <p:cNvPr id="55299" name="Rectangle 3"/>
          <p:cNvSpPr>
            <a:spLocks noGrp="1" noChangeArrowheads="1"/>
          </p:cNvSpPr>
          <p:nvPr>
            <p:ph type="body" idx="1"/>
          </p:nvPr>
        </p:nvSpPr>
        <p:spPr>
          <a:xfrm>
            <a:off x="755650" y="2060575"/>
            <a:ext cx="8137525" cy="4635500"/>
          </a:xfrm>
        </p:spPr>
        <p:txBody>
          <a:bodyPr/>
          <a:lstStyle/>
          <a:p>
            <a:pPr eaLnBrk="1" hangingPunct="1">
              <a:lnSpc>
                <a:spcPct val="120000"/>
              </a:lnSpc>
              <a:buFont typeface="Wingdings" panose="05000000000000000000" pitchFamily="2" charset="2"/>
              <a:buNone/>
            </a:pPr>
            <a:r>
              <a:rPr lang="zh-CN" altLang="en-US" b="1">
                <a:latin typeface="Arial" panose="020B0604020202020204" pitchFamily="34" charset="0"/>
                <a:ea typeface="微软雅黑" panose="020B0503020204020204" charset="-122"/>
              </a:rPr>
              <a:t>电解介质</a:t>
            </a:r>
            <a:r>
              <a:rPr lang="zh-CN" altLang="en-US">
                <a:latin typeface="Arial" panose="020B0604020202020204" pitchFamily="34" charset="0"/>
                <a:ea typeface="微软雅黑" panose="020B0503020204020204" charset="-122"/>
              </a:rPr>
              <a:t>：丙烯腈和含</a:t>
            </a:r>
            <a:r>
              <a:rPr lang="en-US" altLang="zh-CN">
                <a:latin typeface="Arial" panose="020B0604020202020204" pitchFamily="34" charset="0"/>
                <a:ea typeface="微软雅黑" panose="020B0503020204020204" charset="-122"/>
              </a:rPr>
              <a:t>10</a:t>
            </a:r>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~15</a:t>
            </a:r>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Na</a:t>
            </a:r>
            <a:r>
              <a:rPr lang="en-US" altLang="zh-CN" baseline="-25000">
                <a:latin typeface="Arial" panose="020B0604020202020204" pitchFamily="34" charset="0"/>
                <a:ea typeface="微软雅黑" panose="020B0503020204020204" charset="-122"/>
              </a:rPr>
              <a:t>2</a:t>
            </a:r>
            <a:r>
              <a:rPr lang="en-US" altLang="zh-CN">
                <a:latin typeface="Arial" panose="020B0604020202020204" pitchFamily="34" charset="0"/>
                <a:ea typeface="微软雅黑" panose="020B0503020204020204" charset="-122"/>
              </a:rPr>
              <a:t>HPO</a:t>
            </a:r>
            <a:r>
              <a:rPr lang="en-US" altLang="zh-CN" baseline="-25000">
                <a:latin typeface="Arial" panose="020B0604020202020204" pitchFamily="34" charset="0"/>
                <a:ea typeface="微软雅黑" panose="020B0503020204020204" charset="-122"/>
              </a:rPr>
              <a:t>4</a:t>
            </a:r>
            <a:r>
              <a:rPr lang="zh-CN" altLang="en-US">
                <a:latin typeface="Arial" panose="020B0604020202020204" pitchFamily="34" charset="0"/>
                <a:ea typeface="微软雅黑" panose="020B0503020204020204" charset="-122"/>
              </a:rPr>
              <a:t>支持电解质的水溶液组成的乳浊液。水溶液中仅含</a:t>
            </a:r>
            <a:r>
              <a:rPr lang="en-US" altLang="zh-CN">
                <a:latin typeface="Arial" panose="020B0604020202020204" pitchFamily="34" charset="0"/>
                <a:ea typeface="微软雅黑" panose="020B0503020204020204" charset="-122"/>
              </a:rPr>
              <a:t>0.4</a:t>
            </a:r>
            <a:r>
              <a:rPr lang="zh-CN" altLang="en-US">
                <a:latin typeface="Arial" panose="020B0604020202020204" pitchFamily="34" charset="0"/>
                <a:ea typeface="微软雅黑" panose="020B0503020204020204" charset="-122"/>
              </a:rPr>
              <a:t>％的季胺盐，而丙烯腈在水溶液中却达到饱和（</a:t>
            </a:r>
            <a:r>
              <a:rPr lang="en-US" altLang="zh-CN">
                <a:latin typeface="Arial" panose="020B0604020202020204" pitchFamily="34" charset="0"/>
                <a:ea typeface="微软雅黑" panose="020B0503020204020204" charset="-122"/>
              </a:rPr>
              <a:t>7</a:t>
            </a:r>
            <a:r>
              <a:rPr lang="zh-CN" altLang="en-US">
                <a:latin typeface="Arial" panose="020B0604020202020204" pitchFamily="34" charset="0"/>
                <a:ea typeface="微软雅黑" panose="020B0503020204020204" charset="-122"/>
              </a:rPr>
              <a:t>％），季胺盐采用磷酸六亚甲基双乙基二丁基铵后，产物收率提高，同时较易用水萃取，便于与有机相分离。</a:t>
            </a:r>
            <a:endParaRPr lang="zh-CN" altLang="en-US">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anim calcmode="lin" valueType="num">
                                      <p:cBhvr>
                                        <p:cTn id="7" dur="500" fill="hold"/>
                                        <p:tgtEl>
                                          <p:spTgt spid="5529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5299">
                                            <p:txEl>
                                              <p:pRg st="0" end="0"/>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p:cNvSpPr>
            <a:spLocks noGrp="1" noChangeArrowheads="1"/>
          </p:cNvSpPr>
          <p:nvPr>
            <p:ph type="body" idx="1"/>
          </p:nvPr>
        </p:nvSpPr>
        <p:spPr>
          <a:xfrm>
            <a:off x="755650" y="2060575"/>
            <a:ext cx="8388350" cy="4635500"/>
          </a:xfrm>
        </p:spPr>
        <p:txBody>
          <a:bodyPr/>
          <a:lstStyle/>
          <a:p>
            <a:pPr eaLnBrk="1" hangingPunct="1">
              <a:lnSpc>
                <a:spcPct val="120000"/>
              </a:lnSpc>
              <a:buFont typeface="Wingdings" panose="05000000000000000000" pitchFamily="2" charset="2"/>
              <a:buNone/>
            </a:pPr>
            <a:r>
              <a:rPr lang="zh-CN" altLang="en-US" b="1">
                <a:latin typeface="Arial" panose="020B0604020202020204" pitchFamily="34" charset="0"/>
                <a:ea typeface="微软雅黑" panose="020B0503020204020204" charset="-122"/>
              </a:rPr>
              <a:t>阳极材料：</a:t>
            </a:r>
            <a:endParaRPr lang="zh-CN" altLang="en-US" b="1">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a:latin typeface="Arial" panose="020B0604020202020204" pitchFamily="34" charset="0"/>
                <a:ea typeface="微软雅黑" panose="020B0503020204020204" charset="-122"/>
              </a:rPr>
              <a:t>①一般的</a:t>
            </a:r>
            <a:r>
              <a:rPr lang="en-US" altLang="zh-CN">
                <a:latin typeface="Arial" panose="020B0604020202020204" pitchFamily="34" charset="0"/>
                <a:ea typeface="微软雅黑" panose="020B0503020204020204" charset="-122"/>
              </a:rPr>
              <a:t>PbO</a:t>
            </a:r>
            <a:r>
              <a:rPr lang="en-US" altLang="zh-CN" baseline="-25000">
                <a:latin typeface="Arial" panose="020B0604020202020204" pitchFamily="34" charset="0"/>
                <a:ea typeface="微软雅黑" panose="020B0503020204020204" charset="-122"/>
              </a:rPr>
              <a:t>2</a:t>
            </a:r>
            <a:r>
              <a:rPr lang="zh-CN" altLang="en-US">
                <a:latin typeface="Arial" panose="020B0604020202020204" pitchFamily="34" charset="0"/>
                <a:ea typeface="微软雅黑" panose="020B0503020204020204" charset="-122"/>
              </a:rPr>
              <a:t>阳极会使丙烯腈降解；</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a:latin typeface="Arial" panose="020B0604020202020204" pitchFamily="34" charset="0"/>
                <a:ea typeface="微软雅黑" panose="020B0503020204020204" charset="-122"/>
              </a:rPr>
              <a:t>②贵金属和过渡金属不耐蚀，所溶解的金属离子还会促进阴极析氢反应，降低电流效率；</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a:latin typeface="Arial" panose="020B0604020202020204" pitchFamily="34" charset="0"/>
                <a:ea typeface="微软雅黑" panose="020B0503020204020204" charset="-122"/>
              </a:rPr>
              <a:t>③蒙山都公司采用碳钢阳极，同时在溶液中加入</a:t>
            </a:r>
            <a:r>
              <a:rPr lang="en-US" altLang="zh-CN">
                <a:latin typeface="Arial" panose="020B0604020202020204" pitchFamily="34" charset="0"/>
                <a:ea typeface="微软雅黑" panose="020B0503020204020204" charset="-122"/>
              </a:rPr>
              <a:t>2</a:t>
            </a:r>
            <a:r>
              <a:rPr lang="zh-CN" altLang="en-US">
                <a:latin typeface="Arial" panose="020B0604020202020204" pitchFamily="34" charset="0"/>
                <a:ea typeface="微软雅黑" panose="020B0503020204020204" charset="-122"/>
              </a:rPr>
              <a:t>％的硼砂和</a:t>
            </a:r>
            <a:r>
              <a:rPr lang="en-US" altLang="zh-CN">
                <a:latin typeface="Arial" panose="020B0604020202020204" pitchFamily="34" charset="0"/>
                <a:ea typeface="微软雅黑" panose="020B0503020204020204" charset="-122"/>
              </a:rPr>
              <a:t>0.5</a:t>
            </a:r>
            <a:r>
              <a:rPr lang="zh-CN" altLang="en-US">
                <a:latin typeface="Arial" panose="020B0604020202020204" pitchFamily="34" charset="0"/>
                <a:ea typeface="微软雅黑" panose="020B0503020204020204" charset="-122"/>
              </a:rPr>
              <a:t>％的</a:t>
            </a:r>
            <a:r>
              <a:rPr lang="en-US" altLang="zh-CN">
                <a:latin typeface="Arial" panose="020B0604020202020204" pitchFamily="34" charset="0"/>
                <a:ea typeface="微软雅黑" panose="020B0503020204020204" charset="-122"/>
              </a:rPr>
              <a:t>EDTA</a:t>
            </a:r>
            <a:r>
              <a:rPr lang="zh-CN" altLang="en-US">
                <a:latin typeface="Arial" panose="020B0604020202020204" pitchFamily="34" charset="0"/>
                <a:ea typeface="微软雅黑" panose="020B0503020204020204" charset="-122"/>
              </a:rPr>
              <a:t>，使阳极腐蚀降低了</a:t>
            </a:r>
            <a:r>
              <a:rPr lang="en-US" altLang="zh-CN">
                <a:latin typeface="Arial" panose="020B0604020202020204" pitchFamily="34" charset="0"/>
                <a:ea typeface="微软雅黑" panose="020B0503020204020204" charset="-122"/>
              </a:rPr>
              <a:t>95</a:t>
            </a:r>
            <a:r>
              <a:rPr lang="zh-CN" altLang="en-US">
                <a:latin typeface="Arial" panose="020B0604020202020204" pitchFamily="34" charset="0"/>
                <a:ea typeface="微软雅黑" panose="020B0503020204020204" charset="-122"/>
              </a:rPr>
              <a:t>％。</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endParaRPr lang="en-US" altLang="zh-CN">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6323">
                                            <p:txEl>
                                              <p:pRg st="0" end="0"/>
                                            </p:txEl>
                                          </p:spTgt>
                                        </p:tgtEl>
                                        <p:attrNameLst>
                                          <p:attrName>style.visibility</p:attrName>
                                        </p:attrNameLst>
                                      </p:cBhvr>
                                      <p:to>
                                        <p:strVal val="visible"/>
                                      </p:to>
                                    </p:set>
                                    <p:anim calcmode="lin" valueType="num">
                                      <p:cBhvr additive="base">
                                        <p:cTn id="7" dur="500" fill="hold"/>
                                        <p:tgtEl>
                                          <p:spTgt spid="563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63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6323">
                                            <p:txEl>
                                              <p:pRg st="1" end="1"/>
                                            </p:txEl>
                                          </p:spTgt>
                                        </p:tgtEl>
                                        <p:attrNameLst>
                                          <p:attrName>style.visibility</p:attrName>
                                        </p:attrNameLst>
                                      </p:cBhvr>
                                      <p:to>
                                        <p:strVal val="visible"/>
                                      </p:to>
                                    </p:set>
                                    <p:anim calcmode="lin" valueType="num">
                                      <p:cBhvr additive="base">
                                        <p:cTn id="13" dur="500" fill="hold"/>
                                        <p:tgtEl>
                                          <p:spTgt spid="5632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63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6323">
                                            <p:txEl>
                                              <p:pRg st="2" end="2"/>
                                            </p:txEl>
                                          </p:spTgt>
                                        </p:tgtEl>
                                        <p:attrNameLst>
                                          <p:attrName>style.visibility</p:attrName>
                                        </p:attrNameLst>
                                      </p:cBhvr>
                                      <p:to>
                                        <p:strVal val="visible"/>
                                      </p:to>
                                    </p:set>
                                    <p:anim calcmode="lin" valueType="num">
                                      <p:cBhvr additive="base">
                                        <p:cTn id="19" dur="500" fill="hold"/>
                                        <p:tgtEl>
                                          <p:spTgt spid="5632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63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6323">
                                            <p:txEl>
                                              <p:pRg st="3" end="3"/>
                                            </p:txEl>
                                          </p:spTgt>
                                        </p:tgtEl>
                                        <p:attrNameLst>
                                          <p:attrName>style.visibility</p:attrName>
                                        </p:attrNameLst>
                                      </p:cBhvr>
                                      <p:to>
                                        <p:strVal val="visible"/>
                                      </p:to>
                                    </p:set>
                                    <p:anim calcmode="lin" valueType="num">
                                      <p:cBhvr additive="base">
                                        <p:cTn id="25" dur="500" fill="hold"/>
                                        <p:tgtEl>
                                          <p:spTgt spid="5632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632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513" y="-38100"/>
            <a:ext cx="9082088" cy="693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type="body" idx="1"/>
          </p:nvPr>
        </p:nvSpPr>
        <p:spPr>
          <a:xfrm>
            <a:off x="755650" y="1916113"/>
            <a:ext cx="8137525" cy="4635500"/>
          </a:xfrm>
        </p:spPr>
        <p:txBody>
          <a:bodyPr/>
          <a:lstStyle/>
          <a:p>
            <a:pPr eaLnBrk="1" hangingPunct="1">
              <a:lnSpc>
                <a:spcPct val="130000"/>
              </a:lnSpc>
              <a:buFont typeface="Wingdings" panose="05000000000000000000" pitchFamily="2" charset="2"/>
              <a:buNone/>
            </a:pPr>
            <a:r>
              <a:rPr lang="zh-CN" altLang="en-US" b="1">
                <a:latin typeface="Arial" panose="020B0604020202020204" pitchFamily="34" charset="0"/>
                <a:ea typeface="微软雅黑" panose="020B0503020204020204" charset="-122"/>
              </a:rPr>
              <a:t>日本旭化成公司</a:t>
            </a:r>
            <a:r>
              <a:rPr lang="zh-CN" altLang="en-US">
                <a:latin typeface="Arial" panose="020B0604020202020204" pitchFamily="34" charset="0"/>
                <a:ea typeface="微软雅黑" panose="020B0503020204020204" charset="-122"/>
              </a:rPr>
              <a:t>：致力于电解质的改进，加入异丙醇防止丙烯腈和季胺离子在阳极氧化，同时维持电解液的</a:t>
            </a:r>
            <a:r>
              <a:rPr lang="en-US" altLang="zh-CN">
                <a:latin typeface="Arial" panose="020B0604020202020204" pitchFamily="34" charset="0"/>
                <a:ea typeface="微软雅黑" panose="020B0503020204020204" charset="-122"/>
              </a:rPr>
              <a:t>pH</a:t>
            </a:r>
            <a:r>
              <a:rPr lang="zh-CN" altLang="en-US">
                <a:latin typeface="Arial" panose="020B0604020202020204" pitchFamily="34" charset="0"/>
                <a:ea typeface="微软雅黑" panose="020B0503020204020204" charset="-122"/>
              </a:rPr>
              <a:t>稳定，并可起助溶剂作用。</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r>
              <a:rPr lang="zh-CN" altLang="en-US" b="1">
                <a:latin typeface="Arial" panose="020B0604020202020204" pitchFamily="34" charset="0"/>
                <a:ea typeface="微软雅黑" panose="020B0503020204020204" charset="-122"/>
              </a:rPr>
              <a:t>德国巴斯夫公司</a:t>
            </a:r>
            <a:r>
              <a:rPr lang="zh-CN" altLang="en-US">
                <a:latin typeface="Arial" panose="020B0604020202020204" pitchFamily="34" charset="0"/>
                <a:ea typeface="微软雅黑" panose="020B0503020204020204" charset="-122"/>
              </a:rPr>
              <a:t>：提出复极式毛细间隙电解槽，极间距可降至</a:t>
            </a:r>
            <a:r>
              <a:rPr lang="en-US" altLang="zh-CN">
                <a:latin typeface="Arial" panose="020B0604020202020204" pitchFamily="34" charset="0"/>
                <a:ea typeface="微软雅黑" panose="020B0503020204020204" charset="-122"/>
              </a:rPr>
              <a:t>0.2mm</a:t>
            </a:r>
            <a:r>
              <a:rPr lang="zh-CN" altLang="en-US">
                <a:latin typeface="Arial" panose="020B0604020202020204" pitchFamily="34" charset="0"/>
                <a:ea typeface="微软雅黑" panose="020B0503020204020204" charset="-122"/>
              </a:rPr>
              <a:t>以下，结构紧凑，电解液中的季胺盐可降至</a:t>
            </a:r>
            <a:r>
              <a:rPr lang="en-US" altLang="zh-CN">
                <a:latin typeface="Arial" panose="020B0604020202020204" pitchFamily="34" charset="0"/>
                <a:ea typeface="微软雅黑" panose="020B0503020204020204" charset="-122"/>
              </a:rPr>
              <a:t>0.5</a:t>
            </a:r>
            <a:r>
              <a:rPr lang="zh-CN" altLang="en-US">
                <a:latin typeface="Arial" panose="020B0604020202020204" pitchFamily="34" charset="0"/>
                <a:ea typeface="微软雅黑" panose="020B0503020204020204" charset="-122"/>
              </a:rPr>
              <a:t>％以下．收率仍大于</a:t>
            </a:r>
            <a:r>
              <a:rPr lang="en-US" altLang="zh-CN">
                <a:latin typeface="Arial" panose="020B0604020202020204" pitchFamily="34" charset="0"/>
                <a:ea typeface="微软雅黑" panose="020B0503020204020204" charset="-122"/>
              </a:rPr>
              <a:t>90</a:t>
            </a:r>
            <a:r>
              <a:rPr lang="zh-CN" altLang="en-US">
                <a:latin typeface="Arial" panose="020B0604020202020204" pitchFamily="34" charset="0"/>
                <a:ea typeface="微软雅黑" panose="020B0503020204020204" charset="-122"/>
              </a:rPr>
              <a:t>％，能耗低于</a:t>
            </a:r>
            <a:r>
              <a:rPr lang="en-US" altLang="zh-CN">
                <a:latin typeface="Arial" panose="020B0604020202020204" pitchFamily="34" charset="0"/>
                <a:ea typeface="微软雅黑" panose="020B0503020204020204" charset="-122"/>
              </a:rPr>
              <a:t>3000kWh</a:t>
            </a:r>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t</a:t>
            </a:r>
            <a:r>
              <a:rPr lang="zh-CN" altLang="en-US">
                <a:latin typeface="Arial" panose="020B0604020202020204" pitchFamily="34" charset="0"/>
                <a:ea typeface="微软雅黑" panose="020B0503020204020204" charset="-122"/>
              </a:rPr>
              <a:t>。</a:t>
            </a:r>
            <a:endParaRPr lang="zh-CN" altLang="en-US">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 calcmode="lin" valueType="num">
                                      <p:cBhvr additive="base">
                                        <p:cTn id="7" dur="500" fill="hold"/>
                                        <p:tgtEl>
                                          <p:spTgt spid="542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2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4275">
                                            <p:txEl>
                                              <p:pRg st="1" end="1"/>
                                            </p:txEl>
                                          </p:spTgt>
                                        </p:tgtEl>
                                        <p:attrNameLst>
                                          <p:attrName>style.visibility</p:attrName>
                                        </p:attrNameLst>
                                      </p:cBhvr>
                                      <p:to>
                                        <p:strVal val="visible"/>
                                      </p:to>
                                    </p:set>
                                    <p:anim calcmode="lin" valueType="num">
                                      <p:cBhvr additive="base">
                                        <p:cTn id="13" dur="500" fill="hold"/>
                                        <p:tgtEl>
                                          <p:spTgt spid="542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427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AutoShape 2"/>
          <p:cNvSpPr>
            <a:spLocks noGrp="1" noChangeArrowheads="1"/>
          </p:cNvSpPr>
          <p:nvPr>
            <p:ph type="title"/>
          </p:nvPr>
        </p:nvSpPr>
        <p:spPr>
          <a:xfrm>
            <a:off x="755650" y="331788"/>
            <a:ext cx="7924800" cy="1143000"/>
          </a:xfrm>
        </p:spPr>
        <p:txBody>
          <a:bodyPr/>
          <a:lstStyle/>
          <a:p>
            <a:pPr eaLnBrk="1" hangingPunct="1"/>
            <a:r>
              <a:rPr lang="zh-CN" altLang="en-US">
                <a:latin typeface="Arial" panose="020B0604020202020204" pitchFamily="34" charset="0"/>
                <a:ea typeface="微软雅黑" panose="020B0503020204020204" charset="-122"/>
              </a:rPr>
              <a:t>二、四烷基铅的电解合成</a:t>
            </a:r>
            <a:endParaRPr lang="zh-CN" altLang="en-US">
              <a:latin typeface="Arial" panose="020B0604020202020204" pitchFamily="34" charset="0"/>
              <a:ea typeface="微软雅黑" panose="020B0503020204020204" charset="-122"/>
            </a:endParaRPr>
          </a:p>
        </p:txBody>
      </p:sp>
      <p:sp>
        <p:nvSpPr>
          <p:cNvPr id="57347" name="Rectangle 3"/>
          <p:cNvSpPr>
            <a:spLocks noGrp="1" noChangeArrowheads="1"/>
          </p:cNvSpPr>
          <p:nvPr>
            <p:ph type="body" idx="1"/>
          </p:nvPr>
        </p:nvSpPr>
        <p:spPr>
          <a:xfrm>
            <a:off x="755650" y="1916113"/>
            <a:ext cx="8137525" cy="4635500"/>
          </a:xfrm>
        </p:spPr>
        <p:txBody>
          <a:bodyPr/>
          <a:lstStyle/>
          <a:p>
            <a:pPr eaLnBrk="1" hangingPunct="1">
              <a:lnSpc>
                <a:spcPct val="120000"/>
              </a:lnSpc>
              <a:spcBef>
                <a:spcPct val="0"/>
              </a:spcBef>
              <a:buFont typeface="Wingdings" panose="05000000000000000000" pitchFamily="2" charset="2"/>
              <a:buNone/>
            </a:pPr>
            <a:r>
              <a:rPr lang="en-US" altLang="zh-CN">
                <a:latin typeface="Arial" panose="020B0604020202020204" pitchFamily="34" charset="0"/>
                <a:ea typeface="微软雅黑" panose="020B0503020204020204" charset="-122"/>
              </a:rPr>
              <a:t>        </a:t>
            </a:r>
            <a:r>
              <a:rPr lang="zh-CN" altLang="en-US">
                <a:latin typeface="Arial" panose="020B0604020202020204" pitchFamily="34" charset="0"/>
                <a:ea typeface="微软雅黑" panose="020B0503020204020204" charset="-122"/>
              </a:rPr>
              <a:t>四乙基铅</a:t>
            </a:r>
            <a:r>
              <a:rPr lang="en-US" altLang="zh-CN">
                <a:latin typeface="Arial" panose="020B0604020202020204" pitchFamily="34" charset="0"/>
                <a:ea typeface="微软雅黑" panose="020B0503020204020204" charset="-122"/>
              </a:rPr>
              <a:t>(Pb(C</a:t>
            </a:r>
            <a:r>
              <a:rPr lang="en-US" altLang="zh-CN" baseline="-25000">
                <a:latin typeface="Arial" panose="020B0604020202020204" pitchFamily="34" charset="0"/>
                <a:ea typeface="微软雅黑" panose="020B0503020204020204" charset="-122"/>
              </a:rPr>
              <a:t>2</a:t>
            </a:r>
            <a:r>
              <a:rPr lang="en-US" altLang="zh-CN">
                <a:latin typeface="Arial" panose="020B0604020202020204" pitchFamily="34" charset="0"/>
                <a:ea typeface="微软雅黑" panose="020B0503020204020204" charset="-122"/>
              </a:rPr>
              <a:t>H</a:t>
            </a:r>
            <a:r>
              <a:rPr lang="en-US" altLang="zh-CN" baseline="-25000">
                <a:latin typeface="Arial" panose="020B0604020202020204" pitchFamily="34" charset="0"/>
                <a:ea typeface="微软雅黑" panose="020B0503020204020204" charset="-122"/>
              </a:rPr>
              <a:t>5</a:t>
            </a:r>
            <a:r>
              <a:rPr lang="en-US" altLang="zh-CN">
                <a:latin typeface="Arial" panose="020B0604020202020204" pitchFamily="34" charset="0"/>
                <a:ea typeface="微软雅黑" panose="020B0503020204020204" charset="-122"/>
              </a:rPr>
              <a:t>)</a:t>
            </a:r>
            <a:r>
              <a:rPr lang="en-US" altLang="zh-CN" baseline="-25000">
                <a:latin typeface="Arial" panose="020B0604020202020204" pitchFamily="34" charset="0"/>
                <a:ea typeface="微软雅黑" panose="020B0503020204020204" charset="-122"/>
              </a:rPr>
              <a:t>4</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是应用最广泛的汽油抗爆剂，它可提高汽油的辛烷值，改善其燃烧特性。                   近年来，为防止铅对环境的污染，用量有所限</a:t>
            </a:r>
            <a:endParaRPr lang="zh-CN" altLang="en-US">
              <a:latin typeface="Arial" panose="020B0604020202020204" pitchFamily="34" charset="0"/>
              <a:ea typeface="微软雅黑" panose="020B0503020204020204" charset="-122"/>
            </a:endParaRPr>
          </a:p>
          <a:p>
            <a:pPr eaLnBrk="1" hangingPunct="1">
              <a:lnSpc>
                <a:spcPct val="120000"/>
              </a:lnSpc>
              <a:spcBef>
                <a:spcPct val="0"/>
              </a:spcBef>
              <a:buFont typeface="Wingdings" panose="05000000000000000000" pitchFamily="2" charset="2"/>
              <a:buNone/>
            </a:pPr>
            <a:r>
              <a:rPr lang="zh-CN" altLang="en-US">
                <a:latin typeface="Arial" panose="020B0604020202020204" pitchFamily="34" charset="0"/>
                <a:ea typeface="微软雅黑" panose="020B0503020204020204" charset="-122"/>
              </a:rPr>
              <a:t>制 </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如美国限定应低于</a:t>
            </a:r>
            <a:r>
              <a:rPr lang="en-US" altLang="zh-CN">
                <a:latin typeface="Arial" panose="020B0604020202020204" pitchFamily="34" charset="0"/>
                <a:ea typeface="微软雅黑" panose="020B0503020204020204" charset="-122"/>
              </a:rPr>
              <a:t>130mg</a:t>
            </a:r>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L</a:t>
            </a:r>
            <a:r>
              <a:rPr lang="zh-CN" altLang="en-US">
                <a:latin typeface="Arial" panose="020B0604020202020204" pitchFamily="34" charset="0"/>
                <a:ea typeface="微软雅黑" panose="020B0503020204020204" charset="-122"/>
              </a:rPr>
              <a:t>），但世界产量仍达</a:t>
            </a:r>
            <a:r>
              <a:rPr lang="en-US" altLang="zh-CN">
                <a:latin typeface="Arial" panose="020B0604020202020204" pitchFamily="34" charset="0"/>
                <a:ea typeface="微软雅黑" panose="020B0503020204020204" charset="-122"/>
              </a:rPr>
              <a:t>50</a:t>
            </a:r>
            <a:r>
              <a:rPr lang="zh-CN" altLang="en-US">
                <a:latin typeface="Arial" panose="020B0604020202020204" pitchFamily="34" charset="0"/>
                <a:ea typeface="微软雅黑" panose="020B0503020204020204" charset="-122"/>
              </a:rPr>
              <a:t>万吨／年。</a:t>
            </a:r>
            <a:endParaRPr lang="zh-CN" altLang="en-US">
              <a:latin typeface="Arial" panose="020B0604020202020204" pitchFamily="34" charset="0"/>
              <a:ea typeface="微软雅黑" panose="020B0503020204020204" charset="-122"/>
            </a:endParaRPr>
          </a:p>
          <a:p>
            <a:pPr eaLnBrk="1" hangingPunct="1">
              <a:lnSpc>
                <a:spcPct val="120000"/>
              </a:lnSpc>
              <a:spcBef>
                <a:spcPct val="0"/>
              </a:spcBef>
              <a:buFont typeface="Wingdings" panose="05000000000000000000" pitchFamily="2" charset="2"/>
              <a:buNone/>
            </a:pPr>
            <a:r>
              <a:rPr lang="zh-CN" altLang="en-US">
                <a:latin typeface="Arial" panose="020B0604020202020204" pitchFamily="34" charset="0"/>
                <a:ea typeface="微软雅黑" panose="020B0503020204020204" charset="-122"/>
              </a:rPr>
              <a:t> </a:t>
            </a:r>
            <a:r>
              <a:rPr lang="zh-CN" altLang="en-US" b="1">
                <a:latin typeface="Arial" panose="020B0604020202020204" pitchFamily="34" charset="0"/>
                <a:ea typeface="微软雅黑" panose="020B0503020204020204" charset="-122"/>
              </a:rPr>
              <a:t>化学合成法的缺点</a:t>
            </a:r>
            <a:r>
              <a:rPr lang="zh-CN" altLang="en-US">
                <a:latin typeface="Arial" panose="020B0604020202020204" pitchFamily="34" charset="0"/>
                <a:ea typeface="微软雅黑" panose="020B0503020204020204" charset="-122"/>
              </a:rPr>
              <a:t>：</a:t>
            </a:r>
            <a:endParaRPr lang="zh-CN" altLang="en-US">
              <a:latin typeface="Arial" panose="020B0604020202020204" pitchFamily="34" charset="0"/>
              <a:ea typeface="微软雅黑" panose="020B0503020204020204" charset="-122"/>
            </a:endParaRPr>
          </a:p>
          <a:p>
            <a:pPr eaLnBrk="1" hangingPunct="1">
              <a:lnSpc>
                <a:spcPct val="120000"/>
              </a:lnSpc>
              <a:spcBef>
                <a:spcPct val="0"/>
              </a:spcBef>
              <a:buFont typeface="Wingdings" panose="05000000000000000000" pitchFamily="2" charset="2"/>
              <a:buNone/>
            </a:pPr>
            <a:r>
              <a:rPr lang="zh-CN" altLang="en-US">
                <a:latin typeface="Arial" panose="020B0604020202020204" pitchFamily="34" charset="0"/>
                <a:ea typeface="微软雅黑" panose="020B0503020204020204" charset="-122"/>
              </a:rPr>
              <a:t>       用钠铅合金与氯乙烷反应生成四乙基铅，反应后残渣中含铅量高，且难以回收。</a:t>
            </a:r>
            <a:endParaRPr lang="zh-CN" altLang="en-US">
              <a:latin typeface="Arial" panose="020B0604020202020204" pitchFamily="34" charset="0"/>
              <a:ea typeface="微软雅黑" panose="020B0503020204020204" charset="-122"/>
            </a:endParaRPr>
          </a:p>
          <a:p>
            <a:pPr eaLnBrk="1" hangingPunct="1">
              <a:lnSpc>
                <a:spcPct val="120000"/>
              </a:lnSpc>
              <a:spcBef>
                <a:spcPct val="0"/>
              </a:spcBef>
              <a:buFont typeface="Wingdings" panose="05000000000000000000" pitchFamily="2" charset="2"/>
              <a:buNone/>
            </a:pPr>
            <a:endParaRPr lang="en-US" altLang="zh-CN">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7347">
                                            <p:txEl>
                                              <p:pRg st="2" end="2"/>
                                            </p:txEl>
                                          </p:spTgt>
                                        </p:tgtEl>
                                        <p:attrNameLst>
                                          <p:attrName>style.visibility</p:attrName>
                                        </p:attrNameLst>
                                      </p:cBhvr>
                                      <p:to>
                                        <p:strVal val="visible"/>
                                      </p:to>
                                    </p:set>
                                    <p:anim calcmode="lin" valueType="num">
                                      <p:cBhvr additive="base">
                                        <p:cTn id="7" dur="500" fill="hold"/>
                                        <p:tgtEl>
                                          <p:spTgt spid="5734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7347">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7347">
                                            <p:txEl>
                                              <p:pRg st="3" end="3"/>
                                            </p:txEl>
                                          </p:spTgt>
                                        </p:tgtEl>
                                        <p:attrNameLst>
                                          <p:attrName>style.visibility</p:attrName>
                                        </p:attrNameLst>
                                      </p:cBhvr>
                                      <p:to>
                                        <p:strVal val="visible"/>
                                      </p:to>
                                    </p:set>
                                    <p:anim calcmode="lin" valueType="num">
                                      <p:cBhvr additive="base">
                                        <p:cTn id="11" dur="500" fill="hold"/>
                                        <p:tgtEl>
                                          <p:spTgt spid="57347">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734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AutoShape 2"/>
          <p:cNvSpPr>
            <a:spLocks noGrp="1" noChangeArrowheads="1"/>
          </p:cNvSpPr>
          <p:nvPr>
            <p:ph type="title"/>
          </p:nvPr>
        </p:nvSpPr>
        <p:spPr>
          <a:xfrm>
            <a:off x="827405" y="332423"/>
            <a:ext cx="7924800" cy="1143000"/>
          </a:xfrm>
        </p:spPr>
        <p:txBody>
          <a:bodyPr/>
          <a:lstStyle/>
          <a:p>
            <a:pPr eaLnBrk="1" hangingPunct="1"/>
            <a:r>
              <a:rPr lang="zh-CN" altLang="en-US">
                <a:latin typeface="Arial" panose="020B0604020202020204" pitchFamily="34" charset="0"/>
                <a:ea typeface="微软雅黑" panose="020B0503020204020204" charset="-122"/>
              </a:rPr>
              <a:t>有机电合成方法：</a:t>
            </a:r>
            <a:endParaRPr lang="zh-CN" altLang="en-US">
              <a:latin typeface="Arial" panose="020B0604020202020204" pitchFamily="34" charset="0"/>
              <a:ea typeface="微软雅黑" panose="020B0503020204020204" charset="-122"/>
            </a:endParaRPr>
          </a:p>
        </p:txBody>
      </p:sp>
      <p:sp>
        <p:nvSpPr>
          <p:cNvPr id="58371" name="Rectangle 3"/>
          <p:cNvSpPr>
            <a:spLocks noGrp="1" noChangeArrowheads="1"/>
          </p:cNvSpPr>
          <p:nvPr>
            <p:ph type="body" idx="1"/>
          </p:nvPr>
        </p:nvSpPr>
        <p:spPr>
          <a:xfrm>
            <a:off x="755650" y="1916113"/>
            <a:ext cx="8137525" cy="4635500"/>
          </a:xfrm>
        </p:spPr>
        <p:txBody>
          <a:bodyPr/>
          <a:lstStyle/>
          <a:p>
            <a:pPr eaLnBrk="1" hangingPunct="1">
              <a:lnSpc>
                <a:spcPct val="120000"/>
              </a:lnSpc>
              <a:buFont typeface="Wingdings" panose="05000000000000000000" pitchFamily="2" charset="2"/>
              <a:buNone/>
            </a:pPr>
            <a:r>
              <a:rPr lang="en-US" altLang="zh-CN">
                <a:latin typeface="Arial" panose="020B0604020202020204" pitchFamily="34" charset="0"/>
                <a:ea typeface="微软雅黑" panose="020B0503020204020204" charset="-122"/>
              </a:rPr>
              <a:t>         1964</a:t>
            </a:r>
            <a:r>
              <a:rPr lang="zh-CN" altLang="en-US">
                <a:latin typeface="Arial" panose="020B0604020202020204" pitchFamily="34" charset="0"/>
                <a:ea typeface="微软雅黑" panose="020B0503020204020204" charset="-122"/>
              </a:rPr>
              <a:t>年纳尔柯公司用格利雅试剂和铅丸电解合成制得四乙基铅。反应历程：</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a:latin typeface="Arial" panose="020B0604020202020204" pitchFamily="34" charset="0"/>
                <a:ea typeface="微软雅黑" panose="020B0503020204020204" charset="-122"/>
              </a:rPr>
              <a:t>阳极反应：</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a:latin typeface="Arial" panose="020B0604020202020204" pitchFamily="34" charset="0"/>
                <a:ea typeface="微软雅黑" panose="020B0503020204020204" charset="-122"/>
              </a:rPr>
              <a:t>阴极反应：</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endParaRPr lang="en-US" altLang="zh-CN">
              <a:latin typeface="Arial" panose="020B0604020202020204" pitchFamily="34" charset="0"/>
              <a:ea typeface="微软雅黑" panose="020B0503020204020204" charset="-122"/>
            </a:endParaRPr>
          </a:p>
        </p:txBody>
      </p:sp>
      <p:pic>
        <p:nvPicPr>
          <p:cNvPr id="58373"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79613" y="3068638"/>
            <a:ext cx="4319587"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5038" y="4437063"/>
            <a:ext cx="8208962"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5589588"/>
            <a:ext cx="5472113"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anim calcmode="lin" valueType="num">
                                      <p:cBhvr additive="base">
                                        <p:cTn id="7" dur="500" fill="hold"/>
                                        <p:tgtEl>
                                          <p:spTgt spid="583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83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8371">
                                            <p:txEl>
                                              <p:pRg st="2" end="2"/>
                                            </p:txEl>
                                          </p:spTgt>
                                        </p:tgtEl>
                                        <p:attrNameLst>
                                          <p:attrName>style.visibility</p:attrName>
                                        </p:attrNameLst>
                                      </p:cBhvr>
                                      <p:to>
                                        <p:strVal val="visible"/>
                                      </p:to>
                                    </p:set>
                                    <p:anim calcmode="lin" valueType="num">
                                      <p:cBhvr additive="base">
                                        <p:cTn id="13" dur="500" fill="hold"/>
                                        <p:tgtEl>
                                          <p:spTgt spid="5837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83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8371">
                                            <p:txEl>
                                              <p:pRg st="4" end="4"/>
                                            </p:txEl>
                                          </p:spTgt>
                                        </p:tgtEl>
                                        <p:attrNameLst>
                                          <p:attrName>style.visibility</p:attrName>
                                        </p:attrNameLst>
                                      </p:cBhvr>
                                      <p:to>
                                        <p:strVal val="visible"/>
                                      </p:to>
                                    </p:set>
                                    <p:anim calcmode="lin" valueType="num">
                                      <p:cBhvr additive="base">
                                        <p:cTn id="19" dur="500" fill="hold"/>
                                        <p:tgtEl>
                                          <p:spTgt spid="58371">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837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7" presetClass="entr" presetSubtype="0" fill="hold" nodeType="clickEffect">
                                  <p:stCondLst>
                                    <p:cond delay="0"/>
                                  </p:stCondLst>
                                  <p:childTnLst>
                                    <p:set>
                                      <p:cBhvr>
                                        <p:cTn id="24" dur="1" fill="hold">
                                          <p:stCondLst>
                                            <p:cond delay="0"/>
                                          </p:stCondLst>
                                        </p:cTn>
                                        <p:tgtEl>
                                          <p:spTgt spid="58373"/>
                                        </p:tgtEl>
                                        <p:attrNameLst>
                                          <p:attrName>style.visibility</p:attrName>
                                        </p:attrNameLst>
                                      </p:cBhvr>
                                      <p:to>
                                        <p:strVal val="visible"/>
                                      </p:to>
                                    </p:set>
                                    <p:animEffect transition="in" filter="fade">
                                      <p:cBhvr>
                                        <p:cTn id="25" dur="1000"/>
                                        <p:tgtEl>
                                          <p:spTgt spid="58373"/>
                                        </p:tgtEl>
                                      </p:cBhvr>
                                    </p:animEffect>
                                    <p:anim calcmode="lin" valueType="num">
                                      <p:cBhvr>
                                        <p:cTn id="26" dur="1000" fill="hold"/>
                                        <p:tgtEl>
                                          <p:spTgt spid="58373"/>
                                        </p:tgtEl>
                                        <p:attrNameLst>
                                          <p:attrName>ppt_x</p:attrName>
                                        </p:attrNameLst>
                                      </p:cBhvr>
                                      <p:tavLst>
                                        <p:tav tm="0">
                                          <p:val>
                                            <p:strVal val="#ppt_x"/>
                                          </p:val>
                                        </p:tav>
                                        <p:tav tm="100000">
                                          <p:val>
                                            <p:strVal val="#ppt_x"/>
                                          </p:val>
                                        </p:tav>
                                      </p:tavLst>
                                    </p:anim>
                                    <p:anim calcmode="lin" valueType="num">
                                      <p:cBhvr>
                                        <p:cTn id="27" dur="900" decel="100000" fill="hold"/>
                                        <p:tgtEl>
                                          <p:spTgt spid="58373"/>
                                        </p:tgtEl>
                                        <p:attrNameLst>
                                          <p:attrName>ppt_y</p:attrName>
                                        </p:attrNameLst>
                                      </p:cBhvr>
                                      <p:tavLst>
                                        <p:tav tm="0">
                                          <p:val>
                                            <p:strVal val="#ppt_y+1"/>
                                          </p:val>
                                        </p:tav>
                                        <p:tav tm="100000">
                                          <p:val>
                                            <p:strVal val="#ppt_y-.03"/>
                                          </p:val>
                                        </p:tav>
                                      </p:tavLst>
                                    </p:anim>
                                    <p:anim calcmode="lin" valueType="num">
                                      <p:cBhvr>
                                        <p:cTn id="28" dur="100" accel="100000" fill="hold">
                                          <p:stCondLst>
                                            <p:cond delay="900"/>
                                          </p:stCondLst>
                                        </p:cTn>
                                        <p:tgtEl>
                                          <p:spTgt spid="58373"/>
                                        </p:tgtEl>
                                        <p:attrNameLst>
                                          <p:attrName>ppt_y</p:attrName>
                                        </p:attrNameLst>
                                      </p:cBhvr>
                                      <p:tavLst>
                                        <p:tav tm="0">
                                          <p:val>
                                            <p:strVal val="#ppt_y-.03"/>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2" presetClass="entr" presetSubtype="4" fill="hold" nodeType="clickEffect">
                                  <p:stCondLst>
                                    <p:cond delay="0"/>
                                  </p:stCondLst>
                                  <p:childTnLst>
                                    <p:set>
                                      <p:cBhvr>
                                        <p:cTn id="32" dur="1" fill="hold">
                                          <p:stCondLst>
                                            <p:cond delay="0"/>
                                          </p:stCondLst>
                                        </p:cTn>
                                        <p:tgtEl>
                                          <p:spTgt spid="58374"/>
                                        </p:tgtEl>
                                        <p:attrNameLst>
                                          <p:attrName>style.visibility</p:attrName>
                                        </p:attrNameLst>
                                      </p:cBhvr>
                                      <p:to>
                                        <p:strVal val="visible"/>
                                      </p:to>
                                    </p:set>
                                    <p:animEffect transition="in" filter="slide(fromBottom)">
                                      <p:cBhvr>
                                        <p:cTn id="33" dur="500"/>
                                        <p:tgtEl>
                                          <p:spTgt spid="58374"/>
                                        </p:tgtEl>
                                      </p:cBhvr>
                                    </p:animEffect>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nodeType="clickEffect">
                                  <p:stCondLst>
                                    <p:cond delay="0"/>
                                  </p:stCondLst>
                                  <p:childTnLst>
                                    <p:set>
                                      <p:cBhvr>
                                        <p:cTn id="37" dur="1" fill="hold">
                                          <p:stCondLst>
                                            <p:cond delay="0"/>
                                          </p:stCondLst>
                                        </p:cTn>
                                        <p:tgtEl>
                                          <p:spTgt spid="58375"/>
                                        </p:tgtEl>
                                        <p:attrNameLst>
                                          <p:attrName>style.visibility</p:attrName>
                                        </p:attrNameLst>
                                      </p:cBhvr>
                                      <p:to>
                                        <p:strVal val="visible"/>
                                      </p:to>
                                    </p:set>
                                    <p:anim calcmode="lin" valueType="num">
                                      <p:cBhvr>
                                        <p:cTn id="38" dur="500" fill="hold"/>
                                        <p:tgtEl>
                                          <p:spTgt spid="58375"/>
                                        </p:tgtEl>
                                        <p:attrNameLst>
                                          <p:attrName>ppt_w</p:attrName>
                                        </p:attrNameLst>
                                      </p:cBhvr>
                                      <p:tavLst>
                                        <p:tav tm="0">
                                          <p:val>
                                            <p:fltVal val="0"/>
                                          </p:val>
                                        </p:tav>
                                        <p:tav tm="100000">
                                          <p:val>
                                            <p:strVal val="#ppt_w"/>
                                          </p:val>
                                        </p:tav>
                                      </p:tavLst>
                                    </p:anim>
                                    <p:anim calcmode="lin" valueType="num">
                                      <p:cBhvr>
                                        <p:cTn id="39" dur="500" fill="hold"/>
                                        <p:tgtEl>
                                          <p:spTgt spid="5837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p:cNvSpPr>
            <a:spLocks noGrp="1" noChangeArrowheads="1"/>
          </p:cNvSpPr>
          <p:nvPr>
            <p:ph type="body" idx="1"/>
          </p:nvPr>
        </p:nvSpPr>
        <p:spPr/>
        <p:txBody>
          <a:bodyPr/>
          <a:lstStyle/>
          <a:p>
            <a:pPr eaLnBrk="1" hangingPunct="1">
              <a:lnSpc>
                <a:spcPct val="120000"/>
              </a:lnSpc>
              <a:buFont typeface="Wingdings" panose="05000000000000000000" pitchFamily="2" charset="2"/>
              <a:buNone/>
            </a:pPr>
            <a:r>
              <a:rPr lang="en-US" altLang="zh-CN">
                <a:latin typeface="Arial" panose="020B0604020202020204" pitchFamily="34" charset="0"/>
                <a:ea typeface="微软雅黑" panose="020B0503020204020204" charset="-122"/>
              </a:rPr>
              <a:t>         </a:t>
            </a:r>
            <a:r>
              <a:rPr lang="zh-CN" altLang="en-US">
                <a:latin typeface="Arial" panose="020B0604020202020204" pitchFamily="34" charset="0"/>
                <a:ea typeface="微软雅黑" panose="020B0503020204020204" charset="-122"/>
              </a:rPr>
              <a:t>反应过程中，不断向溶液加入的氯乙烷可与阴极析出的镁重新生成格利雅试剂，总反应为：</a:t>
            </a:r>
            <a:endParaRPr lang="zh-CN" altLang="en-US">
              <a:latin typeface="Arial" panose="020B0604020202020204" pitchFamily="34" charset="0"/>
              <a:ea typeface="微软雅黑" panose="020B0503020204020204" charset="-122"/>
            </a:endParaRPr>
          </a:p>
        </p:txBody>
      </p:sp>
      <p:pic>
        <p:nvPicPr>
          <p:cNvPr id="5939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31913" y="3284538"/>
            <a:ext cx="69850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anim calcmode="lin" valueType="num">
                                      <p:cBhvr additive="base">
                                        <p:cTn id="7" dur="500" fill="hold"/>
                                        <p:tgtEl>
                                          <p:spTgt spid="593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93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59396"/>
                                        </p:tgtEl>
                                        <p:attrNameLst>
                                          <p:attrName>style.visibility</p:attrName>
                                        </p:attrNameLst>
                                      </p:cBhvr>
                                      <p:to>
                                        <p:strVal val="visible"/>
                                      </p:to>
                                    </p:set>
                                    <p:anim calcmode="lin" valueType="num">
                                      <p:cBhvr>
                                        <p:cTn id="13" dur="500" fill="hold"/>
                                        <p:tgtEl>
                                          <p:spTgt spid="59396"/>
                                        </p:tgtEl>
                                        <p:attrNameLst>
                                          <p:attrName>ppt_w</p:attrName>
                                        </p:attrNameLst>
                                      </p:cBhvr>
                                      <p:tavLst>
                                        <p:tav tm="0">
                                          <p:val>
                                            <p:fltVal val="0"/>
                                          </p:val>
                                        </p:tav>
                                        <p:tav tm="100000">
                                          <p:val>
                                            <p:strVal val="#ppt_w"/>
                                          </p:val>
                                        </p:tav>
                                      </p:tavLst>
                                    </p:anim>
                                    <p:anim calcmode="lin" valueType="num">
                                      <p:cBhvr>
                                        <p:cTn id="14" dur="500" fill="hold"/>
                                        <p:tgtEl>
                                          <p:spTgt spid="5939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4"/>
          <p:cNvSpPr txBox="1">
            <a:spLocks noChangeArrowheads="1"/>
          </p:cNvSpPr>
          <p:nvPr/>
        </p:nvSpPr>
        <p:spPr bwMode="auto">
          <a:xfrm>
            <a:off x="684213" y="765175"/>
            <a:ext cx="4175125"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3200" b="1">
                <a:ea typeface="微软雅黑" panose="020B0503020204020204" charset="-122"/>
              </a:rPr>
              <a:t>电化学反应器</a:t>
            </a:r>
            <a:endParaRPr lang="zh-CN" altLang="en-US" sz="3200" b="1">
              <a:ea typeface="微软雅黑" panose="020B0503020204020204" charset="-122"/>
            </a:endParaRPr>
          </a:p>
        </p:txBody>
      </p:sp>
      <p:pic>
        <p:nvPicPr>
          <p:cNvPr id="66563"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7088" y="1989138"/>
            <a:ext cx="8316912"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dir="in"/>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2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87450" y="44450"/>
            <a:ext cx="6767513" cy="639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7" name="Text Box 5"/>
          <p:cNvSpPr txBox="1">
            <a:spLocks noChangeArrowheads="1"/>
          </p:cNvSpPr>
          <p:nvPr/>
        </p:nvSpPr>
        <p:spPr bwMode="auto">
          <a:xfrm>
            <a:off x="1908175" y="6237288"/>
            <a:ext cx="59039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b="1">
                <a:ea typeface="微软雅黑" panose="020B0503020204020204" charset="-122"/>
              </a:rPr>
              <a:t>用于四乙基铅合成的固定床电化学反应器</a:t>
            </a:r>
            <a:endParaRPr lang="zh-CN" altLang="en-US" sz="2400" b="1">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60420"/>
                                        </p:tgtEl>
                                        <p:attrNameLst>
                                          <p:attrName>style.visibility</p:attrName>
                                        </p:attrNameLst>
                                      </p:cBhvr>
                                      <p:to>
                                        <p:strVal val="visible"/>
                                      </p:to>
                                    </p:set>
                                    <p:anim calcmode="lin" valueType="num">
                                      <p:cBhvr>
                                        <p:cTn id="7" dur="1000" fill="hold"/>
                                        <p:tgtEl>
                                          <p:spTgt spid="60420"/>
                                        </p:tgtEl>
                                        <p:attrNameLst>
                                          <p:attrName>ppt_w</p:attrName>
                                        </p:attrNameLst>
                                      </p:cBhvr>
                                      <p:tavLst>
                                        <p:tav tm="0">
                                          <p:val>
                                            <p:strVal val="#ppt_w*0.70"/>
                                          </p:val>
                                        </p:tav>
                                        <p:tav tm="100000">
                                          <p:val>
                                            <p:strVal val="#ppt_w"/>
                                          </p:val>
                                        </p:tav>
                                      </p:tavLst>
                                    </p:anim>
                                    <p:anim calcmode="lin" valueType="num">
                                      <p:cBhvr>
                                        <p:cTn id="8" dur="1000" fill="hold"/>
                                        <p:tgtEl>
                                          <p:spTgt spid="60420"/>
                                        </p:tgtEl>
                                        <p:attrNameLst>
                                          <p:attrName>ppt_h</p:attrName>
                                        </p:attrNameLst>
                                      </p:cBhvr>
                                      <p:tavLst>
                                        <p:tav tm="0">
                                          <p:val>
                                            <p:strVal val="#ppt_h"/>
                                          </p:val>
                                        </p:tav>
                                        <p:tav tm="100000">
                                          <p:val>
                                            <p:strVal val="#ppt_h"/>
                                          </p:val>
                                        </p:tav>
                                      </p:tavLst>
                                    </p:anim>
                                    <p:animEffect transition="in" filter="fade">
                                      <p:cBhvr>
                                        <p:cTn id="9" dur="1000"/>
                                        <p:tgtEl>
                                          <p:spTgt spid="60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4"/>
          <p:cNvSpPr txBox="1">
            <a:spLocks noChangeArrowheads="1"/>
          </p:cNvSpPr>
          <p:nvPr/>
        </p:nvSpPr>
        <p:spPr bwMode="auto">
          <a:xfrm>
            <a:off x="900113" y="836613"/>
            <a:ext cx="6913562"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a:ea typeface="微软雅黑" panose="020B0503020204020204" charset="-122"/>
              </a:rPr>
              <a:t>纳尔柯公司对电解槽进行了改进：</a:t>
            </a:r>
            <a:endParaRPr lang="zh-CN" altLang="en-US">
              <a:ea typeface="微软雅黑" panose="020B0503020204020204" charset="-122"/>
            </a:endParaRPr>
          </a:p>
        </p:txBody>
      </p:sp>
      <p:pic>
        <p:nvPicPr>
          <p:cNvPr id="68611"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03350" y="2133600"/>
            <a:ext cx="2366963"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8400" y="2124075"/>
            <a:ext cx="3843338"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2708275"/>
            <a:ext cx="438308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4"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6825" y="2646363"/>
            <a:ext cx="3735388"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5"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088" y="3213100"/>
            <a:ext cx="4562475"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6"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64163" y="3213100"/>
            <a:ext cx="1971675"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7" name="Picture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16788" y="3213100"/>
            <a:ext cx="1719262"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8" name="Picture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0113" y="3716338"/>
            <a:ext cx="45624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9" name="Picture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35600" y="3789363"/>
            <a:ext cx="2906713"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20" name="Picture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7088" y="4221163"/>
            <a:ext cx="528320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21" name="Picture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84888" y="4221163"/>
            <a:ext cx="2043112"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22" name="Picture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27088" y="4797425"/>
            <a:ext cx="6408737"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23" name="Picture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164388" y="4724400"/>
            <a:ext cx="132238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24" name="Picture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27088" y="5300663"/>
            <a:ext cx="70469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25" name="Picture 2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00113" y="5805488"/>
            <a:ext cx="24384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plit orient="vert"/>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87450" y="5516563"/>
            <a:ext cx="6338888"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5"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08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AutoShape 2"/>
          <p:cNvSpPr>
            <a:spLocks noGrp="1" noChangeArrowheads="1"/>
          </p:cNvSpPr>
          <p:nvPr>
            <p:ph type="title"/>
          </p:nvPr>
        </p:nvSpPr>
        <p:spPr>
          <a:xfrm>
            <a:off x="755650" y="331788"/>
            <a:ext cx="7924800" cy="1143000"/>
          </a:xfrm>
        </p:spPr>
        <p:txBody>
          <a:bodyPr/>
          <a:lstStyle/>
          <a:p>
            <a:pPr eaLnBrk="1" hangingPunct="1"/>
            <a:r>
              <a:rPr lang="zh-CN" altLang="en-US">
                <a:latin typeface="Arial" panose="020B0604020202020204" pitchFamily="34" charset="0"/>
                <a:ea typeface="微软雅黑" panose="020B0503020204020204" charset="-122"/>
              </a:rPr>
              <a:t>三、有机氟化物的电解合成</a:t>
            </a:r>
            <a:endParaRPr lang="zh-CN" altLang="en-US">
              <a:latin typeface="Arial" panose="020B0604020202020204" pitchFamily="34" charset="0"/>
              <a:ea typeface="微软雅黑" panose="020B0503020204020204" charset="-122"/>
            </a:endParaRPr>
          </a:p>
        </p:txBody>
      </p:sp>
      <p:sp>
        <p:nvSpPr>
          <p:cNvPr id="61443" name="Rectangle 3"/>
          <p:cNvSpPr>
            <a:spLocks noGrp="1" noChangeArrowheads="1"/>
          </p:cNvSpPr>
          <p:nvPr>
            <p:ph type="body" idx="1"/>
          </p:nvPr>
        </p:nvSpPr>
        <p:spPr>
          <a:xfrm>
            <a:off x="755333" y="1844675"/>
            <a:ext cx="8388350" cy="4465638"/>
          </a:xfrm>
        </p:spPr>
        <p:txBody>
          <a:bodyPr/>
          <a:lstStyle/>
          <a:p>
            <a:pPr eaLnBrk="1" hangingPunct="1">
              <a:lnSpc>
                <a:spcPct val="120000"/>
              </a:lnSpc>
              <a:buFont typeface="Wingdings" panose="05000000000000000000" pitchFamily="2" charset="2"/>
              <a:buNone/>
            </a:pPr>
            <a:r>
              <a:rPr lang="zh-CN" altLang="en-US" b="1">
                <a:latin typeface="Arial" panose="020B0604020202020204" pitchFamily="34" charset="0"/>
                <a:ea typeface="微软雅黑" panose="020B0503020204020204" charset="-122"/>
              </a:rPr>
              <a:t>有机氟化物</a:t>
            </a:r>
            <a:r>
              <a:rPr lang="zh-CN" altLang="en-US">
                <a:latin typeface="Arial" panose="020B0604020202020204" pitchFamily="34" charset="0"/>
                <a:ea typeface="微软雅黑" panose="020B0503020204020204" charset="-122"/>
              </a:rPr>
              <a:t>：有机化合物分子中与碳原子连接的氢被氟取代生成的化合物。</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b="1">
                <a:latin typeface="Arial" panose="020B0604020202020204" pitchFamily="34" charset="0"/>
                <a:ea typeface="微软雅黑" panose="020B0503020204020204" charset="-122"/>
              </a:rPr>
              <a:t> 分类：全氟有机化合物；单氟或多氟有机化合物。</a:t>
            </a:r>
            <a:endParaRPr lang="zh-CN" altLang="en-US" b="1">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endParaRPr lang="zh-CN" altLang="en-US" b="1">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b="1">
                <a:latin typeface="Arial" panose="020B0604020202020204" pitchFamily="34" charset="0"/>
                <a:ea typeface="微软雅黑" panose="020B0503020204020204" charset="-122"/>
              </a:rPr>
              <a:t>        </a:t>
            </a:r>
            <a:r>
              <a:rPr lang="zh-CN" altLang="en-US">
                <a:latin typeface="Arial" panose="020B0604020202020204" pitchFamily="34" charset="0"/>
                <a:ea typeface="微软雅黑" panose="020B0503020204020204" charset="-122"/>
              </a:rPr>
              <a:t>有机氟化物由于具有极好的耐蚀性、耐湿性、电性能和表面性能，应用十分广泛。</a:t>
            </a:r>
            <a:endParaRPr lang="zh-CN" altLang="en-US">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additive="base">
                                        <p:cTn id="7" dur="500" fill="hold"/>
                                        <p:tgtEl>
                                          <p:spTgt spid="614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44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1443">
                                            <p:txEl>
                                              <p:pRg st="2" end="2"/>
                                            </p:txEl>
                                          </p:spTgt>
                                        </p:tgtEl>
                                        <p:attrNameLst>
                                          <p:attrName>style.visibility</p:attrName>
                                        </p:attrNameLst>
                                      </p:cBhvr>
                                      <p:to>
                                        <p:strVal val="visible"/>
                                      </p:to>
                                    </p:set>
                                    <p:anim calcmode="lin" valueType="num">
                                      <p:cBhvr additive="base">
                                        <p:cTn id="13" dur="500" fill="hold"/>
                                        <p:tgtEl>
                                          <p:spTgt spid="6144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144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1443">
                                            <p:txEl>
                                              <p:pRg st="4" end="4"/>
                                            </p:txEl>
                                          </p:spTgt>
                                        </p:tgtEl>
                                        <p:attrNameLst>
                                          <p:attrName>style.visibility</p:attrName>
                                        </p:attrNameLst>
                                      </p:cBhvr>
                                      <p:to>
                                        <p:strVal val="visible"/>
                                      </p:to>
                                    </p:set>
                                    <p:anim calcmode="lin" valueType="num">
                                      <p:cBhvr additive="base">
                                        <p:cTn id="19" dur="500" fill="hold"/>
                                        <p:tgtEl>
                                          <p:spTgt spid="6144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144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type="body" idx="1"/>
          </p:nvPr>
        </p:nvSpPr>
        <p:spPr>
          <a:xfrm>
            <a:off x="755650" y="1844675"/>
            <a:ext cx="8388350" cy="4681538"/>
          </a:xfrm>
        </p:spPr>
        <p:txBody>
          <a:bodyPr/>
          <a:lstStyle/>
          <a:p>
            <a:pPr eaLnBrk="1" hangingPunct="1">
              <a:lnSpc>
                <a:spcPct val="120000"/>
              </a:lnSpc>
              <a:buFont typeface="Wingdings" panose="05000000000000000000" pitchFamily="2" charset="2"/>
              <a:buNone/>
            </a:pPr>
            <a:r>
              <a:rPr lang="zh-CN" altLang="en-US" b="1">
                <a:latin typeface="Arial" panose="020B0604020202020204" pitchFamily="34" charset="0"/>
                <a:ea typeface="微软雅黑" panose="020B0503020204020204" charset="-122"/>
              </a:rPr>
              <a:t>传统的化学氟化的缺点：</a:t>
            </a:r>
            <a:endParaRPr lang="zh-CN" altLang="en-US" b="1">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a:latin typeface="Arial" panose="020B0604020202020204" pitchFamily="34" charset="0"/>
                <a:ea typeface="微软雅黑" panose="020B0503020204020204" charset="-122"/>
              </a:rPr>
              <a:t>        氟的高度活泼型和毒性，反应和操作都较复杂，不易控制加氟量，并且操作不当可能引起爆炸。</a:t>
            </a:r>
            <a:endParaRPr lang="zh-CN" altLang="en-US" b="1">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b="1">
                <a:latin typeface="Arial" panose="020B0604020202020204" pitchFamily="34" charset="0"/>
                <a:ea typeface="微软雅黑" panose="020B0503020204020204" charset="-122"/>
              </a:rPr>
              <a:t>电解氟化的优点：</a:t>
            </a:r>
            <a:endParaRPr lang="zh-CN" altLang="en-US" b="1">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a:latin typeface="Arial" panose="020B0604020202020204" pitchFamily="34" charset="0"/>
                <a:ea typeface="微软雅黑" panose="020B0503020204020204" charset="-122"/>
              </a:rPr>
              <a:t>        可在较安全和温和的条件下进行，反应过程及加氟量均较易控制，生产设备亦较简单。</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a:latin typeface="Arial" panose="020B0604020202020204" pitchFamily="34" charset="0"/>
                <a:ea typeface="微软雅黑" panose="020B0503020204020204" charset="-122"/>
              </a:rPr>
              <a:t>        </a:t>
            </a:r>
            <a:r>
              <a:rPr lang="en-US" altLang="zh-CN">
                <a:latin typeface="Arial" panose="020B0604020202020204" pitchFamily="34" charset="0"/>
                <a:ea typeface="微软雅黑" panose="020B0503020204020204" charset="-122"/>
              </a:rPr>
              <a:t>1951</a:t>
            </a:r>
            <a:r>
              <a:rPr lang="zh-CN" altLang="en-US">
                <a:latin typeface="Arial" panose="020B0604020202020204" pitchFamily="34" charset="0"/>
                <a:ea typeface="微软雅黑" panose="020B0503020204020204" charset="-122"/>
              </a:rPr>
              <a:t>年，美国</a:t>
            </a:r>
            <a:r>
              <a:rPr lang="en-US" altLang="zh-CN">
                <a:latin typeface="Arial" panose="020B0604020202020204" pitchFamily="34" charset="0"/>
                <a:ea typeface="微软雅黑" panose="020B0503020204020204" charset="-122"/>
              </a:rPr>
              <a:t>3M</a:t>
            </a:r>
            <a:r>
              <a:rPr lang="zh-CN" altLang="en-US">
                <a:latin typeface="Arial" panose="020B0604020202020204" pitchFamily="34" charset="0"/>
                <a:ea typeface="微软雅黑" panose="020B0503020204020204" charset="-122"/>
              </a:rPr>
              <a:t>公司首先将电解氟化实现工业化生产。 </a:t>
            </a:r>
            <a:endParaRPr lang="zh-CN" altLang="en-US">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anim calcmode="lin" valueType="num">
                                      <p:cBhvr additive="base">
                                        <p:cTn id="7" dur="500" fill="hold"/>
                                        <p:tgtEl>
                                          <p:spTgt spid="624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4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2467">
                                            <p:txEl>
                                              <p:pRg st="1" end="1"/>
                                            </p:txEl>
                                          </p:spTgt>
                                        </p:tgtEl>
                                        <p:attrNameLst>
                                          <p:attrName>style.visibility</p:attrName>
                                        </p:attrNameLst>
                                      </p:cBhvr>
                                      <p:to>
                                        <p:strVal val="visible"/>
                                      </p:to>
                                    </p:set>
                                    <p:anim calcmode="lin" valueType="num">
                                      <p:cBhvr additive="base">
                                        <p:cTn id="13" dur="500" fill="hold"/>
                                        <p:tgtEl>
                                          <p:spTgt spid="624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24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2467">
                                            <p:txEl>
                                              <p:pRg st="2" end="2"/>
                                            </p:txEl>
                                          </p:spTgt>
                                        </p:tgtEl>
                                        <p:attrNameLst>
                                          <p:attrName>style.visibility</p:attrName>
                                        </p:attrNameLst>
                                      </p:cBhvr>
                                      <p:to>
                                        <p:strVal val="visible"/>
                                      </p:to>
                                    </p:set>
                                    <p:anim calcmode="lin" valueType="num">
                                      <p:cBhvr additive="base">
                                        <p:cTn id="19" dur="500" fill="hold"/>
                                        <p:tgtEl>
                                          <p:spTgt spid="6246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24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2467">
                                            <p:txEl>
                                              <p:pRg st="3" end="3"/>
                                            </p:txEl>
                                          </p:spTgt>
                                        </p:tgtEl>
                                        <p:attrNameLst>
                                          <p:attrName>style.visibility</p:attrName>
                                        </p:attrNameLst>
                                      </p:cBhvr>
                                      <p:to>
                                        <p:strVal val="visible"/>
                                      </p:to>
                                    </p:set>
                                    <p:anim calcmode="lin" valueType="num">
                                      <p:cBhvr additive="base">
                                        <p:cTn id="25" dur="500" fill="hold"/>
                                        <p:tgtEl>
                                          <p:spTgt spid="6246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24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2467">
                                            <p:txEl>
                                              <p:pRg st="4" end="4"/>
                                            </p:txEl>
                                          </p:spTgt>
                                        </p:tgtEl>
                                        <p:attrNameLst>
                                          <p:attrName>style.visibility</p:attrName>
                                        </p:attrNameLst>
                                      </p:cBhvr>
                                      <p:to>
                                        <p:strVal val="visible"/>
                                      </p:to>
                                    </p:set>
                                    <p:anim calcmode="lin" valueType="num">
                                      <p:cBhvr additive="base">
                                        <p:cTn id="31" dur="500" fill="hold"/>
                                        <p:tgtEl>
                                          <p:spTgt spid="6246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246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4"/>
          <p:cNvSpPr>
            <a:spLocks noChangeArrowheads="1"/>
          </p:cNvSpPr>
          <p:nvPr/>
        </p:nvSpPr>
        <p:spPr bwMode="auto">
          <a:xfrm>
            <a:off x="900113" y="836613"/>
            <a:ext cx="465328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3200" b="1">
                <a:ea typeface="微软雅黑" panose="020B0503020204020204" charset="-122"/>
              </a:rPr>
              <a:t>电化学氟化有两种方法：</a:t>
            </a:r>
            <a:endParaRPr kumimoji="1" lang="zh-CN" altLang="en-US" sz="3200" b="1">
              <a:ea typeface="微软雅黑" panose="020B0503020204020204" charset="-122"/>
            </a:endParaRPr>
          </a:p>
        </p:txBody>
      </p:sp>
      <p:sp>
        <p:nvSpPr>
          <p:cNvPr id="152581" name="Text Box 5"/>
          <p:cNvSpPr txBox="1">
            <a:spLocks noChangeArrowheads="1"/>
          </p:cNvSpPr>
          <p:nvPr/>
        </p:nvSpPr>
        <p:spPr bwMode="auto">
          <a:xfrm>
            <a:off x="827088" y="1885950"/>
            <a:ext cx="7777162" cy="1770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buClr>
                <a:schemeClr val="accent1"/>
              </a:buClr>
              <a:buSzPct val="80000"/>
              <a:buFont typeface="Wingdings" panose="05000000000000000000" pitchFamily="2" charset="2"/>
              <a:buNone/>
            </a:pPr>
            <a:r>
              <a:rPr kumimoji="1" lang="en-US" altLang="zh-CN">
                <a:ea typeface="微软雅黑" panose="020B0503020204020204" charset="-122"/>
              </a:rPr>
              <a:t>     Simons</a:t>
            </a:r>
            <a:r>
              <a:rPr kumimoji="1" lang="zh-CN" altLang="en-US">
                <a:ea typeface="微软雅黑" panose="020B0503020204020204" charset="-122"/>
              </a:rPr>
              <a:t>法：</a:t>
            </a:r>
            <a:r>
              <a:rPr kumimoji="1" lang="en-US" altLang="zh-CN">
                <a:ea typeface="微软雅黑" panose="020B0503020204020204" charset="-122"/>
              </a:rPr>
              <a:t>Ni</a:t>
            </a:r>
            <a:r>
              <a:rPr kumimoji="1" lang="zh-CN" altLang="en-US">
                <a:ea typeface="微软雅黑" panose="020B0503020204020204" charset="-122"/>
              </a:rPr>
              <a:t>为阳极，在无水氟化氢中电解制备全氟化物的方法。 主要合成全氟有机物，可制备特种表面活性剂。</a:t>
            </a:r>
            <a:endParaRPr lang="zh-CN" altLang="en-US">
              <a:ea typeface="微软雅黑" panose="020B0503020204020204" charset="-122"/>
            </a:endParaRPr>
          </a:p>
        </p:txBody>
      </p:sp>
      <p:sp>
        <p:nvSpPr>
          <p:cNvPr id="152582" name="Rectangle 6"/>
          <p:cNvSpPr>
            <a:spLocks noChangeArrowheads="1"/>
          </p:cNvSpPr>
          <p:nvPr/>
        </p:nvSpPr>
        <p:spPr bwMode="auto">
          <a:xfrm>
            <a:off x="827405" y="3712210"/>
            <a:ext cx="7992745" cy="2220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Tx/>
              <a:buNone/>
            </a:pPr>
            <a:r>
              <a:rPr kumimoji="1" lang="en-US" altLang="zh-CN">
                <a:ea typeface="微软雅黑" panose="020B0503020204020204" charset="-122"/>
              </a:rPr>
              <a:t>    Rozhkov</a:t>
            </a:r>
            <a:r>
              <a:rPr kumimoji="1" lang="zh-CN" altLang="en-US">
                <a:ea typeface="微软雅黑" panose="020B0503020204020204" charset="-122"/>
              </a:rPr>
              <a:t>法：</a:t>
            </a:r>
            <a:r>
              <a:rPr kumimoji="1" lang="en-US" altLang="zh-CN">
                <a:ea typeface="微软雅黑" panose="020B0503020204020204" charset="-122"/>
              </a:rPr>
              <a:t>Pt</a:t>
            </a:r>
            <a:r>
              <a:rPr kumimoji="1" lang="zh-CN" altLang="en-US">
                <a:ea typeface="微软雅黑" panose="020B0503020204020204" charset="-122"/>
              </a:rPr>
              <a:t>为阳极，以有机溶剂为介质，制备单氟化物。主要用于芳烃的选择性氟化，可制备新型药物（如环丙沙星、络美沙星）和活性染料的中间体等。</a:t>
            </a:r>
            <a:endParaRPr kumimoji="1" lang="zh-CN" altLang="en-US">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52581"/>
                                        </p:tgtEl>
                                        <p:attrNameLst>
                                          <p:attrName>style.visibility</p:attrName>
                                        </p:attrNameLst>
                                      </p:cBhvr>
                                      <p:to>
                                        <p:strVal val="visible"/>
                                      </p:to>
                                    </p:set>
                                    <p:animEffect transition="in" filter="slide(fromBottom)">
                                      <p:cBhvr>
                                        <p:cTn id="7" dur="500"/>
                                        <p:tgtEl>
                                          <p:spTgt spid="152581"/>
                                        </p:tgtEl>
                                      </p:cBhvr>
                                    </p:animEffect>
                                  </p:childTnLst>
                                </p:cTn>
                              </p:par>
                              <p:par>
                                <p:cTn id="8" presetID="12" presetClass="entr" presetSubtype="4" fill="hold" grpId="0" nodeType="withEffect">
                                  <p:stCondLst>
                                    <p:cond delay="0"/>
                                  </p:stCondLst>
                                  <p:childTnLst>
                                    <p:set>
                                      <p:cBhvr>
                                        <p:cTn id="9" dur="1" fill="hold">
                                          <p:stCondLst>
                                            <p:cond delay="0"/>
                                          </p:stCondLst>
                                        </p:cTn>
                                        <p:tgtEl>
                                          <p:spTgt spid="152582"/>
                                        </p:tgtEl>
                                        <p:attrNameLst>
                                          <p:attrName>style.visibility</p:attrName>
                                        </p:attrNameLst>
                                      </p:cBhvr>
                                      <p:to>
                                        <p:strVal val="visible"/>
                                      </p:to>
                                    </p:set>
                                    <p:animEffect transition="in" filter="slide(fromBottom)">
                                      <p:cBhvr>
                                        <p:cTn id="10" dur="500"/>
                                        <p:tgtEl>
                                          <p:spTgt spid="1525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81" grpId="0"/>
      <p:bldP spid="152582"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3"/>
          <p:cNvSpPr>
            <a:spLocks noGrp="1" noChangeArrowheads="1"/>
          </p:cNvSpPr>
          <p:nvPr>
            <p:ph type="body" idx="1"/>
          </p:nvPr>
        </p:nvSpPr>
        <p:spPr/>
        <p:txBody>
          <a:bodyPr/>
          <a:lstStyle/>
          <a:p>
            <a:pPr eaLnBrk="1" hangingPunct="1">
              <a:lnSpc>
                <a:spcPct val="150000"/>
              </a:lnSpc>
              <a:buFont typeface="Wingdings" panose="05000000000000000000" pitchFamily="2" charset="2"/>
              <a:buNone/>
            </a:pPr>
            <a:r>
              <a:rPr lang="zh-CN" altLang="en-US" b="1">
                <a:latin typeface="Arial" panose="020B0604020202020204" pitchFamily="34" charset="0"/>
                <a:ea typeface="微软雅黑" panose="020B0503020204020204" charset="-122"/>
              </a:rPr>
              <a:t>电解氟化的过程：</a:t>
            </a:r>
            <a:r>
              <a:rPr lang="zh-CN" altLang="en-US">
                <a:latin typeface="Arial" panose="020B0604020202020204" pitchFamily="34" charset="0"/>
                <a:ea typeface="微软雅黑" panose="020B0503020204020204" charset="-122"/>
              </a:rPr>
              <a:t>将有机化合物溶于无水氟化氢中</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有时加入少量支持电解质，提高导电能力</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，通电后阴极加氢，而有机化合物的碳</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氢键则在阳极转化为碳</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氟键，多重键被氟饱和，并可能发生一些降解反应。</a:t>
            </a:r>
            <a:endParaRPr lang="zh-CN" altLang="en-US">
              <a:latin typeface="Arial" panose="020B0604020202020204" pitchFamily="34" charset="0"/>
              <a:ea typeface="微软雅黑" panose="020B0503020204020204" charset="-122"/>
            </a:endParaRPr>
          </a:p>
          <a:p>
            <a:pPr eaLnBrk="1" hangingPunct="1">
              <a:lnSpc>
                <a:spcPct val="150000"/>
              </a:lnSpc>
              <a:buFont typeface="Wingdings" panose="05000000000000000000" pitchFamily="2" charset="2"/>
              <a:buNone/>
            </a:pPr>
            <a:endParaRPr lang="en-US" altLang="zh-CN">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anim calcmode="lin" valueType="num">
                                      <p:cBhvr>
                                        <p:cTn id="7" dur="500" fill="hold"/>
                                        <p:tgtEl>
                                          <p:spTgt spid="63491">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3491">
                                            <p:txEl>
                                              <p:pRg st="0" end="0"/>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AutoShape 2"/>
          <p:cNvSpPr>
            <a:spLocks noGrp="1" noChangeArrowheads="1"/>
          </p:cNvSpPr>
          <p:nvPr>
            <p:ph type="title"/>
          </p:nvPr>
        </p:nvSpPr>
        <p:spPr>
          <a:xfrm>
            <a:off x="755650" y="332423"/>
            <a:ext cx="7924800" cy="1143000"/>
          </a:xfrm>
        </p:spPr>
        <p:txBody>
          <a:bodyPr/>
          <a:lstStyle/>
          <a:p>
            <a:pPr eaLnBrk="1" hangingPunct="1"/>
            <a:r>
              <a:rPr lang="zh-CN" altLang="en-US">
                <a:latin typeface="Arial" panose="020B0604020202020204" pitchFamily="34" charset="0"/>
                <a:ea typeface="微软雅黑" panose="020B0503020204020204" charset="-122"/>
              </a:rPr>
              <a:t>有机氟化反应考虑以下问题：</a:t>
            </a:r>
            <a:endParaRPr lang="zh-CN" altLang="en-US">
              <a:latin typeface="Arial" panose="020B0604020202020204" pitchFamily="34" charset="0"/>
              <a:ea typeface="微软雅黑" panose="020B0503020204020204" charset="-122"/>
            </a:endParaRPr>
          </a:p>
        </p:txBody>
      </p:sp>
      <p:sp>
        <p:nvSpPr>
          <p:cNvPr id="64515" name="Rectangle 3"/>
          <p:cNvSpPr>
            <a:spLocks noGrp="1" noChangeArrowheads="1"/>
          </p:cNvSpPr>
          <p:nvPr>
            <p:ph type="body" idx="1"/>
          </p:nvPr>
        </p:nvSpPr>
        <p:spPr>
          <a:xfrm>
            <a:off x="684213" y="1674813"/>
            <a:ext cx="8137525" cy="5183187"/>
          </a:xfrm>
        </p:spPr>
        <p:txBody>
          <a:bodyPr/>
          <a:lstStyle/>
          <a:p>
            <a:pPr eaLnBrk="1" hangingPunct="1">
              <a:lnSpc>
                <a:spcPct val="120000"/>
              </a:lnSpc>
              <a:buFont typeface="Wingdings" panose="05000000000000000000" pitchFamily="2" charset="2"/>
              <a:buNone/>
            </a:pPr>
            <a:r>
              <a:rPr lang="zh-CN" altLang="en-US" b="1">
                <a:latin typeface="Arial" panose="020B0604020202020204" pitchFamily="34" charset="0"/>
                <a:ea typeface="微软雅黑" panose="020B0503020204020204" charset="-122"/>
              </a:rPr>
              <a:t>（</a:t>
            </a:r>
            <a:r>
              <a:rPr lang="en-US" altLang="zh-CN" b="1">
                <a:latin typeface="Arial" panose="020B0604020202020204" pitchFamily="34" charset="0"/>
                <a:ea typeface="微软雅黑" panose="020B0503020204020204" charset="-122"/>
              </a:rPr>
              <a:t>1</a:t>
            </a:r>
            <a:r>
              <a:rPr lang="zh-CN" altLang="en-US" b="1">
                <a:latin typeface="Arial" panose="020B0604020202020204" pitchFamily="34" charset="0"/>
                <a:ea typeface="微软雅黑" panose="020B0503020204020204" charset="-122"/>
              </a:rPr>
              <a:t>）溶剂</a:t>
            </a:r>
            <a:endParaRPr lang="zh-CN" altLang="en-US" b="1">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a:latin typeface="Arial" panose="020B0604020202020204" pitchFamily="34" charset="0"/>
                <a:ea typeface="微软雅黑" panose="020B0503020204020204" charset="-122"/>
              </a:rPr>
              <a:t>         常用无水氟化氢</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沸点为</a:t>
            </a:r>
            <a:r>
              <a:rPr lang="en-US" altLang="zh-CN">
                <a:latin typeface="Arial" panose="020B0604020202020204" pitchFamily="34" charset="0"/>
                <a:ea typeface="微软雅黑" panose="020B0503020204020204" charset="-122"/>
              </a:rPr>
              <a:t>19.5℃)</a:t>
            </a:r>
            <a:r>
              <a:rPr lang="zh-CN" altLang="en-US">
                <a:latin typeface="Arial" panose="020B0604020202020204" pitchFamily="34" charset="0"/>
                <a:ea typeface="微软雅黑" panose="020B0503020204020204" charset="-122"/>
              </a:rPr>
              <a:t>，它既能溶解无机物，又可溶大多数有机物，并有良好的导电性能。在无水</a:t>
            </a:r>
            <a:r>
              <a:rPr lang="en-US" altLang="zh-CN">
                <a:latin typeface="Arial" panose="020B0604020202020204" pitchFamily="34" charset="0"/>
                <a:ea typeface="微软雅黑" panose="020B0503020204020204" charset="-122"/>
              </a:rPr>
              <a:t>HF</a:t>
            </a:r>
            <a:r>
              <a:rPr lang="zh-CN" altLang="en-US">
                <a:latin typeface="Arial" panose="020B0604020202020204" pitchFamily="34" charset="0"/>
                <a:ea typeface="微软雅黑" panose="020B0503020204020204" charset="-122"/>
              </a:rPr>
              <a:t>的电解氟化，常形成全氟有机化合物。</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a:latin typeface="Arial" panose="020B0604020202020204" pitchFamily="34" charset="0"/>
                <a:ea typeface="微软雅黑" panose="020B0503020204020204" charset="-122"/>
              </a:rPr>
              <a:t>          近年来也使用有机溶剂，如乙腈、砜等进行电解氟化，得到的是部分氟化物，电解液中常加入支持电解质，如四乙基氟化铵、四烷基四氟硼酸铵等。</a:t>
            </a:r>
            <a:endParaRPr lang="zh-CN" altLang="en-US">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64515">
                                            <p:txEl>
                                              <p:pRg st="1" end="1"/>
                                            </p:txEl>
                                          </p:spTgt>
                                        </p:tgtEl>
                                        <p:attrNameLst>
                                          <p:attrName>style.visibility</p:attrName>
                                        </p:attrNameLst>
                                      </p:cBhvr>
                                      <p:to>
                                        <p:strVal val="visible"/>
                                      </p:to>
                                    </p:set>
                                    <p:animEffect transition="in" filter="fade">
                                      <p:cBhvr>
                                        <p:cTn id="7" dur="1000"/>
                                        <p:tgtEl>
                                          <p:spTgt spid="64515">
                                            <p:txEl>
                                              <p:pRg st="1" end="1"/>
                                            </p:txEl>
                                          </p:spTgt>
                                        </p:tgtEl>
                                      </p:cBhvr>
                                    </p:animEffect>
                                    <p:anim calcmode="lin" valueType="num">
                                      <p:cBhvr>
                                        <p:cTn id="8" dur="1000" fill="hold"/>
                                        <p:tgtEl>
                                          <p:spTgt spid="64515">
                                            <p:txEl>
                                              <p:pRg st="1" end="1"/>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64515">
                                            <p:txEl>
                                              <p:pRg st="1" end="1"/>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64515">
                                            <p:txEl>
                                              <p:pRg st="1" end="1"/>
                                            </p:txEl>
                                          </p:spTgt>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3" presetClass="entr" presetSubtype="16" fill="hold" nodeType="clickEffect">
                                  <p:stCondLst>
                                    <p:cond delay="0"/>
                                  </p:stCondLst>
                                  <p:childTnLst>
                                    <p:set>
                                      <p:cBhvr>
                                        <p:cTn id="14" dur="1" fill="hold">
                                          <p:stCondLst>
                                            <p:cond delay="0"/>
                                          </p:stCondLst>
                                        </p:cTn>
                                        <p:tgtEl>
                                          <p:spTgt spid="64515">
                                            <p:txEl>
                                              <p:pRg st="2" end="2"/>
                                            </p:txEl>
                                          </p:spTgt>
                                        </p:tgtEl>
                                        <p:attrNameLst>
                                          <p:attrName>style.visibility</p:attrName>
                                        </p:attrNameLst>
                                      </p:cBhvr>
                                      <p:to>
                                        <p:strVal val="visible"/>
                                      </p:to>
                                    </p:set>
                                    <p:anim calcmode="lin" valueType="num">
                                      <p:cBhvr>
                                        <p:cTn id="15" dur="500" fill="hold"/>
                                        <p:tgtEl>
                                          <p:spTgt spid="64515">
                                            <p:txEl>
                                              <p:pRg st="2" end="2"/>
                                            </p:txEl>
                                          </p:spTgt>
                                        </p:tgtEl>
                                        <p:attrNameLst>
                                          <p:attrName>ppt_w</p:attrName>
                                        </p:attrNameLst>
                                      </p:cBhvr>
                                      <p:tavLst>
                                        <p:tav tm="0">
                                          <p:val>
                                            <p:fltVal val="0"/>
                                          </p:val>
                                        </p:tav>
                                        <p:tav tm="100000">
                                          <p:val>
                                            <p:strVal val="#ppt_w"/>
                                          </p:val>
                                        </p:tav>
                                      </p:tavLst>
                                    </p:anim>
                                    <p:anim calcmode="lin" valueType="num">
                                      <p:cBhvr>
                                        <p:cTn id="16" dur="500" fill="hold"/>
                                        <p:tgtEl>
                                          <p:spTgt spid="64515">
                                            <p:txEl>
                                              <p:pRg st="2" end="2"/>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p:cNvSpPr>
            <a:spLocks noGrp="1" noChangeArrowheads="1"/>
          </p:cNvSpPr>
          <p:nvPr>
            <p:ph type="body" idx="1"/>
          </p:nvPr>
        </p:nvSpPr>
        <p:spPr>
          <a:xfrm>
            <a:off x="611188" y="1844675"/>
            <a:ext cx="8353425" cy="4635500"/>
          </a:xfrm>
        </p:spPr>
        <p:txBody>
          <a:bodyPr/>
          <a:lstStyle/>
          <a:p>
            <a:pPr eaLnBrk="1" hangingPunct="1">
              <a:lnSpc>
                <a:spcPct val="130000"/>
              </a:lnSpc>
              <a:buFont typeface="Wingdings" panose="05000000000000000000" pitchFamily="2" charset="2"/>
              <a:buNone/>
            </a:pPr>
            <a:r>
              <a:rPr lang="zh-CN" altLang="en-US" b="1">
                <a:latin typeface="Arial" panose="020B0604020202020204" pitchFamily="34" charset="0"/>
                <a:ea typeface="微软雅黑" panose="020B0503020204020204" charset="-122"/>
              </a:rPr>
              <a:t>（</a:t>
            </a:r>
            <a:r>
              <a:rPr lang="en-US" altLang="zh-CN" b="1">
                <a:latin typeface="Arial" panose="020B0604020202020204" pitchFamily="34" charset="0"/>
                <a:ea typeface="微软雅黑" panose="020B0503020204020204" charset="-122"/>
              </a:rPr>
              <a:t>2</a:t>
            </a:r>
            <a:r>
              <a:rPr lang="zh-CN" altLang="en-US" b="1">
                <a:latin typeface="Arial" panose="020B0604020202020204" pitchFamily="34" charset="0"/>
                <a:ea typeface="微软雅黑" panose="020B0503020204020204" charset="-122"/>
              </a:rPr>
              <a:t>）电极材料：</a:t>
            </a:r>
            <a:r>
              <a:rPr lang="zh-CN" altLang="en-US">
                <a:latin typeface="Arial" panose="020B0604020202020204" pitchFamily="34" charset="0"/>
                <a:ea typeface="微软雅黑" panose="020B0503020204020204" charset="-122"/>
              </a:rPr>
              <a:t>电解氟化时，阳极材料易损耗。常用的阳极材料有镍、镍合金、铂和多孔碳，耐蚀性较好，反应收率较高。</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endParaRPr lang="zh-CN" altLang="en-US" sz="1200">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r>
              <a:rPr lang="zh-CN" altLang="en-US" b="1">
                <a:latin typeface="Arial" panose="020B0604020202020204" pitchFamily="34" charset="0"/>
                <a:ea typeface="微软雅黑" panose="020B0503020204020204" charset="-122"/>
              </a:rPr>
              <a:t>（</a:t>
            </a:r>
            <a:r>
              <a:rPr lang="en-US" altLang="zh-CN" b="1">
                <a:latin typeface="Arial" panose="020B0604020202020204" pitchFamily="34" charset="0"/>
                <a:ea typeface="微软雅黑" panose="020B0503020204020204" charset="-122"/>
              </a:rPr>
              <a:t>3</a:t>
            </a:r>
            <a:r>
              <a:rPr lang="zh-CN" altLang="en-US" b="1">
                <a:latin typeface="Arial" panose="020B0604020202020204" pitchFamily="34" charset="0"/>
                <a:ea typeface="微软雅黑" panose="020B0503020204020204" charset="-122"/>
              </a:rPr>
              <a:t>）电流密度：</a:t>
            </a:r>
            <a:r>
              <a:rPr lang="zh-CN" altLang="en-US">
                <a:latin typeface="Arial" panose="020B0604020202020204" pitchFamily="34" charset="0"/>
                <a:ea typeface="微软雅黑" panose="020B0503020204020204" charset="-122"/>
              </a:rPr>
              <a:t> 既使反应物氟化，又不产生</a:t>
            </a:r>
            <a:r>
              <a:rPr lang="en-US" altLang="zh-CN">
                <a:latin typeface="Arial" panose="020B0604020202020204" pitchFamily="34" charset="0"/>
                <a:ea typeface="微软雅黑" panose="020B0503020204020204" charset="-122"/>
              </a:rPr>
              <a:t>F</a:t>
            </a:r>
            <a:r>
              <a:rPr lang="en-US" altLang="zh-CN" baseline="-25000">
                <a:latin typeface="Arial" panose="020B0604020202020204" pitchFamily="34" charset="0"/>
                <a:ea typeface="微软雅黑" panose="020B0503020204020204" charset="-122"/>
              </a:rPr>
              <a:t>2</a:t>
            </a:r>
            <a:r>
              <a:rPr lang="zh-CN" altLang="en-US">
                <a:latin typeface="Arial" panose="020B0604020202020204" pitchFamily="34" charset="0"/>
                <a:ea typeface="微软雅黑" panose="020B0503020204020204" charset="-122"/>
              </a:rPr>
              <a:t>。在采用镍阳极和</a:t>
            </a:r>
            <a:r>
              <a:rPr lang="en-US" altLang="zh-CN">
                <a:latin typeface="Arial" panose="020B0604020202020204" pitchFamily="34" charset="0"/>
                <a:ea typeface="微软雅黑" panose="020B0503020204020204" charset="-122"/>
              </a:rPr>
              <a:t>HF</a:t>
            </a:r>
            <a:r>
              <a:rPr lang="zh-CN" altLang="en-US">
                <a:latin typeface="Arial" panose="020B0604020202020204" pitchFamily="34" charset="0"/>
                <a:ea typeface="微软雅黑" panose="020B0503020204020204" charset="-122"/>
              </a:rPr>
              <a:t>介质时，最佳电流密度约为</a:t>
            </a:r>
            <a:r>
              <a:rPr lang="en-US" altLang="zh-CN">
                <a:latin typeface="Arial" panose="020B0604020202020204" pitchFamily="34" charset="0"/>
                <a:ea typeface="微软雅黑" panose="020B0503020204020204" charset="-122"/>
              </a:rPr>
              <a:t>20-</a:t>
            </a:r>
            <a:r>
              <a:rPr lang="en-US" altLang="zh-CN">
                <a:latin typeface="Arial" panose="020B0604020202020204" pitchFamily="34" charset="0"/>
                <a:ea typeface="微软雅黑" panose="020B0503020204020204" charset="-122"/>
              </a:rPr>
              <a:t>50 mA/cm</a:t>
            </a:r>
            <a:r>
              <a:rPr lang="en-US" altLang="zh-CN" baseline="30000">
                <a:latin typeface="Arial" panose="020B0604020202020204" pitchFamily="34" charset="0"/>
                <a:ea typeface="微软雅黑" panose="020B0503020204020204" charset="-122"/>
              </a:rPr>
              <a:t>2</a:t>
            </a:r>
            <a:r>
              <a:rPr lang="zh-CN" altLang="en-US">
                <a:latin typeface="Arial" panose="020B0604020202020204" pitchFamily="34" charset="0"/>
                <a:ea typeface="微软雅黑" panose="020B0503020204020204" charset="-122"/>
              </a:rPr>
              <a:t>，对应的槽压为</a:t>
            </a:r>
            <a:r>
              <a:rPr lang="en-US" altLang="zh-CN">
                <a:latin typeface="Arial" panose="020B0604020202020204" pitchFamily="34" charset="0"/>
                <a:ea typeface="微软雅黑" panose="020B0503020204020204" charset="-122"/>
              </a:rPr>
              <a:t>5-8 V</a:t>
            </a:r>
            <a:r>
              <a:rPr lang="zh-CN" altLang="en-US">
                <a:latin typeface="Arial" panose="020B0604020202020204" pitchFamily="34" charset="0"/>
                <a:ea typeface="微软雅黑" panose="020B0503020204020204" charset="-122"/>
              </a:rPr>
              <a:t>。</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endParaRPr lang="en-US" altLang="zh-CN">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 calcmode="lin" valueType="num">
                                      <p:cBhvr additive="base">
                                        <p:cTn id="7" dur="500" fill="hold"/>
                                        <p:tgtEl>
                                          <p:spTgt spid="655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55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5539">
                                            <p:txEl>
                                              <p:pRg st="2" end="2"/>
                                            </p:txEl>
                                          </p:spTgt>
                                        </p:tgtEl>
                                        <p:attrNameLst>
                                          <p:attrName>style.visibility</p:attrName>
                                        </p:attrNameLst>
                                      </p:cBhvr>
                                      <p:to>
                                        <p:strVal val="visible"/>
                                      </p:to>
                                    </p:set>
                                    <p:anim calcmode="lin" valueType="num">
                                      <p:cBhvr additive="base">
                                        <p:cTn id="13" dur="500" fill="hold"/>
                                        <p:tgtEl>
                                          <p:spTgt spid="6553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553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p:cNvSpPr>
            <a:spLocks noGrp="1" noChangeArrowheads="1"/>
          </p:cNvSpPr>
          <p:nvPr>
            <p:ph type="body" idx="1"/>
          </p:nvPr>
        </p:nvSpPr>
        <p:spPr/>
        <p:txBody>
          <a:bodyPr/>
          <a:lstStyle/>
          <a:p>
            <a:pPr eaLnBrk="1" hangingPunct="1">
              <a:lnSpc>
                <a:spcPct val="130000"/>
              </a:lnSpc>
              <a:buFont typeface="Wingdings" panose="05000000000000000000" pitchFamily="2" charset="2"/>
              <a:buNone/>
            </a:pPr>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4</a:t>
            </a:r>
            <a:r>
              <a:rPr lang="zh-CN" altLang="en-US">
                <a:latin typeface="Arial" panose="020B0604020202020204" pitchFamily="34" charset="0"/>
                <a:ea typeface="微软雅黑" panose="020B0503020204020204" charset="-122"/>
              </a:rPr>
              <a:t>）</a:t>
            </a:r>
            <a:r>
              <a:rPr lang="zh-CN" altLang="en-US" b="1">
                <a:latin typeface="Arial" panose="020B0604020202020204" pitchFamily="34" charset="0"/>
                <a:ea typeface="微软雅黑" panose="020B0503020204020204" charset="-122"/>
              </a:rPr>
              <a:t>反应物浓度</a:t>
            </a:r>
            <a:r>
              <a:rPr lang="zh-CN" altLang="en-US">
                <a:latin typeface="Arial" panose="020B0604020202020204" pitchFamily="34" charset="0"/>
                <a:ea typeface="微软雅黑" panose="020B0503020204020204" charset="-122"/>
              </a:rPr>
              <a:t>：一般以</a:t>
            </a:r>
            <a:r>
              <a:rPr lang="en-US" altLang="zh-CN">
                <a:latin typeface="Arial" panose="020B0604020202020204" pitchFamily="34" charset="0"/>
                <a:ea typeface="微软雅黑" panose="020B0503020204020204" charset="-122"/>
              </a:rPr>
              <a:t>5</a:t>
            </a:r>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15</a:t>
            </a:r>
            <a:r>
              <a:rPr lang="zh-CN" altLang="en-US">
                <a:latin typeface="Arial" panose="020B0604020202020204" pitchFamily="34" charset="0"/>
                <a:ea typeface="微软雅黑" panose="020B0503020204020204" charset="-122"/>
              </a:rPr>
              <a:t>％为宜。在此范围内若使浓度较高，有利于部分氟化反应；反之，若使反应物浓度较低，则有利于全氟化反应。</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endParaRPr lang="zh-CN" altLang="en-US" sz="1200">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5</a:t>
            </a:r>
            <a:r>
              <a:rPr lang="zh-CN" altLang="en-US">
                <a:latin typeface="Arial" panose="020B0604020202020204" pitchFamily="34" charset="0"/>
                <a:ea typeface="微软雅黑" panose="020B0503020204020204" charset="-122"/>
              </a:rPr>
              <a:t>）</a:t>
            </a:r>
            <a:r>
              <a:rPr lang="zh-CN" altLang="en-US" b="1">
                <a:latin typeface="Arial" panose="020B0604020202020204" pitchFamily="34" charset="0"/>
                <a:ea typeface="微软雅黑" panose="020B0503020204020204" charset="-122"/>
              </a:rPr>
              <a:t>反应温度</a:t>
            </a:r>
            <a:r>
              <a:rPr lang="zh-CN" altLang="en-US">
                <a:latin typeface="Arial" panose="020B0604020202020204" pitchFamily="34" charset="0"/>
                <a:ea typeface="微软雅黑" panose="020B0503020204020204" charset="-122"/>
              </a:rPr>
              <a:t>：一般在</a:t>
            </a:r>
            <a:r>
              <a:rPr lang="en-US" altLang="zh-CN">
                <a:latin typeface="Arial" panose="020B0604020202020204" pitchFamily="34" charset="0"/>
                <a:ea typeface="微软雅黑" panose="020B0503020204020204" charset="-122"/>
              </a:rPr>
              <a:t>0</a:t>
            </a:r>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20℃</a:t>
            </a:r>
            <a:r>
              <a:rPr lang="zh-CN" altLang="en-US">
                <a:latin typeface="Arial" panose="020B0604020202020204" pitchFamily="34" charset="0"/>
                <a:ea typeface="微软雅黑" panose="020B0503020204020204" charset="-122"/>
              </a:rPr>
              <a:t>。</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endParaRPr lang="en-US" altLang="zh-CN">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anim calcmode="lin" valueType="num">
                                      <p:cBhvr additive="base">
                                        <p:cTn id="7" dur="500" fill="hold"/>
                                        <p:tgtEl>
                                          <p:spTgt spid="665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65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6563">
                                            <p:txEl>
                                              <p:pRg st="2" end="2"/>
                                            </p:txEl>
                                          </p:spTgt>
                                        </p:tgtEl>
                                        <p:attrNameLst>
                                          <p:attrName>style.visibility</p:attrName>
                                        </p:attrNameLst>
                                      </p:cBhvr>
                                      <p:to>
                                        <p:strVal val="visible"/>
                                      </p:to>
                                    </p:set>
                                    <p:anim calcmode="lin" valueType="num">
                                      <p:cBhvr additive="base">
                                        <p:cTn id="13" dur="500" fill="hold"/>
                                        <p:tgtEl>
                                          <p:spTgt spid="6656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656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AutoShape 2"/>
          <p:cNvSpPr>
            <a:spLocks noGrp="1" noChangeArrowheads="1"/>
          </p:cNvSpPr>
          <p:nvPr>
            <p:ph type="title"/>
          </p:nvPr>
        </p:nvSpPr>
        <p:spPr>
          <a:xfrm>
            <a:off x="755650" y="404813"/>
            <a:ext cx="7924800" cy="1143000"/>
          </a:xfrm>
        </p:spPr>
        <p:txBody>
          <a:bodyPr/>
          <a:lstStyle/>
          <a:p>
            <a:pPr eaLnBrk="1" hangingPunct="1"/>
            <a:r>
              <a:rPr lang="zh-CN" altLang="en-US">
                <a:latin typeface="Arial" panose="020B0604020202020204" pitchFamily="34" charset="0"/>
                <a:ea typeface="微软雅黑" panose="020B0503020204020204" charset="-122"/>
              </a:rPr>
              <a:t>电解氟化装置：</a:t>
            </a:r>
            <a:endParaRPr lang="zh-CN" altLang="en-US">
              <a:latin typeface="Arial" panose="020B0604020202020204" pitchFamily="34" charset="0"/>
              <a:ea typeface="微软雅黑" panose="020B0503020204020204" charset="-122"/>
            </a:endParaRPr>
          </a:p>
        </p:txBody>
      </p:sp>
      <p:sp>
        <p:nvSpPr>
          <p:cNvPr id="77827" name="Rectangle 3"/>
          <p:cNvSpPr>
            <a:spLocks noGrp="1" noChangeArrowheads="1"/>
          </p:cNvSpPr>
          <p:nvPr>
            <p:ph type="body" idx="1"/>
          </p:nvPr>
        </p:nvSpPr>
        <p:spPr/>
        <p:txBody>
          <a:bodyPr/>
          <a:lstStyle/>
          <a:p>
            <a:pPr eaLnBrk="1" hangingPunct="1">
              <a:lnSpc>
                <a:spcPct val="120000"/>
              </a:lnSpc>
              <a:buFont typeface="Wingdings" panose="05000000000000000000" pitchFamily="2" charset="2"/>
              <a:buNone/>
            </a:pPr>
            <a:r>
              <a:rPr lang="en-US" altLang="zh-CN" b="1">
                <a:latin typeface="Arial" panose="020B0604020202020204" pitchFamily="34" charset="0"/>
                <a:ea typeface="微软雅黑" panose="020B0503020204020204" charset="-122"/>
              </a:rPr>
              <a:t>Simons</a:t>
            </a:r>
            <a:r>
              <a:rPr lang="zh-CN" altLang="en-US">
                <a:latin typeface="Arial" panose="020B0604020202020204" pitchFamily="34" charset="0"/>
                <a:ea typeface="微软雅黑" panose="020B0503020204020204" charset="-122"/>
              </a:rPr>
              <a:t>最初的电解氟化装置和条件为：</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r>
              <a:rPr lang="zh-CN" altLang="en-US">
                <a:latin typeface="Arial" panose="020B0604020202020204" pitchFamily="34" charset="0"/>
                <a:ea typeface="微软雅黑" panose="020B0503020204020204" charset="-122"/>
              </a:rPr>
              <a:t>         采用无隔膜电解槽，以无水液态氟化氢为溶剂，在镍阳极上发生有机物的氟化。为提高导电性，可在电解液中加入</a:t>
            </a:r>
            <a:r>
              <a:rPr lang="en-US" altLang="zh-CN">
                <a:latin typeface="Arial" panose="020B0604020202020204" pitchFamily="34" charset="0"/>
                <a:ea typeface="微软雅黑" panose="020B0503020204020204" charset="-122"/>
              </a:rPr>
              <a:t>NaF</a:t>
            </a:r>
            <a:r>
              <a:rPr lang="zh-CN" altLang="en-US">
                <a:latin typeface="Arial" panose="020B0604020202020204" pitchFamily="34" charset="0"/>
                <a:ea typeface="微软雅黑" panose="020B0503020204020204" charset="-122"/>
              </a:rPr>
              <a:t>和</a:t>
            </a:r>
            <a:r>
              <a:rPr lang="en-US" altLang="zh-CN">
                <a:latin typeface="Arial" panose="020B0604020202020204" pitchFamily="34" charset="0"/>
                <a:ea typeface="微软雅黑" panose="020B0503020204020204" charset="-122"/>
              </a:rPr>
              <a:t>KF</a:t>
            </a:r>
            <a:r>
              <a:rPr lang="zh-CN" altLang="en-US">
                <a:latin typeface="Arial" panose="020B0604020202020204" pitchFamily="34" charset="0"/>
                <a:ea typeface="微软雅黑" panose="020B0503020204020204" charset="-122"/>
              </a:rPr>
              <a:t>，电解温度低于</a:t>
            </a:r>
            <a:r>
              <a:rPr lang="en-US" altLang="zh-CN">
                <a:latin typeface="Arial" panose="020B0604020202020204" pitchFamily="34" charset="0"/>
                <a:ea typeface="微软雅黑" panose="020B0503020204020204" charset="-122"/>
              </a:rPr>
              <a:t>20℃</a:t>
            </a:r>
            <a:r>
              <a:rPr lang="zh-CN" altLang="en-US">
                <a:latin typeface="Arial" panose="020B0604020202020204" pitchFamily="34" charset="0"/>
                <a:ea typeface="微软雅黑" panose="020B0503020204020204" charset="-122"/>
              </a:rPr>
              <a:t>，电流密度为</a:t>
            </a:r>
            <a:r>
              <a:rPr lang="en-US" altLang="zh-CN">
                <a:latin typeface="Arial" panose="020B0604020202020204" pitchFamily="34" charset="0"/>
                <a:ea typeface="微软雅黑" panose="020B0503020204020204" charset="-122"/>
              </a:rPr>
              <a:t>10~20mA</a:t>
            </a:r>
            <a:r>
              <a:rPr lang="zh-CN" altLang="en-US">
                <a:latin typeface="Arial" panose="020B0604020202020204" pitchFamily="34" charset="0"/>
                <a:ea typeface="微软雅黑" panose="020B0503020204020204" charset="-122"/>
              </a:rPr>
              <a:t>／</a:t>
            </a:r>
            <a:r>
              <a:rPr lang="en-US" altLang="zh-CN">
                <a:latin typeface="Arial" panose="020B0604020202020204" pitchFamily="34" charset="0"/>
                <a:ea typeface="微软雅黑" panose="020B0503020204020204" charset="-122"/>
              </a:rPr>
              <a:t>cm</a:t>
            </a:r>
            <a:r>
              <a:rPr lang="en-US" altLang="zh-CN" baseline="30000">
                <a:latin typeface="Arial" panose="020B0604020202020204" pitchFamily="34" charset="0"/>
                <a:ea typeface="微软雅黑" panose="020B0503020204020204" charset="-122"/>
              </a:rPr>
              <a:t>2</a:t>
            </a:r>
            <a:r>
              <a:rPr lang="zh-CN" altLang="en-US">
                <a:latin typeface="Arial" panose="020B0604020202020204" pitchFamily="34" charset="0"/>
                <a:ea typeface="微软雅黑" panose="020B0503020204020204" charset="-122"/>
              </a:rPr>
              <a:t>。</a:t>
            </a:r>
            <a:endParaRPr lang="zh-CN" altLang="en-US">
              <a:latin typeface="Arial" panose="020B0604020202020204" pitchFamily="34" charset="0"/>
              <a:ea typeface="微软雅黑" panose="020B0503020204020204" charset="-122"/>
            </a:endParaRPr>
          </a:p>
          <a:p>
            <a:pPr eaLnBrk="1" hangingPunct="1">
              <a:lnSpc>
                <a:spcPct val="120000"/>
              </a:lnSpc>
              <a:buFont typeface="Wingdings" panose="05000000000000000000" pitchFamily="2" charset="2"/>
              <a:buNone/>
            </a:pPr>
            <a:endParaRPr lang="en-US" altLang="zh-CN">
              <a:latin typeface="Arial" panose="020B0604020202020204" pitchFamily="34" charset="0"/>
              <a:ea typeface="微软雅黑" panose="020B0503020204020204" charset="-122"/>
            </a:endParaRPr>
          </a:p>
        </p:txBody>
      </p:sp>
    </p:spTree>
  </p:cSld>
  <p:clrMapOvr>
    <a:masterClrMapping/>
  </p:clrMapOvr>
  <p:transition>
    <p:pull dir="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p:cNvSpPr>
            <a:spLocks noGrp="1" noChangeArrowheads="1"/>
          </p:cNvSpPr>
          <p:nvPr>
            <p:ph type="body" idx="1"/>
          </p:nvPr>
        </p:nvSpPr>
        <p:spPr/>
        <p:txBody>
          <a:bodyPr/>
          <a:lstStyle/>
          <a:p>
            <a:pPr eaLnBrk="1" hangingPunct="1">
              <a:lnSpc>
                <a:spcPct val="130000"/>
              </a:lnSpc>
              <a:buFont typeface="Wingdings" panose="05000000000000000000" pitchFamily="2" charset="2"/>
              <a:buNone/>
            </a:pPr>
            <a:r>
              <a:rPr lang="en-US" altLang="zh-CN">
                <a:latin typeface="Arial" panose="020B0604020202020204" pitchFamily="34" charset="0"/>
                <a:ea typeface="微软雅黑" panose="020B0503020204020204" charset="-122"/>
              </a:rPr>
              <a:t>           1951</a:t>
            </a:r>
            <a:r>
              <a:rPr lang="zh-CN" altLang="en-US">
                <a:latin typeface="Arial" panose="020B0604020202020204" pitchFamily="34" charset="0"/>
                <a:ea typeface="微软雅黑" panose="020B0503020204020204" charset="-122"/>
              </a:rPr>
              <a:t>年</a:t>
            </a:r>
            <a:r>
              <a:rPr lang="zh-CN" altLang="en-US" b="1">
                <a:latin typeface="Arial" panose="020B0604020202020204" pitchFamily="34" charset="0"/>
                <a:ea typeface="微软雅黑" panose="020B0503020204020204" charset="-122"/>
              </a:rPr>
              <a:t>美国</a:t>
            </a:r>
            <a:r>
              <a:rPr lang="en-US" altLang="zh-CN" b="1">
                <a:latin typeface="Arial" panose="020B0604020202020204" pitchFamily="34" charset="0"/>
                <a:ea typeface="微软雅黑" panose="020B0503020204020204" charset="-122"/>
              </a:rPr>
              <a:t>3M</a:t>
            </a:r>
            <a:r>
              <a:rPr lang="zh-CN" altLang="en-US" b="1">
                <a:latin typeface="Arial" panose="020B0604020202020204" pitchFamily="34" charset="0"/>
                <a:ea typeface="微软雅黑" panose="020B0503020204020204" charset="-122"/>
              </a:rPr>
              <a:t>公司</a:t>
            </a:r>
            <a:r>
              <a:rPr lang="zh-CN" altLang="en-US">
                <a:latin typeface="Arial" panose="020B0604020202020204" pitchFamily="34" charset="0"/>
                <a:ea typeface="微软雅黑" panose="020B0503020204020204" charset="-122"/>
              </a:rPr>
              <a:t>首先投产的电解氟化装置，采用了</a:t>
            </a:r>
            <a:r>
              <a:rPr lang="en-US" altLang="zh-CN">
                <a:latin typeface="Arial" panose="020B0604020202020204" pitchFamily="34" charset="0"/>
                <a:ea typeface="微软雅黑" panose="020B0503020204020204" charset="-122"/>
              </a:rPr>
              <a:t>10kA</a:t>
            </a:r>
            <a:r>
              <a:rPr lang="zh-CN" altLang="en-US">
                <a:latin typeface="Arial" panose="020B0604020202020204" pitchFamily="34" charset="0"/>
                <a:ea typeface="微软雅黑" panose="020B0503020204020204" charset="-122"/>
              </a:rPr>
              <a:t>电解槽，每天可生产</a:t>
            </a:r>
            <a:r>
              <a:rPr lang="en-US" altLang="zh-CN">
                <a:latin typeface="Arial" panose="020B0604020202020204" pitchFamily="34" charset="0"/>
                <a:ea typeface="微软雅黑" panose="020B0503020204020204" charset="-122"/>
              </a:rPr>
              <a:t>115kg</a:t>
            </a:r>
            <a:r>
              <a:rPr lang="zh-CN" altLang="en-US">
                <a:latin typeface="Arial" panose="020B0604020202020204" pitchFamily="34" charset="0"/>
                <a:ea typeface="微软雅黑" panose="020B0503020204020204" charset="-122"/>
              </a:rPr>
              <a:t>碳氟化合物。电解槽为高</a:t>
            </a:r>
            <a:r>
              <a:rPr lang="en-US" altLang="zh-CN">
                <a:latin typeface="Arial" panose="020B0604020202020204" pitchFamily="34" charset="0"/>
                <a:ea typeface="微软雅黑" panose="020B0503020204020204" charset="-122"/>
              </a:rPr>
              <a:t>180cm</a:t>
            </a:r>
            <a:r>
              <a:rPr lang="zh-CN" altLang="en-US">
                <a:latin typeface="Arial" panose="020B0604020202020204" pitchFamily="34" charset="0"/>
                <a:ea typeface="微软雅黑" panose="020B0503020204020204" charset="-122"/>
              </a:rPr>
              <a:t>、直径</a:t>
            </a:r>
            <a:r>
              <a:rPr lang="en-US" altLang="zh-CN">
                <a:latin typeface="Arial" panose="020B0604020202020204" pitchFamily="34" charset="0"/>
                <a:ea typeface="微软雅黑" panose="020B0503020204020204" charset="-122"/>
              </a:rPr>
              <a:t>120cm</a:t>
            </a:r>
            <a:r>
              <a:rPr lang="zh-CN" altLang="en-US">
                <a:latin typeface="Arial" panose="020B0604020202020204" pitchFamily="34" charset="0"/>
                <a:ea typeface="微软雅黑" panose="020B0503020204020204" charset="-122"/>
              </a:rPr>
              <a:t>的钢槽，交错排放着镍阳极和铁阴极。</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r>
              <a:rPr lang="zh-CN" altLang="en-US">
                <a:latin typeface="Arial" panose="020B0604020202020204" pitchFamily="34" charset="0"/>
                <a:ea typeface="微软雅黑" panose="020B0503020204020204" charset="-122"/>
              </a:rPr>
              <a:t>        可生产多种有机氟化物，从最简单的碳氟化物</a:t>
            </a:r>
            <a:r>
              <a:rPr lang="en-US" altLang="zh-CN">
                <a:latin typeface="Arial" panose="020B0604020202020204" pitchFamily="34" charset="0"/>
                <a:ea typeface="微软雅黑" panose="020B0503020204020204" charset="-122"/>
              </a:rPr>
              <a:t>(CF</a:t>
            </a:r>
            <a:r>
              <a:rPr lang="en-US" altLang="zh-CN" baseline="-25000">
                <a:latin typeface="Arial" panose="020B0604020202020204" pitchFamily="34" charset="0"/>
                <a:ea typeface="微软雅黑" panose="020B0503020204020204" charset="-122"/>
              </a:rPr>
              <a:t>4</a:t>
            </a:r>
            <a:r>
              <a:rPr lang="en-US" altLang="zh-CN">
                <a:latin typeface="Arial" panose="020B0604020202020204" pitchFamily="34" charset="0"/>
                <a:ea typeface="微软雅黑" panose="020B0503020204020204" charset="-122"/>
              </a:rPr>
              <a:t>)</a:t>
            </a:r>
            <a:r>
              <a:rPr lang="zh-CN" altLang="en-US">
                <a:latin typeface="Arial" panose="020B0604020202020204" pitchFamily="34" charset="0"/>
                <a:ea typeface="微软雅黑" panose="020B0503020204020204" charset="-122"/>
              </a:rPr>
              <a:t>到较大分子量的全氟叔胺和有机酸。</a:t>
            </a:r>
            <a:endParaRPr lang="zh-CN" altLang="en-US">
              <a:latin typeface="Arial" panose="020B0604020202020204" pitchFamily="34" charset="0"/>
              <a:ea typeface="微软雅黑" panose="020B0503020204020204" charset="-122"/>
            </a:endParaRPr>
          </a:p>
          <a:p>
            <a:pPr eaLnBrk="1" hangingPunct="1">
              <a:lnSpc>
                <a:spcPct val="130000"/>
              </a:lnSpc>
              <a:buFont typeface="Wingdings" panose="05000000000000000000" pitchFamily="2" charset="2"/>
              <a:buNone/>
            </a:pPr>
            <a:endParaRPr lang="en-US" altLang="zh-CN">
              <a:latin typeface="Arial" panose="020B0604020202020204" pitchFamily="34" charset="0"/>
              <a:ea typeface="微软雅黑" panose="020B0503020204020204" charset="-122"/>
            </a:endParaRPr>
          </a:p>
        </p:txBody>
      </p:sp>
    </p:spTree>
  </p:cSld>
  <p:clrMapOvr>
    <a:masterClrMapping/>
  </p:clrMapOvr>
  <p:transition>
    <p:pull dir="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p:cNvSpPr>
            <a:spLocks noGrp="1" noChangeArrowheads="1"/>
          </p:cNvSpPr>
          <p:nvPr>
            <p:ph type="body" idx="1"/>
          </p:nvPr>
        </p:nvSpPr>
        <p:spPr/>
        <p:txBody>
          <a:bodyPr/>
          <a:lstStyle/>
          <a:p>
            <a:pPr eaLnBrk="1" hangingPunct="1">
              <a:lnSpc>
                <a:spcPct val="140000"/>
              </a:lnSpc>
              <a:buFont typeface="Wingdings" panose="05000000000000000000" pitchFamily="2" charset="2"/>
              <a:buNone/>
            </a:pPr>
            <a:r>
              <a:rPr lang="en-US" altLang="zh-CN" b="1">
                <a:latin typeface="Arial" panose="020B0604020202020204" pitchFamily="34" charset="0"/>
                <a:ea typeface="微软雅黑" panose="020B0503020204020204" charset="-122"/>
              </a:rPr>
              <a:t>     </a:t>
            </a:r>
            <a:r>
              <a:rPr lang="zh-CN" altLang="en-US" b="1">
                <a:latin typeface="Arial" panose="020B0604020202020204" pitchFamily="34" charset="0"/>
                <a:ea typeface="微软雅黑" panose="020B0503020204020204" charset="-122"/>
              </a:rPr>
              <a:t>菲利蒲石油公司</a:t>
            </a:r>
            <a:r>
              <a:rPr lang="zh-CN" altLang="en-US">
                <a:latin typeface="Arial" panose="020B0604020202020204" pitchFamily="34" charset="0"/>
                <a:ea typeface="微软雅黑" panose="020B0503020204020204" charset="-122"/>
              </a:rPr>
              <a:t>对</a:t>
            </a:r>
            <a:r>
              <a:rPr lang="en-US" altLang="zh-CN">
                <a:latin typeface="Arial" panose="020B0604020202020204" pitchFamily="34" charset="0"/>
                <a:ea typeface="微软雅黑" panose="020B0503020204020204" charset="-122"/>
              </a:rPr>
              <a:t>3M</a:t>
            </a:r>
            <a:r>
              <a:rPr lang="zh-CN" altLang="en-US">
                <a:latin typeface="Arial" panose="020B0604020202020204" pitchFamily="34" charset="0"/>
                <a:ea typeface="微软雅黑" panose="020B0503020204020204" charset="-122"/>
              </a:rPr>
              <a:t>公司的电解氟化系统进行了改进，采用了多孔碳阳极，有机原料通过这些孔送入，通过调节有机原料的进料速率及阳极电流密度改变氟化程度。</a:t>
            </a:r>
            <a:endParaRPr lang="zh-CN" altLang="en-US">
              <a:latin typeface="Arial" panose="020B0604020202020204" pitchFamily="34" charset="0"/>
              <a:ea typeface="微软雅黑" panose="020B0503020204020204" charset="-122"/>
            </a:endParaRPr>
          </a:p>
        </p:txBody>
      </p:sp>
    </p:spTree>
  </p:cSld>
  <p:clrMapOvr>
    <a:masterClrMapping/>
  </p:clrMapOvr>
  <p:transition>
    <p:pull dir="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4"/>
          <p:cNvSpPr>
            <a:spLocks noChangeArrowheads="1"/>
          </p:cNvSpPr>
          <p:nvPr/>
        </p:nvSpPr>
        <p:spPr bwMode="auto">
          <a:xfrm>
            <a:off x="900113" y="931863"/>
            <a:ext cx="336677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buClr>
                <a:schemeClr val="accent1"/>
              </a:buClr>
              <a:buSzPct val="80000"/>
              <a:buFont typeface="Wingdings" panose="05000000000000000000" pitchFamily="2" charset="2"/>
              <a:buNone/>
            </a:pPr>
            <a:r>
              <a:rPr kumimoji="1" lang="en-US" altLang="zh-CN" sz="3200" b="1">
                <a:ea typeface="微软雅黑" panose="020B0503020204020204" charset="-122"/>
              </a:rPr>
              <a:t>1.</a:t>
            </a:r>
            <a:r>
              <a:rPr kumimoji="1" lang="zh-CN" altLang="en-US" sz="3200" b="1">
                <a:ea typeface="微软雅黑" panose="020B0503020204020204" charset="-122"/>
              </a:rPr>
              <a:t>癸二酸的电合成</a:t>
            </a:r>
            <a:endParaRPr kumimoji="1" lang="zh-CN" altLang="en-US" sz="3200" b="1">
              <a:ea typeface="微软雅黑" panose="020B0503020204020204" charset="-122"/>
            </a:endParaRPr>
          </a:p>
        </p:txBody>
      </p:sp>
      <p:sp>
        <p:nvSpPr>
          <p:cNvPr id="153605" name="Rectangle 5"/>
          <p:cNvSpPr>
            <a:spLocks noChangeArrowheads="1"/>
          </p:cNvSpPr>
          <p:nvPr/>
        </p:nvSpPr>
        <p:spPr bwMode="auto">
          <a:xfrm>
            <a:off x="900113" y="1916113"/>
            <a:ext cx="7789862" cy="246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0"/>
              </a:spcBef>
              <a:buClr>
                <a:schemeClr val="accent1"/>
              </a:buClr>
              <a:buSzPct val="80000"/>
              <a:buFont typeface="Wingdings" panose="05000000000000000000" pitchFamily="2" charset="2"/>
              <a:buNone/>
            </a:pPr>
            <a:r>
              <a:rPr kumimoji="1" lang="en-US" altLang="zh-CN">
                <a:ea typeface="微软雅黑" panose="020B0503020204020204" charset="-122"/>
              </a:rPr>
              <a:t>     </a:t>
            </a:r>
            <a:r>
              <a:rPr kumimoji="1" lang="zh-CN" altLang="en-US">
                <a:ea typeface="微软雅黑" panose="020B0503020204020204" charset="-122"/>
              </a:rPr>
              <a:t>这是</a:t>
            </a:r>
            <a:r>
              <a:rPr kumimoji="1" lang="en-US" altLang="zh-CN">
                <a:ea typeface="微软雅黑" panose="020B0503020204020204" charset="-122"/>
              </a:rPr>
              <a:t>Kolbe</a:t>
            </a:r>
            <a:r>
              <a:rPr kumimoji="1" lang="zh-CN" altLang="en-US">
                <a:ea typeface="微软雅黑" panose="020B0503020204020204" charset="-122"/>
              </a:rPr>
              <a:t>反应的典型应用，以己二酸单甲酯为原料，通过阳极氧化制得癸二酸二甲酯，再经碱解，即得。反应是在无隔膜电解槽中进行的，包括己二酸单甲酯的合成、电解、水解三部分。反应式为：</a:t>
            </a:r>
            <a:endParaRPr kumimoji="1" lang="zh-CN" altLang="en-US">
              <a:ea typeface="微软雅黑" panose="020B0503020204020204" charset="-122"/>
            </a:endParaRPr>
          </a:p>
        </p:txBody>
      </p:sp>
      <p:pic>
        <p:nvPicPr>
          <p:cNvPr id="153607"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0113" y="4581525"/>
            <a:ext cx="8101012"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1" name="Text Box 8"/>
          <p:cNvSpPr txBox="1">
            <a:spLocks noChangeArrowheads="1"/>
          </p:cNvSpPr>
          <p:nvPr/>
        </p:nvSpPr>
        <p:spPr bwMode="auto">
          <a:xfrm>
            <a:off x="3492500" y="188913"/>
            <a:ext cx="565150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3200">
                <a:ea typeface="微软雅黑" panose="020B0503020204020204" charset="-122"/>
              </a:rPr>
              <a:t>四、其他有机电合成实例</a:t>
            </a:r>
            <a:endParaRPr lang="zh-CN" altLang="en-US" sz="320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53605"/>
                                        </p:tgtEl>
                                        <p:attrNameLst>
                                          <p:attrName>style.visibility</p:attrName>
                                        </p:attrNameLst>
                                      </p:cBhvr>
                                      <p:to>
                                        <p:strVal val="visible"/>
                                      </p:to>
                                    </p:set>
                                    <p:anim to="" calcmode="lin" valueType="num">
                                      <p:cBhvr>
                                        <p:cTn id="7" dur="1" fill="hold"/>
                                        <p:tgtEl>
                                          <p:spTgt spid="153605"/>
                                        </p:tgtEl>
                                      </p:cBhvr>
                                    </p:anim>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153607"/>
                                        </p:tgtEl>
                                        <p:attrNameLst>
                                          <p:attrName>style.visibility</p:attrName>
                                        </p:attrNameLst>
                                      </p:cBhvr>
                                      <p:to>
                                        <p:strVal val="visible"/>
                                      </p:to>
                                    </p:set>
                                    <p:anim calcmode="lin" valueType="num">
                                      <p:cBhvr>
                                        <p:cTn id="12" dur="500" fill="hold"/>
                                        <p:tgtEl>
                                          <p:spTgt spid="153607"/>
                                        </p:tgtEl>
                                        <p:attrNameLst>
                                          <p:attrName>ppt_w</p:attrName>
                                        </p:attrNameLst>
                                      </p:cBhvr>
                                      <p:tavLst>
                                        <p:tav tm="0">
                                          <p:val>
                                            <p:fltVal val="0"/>
                                          </p:val>
                                        </p:tav>
                                        <p:tav tm="100000">
                                          <p:val>
                                            <p:strVal val="#ppt_w"/>
                                          </p:val>
                                        </p:tav>
                                      </p:tavLst>
                                    </p:anim>
                                    <p:anim calcmode="lin" valueType="num">
                                      <p:cBhvr>
                                        <p:cTn id="13" dur="500" fill="hold"/>
                                        <p:tgtEl>
                                          <p:spTgt spid="15360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5"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4"/>
          <p:cNvSpPr txBox="1">
            <a:spLocks noChangeArrowheads="1"/>
          </p:cNvSpPr>
          <p:nvPr/>
        </p:nvSpPr>
        <p:spPr bwMode="auto">
          <a:xfrm>
            <a:off x="900113" y="2133600"/>
            <a:ext cx="7848600" cy="3044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ClrTx/>
              <a:buSzTx/>
              <a:buFontTx/>
              <a:buNone/>
            </a:pPr>
            <a:r>
              <a:rPr kumimoji="1" lang="en-US" altLang="zh-CN" sz="3200">
                <a:ea typeface="微软雅黑" panose="020B0503020204020204" charset="-122"/>
              </a:rPr>
              <a:t>     </a:t>
            </a:r>
            <a:r>
              <a:rPr kumimoji="1" lang="zh-CN" altLang="en-US" sz="3200">
                <a:ea typeface="微软雅黑" panose="020B0503020204020204" charset="-122"/>
              </a:rPr>
              <a:t>由于羧基离子的放电电位很正，需采用</a:t>
            </a:r>
            <a:r>
              <a:rPr kumimoji="1" lang="en-US" altLang="zh-CN" sz="3200">
                <a:ea typeface="微软雅黑" panose="020B0503020204020204" charset="-122"/>
              </a:rPr>
              <a:t>Pt</a:t>
            </a:r>
            <a:r>
              <a:rPr kumimoji="1" lang="zh-CN" altLang="en-US" sz="3200">
                <a:ea typeface="微软雅黑" panose="020B0503020204020204" charset="-122"/>
              </a:rPr>
              <a:t>或</a:t>
            </a:r>
            <a:r>
              <a:rPr kumimoji="1" lang="en-US" altLang="zh-CN" sz="3200">
                <a:ea typeface="微软雅黑" panose="020B0503020204020204" charset="-122"/>
              </a:rPr>
              <a:t>Ti/Pt</a:t>
            </a:r>
            <a:r>
              <a:rPr kumimoji="1" lang="zh-CN" altLang="en-US" sz="3200">
                <a:ea typeface="微软雅黑" panose="020B0503020204020204" charset="-122"/>
              </a:rPr>
              <a:t>阳极，阴极则可用</a:t>
            </a:r>
            <a:r>
              <a:rPr kumimoji="1" lang="en-US" altLang="zh-CN" sz="3200">
                <a:ea typeface="微软雅黑" panose="020B0503020204020204" charset="-122"/>
              </a:rPr>
              <a:t>Ti</a:t>
            </a:r>
            <a:r>
              <a:rPr kumimoji="1" lang="zh-CN" altLang="en-US" sz="3200">
                <a:ea typeface="微软雅黑" panose="020B0503020204020204" charset="-122"/>
              </a:rPr>
              <a:t>或不锈钢。电解液为己二酸单甲酯、甲醇和</a:t>
            </a:r>
            <a:r>
              <a:rPr kumimoji="1" lang="en-US" altLang="zh-CN" sz="3200">
                <a:ea typeface="微软雅黑" panose="020B0503020204020204" charset="-122"/>
              </a:rPr>
              <a:t>Na</a:t>
            </a:r>
            <a:r>
              <a:rPr kumimoji="1" lang="en-US" altLang="zh-CN" sz="3200" baseline="-25000">
                <a:ea typeface="微软雅黑" panose="020B0503020204020204" charset="-122"/>
              </a:rPr>
              <a:t>2</a:t>
            </a:r>
            <a:r>
              <a:rPr kumimoji="1" lang="en-US" altLang="zh-CN" sz="3200">
                <a:ea typeface="微软雅黑" panose="020B0503020204020204" charset="-122"/>
              </a:rPr>
              <a:t>CO</a:t>
            </a:r>
            <a:r>
              <a:rPr kumimoji="1" lang="en-US" altLang="zh-CN" sz="3200" baseline="-25000">
                <a:ea typeface="微软雅黑" panose="020B0503020204020204" charset="-122"/>
              </a:rPr>
              <a:t>3</a:t>
            </a:r>
            <a:r>
              <a:rPr kumimoji="1" lang="zh-CN" altLang="en-US" sz="3200">
                <a:ea typeface="微软雅黑" panose="020B0503020204020204" charset="-122"/>
              </a:rPr>
              <a:t>水溶液的混合物。在温度</a:t>
            </a:r>
            <a:r>
              <a:rPr kumimoji="1" lang="en-US" altLang="zh-CN" sz="3200">
                <a:ea typeface="微软雅黑" panose="020B0503020204020204" charset="-122"/>
              </a:rPr>
              <a:t>50</a:t>
            </a:r>
            <a:r>
              <a:rPr kumimoji="1" lang="zh-CN" altLang="en-US" sz="3200">
                <a:ea typeface="微软雅黑" panose="020B0503020204020204" charset="-122"/>
              </a:rPr>
              <a:t>～</a:t>
            </a:r>
            <a:r>
              <a:rPr kumimoji="1" lang="en-US" altLang="zh-CN" sz="3200">
                <a:ea typeface="微软雅黑" panose="020B0503020204020204" charset="-122"/>
              </a:rPr>
              <a:t>60℃</a:t>
            </a:r>
            <a:r>
              <a:rPr kumimoji="1" lang="zh-CN" altLang="en-US" sz="3200">
                <a:ea typeface="微软雅黑" panose="020B0503020204020204" charset="-122"/>
              </a:rPr>
              <a:t>、电流密度</a:t>
            </a:r>
            <a:r>
              <a:rPr kumimoji="1" lang="en-US" altLang="zh-CN" sz="3200">
                <a:ea typeface="微软雅黑" panose="020B0503020204020204" charset="-122"/>
              </a:rPr>
              <a:t>10A/dm</a:t>
            </a:r>
            <a:r>
              <a:rPr kumimoji="1" lang="en-US" altLang="zh-CN" sz="3200" baseline="30000">
                <a:ea typeface="微软雅黑" panose="020B0503020204020204" charset="-122"/>
              </a:rPr>
              <a:t>2</a:t>
            </a:r>
            <a:r>
              <a:rPr kumimoji="1" lang="zh-CN" altLang="en-US" sz="3200">
                <a:ea typeface="微软雅黑" panose="020B0503020204020204" charset="-122"/>
              </a:rPr>
              <a:t>时，电流效率为</a:t>
            </a:r>
            <a:r>
              <a:rPr kumimoji="1" lang="en-US" altLang="zh-CN" sz="3200">
                <a:ea typeface="微软雅黑" panose="020B0503020204020204" charset="-122"/>
              </a:rPr>
              <a:t>70%</a:t>
            </a:r>
            <a:r>
              <a:rPr kumimoji="1" lang="zh-CN" altLang="en-US" sz="3200">
                <a:ea typeface="微软雅黑" panose="020B0503020204020204" charset="-122"/>
              </a:rPr>
              <a:t>。</a:t>
            </a:r>
            <a:endParaRPr kumimoji="1" lang="zh-CN" altLang="en-US" sz="3200">
              <a:ea typeface="微软雅黑" panose="020B0503020204020204" charset="-122"/>
            </a:endParaRPr>
          </a:p>
        </p:txBody>
      </p:sp>
    </p:spTree>
  </p:cSld>
  <p:clrMapOvr>
    <a:masterClrMapping/>
  </p:clrMapOvr>
  <p:transition>
    <p:newsflash/>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AutoShape 4"/>
          <p:cNvSpPr>
            <a:spLocks noChangeArrowheads="1"/>
          </p:cNvSpPr>
          <p:nvPr/>
        </p:nvSpPr>
        <p:spPr bwMode="auto">
          <a:xfrm>
            <a:off x="827405" y="404813"/>
            <a:ext cx="7924800" cy="1143000"/>
          </a:xfrm>
          <a:prstGeom prst="roundRect">
            <a:avLst>
              <a:gd name="adj" fmla="val 21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b"/>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0"/>
              </a:spcBef>
              <a:buClrTx/>
              <a:buSzTx/>
              <a:buFontTx/>
              <a:buNone/>
            </a:pPr>
            <a:r>
              <a:rPr lang="en-US" altLang="zh-CN" sz="3200" b="1">
                <a:solidFill>
                  <a:schemeClr val="tx2"/>
                </a:solidFill>
                <a:ea typeface="微软雅黑" panose="020B0503020204020204" charset="-122"/>
              </a:rPr>
              <a:t>2</a:t>
            </a:r>
            <a:r>
              <a:rPr lang="zh-CN" altLang="en-US" sz="3200" b="1">
                <a:solidFill>
                  <a:schemeClr val="tx2"/>
                </a:solidFill>
                <a:ea typeface="微软雅黑" panose="020B0503020204020204" charset="-122"/>
              </a:rPr>
              <a:t>、葡萄糖酸钙（                            ）</a:t>
            </a:r>
            <a:endParaRPr lang="zh-CN" altLang="en-US" sz="3200" b="1">
              <a:solidFill>
                <a:schemeClr val="tx2"/>
              </a:solidFill>
              <a:ea typeface="微软雅黑" panose="020B0503020204020204" charset="-122"/>
            </a:endParaRPr>
          </a:p>
        </p:txBody>
      </p:sp>
      <p:pic>
        <p:nvPicPr>
          <p:cNvPr id="82947"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84663" y="765175"/>
            <a:ext cx="25781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48"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2205038"/>
            <a:ext cx="2832100" cy="294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49"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1989138"/>
            <a:ext cx="3943350" cy="410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50" name="Picture 17" descr="201051112165595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363" y="2060575"/>
            <a:ext cx="4176712"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ext Box 2"/>
          <p:cNvSpPr txBox="1">
            <a:spLocks noChangeArrowheads="1"/>
          </p:cNvSpPr>
          <p:nvPr/>
        </p:nvSpPr>
        <p:spPr bwMode="auto">
          <a:xfrm>
            <a:off x="900113" y="1916113"/>
            <a:ext cx="7920037" cy="1576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ct val="115000"/>
              </a:lnSpc>
              <a:spcBef>
                <a:spcPct val="0"/>
              </a:spcBef>
              <a:buClrTx/>
              <a:buSzTx/>
              <a:buFontTx/>
              <a:buNone/>
            </a:pPr>
            <a:r>
              <a:rPr lang="en-US" altLang="zh-CN">
                <a:ea typeface="微软雅黑" panose="020B0503020204020204" charset="-122"/>
              </a:rPr>
              <a:t>     </a:t>
            </a:r>
            <a:r>
              <a:rPr lang="zh-CN" altLang="en-US">
                <a:ea typeface="微软雅黑" panose="020B0503020204020204" charset="-122"/>
              </a:rPr>
              <a:t>葡萄糖酸钙</a:t>
            </a:r>
            <a:r>
              <a:rPr lang="en-US" altLang="zh-CN" b="1">
                <a:ea typeface="微软雅黑" panose="020B0503020204020204" charset="-122"/>
              </a:rPr>
              <a:t>(</a:t>
            </a:r>
            <a:r>
              <a:rPr lang="zh-CN" altLang="en-US">
                <a:ea typeface="微软雅黑" panose="020B0503020204020204" charset="-122"/>
              </a:rPr>
              <a:t>锌</a:t>
            </a:r>
            <a:r>
              <a:rPr lang="en-US" altLang="zh-CN" b="1">
                <a:ea typeface="微软雅黑" panose="020B0503020204020204" charset="-122"/>
              </a:rPr>
              <a:t>)</a:t>
            </a:r>
            <a:r>
              <a:rPr lang="zh-CN" altLang="en-US">
                <a:ea typeface="微软雅黑" panose="020B0503020204020204" charset="-122"/>
              </a:rPr>
              <a:t>被认为是较高档的补钙</a:t>
            </a:r>
            <a:r>
              <a:rPr lang="en-US" altLang="zh-CN" b="1">
                <a:ea typeface="微软雅黑" panose="020B0503020204020204" charset="-122"/>
              </a:rPr>
              <a:t>(</a:t>
            </a:r>
            <a:r>
              <a:rPr lang="zh-CN" altLang="en-US">
                <a:ea typeface="微软雅黑" panose="020B0503020204020204" charset="-122"/>
              </a:rPr>
              <a:t>锌</a:t>
            </a:r>
            <a:r>
              <a:rPr lang="en-US" altLang="zh-CN" b="1">
                <a:ea typeface="微软雅黑" panose="020B0503020204020204" charset="-122"/>
              </a:rPr>
              <a:t>)</a:t>
            </a:r>
            <a:r>
              <a:rPr lang="zh-CN" altLang="en-US">
                <a:ea typeface="微软雅黑" panose="020B0503020204020204" charset="-122"/>
              </a:rPr>
              <a:t>剂，早被国际</a:t>
            </a:r>
            <a:r>
              <a:rPr lang="en-US" altLang="zh-CN" b="1">
                <a:ea typeface="微软雅黑" panose="020B0503020204020204" charset="-122"/>
              </a:rPr>
              <a:t>FAO/WHO (</a:t>
            </a:r>
            <a:r>
              <a:rPr lang="zh-CN" altLang="en-US">
                <a:ea typeface="微软雅黑" panose="020B0503020204020204" charset="-122"/>
              </a:rPr>
              <a:t>世界粮农和世界卫生组织</a:t>
            </a:r>
            <a:r>
              <a:rPr lang="en-US" altLang="zh-CN" b="1">
                <a:ea typeface="微软雅黑" panose="020B0503020204020204" charset="-122"/>
              </a:rPr>
              <a:t>) </a:t>
            </a:r>
            <a:r>
              <a:rPr lang="zh-CN" altLang="en-US">
                <a:ea typeface="微软雅黑" panose="020B0503020204020204" charset="-122"/>
              </a:rPr>
              <a:t>专家委员会推荐为安全和必要的补钙剂。</a:t>
            </a:r>
            <a:endParaRPr lang="zh-CN" altLang="en-US">
              <a:ea typeface="微软雅黑" panose="020B0503020204020204" charset="-122"/>
            </a:endParaRPr>
          </a:p>
        </p:txBody>
      </p:sp>
      <p:sp>
        <p:nvSpPr>
          <p:cNvPr id="135171" name="Rectangle 3"/>
          <p:cNvSpPr>
            <a:spLocks noChangeArrowheads="1"/>
          </p:cNvSpPr>
          <p:nvPr/>
        </p:nvSpPr>
        <p:spPr bwMode="auto">
          <a:xfrm>
            <a:off x="900113" y="3860800"/>
            <a:ext cx="7488237" cy="2071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ct val="115000"/>
              </a:lnSpc>
              <a:spcBef>
                <a:spcPct val="0"/>
              </a:spcBef>
              <a:buClrTx/>
              <a:buSzTx/>
              <a:buFontTx/>
              <a:buNone/>
            </a:pPr>
            <a:r>
              <a:rPr lang="en-US" altLang="zh-CN">
                <a:ea typeface="微软雅黑" panose="020B0503020204020204" charset="-122"/>
              </a:rPr>
              <a:t>     </a:t>
            </a:r>
            <a:r>
              <a:rPr lang="zh-CN" altLang="en-US">
                <a:ea typeface="微软雅黑" panose="020B0503020204020204" charset="-122"/>
              </a:rPr>
              <a:t>葡萄糖酸钙还可用作固化剂、螯合剂、成型助剂、稳定剂、增稠剂、组织改良剂等，市场容量很大，是很有发展前途的产品。</a:t>
            </a:r>
            <a:endParaRPr lang="zh-CN" altLang="en-US">
              <a:ea typeface="微软雅黑" panose="020B0503020204020204" charset="-122"/>
            </a:endParaRPr>
          </a:p>
          <a:p>
            <a:pPr eaLnBrk="1" hangingPunct="1">
              <a:lnSpc>
                <a:spcPct val="115000"/>
              </a:lnSpc>
              <a:spcBef>
                <a:spcPct val="0"/>
              </a:spcBef>
              <a:buClrTx/>
              <a:buSzTx/>
              <a:buFontTx/>
              <a:buNone/>
            </a:pPr>
            <a:endParaRPr lang="en-US" altLang="zh-CN">
              <a:ea typeface="微软雅黑" panose="020B050302020402020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35170">
                                            <p:txEl>
                                              <p:pRg st="0" end="0"/>
                                            </p:txEl>
                                          </p:spTgt>
                                        </p:tgtEl>
                                        <p:attrNameLst>
                                          <p:attrName>style.visibility</p:attrName>
                                        </p:attrNameLst>
                                      </p:cBhvr>
                                      <p:to>
                                        <p:strVal val="visible"/>
                                      </p:to>
                                    </p:set>
                                    <p:anim calcmode="lin" valueType="num">
                                      <p:cBhvr>
                                        <p:cTn id="7" dur="500" fill="hold"/>
                                        <p:tgtEl>
                                          <p:spTgt spid="135170">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35170">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37" presetClass="entr" presetSubtype="0" fill="hold" nodeType="clickEffect">
                                  <p:stCondLst>
                                    <p:cond delay="0"/>
                                  </p:stCondLst>
                                  <p:childTnLst>
                                    <p:set>
                                      <p:cBhvr>
                                        <p:cTn id="12" dur="1" fill="hold">
                                          <p:stCondLst>
                                            <p:cond delay="0"/>
                                          </p:stCondLst>
                                        </p:cTn>
                                        <p:tgtEl>
                                          <p:spTgt spid="135171">
                                            <p:txEl>
                                              <p:pRg st="0" end="0"/>
                                            </p:txEl>
                                          </p:spTgt>
                                        </p:tgtEl>
                                        <p:attrNameLst>
                                          <p:attrName>style.visibility</p:attrName>
                                        </p:attrNameLst>
                                      </p:cBhvr>
                                      <p:to>
                                        <p:strVal val="visible"/>
                                      </p:to>
                                    </p:set>
                                    <p:animEffect transition="in" filter="fade">
                                      <p:cBhvr>
                                        <p:cTn id="13" dur="1000"/>
                                        <p:tgtEl>
                                          <p:spTgt spid="135171">
                                            <p:txEl>
                                              <p:pRg st="0" end="0"/>
                                            </p:txEl>
                                          </p:spTgt>
                                        </p:tgtEl>
                                      </p:cBhvr>
                                    </p:animEffect>
                                    <p:anim calcmode="lin" valueType="num">
                                      <p:cBhvr>
                                        <p:cTn id="14" dur="1000" fill="hold"/>
                                        <p:tgtEl>
                                          <p:spTgt spid="135171">
                                            <p:txEl>
                                              <p:pRg st="0" end="0"/>
                                            </p:txEl>
                                          </p:spTgt>
                                        </p:tgtEl>
                                        <p:attrNameLst>
                                          <p:attrName>ppt_x</p:attrName>
                                        </p:attrNameLst>
                                      </p:cBhvr>
                                      <p:tavLst>
                                        <p:tav tm="0">
                                          <p:val>
                                            <p:strVal val="#ppt_x"/>
                                          </p:val>
                                        </p:tav>
                                        <p:tav tm="100000">
                                          <p:val>
                                            <p:strVal val="#ppt_x"/>
                                          </p:val>
                                        </p:tav>
                                      </p:tavLst>
                                    </p:anim>
                                    <p:anim calcmode="lin" valueType="num">
                                      <p:cBhvr>
                                        <p:cTn id="15" dur="900" decel="100000" fill="hold"/>
                                        <p:tgtEl>
                                          <p:spTgt spid="135171">
                                            <p:txEl>
                                              <p:pRg st="0" end="0"/>
                                            </p:txEl>
                                          </p:spTgt>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135171">
                                            <p:txEl>
                                              <p:pRg st="0" end="0"/>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8" name="Rectangle 4"/>
          <p:cNvSpPr>
            <a:spLocks noChangeArrowheads="1"/>
          </p:cNvSpPr>
          <p:nvPr/>
        </p:nvSpPr>
        <p:spPr bwMode="auto">
          <a:xfrm>
            <a:off x="900113" y="2133600"/>
            <a:ext cx="7920037" cy="2158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Tx/>
              <a:buNone/>
            </a:pPr>
            <a:r>
              <a:rPr lang="en-US" altLang="zh-CN">
                <a:ea typeface="微软雅黑" panose="020B0503020204020204" charset="-122"/>
              </a:rPr>
              <a:t>    </a:t>
            </a:r>
            <a:r>
              <a:rPr lang="zh-CN" altLang="en-US">
                <a:ea typeface="微软雅黑" panose="020B0503020204020204" charset="-122"/>
              </a:rPr>
              <a:t>以往，葡萄糖酸盐的生产方法包括发酵法、催化氧化法。对于传统方法而言，会产生大量工业废渣，且工业装置的占地面积大，所需原料成本也较高。</a:t>
            </a:r>
            <a:endParaRPr lang="zh-CN" altLang="en-US">
              <a:ea typeface="微软雅黑" panose="020B0503020204020204" charset="-122"/>
            </a:endParaRPr>
          </a:p>
        </p:txBody>
      </p:sp>
      <p:sp>
        <p:nvSpPr>
          <p:cNvPr id="113669" name="Rectangle 5"/>
          <p:cNvSpPr>
            <a:spLocks noChangeArrowheads="1"/>
          </p:cNvSpPr>
          <p:nvPr/>
        </p:nvSpPr>
        <p:spPr bwMode="auto">
          <a:xfrm>
            <a:off x="971550" y="3933825"/>
            <a:ext cx="7921625" cy="164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Tx/>
              <a:buNone/>
            </a:pPr>
            <a:r>
              <a:rPr lang="en-US" altLang="zh-CN">
                <a:ea typeface="微软雅黑" panose="020B0503020204020204" charset="-122"/>
              </a:rPr>
              <a:t> </a:t>
            </a:r>
            <a:endParaRPr lang="en-US" altLang="zh-CN">
              <a:ea typeface="微软雅黑" panose="020B0503020204020204" charset="-122"/>
            </a:endParaRPr>
          </a:p>
          <a:p>
            <a:pPr eaLnBrk="1" hangingPunct="1">
              <a:lnSpc>
                <a:spcPct val="120000"/>
              </a:lnSpc>
              <a:spcBef>
                <a:spcPct val="0"/>
              </a:spcBef>
              <a:buClrTx/>
              <a:buSzTx/>
              <a:buFontTx/>
              <a:buNone/>
            </a:pPr>
            <a:r>
              <a:rPr lang="en-US" altLang="zh-CN">
                <a:ea typeface="微软雅黑" panose="020B0503020204020204" charset="-122"/>
              </a:rPr>
              <a:t>    </a:t>
            </a:r>
            <a:r>
              <a:rPr lang="zh-CN" altLang="en-US">
                <a:ea typeface="微软雅黑" panose="020B0503020204020204" charset="-122"/>
              </a:rPr>
              <a:t>而在电化学合成法中，较为先进的是葡萄糖成对电化学合成葡萄糖酸钙和山梨糖醇法。</a:t>
            </a:r>
            <a:endParaRPr lang="zh-CN" altLang="en-US">
              <a:ea typeface="微软雅黑" panose="020B050302020402020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3668"/>
                                        </p:tgtEl>
                                        <p:attrNameLst>
                                          <p:attrName>style.visibility</p:attrName>
                                        </p:attrNameLst>
                                      </p:cBhvr>
                                      <p:to>
                                        <p:strVal val="visible"/>
                                      </p:to>
                                    </p:set>
                                    <p:anim calcmode="lin" valueType="num">
                                      <p:cBhvr additive="base">
                                        <p:cTn id="7" dur="500" fill="hold"/>
                                        <p:tgtEl>
                                          <p:spTgt spid="113668"/>
                                        </p:tgtEl>
                                        <p:attrNameLst>
                                          <p:attrName>ppt_x</p:attrName>
                                        </p:attrNameLst>
                                      </p:cBhvr>
                                      <p:tavLst>
                                        <p:tav tm="0">
                                          <p:val>
                                            <p:strVal val="#ppt_x"/>
                                          </p:val>
                                        </p:tav>
                                        <p:tav tm="100000">
                                          <p:val>
                                            <p:strVal val="#ppt_x"/>
                                          </p:val>
                                        </p:tav>
                                      </p:tavLst>
                                    </p:anim>
                                    <p:anim calcmode="lin" valueType="num">
                                      <p:cBhvr additive="base">
                                        <p:cTn id="8" dur="500" fill="hold"/>
                                        <p:tgtEl>
                                          <p:spTgt spid="11366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3669"/>
                                        </p:tgtEl>
                                        <p:attrNameLst>
                                          <p:attrName>style.visibility</p:attrName>
                                        </p:attrNameLst>
                                      </p:cBhvr>
                                      <p:to>
                                        <p:strVal val="visible"/>
                                      </p:to>
                                    </p:set>
                                    <p:anim calcmode="lin" valueType="num">
                                      <p:cBhvr additive="base">
                                        <p:cTn id="13" dur="500" fill="hold"/>
                                        <p:tgtEl>
                                          <p:spTgt spid="113669"/>
                                        </p:tgtEl>
                                        <p:attrNameLst>
                                          <p:attrName>ppt_x</p:attrName>
                                        </p:attrNameLst>
                                      </p:cBhvr>
                                      <p:tavLst>
                                        <p:tav tm="0">
                                          <p:val>
                                            <p:strVal val="#ppt_x"/>
                                          </p:val>
                                        </p:tav>
                                        <p:tav tm="100000">
                                          <p:val>
                                            <p:strVal val="#ppt_x"/>
                                          </p:val>
                                        </p:tav>
                                      </p:tavLst>
                                    </p:anim>
                                    <p:anim calcmode="lin" valueType="num">
                                      <p:cBhvr additive="base">
                                        <p:cTn id="14" dur="500" fill="hold"/>
                                        <p:tgtEl>
                                          <p:spTgt spid="1136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8" grpId="0"/>
      <p:bldP spid="113669"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93" name="Picture 5"/>
          <p:cNvPicPr>
            <a:picLocks noChangeAspect="1" noChangeArrowheads="1"/>
          </p:cNvPicPr>
          <p:nvPr/>
        </p:nvPicPr>
        <p:blipFill>
          <a:blip r:embed="rId1">
            <a:lum contrast="100000"/>
            <a:extLst>
              <a:ext uri="{28A0092B-C50C-407E-A947-70E740481C1C}">
                <a14:useLocalDpi xmlns:a14="http://schemas.microsoft.com/office/drawing/2010/main" val="0"/>
              </a:ext>
            </a:extLst>
          </a:blip>
          <a:srcRect/>
          <a:stretch>
            <a:fillRect/>
          </a:stretch>
        </p:blipFill>
        <p:spPr bwMode="auto">
          <a:xfrm>
            <a:off x="925513" y="3573463"/>
            <a:ext cx="8218487" cy="328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19"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1844675"/>
            <a:ext cx="4857750"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114693"/>
                                        </p:tgtEl>
                                        <p:attrNameLst>
                                          <p:attrName>style.visibility</p:attrName>
                                        </p:attrNameLst>
                                      </p:cBhvr>
                                      <p:to>
                                        <p:strVal val="visible"/>
                                      </p:to>
                                    </p:set>
                                    <p:animEffect transition="in" filter="fade">
                                      <p:cBhvr>
                                        <p:cTn id="7" dur="1000"/>
                                        <p:tgtEl>
                                          <p:spTgt spid="114693"/>
                                        </p:tgtEl>
                                      </p:cBhvr>
                                    </p:animEffect>
                                    <p:anim calcmode="lin" valueType="num">
                                      <p:cBhvr>
                                        <p:cTn id="8" dur="1000" fill="hold"/>
                                        <p:tgtEl>
                                          <p:spTgt spid="114693"/>
                                        </p:tgtEl>
                                        <p:attrNameLst>
                                          <p:attrName>ppt_x</p:attrName>
                                        </p:attrNameLst>
                                      </p:cBhvr>
                                      <p:tavLst>
                                        <p:tav tm="0">
                                          <p:val>
                                            <p:strVal val="#ppt_x"/>
                                          </p:val>
                                        </p:tav>
                                        <p:tav tm="100000">
                                          <p:val>
                                            <p:strVal val="#ppt_x"/>
                                          </p:val>
                                        </p:tav>
                                      </p:tavLst>
                                    </p:anim>
                                    <p:anim calcmode="lin" valueType="num">
                                      <p:cBhvr>
                                        <p:cTn id="9" dur="900" decel="100000" fill="hold"/>
                                        <p:tgtEl>
                                          <p:spTgt spid="114693"/>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114693"/>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8" name="Picture 6"/>
          <p:cNvPicPr>
            <a:picLocks noChangeAspect="1" noChangeArrowheads="1"/>
          </p:cNvPicPr>
          <p:nvPr/>
        </p:nvPicPr>
        <p:blipFill>
          <a:blip r:embed="rId1">
            <a:lum bright="16000" contrast="100000"/>
            <a:extLst>
              <a:ext uri="{28A0092B-C50C-407E-A947-70E740481C1C}">
                <a14:useLocalDpi xmlns:a14="http://schemas.microsoft.com/office/drawing/2010/main" val="0"/>
              </a:ext>
            </a:extLst>
          </a:blip>
          <a:srcRect/>
          <a:stretch>
            <a:fillRect/>
          </a:stretch>
        </p:blipFill>
        <p:spPr bwMode="auto">
          <a:xfrm>
            <a:off x="755650" y="2492375"/>
            <a:ext cx="8388350" cy="382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3" name="Text Box 7"/>
          <p:cNvSpPr txBox="1">
            <a:spLocks noChangeArrowheads="1"/>
          </p:cNvSpPr>
          <p:nvPr/>
        </p:nvSpPr>
        <p:spPr bwMode="auto">
          <a:xfrm>
            <a:off x="1042988" y="1989138"/>
            <a:ext cx="3240087"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3200">
                <a:ea typeface="微软雅黑" panose="020B0503020204020204" charset="-122"/>
              </a:rPr>
              <a:t>阴极反应：</a:t>
            </a:r>
            <a:endParaRPr lang="zh-CN" altLang="en-US" sz="3200">
              <a:ea typeface="微软雅黑" panose="020B050302020402020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15718"/>
                                        </p:tgtEl>
                                        <p:attrNameLst>
                                          <p:attrName>style.visibility</p:attrName>
                                        </p:attrNameLst>
                                      </p:cBhvr>
                                      <p:to>
                                        <p:strVal val="visible"/>
                                      </p:to>
                                    </p:set>
                                    <p:anim calcmode="lin" valueType="num">
                                      <p:cBhvr>
                                        <p:cTn id="7" dur="500" fill="hold"/>
                                        <p:tgtEl>
                                          <p:spTgt spid="115718"/>
                                        </p:tgtEl>
                                        <p:attrNameLst>
                                          <p:attrName>ppt_w</p:attrName>
                                        </p:attrNameLst>
                                      </p:cBhvr>
                                      <p:tavLst>
                                        <p:tav tm="0">
                                          <p:val>
                                            <p:fltVal val="0"/>
                                          </p:val>
                                        </p:tav>
                                        <p:tav tm="100000">
                                          <p:val>
                                            <p:strVal val="#ppt_w"/>
                                          </p:val>
                                        </p:tav>
                                      </p:tavLst>
                                    </p:anim>
                                    <p:anim calcmode="lin" valueType="num">
                                      <p:cBhvr>
                                        <p:cTn id="8" dur="500" fill="hold"/>
                                        <p:tgtEl>
                                          <p:spTgt spid="11571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ChangeArrowheads="1"/>
          </p:cNvSpPr>
          <p:nvPr/>
        </p:nvSpPr>
        <p:spPr bwMode="auto">
          <a:xfrm>
            <a:off x="827088" y="2492375"/>
            <a:ext cx="8066087"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0"/>
              </a:spcBef>
              <a:buClrTx/>
              <a:buSzTx/>
              <a:buFontTx/>
              <a:buNone/>
            </a:pPr>
            <a:r>
              <a:rPr lang="en-US" altLang="zh-CN">
                <a:ea typeface="微软雅黑" panose="020B0503020204020204" charset="-122"/>
              </a:rPr>
              <a:t>    </a:t>
            </a:r>
            <a:r>
              <a:rPr lang="zh-CN" altLang="en-US">
                <a:ea typeface="微软雅黑" panose="020B0503020204020204" charset="-122"/>
              </a:rPr>
              <a:t>此方法两种产品的平均总收率达</a:t>
            </a:r>
            <a:r>
              <a:rPr lang="en-US" altLang="zh-CN" b="1">
                <a:ea typeface="微软雅黑" panose="020B0503020204020204" charset="-122"/>
              </a:rPr>
              <a:t>73.8</a:t>
            </a:r>
            <a:r>
              <a:rPr lang="zh-CN" altLang="en-US">
                <a:ea typeface="微软雅黑" panose="020B0503020204020204" charset="-122"/>
              </a:rPr>
              <a:t>％，葡萄糖的平均转化率为</a:t>
            </a:r>
            <a:r>
              <a:rPr lang="en-US" altLang="zh-CN" b="1">
                <a:ea typeface="微软雅黑" panose="020B0503020204020204" charset="-122"/>
              </a:rPr>
              <a:t>93.5</a:t>
            </a:r>
            <a:r>
              <a:rPr lang="zh-CN" altLang="en-US">
                <a:ea typeface="微软雅黑" panose="020B0503020204020204" charset="-122"/>
              </a:rPr>
              <a:t>％，大大优于传统工艺。</a:t>
            </a:r>
            <a:endParaRPr lang="zh-CN" altLang="en-US">
              <a:ea typeface="微软雅黑" panose="020B0503020204020204" charset="-122"/>
            </a:endParaRPr>
          </a:p>
        </p:txBody>
      </p:sp>
      <p:sp>
        <p:nvSpPr>
          <p:cNvPr id="136195" name="Rectangle 3"/>
          <p:cNvSpPr>
            <a:spLocks noChangeArrowheads="1"/>
          </p:cNvSpPr>
          <p:nvPr/>
        </p:nvSpPr>
        <p:spPr bwMode="auto">
          <a:xfrm>
            <a:off x="900113" y="3860800"/>
            <a:ext cx="7489825"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0"/>
              </a:spcBef>
              <a:buClrTx/>
              <a:buSzTx/>
              <a:buFontTx/>
              <a:buNone/>
            </a:pPr>
            <a:r>
              <a:rPr lang="en-US" altLang="zh-CN">
                <a:ea typeface="微软雅黑" panose="020B0503020204020204" charset="-122"/>
              </a:rPr>
              <a:t>    </a:t>
            </a:r>
            <a:r>
              <a:rPr lang="zh-CN" altLang="en-US">
                <a:ea typeface="微软雅黑" panose="020B0503020204020204" charset="-122"/>
              </a:rPr>
              <a:t>并且，此方法具有降低生产成本，产生废物少等特点，具有很高的应用价值。</a:t>
            </a:r>
            <a:endParaRPr lang="zh-CN" altLang="en-US">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6194"/>
                                        </p:tgtEl>
                                        <p:attrNameLst>
                                          <p:attrName>style.visibility</p:attrName>
                                        </p:attrNameLst>
                                      </p:cBhvr>
                                      <p:to>
                                        <p:strVal val="visible"/>
                                      </p:to>
                                    </p:set>
                                    <p:anim calcmode="lin" valueType="num">
                                      <p:cBhvr additive="base">
                                        <p:cTn id="7" dur="500" fill="hold"/>
                                        <p:tgtEl>
                                          <p:spTgt spid="136194"/>
                                        </p:tgtEl>
                                        <p:attrNameLst>
                                          <p:attrName>ppt_x</p:attrName>
                                        </p:attrNameLst>
                                      </p:cBhvr>
                                      <p:tavLst>
                                        <p:tav tm="0">
                                          <p:val>
                                            <p:strVal val="#ppt_x"/>
                                          </p:val>
                                        </p:tav>
                                        <p:tav tm="100000">
                                          <p:val>
                                            <p:strVal val="#ppt_x"/>
                                          </p:val>
                                        </p:tav>
                                      </p:tavLst>
                                    </p:anim>
                                    <p:anim calcmode="lin" valueType="num">
                                      <p:cBhvr additive="base">
                                        <p:cTn id="8" dur="500" fill="hold"/>
                                        <p:tgtEl>
                                          <p:spTgt spid="13619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6195"/>
                                        </p:tgtEl>
                                        <p:attrNameLst>
                                          <p:attrName>style.visibility</p:attrName>
                                        </p:attrNameLst>
                                      </p:cBhvr>
                                      <p:to>
                                        <p:strVal val="visible"/>
                                      </p:to>
                                    </p:set>
                                    <p:anim calcmode="lin" valueType="num">
                                      <p:cBhvr additive="base">
                                        <p:cTn id="13" dur="500" fill="hold"/>
                                        <p:tgtEl>
                                          <p:spTgt spid="136195"/>
                                        </p:tgtEl>
                                        <p:attrNameLst>
                                          <p:attrName>ppt_x</p:attrName>
                                        </p:attrNameLst>
                                      </p:cBhvr>
                                      <p:tavLst>
                                        <p:tav tm="0">
                                          <p:val>
                                            <p:strVal val="#ppt_x"/>
                                          </p:val>
                                        </p:tav>
                                        <p:tav tm="100000">
                                          <p:val>
                                            <p:strVal val="#ppt_x"/>
                                          </p:val>
                                        </p:tav>
                                      </p:tavLst>
                                    </p:anim>
                                    <p:anim calcmode="lin" valueType="num">
                                      <p:cBhvr additive="base">
                                        <p:cTn id="14" dur="500" fill="hold"/>
                                        <p:tgtEl>
                                          <p:spTgt spid="1361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4" grpId="0"/>
      <p:bldP spid="136195"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4"/>
          <p:cNvSpPr>
            <a:spLocks noChangeArrowheads="1"/>
          </p:cNvSpPr>
          <p:nvPr/>
        </p:nvSpPr>
        <p:spPr bwMode="auto">
          <a:xfrm>
            <a:off x="827088" y="765175"/>
            <a:ext cx="457200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3200">
                <a:ea typeface="微软雅黑" panose="020B0503020204020204" charset="-122"/>
              </a:rPr>
              <a:t>五、</a:t>
            </a:r>
            <a:r>
              <a:rPr lang="en-US" altLang="zh-CN" sz="3200">
                <a:ea typeface="微软雅黑" panose="020B0503020204020204" charset="-122"/>
              </a:rPr>
              <a:t>β</a:t>
            </a:r>
            <a:r>
              <a:rPr lang="en-US" altLang="zh-CN" sz="3200" b="1">
                <a:ea typeface="微软雅黑" panose="020B0503020204020204" charset="-122"/>
              </a:rPr>
              <a:t>-</a:t>
            </a:r>
            <a:r>
              <a:rPr lang="zh-CN" altLang="en-US" sz="3200">
                <a:ea typeface="微软雅黑" panose="020B0503020204020204" charset="-122"/>
              </a:rPr>
              <a:t>胡萝卜素</a:t>
            </a:r>
            <a:endParaRPr lang="zh-CN" altLang="en-US" sz="3200">
              <a:ea typeface="微软雅黑" panose="020B0503020204020204" charset="-122"/>
            </a:endParaRPr>
          </a:p>
        </p:txBody>
      </p:sp>
      <p:sp>
        <p:nvSpPr>
          <p:cNvPr id="118789" name="Rectangle 5"/>
          <p:cNvSpPr>
            <a:spLocks noChangeArrowheads="1"/>
          </p:cNvSpPr>
          <p:nvPr/>
        </p:nvSpPr>
        <p:spPr bwMode="auto">
          <a:xfrm>
            <a:off x="755650" y="1773238"/>
            <a:ext cx="8064500" cy="3192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Tx/>
              <a:buNone/>
            </a:pPr>
            <a:r>
              <a:rPr lang="en-US" altLang="zh-CN">
                <a:ea typeface="微软雅黑" panose="020B0503020204020204" charset="-122"/>
              </a:rPr>
              <a:t>      β</a:t>
            </a:r>
            <a:r>
              <a:rPr lang="en-US" altLang="zh-CN" b="1">
                <a:ea typeface="微软雅黑" panose="020B0503020204020204" charset="-122"/>
              </a:rPr>
              <a:t>-</a:t>
            </a:r>
            <a:r>
              <a:rPr lang="zh-CN" altLang="en-US">
                <a:ea typeface="微软雅黑" panose="020B0503020204020204" charset="-122"/>
              </a:rPr>
              <a:t>胡萝卜素有抗氧化、增强免疫力、防止紫外线损伤、抗心血管疾病和抗癌等功能。</a:t>
            </a:r>
            <a:endParaRPr lang="zh-CN" altLang="en-US">
              <a:ea typeface="微软雅黑" panose="020B0503020204020204" charset="-122"/>
            </a:endParaRPr>
          </a:p>
          <a:p>
            <a:pPr eaLnBrk="1" hangingPunct="1">
              <a:lnSpc>
                <a:spcPct val="120000"/>
              </a:lnSpc>
              <a:spcBef>
                <a:spcPct val="0"/>
              </a:spcBef>
              <a:buClrTx/>
              <a:buSzTx/>
              <a:buFontTx/>
              <a:buNone/>
            </a:pPr>
            <a:r>
              <a:rPr lang="zh-CN" altLang="en-US">
                <a:ea typeface="微软雅黑" panose="020B0503020204020204" charset="-122"/>
              </a:rPr>
              <a:t>      </a:t>
            </a:r>
            <a:r>
              <a:rPr lang="en-US" altLang="zh-CN">
                <a:ea typeface="微软雅黑" panose="020B0503020204020204" charset="-122"/>
              </a:rPr>
              <a:t>β</a:t>
            </a:r>
            <a:r>
              <a:rPr lang="en-US" altLang="zh-CN" b="1">
                <a:ea typeface="微软雅黑" panose="020B0503020204020204" charset="-122"/>
              </a:rPr>
              <a:t>-</a:t>
            </a:r>
            <a:r>
              <a:rPr lang="zh-CN" altLang="en-US">
                <a:ea typeface="微软雅黑" panose="020B0503020204020204" charset="-122"/>
              </a:rPr>
              <a:t>胡萝卜素还是</a:t>
            </a:r>
            <a:r>
              <a:rPr lang="en-US" altLang="zh-CN" b="1">
                <a:ea typeface="微软雅黑" panose="020B0503020204020204" charset="-122"/>
              </a:rPr>
              <a:t>VA</a:t>
            </a:r>
            <a:r>
              <a:rPr lang="zh-CN" altLang="en-US">
                <a:ea typeface="微软雅黑" panose="020B0503020204020204" charset="-122"/>
              </a:rPr>
              <a:t>的重要前体。维生素</a:t>
            </a:r>
            <a:r>
              <a:rPr lang="en-US" altLang="zh-CN" b="1">
                <a:ea typeface="微软雅黑" panose="020B0503020204020204" charset="-122"/>
              </a:rPr>
              <a:t>A</a:t>
            </a:r>
            <a:r>
              <a:rPr lang="zh-CN" altLang="en-US">
                <a:ea typeface="微软雅黑" panose="020B0503020204020204" charset="-122"/>
              </a:rPr>
              <a:t>维护夜视功能，供给不足会影响视紫红质合成速度；维护上皮细胞完整性，防止多种上皮肿瘤发生。维生素</a:t>
            </a:r>
            <a:r>
              <a:rPr lang="en-US" altLang="zh-CN" b="1">
                <a:ea typeface="微软雅黑" panose="020B0503020204020204" charset="-122"/>
              </a:rPr>
              <a:t>A</a:t>
            </a:r>
            <a:r>
              <a:rPr lang="zh-CN" altLang="en-US">
                <a:ea typeface="微软雅黑" panose="020B0503020204020204" charset="-122"/>
              </a:rPr>
              <a:t>能促进生长发育，对婴幼儿特别重要。</a:t>
            </a:r>
            <a:endParaRPr lang="zh-CN" altLang="en-US">
              <a:ea typeface="微软雅黑" panose="020B0503020204020204" charset="-122"/>
            </a:endParaRPr>
          </a:p>
        </p:txBody>
      </p:sp>
      <p:pic>
        <p:nvPicPr>
          <p:cNvPr id="89092"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60475" y="4941253"/>
            <a:ext cx="2232025" cy="197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09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393" y="4941570"/>
            <a:ext cx="2797175" cy="203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8789"/>
                                        </p:tgtEl>
                                        <p:attrNameLst>
                                          <p:attrName>style.visibility</p:attrName>
                                        </p:attrNameLst>
                                      </p:cBhvr>
                                      <p:to>
                                        <p:strVal val="visible"/>
                                      </p:to>
                                    </p:set>
                                    <p:anim calcmode="lin" valueType="num">
                                      <p:cBhvr additive="base">
                                        <p:cTn id="7" dur="500" fill="hold"/>
                                        <p:tgtEl>
                                          <p:spTgt spid="118789"/>
                                        </p:tgtEl>
                                        <p:attrNameLst>
                                          <p:attrName>ppt_x</p:attrName>
                                        </p:attrNameLst>
                                      </p:cBhvr>
                                      <p:tavLst>
                                        <p:tav tm="0">
                                          <p:val>
                                            <p:strVal val="#ppt_x"/>
                                          </p:val>
                                        </p:tav>
                                        <p:tav tm="100000">
                                          <p:val>
                                            <p:strVal val="#ppt_x"/>
                                          </p:val>
                                        </p:tav>
                                      </p:tavLst>
                                    </p:anim>
                                    <p:anim calcmode="lin" valueType="num">
                                      <p:cBhvr additive="base">
                                        <p:cTn id="8" dur="500" fill="hold"/>
                                        <p:tgtEl>
                                          <p:spTgt spid="1187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9"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4"/>
          <p:cNvSpPr>
            <a:spLocks noChangeArrowheads="1"/>
          </p:cNvSpPr>
          <p:nvPr/>
        </p:nvSpPr>
        <p:spPr bwMode="auto">
          <a:xfrm>
            <a:off x="827088" y="765175"/>
            <a:ext cx="63373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b="1">
                <a:ea typeface="微软雅黑" panose="020B0503020204020204" charset="-122"/>
              </a:rPr>
              <a:t>β-</a:t>
            </a:r>
            <a:r>
              <a:rPr lang="zh-CN" altLang="en-US" b="1">
                <a:ea typeface="微软雅黑" panose="020B0503020204020204" charset="-122"/>
              </a:rPr>
              <a:t>胡萝卜素的电解合成反应</a:t>
            </a:r>
            <a:endParaRPr lang="zh-CN" altLang="en-US" b="1">
              <a:ea typeface="微软雅黑" panose="020B0503020204020204" charset="-122"/>
            </a:endParaRPr>
          </a:p>
        </p:txBody>
      </p:sp>
      <p:pic>
        <p:nvPicPr>
          <p:cNvPr id="90115" name="Picture 5"/>
          <p:cNvPicPr>
            <a:picLocks noChangeAspect="1" noChangeArrowheads="1"/>
          </p:cNvPicPr>
          <p:nvPr/>
        </p:nvPicPr>
        <p:blipFill>
          <a:blip r:embed="rId1">
            <a:lum contrast="62000"/>
            <a:extLst>
              <a:ext uri="{28A0092B-C50C-407E-A947-70E740481C1C}">
                <a14:useLocalDpi xmlns:a14="http://schemas.microsoft.com/office/drawing/2010/main" val="0"/>
              </a:ext>
            </a:extLst>
          </a:blip>
          <a:srcRect/>
          <a:stretch>
            <a:fillRect/>
          </a:stretch>
        </p:blipFill>
        <p:spPr bwMode="auto">
          <a:xfrm>
            <a:off x="755650" y="1773238"/>
            <a:ext cx="7862888" cy="246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6" name="Rectangle 6"/>
          <p:cNvSpPr>
            <a:spLocks noChangeArrowheads="1"/>
          </p:cNvSpPr>
          <p:nvPr/>
        </p:nvSpPr>
        <p:spPr bwMode="auto">
          <a:xfrm>
            <a:off x="1258888" y="4292600"/>
            <a:ext cx="4572000"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Tx/>
              <a:buNone/>
            </a:pPr>
            <a:r>
              <a:rPr lang="zh-CN" altLang="en-US">
                <a:ea typeface="微软雅黑" panose="020B0503020204020204" charset="-122"/>
              </a:rPr>
              <a:t>该方法产率选择性为</a:t>
            </a:r>
            <a:r>
              <a:rPr lang="en-US" altLang="zh-CN" b="1">
                <a:ea typeface="微软雅黑" panose="020B0503020204020204" charset="-122"/>
              </a:rPr>
              <a:t>58%</a:t>
            </a:r>
            <a:r>
              <a:rPr lang="zh-CN" altLang="en-US" b="1">
                <a:ea typeface="微软雅黑" panose="020B0503020204020204" charset="-122"/>
              </a:rPr>
              <a:t>；</a:t>
            </a:r>
            <a:endParaRPr lang="zh-CN" altLang="en-US">
              <a:ea typeface="微软雅黑" panose="020B0503020204020204" charset="-122"/>
            </a:endParaRPr>
          </a:p>
        </p:txBody>
      </p:sp>
      <p:sp>
        <p:nvSpPr>
          <p:cNvPr id="90117" name="Rectangle 7"/>
          <p:cNvSpPr>
            <a:spLocks noChangeArrowheads="1"/>
          </p:cNvSpPr>
          <p:nvPr/>
        </p:nvSpPr>
        <p:spPr bwMode="auto">
          <a:xfrm>
            <a:off x="900113" y="5013325"/>
            <a:ext cx="7920037" cy="1124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1pPr>
            <a:lvl2pPr marL="742950" indent="-285750">
              <a:lnSpc>
                <a:spcPct val="120000"/>
              </a:lnSpc>
              <a:spcBef>
                <a:spcPct val="20000"/>
              </a:spcBef>
              <a:buClr>
                <a:schemeClr val="tx1"/>
              </a:buClr>
              <a:buSzPct val="75000"/>
              <a:buChar char="–"/>
              <a:defRPr sz="2800">
                <a:solidFill>
                  <a:srgbClr val="000000"/>
                </a:solidFill>
                <a:latin typeface="Arial" panose="020B0604020202020204" pitchFamily="34" charset="0"/>
                <a:ea typeface="宋体" panose="02010600030101010101" pitchFamily="2" charset="-122"/>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1"/>
              </a:buClr>
              <a:buSzPct val="8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Tx/>
              <a:buNone/>
            </a:pPr>
            <a:r>
              <a:rPr lang="en-US" altLang="zh-CN">
                <a:ea typeface="微软雅黑" panose="020B0503020204020204" charset="-122"/>
              </a:rPr>
              <a:t>    </a:t>
            </a:r>
            <a:r>
              <a:rPr lang="zh-CN" altLang="en-US">
                <a:ea typeface="微软雅黑" panose="020B0503020204020204" charset="-122"/>
              </a:rPr>
              <a:t>反应快捷，比生物发酵法具有产率、转化率、反应速率的优势；</a:t>
            </a:r>
            <a:endParaRPr lang="zh-CN" altLang="en-US">
              <a:ea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UNIT_PLACING_PICTURE_USER_VIEWPORT" val="{&quot;height&quot;:6690,&quot;width&quot;:13830}"/>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UNIT_PLACING_PICTURE_USER_VIEWPORT" val="{&quot;height&quot;:9705,&quot;width&quot;:13210}"/>
</p:tagLst>
</file>

<file path=ppt/tags/tag5.xml><?xml version="1.0" encoding="utf-8"?>
<p:tagLst xmlns:p="http://schemas.openxmlformats.org/presentationml/2006/main">
  <p:tag name="KSO_WPP_MARK_KEY" val="40636cf1-d7fb-4f15-b6f8-2b016edf89cf"/>
  <p:tag name="COMMONDATA" val="eyJoZGlkIjoiODIyZGQ3MzI3NDI1MDU1N2YyZWRhMDJkZThkMjhmMDYifQ=="/>
  <p:tag name="FULLTEXTBEAUTIFYED" val="1"/>
  <p:tag name="commondata" val="eyJoZGlkIjoiYWUwOGEzYjhjOGE0NTE3ZTlmZmY0ZDg0MTljYmVmNzQifQ=="/>
</p:tagLst>
</file>

<file path=ppt/theme/theme1.xml><?xml version="1.0" encoding="utf-8"?>
<a:theme xmlns:a="http://schemas.openxmlformats.org/drawingml/2006/main" name="Capsules">
  <a:themeElements>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Capsules">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Capsules 2">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AB9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Capsules 3">
        <a:dk1>
          <a:srgbClr val="006699"/>
        </a:dk1>
        <a:lt1>
          <a:srgbClr val="FFFFFF"/>
        </a:lt1>
        <a:dk2>
          <a:srgbClr val="6699FF"/>
        </a:dk2>
        <a:lt2>
          <a:srgbClr val="FFFFFF"/>
        </a:lt2>
        <a:accent1>
          <a:srgbClr val="33CCCC"/>
        </a:accent1>
        <a:accent2>
          <a:srgbClr val="006699"/>
        </a:accent2>
        <a:accent3>
          <a:srgbClr val="B8CAFF"/>
        </a:accent3>
        <a:accent4>
          <a:srgbClr val="DADADA"/>
        </a:accent4>
        <a:accent5>
          <a:srgbClr val="ADE2E2"/>
        </a:accent5>
        <a:accent6>
          <a:srgbClr val="005C8A"/>
        </a:accent6>
        <a:hlink>
          <a:srgbClr val="99CC00"/>
        </a:hlink>
        <a:folHlink>
          <a:srgbClr val="FFFFCC"/>
        </a:folHlink>
      </a:clrScheme>
      <a:clrMap bg1="dk2" tx1="lt1" bg2="dk1" tx2="lt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Capsules 5">
        <a:dk1>
          <a:srgbClr val="000066"/>
        </a:dk1>
        <a:lt1>
          <a:srgbClr val="FFFFFF"/>
        </a:lt1>
        <a:dk2>
          <a:srgbClr val="336699"/>
        </a:dk2>
        <a:lt2>
          <a:srgbClr val="FFFFEB"/>
        </a:lt2>
        <a:accent1>
          <a:srgbClr val="99CCFF"/>
        </a:accent1>
        <a:accent2>
          <a:srgbClr val="9999FF"/>
        </a:accent2>
        <a:accent3>
          <a:srgbClr val="ADB8CA"/>
        </a:accent3>
        <a:accent4>
          <a:srgbClr val="DADADA"/>
        </a:accent4>
        <a:accent5>
          <a:srgbClr val="CAE2FF"/>
        </a:accent5>
        <a:accent6>
          <a:srgbClr val="8A8A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6">
        <a:dk1>
          <a:srgbClr val="808000"/>
        </a:dk1>
        <a:lt1>
          <a:srgbClr val="FFFFFF"/>
        </a:lt1>
        <a:dk2>
          <a:srgbClr val="006666"/>
        </a:dk2>
        <a:lt2>
          <a:srgbClr val="FFFFFF"/>
        </a:lt2>
        <a:accent1>
          <a:srgbClr val="FFCC66"/>
        </a:accent1>
        <a:accent2>
          <a:srgbClr val="00ACA8"/>
        </a:accent2>
        <a:accent3>
          <a:srgbClr val="AAB8B8"/>
        </a:accent3>
        <a:accent4>
          <a:srgbClr val="DADADA"/>
        </a:accent4>
        <a:accent5>
          <a:srgbClr val="FFE2B8"/>
        </a:accent5>
        <a:accent6>
          <a:srgbClr val="009B98"/>
        </a:accent6>
        <a:hlink>
          <a:srgbClr val="CCCC00"/>
        </a:hlink>
        <a:folHlink>
          <a:srgbClr val="33CCCC"/>
        </a:folHlink>
      </a:clrScheme>
      <a:clrMap bg1="dk2" tx1="lt1" bg2="dk1" tx2="lt2" accent1="accent1" accent2="accent2" accent3="accent3" accent4="accent4" accent5="accent5" accent6="accent6" hlink="hlink" folHlink="folHlink"/>
    </a:extraClrScheme>
    <a:extraClrScheme>
      <a:clrScheme name="Capsules 7">
        <a:dk1>
          <a:srgbClr val="FFFFCC"/>
        </a:dk1>
        <a:lt1>
          <a:srgbClr val="FFFFFF"/>
        </a:lt1>
        <a:dk2>
          <a:srgbClr val="660033"/>
        </a:dk2>
        <a:lt2>
          <a:srgbClr val="FFFFFF"/>
        </a:lt2>
        <a:accent1>
          <a:srgbClr val="FF9900"/>
        </a:accent1>
        <a:accent2>
          <a:srgbClr val="CC3300"/>
        </a:accent2>
        <a:accent3>
          <a:srgbClr val="B8AAAD"/>
        </a:accent3>
        <a:accent4>
          <a:srgbClr val="DADADA"/>
        </a:accent4>
        <a:accent5>
          <a:srgbClr val="FFCAAA"/>
        </a:accent5>
        <a:accent6>
          <a:srgbClr val="B92D00"/>
        </a:accent6>
        <a:hlink>
          <a:srgbClr val="FFCC00"/>
        </a:hlink>
        <a:folHlink>
          <a:srgbClr val="FFCC99"/>
        </a:folHlink>
      </a:clrScheme>
      <a:clrMap bg1="dk2" tx1="lt1" bg2="dk1" tx2="lt2" accent1="accent1" accent2="accent2" accent3="accent3" accent4="accent4" accent5="accent5" accent6="accent6" hlink="hlink" folHlink="folHlink"/>
    </a:extraClrScheme>
    <a:extraClrScheme>
      <a:clrScheme name="Capsules 8">
        <a:dk1>
          <a:srgbClr val="FF0000"/>
        </a:dk1>
        <a:lt1>
          <a:srgbClr val="FFFFFF"/>
        </a:lt1>
        <a:dk2>
          <a:srgbClr val="000000"/>
        </a:dk2>
        <a:lt2>
          <a:srgbClr val="FFFFFF"/>
        </a:lt2>
        <a:accent1>
          <a:srgbClr val="FFCC00"/>
        </a:accent1>
        <a:accent2>
          <a:srgbClr val="CC3300"/>
        </a:accent2>
        <a:accent3>
          <a:srgbClr val="AAAAAA"/>
        </a:accent3>
        <a:accent4>
          <a:srgbClr val="DADADA"/>
        </a:accent4>
        <a:accent5>
          <a:srgbClr val="FFE2AA"/>
        </a:accent5>
        <a:accent6>
          <a:srgbClr val="B92D00"/>
        </a:accent6>
        <a:hlink>
          <a:srgbClr val="FF6600"/>
        </a:hlink>
        <a:folHlink>
          <a:srgbClr val="FF7C8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Capsules</Template>
  <TotalTime>0</TotalTime>
  <Words>7641</Words>
  <Application>WPS 演示</Application>
  <PresentationFormat>全屏显示(4:3)</PresentationFormat>
  <Paragraphs>415</Paragraphs>
  <Slides>92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92</vt:i4>
      </vt:variant>
    </vt:vector>
  </HeadingPairs>
  <TitlesOfParts>
    <vt:vector size="100" baseType="lpstr">
      <vt:lpstr>Arial</vt:lpstr>
      <vt:lpstr>宋体</vt:lpstr>
      <vt:lpstr>Wingdings</vt:lpstr>
      <vt:lpstr>Times New Roman</vt:lpstr>
      <vt:lpstr>微软雅黑</vt:lpstr>
      <vt:lpstr>Wingdings</vt:lpstr>
      <vt:lpstr>Arial Unicode MS</vt:lpstr>
      <vt:lpstr>Capsules</vt:lpstr>
      <vt:lpstr>第六章  有机物的电解合成</vt:lpstr>
      <vt:lpstr>本章主要内容：</vt:lpstr>
      <vt:lpstr>PowerPoint 演示文稿</vt:lpstr>
      <vt:lpstr>PowerPoint 演示文稿</vt:lpstr>
      <vt:lpstr>2、有机电合成的发展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4、有机电合成反应历程</vt:lpstr>
      <vt:lpstr>5、有机电合成的研究开发方向</vt:lpstr>
      <vt:lpstr>6－2 有机电合成的分类</vt:lpstr>
      <vt:lpstr>PowerPoint 演示文稿</vt:lpstr>
      <vt:lpstr>典型的直接有机合成反应：</vt:lpstr>
      <vt:lpstr>阳极过程：</vt:lpstr>
      <vt:lpstr>间接有机电合成</vt:lpstr>
      <vt:lpstr>间接有机电合成分类：</vt:lpstr>
      <vt:lpstr>间接有机电合成的特点：</vt:lpstr>
      <vt:lpstr>PowerPoint 演示文稿</vt:lpstr>
      <vt:lpstr>PowerPoint 演示文稿</vt:lpstr>
      <vt:lpstr>6－3 有机电合成中的若干实际问题</vt:lpstr>
      <vt:lpstr>PowerPoint 演示文稿</vt:lpstr>
      <vt:lpstr>2、电极材料</vt:lpstr>
      <vt:lpstr>（1）不同电极材料对有机电合成影响</vt:lpstr>
      <vt:lpstr>PowerPoint 演示文稿</vt:lpstr>
      <vt:lpstr>PowerPoint 演示文稿</vt:lpstr>
      <vt:lpstr>（2）电极材料表面结构状态对有机电合成影响：</vt:lpstr>
      <vt:lpstr>（3）电极材料的选择</vt:lpstr>
      <vt:lpstr>PowerPoint 演示文稿</vt:lpstr>
      <vt:lpstr>②阳极材料的选择</vt:lpstr>
      <vt:lpstr>3、溶剂－电解质体系</vt:lpstr>
      <vt:lpstr>（1）溶液的分类及选用原则：</vt:lpstr>
      <vt:lpstr>（2）水溶液</vt:lpstr>
      <vt:lpstr>（3）非水溶液</vt:lpstr>
      <vt:lpstr>PowerPoint 演示文稿</vt:lpstr>
      <vt:lpstr>（4）支持电解质</vt:lpstr>
      <vt:lpstr>PowerPoint 演示文稿</vt:lpstr>
      <vt:lpstr>4、有机电合成的电化学反应器</vt:lpstr>
      <vt:lpstr>6－4 有机电合成的工业实例</vt:lpstr>
      <vt:lpstr>PowerPoint 演示文稿</vt:lpstr>
      <vt:lpstr>PowerPoint 演示文稿</vt:lpstr>
      <vt:lpstr>（1）己二腈的电解合成</vt:lpstr>
      <vt:lpstr>PowerPoint 演示文稿</vt:lpstr>
      <vt:lpstr>（2）己二腈电解合成的副反应</vt:lpstr>
      <vt:lpstr>PowerPoint 演示文稿</vt:lpstr>
      <vt:lpstr>早期的蒙山都电合成己二腈过程</vt:lpstr>
      <vt:lpstr>早期合成己二腈的特点：</vt:lpstr>
      <vt:lpstr>蒙山都法合成己二腈的工艺流程</vt:lpstr>
      <vt:lpstr>该生产工艺的缺点：</vt:lpstr>
      <vt:lpstr>第二代电解槽：</vt:lpstr>
      <vt:lpstr>PowerPoint 演示文稿</vt:lpstr>
      <vt:lpstr>PowerPoint 演示文稿</vt:lpstr>
      <vt:lpstr>PowerPoint 演示文稿</vt:lpstr>
      <vt:lpstr>二、四烷基铅的电解合成</vt:lpstr>
      <vt:lpstr>有机电合成方法：</vt:lpstr>
      <vt:lpstr>PowerPoint 演示文稿</vt:lpstr>
      <vt:lpstr>PowerPoint 演示文稿</vt:lpstr>
      <vt:lpstr>PowerPoint 演示文稿</vt:lpstr>
      <vt:lpstr>PowerPoint 演示文稿</vt:lpstr>
      <vt:lpstr>PowerPoint 演示文稿</vt:lpstr>
      <vt:lpstr>三、有机氟化物的电解合成</vt:lpstr>
      <vt:lpstr>PowerPoint 演示文稿</vt:lpstr>
      <vt:lpstr>PowerPoint 演示文稿</vt:lpstr>
      <vt:lpstr>PowerPoint 演示文稿</vt:lpstr>
      <vt:lpstr>有机氟化反应考虑以下问题：</vt:lpstr>
      <vt:lpstr>PowerPoint 演示文稿</vt:lpstr>
      <vt:lpstr>PowerPoint 演示文稿</vt:lpstr>
      <vt:lpstr>电解氟化装置：</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MC SYSTEM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MC SYSTEM</dc:creator>
  <cp:lastModifiedBy>无际</cp:lastModifiedBy>
  <cp:revision>164</cp:revision>
  <dcterms:created xsi:type="dcterms:W3CDTF">2005-12-12T01:23:00Z</dcterms:created>
  <dcterms:modified xsi:type="dcterms:W3CDTF">2025-11-28T01:50:02Z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999B252077AF45D69D8A462B3A83A5EC</vt:lpwstr>
  </property>
  <property fmtid="{D5CDD505-2E9C-101B-9397-08002B2CF9AE}" pid="3" name="KSOProductBuildVer">
    <vt:lpwstr>2052-12.1.0.23542</vt:lpwstr>
  </property>
</Properties>
</file>
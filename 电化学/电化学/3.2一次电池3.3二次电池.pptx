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3"/>
  </p:notesMasterIdLst>
  <p:handoutMasterIdLst>
    <p:handoutMasterId r:id="rId54"/>
  </p:handoutMasterIdLst>
  <p:sldIdLst>
    <p:sldId id="362" r:id="rId3"/>
    <p:sldId id="367" r:id="rId4"/>
    <p:sldId id="368" r:id="rId5"/>
    <p:sldId id="369" r:id="rId6"/>
    <p:sldId id="467" r:id="rId7"/>
    <p:sldId id="370" r:id="rId8"/>
    <p:sldId id="388" r:id="rId9"/>
    <p:sldId id="646" r:id="rId10"/>
    <p:sldId id="371" r:id="rId11"/>
    <p:sldId id="372" r:id="rId12"/>
    <p:sldId id="379" r:id="rId13"/>
    <p:sldId id="380" r:id="rId14"/>
    <p:sldId id="468" r:id="rId15"/>
    <p:sldId id="381" r:id="rId16"/>
    <p:sldId id="383" r:id="rId17"/>
    <p:sldId id="647" r:id="rId18"/>
    <p:sldId id="384" r:id="rId19"/>
    <p:sldId id="385" r:id="rId20"/>
    <p:sldId id="386" r:id="rId21"/>
    <p:sldId id="389" r:id="rId22"/>
    <p:sldId id="471" r:id="rId23"/>
    <p:sldId id="390" r:id="rId24"/>
    <p:sldId id="470" r:id="rId25"/>
    <p:sldId id="469" r:id="rId26"/>
    <p:sldId id="620" r:id="rId27"/>
    <p:sldId id="481" r:id="rId28"/>
    <p:sldId id="393" r:id="rId29"/>
    <p:sldId id="621" r:id="rId30"/>
    <p:sldId id="622" r:id="rId31"/>
    <p:sldId id="394" r:id="rId32"/>
    <p:sldId id="623" r:id="rId33"/>
    <p:sldId id="395" r:id="rId34"/>
    <p:sldId id="396" r:id="rId35"/>
    <p:sldId id="397" r:id="rId36"/>
    <p:sldId id="400" r:id="rId37"/>
    <p:sldId id="401" r:id="rId38"/>
    <p:sldId id="402" r:id="rId39"/>
    <p:sldId id="403" r:id="rId40"/>
    <p:sldId id="405" r:id="rId41"/>
    <p:sldId id="406" r:id="rId42"/>
    <p:sldId id="407" r:id="rId43"/>
    <p:sldId id="472" r:id="rId44"/>
    <p:sldId id="473" r:id="rId45"/>
    <p:sldId id="408" r:id="rId46"/>
    <p:sldId id="411" r:id="rId47"/>
    <p:sldId id="476" r:id="rId48"/>
    <p:sldId id="412" r:id="rId49"/>
    <p:sldId id="475" r:id="rId50"/>
    <p:sldId id="413" r:id="rId51"/>
    <p:sldId id="414" r:id="rId52"/>
  </p:sldIdLst>
  <p:sldSz cx="9144000" cy="6858000" type="screen4x3"/>
  <p:notesSz cx="6858000" cy="9144000"/>
  <p:custDataLst>
    <p:tags r:id="rId58"/>
  </p:custDataLst>
  <p:defaultTextStyle>
    <a:defPPr>
      <a:defRPr lang="en-US"/>
    </a:defPPr>
    <a:lvl1pPr algn="l" rtl="0" eaLnBrk="0" fontAlgn="base" hangingPunct="0">
      <a:spcBef>
        <a:spcPct val="0"/>
      </a:spcBef>
      <a:spcAft>
        <a:spcPct val="0"/>
      </a:spcAft>
      <a:defRPr sz="4400" b="1" kern="1200">
        <a:solidFill>
          <a:schemeClr val="tx2"/>
        </a:solidFill>
        <a:latin typeface="Times New Roman" panose="02020603050405020304" pitchFamily="18" charset="0"/>
        <a:ea typeface="黑体" panose="02010609060101010101" pitchFamily="49" charset="-122"/>
        <a:cs typeface="+mn-cs"/>
      </a:defRPr>
    </a:lvl1pPr>
    <a:lvl2pPr marL="457200" algn="l" rtl="0" eaLnBrk="0" fontAlgn="base" hangingPunct="0">
      <a:spcBef>
        <a:spcPct val="0"/>
      </a:spcBef>
      <a:spcAft>
        <a:spcPct val="0"/>
      </a:spcAft>
      <a:defRPr sz="4400" b="1" kern="1200">
        <a:solidFill>
          <a:schemeClr val="tx2"/>
        </a:solidFill>
        <a:latin typeface="Times New Roman" panose="02020603050405020304" pitchFamily="18" charset="0"/>
        <a:ea typeface="黑体" panose="02010609060101010101" pitchFamily="49" charset="-122"/>
        <a:cs typeface="+mn-cs"/>
      </a:defRPr>
    </a:lvl2pPr>
    <a:lvl3pPr marL="914400" algn="l" rtl="0" eaLnBrk="0" fontAlgn="base" hangingPunct="0">
      <a:spcBef>
        <a:spcPct val="0"/>
      </a:spcBef>
      <a:spcAft>
        <a:spcPct val="0"/>
      </a:spcAft>
      <a:defRPr sz="4400" b="1" kern="1200">
        <a:solidFill>
          <a:schemeClr val="tx2"/>
        </a:solidFill>
        <a:latin typeface="Times New Roman" panose="02020603050405020304" pitchFamily="18" charset="0"/>
        <a:ea typeface="黑体" panose="02010609060101010101" pitchFamily="49" charset="-122"/>
        <a:cs typeface="+mn-cs"/>
      </a:defRPr>
    </a:lvl3pPr>
    <a:lvl4pPr marL="1371600" algn="l" rtl="0" eaLnBrk="0" fontAlgn="base" hangingPunct="0">
      <a:spcBef>
        <a:spcPct val="0"/>
      </a:spcBef>
      <a:spcAft>
        <a:spcPct val="0"/>
      </a:spcAft>
      <a:defRPr sz="4400" b="1" kern="1200">
        <a:solidFill>
          <a:schemeClr val="tx2"/>
        </a:solidFill>
        <a:latin typeface="Times New Roman" panose="02020603050405020304" pitchFamily="18" charset="0"/>
        <a:ea typeface="黑体" panose="02010609060101010101" pitchFamily="49" charset="-122"/>
        <a:cs typeface="+mn-cs"/>
      </a:defRPr>
    </a:lvl4pPr>
    <a:lvl5pPr marL="1828800" algn="l" rtl="0" eaLnBrk="0" fontAlgn="base" hangingPunct="0">
      <a:spcBef>
        <a:spcPct val="0"/>
      </a:spcBef>
      <a:spcAft>
        <a:spcPct val="0"/>
      </a:spcAft>
      <a:defRPr sz="4400" b="1" kern="1200">
        <a:solidFill>
          <a:schemeClr val="tx2"/>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sz="4400" b="1" kern="1200">
        <a:solidFill>
          <a:schemeClr val="tx2"/>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sz="4400" b="1" kern="1200">
        <a:solidFill>
          <a:schemeClr val="tx2"/>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sz="4400" b="1" kern="1200">
        <a:solidFill>
          <a:schemeClr val="tx2"/>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sz="4400" b="1" kern="1200">
        <a:solidFill>
          <a:schemeClr val="tx2"/>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157"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FFFFFF"/>
    <a:srgbClr val="00FFCC"/>
    <a:srgbClr val="FF00FF"/>
    <a:srgbClr val="FF3300"/>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81" d="100"/>
          <a:sy n="81" d="100"/>
        </p:scale>
        <p:origin x="778" y="67"/>
      </p:cViewPr>
      <p:guideLst>
        <p:guide orient="horz" pos="2157"/>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8" Type="http://schemas.openxmlformats.org/officeDocument/2006/relationships/tags" Target="tags/tag36.xml"/><Relationship Id="rId57" Type="http://schemas.openxmlformats.org/officeDocument/2006/relationships/tableStyles" Target="tableStyles.xml"/><Relationship Id="rId56" Type="http://schemas.openxmlformats.org/officeDocument/2006/relationships/viewProps" Target="viewProps.xml"/><Relationship Id="rId55" Type="http://schemas.openxmlformats.org/officeDocument/2006/relationships/presProps" Target="presProps.xml"/><Relationship Id="rId54" Type="http://schemas.openxmlformats.org/officeDocument/2006/relationships/handoutMaster" Target="handoutMasters/handoutMaster1.xml"/><Relationship Id="rId53" Type="http://schemas.openxmlformats.org/officeDocument/2006/relationships/notesMaster" Target="notesMasters/notesMaster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image" Target="../media/image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1.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29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b="0">
                <a:solidFill>
                  <a:schemeClr val="tx1"/>
                </a:solidFill>
                <a:latin typeface="Arial" panose="020B0604020202020204" pitchFamily="34" charset="0"/>
                <a:ea typeface="宋体" panose="02010600030101010101" pitchFamily="2" charset="-122"/>
              </a:defRPr>
            </a:lvl1pPr>
          </a:lstStyle>
          <a:p>
            <a:pPr>
              <a:defRPr/>
            </a:pPr>
            <a:endParaRPr lang="zh-CN" altLang="en-US"/>
          </a:p>
        </p:txBody>
      </p:sp>
      <p:sp>
        <p:nvSpPr>
          <p:cNvPr id="55299"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b="0">
                <a:solidFill>
                  <a:schemeClr val="tx1"/>
                </a:solidFill>
                <a:latin typeface="Arial" panose="020B0604020202020204" pitchFamily="34" charset="0"/>
                <a:ea typeface="宋体" panose="02010600030101010101" pitchFamily="2" charset="-122"/>
              </a:defRPr>
            </a:lvl1pPr>
          </a:lstStyle>
          <a:p>
            <a:pPr>
              <a:defRPr/>
            </a:pPr>
            <a:endParaRPr lang="en-US" altLang="zh-CN"/>
          </a:p>
        </p:txBody>
      </p:sp>
      <p:sp>
        <p:nvSpPr>
          <p:cNvPr id="55300"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b="0">
                <a:solidFill>
                  <a:schemeClr val="tx1"/>
                </a:solidFill>
                <a:latin typeface="Arial" panose="020B0604020202020204" pitchFamily="34" charset="0"/>
                <a:ea typeface="宋体" panose="02010600030101010101" pitchFamily="2" charset="-122"/>
              </a:defRPr>
            </a:lvl1pPr>
          </a:lstStyle>
          <a:p>
            <a:pPr>
              <a:defRPr/>
            </a:pPr>
            <a:endParaRPr lang="en-US" altLang="zh-CN"/>
          </a:p>
        </p:txBody>
      </p:sp>
      <p:sp>
        <p:nvSpPr>
          <p:cNvPr id="55301"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b="0">
                <a:solidFill>
                  <a:schemeClr val="tx1"/>
                </a:solidFill>
                <a:latin typeface="Arial" panose="020B0604020202020204" pitchFamily="34" charset="0"/>
                <a:ea typeface="宋体" panose="02010600030101010101" pitchFamily="2" charset="-122"/>
              </a:defRPr>
            </a:lvl1pPr>
          </a:lstStyle>
          <a:p>
            <a:fld id="{5B22927F-66BD-4D48-BC0B-95D8FFBA7FE0}"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34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b="0">
                <a:solidFill>
                  <a:schemeClr val="tx1"/>
                </a:solidFill>
                <a:latin typeface="Times New Roman" panose="02020603050405020304" pitchFamily="18" charset="0"/>
                <a:ea typeface="宋体" panose="02010600030101010101" pitchFamily="2" charset="-122"/>
              </a:defRPr>
            </a:lvl1pPr>
          </a:lstStyle>
          <a:p>
            <a:pPr>
              <a:defRPr/>
            </a:pPr>
            <a:endParaRPr lang="zh-CN" altLang="en-US"/>
          </a:p>
        </p:txBody>
      </p:sp>
      <p:sp>
        <p:nvSpPr>
          <p:cNvPr id="57347"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b="0">
                <a:solidFill>
                  <a:schemeClr val="tx1"/>
                </a:solidFill>
                <a:latin typeface="Times New Roman" panose="02020603050405020304" pitchFamily="18" charset="0"/>
                <a:ea typeface="宋体" panose="02010600030101010101" pitchFamily="2" charset="-122"/>
              </a:defRPr>
            </a:lvl1pPr>
          </a:lstStyle>
          <a:p>
            <a:pPr>
              <a:defRPr/>
            </a:pPr>
            <a:endParaRPr lang="en-US" altLang="zh-CN"/>
          </a:p>
        </p:txBody>
      </p:sp>
      <p:sp>
        <p:nvSpPr>
          <p:cNvPr id="1044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57349"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57350"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b="0">
                <a:solidFill>
                  <a:schemeClr val="tx1"/>
                </a:solidFill>
                <a:latin typeface="Times New Roman" panose="02020603050405020304" pitchFamily="18" charset="0"/>
                <a:ea typeface="宋体" panose="02010600030101010101" pitchFamily="2" charset="-122"/>
              </a:defRPr>
            </a:lvl1pPr>
          </a:lstStyle>
          <a:p>
            <a:pPr>
              <a:defRPr/>
            </a:pPr>
            <a:endParaRPr lang="en-US" altLang="zh-CN"/>
          </a:p>
        </p:txBody>
      </p:sp>
      <p:sp>
        <p:nvSpPr>
          <p:cNvPr id="57351"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b="0">
                <a:solidFill>
                  <a:schemeClr val="tx1"/>
                </a:solidFill>
                <a:ea typeface="宋体" panose="02010600030101010101" pitchFamily="2" charset="-122"/>
              </a:defRPr>
            </a:lvl1pPr>
          </a:lstStyle>
          <a:p>
            <a:fld id="{52261033-A2DE-4296-ACE7-F62781F3AB3C}"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E593D1E3-BC8B-459A-91D8-C9C9D76C8101}" type="slidenum">
              <a:rPr lang="zh-CN" altLang="en-US"/>
            </a:fld>
            <a:endParaRPr lang="en-US" altLang="zh-CN"/>
          </a:p>
        </p:txBody>
      </p:sp>
    </p:spTree>
  </p:cSld>
  <p:clrMapOvr>
    <a:masterClrMapping/>
  </p:clrMapOvr>
  <p:transition>
    <p:randomBar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99470407-AF80-42EE-9E88-096AED7EDE65}" type="slidenum">
              <a:rPr lang="zh-CN" altLang="en-US"/>
            </a:fld>
            <a:endParaRPr lang="en-US" altLang="zh-CN"/>
          </a:p>
        </p:txBody>
      </p:sp>
    </p:spTree>
  </p:cSld>
  <p:clrMapOvr>
    <a:masterClrMapping/>
  </p:clrMapOvr>
  <p:transition>
    <p:randomBar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323850" y="1773238"/>
            <a:ext cx="4194175" cy="4270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70425" y="1773238"/>
            <a:ext cx="4194175" cy="4270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FD536604-16F5-4F2E-B2C1-D315E85778F9}" type="slidenum">
              <a:rPr lang="zh-CN" altLang="en-US"/>
            </a:fld>
            <a:endParaRPr lang="en-US" altLang="zh-CN"/>
          </a:p>
        </p:txBody>
      </p:sp>
    </p:spTree>
  </p:cSld>
  <p:clrMapOvr>
    <a:masterClrMapping/>
  </p:clrMapOvr>
  <p:transition>
    <p:randomBar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fld id="{73A95823-63E7-4D39-BEAE-D36D7F9D0EF2}" type="slidenum">
              <a:rPr lang="zh-CN" altLang="en-US"/>
            </a:fld>
            <a:endParaRPr lang="en-US" altLang="zh-CN"/>
          </a:p>
        </p:txBody>
      </p:sp>
    </p:spTree>
  </p:cSld>
  <p:clrMapOvr>
    <a:masterClrMapping/>
  </p:clrMapOvr>
  <p:transition>
    <p:randomBar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fld id="{192D8770-DC68-4CDE-80BE-822D3F37CAE9}" type="slidenum">
              <a:rPr lang="zh-CN" altLang="en-US"/>
            </a:fld>
            <a:endParaRPr lang="en-US" altLang="zh-CN"/>
          </a:p>
        </p:txBody>
      </p:sp>
    </p:spTree>
  </p:cSld>
  <p:clrMapOvr>
    <a:masterClrMapping/>
  </p:clrMapOvr>
  <p:transition>
    <p:randomBar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fld id="{5BBB8EB0-C484-4988-B5B9-DAAF3FACE381}" type="slidenum">
              <a:rPr lang="zh-CN" altLang="en-US"/>
            </a:fld>
            <a:endParaRPr lang="en-US" altLang="zh-CN"/>
          </a:p>
        </p:txBody>
      </p:sp>
    </p:spTree>
  </p:cSld>
  <p:clrMapOvr>
    <a:masterClrMapping/>
  </p:clrMapOvr>
  <p:transition>
    <p:randomBar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DAA547E9-9E2F-47E1-898F-576B3C395FEC}" type="slidenum">
              <a:rPr lang="zh-CN" altLang="en-US"/>
            </a:fld>
            <a:endParaRPr lang="en-US" altLang="zh-CN"/>
          </a:p>
        </p:txBody>
      </p:sp>
    </p:spTree>
  </p:cSld>
  <p:clrMapOvr>
    <a:masterClrMapping/>
  </p:clrMapOvr>
  <p:transition>
    <p:randomBar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44EAE90E-9424-4417-A975-B125D1974EE8}" type="slidenum">
              <a:rPr lang="zh-CN" altLang="en-US"/>
            </a:fld>
            <a:endParaRPr lang="en-US" altLang="zh-CN"/>
          </a:p>
        </p:txBody>
      </p:sp>
    </p:spTree>
  </p:cSld>
  <p:clrMapOvr>
    <a:masterClrMapping/>
  </p:clrMapOvr>
  <p:transition>
    <p:randomBar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B89A4FD4-0D3F-421F-8F6C-24ED616F281F}" type="slidenum">
              <a:rPr lang="zh-CN" altLang="en-US"/>
            </a:fld>
            <a:endParaRPr lang="en-US" altLang="zh-CN"/>
          </a:p>
        </p:txBody>
      </p:sp>
    </p:spTree>
  </p:cSld>
  <p:clrMapOvr>
    <a:masterClrMapping/>
  </p:clrMapOvr>
  <p:transition>
    <p:randomBar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24650" y="381000"/>
            <a:ext cx="2139950" cy="5662613"/>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301625" y="381000"/>
            <a:ext cx="6270625" cy="5662613"/>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1C27B672-4883-4B2F-9D8F-570AA4EFAAB0}" type="slidenum">
              <a:rPr lang="zh-CN" altLang="en-US"/>
            </a:fld>
            <a:endParaRPr lang="en-US" altLang="zh-CN"/>
          </a:p>
        </p:txBody>
      </p:sp>
    </p:spTree>
  </p:cSld>
  <p:clrMapOvr>
    <a:masterClrMapping/>
  </p:clrMapOvr>
  <p:transition>
    <p:randomBar dir="vert"/>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image" Target="../media/image1.jpe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1">
            <a:biLevel thresh="25000"/>
          </a:blip>
          <a:srcRect/>
          <a:stretch>
            <a:fillRect/>
          </a:stretch>
        </a:blipFill>
        <a:effectLst/>
      </p:bgPr>
    </p:bg>
    <p:spTree>
      <p:nvGrpSpPr>
        <p:cNvPr id="1" name=""/>
        <p:cNvGrpSpPr/>
        <p:nvPr/>
      </p:nvGrpSpPr>
      <p:grpSpPr>
        <a:xfrm>
          <a:off x="0" y="0"/>
          <a:ext cx="0" cy="0"/>
          <a:chOff x="0" y="0"/>
          <a:chExt cx="0" cy="0"/>
        </a:xfrm>
      </p:grpSpPr>
      <p:sp>
        <p:nvSpPr>
          <p:cNvPr id="11266" name="Rectangle 2"/>
          <p:cNvSpPr>
            <a:spLocks noGrp="1" noRot="1" noChangeArrowheads="1"/>
          </p:cNvSpPr>
          <p:nvPr>
            <p:ph type="title"/>
          </p:nvPr>
        </p:nvSpPr>
        <p:spPr bwMode="auto">
          <a:xfrm>
            <a:off x="301625" y="38100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4339" name="Rectangle 3"/>
          <p:cNvSpPr>
            <a:spLocks noGrp="1" noRot="1" noChangeArrowheads="1"/>
          </p:cNvSpPr>
          <p:nvPr>
            <p:ph type="body" idx="1"/>
          </p:nvPr>
        </p:nvSpPr>
        <p:spPr bwMode="auto">
          <a:xfrm>
            <a:off x="323850" y="1773238"/>
            <a:ext cx="8540750" cy="427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4340" name="Rectangle 4"/>
          <p:cNvSpPr>
            <a:spLocks noGrp="1" noChangeArrowheads="1"/>
          </p:cNvSpPr>
          <p:nvPr>
            <p:ph type="dt" sz="half" idx="2"/>
          </p:nvPr>
        </p:nvSpPr>
        <p:spPr bwMode="auto">
          <a:xfrm>
            <a:off x="301625" y="6172200"/>
            <a:ext cx="2289175"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b="0">
                <a:solidFill>
                  <a:schemeClr val="tx1"/>
                </a:solidFill>
                <a:latin typeface="Arial" panose="020B0604020202020204" pitchFamily="34" charset="0"/>
                <a:ea typeface="宋体" panose="02010600030101010101" pitchFamily="2" charset="-122"/>
              </a:defRPr>
            </a:lvl1pPr>
          </a:lstStyle>
          <a:p>
            <a:pPr>
              <a:defRPr/>
            </a:pPr>
            <a:endParaRPr lang="en-US" altLang="zh-CN"/>
          </a:p>
        </p:txBody>
      </p:sp>
      <p:sp>
        <p:nvSpPr>
          <p:cNvPr id="14341" name="Rectangle 5"/>
          <p:cNvSpPr>
            <a:spLocks noGrp="1" noChangeArrowheads="1"/>
          </p:cNvSpPr>
          <p:nvPr>
            <p:ph type="ftr" sz="quarter" idx="3"/>
          </p:nvPr>
        </p:nvSpPr>
        <p:spPr bwMode="auto">
          <a:xfrm>
            <a:off x="3124200" y="6172200"/>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b="0">
                <a:solidFill>
                  <a:schemeClr val="tx1"/>
                </a:solidFill>
                <a:latin typeface="Arial" panose="020B0604020202020204" pitchFamily="34" charset="0"/>
                <a:ea typeface="宋体" panose="02010600030101010101" pitchFamily="2" charset="-122"/>
              </a:defRPr>
            </a:lvl1pPr>
          </a:lstStyle>
          <a:p>
            <a:pPr>
              <a:defRPr/>
            </a:pPr>
            <a:endParaRPr lang="en-US" altLang="zh-CN"/>
          </a:p>
        </p:txBody>
      </p:sp>
      <p:sp>
        <p:nvSpPr>
          <p:cNvPr id="14342" name="Rectangle 6"/>
          <p:cNvSpPr>
            <a:spLocks noGrp="1" noChangeArrowheads="1"/>
          </p:cNvSpPr>
          <p:nvPr>
            <p:ph type="sldNum" sz="quarter" idx="4"/>
          </p:nvPr>
        </p:nvSpPr>
        <p:spPr bwMode="auto">
          <a:xfrm>
            <a:off x="6553200" y="6172200"/>
            <a:ext cx="2289175"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b="0">
                <a:solidFill>
                  <a:schemeClr val="tx1"/>
                </a:solidFill>
                <a:latin typeface="Arial" panose="020B0604020202020204" pitchFamily="34" charset="0"/>
                <a:ea typeface="宋体" panose="02010600030101010101" pitchFamily="2" charset="-122"/>
              </a:defRPr>
            </a:lvl1pPr>
          </a:lstStyle>
          <a:p>
            <a:fld id="{AE812606-264D-404D-95EA-FC494B19EC9E}" type="slidenum">
              <a:rPr lang="zh-CN" altLang="en-US"/>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ransition>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Effect transition="in" filter="randombar(horizontal)">
                                      <p:cBhvr>
                                        <p:cTn id="7" dur="500"/>
                                        <p:tgtEl>
                                          <p:spTgt spid="14339">
                                            <p:txEl>
                                              <p:pRg st="0" end="0"/>
                                            </p:txEl>
                                          </p:spTgt>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4339">
                                            <p:txEl>
                                              <p:pRg st="1" end="1"/>
                                            </p:txEl>
                                          </p:spTgt>
                                        </p:tgtEl>
                                        <p:attrNameLst>
                                          <p:attrName>style.visibility</p:attrName>
                                        </p:attrNameLst>
                                      </p:cBhvr>
                                      <p:to>
                                        <p:strVal val="visible"/>
                                      </p:to>
                                    </p:set>
                                    <p:animEffect transition="in" filter="randombar(horizontal)">
                                      <p:cBhvr>
                                        <p:cTn id="10" dur="500"/>
                                        <p:tgtEl>
                                          <p:spTgt spid="14339">
                                            <p:txEl>
                                              <p:pRg st="1" end="1"/>
                                            </p:txEl>
                                          </p:spTgt>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14339">
                                            <p:txEl>
                                              <p:pRg st="2" end="2"/>
                                            </p:txEl>
                                          </p:spTgt>
                                        </p:tgtEl>
                                        <p:attrNameLst>
                                          <p:attrName>style.visibility</p:attrName>
                                        </p:attrNameLst>
                                      </p:cBhvr>
                                      <p:to>
                                        <p:strVal val="visible"/>
                                      </p:to>
                                    </p:set>
                                    <p:animEffect transition="in" filter="randombar(horizontal)">
                                      <p:cBhvr>
                                        <p:cTn id="13" dur="500"/>
                                        <p:tgtEl>
                                          <p:spTgt spid="14339">
                                            <p:txEl>
                                              <p:pRg st="2" end="2"/>
                                            </p:txEl>
                                          </p:spTgt>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14339">
                                            <p:txEl>
                                              <p:pRg st="3" end="3"/>
                                            </p:txEl>
                                          </p:spTgt>
                                        </p:tgtEl>
                                        <p:attrNameLst>
                                          <p:attrName>style.visibility</p:attrName>
                                        </p:attrNameLst>
                                      </p:cBhvr>
                                      <p:to>
                                        <p:strVal val="visible"/>
                                      </p:to>
                                    </p:set>
                                    <p:animEffect transition="in" filter="randombar(horizontal)">
                                      <p:cBhvr>
                                        <p:cTn id="16" dur="500"/>
                                        <p:tgtEl>
                                          <p:spTgt spid="14339">
                                            <p:txEl>
                                              <p:pRg st="3" end="3"/>
                                            </p:txEl>
                                          </p:spTgt>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14339">
                                            <p:txEl>
                                              <p:pRg st="4" end="4"/>
                                            </p:txEl>
                                          </p:spTgt>
                                        </p:tgtEl>
                                        <p:attrNameLst>
                                          <p:attrName>style.visibility</p:attrName>
                                        </p:attrNameLst>
                                      </p:cBhvr>
                                      <p:to>
                                        <p:strVal val="visible"/>
                                      </p:to>
                                    </p:set>
                                    <p:animEffect transition="in" filter="randombar(horizontal)">
                                      <p:cBhvr>
                                        <p:cTn id="19" dur="500"/>
                                        <p:tgtEl>
                                          <p:spTgt spid="143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p:tmplLst>
          <p:tmpl lvl="1">
            <p:tnLst>
              <p:par>
                <p:cTn presetID="14" presetClass="entr" presetSubtype="10" fill="hold" nodeType="clickEffect">
                  <p:stCondLst>
                    <p:cond delay="0"/>
                  </p:stCondLst>
                  <p:childTnLst>
                    <p:set>
                      <p:cBhvr>
                        <p:cTn dur="1" fill="hold">
                          <p:stCondLst>
                            <p:cond delay="0"/>
                          </p:stCondLst>
                        </p:cTn>
                        <p:tgtEl>
                          <p:spTgt spid="14339"/>
                        </p:tgtEl>
                        <p:attrNameLst>
                          <p:attrName>style.visibility</p:attrName>
                        </p:attrNameLst>
                      </p:cBhvr>
                      <p:to>
                        <p:strVal val="visible"/>
                      </p:to>
                    </p:set>
                    <p:animEffect transition="in" filter="randombar(horizontal)">
                      <p:cBhvr>
                        <p:cTn dur="500"/>
                        <p:tgtEl>
                          <p:spTgt spid="14339"/>
                        </p:tgtEl>
                      </p:cBhvr>
                    </p:animEffect>
                  </p:childTnLst>
                </p:cTn>
              </p:par>
            </p:tnLst>
          </p:tmpl>
          <p:tmpl lvl="2">
            <p:tnLst>
              <p:par>
                <p:cTn presetID="14" presetClass="entr" presetSubtype="10" fill="hold" nodeType="withEffect">
                  <p:stCondLst>
                    <p:cond delay="0"/>
                  </p:stCondLst>
                  <p:childTnLst>
                    <p:set>
                      <p:cBhvr>
                        <p:cTn dur="1" fill="hold">
                          <p:stCondLst>
                            <p:cond delay="0"/>
                          </p:stCondLst>
                        </p:cTn>
                        <p:tgtEl>
                          <p:spTgt spid="14339"/>
                        </p:tgtEl>
                        <p:attrNameLst>
                          <p:attrName>style.visibility</p:attrName>
                        </p:attrNameLst>
                      </p:cBhvr>
                      <p:to>
                        <p:strVal val="visible"/>
                      </p:to>
                    </p:set>
                    <p:animEffect transition="in" filter="randombar(horizontal)">
                      <p:cBhvr>
                        <p:cTn dur="500"/>
                        <p:tgtEl>
                          <p:spTgt spid="14339"/>
                        </p:tgtEl>
                      </p:cBhvr>
                    </p:animEffect>
                  </p:childTnLst>
                </p:cTn>
              </p:par>
            </p:tnLst>
          </p:tmpl>
          <p:tmpl lvl="3">
            <p:tnLst>
              <p:par>
                <p:cTn presetID="14" presetClass="entr" presetSubtype="10" fill="hold" nodeType="withEffect">
                  <p:stCondLst>
                    <p:cond delay="0"/>
                  </p:stCondLst>
                  <p:childTnLst>
                    <p:set>
                      <p:cBhvr>
                        <p:cTn dur="1" fill="hold">
                          <p:stCondLst>
                            <p:cond delay="0"/>
                          </p:stCondLst>
                        </p:cTn>
                        <p:tgtEl>
                          <p:spTgt spid="14339"/>
                        </p:tgtEl>
                        <p:attrNameLst>
                          <p:attrName>style.visibility</p:attrName>
                        </p:attrNameLst>
                      </p:cBhvr>
                      <p:to>
                        <p:strVal val="visible"/>
                      </p:to>
                    </p:set>
                    <p:animEffect transition="in" filter="randombar(horizontal)">
                      <p:cBhvr>
                        <p:cTn dur="500"/>
                        <p:tgtEl>
                          <p:spTgt spid="14339"/>
                        </p:tgtEl>
                      </p:cBhvr>
                    </p:animEffect>
                  </p:childTnLst>
                </p:cTn>
              </p:par>
            </p:tnLst>
          </p:tmpl>
          <p:tmpl lvl="4">
            <p:tnLst>
              <p:par>
                <p:cTn presetID="14" presetClass="entr" presetSubtype="10" fill="hold" nodeType="withEffect">
                  <p:stCondLst>
                    <p:cond delay="0"/>
                  </p:stCondLst>
                  <p:childTnLst>
                    <p:set>
                      <p:cBhvr>
                        <p:cTn dur="1" fill="hold">
                          <p:stCondLst>
                            <p:cond delay="0"/>
                          </p:stCondLst>
                        </p:cTn>
                        <p:tgtEl>
                          <p:spTgt spid="14339"/>
                        </p:tgtEl>
                        <p:attrNameLst>
                          <p:attrName>style.visibility</p:attrName>
                        </p:attrNameLst>
                      </p:cBhvr>
                      <p:to>
                        <p:strVal val="visible"/>
                      </p:to>
                    </p:set>
                    <p:animEffect transition="in" filter="randombar(horizontal)">
                      <p:cBhvr>
                        <p:cTn dur="500"/>
                        <p:tgtEl>
                          <p:spTgt spid="14339"/>
                        </p:tgtEl>
                      </p:cBhvr>
                    </p:animEffect>
                  </p:childTnLst>
                </p:cTn>
              </p:par>
            </p:tnLst>
          </p:tmpl>
          <p:tmpl lvl="5">
            <p:tnLst>
              <p:par>
                <p:cTn presetID="14" presetClass="entr" presetSubtype="10" fill="hold" nodeType="withEffect">
                  <p:stCondLst>
                    <p:cond delay="0"/>
                  </p:stCondLst>
                  <p:childTnLst>
                    <p:set>
                      <p:cBhvr>
                        <p:cTn dur="1" fill="hold">
                          <p:stCondLst>
                            <p:cond delay="0"/>
                          </p:stCondLst>
                        </p:cTn>
                        <p:tgtEl>
                          <p:spTgt spid="14339"/>
                        </p:tgtEl>
                        <p:attrNameLst>
                          <p:attrName>style.visibility</p:attrName>
                        </p:attrNameLst>
                      </p:cBhvr>
                      <p:to>
                        <p:strVal val="visible"/>
                      </p:to>
                    </p:set>
                    <p:animEffect transition="in" filter="randombar(horizontal)">
                      <p:cBhvr>
                        <p:cTn dur="500"/>
                        <p:tgtEl>
                          <p:spTgt spid="14339"/>
                        </p:tgtEl>
                      </p:cBhvr>
                    </p:animEffect>
                  </p:childTnLst>
                </p:cTn>
              </p:par>
            </p:tnLst>
          </p:tmpl>
        </p:tmplLst>
      </p:bldP>
    </p:bldLst>
  </p:timing>
  <p:txStyles>
    <p:titleStyle>
      <a:lvl1pPr algn="ctr" rtl="0" eaLnBrk="0" fontAlgn="base" hangingPunct="0">
        <a:spcBef>
          <a:spcPct val="0"/>
        </a:spcBef>
        <a:spcAft>
          <a:spcPct val="0"/>
        </a:spcAft>
        <a:defRPr sz="4400" b="1">
          <a:solidFill>
            <a:schemeClr val="tx2"/>
          </a:solidFill>
          <a:latin typeface="+mj-lt"/>
          <a:ea typeface="+mj-ea"/>
          <a:cs typeface="+mj-cs"/>
        </a:defRPr>
      </a:lvl1pPr>
      <a:lvl2pPr algn="ctr" rtl="0" eaLnBrk="0" fontAlgn="base" hangingPunct="0">
        <a:spcBef>
          <a:spcPct val="0"/>
        </a:spcBef>
        <a:spcAft>
          <a:spcPct val="0"/>
        </a:spcAft>
        <a:defRPr sz="4400" b="1">
          <a:solidFill>
            <a:schemeClr val="tx2"/>
          </a:solidFill>
          <a:latin typeface="Times New Roman" panose="02020603050405020304" pitchFamily="18" charset="0"/>
          <a:ea typeface="楷体_GB2312" pitchFamily="49" charset="-122"/>
        </a:defRPr>
      </a:lvl2pPr>
      <a:lvl3pPr algn="ctr" rtl="0" eaLnBrk="0" fontAlgn="base" hangingPunct="0">
        <a:spcBef>
          <a:spcPct val="0"/>
        </a:spcBef>
        <a:spcAft>
          <a:spcPct val="0"/>
        </a:spcAft>
        <a:defRPr sz="4400" b="1">
          <a:solidFill>
            <a:schemeClr val="tx2"/>
          </a:solidFill>
          <a:latin typeface="Times New Roman" panose="02020603050405020304" pitchFamily="18" charset="0"/>
          <a:ea typeface="楷体_GB2312" pitchFamily="49" charset="-122"/>
        </a:defRPr>
      </a:lvl3pPr>
      <a:lvl4pPr algn="ctr" rtl="0" eaLnBrk="0" fontAlgn="base" hangingPunct="0">
        <a:spcBef>
          <a:spcPct val="0"/>
        </a:spcBef>
        <a:spcAft>
          <a:spcPct val="0"/>
        </a:spcAft>
        <a:defRPr sz="4400" b="1">
          <a:solidFill>
            <a:schemeClr val="tx2"/>
          </a:solidFill>
          <a:latin typeface="Times New Roman" panose="02020603050405020304" pitchFamily="18" charset="0"/>
          <a:ea typeface="楷体_GB2312" pitchFamily="49" charset="-122"/>
        </a:defRPr>
      </a:lvl4pPr>
      <a:lvl5pPr algn="ctr" rtl="0" eaLnBrk="0" fontAlgn="base" hangingPunct="0">
        <a:spcBef>
          <a:spcPct val="0"/>
        </a:spcBef>
        <a:spcAft>
          <a:spcPct val="0"/>
        </a:spcAft>
        <a:defRPr sz="4400" b="1">
          <a:solidFill>
            <a:schemeClr val="tx2"/>
          </a:solidFill>
          <a:latin typeface="Times New Roman" panose="02020603050405020304" pitchFamily="18" charset="0"/>
          <a:ea typeface="楷体_GB2312" pitchFamily="49" charset="-122"/>
        </a:defRPr>
      </a:lvl5pPr>
      <a:lvl6pPr marL="457200" algn="ctr" rtl="0" fontAlgn="base">
        <a:spcBef>
          <a:spcPct val="0"/>
        </a:spcBef>
        <a:spcAft>
          <a:spcPct val="0"/>
        </a:spcAft>
        <a:defRPr sz="4400" b="1">
          <a:solidFill>
            <a:schemeClr val="tx2"/>
          </a:solidFill>
          <a:latin typeface="Times New Roman" panose="02020603050405020304" pitchFamily="18" charset="0"/>
          <a:ea typeface="楷体_GB2312" pitchFamily="49" charset="-122"/>
        </a:defRPr>
      </a:lvl6pPr>
      <a:lvl7pPr marL="914400" algn="ctr" rtl="0" fontAlgn="base">
        <a:spcBef>
          <a:spcPct val="0"/>
        </a:spcBef>
        <a:spcAft>
          <a:spcPct val="0"/>
        </a:spcAft>
        <a:defRPr sz="4400" b="1">
          <a:solidFill>
            <a:schemeClr val="tx2"/>
          </a:solidFill>
          <a:latin typeface="Times New Roman" panose="02020603050405020304" pitchFamily="18" charset="0"/>
          <a:ea typeface="楷体_GB2312" pitchFamily="49" charset="-122"/>
        </a:defRPr>
      </a:lvl7pPr>
      <a:lvl8pPr marL="1371600" algn="ctr" rtl="0" fontAlgn="base">
        <a:spcBef>
          <a:spcPct val="0"/>
        </a:spcBef>
        <a:spcAft>
          <a:spcPct val="0"/>
        </a:spcAft>
        <a:defRPr sz="4400" b="1">
          <a:solidFill>
            <a:schemeClr val="tx2"/>
          </a:solidFill>
          <a:latin typeface="Times New Roman" panose="02020603050405020304" pitchFamily="18" charset="0"/>
          <a:ea typeface="楷体_GB2312" pitchFamily="49" charset="-122"/>
        </a:defRPr>
      </a:lvl8pPr>
      <a:lvl9pPr marL="1828800" algn="ctr" rtl="0" fontAlgn="base">
        <a:spcBef>
          <a:spcPct val="0"/>
        </a:spcBef>
        <a:spcAft>
          <a:spcPct val="0"/>
        </a:spcAft>
        <a:defRPr sz="4400" b="1">
          <a:solidFill>
            <a:schemeClr val="tx2"/>
          </a:solidFill>
          <a:latin typeface="Times New Roman" panose="02020603050405020304" pitchFamily="18" charset="0"/>
          <a:ea typeface="楷体_GB2312" pitchFamily="49"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b="1">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b="1">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b="1">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b="1">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b="1">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b="1">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1.xml"/><Relationship Id="rId4" Type="http://schemas.openxmlformats.org/officeDocument/2006/relationships/image" Target="../media/image3.png"/><Relationship Id="rId3" Type="http://schemas.openxmlformats.org/officeDocument/2006/relationships/oleObject" Target="../embeddings/oleObject2.bin"/><Relationship Id="rId2" Type="http://schemas.openxmlformats.org/officeDocument/2006/relationships/image" Target="../media/image2.png"/><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3.xml"/><Relationship Id="rId2" Type="http://schemas.openxmlformats.org/officeDocument/2006/relationships/image" Target="../media/image4.png"/><Relationship Id="rId1"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tags" Target="../tags/tag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tags" Target="../tags/tag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tags" Target="../tags/tag3.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tags" Target="../tags/tag4.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xml"/><Relationship Id="rId1" Type="http://schemas.openxmlformats.org/officeDocument/2006/relationships/image" Target="../media/image12.pn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3.png"/><Relationship Id="rId2" Type="http://schemas.openxmlformats.org/officeDocument/2006/relationships/tags" Target="../tags/tag7.xml"/><Relationship Id="rId1" Type="http://schemas.openxmlformats.org/officeDocument/2006/relationships/tags" Target="../tags/tag6.xml"/></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5.png"/><Relationship Id="rId3" Type="http://schemas.openxmlformats.org/officeDocument/2006/relationships/tags" Target="../tags/tag9.xml"/><Relationship Id="rId2" Type="http://schemas.openxmlformats.org/officeDocument/2006/relationships/image" Target="../media/image14.png"/><Relationship Id="rId1" Type="http://schemas.openxmlformats.org/officeDocument/2006/relationships/tags" Target="../tags/tag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tags" Target="../tags/tag10.xml"/></Relationships>
</file>

<file path=ppt/slides/_rels/slide2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s>
</file>

<file path=ppt/slides/_rels/slide2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s>
</file>

<file path=ppt/slides/_rels/slide30.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image" Target="../media/image17.jpeg"/><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s>
</file>

<file path=ppt/slides/_rels/slide31.xml.rels><?xml version="1.0" encoding="UTF-8" standalone="yes"?>
<Relationships xmlns="http://schemas.openxmlformats.org/package/2006/relationships"><Relationship Id="rId9" Type="http://schemas.openxmlformats.org/officeDocument/2006/relationships/tags" Target="../tags/tag35.xml"/><Relationship Id="rId8" Type="http://schemas.openxmlformats.org/officeDocument/2006/relationships/tags" Target="../tags/tag34.xml"/><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0" Type="http://schemas.openxmlformats.org/officeDocument/2006/relationships/slideLayout" Target="../slideLayouts/slideLayout2.xml"/><Relationship Id="rId1" Type="http://schemas.openxmlformats.org/officeDocument/2006/relationships/tags" Target="../tags/tag27.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9.jpeg"/><Relationship Id="rId1" Type="http://schemas.openxmlformats.org/officeDocument/2006/relationships/image" Target="../media/image18.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0.jpeg"/><Relationship Id="rId1" Type="http://schemas.openxmlformats.org/officeDocument/2006/relationships/hyperlink" Target="http://upload.wikimedia.org/wikipedia/commons/8/83/Four_AA_batteries.jpg" TargetMode="External"/></Relationships>
</file>

<file path=ppt/slides/_rels/slide46.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1.xml"/><Relationship Id="rId2" Type="http://schemas.openxmlformats.org/officeDocument/2006/relationships/image" Target="../media/image21.png"/><Relationship Id="rId1" Type="http://schemas.openxmlformats.org/officeDocument/2006/relationships/oleObject" Target="../embeddings/oleObject4.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3"/>
          <p:cNvSpPr>
            <a:spLocks noGrp="1" noRot="1" noChangeArrowheads="1"/>
          </p:cNvSpPr>
          <p:nvPr>
            <p:ph type="body" idx="1"/>
          </p:nvPr>
        </p:nvSpPr>
        <p:spPr>
          <a:xfrm>
            <a:off x="304800" y="1905000"/>
            <a:ext cx="8540750" cy="2646363"/>
          </a:xfrm>
        </p:spPr>
        <p:txBody>
          <a:bodyPr/>
          <a:lstStyle/>
          <a:p>
            <a:pPr>
              <a:buFont typeface="Wingdings" panose="05000000000000000000" pitchFamily="2" charset="2"/>
              <a:buNone/>
            </a:pPr>
            <a:endParaRPr lang="zh-CN" altLang="en-US"/>
          </a:p>
          <a:p>
            <a:pPr>
              <a:buFont typeface="Wingdings" panose="05000000000000000000" pitchFamily="2" charset="2"/>
              <a:buNone/>
            </a:pPr>
            <a:r>
              <a:rPr lang="en-US" altLang="zh-CN" sz="3600">
                <a:latin typeface="Times New Roman" panose="02020603050405020304" pitchFamily="18" charset="0"/>
                <a:ea typeface="楷体_GB2312" pitchFamily="49" charset="-122"/>
              </a:rPr>
              <a:t>3.2.1 </a:t>
            </a:r>
            <a:r>
              <a:rPr lang="zh-CN" altLang="en-US" sz="3600">
                <a:latin typeface="Times New Roman" panose="02020603050405020304" pitchFamily="18" charset="0"/>
                <a:ea typeface="楷体_GB2312" pitchFamily="49" charset="-122"/>
              </a:rPr>
              <a:t>锌锰干电池</a:t>
            </a:r>
            <a:endParaRPr lang="zh-CN" altLang="en-US" sz="3600">
              <a:latin typeface="Times New Roman" panose="02020603050405020304" pitchFamily="18" charset="0"/>
              <a:ea typeface="楷体_GB2312" pitchFamily="49" charset="-122"/>
            </a:endParaRPr>
          </a:p>
          <a:p>
            <a:pPr>
              <a:buFont typeface="Wingdings" panose="05000000000000000000" pitchFamily="2" charset="2"/>
              <a:buNone/>
            </a:pPr>
            <a:endParaRPr lang="zh-CN" altLang="en-US" sz="3600">
              <a:latin typeface="Times New Roman" panose="02020603050405020304" pitchFamily="18" charset="0"/>
              <a:ea typeface="楷体_GB2312" pitchFamily="49" charset="-122"/>
            </a:endParaRPr>
          </a:p>
          <a:p>
            <a:pPr>
              <a:buFont typeface="Wingdings" panose="05000000000000000000" pitchFamily="2" charset="2"/>
              <a:buNone/>
            </a:pPr>
            <a:r>
              <a:rPr lang="en-US" altLang="zh-CN" sz="3600">
                <a:latin typeface="Times New Roman" panose="02020603050405020304" pitchFamily="18" charset="0"/>
                <a:ea typeface="楷体_GB2312" pitchFamily="49" charset="-122"/>
              </a:rPr>
              <a:t>3.2.2 </a:t>
            </a:r>
            <a:r>
              <a:rPr lang="zh-CN" altLang="en-US" sz="3600">
                <a:latin typeface="Times New Roman" panose="02020603050405020304" pitchFamily="18" charset="0"/>
                <a:ea typeface="楷体_GB2312" pitchFamily="49" charset="-122"/>
              </a:rPr>
              <a:t>碱性锌锰电池</a:t>
            </a:r>
            <a:endParaRPr lang="zh-CN" altLang="en-US" sz="3600">
              <a:latin typeface="Times New Roman" panose="02020603050405020304" pitchFamily="18" charset="0"/>
              <a:ea typeface="楷体_GB2312" pitchFamily="49" charset="-122"/>
            </a:endParaRPr>
          </a:p>
        </p:txBody>
      </p:sp>
      <p:sp>
        <p:nvSpPr>
          <p:cNvPr id="15363" name="Rectangle 2"/>
          <p:cNvSpPr>
            <a:spLocks noRot="1" noChangeArrowheads="1"/>
          </p:cNvSpPr>
          <p:nvPr/>
        </p:nvSpPr>
        <p:spPr bwMode="auto">
          <a:xfrm>
            <a:off x="323850" y="549275"/>
            <a:ext cx="8540750" cy="11430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eaLnBrk="1" hangingPunct="1"/>
            <a:r>
              <a:rPr lang="en-US" altLang="zh-CN" sz="4000">
                <a:solidFill>
                  <a:schemeClr val="tx1"/>
                </a:solidFill>
              </a:rPr>
              <a:t>3.2.  </a:t>
            </a:r>
            <a:r>
              <a:rPr lang="zh-CN" altLang="en-US" sz="4000">
                <a:solidFill>
                  <a:schemeClr val="tx1"/>
                </a:solidFill>
              </a:rPr>
              <a:t>一次电池</a:t>
            </a:r>
            <a:endParaRPr lang="zh-CN" altLang="en-US" sz="4000">
              <a:solidFill>
                <a:schemeClr val="tx1"/>
              </a:solidFill>
            </a:endParaRPr>
          </a:p>
        </p:txBody>
      </p:sp>
    </p:spTree>
  </p:cSld>
  <p:clrMapOvr>
    <a:masterClrMapping/>
  </p:clrMapOvr>
  <p:transition>
    <p:randomBar dir="vert"/>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p:cNvSpPr>
            <a:spLocks noGrp="1" noRot="1" noChangeArrowheads="1"/>
          </p:cNvSpPr>
          <p:nvPr>
            <p:ph type="title"/>
          </p:nvPr>
        </p:nvSpPr>
        <p:spPr/>
        <p:txBody>
          <a:bodyPr/>
          <a:lstStyle/>
          <a:p>
            <a:pPr algn="l"/>
            <a:r>
              <a:rPr lang="zh-CN" altLang="en-US" sz="2800">
                <a:solidFill>
                  <a:srgbClr val="0033CC"/>
                </a:solidFill>
              </a:rPr>
              <a:t>原电池生产主要有几个系列:</a:t>
            </a:r>
            <a:endParaRPr lang="zh-CN" altLang="en-US" sz="2800">
              <a:solidFill>
                <a:srgbClr val="0033CC"/>
              </a:solidFill>
            </a:endParaRPr>
          </a:p>
        </p:txBody>
      </p:sp>
      <p:sp>
        <p:nvSpPr>
          <p:cNvPr id="16387" name="Rectangle 3"/>
          <p:cNvSpPr>
            <a:spLocks noGrp="1" noRot="1" noChangeArrowheads="1"/>
          </p:cNvSpPr>
          <p:nvPr>
            <p:ph type="body" idx="1"/>
          </p:nvPr>
        </p:nvSpPr>
        <p:spPr>
          <a:xfrm>
            <a:off x="342900" y="1498600"/>
            <a:ext cx="8540750" cy="5105400"/>
          </a:xfrm>
          <a:solidFill>
            <a:srgbClr val="FFFF99"/>
          </a:solidFill>
        </p:spPr>
        <p:txBody>
          <a:bodyPr/>
          <a:lstStyle/>
          <a:p>
            <a:pPr>
              <a:lnSpc>
                <a:spcPct val="150000"/>
              </a:lnSpc>
              <a:buFont typeface="Wingdings" panose="05000000000000000000" pitchFamily="2" charset="2"/>
              <a:buNone/>
            </a:pPr>
            <a:r>
              <a:rPr lang="zh-CN" altLang="en-US" sz="2800">
                <a:solidFill>
                  <a:srgbClr val="FF0066"/>
                </a:solidFill>
                <a:latin typeface="Times New Roman" panose="02020603050405020304" pitchFamily="18" charset="0"/>
                <a:ea typeface="楷体_GB2312" pitchFamily="49" charset="-122"/>
              </a:rPr>
              <a:t>普通锌锰；</a:t>
            </a:r>
            <a:endParaRPr lang="zh-CN" altLang="en-US" sz="2800">
              <a:solidFill>
                <a:srgbClr val="FF0066"/>
              </a:solidFill>
              <a:latin typeface="Times New Roman" panose="02020603050405020304" pitchFamily="18" charset="0"/>
              <a:ea typeface="楷体_GB2312" pitchFamily="49" charset="-122"/>
            </a:endParaRPr>
          </a:p>
          <a:p>
            <a:pPr>
              <a:lnSpc>
                <a:spcPct val="150000"/>
              </a:lnSpc>
              <a:buFont typeface="Wingdings" panose="05000000000000000000" pitchFamily="2" charset="2"/>
              <a:buNone/>
            </a:pPr>
            <a:r>
              <a:rPr lang="zh-CN" altLang="en-US" sz="2800">
                <a:solidFill>
                  <a:srgbClr val="FF0066"/>
                </a:solidFill>
                <a:latin typeface="Times New Roman" panose="02020603050405020304" pitchFamily="18" charset="0"/>
                <a:ea typeface="楷体_GB2312" pitchFamily="49" charset="-122"/>
              </a:rPr>
              <a:t>碱性锌锰；</a:t>
            </a:r>
            <a:endParaRPr lang="zh-CN" altLang="en-US" sz="2800">
              <a:solidFill>
                <a:srgbClr val="FF0066"/>
              </a:solidFill>
              <a:latin typeface="Times New Roman" panose="02020603050405020304" pitchFamily="18" charset="0"/>
              <a:ea typeface="楷体_GB2312" pitchFamily="49" charset="-122"/>
            </a:endParaRPr>
          </a:p>
          <a:p>
            <a:pPr>
              <a:lnSpc>
                <a:spcPct val="150000"/>
              </a:lnSpc>
              <a:buFont typeface="Wingdings" panose="05000000000000000000" pitchFamily="2" charset="2"/>
              <a:buNone/>
            </a:pPr>
            <a:r>
              <a:rPr lang="zh-CN" altLang="en-US" sz="2800">
                <a:solidFill>
                  <a:srgbClr val="FF0066"/>
                </a:solidFill>
                <a:latin typeface="Times New Roman" panose="02020603050405020304" pitchFamily="18" charset="0"/>
                <a:ea typeface="楷体_GB2312" pitchFamily="49" charset="-122"/>
              </a:rPr>
              <a:t>锌汞；（汞有毒）</a:t>
            </a:r>
            <a:endParaRPr lang="zh-CN" altLang="en-US" sz="2800">
              <a:solidFill>
                <a:srgbClr val="FF0066"/>
              </a:solidFill>
              <a:latin typeface="Times New Roman" panose="02020603050405020304" pitchFamily="18" charset="0"/>
              <a:ea typeface="楷体_GB2312" pitchFamily="49" charset="-122"/>
            </a:endParaRPr>
          </a:p>
          <a:p>
            <a:pPr>
              <a:lnSpc>
                <a:spcPct val="150000"/>
              </a:lnSpc>
              <a:buFont typeface="Wingdings" panose="05000000000000000000" pitchFamily="2" charset="2"/>
              <a:buNone/>
            </a:pPr>
            <a:r>
              <a:rPr lang="zh-CN" altLang="en-US" sz="2800">
                <a:solidFill>
                  <a:srgbClr val="FF0066"/>
                </a:solidFill>
                <a:latin typeface="Times New Roman" panose="02020603050405020304" pitchFamily="18" charset="0"/>
                <a:ea typeface="楷体_GB2312" pitchFamily="49" charset="-122"/>
              </a:rPr>
              <a:t>锌空气；</a:t>
            </a:r>
            <a:endParaRPr lang="zh-CN" altLang="en-US" sz="2800">
              <a:solidFill>
                <a:srgbClr val="FF0066"/>
              </a:solidFill>
              <a:latin typeface="Times New Roman" panose="02020603050405020304" pitchFamily="18" charset="0"/>
              <a:ea typeface="楷体_GB2312" pitchFamily="49" charset="-122"/>
            </a:endParaRPr>
          </a:p>
          <a:p>
            <a:pPr>
              <a:lnSpc>
                <a:spcPct val="150000"/>
              </a:lnSpc>
              <a:buFont typeface="Wingdings" panose="05000000000000000000" pitchFamily="2" charset="2"/>
              <a:buNone/>
            </a:pPr>
            <a:r>
              <a:rPr lang="zh-CN" altLang="en-US" sz="2800">
                <a:solidFill>
                  <a:srgbClr val="FF0066"/>
                </a:solidFill>
                <a:latin typeface="Times New Roman" panose="02020603050405020304" pitchFamily="18" charset="0"/>
                <a:ea typeface="楷体_GB2312" pitchFamily="49" charset="-122"/>
              </a:rPr>
              <a:t>镁锰；（用于军事）</a:t>
            </a:r>
            <a:endParaRPr lang="zh-CN" altLang="en-US" sz="2800">
              <a:solidFill>
                <a:srgbClr val="FF0066"/>
              </a:solidFill>
              <a:latin typeface="Times New Roman" panose="02020603050405020304" pitchFamily="18" charset="0"/>
              <a:ea typeface="楷体_GB2312" pitchFamily="49" charset="-122"/>
            </a:endParaRPr>
          </a:p>
          <a:p>
            <a:pPr>
              <a:lnSpc>
                <a:spcPct val="150000"/>
              </a:lnSpc>
              <a:buFont typeface="Wingdings" panose="05000000000000000000" pitchFamily="2" charset="2"/>
              <a:buNone/>
            </a:pPr>
            <a:r>
              <a:rPr lang="zh-CN" altLang="en-US" sz="2800">
                <a:solidFill>
                  <a:srgbClr val="FF0066"/>
                </a:solidFill>
                <a:latin typeface="Times New Roman" panose="02020603050405020304" pitchFamily="18" charset="0"/>
                <a:ea typeface="楷体_GB2312" pitchFamily="49" charset="-122"/>
              </a:rPr>
              <a:t>锌银；（消耗银）</a:t>
            </a:r>
            <a:endParaRPr lang="zh-CN" altLang="en-US" sz="2800">
              <a:solidFill>
                <a:srgbClr val="FF0066"/>
              </a:solidFill>
              <a:latin typeface="Times New Roman" panose="02020603050405020304" pitchFamily="18" charset="0"/>
              <a:ea typeface="楷体_GB2312" pitchFamily="49" charset="-122"/>
            </a:endParaRPr>
          </a:p>
          <a:p>
            <a:pPr>
              <a:lnSpc>
                <a:spcPct val="150000"/>
              </a:lnSpc>
              <a:buFont typeface="Wingdings" panose="05000000000000000000" pitchFamily="2" charset="2"/>
              <a:buNone/>
            </a:pPr>
            <a:r>
              <a:rPr lang="zh-CN" altLang="en-US" sz="2800">
                <a:solidFill>
                  <a:srgbClr val="FF0066"/>
                </a:solidFill>
                <a:latin typeface="Times New Roman" panose="02020603050405020304" pitchFamily="18" charset="0"/>
                <a:ea typeface="楷体_GB2312" pitchFamily="49" charset="-122"/>
              </a:rPr>
              <a:t>锂电池（不是锂离子电池）</a:t>
            </a:r>
            <a:endParaRPr lang="zh-CN" altLang="en-US" sz="2800">
              <a:solidFill>
                <a:srgbClr val="FF0066"/>
              </a:solidFill>
              <a:latin typeface="Times New Roman" panose="02020603050405020304" pitchFamily="18" charset="0"/>
              <a:ea typeface="楷体_GB2312" pitchFamily="49" charset="-122"/>
            </a:endParaRPr>
          </a:p>
        </p:txBody>
      </p:sp>
    </p:spTree>
  </p:cSld>
  <p:clrMapOvr>
    <a:masterClrMapping/>
  </p:clrMapOvr>
  <p:transition>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5"/>
          <p:cNvSpPr>
            <a:spLocks noChangeArrowheads="1"/>
          </p:cNvSpPr>
          <p:nvPr/>
        </p:nvSpPr>
        <p:spPr bwMode="auto">
          <a:xfrm>
            <a:off x="3014663" y="2324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endParaRPr lang="zh-CN" altLang="en-US"/>
          </a:p>
        </p:txBody>
      </p:sp>
      <p:graphicFrame>
        <p:nvGraphicFramePr>
          <p:cNvPr id="1026" name="Object 1024"/>
          <p:cNvGraphicFramePr>
            <a:graphicFrameLocks noChangeAspect="1"/>
          </p:cNvGraphicFramePr>
          <p:nvPr/>
        </p:nvGraphicFramePr>
        <p:xfrm>
          <a:off x="2486025" y="3281363"/>
          <a:ext cx="4648200" cy="3297237"/>
        </p:xfrm>
        <a:graphic>
          <a:graphicData uri="http://schemas.openxmlformats.org/presentationml/2006/ole">
            <mc:AlternateContent xmlns:mc="http://schemas.openxmlformats.org/markup-compatibility/2006">
              <mc:Choice xmlns:v="urn:schemas-microsoft-com:vml" Requires="v">
                <p:oleObj spid="_x0000_s1038" name="" r:id="rId1" imgW="3114675" imgH="2209800" progId="Paint.Picture">
                  <p:embed/>
                </p:oleObj>
              </mc:Choice>
              <mc:Fallback>
                <p:oleObj name="" r:id="rId1" imgW="3114675" imgH="2209800" progId="Paint.Picture">
                  <p:embed/>
                  <p:pic>
                    <p:nvPicPr>
                      <p:cNvPr id="0" name="Object 102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6025" y="3281363"/>
                        <a:ext cx="4648200" cy="3297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9" name="Rectangle 8"/>
          <p:cNvSpPr>
            <a:spLocks noChangeArrowheads="1"/>
          </p:cNvSpPr>
          <p:nvPr/>
        </p:nvSpPr>
        <p:spPr bwMode="auto">
          <a:xfrm>
            <a:off x="3014663" y="26574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endParaRPr lang="zh-CN" altLang="en-US"/>
          </a:p>
        </p:txBody>
      </p:sp>
      <p:graphicFrame>
        <p:nvGraphicFramePr>
          <p:cNvPr id="1027" name="Object 1025"/>
          <p:cNvGraphicFramePr>
            <a:graphicFrameLocks noChangeAspect="1"/>
          </p:cNvGraphicFramePr>
          <p:nvPr/>
        </p:nvGraphicFramePr>
        <p:xfrm>
          <a:off x="2028825" y="427038"/>
          <a:ext cx="5410200" cy="2679700"/>
        </p:xfrm>
        <a:graphic>
          <a:graphicData uri="http://schemas.openxmlformats.org/presentationml/2006/ole">
            <mc:AlternateContent xmlns:mc="http://schemas.openxmlformats.org/markup-compatibility/2006">
              <mc:Choice xmlns:v="urn:schemas-microsoft-com:vml" Requires="v">
                <p:oleObj spid="_x0000_s1039" name="" r:id="rId3" imgW="3114675" imgH="1543050" progId="Paint.Picture">
                  <p:embed/>
                </p:oleObj>
              </mc:Choice>
              <mc:Fallback>
                <p:oleObj name="" r:id="rId3" imgW="3114675" imgH="1543050" progId="Paint.Picture">
                  <p:embed/>
                  <p:pic>
                    <p:nvPicPr>
                      <p:cNvPr id="0" name="Object 10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8825" y="427038"/>
                        <a:ext cx="5410200" cy="267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rrowheads="1"/>
          </p:cNvSpPr>
          <p:nvPr>
            <p:ph type="title"/>
          </p:nvPr>
        </p:nvSpPr>
        <p:spPr>
          <a:xfrm>
            <a:off x="301625" y="279400"/>
            <a:ext cx="8540750" cy="685800"/>
          </a:xfrm>
        </p:spPr>
        <p:txBody>
          <a:bodyPr/>
          <a:lstStyle/>
          <a:p>
            <a:r>
              <a:rPr lang="zh-CN" altLang="en-US" sz="3200">
                <a:solidFill>
                  <a:schemeClr val="tx1"/>
                </a:solidFill>
                <a:ea typeface="黑体" panose="02010609060101010101" pitchFamily="49" charset="-122"/>
              </a:rPr>
              <a:t>一次电池的种类及结构</a:t>
            </a:r>
            <a:endParaRPr lang="zh-CN" altLang="en-US" sz="3200">
              <a:solidFill>
                <a:schemeClr val="tx1"/>
              </a:solidFill>
              <a:ea typeface="黑体" panose="02010609060101010101" pitchFamily="49" charset="-122"/>
            </a:endParaRPr>
          </a:p>
        </p:txBody>
      </p:sp>
      <p:graphicFrame>
        <p:nvGraphicFramePr>
          <p:cNvPr id="113827" name="Group 163"/>
          <p:cNvGraphicFramePr>
            <a:graphicFrameLocks noGrp="1"/>
          </p:cNvGraphicFramePr>
          <p:nvPr/>
        </p:nvGraphicFramePr>
        <p:xfrm>
          <a:off x="457200" y="1117600"/>
          <a:ext cx="8305800" cy="822890"/>
        </p:xfrm>
        <a:graphic>
          <a:graphicData uri="http://schemas.openxmlformats.org/drawingml/2006/table">
            <a:tbl>
              <a:tblPr/>
              <a:tblGrid>
                <a:gridCol w="1755140"/>
                <a:gridCol w="1465898"/>
                <a:gridCol w="1863725"/>
                <a:gridCol w="1779587"/>
                <a:gridCol w="1441450"/>
              </a:tblGrid>
              <a:tr h="822325">
                <a:tc>
                  <a:txBody>
                    <a:bodyPr/>
                    <a:lstStyle/>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rPr>
                        <a:t>电池</a:t>
                      </a:r>
                      <a:endPar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rPr>
                        <a:t>种类</a:t>
                      </a:r>
                      <a:endPar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T="45685" marB="456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rPr>
                        <a:t>负极活性物质</a:t>
                      </a:r>
                      <a:endPar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T="45685" marB="456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rPr>
                        <a:t>电解质</a:t>
                      </a:r>
                      <a:endPar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T="45685" marB="456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rPr>
                        <a:t>正极活性</a:t>
                      </a:r>
                      <a:endPar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rPr>
                        <a:t>物质</a:t>
                      </a:r>
                      <a:endPar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T="45685" marB="456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rPr>
                        <a:t>电压</a:t>
                      </a:r>
                      <a:endPar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T="45685" marB="456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13934" name="Group 270"/>
          <p:cNvGraphicFramePr>
            <a:graphicFrameLocks noGrp="1"/>
          </p:cNvGraphicFramePr>
          <p:nvPr/>
        </p:nvGraphicFramePr>
        <p:xfrm>
          <a:off x="457200" y="2032000"/>
          <a:ext cx="8305800" cy="462915"/>
        </p:xfrm>
        <a:graphic>
          <a:graphicData uri="http://schemas.openxmlformats.org/drawingml/2006/table">
            <a:tbl>
              <a:tblPr/>
              <a:tblGrid>
                <a:gridCol w="1743710"/>
                <a:gridCol w="1477328"/>
                <a:gridCol w="1863725"/>
                <a:gridCol w="1779587"/>
                <a:gridCol w="1441450"/>
              </a:tblGrid>
              <a:tr h="462915">
                <a:tc>
                  <a:txBody>
                    <a:bodyPr/>
                    <a:lstStyle/>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rPr>
                        <a:t>锌锰干电池</a:t>
                      </a:r>
                      <a:endPar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CC"/>
                    </a:solidFill>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Zn</a:t>
                      </a:r>
                      <a:endPar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CC"/>
                    </a:solidFill>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楷体_GB2312" pitchFamily="49" charset="-122"/>
                        </a:rPr>
                        <a:t>NH</a:t>
                      </a:r>
                      <a:r>
                        <a:rPr kumimoji="0" lang="en-US" altLang="zh-CN" sz="2200" b="1" i="0" u="none" strike="noStrike" cap="none" normalizeH="0" baseline="-25000">
                          <a:ln>
                            <a:noFill/>
                          </a:ln>
                          <a:solidFill>
                            <a:schemeClr val="tx1"/>
                          </a:solidFill>
                          <a:effectLst/>
                          <a:latin typeface="Times New Roman" panose="02020603050405020304" pitchFamily="18" charset="0"/>
                          <a:ea typeface="楷体_GB2312" pitchFamily="49" charset="-122"/>
                        </a:rPr>
                        <a:t>4</a:t>
                      </a:r>
                      <a:r>
                        <a:rPr kumimoji="0" lang="en-US" altLang="zh-CN" sz="2200" b="1" i="0" u="none" strike="noStrike" cap="none" normalizeH="0" baseline="0">
                          <a:ln>
                            <a:noFill/>
                          </a:ln>
                          <a:solidFill>
                            <a:schemeClr val="tx1"/>
                          </a:solidFill>
                          <a:effectLst/>
                          <a:latin typeface="Times New Roman" panose="02020603050405020304" pitchFamily="18" charset="0"/>
                          <a:ea typeface="楷体_GB2312" pitchFamily="49" charset="-122"/>
                        </a:rPr>
                        <a:t>Cl+ZnCl</a:t>
                      </a:r>
                      <a:r>
                        <a:rPr kumimoji="0" lang="en-US" altLang="zh-CN" sz="2200" b="1" i="0" u="none" strike="noStrike" cap="none" normalizeH="0" baseline="-25000">
                          <a:ln>
                            <a:noFill/>
                          </a:ln>
                          <a:solidFill>
                            <a:schemeClr val="tx1"/>
                          </a:solidFill>
                          <a:effectLst/>
                          <a:latin typeface="Times New Roman" panose="02020603050405020304" pitchFamily="18" charset="0"/>
                          <a:ea typeface="楷体_GB2312" pitchFamily="49" charset="-122"/>
                        </a:rPr>
                        <a:t>2</a:t>
                      </a:r>
                      <a:endParaRPr kumimoji="0" lang="en-US" altLang="zh-CN" sz="2200" b="1" i="0" u="none" strike="noStrike" cap="none" normalizeH="0" baseline="-25000">
                        <a:ln>
                          <a:noFill/>
                        </a:ln>
                        <a:solidFill>
                          <a:schemeClr val="tx1"/>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CC"/>
                    </a:solidFill>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MnO</a:t>
                      </a:r>
                      <a:r>
                        <a:rPr kumimoji="0" lang="en-US" altLang="zh-CN" sz="2400" b="1" i="0" u="none" strike="noStrike" cap="none" normalizeH="0" baseline="-25000">
                          <a:ln>
                            <a:noFill/>
                          </a:ln>
                          <a:solidFill>
                            <a:schemeClr val="tx1"/>
                          </a:solidFill>
                          <a:effectLst/>
                          <a:latin typeface="Times New Roman" panose="02020603050405020304" pitchFamily="18" charset="0"/>
                          <a:ea typeface="楷体_GB2312" pitchFamily="49" charset="-122"/>
                        </a:rPr>
                        <a:t>2</a:t>
                      </a:r>
                      <a:endParaRPr kumimoji="0" lang="en-US" altLang="zh-CN" sz="2400" b="1" i="0" u="none" strike="noStrike" cap="none" normalizeH="0" baseline="-25000">
                        <a:ln>
                          <a:noFill/>
                        </a:ln>
                        <a:solidFill>
                          <a:schemeClr val="tx1"/>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CC"/>
                    </a:solidFill>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rPr>
                        <a:t>1.5</a:t>
                      </a:r>
                      <a:endPar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CC"/>
                    </a:solidFill>
                  </a:tcPr>
                </a:tc>
              </a:tr>
            </a:tbl>
          </a:graphicData>
        </a:graphic>
      </p:graphicFrame>
      <p:graphicFrame>
        <p:nvGraphicFramePr>
          <p:cNvPr id="113929" name="Group 265"/>
          <p:cNvGraphicFramePr>
            <a:graphicFrameLocks noGrp="1"/>
          </p:cNvGraphicFramePr>
          <p:nvPr/>
        </p:nvGraphicFramePr>
        <p:xfrm>
          <a:off x="457200" y="2590800"/>
          <a:ext cx="8305800" cy="822890"/>
        </p:xfrm>
        <a:graphic>
          <a:graphicData uri="http://schemas.openxmlformats.org/drawingml/2006/table">
            <a:tbl>
              <a:tblPr/>
              <a:tblGrid>
                <a:gridCol w="1772285"/>
                <a:gridCol w="1448753"/>
                <a:gridCol w="1863725"/>
                <a:gridCol w="1779587"/>
                <a:gridCol w="1441450"/>
              </a:tblGrid>
              <a:tr h="633730">
                <a:tc>
                  <a:txBody>
                    <a:bodyPr/>
                    <a:lstStyle/>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rPr>
                        <a:t>碱性锌锰电池</a:t>
                      </a:r>
                      <a:endPar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T="45685" marB="456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Zn</a:t>
                      </a:r>
                      <a:endPar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T="45685" marB="456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楷体_GB2312" pitchFamily="49" charset="-122"/>
                        </a:rPr>
                        <a:t>KOH/NaOH</a:t>
                      </a:r>
                      <a:endParaRPr kumimoji="0" lang="en-US" altLang="zh-CN" sz="22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T="45685" marB="456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MnO</a:t>
                      </a:r>
                      <a:r>
                        <a:rPr kumimoji="0" lang="en-US" altLang="zh-CN" sz="2400" b="1" i="0" u="none" strike="noStrike" cap="none" normalizeH="0" baseline="-25000">
                          <a:ln>
                            <a:noFill/>
                          </a:ln>
                          <a:solidFill>
                            <a:schemeClr val="tx1"/>
                          </a:solidFill>
                          <a:effectLst/>
                          <a:latin typeface="Times New Roman" panose="02020603050405020304" pitchFamily="18" charset="0"/>
                          <a:ea typeface="楷体_GB2312" pitchFamily="49" charset="-122"/>
                        </a:rPr>
                        <a:t>2</a:t>
                      </a:r>
                      <a:endParaRPr kumimoji="0" lang="en-US" altLang="zh-CN" sz="2400" b="1" i="0" u="none" strike="noStrike" cap="none" normalizeH="0" baseline="-25000">
                        <a:ln>
                          <a:noFill/>
                        </a:ln>
                        <a:solidFill>
                          <a:schemeClr val="tx1"/>
                        </a:solidFill>
                        <a:effectLst/>
                        <a:latin typeface="Times New Roman" panose="02020603050405020304" pitchFamily="18" charset="0"/>
                        <a:ea typeface="楷体_GB2312" pitchFamily="49" charset="-122"/>
                      </a:endParaRPr>
                    </a:p>
                  </a:txBody>
                  <a:tcPr marT="45685" marB="456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rPr>
                        <a:t>1.5</a:t>
                      </a:r>
                      <a:endPar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T="45685" marB="456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bl>
          </a:graphicData>
        </a:graphic>
      </p:graphicFrame>
      <p:graphicFrame>
        <p:nvGraphicFramePr>
          <p:cNvPr id="113878" name="Group 214"/>
          <p:cNvGraphicFramePr>
            <a:graphicFrameLocks noGrp="1"/>
          </p:cNvGraphicFramePr>
          <p:nvPr/>
        </p:nvGraphicFramePr>
        <p:xfrm>
          <a:off x="457200" y="3492500"/>
          <a:ext cx="8305800" cy="457200"/>
        </p:xfrm>
        <a:graphic>
          <a:graphicData uri="http://schemas.openxmlformats.org/drawingml/2006/table">
            <a:tbl>
              <a:tblPr/>
              <a:tblGrid>
                <a:gridCol w="1778000"/>
                <a:gridCol w="1443038"/>
                <a:gridCol w="1863725"/>
                <a:gridCol w="1779587"/>
                <a:gridCol w="1441450"/>
              </a:tblGrid>
              <a:tr h="152400">
                <a:tc>
                  <a:txBody>
                    <a:bodyPr/>
                    <a:lstStyle/>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rPr>
                        <a:t>镍-锌电池</a:t>
                      </a:r>
                      <a:endPar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Zn</a:t>
                      </a:r>
                      <a:endPar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楷体_GB2312" pitchFamily="49" charset="-122"/>
                        </a:rPr>
                        <a:t>KOH/NaOH</a:t>
                      </a:r>
                      <a:endParaRPr kumimoji="0" lang="en-US" altLang="zh-CN" sz="22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NiOOH</a:t>
                      </a:r>
                      <a:endParaRPr kumimoji="0" lang="en-US" altLang="zh-CN" sz="2400" b="1" i="0" u="none" strike="noStrike" cap="none" normalizeH="0" baseline="-25000">
                        <a:ln>
                          <a:noFill/>
                        </a:ln>
                        <a:solidFill>
                          <a:schemeClr val="tx1"/>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rPr>
                        <a:t>1.6</a:t>
                      </a:r>
                      <a:endPar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113894" name="Group 230"/>
          <p:cNvGraphicFramePr>
            <a:graphicFrameLocks noGrp="1"/>
          </p:cNvGraphicFramePr>
          <p:nvPr/>
        </p:nvGraphicFramePr>
        <p:xfrm>
          <a:off x="457200" y="4005263"/>
          <a:ext cx="8305800" cy="822325"/>
        </p:xfrm>
        <a:graphic>
          <a:graphicData uri="http://schemas.openxmlformats.org/drawingml/2006/table">
            <a:tbl>
              <a:tblPr/>
              <a:tblGrid>
                <a:gridCol w="1783715"/>
                <a:gridCol w="1437323"/>
                <a:gridCol w="1863725"/>
                <a:gridCol w="1779587"/>
                <a:gridCol w="1441450"/>
              </a:tblGrid>
              <a:tr h="822325">
                <a:tc>
                  <a:txBody>
                    <a:body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rPr>
                        <a:t>氧化银电池</a:t>
                      </a:r>
                      <a:endPar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T="45685" marB="456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CC"/>
                    </a:solidFill>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Zn</a:t>
                      </a:r>
                      <a:endPar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T="45685" marB="456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CC"/>
                    </a:solidFill>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楷体_GB2312" pitchFamily="49" charset="-122"/>
                        </a:rPr>
                        <a:t>KOH/NaOH</a:t>
                      </a:r>
                      <a:endParaRPr kumimoji="0" lang="en-US" altLang="zh-CN" sz="22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T="45685" marB="456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CC"/>
                    </a:solidFill>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Ag</a:t>
                      </a:r>
                      <a:r>
                        <a:rPr kumimoji="0" lang="en-US" altLang="zh-CN" sz="2400" b="1" i="0" u="none" strike="noStrike" cap="none" normalizeH="0" baseline="-25000">
                          <a:ln>
                            <a:noFill/>
                          </a:ln>
                          <a:solidFill>
                            <a:schemeClr val="tx1"/>
                          </a:solidFill>
                          <a:effectLst/>
                          <a:latin typeface="Times New Roman" panose="02020603050405020304" pitchFamily="18" charset="0"/>
                          <a:ea typeface="楷体_GB2312" pitchFamily="49" charset="-122"/>
                        </a:rPr>
                        <a:t>2</a:t>
                      </a:r>
                      <a:r>
                        <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O</a:t>
                      </a:r>
                      <a:endParaRPr kumimoji="0" lang="en-US" altLang="zh-CN" sz="2400" b="1" i="0" u="none" strike="noStrike" cap="none" normalizeH="0" baseline="-25000">
                        <a:ln>
                          <a:noFill/>
                        </a:ln>
                        <a:solidFill>
                          <a:schemeClr val="tx1"/>
                        </a:solidFill>
                        <a:effectLst/>
                        <a:latin typeface="Times New Roman" panose="02020603050405020304" pitchFamily="18" charset="0"/>
                        <a:ea typeface="楷体_GB2312" pitchFamily="49" charset="-122"/>
                      </a:endParaRPr>
                    </a:p>
                  </a:txBody>
                  <a:tcPr marT="45685" marB="456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CC"/>
                    </a:solidFill>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rPr>
                        <a:t>1.5</a:t>
                      </a:r>
                      <a:endPar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T="45685" marB="4568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FFCC"/>
                    </a:solidFill>
                  </a:tcPr>
                </a:tc>
              </a:tr>
            </a:tbl>
          </a:graphicData>
        </a:graphic>
      </p:graphicFrame>
      <p:graphicFrame>
        <p:nvGraphicFramePr>
          <p:cNvPr id="113936" name="Group 272"/>
          <p:cNvGraphicFramePr>
            <a:graphicFrameLocks noGrp="1"/>
          </p:cNvGraphicFramePr>
          <p:nvPr/>
        </p:nvGraphicFramePr>
        <p:xfrm>
          <a:off x="469900" y="4894263"/>
          <a:ext cx="8305800" cy="762000"/>
        </p:xfrm>
        <a:graphic>
          <a:graphicData uri="http://schemas.openxmlformats.org/drawingml/2006/table">
            <a:tbl>
              <a:tblPr/>
              <a:tblGrid>
                <a:gridCol w="1772285"/>
                <a:gridCol w="1448753"/>
                <a:gridCol w="1863725"/>
                <a:gridCol w="1779587"/>
                <a:gridCol w="1441450"/>
              </a:tblGrid>
              <a:tr h="152400">
                <a:tc>
                  <a:txBody>
                    <a:bodyPr/>
                    <a:lstStyle/>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rPr>
                        <a:t>空气电池</a:t>
                      </a:r>
                      <a:endPar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Zn</a:t>
                      </a:r>
                      <a:endPar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楷体_GB2312" pitchFamily="49" charset="-122"/>
                        </a:rPr>
                        <a:t>KOH/NaOH</a:t>
                      </a:r>
                      <a:endParaRPr kumimoji="0" lang="en-US" altLang="zh-CN" sz="2200" b="1" i="0" u="none" strike="noStrike" cap="none" normalizeH="0" baseline="0">
                        <a:ln>
                          <a:noFill/>
                        </a:ln>
                        <a:solidFill>
                          <a:schemeClr val="tx1"/>
                        </a:solidFill>
                        <a:effectLst/>
                        <a:latin typeface="Times New Roman" panose="02020603050405020304" pitchFamily="18" charset="0"/>
                        <a:ea typeface="楷体_GB2312" pitchFamily="49" charset="-122"/>
                      </a:endParaRPr>
                    </a:p>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楷体_GB2312" pitchFamily="49" charset="-122"/>
                        </a:rPr>
                        <a:t>NH</a:t>
                      </a:r>
                      <a:r>
                        <a:rPr kumimoji="0" lang="en-US" altLang="zh-CN" sz="2200" b="1" i="0" u="none" strike="noStrike" cap="none" normalizeH="0" baseline="-25000">
                          <a:ln>
                            <a:noFill/>
                          </a:ln>
                          <a:solidFill>
                            <a:schemeClr val="tx1"/>
                          </a:solidFill>
                          <a:effectLst/>
                          <a:latin typeface="Times New Roman" panose="02020603050405020304" pitchFamily="18" charset="0"/>
                          <a:ea typeface="楷体_GB2312" pitchFamily="49" charset="-122"/>
                        </a:rPr>
                        <a:t>4</a:t>
                      </a:r>
                      <a:r>
                        <a:rPr kumimoji="0" lang="en-US" altLang="zh-CN" sz="2200" b="1" i="0" u="none" strike="noStrike" cap="none" normalizeH="0" baseline="0">
                          <a:ln>
                            <a:noFill/>
                          </a:ln>
                          <a:solidFill>
                            <a:schemeClr val="tx1"/>
                          </a:solidFill>
                          <a:effectLst/>
                          <a:latin typeface="Times New Roman" panose="02020603050405020304" pitchFamily="18" charset="0"/>
                          <a:ea typeface="楷体_GB2312" pitchFamily="49" charset="-122"/>
                        </a:rPr>
                        <a:t>Cl+ZnCl</a:t>
                      </a:r>
                      <a:r>
                        <a:rPr kumimoji="0" lang="en-US" altLang="zh-CN" sz="2200" b="1" i="0" u="none" strike="noStrike" cap="none" normalizeH="0" baseline="-25000">
                          <a:ln>
                            <a:noFill/>
                          </a:ln>
                          <a:solidFill>
                            <a:schemeClr val="tx1"/>
                          </a:solidFill>
                          <a:effectLst/>
                          <a:latin typeface="Times New Roman" panose="02020603050405020304" pitchFamily="18" charset="0"/>
                          <a:ea typeface="楷体_GB2312" pitchFamily="49" charset="-122"/>
                        </a:rPr>
                        <a:t>2</a:t>
                      </a:r>
                      <a:endParaRPr kumimoji="0" lang="en-US" altLang="zh-CN" sz="2200" b="1" i="0" u="none" strike="noStrike" cap="none" normalizeH="0" baseline="-25000">
                        <a:ln>
                          <a:noFill/>
                        </a:ln>
                        <a:solidFill>
                          <a:schemeClr val="tx1"/>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O</a:t>
                      </a:r>
                      <a:r>
                        <a:rPr kumimoji="0" lang="en-US" altLang="zh-CN" sz="2400" b="1" i="0" u="none" strike="noStrike" cap="none" normalizeH="0" baseline="-25000">
                          <a:ln>
                            <a:noFill/>
                          </a:ln>
                          <a:solidFill>
                            <a:schemeClr val="tx1"/>
                          </a:solidFill>
                          <a:effectLst/>
                          <a:latin typeface="Times New Roman" panose="02020603050405020304" pitchFamily="18" charset="0"/>
                          <a:ea typeface="楷体_GB2312" pitchFamily="49" charset="-122"/>
                        </a:rPr>
                        <a:t>2</a:t>
                      </a:r>
                      <a:endParaRPr kumimoji="0" lang="en-US" altLang="zh-CN" sz="2400" b="1" i="0" u="none" strike="noStrike" cap="none" normalizeH="0" baseline="-25000">
                        <a:ln>
                          <a:noFill/>
                        </a:ln>
                        <a:solidFill>
                          <a:schemeClr val="tx1"/>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rPr>
                        <a:t>1.3-1.4</a:t>
                      </a:r>
                      <a:endPar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bl>
          </a:graphicData>
        </a:graphic>
      </p:graphicFrame>
      <p:graphicFrame>
        <p:nvGraphicFramePr>
          <p:cNvPr id="113932" name="Group 268"/>
          <p:cNvGraphicFramePr>
            <a:graphicFrameLocks noGrp="1"/>
          </p:cNvGraphicFramePr>
          <p:nvPr/>
        </p:nvGraphicFramePr>
        <p:xfrm>
          <a:off x="469900" y="5791200"/>
          <a:ext cx="8305800" cy="762000"/>
        </p:xfrm>
        <a:graphic>
          <a:graphicData uri="http://schemas.openxmlformats.org/drawingml/2006/table">
            <a:tbl>
              <a:tblPr/>
              <a:tblGrid>
                <a:gridCol w="1760855"/>
                <a:gridCol w="1515745"/>
                <a:gridCol w="1808163"/>
                <a:gridCol w="1779270"/>
                <a:gridCol w="1441767"/>
              </a:tblGrid>
              <a:tr h="0">
                <a:tc>
                  <a:txBody>
                    <a:bodyPr/>
                    <a:lstStyle/>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rPr>
                        <a:t>锂电池</a:t>
                      </a:r>
                      <a:endPar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Li</a:t>
                      </a:r>
                      <a:endPar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楷体_GB2312" pitchFamily="49" charset="-122"/>
                        </a:rPr>
                        <a:t>Li</a:t>
                      </a:r>
                      <a:r>
                        <a:rPr kumimoji="0" lang="zh-CN" altLang="en-US" sz="2200" b="1" i="0" u="none" strike="noStrike" cap="none" normalizeH="0" baseline="0">
                          <a:ln>
                            <a:noFill/>
                          </a:ln>
                          <a:solidFill>
                            <a:schemeClr val="tx1"/>
                          </a:solidFill>
                          <a:effectLst/>
                          <a:latin typeface="Times New Roman" panose="02020603050405020304" pitchFamily="18" charset="0"/>
                          <a:ea typeface="楷体_GB2312" pitchFamily="49" charset="-122"/>
                        </a:rPr>
                        <a:t>盐+非水溶液</a:t>
                      </a:r>
                      <a:endParaRPr kumimoji="0" lang="zh-CN" altLang="en-US" sz="22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en-US" altLang="zh-CN" sz="2200" b="1" i="0" u="none" strike="noStrike" cap="none" normalizeH="0" baseline="0">
                          <a:ln>
                            <a:noFill/>
                          </a:ln>
                          <a:solidFill>
                            <a:schemeClr val="tx1"/>
                          </a:solidFill>
                          <a:effectLst/>
                          <a:latin typeface="Times New Roman" panose="02020603050405020304" pitchFamily="18" charset="0"/>
                          <a:ea typeface="楷体_GB2312" pitchFamily="49" charset="-122"/>
                        </a:rPr>
                        <a:t>MnO</a:t>
                      </a:r>
                      <a:r>
                        <a:rPr kumimoji="0" lang="en-US" altLang="zh-CN" sz="2200" b="1" i="0" u="none" strike="noStrike" cap="none" normalizeH="0" baseline="-25000">
                          <a:ln>
                            <a:noFill/>
                          </a:ln>
                          <a:solidFill>
                            <a:schemeClr val="tx1"/>
                          </a:solidFill>
                          <a:effectLst/>
                          <a:latin typeface="Times New Roman" panose="02020603050405020304" pitchFamily="18" charset="0"/>
                          <a:ea typeface="楷体_GB2312" pitchFamily="49" charset="-122"/>
                        </a:rPr>
                        <a:t>2</a:t>
                      </a:r>
                      <a:r>
                        <a:rPr kumimoji="0" lang="en-US" altLang="zh-CN" sz="2200" b="1" i="0" u="none" strike="noStrike" cap="none" normalizeH="0" baseline="0">
                          <a:ln>
                            <a:noFill/>
                          </a:ln>
                          <a:solidFill>
                            <a:schemeClr val="tx1"/>
                          </a:solidFill>
                          <a:effectLst/>
                          <a:latin typeface="Times New Roman" panose="02020603050405020304" pitchFamily="18" charset="0"/>
                          <a:ea typeface="楷体_GB2312" pitchFamily="49" charset="-122"/>
                        </a:rPr>
                        <a:t>/(CF</a:t>
                      </a:r>
                      <a:r>
                        <a:rPr kumimoji="0" lang="en-US" altLang="zh-CN" sz="2200" b="1" i="0" u="none" strike="noStrike" cap="none" normalizeH="0" baseline="-25000">
                          <a:ln>
                            <a:noFill/>
                          </a:ln>
                          <a:solidFill>
                            <a:schemeClr val="tx1"/>
                          </a:solidFill>
                          <a:effectLst/>
                          <a:latin typeface="Times New Roman" panose="02020603050405020304" pitchFamily="18" charset="0"/>
                          <a:ea typeface="楷体_GB2312" pitchFamily="49" charset="-122"/>
                        </a:rPr>
                        <a:t>x</a:t>
                      </a:r>
                      <a:r>
                        <a:rPr kumimoji="0" lang="en-US" altLang="zh-CN" sz="2200" b="1" i="0" u="none" strike="noStrike" cap="none" normalizeH="0" baseline="0">
                          <a:ln>
                            <a:noFill/>
                          </a:ln>
                          <a:solidFill>
                            <a:schemeClr val="tx1"/>
                          </a:solidFill>
                          <a:effectLst/>
                          <a:latin typeface="Times New Roman" panose="02020603050405020304" pitchFamily="18" charset="0"/>
                          <a:ea typeface="楷体_GB2312" pitchFamily="49" charset="-122"/>
                        </a:rPr>
                        <a:t>)</a:t>
                      </a:r>
                      <a:r>
                        <a:rPr kumimoji="0" lang="en-US" altLang="zh-CN" sz="2200" b="1" i="0" u="none" strike="noStrike" cap="none" normalizeH="0" baseline="-25000">
                          <a:ln>
                            <a:noFill/>
                          </a:ln>
                          <a:solidFill>
                            <a:schemeClr val="tx1"/>
                          </a:solidFill>
                          <a:effectLst/>
                          <a:latin typeface="Times New Roman" panose="02020603050405020304" pitchFamily="18" charset="0"/>
                          <a:ea typeface="楷体_GB2312" pitchFamily="49" charset="-122"/>
                        </a:rPr>
                        <a:t>n</a:t>
                      </a:r>
                      <a:endParaRPr kumimoji="0" lang="en-US" altLang="zh-CN" sz="2200" b="1" i="0" u="none" strike="noStrike" cap="none" normalizeH="0" baseline="-25000">
                        <a:ln>
                          <a:noFill/>
                        </a:ln>
                        <a:solidFill>
                          <a:schemeClr val="tx1"/>
                        </a:solidFill>
                        <a:effectLst/>
                        <a:latin typeface="Times New Roman" panose="02020603050405020304" pitchFamily="18" charset="0"/>
                        <a:ea typeface="楷体_GB2312" pitchFamily="49" charset="-122"/>
                      </a:endParaRPr>
                    </a:p>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endParaRPr kumimoji="0" lang="en-US" altLang="zh-CN" sz="2200" b="1" i="0" u="none" strike="noStrike" cap="none" normalizeH="0" baseline="-25000">
                        <a:ln>
                          <a:noFill/>
                        </a:ln>
                        <a:solidFill>
                          <a:schemeClr val="tx1"/>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
                          <a:schemeClr val="folHlink"/>
                        </a:buClr>
                        <a:buSzTx/>
                        <a:buFont typeface="Wingdings" panose="05000000000000000000" pitchFamily="2" charset="2"/>
                        <a:buNone/>
                      </a:pPr>
                      <a:r>
                        <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rPr>
                        <a:t>3.0</a:t>
                      </a:r>
                      <a:endPar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ransition>
    <p:randomBar dir="vert"/>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1026"/>
          <p:cNvSpPr>
            <a:spLocks noGrp="1" noRot="1" noChangeArrowheads="1"/>
          </p:cNvSpPr>
          <p:nvPr>
            <p:ph type="body" idx="1"/>
          </p:nvPr>
        </p:nvSpPr>
        <p:spPr>
          <a:xfrm>
            <a:off x="251460" y="2348865"/>
            <a:ext cx="8769350" cy="5226050"/>
          </a:xfrm>
        </p:spPr>
        <p:txBody>
          <a:bodyPr/>
          <a:lstStyle/>
          <a:p>
            <a:pPr>
              <a:lnSpc>
                <a:spcPct val="140000"/>
              </a:lnSpc>
              <a:spcBef>
                <a:spcPct val="0"/>
              </a:spcBef>
              <a:buFont typeface="Wingdings" panose="05000000000000000000" pitchFamily="2" charset="2"/>
              <a:buNone/>
            </a:pPr>
            <a:r>
              <a:rPr lang="zh-CN" altLang="en-US">
                <a:latin typeface="Times New Roman" panose="02020603050405020304" pitchFamily="18" charset="0"/>
                <a:ea typeface="楷体_GB2312" pitchFamily="49" charset="-122"/>
              </a:rPr>
              <a:t>    </a:t>
            </a:r>
            <a:r>
              <a:rPr lang="zh-CN" altLang="en-US" sz="2800">
                <a:solidFill>
                  <a:srgbClr val="0033CC"/>
                </a:solidFill>
                <a:latin typeface="Times New Roman" panose="02020603050405020304" pitchFamily="18" charset="0"/>
                <a:ea typeface="楷体_GB2312" pitchFamily="49" charset="-122"/>
              </a:rPr>
              <a:t>糊式电池：</a:t>
            </a:r>
            <a:r>
              <a:rPr lang="zh-CN" altLang="en-US" sz="2800">
                <a:latin typeface="Times New Roman" panose="02020603050405020304" pitchFamily="18" charset="0"/>
                <a:ea typeface="楷体_GB2312" pitchFamily="49" charset="-122"/>
              </a:rPr>
              <a:t>以锌筒为负极，天然</a:t>
            </a:r>
            <a:r>
              <a:rPr lang="en-US" altLang="zh-CN" sz="2800">
                <a:latin typeface="Times New Roman" panose="02020603050405020304" pitchFamily="18" charset="0"/>
                <a:ea typeface="楷体_GB2312" pitchFamily="49" charset="-122"/>
              </a:rPr>
              <a:t>MnO</a:t>
            </a:r>
            <a:r>
              <a:rPr lang="en-US" altLang="zh-CN" sz="2800" baseline="-25000">
                <a:latin typeface="Times New Roman" panose="02020603050405020304" pitchFamily="18" charset="0"/>
                <a:ea typeface="楷体_GB2312" pitchFamily="49" charset="-122"/>
              </a:rPr>
              <a:t>2</a:t>
            </a:r>
            <a:r>
              <a:rPr lang="zh-CN" altLang="en-US" sz="2800">
                <a:latin typeface="Times New Roman" panose="02020603050405020304" pitchFamily="18" charset="0"/>
                <a:ea typeface="楷体_GB2312" pitchFamily="49" charset="-122"/>
              </a:rPr>
              <a:t>和活性炭粉混合物作正极，用</a:t>
            </a:r>
            <a:r>
              <a:rPr lang="en-US" altLang="zh-CN" sz="2800">
                <a:solidFill>
                  <a:srgbClr val="FF0000"/>
                </a:solidFill>
                <a:latin typeface="Times New Roman" panose="02020603050405020304" pitchFamily="18" charset="0"/>
                <a:ea typeface="楷体_GB2312" pitchFamily="49" charset="-122"/>
              </a:rPr>
              <a:t>NH</a:t>
            </a:r>
            <a:r>
              <a:rPr lang="en-US" altLang="zh-CN" sz="2800" baseline="-25000">
                <a:solidFill>
                  <a:srgbClr val="FF0000"/>
                </a:solidFill>
                <a:latin typeface="Times New Roman" panose="02020603050405020304" pitchFamily="18" charset="0"/>
                <a:ea typeface="楷体_GB2312" pitchFamily="49" charset="-122"/>
              </a:rPr>
              <a:t>4</a:t>
            </a:r>
            <a:r>
              <a:rPr lang="en-US" altLang="zh-CN" sz="2800">
                <a:solidFill>
                  <a:srgbClr val="FF0000"/>
                </a:solidFill>
                <a:latin typeface="Times New Roman" panose="02020603050405020304" pitchFamily="18" charset="0"/>
                <a:ea typeface="楷体_GB2312" pitchFamily="49" charset="-122"/>
              </a:rPr>
              <a:t>Cl（20%）、ZnCl</a:t>
            </a:r>
            <a:r>
              <a:rPr lang="en-US" altLang="zh-CN" sz="2800" baseline="-25000">
                <a:solidFill>
                  <a:srgbClr val="FF0000"/>
                </a:solidFill>
                <a:latin typeface="Times New Roman" panose="02020603050405020304" pitchFamily="18" charset="0"/>
                <a:ea typeface="楷体_GB2312" pitchFamily="49" charset="-122"/>
              </a:rPr>
              <a:t>2</a:t>
            </a:r>
            <a:r>
              <a:rPr lang="en-US" altLang="zh-CN" sz="2800">
                <a:solidFill>
                  <a:srgbClr val="FF0000"/>
                </a:solidFill>
                <a:latin typeface="Times New Roman" panose="02020603050405020304" pitchFamily="18" charset="0"/>
                <a:ea typeface="楷体_GB2312" pitchFamily="49" charset="-122"/>
              </a:rPr>
              <a:t> （20%）</a:t>
            </a:r>
            <a:r>
              <a:rPr lang="zh-CN" altLang="en-US" sz="2800">
                <a:solidFill>
                  <a:srgbClr val="FF0000"/>
                </a:solidFill>
                <a:latin typeface="Times New Roman" panose="02020603050405020304" pitchFamily="18" charset="0"/>
                <a:ea typeface="楷体_GB2312" pitchFamily="49" charset="-122"/>
              </a:rPr>
              <a:t>水溶液作电解液</a:t>
            </a:r>
            <a:r>
              <a:rPr lang="zh-CN" altLang="en-US" sz="2800">
                <a:latin typeface="Times New Roman" panose="02020603050405020304" pitchFamily="18" charset="0"/>
                <a:ea typeface="楷体_GB2312" pitchFamily="49" charset="-122"/>
              </a:rPr>
              <a:t>，加</a:t>
            </a:r>
            <a:r>
              <a:rPr lang="zh-CN" altLang="en-US" sz="2800">
                <a:solidFill>
                  <a:srgbClr val="FF0000"/>
                </a:solidFill>
                <a:latin typeface="Times New Roman" panose="02020603050405020304" pitchFamily="18" charset="0"/>
                <a:ea typeface="楷体_GB2312" pitchFamily="49" charset="-122"/>
              </a:rPr>
              <a:t>淀粉糊</a:t>
            </a:r>
            <a:r>
              <a:rPr lang="zh-CN" altLang="en-US" sz="2800">
                <a:latin typeface="Times New Roman" panose="02020603050405020304" pitchFamily="18" charset="0"/>
                <a:ea typeface="楷体_GB2312" pitchFamily="49" charset="-122"/>
              </a:rPr>
              <a:t>使电解液凝固而不流动。这是第一代锌锰干电池。</a:t>
            </a:r>
            <a:endParaRPr lang="zh-CN" altLang="en-US" sz="2800">
              <a:latin typeface="Times New Roman" panose="02020603050405020304" pitchFamily="18" charset="0"/>
              <a:ea typeface="楷体_GB2312" pitchFamily="49" charset="-122"/>
            </a:endParaRPr>
          </a:p>
          <a:p>
            <a:pPr>
              <a:lnSpc>
                <a:spcPct val="140000"/>
              </a:lnSpc>
              <a:spcBef>
                <a:spcPct val="0"/>
              </a:spcBef>
              <a:buFont typeface="Wingdings" panose="05000000000000000000" pitchFamily="2" charset="2"/>
              <a:buNone/>
            </a:pPr>
            <a:r>
              <a:rPr lang="zh-CN" altLang="en-US" sz="2800">
                <a:solidFill>
                  <a:srgbClr val="0033CC"/>
                </a:solidFill>
                <a:latin typeface="Times New Roman" panose="02020603050405020304" pitchFamily="18" charset="0"/>
                <a:ea typeface="楷体_GB2312" pitchFamily="49" charset="-122"/>
              </a:rPr>
              <a:t>    </a:t>
            </a:r>
            <a:endParaRPr lang="zh-CN" altLang="en-US" sz="2800" baseline="-25000">
              <a:latin typeface="Times New Roman" panose="02020603050405020304" pitchFamily="18" charset="0"/>
              <a:ea typeface="楷体_GB2312" pitchFamily="49" charset="-122"/>
            </a:endParaRPr>
          </a:p>
        </p:txBody>
      </p:sp>
      <p:sp>
        <p:nvSpPr>
          <p:cNvPr id="18435" name="Rectangle 2"/>
          <p:cNvSpPr>
            <a:spLocks noRot="1" noChangeArrowheads="1"/>
          </p:cNvSpPr>
          <p:nvPr/>
        </p:nvSpPr>
        <p:spPr bwMode="auto">
          <a:xfrm>
            <a:off x="400050" y="304800"/>
            <a:ext cx="8540750" cy="8382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eaLnBrk="1" hangingPunct="1"/>
            <a:r>
              <a:rPr lang="en-US" altLang="zh-CN" sz="4000">
                <a:solidFill>
                  <a:schemeClr val="tx1"/>
                </a:solidFill>
              </a:rPr>
              <a:t>3.2.1 </a:t>
            </a:r>
            <a:r>
              <a:rPr lang="zh-CN" altLang="en-US" sz="4000">
                <a:solidFill>
                  <a:schemeClr val="tx1"/>
                </a:solidFill>
              </a:rPr>
              <a:t>锌锰干电池</a:t>
            </a:r>
            <a:endParaRPr lang="zh-CN" altLang="en-US" sz="4000">
              <a:solidFill>
                <a:schemeClr val="tx1"/>
              </a:solidFill>
            </a:endParaRPr>
          </a:p>
        </p:txBody>
      </p:sp>
      <p:sp>
        <p:nvSpPr>
          <p:cNvPr id="18436" name="Rectangle 1029"/>
          <p:cNvSpPr>
            <a:spLocks noChangeArrowheads="1"/>
          </p:cNvSpPr>
          <p:nvPr/>
        </p:nvSpPr>
        <p:spPr bwMode="auto">
          <a:xfrm>
            <a:off x="1938338" y="18288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endParaRPr lang="zh-CN" altLang="en-US"/>
          </a:p>
        </p:txBody>
      </p:sp>
    </p:spTree>
  </p:cSld>
  <p:clrMapOvr>
    <a:masterClrMapping/>
  </p:clrMapOvr>
  <p:transition>
    <p:randomBar dir="vert"/>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1" name="Rectangle 4"/>
          <p:cNvSpPr>
            <a:spLocks noGrp="1" noRot="1" noChangeArrowheads="1"/>
          </p:cNvSpPr>
          <p:nvPr>
            <p:ph type="title"/>
          </p:nvPr>
        </p:nvSpPr>
        <p:spPr>
          <a:xfrm>
            <a:off x="250825" y="92075"/>
            <a:ext cx="8664575" cy="1965325"/>
          </a:xfrm>
          <a:solidFill>
            <a:schemeClr val="bg1"/>
          </a:solidFill>
        </p:spPr>
        <p:txBody>
          <a:bodyPr/>
          <a:lstStyle/>
          <a:p>
            <a:pPr algn="l"/>
            <a:r>
              <a:rPr lang="en-US" altLang="zh-CN" sz="2400">
                <a:solidFill>
                  <a:srgbClr val="0033CC"/>
                </a:solidFill>
              </a:rPr>
              <a:t>(-)Zn</a:t>
            </a:r>
            <a:r>
              <a:rPr lang="en-US" altLang="zh-CN" sz="2400">
                <a:solidFill>
                  <a:schemeClr val="tx1"/>
                </a:solidFill>
              </a:rPr>
              <a:t> | ZnCl</a:t>
            </a:r>
            <a:r>
              <a:rPr lang="en-US" altLang="zh-CN" sz="2400" baseline="-25000">
                <a:solidFill>
                  <a:schemeClr val="tx1"/>
                </a:solidFill>
              </a:rPr>
              <a:t>2</a:t>
            </a:r>
            <a:r>
              <a:rPr lang="en-US" altLang="zh-CN" sz="2400">
                <a:solidFill>
                  <a:schemeClr val="tx1"/>
                </a:solidFill>
              </a:rPr>
              <a:t> 10%, NH</a:t>
            </a:r>
            <a:r>
              <a:rPr lang="en-US" altLang="zh-CN" sz="2400" baseline="-25000">
                <a:solidFill>
                  <a:schemeClr val="tx1"/>
                </a:solidFill>
              </a:rPr>
              <a:t>4</a:t>
            </a:r>
            <a:r>
              <a:rPr lang="en-US" altLang="zh-CN" sz="2400">
                <a:solidFill>
                  <a:schemeClr val="tx1"/>
                </a:solidFill>
              </a:rPr>
              <a:t>Cl 20%(</a:t>
            </a:r>
            <a:r>
              <a:rPr lang="zh-CN" altLang="en-US" sz="2400">
                <a:solidFill>
                  <a:schemeClr val="tx1"/>
                </a:solidFill>
              </a:rPr>
              <a:t>糊状</a:t>
            </a:r>
            <a:r>
              <a:rPr lang="en-US" altLang="zh-CN" sz="2400">
                <a:solidFill>
                  <a:schemeClr val="tx1"/>
                </a:solidFill>
              </a:rPr>
              <a:t>) | MnO</a:t>
            </a:r>
            <a:r>
              <a:rPr lang="en-US" altLang="zh-CN" sz="2400" baseline="-25000">
                <a:solidFill>
                  <a:schemeClr val="tx1"/>
                </a:solidFill>
              </a:rPr>
              <a:t>2</a:t>
            </a:r>
            <a:r>
              <a:rPr lang="en-US" altLang="zh-CN" sz="2400">
                <a:solidFill>
                  <a:schemeClr val="tx1"/>
                </a:solidFill>
              </a:rPr>
              <a:t> | </a:t>
            </a:r>
            <a:r>
              <a:rPr lang="en-US" altLang="zh-CN" sz="2400">
                <a:solidFill>
                  <a:srgbClr val="FF3300"/>
                </a:solidFill>
              </a:rPr>
              <a:t>C(+)</a:t>
            </a:r>
            <a:br>
              <a:rPr lang="en-US" altLang="zh-CN" sz="2400">
                <a:solidFill>
                  <a:srgbClr val="FF3300"/>
                </a:solidFill>
              </a:rPr>
            </a:br>
            <a:r>
              <a:rPr lang="zh-CN" altLang="en-US" sz="2000">
                <a:solidFill>
                  <a:srgbClr val="0033CC"/>
                </a:solidFill>
              </a:rPr>
              <a:t>负极：</a:t>
            </a:r>
            <a:r>
              <a:rPr lang="zh-CN" altLang="en-US" sz="2000">
                <a:solidFill>
                  <a:schemeClr val="tx1"/>
                </a:solidFill>
              </a:rPr>
              <a:t> </a:t>
            </a:r>
            <a:r>
              <a:rPr lang="en-US" altLang="zh-CN" sz="2000">
                <a:solidFill>
                  <a:schemeClr val="tx1"/>
                </a:solidFill>
              </a:rPr>
              <a:t>Zn(s) = Zn</a:t>
            </a:r>
            <a:r>
              <a:rPr lang="en-US" altLang="zh-CN" sz="2000" baseline="30000">
                <a:solidFill>
                  <a:schemeClr val="tx1"/>
                </a:solidFill>
              </a:rPr>
              <a:t>2+</a:t>
            </a:r>
            <a:r>
              <a:rPr lang="en-US" altLang="zh-CN" sz="2000">
                <a:solidFill>
                  <a:schemeClr val="tx1"/>
                </a:solidFill>
              </a:rPr>
              <a:t>(aq) + 2e</a:t>
            </a:r>
            <a:br>
              <a:rPr lang="en-US" altLang="zh-CN" sz="2000">
                <a:solidFill>
                  <a:schemeClr val="tx1"/>
                </a:solidFill>
              </a:rPr>
            </a:br>
            <a:r>
              <a:rPr lang="zh-CN" altLang="en-US" sz="2000">
                <a:solidFill>
                  <a:srgbClr val="FF3300"/>
                </a:solidFill>
              </a:rPr>
              <a:t>正极：</a:t>
            </a:r>
            <a:r>
              <a:rPr lang="zh-CN" altLang="en-US" sz="2000">
                <a:solidFill>
                  <a:schemeClr val="tx1"/>
                </a:solidFill>
              </a:rPr>
              <a:t> </a:t>
            </a:r>
            <a:r>
              <a:rPr lang="en-US" altLang="zh-CN" sz="2000">
                <a:solidFill>
                  <a:schemeClr val="tx1"/>
                </a:solidFill>
              </a:rPr>
              <a:t>2 MnO</a:t>
            </a:r>
            <a:r>
              <a:rPr lang="en-US" altLang="zh-CN" sz="2000" baseline="-25000">
                <a:solidFill>
                  <a:schemeClr val="tx1"/>
                </a:solidFill>
              </a:rPr>
              <a:t>2</a:t>
            </a:r>
            <a:r>
              <a:rPr lang="en-US" altLang="zh-CN" sz="2000">
                <a:solidFill>
                  <a:schemeClr val="tx1"/>
                </a:solidFill>
              </a:rPr>
              <a:t>(s)</a:t>
            </a:r>
            <a:r>
              <a:rPr lang="zh-CN" altLang="en-US" sz="2000">
                <a:solidFill>
                  <a:schemeClr val="tx1"/>
                </a:solidFill>
              </a:rPr>
              <a:t> </a:t>
            </a:r>
            <a:r>
              <a:rPr lang="en-US" altLang="zh-CN" sz="2000">
                <a:solidFill>
                  <a:schemeClr val="tx1"/>
                </a:solidFill>
              </a:rPr>
              <a:t>+ 2NH</a:t>
            </a:r>
            <a:r>
              <a:rPr lang="en-US" altLang="zh-CN" sz="2000" baseline="-25000">
                <a:solidFill>
                  <a:schemeClr val="tx1"/>
                </a:solidFill>
              </a:rPr>
              <a:t>4</a:t>
            </a:r>
            <a:r>
              <a:rPr lang="en-US" altLang="zh-CN" sz="2000" baseline="30000">
                <a:solidFill>
                  <a:schemeClr val="tx1"/>
                </a:solidFill>
              </a:rPr>
              <a:t>+</a:t>
            </a:r>
            <a:r>
              <a:rPr lang="en-US" altLang="zh-CN" sz="2000">
                <a:solidFill>
                  <a:schemeClr val="tx1"/>
                </a:solidFill>
              </a:rPr>
              <a:t>(aq) + 2e = Mn</a:t>
            </a:r>
            <a:r>
              <a:rPr lang="en-US" altLang="zh-CN" sz="2000" baseline="-25000">
                <a:solidFill>
                  <a:schemeClr val="tx1"/>
                </a:solidFill>
              </a:rPr>
              <a:t>2</a:t>
            </a:r>
            <a:r>
              <a:rPr lang="en-US" altLang="zh-CN" sz="2000">
                <a:solidFill>
                  <a:schemeClr val="tx1"/>
                </a:solidFill>
              </a:rPr>
              <a:t>O</a:t>
            </a:r>
            <a:r>
              <a:rPr lang="en-US" altLang="zh-CN" sz="2000" baseline="-25000">
                <a:solidFill>
                  <a:schemeClr val="tx1"/>
                </a:solidFill>
              </a:rPr>
              <a:t>3</a:t>
            </a:r>
            <a:r>
              <a:rPr lang="en-US" altLang="zh-CN" sz="2000">
                <a:solidFill>
                  <a:schemeClr val="tx1"/>
                </a:solidFill>
              </a:rPr>
              <a:t>(s) + 2NH</a:t>
            </a:r>
            <a:r>
              <a:rPr lang="en-US" altLang="zh-CN" sz="2000" baseline="-25000">
                <a:solidFill>
                  <a:schemeClr val="tx1"/>
                </a:solidFill>
              </a:rPr>
              <a:t>3</a:t>
            </a:r>
            <a:r>
              <a:rPr lang="en-US" altLang="zh-CN" sz="2000">
                <a:solidFill>
                  <a:schemeClr val="tx1"/>
                </a:solidFill>
              </a:rPr>
              <a:t>(aq) + H</a:t>
            </a:r>
            <a:r>
              <a:rPr lang="en-US" altLang="zh-CN" sz="2000" baseline="-25000">
                <a:solidFill>
                  <a:schemeClr val="tx1"/>
                </a:solidFill>
              </a:rPr>
              <a:t>2</a:t>
            </a:r>
            <a:r>
              <a:rPr lang="en-US" altLang="zh-CN" sz="2000">
                <a:solidFill>
                  <a:schemeClr val="tx1"/>
                </a:solidFill>
              </a:rPr>
              <a:t>O</a:t>
            </a:r>
            <a:br>
              <a:rPr lang="en-US" altLang="zh-CN" sz="2000">
                <a:solidFill>
                  <a:schemeClr val="tx1"/>
                </a:solidFill>
              </a:rPr>
            </a:br>
            <a:br>
              <a:rPr lang="en-US" altLang="zh-CN" sz="2000">
                <a:solidFill>
                  <a:schemeClr val="tx1"/>
                </a:solidFill>
              </a:rPr>
            </a:br>
            <a:r>
              <a:rPr lang="zh-CN" altLang="en-US" sz="2000">
                <a:solidFill>
                  <a:schemeClr val="tx1"/>
                </a:solidFill>
              </a:rPr>
              <a:t>电池反应：</a:t>
            </a:r>
            <a:br>
              <a:rPr lang="zh-CN" altLang="en-US" sz="2000">
                <a:solidFill>
                  <a:schemeClr val="tx1"/>
                </a:solidFill>
              </a:rPr>
            </a:br>
            <a:r>
              <a:rPr lang="zh-CN" altLang="en-US" sz="2000">
                <a:solidFill>
                  <a:schemeClr val="tx1"/>
                </a:solidFill>
              </a:rPr>
              <a:t>2 </a:t>
            </a:r>
            <a:r>
              <a:rPr lang="en-US" altLang="zh-CN" sz="2000">
                <a:solidFill>
                  <a:schemeClr val="tx1"/>
                </a:solidFill>
              </a:rPr>
              <a:t>MnO</a:t>
            </a:r>
            <a:r>
              <a:rPr lang="en-US" altLang="zh-CN" sz="2000" baseline="-25000">
                <a:solidFill>
                  <a:schemeClr val="tx1"/>
                </a:solidFill>
              </a:rPr>
              <a:t>2</a:t>
            </a:r>
            <a:r>
              <a:rPr lang="en-US" altLang="zh-CN" sz="2000">
                <a:solidFill>
                  <a:schemeClr val="tx1"/>
                </a:solidFill>
              </a:rPr>
              <a:t>(s) + 2NH</a:t>
            </a:r>
            <a:r>
              <a:rPr lang="en-US" altLang="zh-CN" sz="2000" baseline="-25000">
                <a:solidFill>
                  <a:schemeClr val="tx1"/>
                </a:solidFill>
              </a:rPr>
              <a:t>4</a:t>
            </a:r>
            <a:r>
              <a:rPr lang="en-US" altLang="zh-CN" sz="2000" baseline="30000">
                <a:solidFill>
                  <a:schemeClr val="tx1"/>
                </a:solidFill>
              </a:rPr>
              <a:t>+</a:t>
            </a:r>
            <a:r>
              <a:rPr lang="en-US" altLang="zh-CN" sz="2000">
                <a:solidFill>
                  <a:schemeClr val="tx1"/>
                </a:solidFill>
              </a:rPr>
              <a:t>(aq) + Zn(s) = Zn</a:t>
            </a:r>
            <a:r>
              <a:rPr lang="en-US" altLang="zh-CN" sz="2000" baseline="30000">
                <a:solidFill>
                  <a:schemeClr val="tx1"/>
                </a:solidFill>
              </a:rPr>
              <a:t>2+</a:t>
            </a:r>
            <a:r>
              <a:rPr lang="en-US" altLang="zh-CN" sz="2000">
                <a:solidFill>
                  <a:schemeClr val="tx1"/>
                </a:solidFill>
              </a:rPr>
              <a:t>(aq) + Mn</a:t>
            </a:r>
            <a:r>
              <a:rPr lang="en-US" altLang="zh-CN" sz="2000" baseline="-25000">
                <a:solidFill>
                  <a:schemeClr val="tx1"/>
                </a:solidFill>
              </a:rPr>
              <a:t>2</a:t>
            </a:r>
            <a:r>
              <a:rPr lang="en-US" altLang="zh-CN" sz="2000">
                <a:solidFill>
                  <a:schemeClr val="tx1"/>
                </a:solidFill>
              </a:rPr>
              <a:t>O</a:t>
            </a:r>
            <a:r>
              <a:rPr lang="en-US" altLang="zh-CN" sz="2000" baseline="-25000">
                <a:solidFill>
                  <a:schemeClr val="tx1"/>
                </a:solidFill>
              </a:rPr>
              <a:t>3</a:t>
            </a:r>
            <a:r>
              <a:rPr lang="en-US" altLang="zh-CN" sz="2000">
                <a:solidFill>
                  <a:schemeClr val="tx1"/>
                </a:solidFill>
              </a:rPr>
              <a:t>(s) + 2NH</a:t>
            </a:r>
            <a:r>
              <a:rPr lang="en-US" altLang="zh-CN" sz="2000" baseline="-25000">
                <a:solidFill>
                  <a:schemeClr val="tx1"/>
                </a:solidFill>
              </a:rPr>
              <a:t>3</a:t>
            </a:r>
            <a:r>
              <a:rPr lang="en-US" altLang="zh-CN" sz="2000">
                <a:solidFill>
                  <a:schemeClr val="tx1"/>
                </a:solidFill>
              </a:rPr>
              <a:t>(aq) + H</a:t>
            </a:r>
            <a:r>
              <a:rPr lang="en-US" altLang="zh-CN" sz="2000" baseline="-25000">
                <a:solidFill>
                  <a:schemeClr val="tx1"/>
                </a:solidFill>
              </a:rPr>
              <a:t>2</a:t>
            </a:r>
            <a:r>
              <a:rPr lang="en-US" altLang="zh-CN" sz="2000">
                <a:solidFill>
                  <a:schemeClr val="tx1"/>
                </a:solidFill>
              </a:rPr>
              <a:t>O</a:t>
            </a:r>
            <a:endParaRPr lang="en-US" altLang="zh-CN" sz="2000">
              <a:solidFill>
                <a:schemeClr val="tx1"/>
              </a:solidFill>
            </a:endParaRPr>
          </a:p>
        </p:txBody>
      </p:sp>
      <p:sp>
        <p:nvSpPr>
          <p:cNvPr id="2052" name="Rectangle 6"/>
          <p:cNvSpPr>
            <a:spLocks noGrp="1" noRot="1" noChangeArrowheads="1"/>
          </p:cNvSpPr>
          <p:nvPr>
            <p:ph type="body" sz="half" idx="2"/>
          </p:nvPr>
        </p:nvSpPr>
        <p:spPr>
          <a:xfrm>
            <a:off x="4572000" y="2438400"/>
            <a:ext cx="3886200" cy="3209925"/>
          </a:xfrm>
        </p:spPr>
        <p:txBody>
          <a:bodyPr/>
          <a:lstStyle/>
          <a:p>
            <a:pPr>
              <a:buFont typeface="Wingdings" panose="05000000000000000000" pitchFamily="2" charset="2"/>
              <a:buNone/>
            </a:pPr>
            <a:r>
              <a:rPr lang="zh-CN" altLang="en-US">
                <a:solidFill>
                  <a:srgbClr val="0033CC"/>
                </a:solidFill>
                <a:latin typeface="Times New Roman" panose="02020603050405020304" pitchFamily="18" charset="0"/>
                <a:ea typeface="楷体_GB2312" pitchFamily="49" charset="-122"/>
              </a:rPr>
              <a:t>   糊式电池</a:t>
            </a:r>
            <a:r>
              <a:rPr lang="zh-CN" altLang="en-US">
                <a:latin typeface="Times New Roman" panose="02020603050405020304" pitchFamily="18" charset="0"/>
                <a:ea typeface="楷体_GB2312" pitchFamily="49" charset="-122"/>
              </a:rPr>
              <a:t>开路电位</a:t>
            </a:r>
            <a:r>
              <a:rPr lang="en-US" altLang="zh-CN">
                <a:latin typeface="Times New Roman" panose="02020603050405020304" pitchFamily="18" charset="0"/>
                <a:ea typeface="楷体_GB2312" pitchFamily="49" charset="-122"/>
              </a:rPr>
              <a:t>1.5 V</a:t>
            </a:r>
            <a:r>
              <a:rPr lang="zh-CN" altLang="en-US">
                <a:latin typeface="Times New Roman" panose="02020603050405020304" pitchFamily="18" charset="0"/>
                <a:ea typeface="楷体_GB2312" pitchFamily="49" charset="-122"/>
              </a:rPr>
              <a:t>，放电电压稳定；低温性能差，防漏性欠佳（</a:t>
            </a:r>
            <a:r>
              <a:rPr lang="en-US" altLang="zh-CN">
                <a:latin typeface="Times New Roman" panose="02020603050405020304" pitchFamily="18" charset="0"/>
                <a:ea typeface="楷体_GB2312" pitchFamily="49" charset="-122"/>
              </a:rPr>
              <a:t>NH</a:t>
            </a:r>
            <a:r>
              <a:rPr lang="en-US" altLang="zh-CN" baseline="-25000">
                <a:latin typeface="Times New Roman" panose="02020603050405020304" pitchFamily="18" charset="0"/>
                <a:ea typeface="楷体_GB2312" pitchFamily="49" charset="-122"/>
              </a:rPr>
              <a:t>4</a:t>
            </a:r>
            <a:r>
              <a:rPr lang="en-US" altLang="zh-CN" baseline="30000">
                <a:latin typeface="Times New Roman" panose="02020603050405020304" pitchFamily="18" charset="0"/>
                <a:ea typeface="楷体_GB2312" pitchFamily="49" charset="-122"/>
              </a:rPr>
              <a:t>+</a:t>
            </a:r>
            <a:r>
              <a:rPr lang="zh-CN" altLang="en-US">
                <a:latin typeface="Times New Roman" panose="02020603050405020304" pitchFamily="18" charset="0"/>
                <a:ea typeface="楷体_GB2312" pitchFamily="49" charset="-122"/>
              </a:rPr>
              <a:t>→</a:t>
            </a:r>
            <a:r>
              <a:rPr lang="en-US" altLang="zh-CN">
                <a:latin typeface="Times New Roman" panose="02020603050405020304" pitchFamily="18" charset="0"/>
                <a:ea typeface="楷体_GB2312" pitchFamily="49" charset="-122"/>
              </a:rPr>
              <a:t>H</a:t>
            </a:r>
            <a:r>
              <a:rPr lang="en-US" altLang="zh-CN" baseline="-25000">
                <a:latin typeface="Times New Roman" panose="02020603050405020304" pitchFamily="18" charset="0"/>
                <a:ea typeface="楷体_GB2312" pitchFamily="49" charset="-122"/>
              </a:rPr>
              <a:t>2</a:t>
            </a:r>
            <a:r>
              <a:rPr lang="en-US" altLang="zh-CN">
                <a:latin typeface="Times New Roman" panose="02020603050405020304" pitchFamily="18" charset="0"/>
                <a:ea typeface="楷体_GB2312" pitchFamily="49" charset="-122"/>
              </a:rPr>
              <a:t>O</a:t>
            </a:r>
            <a:r>
              <a:rPr lang="zh-CN" altLang="en-US">
                <a:latin typeface="Times New Roman" panose="02020603050405020304" pitchFamily="18" charset="0"/>
                <a:ea typeface="楷体_GB2312" pitchFamily="49" charset="-122"/>
              </a:rPr>
              <a:t>）；</a:t>
            </a:r>
            <a:r>
              <a:rPr lang="en-US" altLang="zh-CN">
                <a:latin typeface="Times New Roman" panose="02020603050405020304" pitchFamily="18" charset="0"/>
                <a:ea typeface="楷体_GB2312" pitchFamily="49" charset="-122"/>
              </a:rPr>
              <a:t>NH</a:t>
            </a:r>
            <a:r>
              <a:rPr lang="en-US" altLang="zh-CN" baseline="-25000">
                <a:latin typeface="Times New Roman" panose="02020603050405020304" pitchFamily="18" charset="0"/>
                <a:ea typeface="楷体_GB2312" pitchFamily="49" charset="-122"/>
              </a:rPr>
              <a:t>3</a:t>
            </a:r>
            <a:r>
              <a:rPr lang="zh-CN" altLang="en-US">
                <a:latin typeface="Times New Roman" panose="02020603050405020304" pitchFamily="18" charset="0"/>
                <a:ea typeface="楷体_GB2312" pitchFamily="49" charset="-122"/>
              </a:rPr>
              <a:t>被石墨吸附，引起极化，导致电池电位降低。</a:t>
            </a:r>
            <a:endParaRPr lang="zh-CN" altLang="en-US">
              <a:latin typeface="Times New Roman" panose="02020603050405020304" pitchFamily="18" charset="0"/>
              <a:ea typeface="楷体_GB2312" pitchFamily="49" charset="-122"/>
            </a:endParaRPr>
          </a:p>
        </p:txBody>
      </p:sp>
      <p:sp>
        <p:nvSpPr>
          <p:cNvPr id="2053" name="Rectangle 8"/>
          <p:cNvSpPr>
            <a:spLocks noChangeArrowheads="1"/>
          </p:cNvSpPr>
          <p:nvPr/>
        </p:nvSpPr>
        <p:spPr bwMode="auto">
          <a:xfrm>
            <a:off x="3557588" y="22621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endParaRPr lang="zh-CN" altLang="en-US"/>
          </a:p>
        </p:txBody>
      </p:sp>
      <p:graphicFrame>
        <p:nvGraphicFramePr>
          <p:cNvPr id="2050" name="Object 1024"/>
          <p:cNvGraphicFramePr>
            <a:graphicFrameLocks noChangeAspect="1"/>
          </p:cNvGraphicFramePr>
          <p:nvPr/>
        </p:nvGraphicFramePr>
        <p:xfrm>
          <a:off x="914400" y="2209800"/>
          <a:ext cx="3246438" cy="3733800"/>
        </p:xfrm>
        <a:graphic>
          <a:graphicData uri="http://schemas.openxmlformats.org/presentationml/2006/ole">
            <mc:AlternateContent xmlns:mc="http://schemas.openxmlformats.org/markup-compatibility/2006">
              <mc:Choice xmlns:v="urn:schemas-microsoft-com:vml" Requires="v">
                <p:oleObj spid="_x0000_s2056" name="" r:id="rId1" imgW="2028825" imgH="2333625" progId="Paint.Picture">
                  <p:embed/>
                </p:oleObj>
              </mc:Choice>
              <mc:Fallback>
                <p:oleObj name="" r:id="rId1" imgW="2028825" imgH="2333625" progId="Paint.Picture">
                  <p:embed/>
                  <p:pic>
                    <p:nvPicPr>
                      <p:cNvPr id="0" name="Object 1024"/>
                      <p:cNvPicPr>
                        <a:picLocks noChangeAspect="1" noChangeArrowheads="1"/>
                      </p:cNvPicPr>
                      <p:nvPr/>
                    </p:nvPicPr>
                    <p:blipFill>
                      <a:blip r:embed="rId2">
                        <a:lum bright="-22000" contrast="-12000"/>
                        <a:extLst>
                          <a:ext uri="{28A0092B-C50C-407E-A947-70E740481C1C}">
                            <a14:useLocalDpi xmlns:a14="http://schemas.microsoft.com/office/drawing/2010/main" val="0"/>
                          </a:ext>
                        </a:extLst>
                      </a:blip>
                      <a:srcRect/>
                      <a:stretch>
                        <a:fillRect/>
                      </a:stretch>
                    </p:blipFill>
                    <p:spPr bwMode="auto">
                      <a:xfrm>
                        <a:off x="914400" y="2209800"/>
                        <a:ext cx="3246438" cy="3733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randomBar dir="vert"/>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文本框 1"/>
          <p:cNvSpPr txBox="1"/>
          <p:nvPr/>
        </p:nvSpPr>
        <p:spPr>
          <a:xfrm>
            <a:off x="611505" y="1988820"/>
            <a:ext cx="8174990" cy="2501900"/>
          </a:xfrm>
          <a:prstGeom prst="rect">
            <a:avLst/>
          </a:prstGeom>
          <a:noFill/>
        </p:spPr>
        <p:txBody>
          <a:bodyPr wrap="square" rtlCol="0" anchor="t">
            <a:spAutoFit/>
          </a:bodyPr>
          <a:p>
            <a:pPr>
              <a:lnSpc>
                <a:spcPct val="140000"/>
              </a:lnSpc>
              <a:spcBef>
                <a:spcPct val="0"/>
              </a:spcBef>
              <a:buFont typeface="Wingdings" panose="05000000000000000000" pitchFamily="2" charset="2"/>
              <a:buNone/>
            </a:pPr>
            <a:r>
              <a:rPr lang="zh-CN" altLang="en-US" sz="2800">
                <a:solidFill>
                  <a:srgbClr val="0033CC"/>
                </a:solidFill>
                <a:ea typeface="楷体_GB2312" pitchFamily="49" charset="-122"/>
                <a:sym typeface="+mn-ea"/>
              </a:rPr>
              <a:t>纸板电池或氯化锌电池：</a:t>
            </a:r>
            <a:r>
              <a:rPr lang="zh-CN" altLang="en-US" sz="2800">
                <a:solidFill>
                  <a:schemeClr val="tx1"/>
                </a:solidFill>
                <a:ea typeface="楷体_GB2312" pitchFamily="49" charset="-122"/>
                <a:sym typeface="+mn-ea"/>
              </a:rPr>
              <a:t>改用人工精制的化学</a:t>
            </a:r>
            <a:r>
              <a:rPr lang="en-US" altLang="zh-CN" sz="2800">
                <a:solidFill>
                  <a:schemeClr val="tx1"/>
                </a:solidFill>
                <a:ea typeface="楷体_GB2312" pitchFamily="49" charset="-122"/>
                <a:sym typeface="+mn-ea"/>
              </a:rPr>
              <a:t>MnO</a:t>
            </a:r>
            <a:r>
              <a:rPr lang="en-US" altLang="zh-CN" sz="2800" baseline="-25000">
                <a:solidFill>
                  <a:schemeClr val="tx1"/>
                </a:solidFill>
                <a:ea typeface="楷体_GB2312" pitchFamily="49" charset="-122"/>
                <a:sym typeface="+mn-ea"/>
              </a:rPr>
              <a:t>2</a:t>
            </a:r>
            <a:r>
              <a:rPr lang="zh-CN" altLang="en-US" sz="2800">
                <a:solidFill>
                  <a:schemeClr val="tx1"/>
                </a:solidFill>
                <a:ea typeface="楷体_GB2312" pitchFamily="49" charset="-122"/>
                <a:sym typeface="+mn-ea"/>
              </a:rPr>
              <a:t>或电解</a:t>
            </a:r>
            <a:r>
              <a:rPr lang="en-US" altLang="zh-CN" sz="2800">
                <a:solidFill>
                  <a:schemeClr val="tx1"/>
                </a:solidFill>
                <a:ea typeface="楷体_GB2312" pitchFamily="49" charset="-122"/>
                <a:sym typeface="+mn-ea"/>
              </a:rPr>
              <a:t>MnO</a:t>
            </a:r>
            <a:r>
              <a:rPr lang="en-US" altLang="zh-CN" sz="2800" baseline="-25000">
                <a:solidFill>
                  <a:schemeClr val="tx1"/>
                </a:solidFill>
                <a:ea typeface="楷体_GB2312" pitchFamily="49" charset="-122"/>
                <a:sym typeface="+mn-ea"/>
              </a:rPr>
              <a:t>2</a:t>
            </a:r>
            <a:r>
              <a:rPr lang="en-US" altLang="zh-CN" sz="2800">
                <a:solidFill>
                  <a:schemeClr val="tx1"/>
                </a:solidFill>
                <a:ea typeface="楷体_GB2312" pitchFamily="49" charset="-122"/>
                <a:sym typeface="+mn-ea"/>
              </a:rPr>
              <a:t>，</a:t>
            </a:r>
            <a:r>
              <a:rPr lang="zh-CN" altLang="en-US" sz="2800">
                <a:solidFill>
                  <a:schemeClr val="tx1"/>
                </a:solidFill>
                <a:ea typeface="楷体_GB2312" pitchFamily="49" charset="-122"/>
                <a:sym typeface="+mn-ea"/>
              </a:rPr>
              <a:t>用</a:t>
            </a:r>
            <a:r>
              <a:rPr lang="zh-CN" altLang="en-US" sz="2800">
                <a:solidFill>
                  <a:srgbClr val="FF0000"/>
                </a:solidFill>
                <a:ea typeface="楷体_GB2312" pitchFamily="49" charset="-122"/>
                <a:sym typeface="+mn-ea"/>
              </a:rPr>
              <a:t>浆层纸</a:t>
            </a:r>
            <a:r>
              <a:rPr lang="zh-CN" altLang="en-US" sz="2800">
                <a:solidFill>
                  <a:schemeClr val="tx1"/>
                </a:solidFill>
                <a:ea typeface="楷体_GB2312" pitchFamily="49" charset="-122"/>
                <a:sym typeface="+mn-ea"/>
              </a:rPr>
              <a:t>（厚0.1</a:t>
            </a:r>
            <a:r>
              <a:rPr lang="zh-CN" altLang="en-US" sz="2800">
                <a:solidFill>
                  <a:schemeClr val="tx1"/>
                </a:solidFill>
                <a:ea typeface="楷体_GB2312" pitchFamily="49" charset="-122"/>
                <a:sym typeface="Symbol" panose="05050102010706020507" pitchFamily="18" charset="2"/>
              </a:rPr>
              <a:t>0.2 </a:t>
            </a:r>
            <a:r>
              <a:rPr lang="en-US" altLang="zh-CN" sz="2800">
                <a:solidFill>
                  <a:schemeClr val="tx1"/>
                </a:solidFill>
                <a:ea typeface="楷体_GB2312" pitchFamily="49" charset="-122"/>
                <a:sym typeface="Symbol" panose="05050102010706020507" pitchFamily="18" charset="2"/>
              </a:rPr>
              <a:t>mm</a:t>
            </a:r>
            <a:r>
              <a:rPr lang="zh-CN" altLang="en-US" sz="2800">
                <a:solidFill>
                  <a:schemeClr val="tx1"/>
                </a:solidFill>
                <a:ea typeface="楷体_GB2312" pitchFamily="49" charset="-122"/>
                <a:sym typeface="Symbol" panose="05050102010706020507" pitchFamily="18" charset="2"/>
              </a:rPr>
              <a:t>的牛皮纸上涂以合成糊等物质</a:t>
            </a:r>
            <a:r>
              <a:rPr lang="zh-CN" altLang="en-US" sz="2800">
                <a:solidFill>
                  <a:schemeClr val="tx1"/>
                </a:solidFill>
                <a:ea typeface="楷体_GB2312" pitchFamily="49" charset="-122"/>
                <a:sym typeface="+mn-ea"/>
              </a:rPr>
              <a:t>）夹在正负极之间代替了淀粉糊，并且以</a:t>
            </a:r>
            <a:r>
              <a:rPr lang="zh-CN" altLang="en-US" sz="2800">
                <a:solidFill>
                  <a:srgbClr val="FF0000"/>
                </a:solidFill>
                <a:ea typeface="楷体_GB2312" pitchFamily="49" charset="-122"/>
                <a:sym typeface="+mn-ea"/>
              </a:rPr>
              <a:t>氯化锌</a:t>
            </a:r>
            <a:r>
              <a:rPr lang="zh-CN" altLang="en-US" sz="2800">
                <a:solidFill>
                  <a:schemeClr val="tx1"/>
                </a:solidFill>
                <a:ea typeface="楷体_GB2312" pitchFamily="49" charset="-122"/>
                <a:sym typeface="+mn-ea"/>
              </a:rPr>
              <a:t>为主要成分。</a:t>
            </a:r>
            <a:endParaRPr lang="zh-CN" altLang="en-US" sz="2800">
              <a:solidFill>
                <a:schemeClr val="tx1"/>
              </a:solidFill>
              <a:ea typeface="楷体_GB2312" pitchFamily="49" charset="-122"/>
              <a:sym typeface="+mn-ea"/>
            </a:endParaRPr>
          </a:p>
        </p:txBody>
      </p:sp>
    </p:spTree>
  </p:cSld>
  <p:clrMapOvr>
    <a:masterClrMapping/>
  </p:clrMapOvr>
  <p:transition>
    <p:randomBar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1026"/>
          <p:cNvSpPr>
            <a:spLocks noGrp="1" noRot="1" noChangeArrowheads="1"/>
          </p:cNvSpPr>
          <p:nvPr/>
        </p:nvSpPr>
        <p:spPr>
          <a:xfrm>
            <a:off x="35560" y="548640"/>
            <a:ext cx="8991600" cy="2952750"/>
          </a:xfrm>
          <a:prstGeom prst="rect">
            <a:avLst/>
          </a:prstGeom>
          <a:solidFill>
            <a:schemeClr val="bg1"/>
          </a:solid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4400" b="1">
                <a:solidFill>
                  <a:schemeClr val="tx2"/>
                </a:solidFill>
                <a:latin typeface="+mj-lt"/>
                <a:ea typeface="+mj-ea"/>
                <a:cs typeface="+mj-cs"/>
              </a:defRPr>
            </a:lvl1pPr>
            <a:lvl2pPr algn="ctr" rtl="0" eaLnBrk="0" fontAlgn="base" hangingPunct="0">
              <a:spcBef>
                <a:spcPct val="0"/>
              </a:spcBef>
              <a:spcAft>
                <a:spcPct val="0"/>
              </a:spcAft>
              <a:defRPr sz="4400" b="1">
                <a:solidFill>
                  <a:schemeClr val="tx2"/>
                </a:solidFill>
                <a:latin typeface="Times New Roman" panose="02020603050405020304" pitchFamily="18" charset="0"/>
                <a:ea typeface="楷体_GB2312" pitchFamily="49" charset="-122"/>
              </a:defRPr>
            </a:lvl2pPr>
            <a:lvl3pPr algn="ctr" rtl="0" eaLnBrk="0" fontAlgn="base" hangingPunct="0">
              <a:spcBef>
                <a:spcPct val="0"/>
              </a:spcBef>
              <a:spcAft>
                <a:spcPct val="0"/>
              </a:spcAft>
              <a:defRPr sz="4400" b="1">
                <a:solidFill>
                  <a:schemeClr val="tx2"/>
                </a:solidFill>
                <a:latin typeface="Times New Roman" panose="02020603050405020304" pitchFamily="18" charset="0"/>
                <a:ea typeface="楷体_GB2312" pitchFamily="49" charset="-122"/>
              </a:defRPr>
            </a:lvl3pPr>
            <a:lvl4pPr algn="ctr" rtl="0" eaLnBrk="0" fontAlgn="base" hangingPunct="0">
              <a:spcBef>
                <a:spcPct val="0"/>
              </a:spcBef>
              <a:spcAft>
                <a:spcPct val="0"/>
              </a:spcAft>
              <a:defRPr sz="4400" b="1">
                <a:solidFill>
                  <a:schemeClr val="tx2"/>
                </a:solidFill>
                <a:latin typeface="Times New Roman" panose="02020603050405020304" pitchFamily="18" charset="0"/>
                <a:ea typeface="楷体_GB2312" pitchFamily="49" charset="-122"/>
              </a:defRPr>
            </a:lvl4pPr>
            <a:lvl5pPr algn="ctr" rtl="0" eaLnBrk="0" fontAlgn="base" hangingPunct="0">
              <a:spcBef>
                <a:spcPct val="0"/>
              </a:spcBef>
              <a:spcAft>
                <a:spcPct val="0"/>
              </a:spcAft>
              <a:defRPr sz="4400" b="1">
                <a:solidFill>
                  <a:schemeClr val="tx2"/>
                </a:solidFill>
                <a:latin typeface="Times New Roman" panose="02020603050405020304" pitchFamily="18" charset="0"/>
                <a:ea typeface="楷体_GB2312" pitchFamily="49" charset="-122"/>
              </a:defRPr>
            </a:lvl5pPr>
            <a:lvl6pPr marL="457200" algn="ctr" rtl="0" fontAlgn="base">
              <a:spcBef>
                <a:spcPct val="0"/>
              </a:spcBef>
              <a:spcAft>
                <a:spcPct val="0"/>
              </a:spcAft>
              <a:defRPr sz="4400" b="1">
                <a:solidFill>
                  <a:schemeClr val="tx2"/>
                </a:solidFill>
                <a:latin typeface="Times New Roman" panose="02020603050405020304" pitchFamily="18" charset="0"/>
                <a:ea typeface="楷体_GB2312" pitchFamily="49" charset="-122"/>
              </a:defRPr>
            </a:lvl6pPr>
            <a:lvl7pPr marL="914400" algn="ctr" rtl="0" fontAlgn="base">
              <a:spcBef>
                <a:spcPct val="0"/>
              </a:spcBef>
              <a:spcAft>
                <a:spcPct val="0"/>
              </a:spcAft>
              <a:defRPr sz="4400" b="1">
                <a:solidFill>
                  <a:schemeClr val="tx2"/>
                </a:solidFill>
                <a:latin typeface="Times New Roman" panose="02020603050405020304" pitchFamily="18" charset="0"/>
                <a:ea typeface="楷体_GB2312" pitchFamily="49" charset="-122"/>
              </a:defRPr>
            </a:lvl7pPr>
            <a:lvl8pPr marL="1371600" algn="ctr" rtl="0" fontAlgn="base">
              <a:spcBef>
                <a:spcPct val="0"/>
              </a:spcBef>
              <a:spcAft>
                <a:spcPct val="0"/>
              </a:spcAft>
              <a:defRPr sz="4400" b="1">
                <a:solidFill>
                  <a:schemeClr val="tx2"/>
                </a:solidFill>
                <a:latin typeface="Times New Roman" panose="02020603050405020304" pitchFamily="18" charset="0"/>
                <a:ea typeface="楷体_GB2312" pitchFamily="49" charset="-122"/>
              </a:defRPr>
            </a:lvl8pPr>
            <a:lvl9pPr marL="1828800" algn="ctr" rtl="0" fontAlgn="base">
              <a:spcBef>
                <a:spcPct val="0"/>
              </a:spcBef>
              <a:spcAft>
                <a:spcPct val="0"/>
              </a:spcAft>
              <a:defRPr sz="4400" b="1">
                <a:solidFill>
                  <a:schemeClr val="tx2"/>
                </a:solidFill>
                <a:latin typeface="Times New Roman" panose="02020603050405020304" pitchFamily="18" charset="0"/>
                <a:ea typeface="楷体_GB2312" pitchFamily="49" charset="-122"/>
              </a:defRPr>
            </a:lvl9pPr>
          </a:lstStyle>
          <a:p>
            <a:pPr algn="l"/>
            <a:r>
              <a:rPr lang="en-US" altLang="zh-CN" sz="2400" dirty="0">
                <a:solidFill>
                  <a:srgbClr val="0033CC"/>
                </a:solidFill>
              </a:rPr>
              <a:t>(-)Zn</a:t>
            </a:r>
            <a:r>
              <a:rPr lang="en-US" altLang="zh-CN" sz="2400" dirty="0">
                <a:solidFill>
                  <a:schemeClr val="tx1"/>
                </a:solidFill>
              </a:rPr>
              <a:t> | ZnCl</a:t>
            </a:r>
            <a:r>
              <a:rPr lang="en-US" altLang="zh-CN" sz="2400" baseline="-25000" dirty="0">
                <a:solidFill>
                  <a:schemeClr val="tx1"/>
                </a:solidFill>
              </a:rPr>
              <a:t>2</a:t>
            </a:r>
            <a:r>
              <a:rPr lang="en-US" altLang="zh-CN" sz="2400" dirty="0">
                <a:solidFill>
                  <a:schemeClr val="tx1"/>
                </a:solidFill>
              </a:rPr>
              <a:t> (</a:t>
            </a:r>
            <a:r>
              <a:rPr lang="en-US" altLang="zh-CN" sz="2400" dirty="0" err="1">
                <a:solidFill>
                  <a:schemeClr val="tx1"/>
                </a:solidFill>
              </a:rPr>
              <a:t>aq</a:t>
            </a:r>
            <a:r>
              <a:rPr lang="en-US" altLang="zh-CN" sz="2400" dirty="0">
                <a:solidFill>
                  <a:schemeClr val="tx1"/>
                </a:solidFill>
              </a:rPr>
              <a:t>, 20%</a:t>
            </a:r>
            <a:r>
              <a:rPr lang="en-US" altLang="zh-CN" sz="2400" dirty="0">
                <a:solidFill>
                  <a:schemeClr val="tx1"/>
                </a:solidFill>
                <a:sym typeface="Symbol" panose="05050102010706020507" pitchFamily="18" charset="2"/>
              </a:rPr>
              <a:t></a:t>
            </a:r>
            <a:r>
              <a:rPr lang="en-US" altLang="zh-CN" sz="2400" dirty="0">
                <a:solidFill>
                  <a:schemeClr val="tx1"/>
                </a:solidFill>
              </a:rPr>
              <a:t>35%) | MnO</a:t>
            </a:r>
            <a:r>
              <a:rPr lang="en-US" altLang="zh-CN" sz="2400" baseline="-25000" dirty="0">
                <a:solidFill>
                  <a:schemeClr val="tx1"/>
                </a:solidFill>
              </a:rPr>
              <a:t>2</a:t>
            </a:r>
            <a:r>
              <a:rPr lang="en-US" altLang="zh-CN" sz="2400" dirty="0">
                <a:solidFill>
                  <a:schemeClr val="tx1"/>
                </a:solidFill>
              </a:rPr>
              <a:t> | </a:t>
            </a:r>
            <a:r>
              <a:rPr lang="en-US" altLang="zh-CN" sz="2400" dirty="0">
                <a:solidFill>
                  <a:srgbClr val="FF3300"/>
                </a:solidFill>
              </a:rPr>
              <a:t>C(+)</a:t>
            </a:r>
            <a:br>
              <a:rPr lang="en-US" altLang="zh-CN" sz="2400" dirty="0">
                <a:solidFill>
                  <a:srgbClr val="FF3300"/>
                </a:solidFill>
              </a:rPr>
            </a:br>
            <a:r>
              <a:rPr lang="zh-CN" altLang="en-US" sz="2000" dirty="0">
                <a:solidFill>
                  <a:srgbClr val="0033CC"/>
                </a:solidFill>
              </a:rPr>
              <a:t>负极：</a:t>
            </a:r>
            <a:r>
              <a:rPr lang="zh-CN" altLang="en-US" sz="2000" dirty="0">
                <a:solidFill>
                  <a:schemeClr val="tx1"/>
                </a:solidFill>
              </a:rPr>
              <a:t> </a:t>
            </a:r>
            <a:r>
              <a:rPr lang="en-US" altLang="zh-CN" sz="2000" dirty="0">
                <a:solidFill>
                  <a:schemeClr val="tx1"/>
                </a:solidFill>
              </a:rPr>
              <a:t>4Zn(s) + ZnCl</a:t>
            </a:r>
            <a:r>
              <a:rPr lang="en-US" altLang="zh-CN" sz="2000" baseline="-25000" dirty="0">
                <a:solidFill>
                  <a:schemeClr val="tx1"/>
                </a:solidFill>
              </a:rPr>
              <a:t>2</a:t>
            </a:r>
            <a:r>
              <a:rPr lang="en-US" altLang="zh-CN" sz="2000" dirty="0">
                <a:solidFill>
                  <a:schemeClr val="tx1"/>
                </a:solidFill>
              </a:rPr>
              <a:t>(</a:t>
            </a:r>
            <a:r>
              <a:rPr lang="en-US" altLang="zh-CN" sz="2000" dirty="0" err="1">
                <a:solidFill>
                  <a:schemeClr val="tx1"/>
                </a:solidFill>
              </a:rPr>
              <a:t>aq</a:t>
            </a:r>
            <a:r>
              <a:rPr lang="en-US" altLang="zh-CN" sz="2000" dirty="0">
                <a:solidFill>
                  <a:schemeClr val="tx1"/>
                </a:solidFill>
              </a:rPr>
              <a:t>)</a:t>
            </a:r>
            <a:r>
              <a:rPr lang="zh-CN" altLang="en-US" sz="2000" dirty="0">
                <a:solidFill>
                  <a:schemeClr val="tx1"/>
                </a:solidFill>
              </a:rPr>
              <a:t> </a:t>
            </a:r>
            <a:r>
              <a:rPr lang="en-US" altLang="zh-CN" sz="2000" dirty="0">
                <a:solidFill>
                  <a:schemeClr val="tx1"/>
                </a:solidFill>
              </a:rPr>
              <a:t>+ 8OH</a:t>
            </a:r>
            <a:r>
              <a:rPr lang="en-US" altLang="zh-CN" sz="2000" baseline="30000" dirty="0">
                <a:solidFill>
                  <a:schemeClr val="tx1"/>
                </a:solidFill>
              </a:rPr>
              <a:t>-</a:t>
            </a:r>
            <a:r>
              <a:rPr lang="en-US" altLang="zh-CN" sz="2000" dirty="0">
                <a:solidFill>
                  <a:schemeClr val="tx1"/>
                </a:solidFill>
              </a:rPr>
              <a:t>(</a:t>
            </a:r>
            <a:r>
              <a:rPr lang="en-US" altLang="zh-CN" sz="2000" dirty="0" err="1">
                <a:solidFill>
                  <a:schemeClr val="tx1"/>
                </a:solidFill>
              </a:rPr>
              <a:t>aq</a:t>
            </a:r>
            <a:r>
              <a:rPr lang="en-US" altLang="zh-CN" sz="2000" dirty="0">
                <a:solidFill>
                  <a:schemeClr val="tx1"/>
                </a:solidFill>
              </a:rPr>
              <a:t>)  = ZnCl</a:t>
            </a:r>
            <a:r>
              <a:rPr lang="en-US" altLang="zh-CN" sz="2000" baseline="-25000" dirty="0">
                <a:solidFill>
                  <a:schemeClr val="tx1"/>
                </a:solidFill>
              </a:rPr>
              <a:t>2</a:t>
            </a:r>
            <a:r>
              <a:rPr lang="en-US" altLang="zh-CN" sz="2000" dirty="0">
                <a:solidFill>
                  <a:schemeClr val="tx1"/>
                </a:solidFill>
              </a:rPr>
              <a:t> </a:t>
            </a:r>
            <a:r>
              <a:rPr lang="en-US" altLang="zh-CN" sz="2000" baseline="6000" dirty="0">
                <a:solidFill>
                  <a:schemeClr val="tx1"/>
                </a:solidFill>
              </a:rPr>
              <a:t>. </a:t>
            </a:r>
            <a:r>
              <a:rPr lang="en-US" altLang="zh-CN" sz="2000" dirty="0">
                <a:solidFill>
                  <a:schemeClr val="tx1"/>
                </a:solidFill>
              </a:rPr>
              <a:t>4Zn(OH)</a:t>
            </a:r>
            <a:r>
              <a:rPr lang="en-US" altLang="zh-CN" sz="2000" baseline="-25000" dirty="0">
                <a:solidFill>
                  <a:schemeClr val="tx1"/>
                </a:solidFill>
              </a:rPr>
              <a:t>2 </a:t>
            </a:r>
            <a:r>
              <a:rPr lang="en-US" altLang="zh-CN" sz="2000" dirty="0">
                <a:solidFill>
                  <a:schemeClr val="tx1"/>
                </a:solidFill>
              </a:rPr>
              <a:t>+ 8e</a:t>
            </a:r>
            <a:br>
              <a:rPr lang="en-US" altLang="zh-CN" sz="2000" dirty="0">
                <a:solidFill>
                  <a:schemeClr val="tx1"/>
                </a:solidFill>
              </a:rPr>
            </a:br>
            <a:r>
              <a:rPr lang="zh-CN" altLang="en-US" sz="2000" dirty="0">
                <a:solidFill>
                  <a:srgbClr val="FF3300"/>
                </a:solidFill>
              </a:rPr>
              <a:t>正极：</a:t>
            </a:r>
            <a:r>
              <a:rPr lang="zh-CN" altLang="en-US" sz="2000" dirty="0">
                <a:solidFill>
                  <a:schemeClr val="tx1"/>
                </a:solidFill>
              </a:rPr>
              <a:t> </a:t>
            </a:r>
            <a:r>
              <a:rPr lang="en-US" altLang="zh-CN" sz="2000" dirty="0">
                <a:solidFill>
                  <a:schemeClr val="tx1"/>
                </a:solidFill>
              </a:rPr>
              <a:t>8MnO</a:t>
            </a:r>
            <a:r>
              <a:rPr lang="en-US" altLang="zh-CN" sz="2000" baseline="-25000" dirty="0">
                <a:solidFill>
                  <a:schemeClr val="tx1"/>
                </a:solidFill>
              </a:rPr>
              <a:t>2</a:t>
            </a:r>
            <a:r>
              <a:rPr lang="en-US" altLang="zh-CN" sz="2000" dirty="0">
                <a:solidFill>
                  <a:schemeClr val="tx1"/>
                </a:solidFill>
              </a:rPr>
              <a:t>(s)</a:t>
            </a:r>
            <a:r>
              <a:rPr lang="zh-CN" altLang="en-US" sz="2000" dirty="0">
                <a:solidFill>
                  <a:schemeClr val="tx1"/>
                </a:solidFill>
              </a:rPr>
              <a:t> </a:t>
            </a:r>
            <a:r>
              <a:rPr lang="en-US" altLang="zh-CN" sz="2000" dirty="0">
                <a:solidFill>
                  <a:schemeClr val="tx1"/>
                </a:solidFill>
              </a:rPr>
              <a:t>+ 8H</a:t>
            </a:r>
            <a:r>
              <a:rPr lang="en-US" altLang="zh-CN" sz="2000" baseline="-25000" dirty="0">
                <a:solidFill>
                  <a:schemeClr val="tx1"/>
                </a:solidFill>
              </a:rPr>
              <a:t>2</a:t>
            </a:r>
            <a:r>
              <a:rPr lang="en-US" altLang="zh-CN" sz="2000" dirty="0">
                <a:solidFill>
                  <a:schemeClr val="tx1"/>
                </a:solidFill>
              </a:rPr>
              <a:t>O(</a:t>
            </a:r>
            <a:r>
              <a:rPr lang="en-US" altLang="zh-CN" sz="2000" dirty="0" err="1">
                <a:solidFill>
                  <a:schemeClr val="tx1"/>
                </a:solidFill>
              </a:rPr>
              <a:t>aq</a:t>
            </a:r>
            <a:r>
              <a:rPr lang="en-US" altLang="zh-CN" sz="2000" dirty="0">
                <a:solidFill>
                  <a:schemeClr val="tx1"/>
                </a:solidFill>
              </a:rPr>
              <a:t>) + 8e = 8MnOOH + 8OH</a:t>
            </a:r>
            <a:r>
              <a:rPr lang="en-US" altLang="zh-CN" sz="2000" baseline="30000" dirty="0">
                <a:solidFill>
                  <a:schemeClr val="tx1"/>
                </a:solidFill>
              </a:rPr>
              <a:t>-</a:t>
            </a:r>
            <a:r>
              <a:rPr lang="en-US" altLang="zh-CN" sz="2000" dirty="0">
                <a:solidFill>
                  <a:schemeClr val="tx1"/>
                </a:solidFill>
              </a:rPr>
              <a:t>(</a:t>
            </a:r>
            <a:r>
              <a:rPr lang="en-US" altLang="zh-CN" sz="2000" dirty="0" err="1">
                <a:solidFill>
                  <a:schemeClr val="tx1"/>
                </a:solidFill>
              </a:rPr>
              <a:t>aq</a:t>
            </a:r>
            <a:r>
              <a:rPr lang="en-US" altLang="zh-CN" sz="2000" dirty="0">
                <a:solidFill>
                  <a:schemeClr val="tx1"/>
                </a:solidFill>
              </a:rPr>
              <a:t>) </a:t>
            </a:r>
            <a:br>
              <a:rPr lang="en-US" altLang="zh-CN" sz="2000" dirty="0">
                <a:solidFill>
                  <a:schemeClr val="tx1"/>
                </a:solidFill>
              </a:rPr>
            </a:br>
            <a:br>
              <a:rPr lang="en-US" altLang="zh-CN" sz="2000" dirty="0">
                <a:solidFill>
                  <a:schemeClr val="tx1"/>
                </a:solidFill>
              </a:rPr>
            </a:br>
            <a:r>
              <a:rPr lang="zh-CN" altLang="en-US" sz="2000" dirty="0">
                <a:solidFill>
                  <a:schemeClr val="tx1"/>
                </a:solidFill>
              </a:rPr>
              <a:t>电池反应：</a:t>
            </a:r>
            <a:r>
              <a:rPr lang="en-US" altLang="zh-CN" sz="2000" dirty="0">
                <a:solidFill>
                  <a:schemeClr val="tx1"/>
                </a:solidFill>
              </a:rPr>
              <a:t> </a:t>
            </a:r>
            <a:br>
              <a:rPr lang="en-US" altLang="zh-CN" sz="2000" dirty="0">
                <a:solidFill>
                  <a:schemeClr val="tx1"/>
                </a:solidFill>
              </a:rPr>
            </a:br>
            <a:r>
              <a:rPr lang="en-US" altLang="zh-CN" sz="2000" dirty="0">
                <a:solidFill>
                  <a:schemeClr val="tx1"/>
                </a:solidFill>
              </a:rPr>
              <a:t>8 MnO</a:t>
            </a:r>
            <a:r>
              <a:rPr lang="en-US" altLang="zh-CN" sz="2000" baseline="-25000" dirty="0">
                <a:solidFill>
                  <a:schemeClr val="tx1"/>
                </a:solidFill>
              </a:rPr>
              <a:t>2</a:t>
            </a:r>
            <a:r>
              <a:rPr lang="en-US" altLang="zh-CN" sz="2000" dirty="0">
                <a:solidFill>
                  <a:schemeClr val="tx1"/>
                </a:solidFill>
              </a:rPr>
              <a:t>(s) + ZnCl</a:t>
            </a:r>
            <a:r>
              <a:rPr lang="en-US" altLang="zh-CN" sz="2000" baseline="-25000" dirty="0">
                <a:solidFill>
                  <a:schemeClr val="tx1"/>
                </a:solidFill>
              </a:rPr>
              <a:t>2</a:t>
            </a:r>
            <a:r>
              <a:rPr lang="en-US" altLang="zh-CN" sz="2000" dirty="0">
                <a:solidFill>
                  <a:schemeClr val="tx1"/>
                </a:solidFill>
              </a:rPr>
              <a:t>(</a:t>
            </a:r>
            <a:r>
              <a:rPr lang="en-US" altLang="zh-CN" sz="2000" dirty="0" err="1">
                <a:solidFill>
                  <a:schemeClr val="tx1"/>
                </a:solidFill>
              </a:rPr>
              <a:t>aq</a:t>
            </a:r>
            <a:r>
              <a:rPr lang="en-US" altLang="zh-CN" sz="2000" dirty="0">
                <a:solidFill>
                  <a:schemeClr val="tx1"/>
                </a:solidFill>
              </a:rPr>
              <a:t>) + 4Zn + 8H</a:t>
            </a:r>
            <a:r>
              <a:rPr lang="en-US" altLang="zh-CN" sz="2000" baseline="-25000" dirty="0">
                <a:solidFill>
                  <a:schemeClr val="tx1"/>
                </a:solidFill>
              </a:rPr>
              <a:t>2</a:t>
            </a:r>
            <a:r>
              <a:rPr lang="en-US" altLang="zh-CN" sz="2000" dirty="0">
                <a:solidFill>
                  <a:schemeClr val="tx1"/>
                </a:solidFill>
              </a:rPr>
              <a:t>O = ZnCl</a:t>
            </a:r>
            <a:r>
              <a:rPr lang="en-US" altLang="zh-CN" sz="2000" baseline="-25000" dirty="0">
                <a:solidFill>
                  <a:schemeClr val="tx1"/>
                </a:solidFill>
              </a:rPr>
              <a:t>2</a:t>
            </a:r>
            <a:r>
              <a:rPr lang="en-US" altLang="zh-CN" sz="2000" dirty="0">
                <a:solidFill>
                  <a:schemeClr val="tx1"/>
                </a:solidFill>
              </a:rPr>
              <a:t> </a:t>
            </a:r>
            <a:r>
              <a:rPr lang="en-US" altLang="zh-CN" sz="2000" baseline="6000" dirty="0">
                <a:solidFill>
                  <a:schemeClr val="tx1"/>
                </a:solidFill>
              </a:rPr>
              <a:t>. </a:t>
            </a:r>
            <a:r>
              <a:rPr lang="en-US" altLang="zh-CN" sz="2000" dirty="0">
                <a:solidFill>
                  <a:schemeClr val="tx1"/>
                </a:solidFill>
              </a:rPr>
              <a:t>4Zn(OH)</a:t>
            </a:r>
            <a:r>
              <a:rPr lang="en-US" altLang="zh-CN" sz="2000" baseline="-25000" dirty="0">
                <a:solidFill>
                  <a:schemeClr val="tx1"/>
                </a:solidFill>
              </a:rPr>
              <a:t>2 </a:t>
            </a:r>
            <a:r>
              <a:rPr lang="en-US" altLang="zh-CN" sz="2000" dirty="0">
                <a:solidFill>
                  <a:schemeClr val="tx1"/>
                </a:solidFill>
              </a:rPr>
              <a:t>+ 8MnOOH </a:t>
            </a:r>
            <a:br>
              <a:rPr lang="en-US" altLang="zh-CN" sz="2000" dirty="0">
                <a:solidFill>
                  <a:schemeClr val="tx1"/>
                </a:solidFill>
              </a:rPr>
            </a:br>
            <a:r>
              <a:rPr lang="en-US" altLang="zh-CN" sz="2000" dirty="0">
                <a:solidFill>
                  <a:schemeClr val="tx1"/>
                </a:solidFill>
              </a:rPr>
              <a:t>                                                                             </a:t>
            </a:r>
            <a:br>
              <a:rPr lang="en-US" altLang="zh-CN" sz="2000" dirty="0">
                <a:solidFill>
                  <a:schemeClr val="tx1"/>
                </a:solidFill>
              </a:rPr>
            </a:br>
            <a:r>
              <a:rPr lang="en-US" altLang="zh-CN" sz="2000" dirty="0">
                <a:solidFill>
                  <a:schemeClr val="tx1"/>
                </a:solidFill>
              </a:rPr>
              <a:t>                                                                          </a:t>
            </a:r>
            <a:br>
              <a:rPr lang="en-US" altLang="zh-CN" sz="2000" dirty="0">
                <a:solidFill>
                  <a:schemeClr val="tx1"/>
                </a:solidFill>
              </a:rPr>
            </a:br>
            <a:r>
              <a:rPr lang="en-US" altLang="zh-CN" sz="2000" dirty="0">
                <a:solidFill>
                  <a:schemeClr val="tx1"/>
                </a:solidFill>
              </a:rPr>
              <a:t>                                                                            ZnCl</a:t>
            </a:r>
            <a:r>
              <a:rPr lang="en-US" altLang="zh-CN" sz="2000" baseline="-25000" dirty="0">
                <a:solidFill>
                  <a:schemeClr val="tx1"/>
                </a:solidFill>
              </a:rPr>
              <a:t>2</a:t>
            </a:r>
            <a:r>
              <a:rPr lang="en-US" altLang="zh-CN" sz="2000" dirty="0">
                <a:solidFill>
                  <a:schemeClr val="tx1"/>
                </a:solidFill>
              </a:rPr>
              <a:t> </a:t>
            </a:r>
            <a:r>
              <a:rPr lang="en-US" altLang="zh-CN" sz="2000" baseline="6000" dirty="0">
                <a:solidFill>
                  <a:schemeClr val="tx1"/>
                </a:solidFill>
              </a:rPr>
              <a:t>. </a:t>
            </a:r>
            <a:r>
              <a:rPr lang="en-US" altLang="zh-CN" sz="2000" dirty="0">
                <a:solidFill>
                  <a:schemeClr val="tx1"/>
                </a:solidFill>
              </a:rPr>
              <a:t>4ZnO</a:t>
            </a:r>
            <a:r>
              <a:rPr lang="en-US" altLang="zh-CN" sz="2000" baseline="8000" dirty="0">
                <a:solidFill>
                  <a:schemeClr val="tx1"/>
                </a:solidFill>
              </a:rPr>
              <a:t>.</a:t>
            </a:r>
            <a:r>
              <a:rPr lang="en-US" altLang="zh-CN" sz="2000" dirty="0">
                <a:solidFill>
                  <a:schemeClr val="tx1"/>
                </a:solidFill>
              </a:rPr>
              <a:t>5H</a:t>
            </a:r>
            <a:r>
              <a:rPr lang="en-US" altLang="zh-CN" sz="2000" baseline="-25000" dirty="0">
                <a:solidFill>
                  <a:schemeClr val="tx1"/>
                </a:solidFill>
              </a:rPr>
              <a:t>2 </a:t>
            </a:r>
            <a:r>
              <a:rPr lang="en-US" altLang="zh-CN" sz="2000" dirty="0">
                <a:solidFill>
                  <a:schemeClr val="tx1"/>
                </a:solidFill>
              </a:rPr>
              <a:t>O</a:t>
            </a:r>
            <a:br>
              <a:rPr lang="en-US" altLang="zh-CN" sz="2000" dirty="0">
                <a:solidFill>
                  <a:schemeClr val="tx1"/>
                </a:solidFill>
              </a:rPr>
            </a:br>
            <a:r>
              <a:rPr lang="en-US" altLang="zh-CN" sz="1800" baseline="-25000" dirty="0"/>
              <a:t> </a:t>
            </a:r>
            <a:endParaRPr lang="zh-CN" altLang="en-US" sz="1800" baseline="-25000" dirty="0"/>
          </a:p>
        </p:txBody>
      </p:sp>
      <p:sp>
        <p:nvSpPr>
          <p:cNvPr id="19460" name="Line 1028"/>
          <p:cNvSpPr>
            <a:spLocks noChangeShapeType="1"/>
          </p:cNvSpPr>
          <p:nvPr/>
        </p:nvSpPr>
        <p:spPr bwMode="auto">
          <a:xfrm>
            <a:off x="5507990" y="2493010"/>
            <a:ext cx="0" cy="381000"/>
          </a:xfrm>
          <a:prstGeom prst="line">
            <a:avLst/>
          </a:prstGeom>
          <a:noFill/>
          <a:ln w="38100">
            <a:solidFill>
              <a:srgbClr val="0000FF"/>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19459" name="Rectangle 1027"/>
          <p:cNvSpPr>
            <a:spLocks noGrp="1" noRot="1" noChangeArrowheads="1"/>
          </p:cNvSpPr>
          <p:nvPr>
            <p:ph type="body" idx="1"/>
          </p:nvPr>
        </p:nvSpPr>
        <p:spPr>
          <a:xfrm>
            <a:off x="107315" y="3933190"/>
            <a:ext cx="8773795" cy="2667000"/>
          </a:xfrm>
        </p:spPr>
        <p:txBody>
          <a:bodyPr/>
          <a:p>
            <a:pPr>
              <a:lnSpc>
                <a:spcPct val="150000"/>
              </a:lnSpc>
              <a:spcBef>
                <a:spcPct val="0"/>
              </a:spcBef>
              <a:buFont typeface="Wingdings" panose="05000000000000000000" pitchFamily="2" charset="2"/>
              <a:buNone/>
            </a:pPr>
            <a:r>
              <a:rPr lang="zh-CN" altLang="en-US" sz="2800">
                <a:solidFill>
                  <a:srgbClr val="0033CC"/>
                </a:solidFill>
                <a:latin typeface="Times New Roman" panose="02020603050405020304" pitchFamily="18" charset="0"/>
                <a:ea typeface="楷体_GB2312" pitchFamily="49" charset="-122"/>
              </a:rPr>
              <a:t>    氯化锌作电解液电池的锌锰电池</a:t>
            </a:r>
            <a:r>
              <a:rPr lang="zh-CN" altLang="en-US" sz="2800">
                <a:latin typeface="Times New Roman" panose="02020603050405020304" pitchFamily="18" charset="0"/>
                <a:ea typeface="楷体_GB2312" pitchFamily="49" charset="-122"/>
              </a:rPr>
              <a:t>开路电位</a:t>
            </a:r>
            <a:r>
              <a:rPr lang="en-US" altLang="zh-CN" sz="2800">
                <a:latin typeface="Times New Roman" panose="02020603050405020304" pitchFamily="18" charset="0"/>
                <a:ea typeface="楷体_GB2312" pitchFamily="49" charset="-122"/>
              </a:rPr>
              <a:t>1.5 V</a:t>
            </a:r>
            <a:r>
              <a:rPr lang="zh-CN" altLang="en-US" sz="2800">
                <a:latin typeface="Times New Roman" panose="02020603050405020304" pitchFamily="18" charset="0"/>
                <a:ea typeface="楷体_GB2312" pitchFamily="49" charset="-122"/>
              </a:rPr>
              <a:t>，放电电压稳定；水作为反应物被消耗，并转化为结晶水，因此，大大地提高了电池的防漏性能。</a:t>
            </a:r>
            <a:endParaRPr lang="en-US" altLang="zh-CN" sz="2800">
              <a:latin typeface="Times New Roman" panose="02020603050405020304" pitchFamily="18" charset="0"/>
              <a:ea typeface="楷体_GB2312" pitchFamily="49" charset="-122"/>
            </a:endParaRPr>
          </a:p>
        </p:txBody>
      </p:sp>
    </p:spTree>
  </p:cSld>
  <p:clrMapOvr>
    <a:masterClrMapping/>
  </p:clrMapOvr>
  <p:transition>
    <p:randomBar dir="vert"/>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p:txBody>
          <a:bodyPr/>
          <a:lstStyle/>
          <a:p>
            <a:pPr algn="l"/>
            <a:r>
              <a:rPr lang="zh-CN" altLang="en-US" sz="3600">
                <a:solidFill>
                  <a:schemeClr val="tx1"/>
                </a:solidFill>
                <a:ea typeface="黑体" panose="02010609060101010101" pitchFamily="49" charset="-122"/>
              </a:rPr>
              <a:t>纸板式锌锰电池的结构特点</a:t>
            </a:r>
            <a:endParaRPr lang="zh-CN" altLang="en-US" sz="3600">
              <a:solidFill>
                <a:schemeClr val="tx1"/>
              </a:solidFill>
              <a:ea typeface="黑体" panose="02010609060101010101" pitchFamily="49" charset="-122"/>
            </a:endParaRPr>
          </a:p>
        </p:txBody>
      </p:sp>
      <p:sp>
        <p:nvSpPr>
          <p:cNvPr id="20483" name="Rectangle 3"/>
          <p:cNvSpPr>
            <a:spLocks noGrp="1" noRot="1" noChangeArrowheads="1"/>
          </p:cNvSpPr>
          <p:nvPr>
            <p:ph type="body" idx="1"/>
          </p:nvPr>
        </p:nvSpPr>
        <p:spPr>
          <a:xfrm>
            <a:off x="323850" y="1341438"/>
            <a:ext cx="8591550" cy="5211762"/>
          </a:xfrm>
        </p:spPr>
        <p:txBody>
          <a:bodyPr/>
          <a:lstStyle/>
          <a:p>
            <a:pPr>
              <a:lnSpc>
                <a:spcPct val="130000"/>
              </a:lnSpc>
              <a:buFont typeface="Wingdings" panose="05000000000000000000" pitchFamily="2" charset="2"/>
              <a:buNone/>
            </a:pPr>
            <a:r>
              <a:rPr lang="zh-CN" altLang="en-US" sz="2800">
                <a:solidFill>
                  <a:srgbClr val="0033CC"/>
                </a:solidFill>
                <a:latin typeface="楷体_GB2312" pitchFamily="49" charset="-122"/>
                <a:ea typeface="楷体_GB2312" pitchFamily="49" charset="-122"/>
              </a:rPr>
              <a:t>  </a:t>
            </a:r>
            <a:r>
              <a:rPr lang="zh-CN" altLang="en-US" sz="2800">
                <a:solidFill>
                  <a:srgbClr val="0033CC"/>
                </a:solidFill>
                <a:latin typeface="Times New Roman" panose="02020603050405020304" pitchFamily="18" charset="0"/>
                <a:ea typeface="楷体_GB2312" pitchFamily="49" charset="-122"/>
              </a:rPr>
              <a:t>电解液</a:t>
            </a:r>
            <a:r>
              <a:rPr lang="zh-CN" altLang="en-US" sz="2800">
                <a:latin typeface="Times New Roman" panose="02020603050405020304" pitchFamily="18" charset="0"/>
                <a:ea typeface="楷体_GB2312" pitchFamily="49" charset="-122"/>
              </a:rPr>
              <a:t>：</a:t>
            </a:r>
            <a:r>
              <a:rPr lang="en-US" altLang="zh-CN" sz="2800">
                <a:latin typeface="Times New Roman" panose="02020603050405020304" pitchFamily="18" charset="0"/>
                <a:ea typeface="楷体_GB2312" pitchFamily="49" charset="-122"/>
              </a:rPr>
              <a:t>20%</a:t>
            </a:r>
            <a:r>
              <a:rPr lang="en-US" altLang="zh-CN" sz="2800">
                <a:latin typeface="Times New Roman" panose="02020603050405020304" pitchFamily="18" charset="0"/>
                <a:ea typeface="楷体_GB2312" pitchFamily="49" charset="-122"/>
                <a:sym typeface="Symbol" panose="05050102010706020507" pitchFamily="18" charset="2"/>
              </a:rPr>
              <a:t></a:t>
            </a:r>
            <a:r>
              <a:rPr lang="en-US" altLang="zh-CN" sz="2800">
                <a:latin typeface="Times New Roman" panose="02020603050405020304" pitchFamily="18" charset="0"/>
                <a:ea typeface="楷体_GB2312" pitchFamily="49" charset="-122"/>
              </a:rPr>
              <a:t>35% ZnCl</a:t>
            </a:r>
            <a:r>
              <a:rPr lang="en-US" altLang="zh-CN" sz="2800" baseline="-25000">
                <a:latin typeface="Times New Roman" panose="02020603050405020304" pitchFamily="18" charset="0"/>
                <a:ea typeface="楷体_GB2312" pitchFamily="49" charset="-122"/>
              </a:rPr>
              <a:t>2</a:t>
            </a:r>
            <a:r>
              <a:rPr lang="zh-CN" altLang="en-US" sz="2800" baseline="-25000">
                <a:latin typeface="Times New Roman" panose="02020603050405020304" pitchFamily="18" charset="0"/>
                <a:ea typeface="楷体_GB2312" pitchFamily="49" charset="-122"/>
              </a:rPr>
              <a:t>，</a:t>
            </a:r>
            <a:r>
              <a:rPr lang="zh-CN" altLang="en-US" sz="2800">
                <a:latin typeface="Times New Roman" panose="02020603050405020304" pitchFamily="18" charset="0"/>
                <a:ea typeface="楷体_GB2312" pitchFamily="49" charset="-122"/>
              </a:rPr>
              <a:t>添加</a:t>
            </a:r>
            <a:r>
              <a:rPr lang="en-US" altLang="zh-CN" sz="2800">
                <a:latin typeface="Times New Roman" panose="02020603050405020304" pitchFamily="18" charset="0"/>
                <a:ea typeface="楷体_GB2312" pitchFamily="49" charset="-122"/>
              </a:rPr>
              <a:t>NH</a:t>
            </a:r>
            <a:r>
              <a:rPr lang="en-US" altLang="zh-CN" sz="2800" baseline="-25000">
                <a:latin typeface="Times New Roman" panose="02020603050405020304" pitchFamily="18" charset="0"/>
                <a:ea typeface="楷体_GB2312" pitchFamily="49" charset="-122"/>
              </a:rPr>
              <a:t>4</a:t>
            </a:r>
            <a:r>
              <a:rPr lang="en-US" altLang="zh-CN" sz="2800">
                <a:latin typeface="Times New Roman" panose="02020603050405020304" pitchFamily="18" charset="0"/>
                <a:ea typeface="楷体_GB2312" pitchFamily="49" charset="-122"/>
              </a:rPr>
              <a:t>Cl</a:t>
            </a:r>
            <a:r>
              <a:rPr lang="zh-CN" altLang="en-US" sz="2800">
                <a:latin typeface="Times New Roman" panose="02020603050405020304" pitchFamily="18" charset="0"/>
                <a:ea typeface="楷体_GB2312" pitchFamily="49" charset="-122"/>
              </a:rPr>
              <a:t>以减少极化。此外，还添加缓蚀剂，以抑制锌的腐蚀。以往用面粉或玉米淀粉作糊层或浆层纸的浆料，现已使用变性淀粉改善防漏性能，提高放电性能。</a:t>
            </a:r>
            <a:endParaRPr lang="zh-CN" altLang="en-US" sz="2800">
              <a:latin typeface="Times New Roman" panose="02020603050405020304" pitchFamily="18" charset="0"/>
              <a:ea typeface="楷体_GB2312" pitchFamily="49" charset="-122"/>
            </a:endParaRPr>
          </a:p>
          <a:p>
            <a:pPr>
              <a:lnSpc>
                <a:spcPct val="130000"/>
              </a:lnSpc>
              <a:buFont typeface="Wingdings" panose="05000000000000000000" pitchFamily="2" charset="2"/>
              <a:buNone/>
            </a:pPr>
            <a:r>
              <a:rPr lang="zh-CN" altLang="en-US" sz="2800">
                <a:solidFill>
                  <a:srgbClr val="0033CC"/>
                </a:solidFill>
                <a:latin typeface="Times New Roman" panose="02020603050405020304" pitchFamily="18" charset="0"/>
                <a:ea typeface="楷体_GB2312" pitchFamily="49" charset="-122"/>
              </a:rPr>
              <a:t>  负极</a:t>
            </a:r>
            <a:r>
              <a:rPr lang="zh-CN" altLang="en-US" sz="2800">
                <a:latin typeface="Times New Roman" panose="02020603050405020304" pitchFamily="18" charset="0"/>
                <a:ea typeface="楷体_GB2312" pitchFamily="49" charset="-122"/>
              </a:rPr>
              <a:t>：锌含有少量铅（</a:t>
            </a:r>
            <a:r>
              <a:rPr lang="en-US" altLang="zh-CN" sz="2800">
                <a:latin typeface="Times New Roman" panose="02020603050405020304" pitchFamily="18" charset="0"/>
                <a:ea typeface="楷体_GB2312" pitchFamily="49" charset="-122"/>
              </a:rPr>
              <a:t>0.3% </a:t>
            </a:r>
            <a:r>
              <a:rPr lang="en-US" altLang="zh-CN" sz="2800">
                <a:latin typeface="Times New Roman" panose="02020603050405020304" pitchFamily="18" charset="0"/>
                <a:ea typeface="楷体_GB2312" pitchFamily="49" charset="-122"/>
                <a:sym typeface="Symbol" panose="05050102010706020507" pitchFamily="18" charset="2"/>
              </a:rPr>
              <a:t></a:t>
            </a:r>
            <a:r>
              <a:rPr lang="en-US" altLang="zh-CN" sz="2800">
                <a:latin typeface="Times New Roman" panose="02020603050405020304" pitchFamily="18" charset="0"/>
                <a:ea typeface="楷体_GB2312" pitchFamily="49" charset="-122"/>
              </a:rPr>
              <a:t> 0.5%</a:t>
            </a:r>
            <a:r>
              <a:rPr lang="zh-CN" altLang="en-US" sz="2800">
                <a:latin typeface="Times New Roman" panose="02020603050405020304" pitchFamily="18" charset="0"/>
                <a:ea typeface="楷体_GB2312" pitchFamily="49" charset="-122"/>
              </a:rPr>
              <a:t>）和镉（</a:t>
            </a:r>
            <a:r>
              <a:rPr lang="en-US" altLang="zh-CN" sz="2800">
                <a:latin typeface="Times New Roman" panose="02020603050405020304" pitchFamily="18" charset="0"/>
                <a:ea typeface="楷体_GB2312" pitchFamily="49" charset="-122"/>
              </a:rPr>
              <a:t>0.2% </a:t>
            </a:r>
            <a:r>
              <a:rPr lang="en-US" altLang="zh-CN" sz="2800">
                <a:latin typeface="Times New Roman" panose="02020603050405020304" pitchFamily="18" charset="0"/>
                <a:ea typeface="楷体_GB2312" pitchFamily="49" charset="-122"/>
                <a:sym typeface="Symbol" panose="05050102010706020507" pitchFamily="18" charset="2"/>
              </a:rPr>
              <a:t></a:t>
            </a:r>
            <a:r>
              <a:rPr lang="en-US" altLang="zh-CN" sz="2800">
                <a:latin typeface="Times New Roman" panose="02020603050405020304" pitchFamily="18" charset="0"/>
                <a:ea typeface="楷体_GB2312" pitchFamily="49" charset="-122"/>
              </a:rPr>
              <a:t> 0.3%</a:t>
            </a:r>
            <a:r>
              <a:rPr lang="zh-CN" altLang="en-US" sz="2800">
                <a:latin typeface="Times New Roman" panose="02020603050405020304" pitchFamily="18" charset="0"/>
                <a:ea typeface="楷体_GB2312" pitchFamily="49" charset="-122"/>
              </a:rPr>
              <a:t>），前者改善其延展性，后者可提高其强度，并可提高锌电极上的氢过电位。为减少锌的腐蚀，常使锌表面汞齐化，并严格控制镍、铁、铜等杂质的含量。</a:t>
            </a:r>
            <a:endParaRPr lang="zh-CN" altLang="en-US" sz="2800">
              <a:latin typeface="Times New Roman" panose="02020603050405020304" pitchFamily="18" charset="0"/>
              <a:ea typeface="楷体_GB2312" pitchFamily="49" charset="-122"/>
            </a:endParaRPr>
          </a:p>
        </p:txBody>
      </p:sp>
    </p:spTree>
  </p:cSld>
  <p:clrMapOvr>
    <a:masterClrMapping/>
  </p:clrMapOvr>
  <p:transition>
    <p:randomBar dir="vert"/>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3"/>
          <p:cNvSpPr>
            <a:spLocks noGrp="1" noRot="1" noChangeArrowheads="1"/>
          </p:cNvSpPr>
          <p:nvPr>
            <p:ph type="body" idx="1"/>
          </p:nvPr>
        </p:nvSpPr>
        <p:spPr>
          <a:xfrm>
            <a:off x="-127000" y="395288"/>
            <a:ext cx="9372600" cy="5624512"/>
          </a:xfrm>
        </p:spPr>
        <p:txBody>
          <a:bodyPr/>
          <a:lstStyle/>
          <a:p>
            <a:pPr>
              <a:lnSpc>
                <a:spcPct val="140000"/>
              </a:lnSpc>
              <a:spcBef>
                <a:spcPct val="0"/>
              </a:spcBef>
              <a:buFont typeface="Wingdings" panose="05000000000000000000" pitchFamily="2" charset="2"/>
              <a:buNone/>
            </a:pPr>
            <a:r>
              <a:rPr lang="zh-CN" altLang="en-US" sz="2800">
                <a:solidFill>
                  <a:srgbClr val="0033CC"/>
                </a:solidFill>
                <a:latin typeface="楷体_GB2312" pitchFamily="49" charset="-122"/>
                <a:ea typeface="楷体_GB2312" pitchFamily="49" charset="-122"/>
              </a:rPr>
              <a:t>  正极集流体</a:t>
            </a:r>
            <a:r>
              <a:rPr lang="zh-CN" altLang="en-US" sz="2800">
                <a:latin typeface="楷体_GB2312" pitchFamily="49" charset="-122"/>
                <a:ea typeface="楷体_GB2312" pitchFamily="49" charset="-122"/>
              </a:rPr>
              <a:t>：碳棒，由石墨和沥青（酚醛树脂）制成。为防止碳棒孔滤过多，要把碳棒在真空中浸蜡碳棒的电阻一般在</a:t>
            </a:r>
            <a:r>
              <a:rPr lang="en-US" altLang="zh-CN" sz="2800">
                <a:latin typeface="Times New Roman" panose="02020603050405020304" pitchFamily="18" charset="0"/>
                <a:ea typeface="楷体_GB2312" pitchFamily="49" charset="-122"/>
              </a:rPr>
              <a:t>3 </a:t>
            </a:r>
            <a:r>
              <a:rPr lang="en-US" altLang="zh-CN" sz="2800">
                <a:latin typeface="Times New Roman" panose="02020603050405020304" pitchFamily="18" charset="0"/>
                <a:ea typeface="楷体_GB2312" pitchFamily="49" charset="-122"/>
                <a:sym typeface="Symbol" panose="05050102010706020507" pitchFamily="18" charset="2"/>
              </a:rPr>
              <a:t></a:t>
            </a:r>
            <a:r>
              <a:rPr lang="en-US" altLang="zh-CN" sz="2800">
                <a:latin typeface="Times New Roman" panose="02020603050405020304" pitchFamily="18" charset="0"/>
                <a:ea typeface="楷体_GB2312" pitchFamily="49" charset="-122"/>
              </a:rPr>
              <a:t> 5 mΩ</a:t>
            </a:r>
            <a:r>
              <a:rPr lang="zh-CN" altLang="en-US" sz="2800">
                <a:latin typeface="楷体_GB2312" pitchFamily="49" charset="-122"/>
                <a:ea typeface="楷体_GB2312" pitchFamily="49" charset="-122"/>
              </a:rPr>
              <a:t>之间。</a:t>
            </a:r>
            <a:endParaRPr lang="zh-CN" altLang="en-US" sz="2800">
              <a:latin typeface="楷体_GB2312" pitchFamily="49" charset="-122"/>
              <a:ea typeface="楷体_GB2312" pitchFamily="49" charset="-122"/>
            </a:endParaRPr>
          </a:p>
          <a:p>
            <a:pPr>
              <a:lnSpc>
                <a:spcPct val="140000"/>
              </a:lnSpc>
              <a:spcBef>
                <a:spcPct val="0"/>
              </a:spcBef>
              <a:buFont typeface="Wingdings" panose="05000000000000000000" pitchFamily="2" charset="2"/>
              <a:buNone/>
            </a:pPr>
            <a:r>
              <a:rPr lang="zh-CN" altLang="en-US" sz="2800">
                <a:solidFill>
                  <a:srgbClr val="0033CC"/>
                </a:solidFill>
                <a:latin typeface="楷体_GB2312" pitchFamily="49" charset="-122"/>
                <a:ea typeface="楷体_GB2312" pitchFamily="49" charset="-122"/>
              </a:rPr>
              <a:t>  密封剂</a:t>
            </a:r>
            <a:r>
              <a:rPr lang="zh-CN" altLang="en-US" sz="2800">
                <a:latin typeface="楷体_GB2312" pitchFamily="49" charset="-122"/>
                <a:ea typeface="楷体_GB2312" pitchFamily="49" charset="-122"/>
              </a:rPr>
              <a:t>：目前所用密封剂主要是沥青，加入少量石蜡与树脂，也有塑料封口的。必须保证</a:t>
            </a:r>
            <a:r>
              <a:rPr lang="en-US" altLang="zh-CN" sz="2800">
                <a:latin typeface="Times New Roman" panose="02020603050405020304" pitchFamily="18" charset="0"/>
                <a:ea typeface="楷体_GB2312" pitchFamily="49" charset="-122"/>
              </a:rPr>
              <a:t>60 </a:t>
            </a:r>
            <a:r>
              <a:rPr lang="en-US" altLang="zh-CN" sz="2800">
                <a:latin typeface="Times New Roman" panose="02020603050405020304" pitchFamily="18" charset="0"/>
                <a:ea typeface="楷体_GB2312" pitchFamily="49" charset="-122"/>
                <a:sym typeface="Symbol" panose="05050102010706020507" pitchFamily="18" charset="2"/>
              </a:rPr>
              <a:t></a:t>
            </a:r>
            <a:r>
              <a:rPr lang="en-US" altLang="zh-CN" sz="2800">
                <a:latin typeface="Times New Roman" panose="02020603050405020304" pitchFamily="18" charset="0"/>
                <a:ea typeface="楷体_GB2312" pitchFamily="49" charset="-122"/>
              </a:rPr>
              <a:t> 70 </a:t>
            </a:r>
            <a:r>
              <a:rPr lang="en-US" altLang="zh-CN" sz="2800" baseline="30000">
                <a:latin typeface="Times New Roman" panose="02020603050405020304" pitchFamily="18" charset="0"/>
                <a:ea typeface="楷体_GB2312" pitchFamily="49" charset="-122"/>
              </a:rPr>
              <a:t>o</a:t>
            </a:r>
            <a:r>
              <a:rPr lang="en-US" altLang="zh-CN" sz="2800">
                <a:latin typeface="Times New Roman" panose="02020603050405020304" pitchFamily="18" charset="0"/>
                <a:ea typeface="楷体_GB2312" pitchFamily="49" charset="-122"/>
              </a:rPr>
              <a:t>C</a:t>
            </a:r>
            <a:r>
              <a:rPr lang="zh-CN" altLang="en-US" sz="2800">
                <a:latin typeface="楷体_GB2312" pitchFamily="49" charset="-122"/>
                <a:ea typeface="楷体_GB2312" pitchFamily="49" charset="-122"/>
              </a:rPr>
              <a:t>下保持不变形，而且有良好的气密性。</a:t>
            </a:r>
            <a:endParaRPr lang="zh-CN" altLang="en-US" sz="2800">
              <a:latin typeface="楷体_GB2312" pitchFamily="49" charset="-122"/>
              <a:ea typeface="楷体_GB2312" pitchFamily="49" charset="-122"/>
            </a:endParaRPr>
          </a:p>
          <a:p>
            <a:pPr>
              <a:lnSpc>
                <a:spcPct val="140000"/>
              </a:lnSpc>
              <a:spcBef>
                <a:spcPct val="0"/>
              </a:spcBef>
              <a:buFont typeface="Wingdings" panose="05000000000000000000" pitchFamily="2" charset="2"/>
              <a:buNone/>
            </a:pPr>
            <a:r>
              <a:rPr lang="zh-CN" altLang="en-US" sz="2800">
                <a:solidFill>
                  <a:srgbClr val="0033CC"/>
                </a:solidFill>
                <a:latin typeface="楷体_GB2312" pitchFamily="49" charset="-122"/>
                <a:ea typeface="楷体_GB2312" pitchFamily="49" charset="-122"/>
              </a:rPr>
              <a:t>  外壳</a:t>
            </a:r>
            <a:r>
              <a:rPr lang="zh-CN" altLang="en-US" sz="2800">
                <a:latin typeface="楷体_GB2312" pitchFamily="49" charset="-122"/>
                <a:ea typeface="楷体_GB2312" pitchFamily="49" charset="-122"/>
              </a:rPr>
              <a:t>：纸壳、金属壳、塑料三种。</a:t>
            </a:r>
            <a:endParaRPr lang="zh-CN" altLang="en-US" sz="2800">
              <a:latin typeface="楷体_GB2312" pitchFamily="49" charset="-122"/>
              <a:ea typeface="楷体_GB2312" pitchFamily="49" charset="-122"/>
            </a:endParaRPr>
          </a:p>
          <a:p>
            <a:pPr>
              <a:lnSpc>
                <a:spcPct val="140000"/>
              </a:lnSpc>
              <a:spcBef>
                <a:spcPct val="0"/>
              </a:spcBef>
              <a:buFont typeface="Wingdings" panose="05000000000000000000" pitchFamily="2" charset="2"/>
              <a:buNone/>
            </a:pPr>
            <a:r>
              <a:rPr lang="zh-CN" altLang="en-US" sz="2800">
                <a:solidFill>
                  <a:srgbClr val="0033CC"/>
                </a:solidFill>
                <a:latin typeface="楷体_GB2312" pitchFamily="49" charset="-122"/>
                <a:ea typeface="楷体_GB2312" pitchFamily="49" charset="-122"/>
              </a:rPr>
              <a:t>  结构形式</a:t>
            </a:r>
            <a:r>
              <a:rPr lang="zh-CN" altLang="en-US" sz="2800">
                <a:latin typeface="楷体_GB2312" pitchFamily="49" charset="-122"/>
                <a:ea typeface="楷体_GB2312" pitchFamily="49" charset="-122"/>
              </a:rPr>
              <a:t>：常用的锌锰干电池有圆筒式和迭层式两种。</a:t>
            </a:r>
            <a:endParaRPr lang="zh-CN" altLang="en-US" sz="2800">
              <a:latin typeface="楷体_GB2312" pitchFamily="49" charset="-122"/>
              <a:ea typeface="楷体_GB2312" pitchFamily="49" charset="-122"/>
            </a:endParaRPr>
          </a:p>
        </p:txBody>
      </p:sp>
    </p:spTree>
  </p:cSld>
  <p:clrMapOvr>
    <a:masterClrMapping/>
  </p:clrMapOvr>
  <p:transition>
    <p:randomBar dir="vert"/>
  </p:transition>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3"/>
          <p:cNvSpPr>
            <a:spLocks noGrp="1" noRot="1" noChangeArrowheads="1"/>
          </p:cNvSpPr>
          <p:nvPr>
            <p:ph type="body" idx="1"/>
          </p:nvPr>
        </p:nvSpPr>
        <p:spPr>
          <a:xfrm>
            <a:off x="323850" y="1125538"/>
            <a:ext cx="8540750" cy="4270375"/>
          </a:xfrm>
        </p:spPr>
        <p:txBody>
          <a:bodyPr/>
          <a:lstStyle/>
          <a:p>
            <a:pPr>
              <a:lnSpc>
                <a:spcPct val="150000"/>
              </a:lnSpc>
              <a:buClr>
                <a:srgbClr val="FF3300"/>
              </a:buClr>
              <a:buFont typeface="Wingdings" panose="05000000000000000000" pitchFamily="2" charset="2"/>
              <a:buChar char="v"/>
            </a:pPr>
            <a:r>
              <a:rPr lang="zh-CN" altLang="en-US" sz="2800" b="0">
                <a:latin typeface="黑体" panose="02010609060101010101" pitchFamily="49" charset="-122"/>
                <a:ea typeface="黑体" panose="02010609060101010101" pitchFamily="49" charset="-122"/>
              </a:rPr>
              <a:t>干电池在高温及潮湿环境下贮存，自放电较为严重，主要是</a:t>
            </a:r>
            <a:r>
              <a:rPr lang="zh-CN" altLang="en-US" sz="2800">
                <a:latin typeface="黑体" panose="02010609060101010101" pitchFamily="49" charset="-122"/>
                <a:ea typeface="黑体" panose="02010609060101010101" pitchFamily="49" charset="-122"/>
              </a:rPr>
              <a:t>负极锌腐蚀</a:t>
            </a:r>
            <a:r>
              <a:rPr lang="zh-CN" altLang="en-US" sz="2800" b="0">
                <a:latin typeface="黑体" panose="02010609060101010101" pitchFamily="49" charset="-122"/>
                <a:ea typeface="黑体" panose="02010609060101010101" pitchFamily="49" charset="-122"/>
              </a:rPr>
              <a:t>引起。</a:t>
            </a:r>
            <a:endParaRPr lang="zh-CN" altLang="en-US" sz="2800" b="0">
              <a:latin typeface="黑体" panose="02010609060101010101" pitchFamily="49" charset="-122"/>
              <a:ea typeface="黑体" panose="02010609060101010101" pitchFamily="49" charset="-122"/>
            </a:endParaRPr>
          </a:p>
          <a:p>
            <a:pPr>
              <a:lnSpc>
                <a:spcPct val="150000"/>
              </a:lnSpc>
              <a:buClr>
                <a:srgbClr val="FF3300"/>
              </a:buClr>
              <a:buFont typeface="Wingdings" panose="05000000000000000000" pitchFamily="2" charset="2"/>
              <a:buChar char="v"/>
            </a:pPr>
            <a:r>
              <a:rPr lang="zh-CN" altLang="en-US" sz="2800" b="0">
                <a:latin typeface="黑体" panose="02010609060101010101" pitchFamily="49" charset="-122"/>
                <a:ea typeface="黑体" panose="02010609060101010101" pitchFamily="49" charset="-122"/>
              </a:rPr>
              <a:t>在低温下贮存自放电较小，但如果密封不好使氧气进入电池，则自放电加剧。</a:t>
            </a:r>
            <a:endParaRPr lang="zh-CN" altLang="en-US" sz="2800" b="0">
              <a:latin typeface="黑体" panose="02010609060101010101" pitchFamily="49" charset="-122"/>
              <a:ea typeface="黑体" panose="02010609060101010101" pitchFamily="49" charset="-122"/>
            </a:endParaRPr>
          </a:p>
          <a:p>
            <a:pPr>
              <a:lnSpc>
                <a:spcPct val="150000"/>
              </a:lnSpc>
              <a:buClr>
                <a:srgbClr val="FF3300"/>
              </a:buClr>
              <a:buFont typeface="Wingdings" panose="05000000000000000000" pitchFamily="2" charset="2"/>
              <a:buChar char="v"/>
            </a:pPr>
            <a:r>
              <a:rPr lang="zh-CN" altLang="en-US" sz="2800" b="0">
                <a:latin typeface="黑体" panose="02010609060101010101" pitchFamily="49" charset="-122"/>
                <a:ea typeface="黑体" panose="02010609060101010101" pitchFamily="49" charset="-122"/>
              </a:rPr>
              <a:t>因自放电而产生的氢气积累到一定程度会发生气胀或漏液，这是应该防止的。</a:t>
            </a:r>
            <a:endParaRPr lang="zh-CN" altLang="en-US" sz="2800" b="0">
              <a:latin typeface="黑体" panose="02010609060101010101" pitchFamily="49" charset="-122"/>
              <a:ea typeface="黑体" panose="02010609060101010101" pitchFamily="49" charset="-122"/>
            </a:endParaRPr>
          </a:p>
        </p:txBody>
      </p:sp>
    </p:spTree>
  </p:cSld>
  <p:clrMapOvr>
    <a:masterClrMapping/>
  </p:clrMapOvr>
  <p:transition>
    <p:randomBar dir="vert"/>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3"/>
          <p:cNvSpPr>
            <a:spLocks noGrp="1" noRot="1" noChangeArrowheads="1"/>
          </p:cNvSpPr>
          <p:nvPr>
            <p:ph type="body" idx="1"/>
          </p:nvPr>
        </p:nvSpPr>
        <p:spPr>
          <a:xfrm>
            <a:off x="120650" y="1773238"/>
            <a:ext cx="8820150" cy="4627562"/>
          </a:xfrm>
        </p:spPr>
        <p:txBody>
          <a:bodyPr/>
          <a:lstStyle/>
          <a:p>
            <a:pPr>
              <a:lnSpc>
                <a:spcPct val="130000"/>
              </a:lnSpc>
              <a:buFont typeface="Wingdings" panose="05000000000000000000" pitchFamily="2" charset="2"/>
              <a:buNone/>
            </a:pPr>
            <a:r>
              <a:rPr lang="zh-CN" altLang="en-US" sz="2800">
                <a:ea typeface="楷体_GB2312" pitchFamily="49" charset="-122"/>
              </a:rPr>
              <a:t>          </a:t>
            </a:r>
            <a:r>
              <a:rPr lang="zh-CN" altLang="en-US" sz="2800">
                <a:latin typeface="Times New Roman" panose="02020603050405020304" pitchFamily="18" charset="0"/>
                <a:ea typeface="楷体_GB2312" pitchFamily="49" charset="-122"/>
              </a:rPr>
              <a:t>碱性锌锰电池与锌锰干电池相比，放电性能和贮存性能都更好。比能量高于锌锰干电池，价格虽然较贵，但可较好地满足使用要求。因此20世纪60年代以来得到迅速发展，而且已大量生产。</a:t>
            </a:r>
            <a:endParaRPr lang="zh-CN" altLang="en-US" sz="2800">
              <a:latin typeface="Times New Roman" panose="02020603050405020304" pitchFamily="18" charset="0"/>
              <a:ea typeface="楷体_GB2312" pitchFamily="49" charset="-122"/>
            </a:endParaRPr>
          </a:p>
          <a:p>
            <a:pPr>
              <a:lnSpc>
                <a:spcPct val="130000"/>
              </a:lnSpc>
              <a:buFont typeface="Wingdings" panose="05000000000000000000" pitchFamily="2" charset="2"/>
              <a:buNone/>
            </a:pPr>
            <a:r>
              <a:rPr lang="zh-CN" altLang="en-US" sz="2800">
                <a:latin typeface="Times New Roman" panose="02020603050405020304" pitchFamily="18" charset="0"/>
                <a:ea typeface="楷体_GB2312" pitchFamily="49" charset="-122"/>
              </a:rPr>
              <a:t>           碱性锌锰电池所使用电极活性物质与普通锌锰干电池相同，但其电解液则是</a:t>
            </a:r>
            <a:r>
              <a:rPr lang="en-US" altLang="zh-CN" sz="2800">
                <a:solidFill>
                  <a:srgbClr val="FF0000"/>
                </a:solidFill>
                <a:latin typeface="Times New Roman" panose="02020603050405020304" pitchFamily="18" charset="0"/>
                <a:ea typeface="楷体_GB2312" pitchFamily="49" charset="-122"/>
              </a:rPr>
              <a:t>KOH</a:t>
            </a:r>
            <a:r>
              <a:rPr lang="zh-CN" altLang="en-US" sz="2800">
                <a:solidFill>
                  <a:srgbClr val="FF0000"/>
                </a:solidFill>
                <a:latin typeface="Times New Roman" panose="02020603050405020304" pitchFamily="18" charset="0"/>
                <a:ea typeface="楷体_GB2312" pitchFamily="49" charset="-122"/>
              </a:rPr>
              <a:t>溶液</a:t>
            </a:r>
            <a:r>
              <a:rPr lang="zh-CN" altLang="en-US" sz="2800">
                <a:latin typeface="Times New Roman" panose="02020603050405020304" pitchFamily="18" charset="0"/>
                <a:ea typeface="楷体_GB2312" pitchFamily="49" charset="-122"/>
              </a:rPr>
              <a:t>。</a:t>
            </a:r>
            <a:r>
              <a:rPr lang="en-US" altLang="zh-CN" sz="2800">
                <a:latin typeface="Times New Roman" panose="02020603050405020304" pitchFamily="18" charset="0"/>
                <a:ea typeface="楷体_GB2312" pitchFamily="49" charset="-122"/>
              </a:rPr>
              <a:t>KOH</a:t>
            </a:r>
            <a:r>
              <a:rPr lang="zh-CN" altLang="en-US" sz="2800">
                <a:latin typeface="Times New Roman" panose="02020603050405020304" pitchFamily="18" charset="0"/>
                <a:ea typeface="楷体_GB2312" pitchFamily="49" charset="-122"/>
              </a:rPr>
              <a:t>液较之</a:t>
            </a:r>
            <a:r>
              <a:rPr lang="en-US" altLang="zh-CN" sz="2800">
                <a:latin typeface="Times New Roman" panose="02020603050405020304" pitchFamily="18" charset="0"/>
                <a:ea typeface="楷体_GB2312" pitchFamily="49" charset="-122"/>
              </a:rPr>
              <a:t>NH</a:t>
            </a:r>
            <a:r>
              <a:rPr lang="en-US" altLang="zh-CN" sz="2800" baseline="-25000">
                <a:latin typeface="Times New Roman" panose="02020603050405020304" pitchFamily="18" charset="0"/>
                <a:ea typeface="楷体_GB2312" pitchFamily="49" charset="-122"/>
              </a:rPr>
              <a:t>4</a:t>
            </a:r>
            <a:r>
              <a:rPr lang="en-US" altLang="zh-CN" sz="2800">
                <a:latin typeface="Times New Roman" panose="02020603050405020304" pitchFamily="18" charset="0"/>
                <a:ea typeface="楷体_GB2312" pitchFamily="49" charset="-122"/>
              </a:rPr>
              <a:t>Cl、ZnCl</a:t>
            </a:r>
            <a:r>
              <a:rPr lang="en-US" altLang="zh-CN" sz="2800" baseline="-25000">
                <a:latin typeface="Times New Roman" panose="02020603050405020304" pitchFamily="18" charset="0"/>
                <a:ea typeface="楷体_GB2312" pitchFamily="49" charset="-122"/>
              </a:rPr>
              <a:t>2</a:t>
            </a:r>
            <a:r>
              <a:rPr lang="zh-CN" altLang="en-US" sz="2800">
                <a:latin typeface="Times New Roman" panose="02020603050405020304" pitchFamily="18" charset="0"/>
                <a:ea typeface="楷体_GB2312" pitchFamily="49" charset="-122"/>
              </a:rPr>
              <a:t>液有</a:t>
            </a:r>
            <a:r>
              <a:rPr lang="zh-CN" altLang="en-US" sz="2800">
                <a:solidFill>
                  <a:srgbClr val="FF0000"/>
                </a:solidFill>
                <a:latin typeface="Times New Roman" panose="02020603050405020304" pitchFamily="18" charset="0"/>
                <a:ea typeface="楷体_GB2312" pitchFamily="49" charset="-122"/>
              </a:rPr>
              <a:t>强得多的导电能力</a:t>
            </a:r>
            <a:r>
              <a:rPr lang="zh-CN" altLang="en-US" sz="2800">
                <a:latin typeface="Times New Roman" panose="02020603050405020304" pitchFamily="18" charset="0"/>
                <a:ea typeface="楷体_GB2312" pitchFamily="49" charset="-122"/>
              </a:rPr>
              <a:t>，反应机理也与干电池不同。</a:t>
            </a:r>
            <a:endParaRPr lang="zh-CN" altLang="en-US" sz="2800">
              <a:latin typeface="Times New Roman" panose="02020603050405020304" pitchFamily="18" charset="0"/>
              <a:ea typeface="楷体_GB2312" pitchFamily="49" charset="-122"/>
            </a:endParaRPr>
          </a:p>
        </p:txBody>
      </p:sp>
      <p:sp>
        <p:nvSpPr>
          <p:cNvPr id="23555" name="Rectangle 2"/>
          <p:cNvSpPr>
            <a:spLocks noRot="1" noChangeArrowheads="1"/>
          </p:cNvSpPr>
          <p:nvPr/>
        </p:nvSpPr>
        <p:spPr bwMode="auto">
          <a:xfrm>
            <a:off x="393700" y="457200"/>
            <a:ext cx="8540750" cy="8382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eaLnBrk="1" hangingPunct="1"/>
            <a:r>
              <a:rPr lang="en-US" altLang="zh-CN" sz="4000">
                <a:solidFill>
                  <a:schemeClr val="tx1"/>
                </a:solidFill>
              </a:rPr>
              <a:t>3.2.2 </a:t>
            </a:r>
            <a:r>
              <a:rPr lang="zh-CN" altLang="en-US" sz="4000">
                <a:solidFill>
                  <a:schemeClr val="tx1"/>
                </a:solidFill>
              </a:rPr>
              <a:t>碱性锌锰电池</a:t>
            </a:r>
            <a:endParaRPr lang="zh-CN" altLang="en-US" sz="4000">
              <a:solidFill>
                <a:schemeClr val="tx1"/>
              </a:solidFill>
            </a:endParaRPr>
          </a:p>
        </p:txBody>
      </p:sp>
    </p:spTree>
  </p:cSld>
  <p:clrMapOvr>
    <a:masterClrMapping/>
  </p:clrMapOvr>
  <p:transition>
    <p:randomBar dir="vert"/>
  </p:transition>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1026"/>
          <p:cNvSpPr>
            <a:spLocks noGrp="1" noRot="1" noChangeArrowheads="1"/>
          </p:cNvSpPr>
          <p:nvPr>
            <p:ph type="title"/>
          </p:nvPr>
        </p:nvSpPr>
        <p:spPr>
          <a:xfrm>
            <a:off x="119063" y="425450"/>
            <a:ext cx="8991600" cy="2089150"/>
          </a:xfrm>
          <a:solidFill>
            <a:schemeClr val="bg1"/>
          </a:solidFill>
        </p:spPr>
        <p:txBody>
          <a:bodyPr/>
          <a:lstStyle/>
          <a:p>
            <a:pPr algn="l"/>
            <a:r>
              <a:rPr lang="en-US" altLang="zh-CN" sz="2400" dirty="0">
                <a:solidFill>
                  <a:srgbClr val="0033CC"/>
                </a:solidFill>
              </a:rPr>
              <a:t>(-)Zn</a:t>
            </a:r>
            <a:r>
              <a:rPr lang="en-US" altLang="zh-CN" sz="2400" dirty="0">
                <a:solidFill>
                  <a:schemeClr val="tx1"/>
                </a:solidFill>
              </a:rPr>
              <a:t> | KOH</a:t>
            </a:r>
            <a:r>
              <a:rPr lang="zh-CN" altLang="en-US" sz="2400" dirty="0">
                <a:solidFill>
                  <a:schemeClr val="tx1"/>
                </a:solidFill>
              </a:rPr>
              <a:t>（ </a:t>
            </a:r>
            <a:r>
              <a:rPr lang="en-US" altLang="zh-CN" sz="2400" dirty="0" err="1">
                <a:solidFill>
                  <a:schemeClr val="tx1"/>
                </a:solidFill>
              </a:rPr>
              <a:t>aq</a:t>
            </a:r>
            <a:r>
              <a:rPr lang="en-US" altLang="zh-CN" sz="2400" dirty="0">
                <a:solidFill>
                  <a:schemeClr val="tx1"/>
                </a:solidFill>
              </a:rPr>
              <a:t>) | MnO</a:t>
            </a:r>
            <a:r>
              <a:rPr lang="en-US" altLang="zh-CN" sz="2400" baseline="-25000" dirty="0">
                <a:solidFill>
                  <a:schemeClr val="tx1"/>
                </a:solidFill>
              </a:rPr>
              <a:t>2</a:t>
            </a:r>
            <a:r>
              <a:rPr lang="en-US" altLang="zh-CN" sz="2400" dirty="0">
                <a:solidFill>
                  <a:schemeClr val="tx1"/>
                </a:solidFill>
              </a:rPr>
              <a:t> | </a:t>
            </a:r>
            <a:r>
              <a:rPr lang="en-US" altLang="zh-CN" sz="2400" dirty="0">
                <a:solidFill>
                  <a:srgbClr val="FF3300"/>
                </a:solidFill>
              </a:rPr>
              <a:t>C(+)</a:t>
            </a:r>
            <a:br>
              <a:rPr lang="en-US" altLang="zh-CN" sz="2400" dirty="0">
                <a:solidFill>
                  <a:srgbClr val="FF3300"/>
                </a:solidFill>
              </a:rPr>
            </a:br>
            <a:r>
              <a:rPr lang="zh-CN" altLang="en-US" sz="2000" dirty="0">
                <a:solidFill>
                  <a:srgbClr val="0033CC"/>
                </a:solidFill>
              </a:rPr>
              <a:t>负极：</a:t>
            </a:r>
            <a:r>
              <a:rPr lang="zh-CN" altLang="en-US" sz="2000" dirty="0">
                <a:solidFill>
                  <a:schemeClr val="tx1"/>
                </a:solidFill>
              </a:rPr>
              <a:t> </a:t>
            </a:r>
            <a:r>
              <a:rPr lang="en-US" altLang="zh-CN" sz="2000" dirty="0">
                <a:solidFill>
                  <a:schemeClr val="tx1"/>
                </a:solidFill>
              </a:rPr>
              <a:t>Zn(s) + 2OH</a:t>
            </a:r>
            <a:r>
              <a:rPr lang="en-US" altLang="zh-CN" sz="2000" baseline="30000" dirty="0">
                <a:solidFill>
                  <a:schemeClr val="tx1"/>
                </a:solidFill>
              </a:rPr>
              <a:t>-</a:t>
            </a:r>
            <a:r>
              <a:rPr lang="en-US" altLang="zh-CN" sz="2000" dirty="0">
                <a:solidFill>
                  <a:schemeClr val="tx1"/>
                </a:solidFill>
              </a:rPr>
              <a:t>(</a:t>
            </a:r>
            <a:r>
              <a:rPr lang="en-US" altLang="zh-CN" sz="2000" dirty="0" err="1">
                <a:solidFill>
                  <a:schemeClr val="tx1"/>
                </a:solidFill>
              </a:rPr>
              <a:t>aq</a:t>
            </a:r>
            <a:r>
              <a:rPr lang="en-US" altLang="zh-CN" sz="2000" dirty="0">
                <a:solidFill>
                  <a:schemeClr val="tx1"/>
                </a:solidFill>
              </a:rPr>
              <a:t>)  = </a:t>
            </a:r>
            <a:r>
              <a:rPr lang="en-US" altLang="zh-CN" sz="2000" dirty="0" err="1">
                <a:solidFill>
                  <a:schemeClr val="tx1"/>
                </a:solidFill>
              </a:rPr>
              <a:t>ZnO</a:t>
            </a:r>
            <a:r>
              <a:rPr lang="en-US" altLang="zh-CN" sz="2000" dirty="0">
                <a:solidFill>
                  <a:schemeClr val="tx1"/>
                </a:solidFill>
              </a:rPr>
              <a:t> (s) + H</a:t>
            </a:r>
            <a:r>
              <a:rPr lang="en-US" altLang="zh-CN" sz="2000" baseline="-25000" dirty="0">
                <a:solidFill>
                  <a:schemeClr val="tx1"/>
                </a:solidFill>
              </a:rPr>
              <a:t>2</a:t>
            </a:r>
            <a:r>
              <a:rPr lang="en-US" altLang="zh-CN" sz="2000" dirty="0">
                <a:solidFill>
                  <a:schemeClr val="tx1"/>
                </a:solidFill>
              </a:rPr>
              <a:t>O</a:t>
            </a:r>
            <a:r>
              <a:rPr lang="en-US" altLang="zh-CN" sz="2000" baseline="-25000" dirty="0">
                <a:solidFill>
                  <a:schemeClr val="tx1"/>
                </a:solidFill>
              </a:rPr>
              <a:t> </a:t>
            </a:r>
            <a:r>
              <a:rPr lang="en-US" altLang="zh-CN" sz="2000" dirty="0">
                <a:solidFill>
                  <a:schemeClr val="tx1"/>
                </a:solidFill>
              </a:rPr>
              <a:t>+ 2e</a:t>
            </a:r>
            <a:br>
              <a:rPr lang="en-US" altLang="zh-CN" sz="2000" dirty="0">
                <a:solidFill>
                  <a:schemeClr val="tx1"/>
                </a:solidFill>
              </a:rPr>
            </a:br>
            <a:r>
              <a:rPr lang="zh-CN" altLang="en-US" sz="2000" dirty="0">
                <a:solidFill>
                  <a:srgbClr val="FF3300"/>
                </a:solidFill>
              </a:rPr>
              <a:t>正极：</a:t>
            </a:r>
            <a:r>
              <a:rPr lang="zh-CN" altLang="en-US" sz="2000" dirty="0">
                <a:solidFill>
                  <a:schemeClr val="tx1"/>
                </a:solidFill>
              </a:rPr>
              <a:t> </a:t>
            </a:r>
            <a:r>
              <a:rPr lang="en-US" altLang="zh-CN" sz="2000" dirty="0">
                <a:solidFill>
                  <a:schemeClr val="tx1"/>
                </a:solidFill>
              </a:rPr>
              <a:t>2MnO</a:t>
            </a:r>
            <a:r>
              <a:rPr lang="en-US" altLang="zh-CN" sz="2000" baseline="-25000" dirty="0">
                <a:solidFill>
                  <a:schemeClr val="tx1"/>
                </a:solidFill>
              </a:rPr>
              <a:t>2</a:t>
            </a:r>
            <a:r>
              <a:rPr lang="zh-CN" altLang="en-US" sz="2000" dirty="0">
                <a:solidFill>
                  <a:schemeClr val="tx1"/>
                </a:solidFill>
              </a:rPr>
              <a:t>(</a:t>
            </a:r>
            <a:r>
              <a:rPr lang="en-US" altLang="zh-CN" sz="2000" dirty="0">
                <a:solidFill>
                  <a:schemeClr val="tx1"/>
                </a:solidFill>
              </a:rPr>
              <a:t>s)+ 2H</a:t>
            </a:r>
            <a:r>
              <a:rPr lang="en-US" altLang="zh-CN" sz="2000" baseline="-25000" dirty="0">
                <a:solidFill>
                  <a:schemeClr val="tx1"/>
                </a:solidFill>
              </a:rPr>
              <a:t>2</a:t>
            </a:r>
            <a:r>
              <a:rPr lang="en-US" altLang="zh-CN" sz="2000" dirty="0">
                <a:solidFill>
                  <a:schemeClr val="tx1"/>
                </a:solidFill>
              </a:rPr>
              <a:t>O(</a:t>
            </a:r>
            <a:r>
              <a:rPr lang="en-US" altLang="zh-CN" sz="2000" dirty="0" err="1">
                <a:solidFill>
                  <a:schemeClr val="tx1"/>
                </a:solidFill>
              </a:rPr>
              <a:t>aq</a:t>
            </a:r>
            <a:r>
              <a:rPr lang="en-US" altLang="zh-CN" sz="2000" dirty="0">
                <a:solidFill>
                  <a:schemeClr val="tx1"/>
                </a:solidFill>
              </a:rPr>
              <a:t>) + 2e = </a:t>
            </a:r>
            <a:r>
              <a:rPr lang="en-US" altLang="zh-CN" sz="2000" dirty="0" err="1">
                <a:solidFill>
                  <a:schemeClr val="tx1"/>
                </a:solidFill>
              </a:rPr>
              <a:t>MnOOH</a:t>
            </a:r>
            <a:r>
              <a:rPr lang="en-US" altLang="zh-CN" sz="2000" dirty="0">
                <a:solidFill>
                  <a:schemeClr val="tx1"/>
                </a:solidFill>
              </a:rPr>
              <a:t> + 2OH</a:t>
            </a:r>
            <a:r>
              <a:rPr lang="en-US" altLang="zh-CN" sz="2000" baseline="30000" dirty="0">
                <a:solidFill>
                  <a:schemeClr val="tx1"/>
                </a:solidFill>
              </a:rPr>
              <a:t>-</a:t>
            </a:r>
            <a:r>
              <a:rPr lang="en-US" altLang="zh-CN" sz="2000" dirty="0">
                <a:solidFill>
                  <a:schemeClr val="tx1"/>
                </a:solidFill>
              </a:rPr>
              <a:t>(</a:t>
            </a:r>
            <a:r>
              <a:rPr lang="en-US" altLang="zh-CN" sz="2000" dirty="0" err="1">
                <a:solidFill>
                  <a:schemeClr val="tx1"/>
                </a:solidFill>
              </a:rPr>
              <a:t>aq</a:t>
            </a:r>
            <a:r>
              <a:rPr lang="en-US" altLang="zh-CN" sz="2000" dirty="0">
                <a:solidFill>
                  <a:schemeClr val="tx1"/>
                </a:solidFill>
              </a:rPr>
              <a:t>) </a:t>
            </a:r>
            <a:br>
              <a:rPr lang="en-US" altLang="zh-CN" sz="2000" dirty="0">
                <a:solidFill>
                  <a:schemeClr val="tx1"/>
                </a:solidFill>
              </a:rPr>
            </a:br>
            <a:br>
              <a:rPr lang="en-US" altLang="zh-CN" sz="2000" dirty="0">
                <a:solidFill>
                  <a:schemeClr val="tx1"/>
                </a:solidFill>
              </a:rPr>
            </a:br>
            <a:r>
              <a:rPr lang="zh-CN" altLang="en-US" sz="2000" dirty="0">
                <a:solidFill>
                  <a:schemeClr val="tx1"/>
                </a:solidFill>
              </a:rPr>
              <a:t>电池反应：</a:t>
            </a:r>
            <a:r>
              <a:rPr lang="en-US" altLang="zh-CN" sz="2000" dirty="0">
                <a:solidFill>
                  <a:schemeClr val="tx1"/>
                </a:solidFill>
              </a:rPr>
              <a:t> </a:t>
            </a:r>
            <a:br>
              <a:rPr lang="en-US" altLang="zh-CN" sz="2000" dirty="0">
                <a:solidFill>
                  <a:schemeClr val="tx1"/>
                </a:solidFill>
              </a:rPr>
            </a:br>
            <a:r>
              <a:rPr lang="en-US" altLang="zh-CN" sz="2000" dirty="0">
                <a:solidFill>
                  <a:schemeClr val="tx1"/>
                </a:solidFill>
              </a:rPr>
              <a:t>2MnO</a:t>
            </a:r>
            <a:r>
              <a:rPr lang="en-US" altLang="zh-CN" sz="2000" baseline="-25000" dirty="0">
                <a:solidFill>
                  <a:schemeClr val="tx1"/>
                </a:solidFill>
              </a:rPr>
              <a:t>2</a:t>
            </a:r>
            <a:r>
              <a:rPr lang="zh-CN" altLang="en-US" sz="2000" dirty="0">
                <a:solidFill>
                  <a:schemeClr val="tx1"/>
                </a:solidFill>
              </a:rPr>
              <a:t>(</a:t>
            </a:r>
            <a:r>
              <a:rPr lang="en-US" altLang="zh-CN" sz="2000" dirty="0">
                <a:solidFill>
                  <a:schemeClr val="tx1"/>
                </a:solidFill>
              </a:rPr>
              <a:t>s) + Zn </a:t>
            </a:r>
            <a:r>
              <a:rPr lang="zh-CN" altLang="en-US" sz="2000" dirty="0">
                <a:solidFill>
                  <a:schemeClr val="tx1"/>
                </a:solidFill>
              </a:rPr>
              <a:t>(</a:t>
            </a:r>
            <a:r>
              <a:rPr lang="en-US" altLang="zh-CN" sz="2000" dirty="0">
                <a:solidFill>
                  <a:schemeClr val="tx1"/>
                </a:solidFill>
              </a:rPr>
              <a:t>s) + H</a:t>
            </a:r>
            <a:r>
              <a:rPr lang="en-US" altLang="zh-CN" sz="2000" baseline="-25000" dirty="0">
                <a:solidFill>
                  <a:schemeClr val="tx1"/>
                </a:solidFill>
              </a:rPr>
              <a:t>2</a:t>
            </a:r>
            <a:r>
              <a:rPr lang="en-US" altLang="zh-CN" sz="2000" dirty="0">
                <a:solidFill>
                  <a:schemeClr val="tx1"/>
                </a:solidFill>
              </a:rPr>
              <a:t>O = </a:t>
            </a:r>
            <a:r>
              <a:rPr lang="en-US" altLang="zh-CN" sz="2000" dirty="0" err="1">
                <a:solidFill>
                  <a:schemeClr val="tx1"/>
                </a:solidFill>
              </a:rPr>
              <a:t>ZnO</a:t>
            </a:r>
            <a:r>
              <a:rPr lang="en-US" altLang="zh-CN" sz="2000" dirty="0">
                <a:solidFill>
                  <a:schemeClr val="tx1"/>
                </a:solidFill>
              </a:rPr>
              <a:t> </a:t>
            </a:r>
            <a:r>
              <a:rPr lang="en-US" altLang="zh-CN" sz="2000" baseline="-25000" dirty="0">
                <a:solidFill>
                  <a:schemeClr val="tx1"/>
                </a:solidFill>
              </a:rPr>
              <a:t> </a:t>
            </a:r>
            <a:r>
              <a:rPr lang="en-US" altLang="zh-CN" sz="2000" dirty="0">
                <a:solidFill>
                  <a:schemeClr val="tx1"/>
                </a:solidFill>
              </a:rPr>
              <a:t>+ 2MnOOH </a:t>
            </a:r>
            <a:br>
              <a:rPr lang="en-US" altLang="zh-CN" sz="2000" dirty="0">
                <a:solidFill>
                  <a:schemeClr val="tx1"/>
                </a:solidFill>
              </a:rPr>
            </a:br>
            <a:endParaRPr lang="zh-CN" altLang="en-US" sz="2000" dirty="0">
              <a:solidFill>
                <a:schemeClr val="tx1"/>
              </a:solidFill>
            </a:endParaRPr>
          </a:p>
        </p:txBody>
      </p:sp>
      <p:sp>
        <p:nvSpPr>
          <p:cNvPr id="24579" name="Rectangle 1027"/>
          <p:cNvSpPr>
            <a:spLocks noGrp="1" noRot="1" noChangeArrowheads="1"/>
          </p:cNvSpPr>
          <p:nvPr>
            <p:ph type="body" idx="1"/>
          </p:nvPr>
        </p:nvSpPr>
        <p:spPr>
          <a:xfrm>
            <a:off x="42863" y="2895600"/>
            <a:ext cx="8801100" cy="2667000"/>
          </a:xfrm>
        </p:spPr>
        <p:txBody>
          <a:bodyPr/>
          <a:lstStyle/>
          <a:p>
            <a:pPr>
              <a:lnSpc>
                <a:spcPct val="150000"/>
              </a:lnSpc>
              <a:spcBef>
                <a:spcPct val="0"/>
              </a:spcBef>
              <a:buFont typeface="Wingdings" panose="05000000000000000000" pitchFamily="2" charset="2"/>
              <a:buNone/>
            </a:pPr>
            <a:r>
              <a:rPr lang="zh-CN" altLang="en-US" sz="2800">
                <a:latin typeface="Times New Roman" panose="02020603050405020304" pitchFamily="18" charset="0"/>
                <a:ea typeface="楷体_GB2312" pitchFamily="49" charset="-122"/>
              </a:rPr>
              <a:t>    由于</a:t>
            </a:r>
            <a:r>
              <a:rPr lang="zh-CN" altLang="en-US" sz="2800">
                <a:solidFill>
                  <a:srgbClr val="FF0000"/>
                </a:solidFill>
                <a:latin typeface="Times New Roman" panose="02020603050405020304" pitchFamily="18" charset="0"/>
                <a:ea typeface="楷体_GB2312" pitchFamily="49" charset="-122"/>
              </a:rPr>
              <a:t>锌箔在碱液中极易钝化</a:t>
            </a:r>
            <a:r>
              <a:rPr lang="zh-CN" altLang="en-US" sz="2800">
                <a:latin typeface="Times New Roman" panose="02020603050405020304" pitchFamily="18" charset="0"/>
                <a:ea typeface="楷体_GB2312" pitchFamily="49" charset="-122"/>
              </a:rPr>
              <a:t>，故不能像干电池那样采用锌筒作负极。</a:t>
            </a:r>
            <a:r>
              <a:rPr lang="zh-CN" altLang="en-US" sz="2800">
                <a:solidFill>
                  <a:srgbClr val="FF0000"/>
                </a:solidFill>
                <a:latin typeface="Times New Roman" panose="02020603050405020304" pitchFamily="18" charset="0"/>
                <a:ea typeface="楷体_GB2312" pitchFamily="49" charset="-122"/>
              </a:rPr>
              <a:t>锌粉有足够大的表面积，在碱液中也不易钝化</a:t>
            </a:r>
            <a:r>
              <a:rPr lang="zh-CN" altLang="en-US" sz="2800">
                <a:latin typeface="Times New Roman" panose="02020603050405020304" pitchFamily="18" charset="0"/>
                <a:ea typeface="楷体_GB2312" pitchFamily="49" charset="-122"/>
              </a:rPr>
              <a:t>，是碱锰电池负极较为合适的材料。负极这一差别使碱锰电池的结构与干电池大不相同。</a:t>
            </a:r>
            <a:endParaRPr lang="en-US" altLang="zh-CN" sz="2800">
              <a:latin typeface="Times New Roman" panose="02020603050405020304" pitchFamily="18" charset="0"/>
              <a:ea typeface="楷体_GB2312" pitchFamily="49" charset="-122"/>
            </a:endParaRPr>
          </a:p>
        </p:txBody>
      </p:sp>
      <p:sp>
        <p:nvSpPr>
          <p:cNvPr id="24580" name="Rectangle 1031"/>
          <p:cNvSpPr>
            <a:spLocks noChangeArrowheads="1"/>
          </p:cNvSpPr>
          <p:nvPr/>
        </p:nvSpPr>
        <p:spPr bwMode="auto">
          <a:xfrm>
            <a:off x="1938338" y="17526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endParaRPr lang="zh-CN" altLang="en-US"/>
          </a:p>
        </p:txBody>
      </p:sp>
    </p:spTree>
  </p:cSld>
  <p:clrMapOvr>
    <a:masterClrMapping/>
  </p:clrMapOvr>
  <p:transition>
    <p:randomBar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980728"/>
            <a:ext cx="9144000" cy="4590971"/>
          </a:xfrm>
          <a:prstGeom prst="rect">
            <a:avLst/>
          </a:prstGeom>
        </p:spPr>
      </p:pic>
    </p:spTree>
  </p:cSld>
  <p:clrMapOvr>
    <a:masterClrMapping/>
  </p:clrMapOvr>
  <p:transition>
    <p:randomBar dir="vert"/>
  </p:transition>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3"/>
          <p:cNvSpPr>
            <a:spLocks noGrp="1" noRot="1" noChangeArrowheads="1"/>
          </p:cNvSpPr>
          <p:nvPr>
            <p:ph type="body" idx="1"/>
          </p:nvPr>
        </p:nvSpPr>
        <p:spPr>
          <a:xfrm>
            <a:off x="250825" y="239713"/>
            <a:ext cx="8588375" cy="6580187"/>
          </a:xfrm>
        </p:spPr>
        <p:txBody>
          <a:bodyPr/>
          <a:lstStyle/>
          <a:p>
            <a:pPr>
              <a:lnSpc>
                <a:spcPct val="150000"/>
              </a:lnSpc>
              <a:spcBef>
                <a:spcPct val="0"/>
              </a:spcBef>
              <a:buClr>
                <a:srgbClr val="FF3300"/>
              </a:buClr>
              <a:buFont typeface="Wingdings" panose="05000000000000000000" pitchFamily="2" charset="2"/>
              <a:buChar char="Ø"/>
            </a:pPr>
            <a:r>
              <a:rPr lang="zh-CN" altLang="en-US" sz="2800">
                <a:latin typeface="Times New Roman" panose="02020603050405020304" pitchFamily="18" charset="0"/>
                <a:ea typeface="楷体_GB2312" pitchFamily="49" charset="-122"/>
              </a:rPr>
              <a:t>碱锰电池的开路电压约为1.52Ｖ，工作电压约为1.25 </a:t>
            </a:r>
            <a:r>
              <a:rPr lang="en-US" altLang="zh-CN" sz="2800">
                <a:latin typeface="Times New Roman" panose="02020603050405020304" pitchFamily="18" charset="0"/>
                <a:ea typeface="楷体_GB2312" pitchFamily="49" charset="-122"/>
              </a:rPr>
              <a:t>V。</a:t>
            </a:r>
            <a:endParaRPr lang="zh-CN" altLang="en-US" sz="2800">
              <a:latin typeface="Times New Roman" panose="02020603050405020304" pitchFamily="18" charset="0"/>
              <a:ea typeface="楷体_GB2312" pitchFamily="49" charset="-122"/>
            </a:endParaRPr>
          </a:p>
          <a:p>
            <a:pPr>
              <a:lnSpc>
                <a:spcPct val="150000"/>
              </a:lnSpc>
              <a:spcBef>
                <a:spcPct val="0"/>
              </a:spcBef>
              <a:buClr>
                <a:srgbClr val="FF3300"/>
              </a:buClr>
              <a:buFont typeface="Wingdings" panose="05000000000000000000" pitchFamily="2" charset="2"/>
              <a:buChar char="Ø"/>
            </a:pPr>
            <a:r>
              <a:rPr lang="zh-CN" altLang="en-US" sz="2800">
                <a:latin typeface="Times New Roman" panose="02020603050405020304" pitchFamily="18" charset="0"/>
                <a:ea typeface="楷体_GB2312" pitchFamily="49" charset="-122"/>
              </a:rPr>
              <a:t>电池内阻小，在快速放电时能提供足够的容量，而且在低温（-21 </a:t>
            </a:r>
            <a:r>
              <a:rPr lang="zh-CN" altLang="en-US" sz="2800">
                <a:latin typeface="Times New Roman" panose="02020603050405020304" pitchFamily="18" charset="0"/>
                <a:ea typeface="楷体_GB2312" pitchFamily="49" charset="-122"/>
                <a:sym typeface="Symbol" panose="05050102010706020507" pitchFamily="18" charset="2"/>
              </a:rPr>
              <a:t></a:t>
            </a:r>
            <a:r>
              <a:rPr lang="en-US" altLang="zh-CN" sz="2800">
                <a:latin typeface="Times New Roman" panose="02020603050405020304" pitchFamily="18" charset="0"/>
                <a:ea typeface="楷体_GB2312" pitchFamily="49" charset="-122"/>
                <a:sym typeface="Symbol" panose="05050102010706020507" pitchFamily="18" charset="2"/>
              </a:rPr>
              <a:t>C</a:t>
            </a:r>
            <a:r>
              <a:rPr lang="zh-CN" altLang="en-US" sz="2800">
                <a:latin typeface="Times New Roman" panose="02020603050405020304" pitchFamily="18" charset="0"/>
                <a:ea typeface="楷体_GB2312" pitchFamily="49" charset="-122"/>
              </a:rPr>
              <a:t>）下，其放电容量相当于干电池室温下的容量。</a:t>
            </a:r>
            <a:endParaRPr lang="zh-CN" altLang="en-US" sz="2800">
              <a:latin typeface="Times New Roman" panose="02020603050405020304" pitchFamily="18" charset="0"/>
              <a:ea typeface="楷体_GB2312" pitchFamily="49" charset="-122"/>
            </a:endParaRPr>
          </a:p>
          <a:p>
            <a:pPr>
              <a:lnSpc>
                <a:spcPct val="150000"/>
              </a:lnSpc>
              <a:spcBef>
                <a:spcPct val="0"/>
              </a:spcBef>
              <a:buClr>
                <a:srgbClr val="FF3300"/>
              </a:buClr>
              <a:buFont typeface="Wingdings" panose="05000000000000000000" pitchFamily="2" charset="2"/>
              <a:buChar char="Ø"/>
            </a:pPr>
            <a:r>
              <a:rPr lang="zh-CN" altLang="en-US" sz="2800">
                <a:latin typeface="Times New Roman" panose="02020603050405020304" pitchFamily="18" charset="0"/>
                <a:ea typeface="楷体_GB2312" pitchFamily="49" charset="-122"/>
              </a:rPr>
              <a:t>放电曲线相当平坦，放电到终止电压（0.9 </a:t>
            </a:r>
            <a:r>
              <a:rPr lang="en-US" altLang="zh-CN" sz="2800">
                <a:latin typeface="Times New Roman" panose="02020603050405020304" pitchFamily="18" charset="0"/>
                <a:ea typeface="楷体_GB2312" pitchFamily="49" charset="-122"/>
              </a:rPr>
              <a:t>V</a:t>
            </a:r>
            <a:r>
              <a:rPr lang="zh-CN" altLang="en-US" sz="2800">
                <a:latin typeface="Times New Roman" panose="02020603050405020304" pitchFamily="18" charset="0"/>
                <a:ea typeface="楷体_GB2312" pitchFamily="49" charset="-122"/>
              </a:rPr>
              <a:t>）时，放电量明显高于其他锌锰电池。</a:t>
            </a:r>
            <a:endParaRPr lang="zh-CN" altLang="en-US" sz="2800">
              <a:latin typeface="Times New Roman" panose="02020603050405020304" pitchFamily="18" charset="0"/>
              <a:ea typeface="楷体_GB2312" pitchFamily="49" charset="-122"/>
            </a:endParaRPr>
          </a:p>
          <a:p>
            <a:pPr>
              <a:lnSpc>
                <a:spcPct val="150000"/>
              </a:lnSpc>
              <a:spcBef>
                <a:spcPct val="0"/>
              </a:spcBef>
              <a:buClr>
                <a:srgbClr val="FF3300"/>
              </a:buClr>
              <a:buFont typeface="Wingdings" panose="05000000000000000000" pitchFamily="2" charset="2"/>
              <a:buChar char="Ø"/>
            </a:pPr>
            <a:r>
              <a:rPr lang="zh-CN" altLang="en-US" sz="2800">
                <a:latin typeface="Times New Roman" panose="02020603050405020304" pitchFamily="18" charset="0"/>
                <a:ea typeface="楷体_GB2312" pitchFamily="49" charset="-122"/>
              </a:rPr>
              <a:t>贮存性能相当好， 20 </a:t>
            </a:r>
            <a:r>
              <a:rPr lang="zh-CN" altLang="en-US" sz="2800">
                <a:latin typeface="Times New Roman" panose="02020603050405020304" pitchFamily="18" charset="0"/>
                <a:ea typeface="楷体_GB2312" pitchFamily="49" charset="-122"/>
                <a:sym typeface="Symbol" panose="05050102010706020507" pitchFamily="18" charset="2"/>
              </a:rPr>
              <a:t></a:t>
            </a:r>
            <a:r>
              <a:rPr lang="en-US" altLang="zh-CN" sz="2800">
                <a:latin typeface="Times New Roman" panose="02020603050405020304" pitchFamily="18" charset="0"/>
                <a:ea typeface="楷体_GB2312" pitchFamily="49" charset="-122"/>
                <a:sym typeface="Symbol" panose="05050102010706020507" pitchFamily="18" charset="2"/>
              </a:rPr>
              <a:t>C</a:t>
            </a:r>
            <a:r>
              <a:rPr lang="zh-CN" altLang="en-US" sz="2800">
                <a:latin typeface="Times New Roman" panose="02020603050405020304" pitchFamily="18" charset="0"/>
                <a:ea typeface="楷体_GB2312" pitchFamily="49" charset="-122"/>
              </a:rPr>
              <a:t>时自放电率低于0.8%，一年后还能保持90%以上的容量，甚至4年后仍有80%的容量。</a:t>
            </a:r>
            <a:endParaRPr lang="zh-CN" altLang="en-US" sz="2800">
              <a:latin typeface="Times New Roman" panose="02020603050405020304" pitchFamily="18" charset="0"/>
              <a:ea typeface="楷体_GB2312" pitchFamily="49" charset="-122"/>
            </a:endParaRPr>
          </a:p>
        </p:txBody>
      </p:sp>
    </p:spTree>
  </p:cSld>
  <p:clrMapOvr>
    <a:masterClrMapping/>
  </p:clrMapOvr>
  <p:transition>
    <p:randomBar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object 2"/>
          <p:cNvSpPr txBox="1">
            <a:spLocks noGrp="1"/>
          </p:cNvSpPr>
          <p:nvPr>
            <p:ph type="title"/>
          </p:nvPr>
        </p:nvSpPr>
        <p:spPr>
          <a:xfrm>
            <a:off x="547370" y="417830"/>
            <a:ext cx="3455035" cy="628015"/>
          </a:xfrm>
          <a:prstGeom prst="rect">
            <a:avLst/>
          </a:prstGeom>
        </p:spPr>
        <p:txBody>
          <a:bodyPr vert="horz" wrap="square" lIns="0" tIns="12700" rIns="0" bIns="0" rtlCol="0">
            <a:spAutoFit/>
          </a:bodyPr>
          <a:p>
            <a:pPr marL="12700">
              <a:lnSpc>
                <a:spcPct val="100000"/>
              </a:lnSpc>
              <a:spcBef>
                <a:spcPts val="100"/>
              </a:spcBef>
            </a:pPr>
            <a:r>
              <a:rPr spc="5" dirty="0"/>
              <a:t>金属锂原电池</a:t>
            </a:r>
            <a:endParaRPr spc="5" dirty="0"/>
          </a:p>
        </p:txBody>
      </p:sp>
      <p:sp>
        <p:nvSpPr>
          <p:cNvPr id="5" name="object 3"/>
          <p:cNvSpPr txBox="1"/>
          <p:nvPr/>
        </p:nvSpPr>
        <p:spPr>
          <a:xfrm>
            <a:off x="1266571" y="1215009"/>
            <a:ext cx="1808480" cy="452120"/>
          </a:xfrm>
          <a:prstGeom prst="rect">
            <a:avLst/>
          </a:prstGeom>
        </p:spPr>
        <p:txBody>
          <a:bodyPr vert="horz" wrap="square" lIns="0" tIns="12065" rIns="0" bIns="0" rtlCol="0">
            <a:spAutoFit/>
          </a:bodyPr>
          <a:p>
            <a:pPr marL="12700">
              <a:lnSpc>
                <a:spcPct val="100000"/>
              </a:lnSpc>
              <a:spcBef>
                <a:spcPts val="95"/>
              </a:spcBef>
            </a:pPr>
            <a:r>
              <a:rPr sz="2800" b="1" spc="5" dirty="0">
                <a:solidFill>
                  <a:srgbClr val="006FC0"/>
                </a:solidFill>
                <a:latin typeface="Microsoft JhengHei" panose="020B0604030504040204" charset="-120"/>
                <a:cs typeface="Microsoft JhengHei" panose="020B0604030504040204" charset="-120"/>
              </a:rPr>
              <a:t>锂一次电池</a:t>
            </a:r>
            <a:endParaRPr sz="2800">
              <a:latin typeface="Microsoft JhengHei" panose="020B0604030504040204" charset="-120"/>
              <a:cs typeface="Microsoft JhengHei" panose="020B0604030504040204" charset="-120"/>
            </a:endParaRPr>
          </a:p>
        </p:txBody>
      </p:sp>
      <p:sp>
        <p:nvSpPr>
          <p:cNvPr id="6" name="object 4"/>
          <p:cNvSpPr txBox="1"/>
          <p:nvPr/>
        </p:nvSpPr>
        <p:spPr>
          <a:xfrm>
            <a:off x="763016" y="1821515"/>
            <a:ext cx="7801609" cy="980440"/>
          </a:xfrm>
          <a:prstGeom prst="rect">
            <a:avLst/>
          </a:prstGeom>
        </p:spPr>
        <p:txBody>
          <a:bodyPr vert="horz" wrap="square" lIns="0" tIns="149860" rIns="0" bIns="0" rtlCol="0">
            <a:spAutoFit/>
          </a:bodyPr>
          <a:p>
            <a:pPr marL="467995">
              <a:lnSpc>
                <a:spcPct val="100000"/>
              </a:lnSpc>
              <a:spcBef>
                <a:spcPts val="1180"/>
              </a:spcBef>
            </a:pPr>
            <a:r>
              <a:rPr sz="1800" spc="-5" dirty="0">
                <a:latin typeface="宋体" panose="02010600030101010101" pitchFamily="2" charset="-122"/>
                <a:cs typeface="宋体" panose="02010600030101010101" pitchFamily="2" charset="-122"/>
              </a:rPr>
              <a:t>锂一次电池</a:t>
            </a:r>
            <a:r>
              <a:rPr sz="1800" spc="-5" dirty="0">
                <a:latin typeface="Times New Roman" panose="02020603050405020304"/>
                <a:cs typeface="Times New Roman" panose="02020603050405020304"/>
              </a:rPr>
              <a:t>(primary</a:t>
            </a:r>
            <a:r>
              <a:rPr sz="1800" spc="20" dirty="0">
                <a:latin typeface="Times New Roman" panose="02020603050405020304"/>
                <a:cs typeface="Times New Roman" panose="02020603050405020304"/>
              </a:rPr>
              <a:t> </a:t>
            </a:r>
            <a:r>
              <a:rPr sz="1800" dirty="0">
                <a:latin typeface="Times New Roman" panose="02020603050405020304"/>
                <a:cs typeface="Times New Roman" panose="02020603050405020304"/>
              </a:rPr>
              <a:t>lithium</a:t>
            </a:r>
            <a:r>
              <a:rPr sz="1800" spc="-5" dirty="0">
                <a:latin typeface="Times New Roman" panose="02020603050405020304"/>
                <a:cs typeface="Times New Roman" panose="02020603050405020304"/>
              </a:rPr>
              <a:t> </a:t>
            </a:r>
            <a:r>
              <a:rPr sz="1800" dirty="0">
                <a:latin typeface="Times New Roman" panose="02020603050405020304"/>
                <a:cs typeface="Times New Roman" panose="02020603050405020304"/>
              </a:rPr>
              <a:t>battery)</a:t>
            </a:r>
            <a:r>
              <a:rPr sz="1800" dirty="0">
                <a:latin typeface="宋体" panose="02010600030101010101" pitchFamily="2" charset="-122"/>
                <a:cs typeface="宋体" panose="02010600030101010101" pitchFamily="2" charset="-122"/>
              </a:rPr>
              <a:t>，</a:t>
            </a:r>
            <a:r>
              <a:rPr sz="1800" spc="-5" dirty="0">
                <a:latin typeface="宋体" panose="02010600030101010101" pitchFamily="2" charset="-122"/>
                <a:cs typeface="宋体" panose="02010600030101010101" pitchFamily="2" charset="-122"/>
              </a:rPr>
              <a:t>以金属锂为负极，</a:t>
            </a:r>
            <a:r>
              <a:rPr sz="1800" dirty="0">
                <a:latin typeface="宋体" panose="02010600030101010101" pitchFamily="2" charset="-122"/>
                <a:cs typeface="宋体" panose="02010600030101010101" pitchFamily="2" charset="-122"/>
              </a:rPr>
              <a:t>金属氧化物或其他固体、液体氧化剂为正极活性物</a:t>
            </a:r>
            <a:r>
              <a:rPr lang="en-US" sz="1800" dirty="0">
                <a:latin typeface="宋体" panose="02010600030101010101" pitchFamily="2" charset="-122"/>
                <a:cs typeface="宋体" panose="02010600030101010101" pitchFamily="2" charset="-122"/>
              </a:rPr>
              <a:t>,</a:t>
            </a:r>
            <a:r>
              <a:rPr sz="1800" spc="-5" dirty="0">
                <a:latin typeface="宋体" panose="02010600030101010101" pitchFamily="2" charset="-122"/>
                <a:cs typeface="宋体" panose="02010600030101010101" pitchFamily="2" charset="-122"/>
                <a:sym typeface="+mn-ea"/>
              </a:rPr>
              <a:t>固体盐类或溶于有</a:t>
            </a:r>
            <a:r>
              <a:rPr sz="1800" dirty="0">
                <a:latin typeface="宋体" panose="02010600030101010101" pitchFamily="2" charset="-122"/>
                <a:cs typeface="宋体" panose="02010600030101010101" pitchFamily="2" charset="-122"/>
                <a:sym typeface="+mn-ea"/>
              </a:rPr>
              <a:t>机溶剂的盐类为电解质</a:t>
            </a:r>
            <a:r>
              <a:rPr lang="en-US" sz="1800" dirty="0">
                <a:latin typeface="宋体" panose="02010600030101010101" pitchFamily="2" charset="-122"/>
                <a:cs typeface="宋体" panose="02010600030101010101" pitchFamily="2" charset="-122"/>
                <a:sym typeface="+mn-ea"/>
              </a:rPr>
              <a:t>.</a:t>
            </a:r>
            <a:endParaRPr lang="en-US" sz="1800" dirty="0">
              <a:latin typeface="宋体" panose="02010600030101010101" pitchFamily="2" charset="-122"/>
              <a:cs typeface="宋体" panose="02010600030101010101" pitchFamily="2" charset="-122"/>
              <a:sym typeface="+mn-ea"/>
            </a:endParaRPr>
          </a:p>
        </p:txBody>
      </p:sp>
      <p:graphicFrame>
        <p:nvGraphicFramePr>
          <p:cNvPr id="7" name="object 5"/>
          <p:cNvGraphicFramePr>
            <a:graphicFrameLocks noGrp="1"/>
          </p:cNvGraphicFramePr>
          <p:nvPr>
            <p:custDataLst>
              <p:tags r:id="rId1"/>
            </p:custDataLst>
          </p:nvPr>
        </p:nvGraphicFramePr>
        <p:xfrm>
          <a:off x="936142" y="3205207"/>
          <a:ext cx="8034655" cy="2242195"/>
        </p:xfrm>
        <a:graphic>
          <a:graphicData uri="http://schemas.openxmlformats.org/drawingml/2006/table">
            <a:tbl>
              <a:tblPr firstRow="1" bandRow="1">
                <a:tableStyleId>{2D5ABB26-0587-4C30-8999-92F81FD0307C}</a:tableStyleId>
              </a:tblPr>
              <a:tblGrid>
                <a:gridCol w="711200"/>
                <a:gridCol w="1155700"/>
                <a:gridCol w="2675254"/>
                <a:gridCol w="664845"/>
                <a:gridCol w="2827655"/>
              </a:tblGrid>
              <a:tr h="334010">
                <a:tc>
                  <a:txBody>
                    <a:bodyPr/>
                    <a:p>
                      <a:pPr marR="119380" algn="r">
                        <a:lnSpc>
                          <a:spcPts val="1965"/>
                        </a:lnSpc>
                      </a:pPr>
                      <a:r>
                        <a:rPr sz="1800" b="1" spc="-5" dirty="0">
                          <a:latin typeface="Times New Roman" panose="02020603050405020304"/>
                          <a:cs typeface="Times New Roman" panose="02020603050405020304"/>
                        </a:rPr>
                        <a:t>1973</a:t>
                      </a:r>
                      <a:endParaRPr sz="1800">
                        <a:latin typeface="Times New Roman" panose="02020603050405020304"/>
                        <a:cs typeface="Times New Roman" panose="02020603050405020304"/>
                      </a:endParaRPr>
                    </a:p>
                  </a:txBody>
                  <a:tcPr marL="0" marR="0" marT="0" marB="0"/>
                </a:tc>
                <a:tc>
                  <a:txBody>
                    <a:bodyPr/>
                    <a:p>
                      <a:pPr marR="100330" algn="r">
                        <a:lnSpc>
                          <a:spcPts val="1990"/>
                        </a:lnSpc>
                      </a:pPr>
                      <a:r>
                        <a:rPr sz="1800" b="1" spc="5" dirty="0">
                          <a:latin typeface="Microsoft JhengHei" panose="020B0604030504040204" charset="-120"/>
                          <a:cs typeface="Microsoft JhengHei" panose="020B0604030504040204" charset="-120"/>
                        </a:rPr>
                        <a:t>松下公司</a:t>
                      </a:r>
                      <a:endParaRPr sz="1800">
                        <a:latin typeface="Microsoft JhengHei" panose="020B0604030504040204" charset="-120"/>
                        <a:cs typeface="Microsoft JhengHei" panose="020B0604030504040204" charset="-120"/>
                      </a:endParaRPr>
                    </a:p>
                  </a:txBody>
                  <a:tcPr marL="0" marR="0" marT="0" marB="0"/>
                </a:tc>
                <a:tc>
                  <a:txBody>
                    <a:bodyPr/>
                    <a:p>
                      <a:pPr marL="107950">
                        <a:lnSpc>
                          <a:spcPts val="1990"/>
                        </a:lnSpc>
                      </a:pPr>
                      <a:r>
                        <a:rPr sz="1800" b="1" spc="5" dirty="0">
                          <a:solidFill>
                            <a:srgbClr val="C0504D"/>
                          </a:solidFill>
                          <a:latin typeface="Microsoft JhengHei" panose="020B0604030504040204" charset="-120"/>
                          <a:cs typeface="Microsoft JhengHei" panose="020B0604030504040204" charset="-120"/>
                        </a:rPr>
                        <a:t>锂</a:t>
                      </a:r>
                      <a:r>
                        <a:rPr lang="en-US" sz="1800" b="1" spc="5" dirty="0">
                          <a:solidFill>
                            <a:srgbClr val="C0504D"/>
                          </a:solidFill>
                          <a:latin typeface="Microsoft JhengHei" panose="020B0604030504040204" charset="-120"/>
                          <a:cs typeface="Microsoft JhengHei" panose="020B0604030504040204" charset="-120"/>
                        </a:rPr>
                        <a:t>-</a:t>
                      </a:r>
                      <a:r>
                        <a:rPr lang="zh-CN" sz="1800" b="1" spc="5" dirty="0">
                          <a:solidFill>
                            <a:srgbClr val="C0504D"/>
                          </a:solidFill>
                          <a:latin typeface="Microsoft JhengHei" panose="020B0604030504040204" charset="-120"/>
                          <a:cs typeface="Microsoft JhengHei" panose="020B0604030504040204" charset="-120"/>
                        </a:rPr>
                        <a:t>聚</a:t>
                      </a:r>
                      <a:r>
                        <a:rPr sz="1800" b="1" spc="5" dirty="0">
                          <a:solidFill>
                            <a:srgbClr val="C0504D"/>
                          </a:solidFill>
                          <a:latin typeface="Microsoft JhengHei" panose="020B0604030504040204" charset="-120"/>
                          <a:cs typeface="Microsoft JhengHei" panose="020B0604030504040204" charset="-120"/>
                        </a:rPr>
                        <a:t>氟化碳〔</a:t>
                      </a:r>
                      <a:r>
                        <a:rPr sz="1800" b="1" dirty="0">
                          <a:solidFill>
                            <a:srgbClr val="C0504D"/>
                          </a:solidFill>
                          <a:latin typeface="Times New Roman" panose="02020603050405020304"/>
                          <a:cs typeface="Times New Roman" panose="02020603050405020304"/>
                        </a:rPr>
                        <a:t>Li/(CF</a:t>
                      </a:r>
                      <a:r>
                        <a:rPr sz="1800" b="1" baseline="-21000" dirty="0">
                          <a:solidFill>
                            <a:srgbClr val="C0504D"/>
                          </a:solidFill>
                          <a:latin typeface="Times New Roman" panose="02020603050405020304"/>
                          <a:cs typeface="Times New Roman" panose="02020603050405020304"/>
                        </a:rPr>
                        <a:t>x</a:t>
                      </a:r>
                      <a:r>
                        <a:rPr sz="1800" b="1" dirty="0">
                          <a:solidFill>
                            <a:srgbClr val="C0504D"/>
                          </a:solidFill>
                          <a:latin typeface="Times New Roman" panose="02020603050405020304"/>
                          <a:cs typeface="Times New Roman" panose="02020603050405020304"/>
                        </a:rPr>
                        <a:t>)</a:t>
                      </a:r>
                      <a:r>
                        <a:rPr sz="1800" b="1" baseline="-21000" dirty="0">
                          <a:solidFill>
                            <a:srgbClr val="C0504D"/>
                          </a:solidFill>
                          <a:latin typeface="Times New Roman" panose="02020603050405020304"/>
                          <a:cs typeface="Times New Roman" panose="02020603050405020304"/>
                        </a:rPr>
                        <a:t>n</a:t>
                      </a:r>
                      <a:r>
                        <a:rPr sz="1800" b="1" dirty="0">
                          <a:solidFill>
                            <a:srgbClr val="C0504D"/>
                          </a:solidFill>
                          <a:latin typeface="Microsoft JhengHei" panose="020B0604030504040204" charset="-120"/>
                          <a:cs typeface="Microsoft JhengHei" panose="020B0604030504040204" charset="-120"/>
                        </a:rPr>
                        <a:t>〕</a:t>
                      </a:r>
                      <a:endParaRPr sz="1800">
                        <a:latin typeface="Microsoft JhengHei" panose="020B0604030504040204" charset="-120"/>
                        <a:cs typeface="Microsoft JhengHei" panose="020B0604030504040204" charset="-120"/>
                      </a:endParaRPr>
                    </a:p>
                  </a:txBody>
                  <a:tcPr marL="0" marR="0" marT="0" marB="0"/>
                </a:tc>
                <a:tc>
                  <a:txBody>
                    <a:bodyPr/>
                    <a:p>
                      <a:pPr marL="66675">
                        <a:lnSpc>
                          <a:spcPts val="1990"/>
                        </a:lnSpc>
                      </a:pPr>
                      <a:r>
                        <a:rPr sz="1800" b="1" spc="5" dirty="0">
                          <a:latin typeface="Microsoft JhengHei" panose="020B0604030504040204" charset="-120"/>
                          <a:cs typeface="Microsoft JhengHei" panose="020B0604030504040204" charset="-120"/>
                        </a:rPr>
                        <a:t>电池</a:t>
                      </a:r>
                      <a:endParaRPr sz="1800">
                        <a:latin typeface="Microsoft JhengHei" panose="020B0604030504040204" charset="-120"/>
                        <a:cs typeface="Microsoft JhengHei" panose="020B0604030504040204" charset="-120"/>
                      </a:endParaRPr>
                    </a:p>
                  </a:txBody>
                  <a:tcPr marL="0" marR="0" marT="0" marB="0"/>
                </a:tc>
                <a:tc>
                  <a:txBody>
                    <a:bodyPr/>
                    <a:p>
                      <a:pPr>
                        <a:lnSpc>
                          <a:spcPct val="100000"/>
                        </a:lnSpc>
                      </a:pPr>
                      <a:endParaRPr sz="1600">
                        <a:latin typeface="Times New Roman" panose="02020603050405020304"/>
                        <a:cs typeface="Times New Roman" panose="02020603050405020304"/>
                      </a:endParaRPr>
                    </a:p>
                  </a:txBody>
                  <a:tcPr marL="0" marR="0" marT="0" marB="0"/>
                </a:tc>
              </a:tr>
              <a:tr h="507500">
                <a:tc>
                  <a:txBody>
                    <a:bodyPr/>
                    <a:p>
                      <a:pPr marR="119380" algn="r">
                        <a:lnSpc>
                          <a:spcPct val="100000"/>
                        </a:lnSpc>
                        <a:spcBef>
                          <a:spcPts val="100"/>
                        </a:spcBef>
                      </a:pPr>
                      <a:r>
                        <a:rPr sz="1800" b="1" spc="-5" dirty="0">
                          <a:latin typeface="Times New Roman" panose="02020603050405020304"/>
                          <a:cs typeface="Times New Roman" panose="02020603050405020304"/>
                        </a:rPr>
                        <a:t>1978</a:t>
                      </a:r>
                      <a:endParaRPr sz="1800">
                        <a:latin typeface="Times New Roman" panose="02020603050405020304"/>
                        <a:cs typeface="Times New Roman" panose="02020603050405020304"/>
                      </a:endParaRPr>
                    </a:p>
                  </a:txBody>
                  <a:tcPr marL="0" marR="0" marT="12700" marB="0"/>
                </a:tc>
                <a:tc>
                  <a:txBody>
                    <a:bodyPr/>
                    <a:p>
                      <a:pPr marR="100330" algn="r">
                        <a:lnSpc>
                          <a:spcPct val="100000"/>
                        </a:lnSpc>
                        <a:spcBef>
                          <a:spcPts val="125"/>
                        </a:spcBef>
                      </a:pPr>
                      <a:r>
                        <a:rPr sz="1800" b="1" spc="5" dirty="0">
                          <a:latin typeface="Microsoft JhengHei" panose="020B0604030504040204" charset="-120"/>
                          <a:cs typeface="Microsoft JhengHei" panose="020B0604030504040204" charset="-120"/>
                        </a:rPr>
                        <a:t>三洋公司</a:t>
                      </a:r>
                      <a:endParaRPr sz="1800">
                        <a:latin typeface="Microsoft JhengHei" panose="020B0604030504040204" charset="-120"/>
                        <a:cs typeface="Microsoft JhengHei" panose="020B0604030504040204" charset="-120"/>
                      </a:endParaRPr>
                    </a:p>
                  </a:txBody>
                  <a:tcPr marL="0" marR="0" marT="15875" marB="0"/>
                </a:tc>
                <a:tc>
                  <a:txBody>
                    <a:bodyPr/>
                    <a:p>
                      <a:pPr marL="107950">
                        <a:lnSpc>
                          <a:spcPct val="100000"/>
                        </a:lnSpc>
                        <a:spcBef>
                          <a:spcPts val="125"/>
                        </a:spcBef>
                      </a:pPr>
                      <a:r>
                        <a:rPr sz="1800" b="1" spc="5" dirty="0">
                          <a:solidFill>
                            <a:srgbClr val="C0504D"/>
                          </a:solidFill>
                          <a:latin typeface="Microsoft JhengHei" panose="020B0604030504040204" charset="-120"/>
                          <a:cs typeface="Microsoft JhengHei" panose="020B0604030504040204" charset="-120"/>
                        </a:rPr>
                        <a:t>锂</a:t>
                      </a:r>
                      <a:r>
                        <a:rPr lang="en-US" sz="1800" b="1" spc="5" dirty="0">
                          <a:solidFill>
                            <a:srgbClr val="C0504D"/>
                          </a:solidFill>
                          <a:latin typeface="Microsoft JhengHei" panose="020B0604030504040204" charset="-120"/>
                          <a:cs typeface="Microsoft JhengHei" panose="020B0604030504040204" charset="-120"/>
                        </a:rPr>
                        <a:t>-</a:t>
                      </a:r>
                      <a:r>
                        <a:rPr sz="1800" b="1" spc="5" dirty="0">
                          <a:solidFill>
                            <a:srgbClr val="C0504D"/>
                          </a:solidFill>
                          <a:latin typeface="Microsoft JhengHei" panose="020B0604030504040204" charset="-120"/>
                          <a:cs typeface="Microsoft JhengHei" panose="020B0604030504040204" charset="-120"/>
                        </a:rPr>
                        <a:t>二氧化锰</a:t>
                      </a:r>
                      <a:r>
                        <a:rPr sz="1800" b="1" dirty="0">
                          <a:solidFill>
                            <a:srgbClr val="C0504D"/>
                          </a:solidFill>
                          <a:latin typeface="Times New Roman" panose="02020603050405020304"/>
                          <a:cs typeface="Times New Roman" panose="02020603050405020304"/>
                        </a:rPr>
                        <a:t>(Li/MnO</a:t>
                      </a:r>
                      <a:r>
                        <a:rPr sz="1800" b="1" baseline="-21000" dirty="0">
                          <a:solidFill>
                            <a:srgbClr val="C0504D"/>
                          </a:solidFill>
                          <a:latin typeface="Times New Roman" panose="02020603050405020304"/>
                          <a:cs typeface="Times New Roman" panose="02020603050405020304"/>
                        </a:rPr>
                        <a:t>2</a:t>
                      </a:r>
                      <a:r>
                        <a:rPr sz="1800" b="1" dirty="0">
                          <a:solidFill>
                            <a:srgbClr val="C0504D"/>
                          </a:solidFill>
                          <a:latin typeface="Times New Roman" panose="02020603050405020304"/>
                          <a:cs typeface="Times New Roman" panose="02020603050405020304"/>
                        </a:rPr>
                        <a:t>)</a:t>
                      </a:r>
                      <a:endParaRPr sz="1800">
                        <a:latin typeface="Times New Roman" panose="02020603050405020304"/>
                        <a:cs typeface="Times New Roman" panose="02020603050405020304"/>
                      </a:endParaRPr>
                    </a:p>
                  </a:txBody>
                  <a:tcPr marL="0" marR="0" marT="15875" marB="0"/>
                </a:tc>
                <a:tc>
                  <a:txBody>
                    <a:bodyPr/>
                    <a:p>
                      <a:pPr marL="66675">
                        <a:lnSpc>
                          <a:spcPct val="100000"/>
                        </a:lnSpc>
                        <a:spcBef>
                          <a:spcPts val="125"/>
                        </a:spcBef>
                      </a:pPr>
                      <a:r>
                        <a:rPr sz="1800" b="1" spc="5" dirty="0">
                          <a:latin typeface="Microsoft JhengHei" panose="020B0604030504040204" charset="-120"/>
                          <a:cs typeface="Microsoft JhengHei" panose="020B0604030504040204" charset="-120"/>
                        </a:rPr>
                        <a:t>电池</a:t>
                      </a:r>
                      <a:endParaRPr sz="1800">
                        <a:latin typeface="Microsoft JhengHei" panose="020B0604030504040204" charset="-120"/>
                        <a:cs typeface="Microsoft JhengHei" panose="020B0604030504040204" charset="-120"/>
                      </a:endParaRPr>
                    </a:p>
                  </a:txBody>
                  <a:tcPr marL="0" marR="0" marT="15875" marB="0"/>
                </a:tc>
                <a:tc>
                  <a:txBody>
                    <a:bodyPr/>
                    <a:p>
                      <a:pPr marL="137160">
                        <a:lnSpc>
                          <a:spcPct val="100000"/>
                        </a:lnSpc>
                        <a:spcBef>
                          <a:spcPts val="125"/>
                        </a:spcBef>
                      </a:pPr>
                      <a:r>
                        <a:rPr sz="1800" b="1" spc="5" dirty="0">
                          <a:solidFill>
                            <a:srgbClr val="4AACC5"/>
                          </a:solidFill>
                          <a:latin typeface="Microsoft JhengHei" panose="020B0604030504040204" charset="-120"/>
                          <a:cs typeface="Microsoft JhengHei" panose="020B0604030504040204" charset="-120"/>
                        </a:rPr>
                        <a:t>电子手表、煤气表</a:t>
                      </a:r>
                      <a:endParaRPr sz="1800">
                        <a:latin typeface="Microsoft JhengHei" panose="020B0604030504040204" charset="-120"/>
                        <a:cs typeface="Microsoft JhengHei" panose="020B0604030504040204" charset="-120"/>
                      </a:endParaRPr>
                    </a:p>
                  </a:txBody>
                  <a:tcPr marL="0" marR="0" marT="15875" marB="0"/>
                </a:tc>
              </a:tr>
              <a:tr h="505744">
                <a:tc>
                  <a:txBody>
                    <a:bodyPr/>
                    <a:p>
                      <a:pPr>
                        <a:lnSpc>
                          <a:spcPct val="100000"/>
                        </a:lnSpc>
                      </a:pPr>
                      <a:endParaRPr sz="1600">
                        <a:latin typeface="Times New Roman" panose="02020603050405020304"/>
                        <a:cs typeface="Times New Roman" panose="02020603050405020304"/>
                      </a:endParaRPr>
                    </a:p>
                  </a:txBody>
                  <a:tcPr marL="0" marR="0" marT="0" marB="0"/>
                </a:tc>
                <a:tc>
                  <a:txBody>
                    <a:bodyPr/>
                    <a:p>
                      <a:pPr>
                        <a:lnSpc>
                          <a:spcPct val="100000"/>
                        </a:lnSpc>
                      </a:pPr>
                      <a:endParaRPr sz="1600">
                        <a:latin typeface="Times New Roman" panose="02020603050405020304"/>
                        <a:cs typeface="Times New Roman" panose="02020603050405020304"/>
                      </a:endParaRPr>
                    </a:p>
                  </a:txBody>
                  <a:tcPr marL="0" marR="0" marT="0" marB="0"/>
                </a:tc>
                <a:tc>
                  <a:txBody>
                    <a:bodyPr/>
                    <a:p>
                      <a:pPr marL="107950">
                        <a:lnSpc>
                          <a:spcPct val="100000"/>
                        </a:lnSpc>
                        <a:spcBef>
                          <a:spcPts val="1170"/>
                        </a:spcBef>
                      </a:pPr>
                      <a:r>
                        <a:rPr sz="1800" b="1" spc="10" dirty="0">
                          <a:solidFill>
                            <a:srgbClr val="C0504D"/>
                          </a:solidFill>
                          <a:latin typeface="Microsoft JhengHei" panose="020B0604030504040204" charset="-120"/>
                          <a:cs typeface="Microsoft JhengHei" panose="020B0604030504040204" charset="-120"/>
                        </a:rPr>
                        <a:t>锂</a:t>
                      </a:r>
                      <a:r>
                        <a:rPr lang="en-US" sz="1800" b="1" spc="10" dirty="0">
                          <a:solidFill>
                            <a:srgbClr val="C0504D"/>
                          </a:solidFill>
                          <a:latin typeface="Microsoft JhengHei" panose="020B0604030504040204" charset="-120"/>
                          <a:cs typeface="Microsoft JhengHei" panose="020B0604030504040204" charset="-120"/>
                        </a:rPr>
                        <a:t>-</a:t>
                      </a:r>
                      <a:r>
                        <a:rPr sz="1800" b="1" spc="10" dirty="0">
                          <a:solidFill>
                            <a:srgbClr val="C0504D"/>
                          </a:solidFill>
                          <a:latin typeface="Microsoft JhengHei" panose="020B0604030504040204" charset="-120"/>
                          <a:cs typeface="Microsoft JhengHei" panose="020B0604030504040204" charset="-120"/>
                        </a:rPr>
                        <a:t>碘</a:t>
                      </a:r>
                      <a:r>
                        <a:rPr sz="1800" b="1" dirty="0">
                          <a:solidFill>
                            <a:srgbClr val="C0504D"/>
                          </a:solidFill>
                          <a:latin typeface="Microsoft JhengHei" panose="020B0604030504040204" charset="-120"/>
                          <a:cs typeface="Microsoft JhengHei" panose="020B0604030504040204" charset="-120"/>
                        </a:rPr>
                        <a:t>（</a:t>
                      </a:r>
                      <a:r>
                        <a:rPr sz="1800" b="1" dirty="0">
                          <a:solidFill>
                            <a:srgbClr val="C0504D"/>
                          </a:solidFill>
                          <a:latin typeface="Times New Roman" panose="02020603050405020304"/>
                          <a:cs typeface="Times New Roman" panose="02020603050405020304"/>
                        </a:rPr>
                        <a:t>Li/I</a:t>
                      </a:r>
                      <a:r>
                        <a:rPr sz="1800" b="1" baseline="-21000" dirty="0">
                          <a:solidFill>
                            <a:srgbClr val="C0504D"/>
                          </a:solidFill>
                          <a:latin typeface="Times New Roman" panose="02020603050405020304"/>
                          <a:cs typeface="Times New Roman" panose="02020603050405020304"/>
                        </a:rPr>
                        <a:t>2</a:t>
                      </a:r>
                      <a:r>
                        <a:rPr sz="1800" b="1" dirty="0">
                          <a:solidFill>
                            <a:srgbClr val="C0504D"/>
                          </a:solidFill>
                          <a:latin typeface="Microsoft JhengHei" panose="020B0604030504040204" charset="-120"/>
                          <a:cs typeface="Microsoft JhengHei" panose="020B0604030504040204" charset="-120"/>
                        </a:rPr>
                        <a:t>）</a:t>
                      </a:r>
                      <a:endParaRPr sz="1800">
                        <a:latin typeface="Microsoft JhengHei" panose="020B0604030504040204" charset="-120"/>
                        <a:cs typeface="Microsoft JhengHei" panose="020B0604030504040204" charset="-120"/>
                      </a:endParaRPr>
                    </a:p>
                  </a:txBody>
                  <a:tcPr marL="0" marR="0" marT="148590" marB="0"/>
                </a:tc>
                <a:tc>
                  <a:txBody>
                    <a:bodyPr/>
                    <a:p>
                      <a:pPr marL="66675">
                        <a:lnSpc>
                          <a:spcPct val="100000"/>
                        </a:lnSpc>
                        <a:spcBef>
                          <a:spcPts val="1170"/>
                        </a:spcBef>
                      </a:pPr>
                      <a:r>
                        <a:rPr sz="1800" b="1" spc="10" dirty="0">
                          <a:latin typeface="Microsoft JhengHei" panose="020B0604030504040204" charset="-120"/>
                          <a:cs typeface="Microsoft JhengHei" panose="020B0604030504040204" charset="-120"/>
                        </a:rPr>
                        <a:t>电池</a:t>
                      </a:r>
                      <a:endParaRPr sz="1800">
                        <a:latin typeface="Microsoft JhengHei" panose="020B0604030504040204" charset="-120"/>
                        <a:cs typeface="Microsoft JhengHei" panose="020B0604030504040204" charset="-120"/>
                      </a:endParaRPr>
                    </a:p>
                  </a:txBody>
                  <a:tcPr marL="0" marR="0" marT="148590" marB="0"/>
                </a:tc>
                <a:tc>
                  <a:txBody>
                    <a:bodyPr/>
                    <a:p>
                      <a:pPr marL="137160">
                        <a:lnSpc>
                          <a:spcPct val="100000"/>
                        </a:lnSpc>
                        <a:spcBef>
                          <a:spcPts val="1170"/>
                        </a:spcBef>
                      </a:pPr>
                      <a:r>
                        <a:rPr sz="1800" b="1" spc="10" dirty="0">
                          <a:solidFill>
                            <a:srgbClr val="4AACC5"/>
                          </a:solidFill>
                          <a:latin typeface="Microsoft JhengHei" panose="020B0604030504040204" charset="-120"/>
                          <a:cs typeface="Microsoft JhengHei" panose="020B0604030504040204" charset="-120"/>
                        </a:rPr>
                        <a:t>心脏起搏器</a:t>
                      </a:r>
                      <a:endParaRPr sz="1800">
                        <a:latin typeface="Microsoft JhengHei" panose="020B0604030504040204" charset="-120"/>
                        <a:cs typeface="Microsoft JhengHei" panose="020B0604030504040204" charset="-120"/>
                      </a:endParaRPr>
                    </a:p>
                  </a:txBody>
                  <a:tcPr marL="0" marR="0" marT="148590" marB="0"/>
                </a:tc>
              </a:tr>
              <a:tr h="562610">
                <a:tc>
                  <a:txBody>
                    <a:bodyPr/>
                    <a:p>
                      <a:pPr>
                        <a:lnSpc>
                          <a:spcPct val="100000"/>
                        </a:lnSpc>
                      </a:pPr>
                      <a:endParaRPr sz="1600">
                        <a:latin typeface="Times New Roman" panose="02020603050405020304"/>
                        <a:cs typeface="Times New Roman" panose="02020603050405020304"/>
                      </a:endParaRPr>
                    </a:p>
                  </a:txBody>
                  <a:tcPr marL="0" marR="0" marT="0" marB="0"/>
                </a:tc>
                <a:tc>
                  <a:txBody>
                    <a:bodyPr/>
                    <a:p>
                      <a:pPr>
                        <a:lnSpc>
                          <a:spcPct val="100000"/>
                        </a:lnSpc>
                      </a:pPr>
                      <a:endParaRPr sz="1600">
                        <a:latin typeface="Times New Roman" panose="02020603050405020304"/>
                        <a:cs typeface="Times New Roman" panose="02020603050405020304"/>
                      </a:endParaRPr>
                    </a:p>
                  </a:txBody>
                  <a:tcPr marL="0" marR="0" marT="0" marB="0"/>
                </a:tc>
                <a:tc>
                  <a:txBody>
                    <a:bodyPr/>
                    <a:p>
                      <a:pPr marL="107950">
                        <a:lnSpc>
                          <a:spcPct val="100000"/>
                        </a:lnSpc>
                        <a:spcBef>
                          <a:spcPts val="110"/>
                        </a:spcBef>
                      </a:pPr>
                      <a:r>
                        <a:rPr sz="1800" b="1" spc="10" dirty="0">
                          <a:solidFill>
                            <a:srgbClr val="C0504D"/>
                          </a:solidFill>
                          <a:latin typeface="Microsoft JhengHei" panose="020B0604030504040204" charset="-120"/>
                          <a:cs typeface="Microsoft JhengHei" panose="020B0604030504040204" charset="-120"/>
                        </a:rPr>
                        <a:t>锂</a:t>
                      </a:r>
                      <a:r>
                        <a:rPr lang="en-US" sz="1800" b="1" spc="10" dirty="0">
                          <a:solidFill>
                            <a:srgbClr val="C0504D"/>
                          </a:solidFill>
                          <a:latin typeface="Microsoft JhengHei" panose="020B0604030504040204" charset="-120"/>
                          <a:cs typeface="Microsoft JhengHei" panose="020B0604030504040204" charset="-120"/>
                        </a:rPr>
                        <a:t>-</a:t>
                      </a:r>
                      <a:r>
                        <a:rPr sz="1800" b="1" spc="10" dirty="0">
                          <a:solidFill>
                            <a:srgbClr val="C0504D"/>
                          </a:solidFill>
                          <a:latin typeface="Microsoft JhengHei" panose="020B0604030504040204" charset="-120"/>
                          <a:cs typeface="Microsoft JhengHei" panose="020B0604030504040204" charset="-120"/>
                        </a:rPr>
                        <a:t>二氯亚砜</a:t>
                      </a:r>
                      <a:r>
                        <a:rPr sz="1800" b="1" dirty="0">
                          <a:solidFill>
                            <a:srgbClr val="C0504D"/>
                          </a:solidFill>
                          <a:latin typeface="Microsoft JhengHei" panose="020B0604030504040204" charset="-120"/>
                          <a:cs typeface="Microsoft JhengHei" panose="020B0604030504040204" charset="-120"/>
                        </a:rPr>
                        <a:t>（</a:t>
                      </a:r>
                      <a:r>
                        <a:rPr sz="1800" b="1" dirty="0">
                          <a:solidFill>
                            <a:srgbClr val="C0504D"/>
                          </a:solidFill>
                          <a:latin typeface="Times New Roman" panose="02020603050405020304"/>
                          <a:cs typeface="Times New Roman" panose="02020603050405020304"/>
                        </a:rPr>
                        <a:t>Li/SOCl</a:t>
                      </a:r>
                      <a:r>
                        <a:rPr sz="1800" b="1" baseline="-21000" dirty="0">
                          <a:solidFill>
                            <a:srgbClr val="C0504D"/>
                          </a:solidFill>
                          <a:latin typeface="Times New Roman" panose="02020603050405020304"/>
                          <a:cs typeface="Times New Roman" panose="02020603050405020304"/>
                        </a:rPr>
                        <a:t>2</a:t>
                      </a:r>
                      <a:r>
                        <a:rPr sz="1800" b="1" dirty="0">
                          <a:solidFill>
                            <a:srgbClr val="C0504D"/>
                          </a:solidFill>
                          <a:latin typeface="Microsoft JhengHei" panose="020B0604030504040204" charset="-120"/>
                          <a:cs typeface="Microsoft JhengHei" panose="020B0604030504040204" charset="-120"/>
                        </a:rPr>
                        <a:t>）</a:t>
                      </a:r>
                      <a:endParaRPr sz="1800">
                        <a:latin typeface="Microsoft JhengHei" panose="020B0604030504040204" charset="-120"/>
                        <a:cs typeface="Microsoft JhengHei" panose="020B0604030504040204" charset="-120"/>
                      </a:endParaRPr>
                    </a:p>
                  </a:txBody>
                  <a:tcPr marL="0" marR="0" marT="13970" marB="0"/>
                </a:tc>
                <a:tc>
                  <a:txBody>
                    <a:bodyPr/>
                    <a:p>
                      <a:pPr marL="66675">
                        <a:lnSpc>
                          <a:spcPct val="100000"/>
                        </a:lnSpc>
                        <a:spcBef>
                          <a:spcPts val="110"/>
                        </a:spcBef>
                      </a:pPr>
                      <a:r>
                        <a:rPr sz="1800" b="1" spc="10" dirty="0">
                          <a:latin typeface="Microsoft JhengHei" panose="020B0604030504040204" charset="-120"/>
                          <a:cs typeface="Microsoft JhengHei" panose="020B0604030504040204" charset="-120"/>
                        </a:rPr>
                        <a:t>电池</a:t>
                      </a:r>
                      <a:endParaRPr sz="1800">
                        <a:latin typeface="Microsoft JhengHei" panose="020B0604030504040204" charset="-120"/>
                        <a:cs typeface="Microsoft JhengHei" panose="020B0604030504040204" charset="-120"/>
                      </a:endParaRPr>
                    </a:p>
                  </a:txBody>
                  <a:tcPr marL="0" marR="0" marT="13970" marB="0"/>
                </a:tc>
                <a:tc>
                  <a:txBody>
                    <a:bodyPr/>
                    <a:p>
                      <a:pPr marL="137160">
                        <a:lnSpc>
                          <a:spcPct val="100000"/>
                        </a:lnSpc>
                        <a:spcBef>
                          <a:spcPts val="110"/>
                        </a:spcBef>
                      </a:pPr>
                      <a:r>
                        <a:rPr sz="1800" b="1" spc="10" dirty="0">
                          <a:solidFill>
                            <a:srgbClr val="4AACC5"/>
                          </a:solidFill>
                          <a:latin typeface="Microsoft JhengHei" panose="020B0604030504040204" charset="-120"/>
                          <a:cs typeface="Microsoft JhengHei" panose="020B0604030504040204" charset="-120"/>
                        </a:rPr>
                        <a:t>军事目的</a:t>
                      </a:r>
                      <a:r>
                        <a:rPr lang="zh-CN" sz="1800" b="1" spc="10" dirty="0">
                          <a:solidFill>
                            <a:srgbClr val="4AACC5"/>
                          </a:solidFill>
                          <a:latin typeface="Microsoft JhengHei" panose="020B0604030504040204" charset="-120"/>
                          <a:cs typeface="Microsoft JhengHei" panose="020B0604030504040204" charset="-120"/>
                        </a:rPr>
                        <a:t>，</a:t>
                      </a:r>
                      <a:r>
                        <a:rPr lang="en-US" altLang="zh-CN" sz="1800" b="1" spc="10" dirty="0">
                          <a:solidFill>
                            <a:srgbClr val="4AACC5"/>
                          </a:solidFill>
                          <a:latin typeface="+mj-lt"/>
                          <a:cs typeface="+mj-lt"/>
                          <a:sym typeface="+mn-ea"/>
                        </a:rPr>
                        <a:t>500 Wh kg</a:t>
                      </a:r>
                      <a:r>
                        <a:rPr lang="en-US" altLang="zh-CN" sz="1800" b="1" spc="10" baseline="30000" dirty="0">
                          <a:solidFill>
                            <a:srgbClr val="4AACC5"/>
                          </a:solidFill>
                          <a:latin typeface="+mj-lt"/>
                          <a:cs typeface="+mj-lt"/>
                          <a:sym typeface="+mn-ea"/>
                        </a:rPr>
                        <a:t>-1</a:t>
                      </a:r>
                      <a:endParaRPr lang="zh-CN" sz="1800" b="1" spc="10" dirty="0">
                        <a:solidFill>
                          <a:srgbClr val="4AACC5"/>
                        </a:solidFill>
                        <a:latin typeface="+mj-lt"/>
                        <a:cs typeface="+mj-lt"/>
                      </a:endParaRPr>
                    </a:p>
                  </a:txBody>
                  <a:tcPr marL="0" marR="0" marT="13970" marB="0"/>
                </a:tc>
              </a:tr>
              <a:tr h="332331">
                <a:tc>
                  <a:txBody>
                    <a:bodyPr/>
                    <a:p>
                      <a:pPr>
                        <a:lnSpc>
                          <a:spcPct val="100000"/>
                        </a:lnSpc>
                      </a:pPr>
                      <a:endParaRPr sz="1600">
                        <a:latin typeface="Times New Roman" panose="02020603050405020304"/>
                        <a:cs typeface="Times New Roman" panose="02020603050405020304"/>
                      </a:endParaRPr>
                    </a:p>
                  </a:txBody>
                  <a:tcPr marL="0" marR="0" marT="0" marB="0"/>
                </a:tc>
                <a:tc>
                  <a:txBody>
                    <a:bodyPr/>
                    <a:p>
                      <a:pPr>
                        <a:lnSpc>
                          <a:spcPct val="100000"/>
                        </a:lnSpc>
                      </a:pPr>
                      <a:endParaRPr sz="1600">
                        <a:latin typeface="Times New Roman" panose="02020603050405020304"/>
                        <a:cs typeface="Times New Roman" panose="02020603050405020304"/>
                      </a:endParaRPr>
                    </a:p>
                  </a:txBody>
                  <a:tcPr marL="0" marR="0" marT="0" marB="0"/>
                </a:tc>
                <a:tc>
                  <a:txBody>
                    <a:bodyPr/>
                    <a:p>
                      <a:pPr marL="107950">
                        <a:lnSpc>
                          <a:spcPct val="100000"/>
                        </a:lnSpc>
                        <a:spcBef>
                          <a:spcPts val="110"/>
                        </a:spcBef>
                      </a:pPr>
                      <a:r>
                        <a:rPr sz="1800" b="1" spc="10" dirty="0">
                          <a:solidFill>
                            <a:srgbClr val="C0504D"/>
                          </a:solidFill>
                          <a:latin typeface="Microsoft JhengHei" panose="020B0604030504040204" charset="-120"/>
                          <a:cs typeface="Microsoft JhengHei" panose="020B0604030504040204" charset="-120"/>
                        </a:rPr>
                        <a:t>锂</a:t>
                      </a:r>
                      <a:r>
                        <a:rPr lang="en-US" sz="1800" b="1" spc="10" dirty="0">
                          <a:solidFill>
                            <a:srgbClr val="C0504D"/>
                          </a:solidFill>
                          <a:latin typeface="Microsoft JhengHei" panose="020B0604030504040204" charset="-120"/>
                          <a:cs typeface="Microsoft JhengHei" panose="020B0604030504040204" charset="-120"/>
                        </a:rPr>
                        <a:t>-</a:t>
                      </a:r>
                      <a:r>
                        <a:rPr sz="1800" b="1" spc="10" dirty="0">
                          <a:solidFill>
                            <a:srgbClr val="C0504D"/>
                          </a:solidFill>
                          <a:latin typeface="Microsoft JhengHei" panose="020B0604030504040204" charset="-120"/>
                          <a:cs typeface="Microsoft JhengHei" panose="020B0604030504040204" charset="-120"/>
                        </a:rPr>
                        <a:t>二硫化铁</a:t>
                      </a:r>
                      <a:r>
                        <a:rPr sz="1800" b="1" dirty="0">
                          <a:solidFill>
                            <a:srgbClr val="C0504D"/>
                          </a:solidFill>
                          <a:latin typeface="Microsoft JhengHei" panose="020B0604030504040204" charset="-120"/>
                          <a:cs typeface="Microsoft JhengHei" panose="020B0604030504040204" charset="-120"/>
                        </a:rPr>
                        <a:t>（</a:t>
                      </a:r>
                      <a:r>
                        <a:rPr sz="1800" b="1" dirty="0">
                          <a:solidFill>
                            <a:srgbClr val="C0504D"/>
                          </a:solidFill>
                          <a:latin typeface="Times New Roman" panose="02020603050405020304"/>
                          <a:cs typeface="Times New Roman" panose="02020603050405020304"/>
                        </a:rPr>
                        <a:t>Li/FeS</a:t>
                      </a:r>
                      <a:r>
                        <a:rPr sz="1800" b="1" baseline="-21000" dirty="0">
                          <a:solidFill>
                            <a:srgbClr val="C0504D"/>
                          </a:solidFill>
                          <a:latin typeface="Times New Roman" panose="02020603050405020304"/>
                          <a:cs typeface="Times New Roman" panose="02020603050405020304"/>
                        </a:rPr>
                        <a:t>2</a:t>
                      </a:r>
                      <a:r>
                        <a:rPr sz="1800" b="1" dirty="0">
                          <a:solidFill>
                            <a:srgbClr val="C0504D"/>
                          </a:solidFill>
                          <a:latin typeface="Microsoft JhengHei" panose="020B0604030504040204" charset="-120"/>
                          <a:cs typeface="Microsoft JhengHei" panose="020B0604030504040204" charset="-120"/>
                        </a:rPr>
                        <a:t>）</a:t>
                      </a:r>
                      <a:endParaRPr sz="1800">
                        <a:latin typeface="Microsoft JhengHei" panose="020B0604030504040204" charset="-120"/>
                        <a:cs typeface="Microsoft JhengHei" panose="020B0604030504040204" charset="-120"/>
                      </a:endParaRPr>
                    </a:p>
                  </a:txBody>
                  <a:tcPr marL="0" marR="0" marT="13970" marB="0"/>
                </a:tc>
                <a:tc>
                  <a:txBody>
                    <a:bodyPr/>
                    <a:p>
                      <a:pPr marL="66675">
                        <a:lnSpc>
                          <a:spcPct val="100000"/>
                        </a:lnSpc>
                        <a:spcBef>
                          <a:spcPts val="110"/>
                        </a:spcBef>
                      </a:pPr>
                      <a:r>
                        <a:rPr sz="1800" b="1" spc="10" dirty="0">
                          <a:latin typeface="Microsoft JhengHei" panose="020B0604030504040204" charset="-120"/>
                          <a:cs typeface="Microsoft JhengHei" panose="020B0604030504040204" charset="-120"/>
                        </a:rPr>
                        <a:t>电池</a:t>
                      </a:r>
                      <a:endParaRPr sz="1800">
                        <a:latin typeface="Microsoft JhengHei" panose="020B0604030504040204" charset="-120"/>
                        <a:cs typeface="Microsoft JhengHei" panose="020B0604030504040204" charset="-120"/>
                      </a:endParaRPr>
                    </a:p>
                  </a:txBody>
                  <a:tcPr marL="0" marR="0" marT="13970" marB="0"/>
                </a:tc>
                <a:tc>
                  <a:txBody>
                    <a:bodyPr/>
                    <a:p>
                      <a:pPr marL="137160">
                        <a:lnSpc>
                          <a:spcPct val="100000"/>
                        </a:lnSpc>
                        <a:spcBef>
                          <a:spcPts val="110"/>
                        </a:spcBef>
                      </a:pPr>
                      <a:r>
                        <a:rPr sz="1800" b="1" spc="10" dirty="0">
                          <a:solidFill>
                            <a:srgbClr val="4AACC5"/>
                          </a:solidFill>
                          <a:latin typeface="Microsoft JhengHei" panose="020B0604030504040204" charset="-120"/>
                          <a:cs typeface="Microsoft JhengHei" panose="020B0604030504040204" charset="-120"/>
                        </a:rPr>
                        <a:t>综合性能最好</a:t>
                      </a:r>
                      <a:endParaRPr sz="1800">
                        <a:latin typeface="Microsoft JhengHei" panose="020B0604030504040204" charset="-120"/>
                        <a:cs typeface="Microsoft JhengHei" panose="020B0604030504040204" charset="-120"/>
                      </a:endParaRPr>
                    </a:p>
                  </a:txBody>
                  <a:tcPr marL="0" marR="0" marT="13970" marB="0"/>
                </a:tc>
              </a:tr>
            </a:tbl>
          </a:graphicData>
        </a:graphic>
      </p:graphicFrame>
      <p:sp>
        <p:nvSpPr>
          <p:cNvPr id="8" name="object 6"/>
          <p:cNvSpPr/>
          <p:nvPr/>
        </p:nvSpPr>
        <p:spPr>
          <a:xfrm>
            <a:off x="395287" y="5446191"/>
            <a:ext cx="1296924" cy="1092389"/>
          </a:xfrm>
          <a:prstGeom prst="rect">
            <a:avLst/>
          </a:prstGeom>
          <a:blipFill>
            <a:blip r:embed="rId2" cstate="print"/>
            <a:stretch>
              <a:fillRect/>
            </a:stretch>
          </a:blipFill>
        </p:spPr>
        <p:txBody>
          <a:bodyPr wrap="square" lIns="0" tIns="0" rIns="0" bIns="0" rtlCol="0"/>
          <a:p/>
        </p:txBody>
      </p:sp>
      <p:sp>
        <p:nvSpPr>
          <p:cNvPr id="9" name="object 7"/>
          <p:cNvSpPr txBox="1"/>
          <p:nvPr/>
        </p:nvSpPr>
        <p:spPr>
          <a:xfrm>
            <a:off x="1626870" y="6195466"/>
            <a:ext cx="1931035" cy="299720"/>
          </a:xfrm>
          <a:prstGeom prst="rect">
            <a:avLst/>
          </a:prstGeom>
        </p:spPr>
        <p:txBody>
          <a:bodyPr vert="horz" wrap="square" lIns="0" tIns="12700" rIns="0" bIns="0" rtlCol="0">
            <a:spAutoFit/>
          </a:bodyPr>
          <a:p>
            <a:pPr marL="12700">
              <a:lnSpc>
                <a:spcPct val="100000"/>
              </a:lnSpc>
              <a:spcBef>
                <a:spcPts val="100"/>
              </a:spcBef>
            </a:pPr>
            <a:r>
              <a:rPr sz="1800" b="1" spc="10" dirty="0">
                <a:latin typeface="Microsoft JhengHei" panose="020B0604030504040204" charset="-120"/>
                <a:cs typeface="Microsoft JhengHei" panose="020B0604030504040204" charset="-120"/>
              </a:rPr>
              <a:t>亚硫酰氯</a:t>
            </a:r>
            <a:r>
              <a:rPr sz="1800" b="1" spc="5" dirty="0">
                <a:latin typeface="Times New Roman" panose="02020603050405020304"/>
                <a:cs typeface="Times New Roman" panose="02020603050405020304"/>
              </a:rPr>
              <a:t>/</a:t>
            </a:r>
            <a:r>
              <a:rPr sz="1800" b="1" spc="10" dirty="0">
                <a:latin typeface="Microsoft JhengHei" panose="020B0604030504040204" charset="-120"/>
                <a:cs typeface="Microsoft JhengHei" panose="020B0604030504040204" charset="-120"/>
              </a:rPr>
              <a:t>二氯亚砜</a:t>
            </a:r>
            <a:endParaRPr sz="1800">
              <a:latin typeface="Microsoft JhengHei" panose="020B0604030504040204" charset="-120"/>
              <a:cs typeface="Microsoft JhengHei" panose="020B0604030504040204" charset="-120"/>
            </a:endParaRPr>
          </a:p>
        </p:txBody>
      </p:sp>
      <p:sp>
        <p:nvSpPr>
          <p:cNvPr id="10" name="object 8"/>
          <p:cNvSpPr/>
          <p:nvPr/>
        </p:nvSpPr>
        <p:spPr>
          <a:xfrm>
            <a:off x="5363591" y="476885"/>
            <a:ext cx="1295400" cy="1139825"/>
          </a:xfrm>
          <a:prstGeom prst="rect">
            <a:avLst/>
          </a:prstGeom>
          <a:blipFill>
            <a:blip r:embed="rId3" cstate="print"/>
            <a:stretch>
              <a:fillRect/>
            </a:stretch>
          </a:blipFill>
        </p:spPr>
        <p:txBody>
          <a:bodyPr wrap="square" lIns="0" tIns="0" rIns="0" bIns="0" rtlCol="0"/>
          <a:p/>
        </p:txBody>
      </p:sp>
    </p:spTree>
  </p:cSld>
  <p:clrMapOvr>
    <a:masterClrMapping/>
  </p:clrMapOvr>
  <p:transition>
    <p:randomBar dir="vert"/>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3"/>
          <p:cNvSpPr>
            <a:spLocks noGrp="1" noRot="1" noChangeArrowheads="1"/>
          </p:cNvSpPr>
          <p:nvPr>
            <p:ph type="body" idx="1"/>
          </p:nvPr>
        </p:nvSpPr>
        <p:spPr/>
        <p:txBody>
          <a:bodyPr/>
          <a:lstStyle/>
          <a:p>
            <a:pPr>
              <a:buFont typeface="Wingdings" panose="05000000000000000000" pitchFamily="2" charset="2"/>
              <a:buNone/>
            </a:pPr>
            <a:r>
              <a:rPr lang="en-US" altLang="zh-CN">
                <a:solidFill>
                  <a:srgbClr val="0033CC"/>
                </a:solidFill>
                <a:latin typeface="Times New Roman" panose="02020603050405020304" pitchFamily="18" charset="0"/>
                <a:ea typeface="楷体_GB2312" pitchFamily="49" charset="-122"/>
              </a:rPr>
              <a:t>3.3.1 </a:t>
            </a:r>
            <a:r>
              <a:rPr lang="zh-CN" altLang="en-US">
                <a:solidFill>
                  <a:srgbClr val="0033CC"/>
                </a:solidFill>
                <a:latin typeface="Times New Roman" panose="02020603050405020304" pitchFamily="18" charset="0"/>
                <a:ea typeface="楷体_GB2312" pitchFamily="49" charset="-122"/>
              </a:rPr>
              <a:t>铅酸蓄电池</a:t>
            </a:r>
            <a:endParaRPr lang="zh-CN" altLang="en-US">
              <a:solidFill>
                <a:srgbClr val="0033CC"/>
              </a:solidFill>
              <a:latin typeface="Times New Roman" panose="02020603050405020304" pitchFamily="18" charset="0"/>
              <a:ea typeface="楷体_GB2312" pitchFamily="49" charset="-122"/>
            </a:endParaRPr>
          </a:p>
          <a:p>
            <a:pPr>
              <a:buFont typeface="Wingdings" panose="05000000000000000000" pitchFamily="2" charset="2"/>
              <a:buNone/>
            </a:pPr>
            <a:endParaRPr lang="en-US" altLang="zh-CN">
              <a:solidFill>
                <a:srgbClr val="0033CC"/>
              </a:solidFill>
              <a:latin typeface="Times New Roman" panose="02020603050405020304" pitchFamily="18" charset="0"/>
              <a:ea typeface="楷体_GB2312" pitchFamily="49" charset="-122"/>
            </a:endParaRPr>
          </a:p>
          <a:p>
            <a:pPr>
              <a:buFont typeface="Wingdings" panose="05000000000000000000" pitchFamily="2" charset="2"/>
              <a:buNone/>
            </a:pPr>
            <a:r>
              <a:rPr lang="en-US" altLang="zh-CN">
                <a:solidFill>
                  <a:srgbClr val="0033CC"/>
                </a:solidFill>
                <a:latin typeface="Times New Roman" panose="02020603050405020304" pitchFamily="18" charset="0"/>
                <a:ea typeface="楷体_GB2312" pitchFamily="49" charset="-122"/>
              </a:rPr>
              <a:t>3.3.2 </a:t>
            </a:r>
            <a:r>
              <a:rPr lang="zh-CN" altLang="en-US">
                <a:solidFill>
                  <a:srgbClr val="0033CC"/>
                </a:solidFill>
                <a:latin typeface="Times New Roman" panose="02020603050405020304" pitchFamily="18" charset="0"/>
                <a:ea typeface="楷体_GB2312" pitchFamily="49" charset="-122"/>
              </a:rPr>
              <a:t>镉镍电池</a:t>
            </a:r>
            <a:endParaRPr lang="zh-CN" altLang="en-US">
              <a:solidFill>
                <a:srgbClr val="0033CC"/>
              </a:solidFill>
              <a:latin typeface="Times New Roman" panose="02020603050405020304" pitchFamily="18" charset="0"/>
              <a:ea typeface="楷体_GB2312" pitchFamily="49" charset="-122"/>
            </a:endParaRPr>
          </a:p>
          <a:p>
            <a:pPr>
              <a:buFont typeface="Wingdings" panose="05000000000000000000" pitchFamily="2" charset="2"/>
              <a:buNone/>
            </a:pPr>
            <a:endParaRPr lang="en-US" altLang="zh-CN">
              <a:solidFill>
                <a:srgbClr val="0033CC"/>
              </a:solidFill>
              <a:latin typeface="Times New Roman" panose="02020603050405020304" pitchFamily="18" charset="0"/>
              <a:ea typeface="楷体_GB2312" pitchFamily="49" charset="-122"/>
            </a:endParaRPr>
          </a:p>
          <a:p>
            <a:pPr>
              <a:buFont typeface="Wingdings" panose="05000000000000000000" pitchFamily="2" charset="2"/>
              <a:buNone/>
            </a:pPr>
            <a:r>
              <a:rPr lang="en-US" altLang="zh-CN">
                <a:solidFill>
                  <a:srgbClr val="0033CC"/>
                </a:solidFill>
                <a:latin typeface="Times New Roman" panose="02020603050405020304" pitchFamily="18" charset="0"/>
                <a:ea typeface="楷体_GB2312" pitchFamily="49" charset="-122"/>
              </a:rPr>
              <a:t>3.3.3 </a:t>
            </a:r>
            <a:r>
              <a:rPr lang="zh-CN" altLang="en-US">
                <a:solidFill>
                  <a:srgbClr val="0033CC"/>
                </a:solidFill>
                <a:latin typeface="Times New Roman" panose="02020603050405020304" pitchFamily="18" charset="0"/>
                <a:ea typeface="楷体_GB2312" pitchFamily="49" charset="-122"/>
              </a:rPr>
              <a:t>镍氢电池</a:t>
            </a:r>
            <a:endParaRPr lang="zh-CN" altLang="en-US">
              <a:solidFill>
                <a:srgbClr val="0033CC"/>
              </a:solidFill>
              <a:latin typeface="Times New Roman" panose="02020603050405020304" pitchFamily="18" charset="0"/>
              <a:ea typeface="楷体_GB2312" pitchFamily="49" charset="-122"/>
            </a:endParaRPr>
          </a:p>
          <a:p>
            <a:pPr>
              <a:buFont typeface="Wingdings" panose="05000000000000000000" pitchFamily="2" charset="2"/>
              <a:buNone/>
            </a:pPr>
            <a:endParaRPr lang="en-US" altLang="zh-CN">
              <a:solidFill>
                <a:srgbClr val="0033CC"/>
              </a:solidFill>
              <a:latin typeface="Times New Roman" panose="02020603050405020304" pitchFamily="18" charset="0"/>
              <a:ea typeface="楷体_GB2312" pitchFamily="49" charset="-122"/>
            </a:endParaRPr>
          </a:p>
          <a:p>
            <a:pPr>
              <a:buFont typeface="Wingdings" panose="05000000000000000000" pitchFamily="2" charset="2"/>
              <a:buNone/>
            </a:pPr>
            <a:r>
              <a:rPr lang="en-US" altLang="zh-CN">
                <a:solidFill>
                  <a:srgbClr val="0033CC"/>
                </a:solidFill>
                <a:latin typeface="Times New Roman" panose="02020603050405020304" pitchFamily="18" charset="0"/>
                <a:ea typeface="楷体_GB2312" pitchFamily="49" charset="-122"/>
              </a:rPr>
              <a:t>3.3.4 </a:t>
            </a:r>
            <a:r>
              <a:rPr lang="zh-CN" altLang="en-US">
                <a:solidFill>
                  <a:srgbClr val="0033CC"/>
                </a:solidFill>
                <a:latin typeface="Times New Roman" panose="02020603050405020304" pitchFamily="18" charset="0"/>
                <a:ea typeface="楷体_GB2312" pitchFamily="49" charset="-122"/>
              </a:rPr>
              <a:t>锂离子电池</a:t>
            </a:r>
            <a:endParaRPr lang="zh-CN" altLang="en-US">
              <a:solidFill>
                <a:srgbClr val="0033CC"/>
              </a:solidFill>
              <a:latin typeface="Times New Roman" panose="02020603050405020304" pitchFamily="18" charset="0"/>
              <a:ea typeface="楷体_GB2312" pitchFamily="49" charset="-122"/>
            </a:endParaRPr>
          </a:p>
        </p:txBody>
      </p:sp>
      <p:sp>
        <p:nvSpPr>
          <p:cNvPr id="26627" name="Rectangle 2"/>
          <p:cNvSpPr>
            <a:spLocks noRot="1" noChangeArrowheads="1"/>
          </p:cNvSpPr>
          <p:nvPr/>
        </p:nvSpPr>
        <p:spPr bwMode="auto">
          <a:xfrm>
            <a:off x="304800" y="304800"/>
            <a:ext cx="8540750" cy="11430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eaLnBrk="1" hangingPunct="1"/>
            <a:r>
              <a:rPr lang="en-US" altLang="zh-CN" sz="4000">
                <a:solidFill>
                  <a:schemeClr val="tx1"/>
                </a:solidFill>
              </a:rPr>
              <a:t>3.3  </a:t>
            </a:r>
            <a:r>
              <a:rPr lang="zh-CN" altLang="en-US" sz="4000">
                <a:solidFill>
                  <a:schemeClr val="tx1"/>
                </a:solidFill>
              </a:rPr>
              <a:t>二次电池（蓄电池）</a:t>
            </a:r>
            <a:endParaRPr lang="zh-CN" altLang="en-US" sz="4000">
              <a:solidFill>
                <a:schemeClr val="tx1"/>
              </a:solidFill>
            </a:endParaRPr>
          </a:p>
        </p:txBody>
      </p:sp>
    </p:spTree>
  </p:cSld>
  <p:clrMapOvr>
    <a:masterClrMapping/>
  </p:clrMapOvr>
  <p:transition>
    <p:randomBar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rrowheads="1"/>
          </p:cNvSpPr>
          <p:nvPr>
            <p:ph type="title"/>
          </p:nvPr>
        </p:nvSpPr>
        <p:spPr>
          <a:xfrm>
            <a:off x="301625" y="457200"/>
            <a:ext cx="8540750" cy="685800"/>
          </a:xfrm>
        </p:spPr>
        <p:txBody>
          <a:bodyPr/>
          <a:lstStyle/>
          <a:p>
            <a:pPr algn="l"/>
            <a:r>
              <a:rPr lang="zh-CN" altLang="en-US" sz="3200">
                <a:solidFill>
                  <a:srgbClr val="FF3300"/>
                </a:solidFill>
                <a:ea typeface="黑体" panose="02010609060101010101" pitchFamily="49" charset="-122"/>
              </a:rPr>
              <a:t>二次电池综述</a:t>
            </a:r>
            <a:endParaRPr lang="zh-CN" altLang="en-US" sz="3200">
              <a:solidFill>
                <a:srgbClr val="FF3300"/>
              </a:solidFill>
              <a:ea typeface="黑体" panose="02010609060101010101" pitchFamily="49" charset="-122"/>
            </a:endParaRPr>
          </a:p>
        </p:txBody>
      </p:sp>
      <p:sp>
        <p:nvSpPr>
          <p:cNvPr id="27651" name="Text Box 5"/>
          <p:cNvSpPr txBox="1">
            <a:spLocks noChangeArrowheads="1"/>
          </p:cNvSpPr>
          <p:nvPr/>
        </p:nvSpPr>
        <p:spPr bwMode="auto">
          <a:xfrm>
            <a:off x="279400" y="1231900"/>
            <a:ext cx="8648700" cy="487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a:lnSpc>
                <a:spcPct val="140000"/>
              </a:lnSpc>
              <a:buClr>
                <a:schemeClr val="folHlink"/>
              </a:buClr>
              <a:buFont typeface="Wingdings" panose="05000000000000000000" pitchFamily="2" charset="2"/>
              <a:buNone/>
            </a:pPr>
            <a:r>
              <a:rPr lang="zh-CN" altLang="en-US" sz="2800" dirty="0">
                <a:solidFill>
                  <a:schemeClr val="tx1"/>
                </a:solidFill>
                <a:latin typeface="Arial" panose="020B0604020202020204" pitchFamily="34" charset="0"/>
                <a:ea typeface="楷体_GB2312" pitchFamily="49" charset="-122"/>
              </a:rPr>
              <a:t>      </a:t>
            </a:r>
            <a:r>
              <a:rPr lang="zh-CN" altLang="en-US" sz="2800" dirty="0">
                <a:solidFill>
                  <a:schemeClr val="tx1"/>
                </a:solidFill>
                <a:ea typeface="楷体_GB2312" pitchFamily="49" charset="-122"/>
              </a:rPr>
              <a:t>二次电池放电后，可以反向充电，使活性物质再生，恢复到放电前的状态，故可以重复使用，所以它是一种</a:t>
            </a:r>
            <a:r>
              <a:rPr lang="zh-CN" altLang="en-US" sz="2800" u="sng" dirty="0">
                <a:solidFill>
                  <a:srgbClr val="FF3300"/>
                </a:solidFill>
                <a:ea typeface="楷体_GB2312" pitchFamily="49" charset="-122"/>
              </a:rPr>
              <a:t>电能储存器</a:t>
            </a:r>
            <a:r>
              <a:rPr lang="zh-CN" altLang="en-US" sz="2800" dirty="0">
                <a:solidFill>
                  <a:schemeClr val="tx1"/>
                </a:solidFill>
                <a:ea typeface="楷体_GB2312" pitchFamily="49" charset="-122"/>
              </a:rPr>
              <a:t>。</a:t>
            </a:r>
            <a:endParaRPr lang="zh-CN" altLang="en-US" sz="2800" dirty="0">
              <a:solidFill>
                <a:schemeClr val="tx1"/>
              </a:solidFill>
              <a:ea typeface="楷体_GB2312" pitchFamily="49" charset="-122"/>
            </a:endParaRPr>
          </a:p>
          <a:p>
            <a:pPr>
              <a:lnSpc>
                <a:spcPct val="140000"/>
              </a:lnSpc>
              <a:buClr>
                <a:schemeClr val="folHlink"/>
              </a:buClr>
              <a:buFont typeface="Wingdings" panose="05000000000000000000" pitchFamily="2" charset="2"/>
              <a:buNone/>
            </a:pPr>
            <a:r>
              <a:rPr lang="zh-CN" altLang="en-US" sz="2800" dirty="0">
                <a:solidFill>
                  <a:schemeClr val="tx1"/>
                </a:solidFill>
                <a:ea typeface="楷体_GB2312" pitchFamily="49" charset="-122"/>
              </a:rPr>
              <a:t>    日常生活中常见的二次电池：</a:t>
            </a:r>
            <a:endParaRPr lang="zh-CN" altLang="en-US" sz="2800" dirty="0">
              <a:solidFill>
                <a:schemeClr val="tx1"/>
              </a:solidFill>
              <a:ea typeface="楷体_GB2312" pitchFamily="49" charset="-122"/>
            </a:endParaRPr>
          </a:p>
          <a:p>
            <a:pPr>
              <a:lnSpc>
                <a:spcPct val="140000"/>
              </a:lnSpc>
              <a:buClr>
                <a:schemeClr val="folHlink"/>
              </a:buClr>
              <a:buFont typeface="Wingdings" panose="05000000000000000000" pitchFamily="2" charset="2"/>
              <a:buNone/>
            </a:pPr>
            <a:r>
              <a:rPr lang="zh-CN" altLang="en-US" sz="2800" dirty="0">
                <a:solidFill>
                  <a:schemeClr val="tx1"/>
                </a:solidFill>
                <a:ea typeface="楷体_GB2312" pitchFamily="49" charset="-122"/>
              </a:rPr>
              <a:t>　铅蓄电池；镍镉二次电池；镍氢二次电池；锂离子二次电池；导电聚合物二次电池等</a:t>
            </a:r>
            <a:endParaRPr lang="zh-CN" altLang="en-US" sz="2800" dirty="0">
              <a:solidFill>
                <a:schemeClr val="tx1"/>
              </a:solidFill>
              <a:ea typeface="楷体_GB2312" pitchFamily="49" charset="-122"/>
            </a:endParaRPr>
          </a:p>
          <a:p>
            <a:pPr>
              <a:lnSpc>
                <a:spcPct val="140000"/>
              </a:lnSpc>
              <a:buClr>
                <a:schemeClr val="folHlink"/>
              </a:buClr>
              <a:buFont typeface="Wingdings" panose="05000000000000000000" pitchFamily="2" charset="2"/>
              <a:buNone/>
            </a:pPr>
            <a:r>
              <a:rPr lang="zh-CN" altLang="en-US" sz="2800" dirty="0">
                <a:solidFill>
                  <a:schemeClr val="tx1"/>
                </a:solidFill>
                <a:ea typeface="楷体_GB2312" pitchFamily="49" charset="-122"/>
              </a:rPr>
              <a:t>　（如聚乙炔/</a:t>
            </a:r>
            <a:r>
              <a:rPr lang="en-US" altLang="zh-CN" sz="2800" dirty="0">
                <a:solidFill>
                  <a:schemeClr val="tx1"/>
                </a:solidFill>
                <a:ea typeface="楷体_GB2312" pitchFamily="49" charset="-122"/>
              </a:rPr>
              <a:t>Li</a:t>
            </a:r>
            <a:r>
              <a:rPr lang="zh-CN" altLang="en-US" sz="2800" dirty="0">
                <a:solidFill>
                  <a:schemeClr val="tx1"/>
                </a:solidFill>
                <a:ea typeface="楷体_GB2312" pitchFamily="49" charset="-122"/>
              </a:rPr>
              <a:t>电池，输出功率是铅酸电池的30倍，无酸雾和氢气，既安全又易操作）。</a:t>
            </a:r>
            <a:endParaRPr lang="zh-CN" altLang="en-US" sz="2800" dirty="0">
              <a:ea typeface="楷体_GB2312" pitchFamily="49" charset="-122"/>
            </a:endParaRPr>
          </a:p>
        </p:txBody>
      </p:sp>
    </p:spTree>
  </p:cSld>
  <p:clrMapOvr>
    <a:masterClrMapping/>
  </p:clrMapOvr>
  <p:transition>
    <p:randomBar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Rot="1" noChangeArrowheads="1"/>
          </p:cNvSpPr>
          <p:nvPr/>
        </p:nvSpPr>
        <p:spPr bwMode="auto">
          <a:xfrm>
            <a:off x="349250" y="304800"/>
            <a:ext cx="8540750" cy="11430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eaLnBrk="1" hangingPunct="1"/>
            <a:r>
              <a:rPr lang="en-US" altLang="zh-CN" sz="4000">
                <a:solidFill>
                  <a:schemeClr val="tx1"/>
                </a:solidFill>
              </a:rPr>
              <a:t>3.3.1 </a:t>
            </a:r>
            <a:r>
              <a:rPr lang="zh-CN" altLang="en-US" sz="4000">
                <a:solidFill>
                  <a:schemeClr val="tx1"/>
                </a:solidFill>
              </a:rPr>
              <a:t>铅酸蓄电池</a:t>
            </a:r>
            <a:endParaRPr lang="zh-CN" altLang="en-US" sz="4000">
              <a:solidFill>
                <a:schemeClr val="tx1"/>
              </a:solidFill>
            </a:endParaRPr>
          </a:p>
        </p:txBody>
      </p:sp>
      <p:pic>
        <p:nvPicPr>
          <p:cNvPr id="2" name="图片 1"/>
          <p:cNvPicPr>
            <a:picLocks noChangeAspect="1"/>
          </p:cNvPicPr>
          <p:nvPr>
            <p:custDataLst>
              <p:tags r:id="rId1"/>
            </p:custDataLst>
          </p:nvPr>
        </p:nvPicPr>
        <p:blipFill>
          <a:blip r:embed="rId2"/>
          <a:stretch>
            <a:fillRect/>
          </a:stretch>
        </p:blipFill>
        <p:spPr>
          <a:xfrm>
            <a:off x="384175" y="1701165"/>
            <a:ext cx="8505825" cy="4324350"/>
          </a:xfrm>
          <a:prstGeom prst="rect">
            <a:avLst/>
          </a:prstGeom>
        </p:spPr>
      </p:pic>
    </p:spTree>
  </p:cSld>
  <p:clrMapOvr>
    <a:masterClrMapping/>
  </p:clrMapOvr>
  <p:transition>
    <p:randomBar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 Box 4"/>
          <p:cNvSpPr txBox="1">
            <a:spLocks noChangeArrowheads="1"/>
          </p:cNvSpPr>
          <p:nvPr/>
        </p:nvSpPr>
        <p:spPr bwMode="auto">
          <a:xfrm>
            <a:off x="152400" y="1371600"/>
            <a:ext cx="8763000" cy="430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a:lnSpc>
                <a:spcPct val="150000"/>
              </a:lnSpc>
              <a:spcBef>
                <a:spcPct val="20000"/>
              </a:spcBef>
              <a:buClr>
                <a:schemeClr val="folHlink"/>
              </a:buClr>
              <a:buFont typeface="Wingdings" panose="05000000000000000000" pitchFamily="2" charset="2"/>
              <a:buNone/>
            </a:pPr>
            <a:r>
              <a:rPr lang="zh-CN" altLang="en-US" sz="3200" dirty="0">
                <a:solidFill>
                  <a:srgbClr val="FF3300"/>
                </a:solidFill>
                <a:latin typeface="Arial" panose="020B0604020202020204" pitchFamily="34" charset="0"/>
              </a:rPr>
              <a:t>铅酸蓄电池</a:t>
            </a:r>
            <a:r>
              <a:rPr lang="zh-CN" altLang="en-US" sz="3200" dirty="0">
                <a:solidFill>
                  <a:srgbClr val="FF3300"/>
                </a:solidFill>
                <a:latin typeface="楷体_GB2312" pitchFamily="49" charset="-122"/>
              </a:rPr>
              <a:t>结构</a:t>
            </a:r>
            <a:endParaRPr lang="zh-CN" altLang="en-US" sz="3200" dirty="0">
              <a:solidFill>
                <a:srgbClr val="FF3300"/>
              </a:solidFill>
              <a:latin typeface="楷体_GB2312" pitchFamily="49" charset="-122"/>
            </a:endParaRPr>
          </a:p>
          <a:p>
            <a:pPr>
              <a:lnSpc>
                <a:spcPct val="150000"/>
              </a:lnSpc>
              <a:spcBef>
                <a:spcPct val="20000"/>
              </a:spcBef>
              <a:buClr>
                <a:schemeClr val="folHlink"/>
              </a:buClr>
              <a:buFont typeface="Wingdings" panose="05000000000000000000" pitchFamily="2" charset="2"/>
              <a:buNone/>
            </a:pPr>
            <a:r>
              <a:rPr lang="zh-CN" altLang="en-US" sz="3200" dirty="0">
                <a:solidFill>
                  <a:schemeClr val="tx1"/>
                </a:solidFill>
                <a:latin typeface="楷体_GB2312" pitchFamily="49" charset="-122"/>
                <a:ea typeface="楷体_GB2312" pitchFamily="49" charset="-122"/>
              </a:rPr>
              <a:t>    </a:t>
            </a:r>
            <a:r>
              <a:rPr lang="zh-CN" altLang="en-US" sz="2800" dirty="0">
                <a:solidFill>
                  <a:schemeClr val="tx1"/>
                </a:solidFill>
                <a:latin typeface="楷体_GB2312" pitchFamily="49" charset="-122"/>
                <a:ea typeface="楷体_GB2312" pitchFamily="49" charset="-122"/>
              </a:rPr>
              <a:t>铅酸蓄电池一般由正极板组、负极板组、隔板、电池槽、电解液和接线端子等部分组成。</a:t>
            </a:r>
            <a:endParaRPr lang="zh-CN" altLang="en-US" sz="2800" dirty="0">
              <a:solidFill>
                <a:schemeClr val="tx1"/>
              </a:solidFill>
              <a:latin typeface="楷体_GB2312" pitchFamily="49" charset="-122"/>
              <a:ea typeface="楷体_GB2312" pitchFamily="49" charset="-122"/>
            </a:endParaRPr>
          </a:p>
          <a:p>
            <a:pPr>
              <a:lnSpc>
                <a:spcPct val="150000"/>
              </a:lnSpc>
              <a:spcBef>
                <a:spcPct val="20000"/>
              </a:spcBef>
              <a:buClr>
                <a:schemeClr val="folHlink"/>
              </a:buClr>
              <a:buFont typeface="Wingdings" panose="05000000000000000000" pitchFamily="2" charset="2"/>
              <a:buNone/>
            </a:pPr>
            <a:r>
              <a:rPr lang="zh-CN" altLang="en-US" sz="2800" dirty="0">
                <a:solidFill>
                  <a:schemeClr val="tx1"/>
                </a:solidFill>
                <a:latin typeface="楷体_GB2312" pitchFamily="49" charset="-122"/>
                <a:ea typeface="楷体_GB2312" pitchFamily="49" charset="-122"/>
              </a:rPr>
              <a:t>    正极板由</a:t>
            </a:r>
            <a:r>
              <a:rPr lang="zh-CN" altLang="en-US" sz="2800" dirty="0">
                <a:solidFill>
                  <a:srgbClr val="FF0000"/>
                </a:solidFill>
                <a:latin typeface="楷体_GB2312" pitchFamily="49" charset="-122"/>
                <a:ea typeface="楷体_GB2312" pitchFamily="49" charset="-122"/>
              </a:rPr>
              <a:t>板栅</a:t>
            </a:r>
            <a:r>
              <a:rPr lang="zh-CN" altLang="en-US" sz="2800" dirty="0">
                <a:solidFill>
                  <a:schemeClr val="tx1"/>
                </a:solidFill>
                <a:latin typeface="楷体_GB2312" pitchFamily="49" charset="-122"/>
                <a:ea typeface="楷体_GB2312" pitchFamily="49" charset="-122"/>
              </a:rPr>
              <a:t>和活性物质</a:t>
            </a:r>
            <a:r>
              <a:rPr lang="zh-CN" altLang="en-US" sz="2800" dirty="0">
                <a:solidFill>
                  <a:srgbClr val="FF0000"/>
                </a:solidFill>
                <a:latin typeface="楷体_GB2312" pitchFamily="49" charset="-122"/>
                <a:ea typeface="楷体_GB2312" pitchFamily="49" charset="-122"/>
              </a:rPr>
              <a:t>二氧化铅板</a:t>
            </a:r>
            <a:r>
              <a:rPr lang="en-US" altLang="zh-CN" sz="2800" dirty="0">
                <a:solidFill>
                  <a:schemeClr val="tx1"/>
                </a:solidFill>
                <a:latin typeface="楷体_GB2312" pitchFamily="49" charset="-122"/>
                <a:ea typeface="楷体_GB2312" pitchFamily="49" charset="-122"/>
              </a:rPr>
              <a:t>(</a:t>
            </a:r>
            <a:r>
              <a:rPr lang="en-US" altLang="zh-CN" sz="2800" dirty="0">
                <a:solidFill>
                  <a:schemeClr val="tx1"/>
                </a:solidFill>
                <a:ea typeface="楷体_GB2312" pitchFamily="49" charset="-122"/>
              </a:rPr>
              <a:t>PbO</a:t>
            </a:r>
            <a:r>
              <a:rPr lang="en-US" altLang="zh-CN" sz="2800" baseline="-25000" dirty="0">
                <a:solidFill>
                  <a:schemeClr val="tx1"/>
                </a:solidFill>
                <a:ea typeface="楷体_GB2312" pitchFamily="49" charset="-122"/>
              </a:rPr>
              <a:t>2</a:t>
            </a:r>
            <a:r>
              <a:rPr lang="en-US" altLang="zh-CN" sz="2800" dirty="0">
                <a:solidFill>
                  <a:schemeClr val="tx1"/>
                </a:solidFill>
                <a:latin typeface="楷体_GB2312" pitchFamily="49" charset="-122"/>
                <a:ea typeface="楷体_GB2312" pitchFamily="49" charset="-122"/>
              </a:rPr>
              <a:t>)</a:t>
            </a:r>
            <a:r>
              <a:rPr lang="zh-CN" altLang="en-US" sz="2800" dirty="0">
                <a:solidFill>
                  <a:schemeClr val="tx1"/>
                </a:solidFill>
                <a:latin typeface="楷体_GB2312" pitchFamily="49" charset="-122"/>
                <a:ea typeface="楷体_GB2312" pitchFamily="49" charset="-122"/>
              </a:rPr>
              <a:t>构成，负极板由</a:t>
            </a:r>
            <a:r>
              <a:rPr lang="zh-CN" altLang="en-US" sz="2800" dirty="0">
                <a:solidFill>
                  <a:srgbClr val="FF0000"/>
                </a:solidFill>
                <a:latin typeface="楷体_GB2312" pitchFamily="49" charset="-122"/>
                <a:ea typeface="楷体_GB2312" pitchFamily="49" charset="-122"/>
              </a:rPr>
              <a:t>板栅</a:t>
            </a:r>
            <a:r>
              <a:rPr lang="zh-CN" altLang="en-US" sz="2800" dirty="0">
                <a:solidFill>
                  <a:schemeClr val="tx1"/>
                </a:solidFill>
                <a:latin typeface="楷体_GB2312" pitchFamily="49" charset="-122"/>
                <a:ea typeface="楷体_GB2312" pitchFamily="49" charset="-122"/>
              </a:rPr>
              <a:t>和活性物质</a:t>
            </a:r>
            <a:r>
              <a:rPr lang="zh-CN" altLang="en-US" sz="2800" dirty="0">
                <a:solidFill>
                  <a:srgbClr val="FF0000"/>
                </a:solidFill>
                <a:latin typeface="楷体_GB2312" pitchFamily="49" charset="-122"/>
                <a:ea typeface="楷体_GB2312" pitchFamily="49" charset="-122"/>
              </a:rPr>
              <a:t>铅</a:t>
            </a:r>
            <a:r>
              <a:rPr lang="en-US" altLang="zh-CN" sz="2800" dirty="0">
                <a:solidFill>
                  <a:schemeClr val="tx1"/>
                </a:solidFill>
                <a:latin typeface="楷体_GB2312" pitchFamily="49" charset="-122"/>
                <a:ea typeface="楷体_GB2312" pitchFamily="49" charset="-122"/>
              </a:rPr>
              <a:t>(</a:t>
            </a:r>
            <a:r>
              <a:rPr lang="en-US" altLang="zh-CN" sz="2800" dirty="0">
                <a:solidFill>
                  <a:schemeClr val="tx1"/>
                </a:solidFill>
                <a:ea typeface="楷体_GB2312" pitchFamily="49" charset="-122"/>
              </a:rPr>
              <a:t>Pb</a:t>
            </a:r>
            <a:r>
              <a:rPr lang="en-US" altLang="zh-CN" sz="2800" dirty="0">
                <a:solidFill>
                  <a:schemeClr val="tx1"/>
                </a:solidFill>
                <a:latin typeface="楷体_GB2312" pitchFamily="49" charset="-122"/>
                <a:ea typeface="楷体_GB2312" pitchFamily="49" charset="-122"/>
              </a:rPr>
              <a:t>)</a:t>
            </a:r>
            <a:r>
              <a:rPr lang="zh-CN" altLang="en-US" sz="2800" dirty="0">
                <a:solidFill>
                  <a:schemeClr val="tx1"/>
                </a:solidFill>
                <a:latin typeface="楷体_GB2312" pitchFamily="49" charset="-122"/>
                <a:ea typeface="楷体_GB2312" pitchFamily="49" charset="-122"/>
              </a:rPr>
              <a:t>构成。板栅一般使用</a:t>
            </a:r>
            <a:r>
              <a:rPr lang="zh-CN" altLang="en-US" sz="2800" dirty="0">
                <a:solidFill>
                  <a:srgbClr val="FF0000"/>
                </a:solidFill>
                <a:latin typeface="楷体_GB2312" pitchFamily="49" charset="-122"/>
                <a:ea typeface="楷体_GB2312" pitchFamily="49" charset="-122"/>
              </a:rPr>
              <a:t>铅锑合金</a:t>
            </a:r>
            <a:r>
              <a:rPr lang="zh-CN" altLang="en-US" sz="2800" dirty="0">
                <a:solidFill>
                  <a:schemeClr val="tx1"/>
                </a:solidFill>
                <a:latin typeface="楷体_GB2312" pitchFamily="49" charset="-122"/>
                <a:ea typeface="楷体_GB2312" pitchFamily="49" charset="-122"/>
              </a:rPr>
              <a:t>，有时也用纯铅或</a:t>
            </a:r>
            <a:r>
              <a:rPr lang="zh-CN" altLang="en-US" sz="2800" dirty="0">
                <a:solidFill>
                  <a:schemeClr val="tx1"/>
                </a:solidFill>
                <a:latin typeface="楷体_GB2312" pitchFamily="49" charset="-122"/>
                <a:ea typeface="楷体_GB2312" pitchFamily="49" charset="-122"/>
              </a:rPr>
              <a:t>铅钙合金。</a:t>
            </a:r>
            <a:endParaRPr lang="zh-CN" altLang="en-US" sz="2800" dirty="0">
              <a:solidFill>
                <a:schemeClr val="tx1"/>
              </a:solidFill>
              <a:latin typeface="楷体_GB2312" pitchFamily="49" charset="-122"/>
              <a:ea typeface="楷体_GB2312" pitchFamily="49" charset="-122"/>
            </a:endParaRPr>
          </a:p>
        </p:txBody>
      </p:sp>
      <p:sp>
        <p:nvSpPr>
          <p:cNvPr id="5124" name="Rectangle 7"/>
          <p:cNvSpPr>
            <a:spLocks noChangeArrowheads="1"/>
          </p:cNvSpPr>
          <p:nvPr/>
        </p:nvSpPr>
        <p:spPr bwMode="auto">
          <a:xfrm>
            <a:off x="1933575" y="2576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endParaRPr lang="zh-CN" altLang="en-US"/>
          </a:p>
        </p:txBody>
      </p:sp>
      <p:sp>
        <p:nvSpPr>
          <p:cNvPr id="5125" name="Rectangle 9"/>
          <p:cNvSpPr>
            <a:spLocks noChangeArrowheads="1"/>
          </p:cNvSpPr>
          <p:nvPr/>
        </p:nvSpPr>
        <p:spPr bwMode="auto">
          <a:xfrm>
            <a:off x="3081338" y="2519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endParaRPr lang="zh-CN" altLang="en-US"/>
          </a:p>
        </p:txBody>
      </p:sp>
      <p:pic>
        <p:nvPicPr>
          <p:cNvPr id="3" name="图片 2"/>
          <p:cNvPicPr>
            <a:picLocks noChangeAspect="1"/>
          </p:cNvPicPr>
          <p:nvPr/>
        </p:nvPicPr>
        <p:blipFill>
          <a:blip r:embed="rId1"/>
          <a:stretch>
            <a:fillRect/>
          </a:stretch>
        </p:blipFill>
        <p:spPr>
          <a:xfrm>
            <a:off x="5579745" y="332740"/>
            <a:ext cx="3002280" cy="1919605"/>
          </a:xfrm>
          <a:prstGeom prst="rect">
            <a:avLst/>
          </a:prstGeom>
        </p:spPr>
      </p:pic>
    </p:spTree>
  </p:cSld>
  <p:clrMapOvr>
    <a:masterClrMapping/>
  </p:clrMapOvr>
  <p:transition>
    <p:randomBar dir="vert"/>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3" name="Text Box 1027"/>
          <p:cNvSpPr txBox="1">
            <a:spLocks noChangeArrowheads="1"/>
          </p:cNvSpPr>
          <p:nvPr/>
        </p:nvSpPr>
        <p:spPr bwMode="auto">
          <a:xfrm>
            <a:off x="2123440" y="5805170"/>
            <a:ext cx="4343400" cy="52197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algn="ctr">
              <a:spcBef>
                <a:spcPct val="50000"/>
              </a:spcBef>
            </a:pPr>
            <a:r>
              <a:rPr lang="zh-CN" altLang="en-US" sz="2800">
                <a:solidFill>
                  <a:schemeClr val="tx1"/>
                </a:solidFill>
              </a:rPr>
              <a:t>铅酸蓄电池</a:t>
            </a:r>
            <a:endParaRPr lang="zh-CN" altLang="en-US" sz="2800">
              <a:solidFill>
                <a:schemeClr val="tx1"/>
              </a:solidFill>
            </a:endParaRPr>
          </a:p>
        </p:txBody>
      </p:sp>
      <p:pic>
        <p:nvPicPr>
          <p:cNvPr id="3" name="图片 2"/>
          <p:cNvPicPr>
            <a:picLocks noChangeAspect="1"/>
          </p:cNvPicPr>
          <p:nvPr>
            <p:custDataLst>
              <p:tags r:id="rId1"/>
            </p:custDataLst>
          </p:nvPr>
        </p:nvPicPr>
        <p:blipFill>
          <a:blip r:embed="rId2"/>
          <a:stretch>
            <a:fillRect/>
          </a:stretch>
        </p:blipFill>
        <p:spPr>
          <a:xfrm>
            <a:off x="1043305" y="1484630"/>
            <a:ext cx="6567805" cy="3922395"/>
          </a:xfrm>
          <a:prstGeom prst="rect">
            <a:avLst/>
          </a:prstGeom>
        </p:spPr>
      </p:pic>
    </p:spTree>
  </p:cSld>
  <p:clrMapOvr>
    <a:masterClrMapping/>
  </p:clrMapOvr>
  <p:transition>
    <p:randomBar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Text Box 5"/>
          <p:cNvSpPr txBox="1">
            <a:spLocks noChangeArrowheads="1"/>
          </p:cNvSpPr>
          <p:nvPr/>
        </p:nvSpPr>
        <p:spPr bwMode="auto">
          <a:xfrm>
            <a:off x="355600" y="381000"/>
            <a:ext cx="8496300" cy="730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a:lnSpc>
                <a:spcPct val="130000"/>
              </a:lnSpc>
              <a:spcBef>
                <a:spcPct val="20000"/>
              </a:spcBef>
              <a:buClr>
                <a:schemeClr val="folHlink"/>
              </a:buClr>
              <a:buFont typeface="Wingdings" panose="05000000000000000000" pitchFamily="2" charset="2"/>
              <a:buNone/>
            </a:pPr>
            <a:r>
              <a:rPr lang="zh-CN" altLang="en-US" sz="3200" dirty="0">
                <a:solidFill>
                  <a:srgbClr val="FF3300"/>
                </a:solidFill>
                <a:latin typeface="Arial" panose="020B0604020202020204" pitchFamily="34" charset="0"/>
              </a:rPr>
              <a:t>铅酸电池的工作原理</a:t>
            </a:r>
            <a:endParaRPr lang="zh-CN" altLang="en-US" dirty="0"/>
          </a:p>
        </p:txBody>
      </p:sp>
      <p:pic>
        <p:nvPicPr>
          <p:cNvPr id="2" name="图片 1"/>
          <p:cNvPicPr>
            <a:picLocks noChangeAspect="1"/>
          </p:cNvPicPr>
          <p:nvPr>
            <p:custDataLst>
              <p:tags r:id="rId1"/>
            </p:custDataLst>
          </p:nvPr>
        </p:nvPicPr>
        <p:blipFill>
          <a:blip r:embed="rId2"/>
          <a:stretch>
            <a:fillRect/>
          </a:stretch>
        </p:blipFill>
        <p:spPr>
          <a:xfrm>
            <a:off x="179705" y="1628775"/>
            <a:ext cx="8924925" cy="4410075"/>
          </a:xfrm>
          <a:prstGeom prst="rect">
            <a:avLst/>
          </a:prstGeom>
        </p:spPr>
      </p:pic>
    </p:spTree>
  </p:cSld>
  <p:clrMapOvr>
    <a:masterClrMapping/>
  </p:clrMapOvr>
  <p:transition>
    <p:randomBar dir="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1031"/>
          <p:cNvSpPr>
            <a:spLocks noChangeArrowheads="1"/>
          </p:cNvSpPr>
          <p:nvPr/>
        </p:nvSpPr>
        <p:spPr bwMode="auto">
          <a:xfrm>
            <a:off x="1933575" y="19097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endParaRPr lang="zh-CN" altLang="en-US"/>
          </a:p>
        </p:txBody>
      </p:sp>
      <p:pic>
        <p:nvPicPr>
          <p:cNvPr id="4" name="图片 3" descr="第8页-8"/>
          <p:cNvPicPr>
            <a:picLocks noChangeAspect="1"/>
          </p:cNvPicPr>
          <p:nvPr/>
        </p:nvPicPr>
        <p:blipFill>
          <a:blip r:embed="rId1"/>
          <a:stretch>
            <a:fillRect/>
          </a:stretch>
        </p:blipFill>
        <p:spPr>
          <a:xfrm>
            <a:off x="899795" y="1412875"/>
            <a:ext cx="7502525" cy="3859530"/>
          </a:xfrm>
          <a:prstGeom prst="rect">
            <a:avLst/>
          </a:prstGeom>
        </p:spPr>
      </p:pic>
      <p:sp>
        <p:nvSpPr>
          <p:cNvPr id="5" name="文本框 4"/>
          <p:cNvSpPr txBox="1"/>
          <p:nvPr/>
        </p:nvSpPr>
        <p:spPr>
          <a:xfrm>
            <a:off x="2915920" y="5517515"/>
            <a:ext cx="6529070" cy="398780"/>
          </a:xfrm>
          <a:prstGeom prst="rect">
            <a:avLst/>
          </a:prstGeom>
          <a:noFill/>
        </p:spPr>
        <p:txBody>
          <a:bodyPr wrap="square" rtlCol="0" anchor="t">
            <a:spAutoFit/>
          </a:bodyPr>
          <a:p>
            <a:r>
              <a:rPr lang="zh-CN" altLang="en-US" sz="2000"/>
              <a:t>图3.铅酸电池工作原理图</a:t>
            </a:r>
            <a:endParaRPr lang="zh-CN" altLang="en-US" sz="2000"/>
          </a:p>
        </p:txBody>
      </p:sp>
      <p:sp>
        <p:nvSpPr>
          <p:cNvPr id="7172" name="Text Box 5"/>
          <p:cNvSpPr txBox="1">
            <a:spLocks noChangeArrowheads="1"/>
          </p:cNvSpPr>
          <p:nvPr>
            <p:custDataLst>
              <p:tags r:id="rId2"/>
            </p:custDataLst>
          </p:nvPr>
        </p:nvSpPr>
        <p:spPr bwMode="auto">
          <a:xfrm>
            <a:off x="355600" y="381000"/>
            <a:ext cx="8496300" cy="730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a:lnSpc>
                <a:spcPct val="130000"/>
              </a:lnSpc>
              <a:spcBef>
                <a:spcPct val="20000"/>
              </a:spcBef>
              <a:buClr>
                <a:schemeClr val="folHlink"/>
              </a:buClr>
              <a:buFont typeface="Wingdings" panose="05000000000000000000" pitchFamily="2" charset="2"/>
              <a:buNone/>
            </a:pPr>
            <a:r>
              <a:rPr lang="zh-CN" altLang="en-US" sz="3200" dirty="0">
                <a:solidFill>
                  <a:srgbClr val="FF3300"/>
                </a:solidFill>
                <a:latin typeface="Arial" panose="020B0604020202020204" pitchFamily="34" charset="0"/>
              </a:rPr>
              <a:t>铅酸电池的工作原理</a:t>
            </a:r>
            <a:endParaRPr lang="zh-CN" altLang="en-US" dirty="0"/>
          </a:p>
        </p:txBody>
      </p:sp>
    </p:spTree>
  </p:cSld>
  <p:clrMapOvr>
    <a:masterClrMapping/>
  </p:clrMapOvr>
  <p:transition>
    <p:randomBar dir="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Text Box 5"/>
          <p:cNvSpPr txBox="1">
            <a:spLocks noChangeArrowheads="1"/>
          </p:cNvSpPr>
          <p:nvPr>
            <p:custDataLst>
              <p:tags r:id="rId1"/>
            </p:custDataLst>
          </p:nvPr>
        </p:nvSpPr>
        <p:spPr bwMode="auto">
          <a:xfrm>
            <a:off x="355600" y="381000"/>
            <a:ext cx="8496300" cy="730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a:lnSpc>
                <a:spcPct val="130000"/>
              </a:lnSpc>
              <a:spcBef>
                <a:spcPct val="20000"/>
              </a:spcBef>
              <a:buClr>
                <a:schemeClr val="folHlink"/>
              </a:buClr>
              <a:buFont typeface="Wingdings" panose="05000000000000000000" pitchFamily="2" charset="2"/>
              <a:buNone/>
            </a:pPr>
            <a:r>
              <a:rPr lang="zh-CN" altLang="en-US" sz="3200" dirty="0">
                <a:solidFill>
                  <a:srgbClr val="FF3300"/>
                </a:solidFill>
                <a:latin typeface="Arial" panose="020B0604020202020204" pitchFamily="34" charset="0"/>
              </a:rPr>
              <a:t>铅酸电池的工作原理</a:t>
            </a:r>
            <a:endParaRPr lang="zh-CN" altLang="en-US" dirty="0"/>
          </a:p>
        </p:txBody>
      </p:sp>
      <p:pic>
        <p:nvPicPr>
          <p:cNvPr id="2" name="图片 1"/>
          <p:cNvPicPr>
            <a:picLocks noChangeAspect="1"/>
          </p:cNvPicPr>
          <p:nvPr>
            <p:custDataLst>
              <p:tags r:id="rId2"/>
            </p:custDataLst>
          </p:nvPr>
        </p:nvPicPr>
        <p:blipFill>
          <a:blip r:embed="rId3"/>
          <a:stretch>
            <a:fillRect/>
          </a:stretch>
        </p:blipFill>
        <p:spPr>
          <a:xfrm>
            <a:off x="107315" y="1268730"/>
            <a:ext cx="8907780" cy="4762500"/>
          </a:xfrm>
          <a:prstGeom prst="rect">
            <a:avLst/>
          </a:prstGeom>
        </p:spPr>
      </p:pic>
    </p:spTree>
  </p:cSld>
  <p:clrMapOvr>
    <a:masterClrMapping/>
  </p:clrMapOvr>
  <p:transition>
    <p:randomBar dir="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custDataLst>
              <p:tags r:id="rId1"/>
            </p:custDataLst>
          </p:nvPr>
        </p:nvPicPr>
        <p:blipFill>
          <a:blip r:embed="rId2"/>
          <a:stretch>
            <a:fillRect/>
          </a:stretch>
        </p:blipFill>
        <p:spPr>
          <a:xfrm>
            <a:off x="323850" y="260985"/>
            <a:ext cx="3904615" cy="582295"/>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180340" y="1268730"/>
            <a:ext cx="9067800" cy="4514850"/>
          </a:xfrm>
          <a:prstGeom prst="rect">
            <a:avLst/>
          </a:prstGeom>
        </p:spPr>
      </p:pic>
    </p:spTree>
  </p:cSld>
  <p:clrMapOvr>
    <a:masterClrMapping/>
  </p:clrMapOvr>
  <p:transition>
    <p:randomBar dir="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ChangeArrowheads="1"/>
          </p:cNvSpPr>
          <p:nvPr/>
        </p:nvSpPr>
        <p:spPr bwMode="auto">
          <a:xfrm>
            <a:off x="1938338" y="17621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endParaRPr lang="zh-CN" altLang="en-US"/>
          </a:p>
        </p:txBody>
      </p:sp>
      <p:sp>
        <p:nvSpPr>
          <p:cNvPr id="31747" name="Text Box 3"/>
          <p:cNvSpPr txBox="1">
            <a:spLocks noChangeArrowheads="1"/>
          </p:cNvSpPr>
          <p:nvPr/>
        </p:nvSpPr>
        <p:spPr bwMode="auto">
          <a:xfrm>
            <a:off x="476250" y="762000"/>
            <a:ext cx="8382000" cy="5068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a:spcBef>
                <a:spcPct val="50000"/>
              </a:spcBef>
            </a:pPr>
            <a:r>
              <a:rPr lang="zh-CN" altLang="en-US" sz="3200" dirty="0">
                <a:solidFill>
                  <a:schemeClr val="tx1"/>
                </a:solidFill>
              </a:rPr>
              <a:t>铅酸电池的自放电反应：</a:t>
            </a:r>
            <a:endParaRPr lang="zh-CN" altLang="en-US" sz="3200" dirty="0">
              <a:solidFill>
                <a:schemeClr val="tx1"/>
              </a:solidFill>
            </a:endParaRPr>
          </a:p>
          <a:p>
            <a:pPr>
              <a:spcBef>
                <a:spcPct val="50000"/>
              </a:spcBef>
            </a:pPr>
            <a:endParaRPr lang="zh-CN" altLang="en-US" sz="2800" dirty="0">
              <a:solidFill>
                <a:srgbClr val="FF3300"/>
              </a:solidFill>
              <a:ea typeface="楷体_GB2312" pitchFamily="49" charset="-122"/>
            </a:endParaRPr>
          </a:p>
          <a:p>
            <a:pPr>
              <a:spcBef>
                <a:spcPct val="50000"/>
              </a:spcBef>
            </a:pPr>
            <a:r>
              <a:rPr lang="zh-CN" altLang="en-US" sz="2800" dirty="0">
                <a:solidFill>
                  <a:srgbClr val="FF3300"/>
                </a:solidFill>
                <a:ea typeface="楷体_GB2312" pitchFamily="49" charset="-122"/>
              </a:rPr>
              <a:t>负极自放电反应：</a:t>
            </a:r>
            <a:endParaRPr lang="zh-CN" altLang="en-US" sz="2800" dirty="0">
              <a:solidFill>
                <a:srgbClr val="FF3300"/>
              </a:solidFill>
              <a:ea typeface="楷体_GB2312" pitchFamily="49" charset="-122"/>
            </a:endParaRPr>
          </a:p>
          <a:p>
            <a:pPr>
              <a:spcBef>
                <a:spcPct val="50000"/>
              </a:spcBef>
            </a:pPr>
            <a:r>
              <a:rPr lang="en-US" altLang="zh-CN" sz="2800" dirty="0">
                <a:solidFill>
                  <a:schemeClr val="tx1"/>
                </a:solidFill>
              </a:rPr>
              <a:t>Pb(s) + HSO</a:t>
            </a:r>
            <a:r>
              <a:rPr lang="en-US" altLang="zh-CN" sz="2800" baseline="-25000" dirty="0">
                <a:solidFill>
                  <a:schemeClr val="tx1"/>
                </a:solidFill>
              </a:rPr>
              <a:t>4</a:t>
            </a:r>
            <a:r>
              <a:rPr lang="en-US" altLang="zh-CN" sz="2800" baseline="30000" dirty="0">
                <a:solidFill>
                  <a:schemeClr val="tx1"/>
                </a:solidFill>
              </a:rPr>
              <a:t>-</a:t>
            </a:r>
            <a:r>
              <a:rPr lang="en-US" altLang="zh-CN" sz="2800" dirty="0">
                <a:solidFill>
                  <a:schemeClr val="tx1"/>
                </a:solidFill>
              </a:rPr>
              <a:t>(</a:t>
            </a:r>
            <a:r>
              <a:rPr lang="en-US" altLang="zh-CN" sz="2800" dirty="0" err="1">
                <a:solidFill>
                  <a:schemeClr val="tx1"/>
                </a:solidFill>
              </a:rPr>
              <a:t>aq</a:t>
            </a:r>
            <a:r>
              <a:rPr lang="en-US" altLang="zh-CN" sz="2800" dirty="0">
                <a:solidFill>
                  <a:schemeClr val="tx1"/>
                </a:solidFill>
              </a:rPr>
              <a:t>) = PbSO</a:t>
            </a:r>
            <a:r>
              <a:rPr lang="en-US" altLang="zh-CN" sz="2800" baseline="-25000" dirty="0">
                <a:solidFill>
                  <a:schemeClr val="tx1"/>
                </a:solidFill>
              </a:rPr>
              <a:t>4</a:t>
            </a:r>
            <a:r>
              <a:rPr lang="en-US" altLang="zh-CN" sz="2800" dirty="0">
                <a:solidFill>
                  <a:schemeClr val="tx1"/>
                </a:solidFill>
              </a:rPr>
              <a:t>(s) + H</a:t>
            </a:r>
            <a:r>
              <a:rPr lang="en-US" altLang="zh-CN" sz="2800" baseline="30000" dirty="0">
                <a:solidFill>
                  <a:schemeClr val="tx1"/>
                </a:solidFill>
              </a:rPr>
              <a:t>+</a:t>
            </a:r>
            <a:r>
              <a:rPr lang="en-US" altLang="zh-CN" sz="2800" dirty="0">
                <a:solidFill>
                  <a:schemeClr val="tx1"/>
                </a:solidFill>
              </a:rPr>
              <a:t> +2e</a:t>
            </a:r>
            <a:endParaRPr lang="en-US" altLang="zh-CN" sz="2800" dirty="0">
              <a:solidFill>
                <a:schemeClr val="tx1"/>
              </a:solidFill>
            </a:endParaRPr>
          </a:p>
          <a:p>
            <a:pPr>
              <a:spcBef>
                <a:spcPct val="50000"/>
              </a:spcBef>
            </a:pPr>
            <a:r>
              <a:rPr lang="en-US" altLang="zh-CN" sz="2800" dirty="0">
                <a:solidFill>
                  <a:schemeClr val="tx1"/>
                </a:solidFill>
              </a:rPr>
              <a:t>2H</a:t>
            </a:r>
            <a:r>
              <a:rPr lang="en-US" altLang="zh-CN" sz="2800" baseline="30000" dirty="0">
                <a:solidFill>
                  <a:schemeClr val="tx1"/>
                </a:solidFill>
              </a:rPr>
              <a:t>+</a:t>
            </a:r>
            <a:r>
              <a:rPr lang="en-US" altLang="zh-CN" sz="2800" dirty="0">
                <a:solidFill>
                  <a:schemeClr val="tx1"/>
                </a:solidFill>
              </a:rPr>
              <a:t> + 2e = H</a:t>
            </a:r>
            <a:r>
              <a:rPr lang="en-US" altLang="zh-CN" sz="2800" baseline="-25000" dirty="0">
                <a:solidFill>
                  <a:schemeClr val="tx1"/>
                </a:solidFill>
              </a:rPr>
              <a:t>2</a:t>
            </a:r>
            <a:endParaRPr lang="en-US" altLang="zh-CN" sz="2800" baseline="-25000" dirty="0">
              <a:solidFill>
                <a:schemeClr val="tx1"/>
              </a:solidFill>
            </a:endParaRPr>
          </a:p>
          <a:p>
            <a:pPr>
              <a:spcBef>
                <a:spcPct val="50000"/>
              </a:spcBef>
            </a:pPr>
            <a:r>
              <a:rPr lang="zh-CN" altLang="en-US" sz="2800" dirty="0">
                <a:solidFill>
                  <a:srgbClr val="FF3300"/>
                </a:solidFill>
                <a:ea typeface="楷体_GB2312" pitchFamily="49" charset="-122"/>
              </a:rPr>
              <a:t>正极自放电反应：</a:t>
            </a:r>
            <a:endParaRPr lang="zh-CN" altLang="en-US" sz="2800" dirty="0">
              <a:solidFill>
                <a:srgbClr val="FF3300"/>
              </a:solidFill>
              <a:ea typeface="楷体_GB2312" pitchFamily="49" charset="-122"/>
            </a:endParaRPr>
          </a:p>
          <a:p>
            <a:pPr>
              <a:spcBef>
                <a:spcPct val="50000"/>
              </a:spcBef>
            </a:pPr>
            <a:r>
              <a:rPr lang="zh-CN" altLang="en-US" sz="2800" dirty="0">
                <a:solidFill>
                  <a:schemeClr val="tx1"/>
                </a:solidFill>
              </a:rPr>
              <a:t>2</a:t>
            </a:r>
            <a:r>
              <a:rPr lang="en-US" altLang="zh-CN" sz="2800" dirty="0">
                <a:solidFill>
                  <a:schemeClr val="tx1"/>
                </a:solidFill>
              </a:rPr>
              <a:t>H</a:t>
            </a:r>
            <a:r>
              <a:rPr lang="en-US" altLang="zh-CN" sz="2800" baseline="-25000" dirty="0">
                <a:solidFill>
                  <a:schemeClr val="tx1"/>
                </a:solidFill>
              </a:rPr>
              <a:t>2</a:t>
            </a:r>
            <a:r>
              <a:rPr lang="en-US" altLang="zh-CN" sz="2800" dirty="0">
                <a:solidFill>
                  <a:schemeClr val="tx1"/>
                </a:solidFill>
              </a:rPr>
              <a:t>O = O</a:t>
            </a:r>
            <a:r>
              <a:rPr lang="en-US" altLang="zh-CN" sz="2800" baseline="-25000" dirty="0">
                <a:solidFill>
                  <a:schemeClr val="tx1"/>
                </a:solidFill>
              </a:rPr>
              <a:t>2</a:t>
            </a:r>
            <a:r>
              <a:rPr lang="en-US" altLang="zh-CN" sz="2800" dirty="0">
                <a:solidFill>
                  <a:schemeClr val="tx1"/>
                </a:solidFill>
              </a:rPr>
              <a:t> + 4H</a:t>
            </a:r>
            <a:r>
              <a:rPr lang="en-US" altLang="zh-CN" sz="2800" baseline="30000" dirty="0">
                <a:solidFill>
                  <a:schemeClr val="tx1"/>
                </a:solidFill>
              </a:rPr>
              <a:t>+</a:t>
            </a:r>
            <a:r>
              <a:rPr lang="en-US" altLang="zh-CN" sz="2800" dirty="0">
                <a:solidFill>
                  <a:schemeClr val="tx1"/>
                </a:solidFill>
              </a:rPr>
              <a:t> +4e</a:t>
            </a:r>
            <a:endParaRPr lang="en-US" altLang="zh-CN" sz="2800" dirty="0">
              <a:solidFill>
                <a:schemeClr val="tx1"/>
              </a:solidFill>
            </a:endParaRPr>
          </a:p>
          <a:p>
            <a:pPr>
              <a:spcBef>
                <a:spcPct val="50000"/>
              </a:spcBef>
            </a:pPr>
            <a:r>
              <a:rPr lang="en-US" altLang="zh-CN" sz="2800" dirty="0">
                <a:solidFill>
                  <a:schemeClr val="tx1"/>
                </a:solidFill>
              </a:rPr>
              <a:t>PbO</a:t>
            </a:r>
            <a:r>
              <a:rPr lang="en-US" altLang="zh-CN" sz="2800" baseline="-25000" dirty="0">
                <a:solidFill>
                  <a:schemeClr val="tx1"/>
                </a:solidFill>
              </a:rPr>
              <a:t>2</a:t>
            </a:r>
            <a:r>
              <a:rPr lang="en-US" altLang="zh-CN" sz="2800" dirty="0">
                <a:solidFill>
                  <a:schemeClr val="tx1"/>
                </a:solidFill>
              </a:rPr>
              <a:t>(s) + HSO</a:t>
            </a:r>
            <a:r>
              <a:rPr lang="en-US" altLang="zh-CN" sz="2800" baseline="-25000" dirty="0">
                <a:solidFill>
                  <a:schemeClr val="tx1"/>
                </a:solidFill>
              </a:rPr>
              <a:t>4</a:t>
            </a:r>
            <a:r>
              <a:rPr lang="en-US" altLang="zh-CN" sz="2800" baseline="30000" dirty="0">
                <a:solidFill>
                  <a:schemeClr val="tx1"/>
                </a:solidFill>
              </a:rPr>
              <a:t>-</a:t>
            </a:r>
            <a:r>
              <a:rPr lang="en-US" altLang="zh-CN" sz="2800" dirty="0">
                <a:solidFill>
                  <a:schemeClr val="tx1"/>
                </a:solidFill>
              </a:rPr>
              <a:t>(</a:t>
            </a:r>
            <a:r>
              <a:rPr lang="en-US" altLang="zh-CN" sz="2800" dirty="0" err="1">
                <a:solidFill>
                  <a:schemeClr val="tx1"/>
                </a:solidFill>
              </a:rPr>
              <a:t>aq</a:t>
            </a:r>
            <a:r>
              <a:rPr lang="en-US" altLang="zh-CN" sz="2800" dirty="0">
                <a:solidFill>
                  <a:schemeClr val="tx1"/>
                </a:solidFill>
              </a:rPr>
              <a:t>) + 3H</a:t>
            </a:r>
            <a:r>
              <a:rPr lang="en-US" altLang="zh-CN" sz="2800" baseline="30000" dirty="0">
                <a:solidFill>
                  <a:schemeClr val="tx1"/>
                </a:solidFill>
              </a:rPr>
              <a:t>+</a:t>
            </a:r>
            <a:r>
              <a:rPr lang="en-US" altLang="zh-CN" sz="2800" dirty="0">
                <a:solidFill>
                  <a:schemeClr val="tx1"/>
                </a:solidFill>
              </a:rPr>
              <a:t> +2e = PbSO</a:t>
            </a:r>
            <a:r>
              <a:rPr lang="en-US" altLang="zh-CN" sz="2800" baseline="-25000" dirty="0">
                <a:solidFill>
                  <a:schemeClr val="tx1"/>
                </a:solidFill>
              </a:rPr>
              <a:t>4</a:t>
            </a:r>
            <a:r>
              <a:rPr lang="en-US" altLang="zh-CN" sz="2800" dirty="0">
                <a:solidFill>
                  <a:schemeClr val="tx1"/>
                </a:solidFill>
              </a:rPr>
              <a:t>(s) + 2H</a:t>
            </a:r>
            <a:r>
              <a:rPr lang="en-US" altLang="zh-CN" sz="2800" baseline="-25000" dirty="0">
                <a:solidFill>
                  <a:schemeClr val="tx1"/>
                </a:solidFill>
              </a:rPr>
              <a:t>2</a:t>
            </a:r>
            <a:r>
              <a:rPr lang="en-US" altLang="zh-CN" sz="2800" dirty="0">
                <a:solidFill>
                  <a:schemeClr val="tx1"/>
                </a:solidFill>
              </a:rPr>
              <a:t>O</a:t>
            </a:r>
            <a:endParaRPr lang="zh-CN" altLang="en-US" dirty="0">
              <a:solidFill>
                <a:schemeClr val="tx1"/>
              </a:solidFill>
            </a:endParaRPr>
          </a:p>
        </p:txBody>
      </p:sp>
    </p:spTree>
  </p:cSld>
  <p:clrMapOvr>
    <a:masterClrMapping/>
  </p:clrMapOvr>
  <p:transition>
    <p:randomBar dir="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4"/>
          <p:cNvSpPr txBox="1">
            <a:spLocks noChangeArrowheads="1"/>
          </p:cNvSpPr>
          <p:nvPr/>
        </p:nvSpPr>
        <p:spPr bwMode="auto">
          <a:xfrm>
            <a:off x="323215" y="332740"/>
            <a:ext cx="844550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a:lnSpc>
                <a:spcPct val="150000"/>
              </a:lnSpc>
              <a:spcBef>
                <a:spcPct val="20000"/>
              </a:spcBef>
              <a:buClr>
                <a:schemeClr val="folHlink"/>
              </a:buClr>
              <a:buFont typeface="Wingdings" panose="05000000000000000000" pitchFamily="2" charset="2"/>
              <a:buNone/>
            </a:pPr>
            <a:r>
              <a:rPr lang="zh-CN" altLang="en-US" sz="3200" dirty="0">
                <a:solidFill>
                  <a:srgbClr val="FF3300"/>
                </a:solidFill>
                <a:latin typeface="Arial" panose="020B0604020202020204" pitchFamily="34" charset="0"/>
              </a:rPr>
              <a:t>铅酸蓄电池的优势</a:t>
            </a:r>
            <a:r>
              <a:rPr lang="zh-CN" altLang="en-US" sz="2800" dirty="0">
                <a:solidFill>
                  <a:schemeClr val="tx1"/>
                </a:solidFill>
                <a:latin typeface="Arial" panose="020B0604020202020204" pitchFamily="34" charset="0"/>
                <a:ea typeface="楷体_GB2312" pitchFamily="49" charset="-122"/>
              </a:rPr>
              <a:t>       </a:t>
            </a:r>
            <a:endParaRPr lang="zh-CN" altLang="en-US" sz="3200" dirty="0">
              <a:solidFill>
                <a:schemeClr val="tx1"/>
              </a:solidFill>
              <a:latin typeface="楷体_GB2312" pitchFamily="49" charset="-122"/>
              <a:ea typeface="楷体_GB2312" pitchFamily="49" charset="-122"/>
            </a:endParaRPr>
          </a:p>
        </p:txBody>
      </p:sp>
      <p:pic>
        <p:nvPicPr>
          <p:cNvPr id="2" name="图片 1"/>
          <p:cNvPicPr>
            <a:picLocks noChangeAspect="1"/>
          </p:cNvPicPr>
          <p:nvPr>
            <p:custDataLst>
              <p:tags r:id="rId1"/>
            </p:custDataLst>
          </p:nvPr>
        </p:nvPicPr>
        <p:blipFill>
          <a:blip r:embed="rId2"/>
          <a:stretch>
            <a:fillRect/>
          </a:stretch>
        </p:blipFill>
        <p:spPr>
          <a:xfrm>
            <a:off x="0" y="1785620"/>
            <a:ext cx="9069070" cy="3397250"/>
          </a:xfrm>
          <a:prstGeom prst="rect">
            <a:avLst/>
          </a:prstGeom>
        </p:spPr>
      </p:pic>
    </p:spTree>
  </p:cSld>
  <p:clrMapOvr>
    <a:masterClrMapping/>
  </p:clrMapOvr>
  <p:transition>
    <p:randomBar dir="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Text Box 4"/>
          <p:cNvSpPr txBox="1">
            <a:spLocks noChangeArrowheads="1"/>
          </p:cNvSpPr>
          <p:nvPr>
            <p:custDataLst>
              <p:tags r:id="rId1"/>
            </p:custDataLst>
          </p:nvPr>
        </p:nvSpPr>
        <p:spPr bwMode="auto">
          <a:xfrm>
            <a:off x="323215" y="332740"/>
            <a:ext cx="844550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a:lnSpc>
                <a:spcPct val="150000"/>
              </a:lnSpc>
              <a:spcBef>
                <a:spcPct val="20000"/>
              </a:spcBef>
              <a:buClr>
                <a:schemeClr val="folHlink"/>
              </a:buClr>
              <a:buFont typeface="Wingdings" panose="05000000000000000000" pitchFamily="2" charset="2"/>
              <a:buNone/>
            </a:pPr>
            <a:r>
              <a:rPr lang="zh-CN" altLang="en-US" sz="3200" dirty="0">
                <a:solidFill>
                  <a:srgbClr val="FF3300"/>
                </a:solidFill>
                <a:latin typeface="Arial" panose="020B0604020202020204" pitchFamily="34" charset="0"/>
              </a:rPr>
              <a:t>铅酸蓄电池的优势</a:t>
            </a:r>
            <a:r>
              <a:rPr lang="zh-CN" altLang="en-US" sz="2800" dirty="0">
                <a:solidFill>
                  <a:schemeClr val="tx1"/>
                </a:solidFill>
                <a:latin typeface="Arial" panose="020B0604020202020204" pitchFamily="34" charset="0"/>
                <a:ea typeface="楷体_GB2312" pitchFamily="49" charset="-122"/>
              </a:rPr>
              <a:t>       </a:t>
            </a:r>
            <a:endParaRPr lang="zh-CN" altLang="en-US" sz="3200" dirty="0">
              <a:solidFill>
                <a:schemeClr val="tx1"/>
              </a:solidFill>
              <a:latin typeface="楷体_GB2312" pitchFamily="49" charset="-122"/>
              <a:ea typeface="楷体_GB2312" pitchFamily="49" charset="-122"/>
            </a:endParaRPr>
          </a:p>
        </p:txBody>
      </p:sp>
      <p:graphicFrame>
        <p:nvGraphicFramePr>
          <p:cNvPr id="284" name="table 284"/>
          <p:cNvGraphicFramePr>
            <a:graphicFrameLocks noGrp="1"/>
          </p:cNvGraphicFramePr>
          <p:nvPr>
            <p:custDataLst>
              <p:tags r:id="rId2"/>
            </p:custDataLst>
          </p:nvPr>
        </p:nvGraphicFramePr>
        <p:xfrm>
          <a:off x="830580" y="2636520"/>
          <a:ext cx="7482840" cy="2513330"/>
        </p:xfrm>
        <a:graphic>
          <a:graphicData uri="http://schemas.openxmlformats.org/drawingml/2006/table">
            <a:tbl>
              <a:tblPr/>
              <a:tblGrid>
                <a:gridCol w="7482840"/>
              </a:tblGrid>
              <a:tr h="2513329">
                <a:tc>
                  <a:txBody>
                    <a:bodyPr/>
                    <a:p>
                      <a:pPr algn="l" rtl="0" eaLnBrk="0">
                        <a:lnSpc>
                          <a:spcPct val="123000"/>
                        </a:lnSpc>
                      </a:pPr>
                      <a:endParaRPr lang="en-US" altLang="en-US" sz="1000" dirty="0"/>
                    </a:p>
                    <a:p>
                      <a:pPr algn="l" rtl="0" eaLnBrk="0">
                        <a:lnSpc>
                          <a:spcPct val="123000"/>
                        </a:lnSpc>
                      </a:pPr>
                      <a:endParaRPr lang="en-US" altLang="en-US" sz="1000" dirty="0"/>
                    </a:p>
                    <a:p>
                      <a:pPr algn="l" rtl="0" eaLnBrk="0">
                        <a:lnSpc>
                          <a:spcPct val="123000"/>
                        </a:lnSpc>
                      </a:pPr>
                      <a:endParaRPr lang="en-US" altLang="en-US" sz="1000" dirty="0"/>
                    </a:p>
                    <a:p>
                      <a:pPr algn="l" rtl="0" eaLnBrk="0">
                        <a:lnSpc>
                          <a:spcPct val="124000"/>
                        </a:lnSpc>
                      </a:pPr>
                      <a:endParaRPr lang="en-US" altLang="en-US" sz="1000" dirty="0"/>
                    </a:p>
                    <a:p>
                      <a:pPr marL="824230" algn="l" rtl="0" eaLnBrk="0">
                        <a:lnSpc>
                          <a:spcPct val="89000"/>
                        </a:lnSpc>
                        <a:spcBef>
                          <a:spcPts val="0"/>
                        </a:spcBef>
                      </a:pPr>
                      <a:r>
                        <a:rPr sz="26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铅酸蓄电池是最廉价的二次电池，单位能量的价格是</a:t>
                      </a:r>
                      <a:r>
                        <a:rPr sz="26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锂离</a:t>
                      </a:r>
                      <a:r>
                        <a:rPr sz="26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子电池或氢镍电池的</a:t>
                      </a:r>
                      <a:r>
                        <a:rPr sz="2600" kern="0" spc="0" dirty="0">
                          <a:solidFill>
                            <a:srgbClr val="000000">
                              <a:alpha val="100000"/>
                            </a:srgbClr>
                          </a:solidFill>
                          <a:latin typeface="Times New Roman" panose="02020603050405020304"/>
                          <a:ea typeface="Times New Roman" panose="02020603050405020304"/>
                          <a:cs typeface="Times New Roman" panose="02020603050405020304"/>
                        </a:rPr>
                        <a:t>1/3</a:t>
                      </a:r>
                      <a:r>
                        <a:rPr sz="26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左</a:t>
                      </a:r>
                      <a:r>
                        <a:rPr sz="26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右。</a:t>
                      </a:r>
                      <a:endParaRPr lang="en-US" altLang="en-US" sz="2600" dirty="0"/>
                    </a:p>
                  </a:txBody>
                  <a:tcPr marL="0" marR="0" marT="0" marB="0" vert="horz">
                    <a:lnL w="28575" cap="flat" cmpd="sng" algn="ctr">
                      <a:solidFill>
                        <a:srgbClr val="FCC800"/>
                      </a:solidFill>
                      <a:prstDash val="dash"/>
                      <a:round/>
                      <a:headEnd type="none" w="med" len="med"/>
                      <a:tailEnd type="none" w="med" len="med"/>
                    </a:lnL>
                    <a:lnR w="28575" cap="flat" cmpd="sng" algn="ctr">
                      <a:solidFill>
                        <a:srgbClr val="FCC800"/>
                      </a:solidFill>
                      <a:prstDash val="dash"/>
                      <a:round/>
                      <a:headEnd type="none" w="med" len="med"/>
                      <a:tailEnd type="none" w="med" len="med"/>
                    </a:lnR>
                    <a:lnT w="28575" cap="flat" cmpd="sng" algn="ctr">
                      <a:solidFill>
                        <a:srgbClr val="FCC800"/>
                      </a:solidFill>
                      <a:prstDash val="dash"/>
                      <a:round/>
                      <a:headEnd type="none" w="med" len="med"/>
                      <a:tailEnd type="none" w="med" len="med"/>
                    </a:lnT>
                    <a:lnB w="28575" cap="flat" cmpd="sng" algn="ctr">
                      <a:solidFill>
                        <a:srgbClr val="FCC800"/>
                      </a:solidFill>
                      <a:prstDash val="dash"/>
                      <a:round/>
                      <a:headEnd type="none" w="med" len="med"/>
                      <a:tailEnd type="none" w="med" len="med"/>
                    </a:lnB>
                  </a:tcPr>
                </a:tc>
              </a:tr>
            </a:tbl>
          </a:graphicData>
        </a:graphic>
      </p:graphicFrame>
      <p:sp>
        <p:nvSpPr>
          <p:cNvPr id="286" name="textbox 286"/>
          <p:cNvSpPr/>
          <p:nvPr>
            <p:custDataLst>
              <p:tags r:id="rId3"/>
            </p:custDataLst>
          </p:nvPr>
        </p:nvSpPr>
        <p:spPr>
          <a:xfrm>
            <a:off x="-108585" y="1584451"/>
            <a:ext cx="3234054" cy="559434"/>
          </a:xfrm>
          <a:prstGeom prst="rect">
            <a:avLst/>
          </a:prstGeom>
        </p:spPr>
        <p:txBody>
          <a:bodyPr vert="horz" wrap="square" lIns="0" tIns="0" rIns="0" bIns="0"/>
          <a:p>
            <a:pPr algn="l" rtl="0" eaLnBrk="0">
              <a:lnSpc>
                <a:spcPct val="107000"/>
              </a:lnSpc>
            </a:pPr>
            <a:endParaRPr lang="en-US" altLang="en-US" sz="900" dirty="0"/>
          </a:p>
          <a:p>
            <a:pPr marL="583565" algn="l" rtl="0" eaLnBrk="0">
              <a:lnSpc>
                <a:spcPct val="95000"/>
              </a:lnSpc>
              <a:spcBef>
                <a:spcPts val="5"/>
              </a:spcBef>
              <a:tabLst>
                <a:tab pos="742950" algn="l"/>
              </a:tabLst>
            </a:pPr>
            <a:r>
              <a:rPr sz="27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700" b="1"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②成本比较优势</a:t>
            </a:r>
            <a:endParaRPr lang="en-US" altLang="en-US" sz="2700" dirty="0"/>
          </a:p>
        </p:txBody>
      </p:sp>
      <p:grpSp>
        <p:nvGrpSpPr>
          <p:cNvPr id="36" name="group 36"/>
          <p:cNvGrpSpPr/>
          <p:nvPr/>
        </p:nvGrpSpPr>
        <p:grpSpPr>
          <a:xfrm rot="21600000">
            <a:off x="-1082675" y="1733676"/>
            <a:ext cx="571499" cy="522732"/>
            <a:chOff x="0" y="0"/>
            <a:chExt cx="571499" cy="522732"/>
          </a:xfrm>
        </p:grpSpPr>
        <p:sp>
          <p:nvSpPr>
            <p:cNvPr id="288" name="path"/>
            <p:cNvSpPr/>
            <p:nvPr>
              <p:custDataLst>
                <p:tags r:id="rId4"/>
              </p:custDataLst>
            </p:nvPr>
          </p:nvSpPr>
          <p:spPr>
            <a:xfrm>
              <a:off x="82295" y="33528"/>
              <a:ext cx="489203" cy="489204"/>
            </a:xfrm>
            <a:custGeom>
              <a:avLst/>
              <a:gdLst/>
              <a:ahLst/>
              <a:cxnLst/>
              <a:rect l="0" t="0" r="0" b="0"/>
              <a:pathLst>
                <a:path w="770" h="770">
                  <a:moveTo>
                    <a:pt x="0" y="385"/>
                  </a:moveTo>
                  <a:cubicBezTo>
                    <a:pt x="0" y="172"/>
                    <a:pt x="172" y="0"/>
                    <a:pt x="385" y="0"/>
                  </a:cubicBezTo>
                  <a:cubicBezTo>
                    <a:pt x="597" y="0"/>
                    <a:pt x="770" y="172"/>
                    <a:pt x="770" y="385"/>
                  </a:cubicBezTo>
                  <a:cubicBezTo>
                    <a:pt x="770" y="597"/>
                    <a:pt x="597" y="770"/>
                    <a:pt x="385" y="770"/>
                  </a:cubicBezTo>
                  <a:cubicBezTo>
                    <a:pt x="172" y="770"/>
                    <a:pt x="0" y="597"/>
                    <a:pt x="0" y="385"/>
                  </a:cubicBezTo>
                </a:path>
              </a:pathLst>
            </a:custGeom>
            <a:solidFill>
              <a:srgbClr val="FFC518">
                <a:alpha val="100000"/>
              </a:srgbClr>
            </a:solidFill>
            <a:ln cap="flat">
              <a:noFill/>
              <a:prstDash val="solid"/>
              <a:miter lim="0"/>
            </a:ln>
          </p:spPr>
          <p:txBody>
            <a:bodyPr rtlCol="0"/>
            <a:p>
              <a:pPr algn="ctr"/>
              <a:endParaRPr lang="zh-CN" altLang="en-US"/>
            </a:p>
          </p:txBody>
        </p:sp>
        <p:sp>
          <p:nvSpPr>
            <p:cNvPr id="290" name="path"/>
            <p:cNvSpPr/>
            <p:nvPr>
              <p:custDataLst>
                <p:tags r:id="rId5"/>
              </p:custDataLst>
            </p:nvPr>
          </p:nvSpPr>
          <p:spPr>
            <a:xfrm>
              <a:off x="0" y="0"/>
              <a:ext cx="490728" cy="489204"/>
            </a:xfrm>
            <a:custGeom>
              <a:avLst/>
              <a:gdLst/>
              <a:ahLst/>
              <a:cxnLst/>
              <a:rect l="0" t="0" r="0" b="0"/>
              <a:pathLst>
                <a:path w="772" h="770">
                  <a:moveTo>
                    <a:pt x="0" y="385"/>
                  </a:moveTo>
                  <a:cubicBezTo>
                    <a:pt x="0" y="172"/>
                    <a:pt x="173" y="0"/>
                    <a:pt x="386" y="0"/>
                  </a:cubicBezTo>
                  <a:cubicBezTo>
                    <a:pt x="599" y="0"/>
                    <a:pt x="772" y="172"/>
                    <a:pt x="772" y="385"/>
                  </a:cubicBezTo>
                  <a:cubicBezTo>
                    <a:pt x="772" y="597"/>
                    <a:pt x="599" y="770"/>
                    <a:pt x="386" y="770"/>
                  </a:cubicBezTo>
                  <a:cubicBezTo>
                    <a:pt x="173" y="770"/>
                    <a:pt x="0" y="597"/>
                    <a:pt x="0" y="385"/>
                  </a:cubicBezTo>
                </a:path>
              </a:pathLst>
            </a:custGeom>
            <a:solidFill>
              <a:srgbClr val="0070C0">
                <a:alpha val="100000"/>
              </a:srgbClr>
            </a:solidFill>
            <a:ln cap="flat">
              <a:noFill/>
              <a:prstDash val="solid"/>
              <a:miter lim="0"/>
            </a:ln>
          </p:spPr>
          <p:txBody>
            <a:bodyPr rtlCol="0"/>
            <a:p>
              <a:pPr algn="ctr"/>
              <a:endParaRPr lang="zh-CN" altLang="en-US"/>
            </a:p>
          </p:txBody>
        </p:sp>
      </p:grpSp>
    </p:spTree>
  </p:cSld>
  <p:clrMapOvr>
    <a:masterClrMapping/>
  </p:clrMapOvr>
  <p:transition>
    <p:randomBar dir="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Text Box 4"/>
          <p:cNvSpPr txBox="1">
            <a:spLocks noChangeArrowheads="1"/>
          </p:cNvSpPr>
          <p:nvPr>
            <p:custDataLst>
              <p:tags r:id="rId1"/>
            </p:custDataLst>
          </p:nvPr>
        </p:nvSpPr>
        <p:spPr bwMode="auto">
          <a:xfrm>
            <a:off x="323215" y="332740"/>
            <a:ext cx="844550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a:lnSpc>
                <a:spcPct val="150000"/>
              </a:lnSpc>
              <a:spcBef>
                <a:spcPct val="20000"/>
              </a:spcBef>
              <a:buClr>
                <a:schemeClr val="folHlink"/>
              </a:buClr>
              <a:buFont typeface="Wingdings" panose="05000000000000000000" pitchFamily="2" charset="2"/>
              <a:buNone/>
            </a:pPr>
            <a:r>
              <a:rPr lang="zh-CN" altLang="en-US" sz="3200" dirty="0">
                <a:solidFill>
                  <a:srgbClr val="FF3300"/>
                </a:solidFill>
                <a:latin typeface="Arial" panose="020B0604020202020204" pitchFamily="34" charset="0"/>
              </a:rPr>
              <a:t>铅酸电池的优势</a:t>
            </a:r>
            <a:r>
              <a:rPr lang="zh-CN" altLang="en-US" sz="2800" dirty="0">
                <a:solidFill>
                  <a:schemeClr val="tx1"/>
                </a:solidFill>
                <a:latin typeface="Arial" panose="020B0604020202020204" pitchFamily="34" charset="0"/>
                <a:ea typeface="楷体_GB2312" pitchFamily="49" charset="-122"/>
              </a:rPr>
              <a:t>       </a:t>
            </a:r>
            <a:endParaRPr lang="zh-CN" altLang="en-US" sz="3200" dirty="0">
              <a:solidFill>
                <a:schemeClr val="tx1"/>
              </a:solidFill>
              <a:latin typeface="楷体_GB2312" pitchFamily="49" charset="-122"/>
              <a:ea typeface="楷体_GB2312" pitchFamily="49" charset="-122"/>
            </a:endParaRPr>
          </a:p>
        </p:txBody>
      </p:sp>
      <p:graphicFrame>
        <p:nvGraphicFramePr>
          <p:cNvPr id="304" name="table 304"/>
          <p:cNvGraphicFramePr>
            <a:graphicFrameLocks noGrp="1"/>
          </p:cNvGraphicFramePr>
          <p:nvPr>
            <p:custDataLst>
              <p:tags r:id="rId2"/>
            </p:custDataLst>
          </p:nvPr>
        </p:nvGraphicFramePr>
        <p:xfrm>
          <a:off x="30480" y="2780665"/>
          <a:ext cx="9113520" cy="2513330"/>
        </p:xfrm>
        <a:graphic>
          <a:graphicData uri="http://schemas.openxmlformats.org/drawingml/2006/table">
            <a:tbl>
              <a:tblPr/>
              <a:tblGrid>
                <a:gridCol w="9113520"/>
              </a:tblGrid>
              <a:tr h="2513330">
                <a:tc>
                  <a:txBody>
                    <a:bodyPr/>
                    <a:p>
                      <a:pPr algn="l" rtl="0" eaLnBrk="0">
                        <a:lnSpc>
                          <a:spcPct val="128000"/>
                        </a:lnSpc>
                      </a:pPr>
                      <a:endParaRPr lang="en-US" altLang="en-US" sz="1000" dirty="0"/>
                    </a:p>
                    <a:p>
                      <a:pPr algn="l" rtl="0" eaLnBrk="0">
                        <a:lnSpc>
                          <a:spcPct val="129000"/>
                        </a:lnSpc>
                      </a:pPr>
                      <a:endParaRPr lang="en-US" altLang="en-US" sz="1000" dirty="0"/>
                    </a:p>
                    <a:p>
                      <a:pPr marL="930275" algn="l" rtl="0" eaLnBrk="0">
                        <a:lnSpc>
                          <a:spcPct val="89000"/>
                        </a:lnSpc>
                        <a:spcBef>
                          <a:spcPts val="0"/>
                        </a:spcBef>
                      </a:pPr>
                      <a:r>
                        <a:rPr sz="26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铅酸蓄电池组成简单 ，再生技术成熟 ，回</a:t>
                      </a:r>
                      <a:r>
                        <a:rPr sz="26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收价值高 ，是</a:t>
                      </a:r>
                      <a:endParaRPr lang="en-US" altLang="en-US" sz="2600" dirty="0"/>
                    </a:p>
                    <a:p>
                      <a:pPr marL="274320" indent="-635" algn="l" rtl="0" eaLnBrk="0">
                        <a:lnSpc>
                          <a:spcPct val="132000"/>
                        </a:lnSpc>
                        <a:spcBef>
                          <a:spcPts val="75"/>
                        </a:spcBef>
                      </a:pPr>
                      <a:r>
                        <a:rPr sz="26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最容易实现回收和再生利用的电池。全球再生</a:t>
                      </a:r>
                      <a:r>
                        <a:rPr sz="26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铅产量已经超   </a:t>
                      </a:r>
                      <a:r>
                        <a:rPr sz="2600" kern="0" spc="190" dirty="0">
                          <a:solidFill>
                            <a:srgbClr val="000000">
                              <a:alpha val="100000"/>
                            </a:srgbClr>
                          </a:solidFill>
                          <a:latin typeface="微软雅黑" panose="020B0503020204020204" charset="-122"/>
                          <a:ea typeface="微软雅黑" panose="020B0503020204020204" charset="-122"/>
                          <a:cs typeface="微软雅黑" panose="020B0503020204020204" charset="-122"/>
                        </a:rPr>
                        <a:t>过原生铅产量 ，美国废铅酸蓄电池</a:t>
                      </a:r>
                      <a:r>
                        <a:rPr sz="2600"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rPr>
                        <a:t>铅的再利用率已超过   </a:t>
                      </a:r>
                      <a:r>
                        <a:rPr sz="2600" kern="0" spc="-20" dirty="0">
                          <a:solidFill>
                            <a:srgbClr val="000000">
                              <a:alpha val="100000"/>
                            </a:srgbClr>
                          </a:solidFill>
                          <a:latin typeface="Times New Roman" panose="02020603050405020304"/>
                          <a:ea typeface="Times New Roman" panose="02020603050405020304"/>
                          <a:cs typeface="Times New Roman" panose="02020603050405020304"/>
                        </a:rPr>
                        <a:t>98.5% </a:t>
                      </a:r>
                      <a:r>
                        <a:rPr sz="26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，我国废铅酸蓄电池的再利用率</a:t>
                      </a:r>
                      <a:r>
                        <a:rPr sz="26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也达到</a:t>
                      </a:r>
                      <a:r>
                        <a:rPr sz="2600" kern="0" spc="-30" dirty="0">
                          <a:solidFill>
                            <a:srgbClr val="000000">
                              <a:alpha val="100000"/>
                            </a:srgbClr>
                          </a:solidFill>
                          <a:latin typeface="Times New Roman" panose="02020603050405020304"/>
                          <a:ea typeface="Times New Roman" panose="02020603050405020304"/>
                          <a:cs typeface="Times New Roman" panose="02020603050405020304"/>
                        </a:rPr>
                        <a:t>90%</a:t>
                      </a:r>
                      <a:r>
                        <a:rPr sz="26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以上。</a:t>
                      </a:r>
                      <a:endParaRPr lang="en-US" altLang="en-US" sz="2600" dirty="0"/>
                    </a:p>
                  </a:txBody>
                  <a:tcPr marL="0" marR="0" marT="0" marB="0" vert="horz">
                    <a:lnL w="28575" cap="flat" cmpd="sng" algn="ctr">
                      <a:solidFill>
                        <a:srgbClr val="FCC800"/>
                      </a:solidFill>
                      <a:prstDash val="dash"/>
                      <a:round/>
                      <a:headEnd type="none" w="med" len="med"/>
                      <a:tailEnd type="none" w="med" len="med"/>
                    </a:lnL>
                    <a:lnR w="28575" cap="flat" cmpd="sng" algn="ctr">
                      <a:solidFill>
                        <a:srgbClr val="FCC800"/>
                      </a:solidFill>
                      <a:prstDash val="dash"/>
                      <a:round/>
                      <a:headEnd type="none" w="med" len="med"/>
                      <a:tailEnd type="none" w="med" len="med"/>
                    </a:lnR>
                    <a:lnT w="28575" cap="flat" cmpd="sng" algn="ctr">
                      <a:solidFill>
                        <a:srgbClr val="FCC800"/>
                      </a:solidFill>
                      <a:prstDash val="dash"/>
                      <a:round/>
                      <a:headEnd type="none" w="med" len="med"/>
                      <a:tailEnd type="none" w="med" len="med"/>
                    </a:lnT>
                    <a:lnB w="28575" cap="flat" cmpd="sng" algn="ctr">
                      <a:solidFill>
                        <a:srgbClr val="FCC800"/>
                      </a:solidFill>
                      <a:prstDash val="dash"/>
                      <a:round/>
                      <a:headEnd type="none" w="med" len="med"/>
                      <a:tailEnd type="none" w="med" len="med"/>
                    </a:lnB>
                  </a:tcPr>
                </a:tc>
              </a:tr>
            </a:tbl>
          </a:graphicData>
        </a:graphic>
      </p:graphicFrame>
      <p:sp>
        <p:nvSpPr>
          <p:cNvPr id="306" name="textbox 306"/>
          <p:cNvSpPr/>
          <p:nvPr>
            <p:custDataLst>
              <p:tags r:id="rId3"/>
            </p:custDataLst>
          </p:nvPr>
        </p:nvSpPr>
        <p:spPr>
          <a:xfrm>
            <a:off x="128905" y="1720341"/>
            <a:ext cx="3943984" cy="559434"/>
          </a:xfrm>
          <a:prstGeom prst="rect">
            <a:avLst/>
          </a:prstGeom>
        </p:spPr>
        <p:txBody>
          <a:bodyPr vert="horz" wrap="square" lIns="0" tIns="0" rIns="0" bIns="0"/>
          <a:p>
            <a:pPr algn="l" rtl="0" eaLnBrk="0">
              <a:lnSpc>
                <a:spcPct val="107000"/>
              </a:lnSpc>
            </a:pPr>
            <a:endParaRPr lang="en-US" altLang="en-US" sz="900" dirty="0"/>
          </a:p>
          <a:p>
            <a:pPr marL="583565" algn="l" rtl="0" eaLnBrk="0">
              <a:lnSpc>
                <a:spcPct val="95000"/>
              </a:lnSpc>
              <a:spcBef>
                <a:spcPts val="5"/>
              </a:spcBef>
              <a:tabLst>
                <a:tab pos="742950" algn="l"/>
              </a:tabLst>
            </a:pPr>
            <a:r>
              <a:rPr sz="27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700" b="1"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③再生利用比较优势</a:t>
            </a:r>
            <a:endParaRPr lang="en-US" altLang="en-US" sz="2700" dirty="0"/>
          </a:p>
        </p:txBody>
      </p:sp>
      <p:grpSp>
        <p:nvGrpSpPr>
          <p:cNvPr id="38" name="group 38"/>
          <p:cNvGrpSpPr/>
          <p:nvPr/>
        </p:nvGrpSpPr>
        <p:grpSpPr>
          <a:xfrm rot="21600000">
            <a:off x="141605" y="1733041"/>
            <a:ext cx="571499" cy="522732"/>
            <a:chOff x="0" y="0"/>
            <a:chExt cx="571499" cy="522732"/>
          </a:xfrm>
        </p:grpSpPr>
        <p:sp>
          <p:nvSpPr>
            <p:cNvPr id="308" name="path"/>
            <p:cNvSpPr/>
            <p:nvPr>
              <p:custDataLst>
                <p:tags r:id="rId4"/>
              </p:custDataLst>
            </p:nvPr>
          </p:nvSpPr>
          <p:spPr>
            <a:xfrm>
              <a:off x="82295" y="33528"/>
              <a:ext cx="489203" cy="489204"/>
            </a:xfrm>
            <a:custGeom>
              <a:avLst/>
              <a:gdLst/>
              <a:ahLst/>
              <a:cxnLst/>
              <a:rect l="0" t="0" r="0" b="0"/>
              <a:pathLst>
                <a:path w="770" h="770">
                  <a:moveTo>
                    <a:pt x="0" y="385"/>
                  </a:moveTo>
                  <a:cubicBezTo>
                    <a:pt x="0" y="172"/>
                    <a:pt x="172" y="0"/>
                    <a:pt x="385" y="0"/>
                  </a:cubicBezTo>
                  <a:cubicBezTo>
                    <a:pt x="597" y="0"/>
                    <a:pt x="770" y="172"/>
                    <a:pt x="770" y="385"/>
                  </a:cubicBezTo>
                  <a:cubicBezTo>
                    <a:pt x="770" y="597"/>
                    <a:pt x="597" y="770"/>
                    <a:pt x="385" y="770"/>
                  </a:cubicBezTo>
                  <a:cubicBezTo>
                    <a:pt x="172" y="770"/>
                    <a:pt x="0" y="597"/>
                    <a:pt x="0" y="385"/>
                  </a:cubicBezTo>
                </a:path>
              </a:pathLst>
            </a:custGeom>
            <a:solidFill>
              <a:srgbClr val="FFC518">
                <a:alpha val="100000"/>
              </a:srgbClr>
            </a:solidFill>
            <a:ln cap="flat">
              <a:noFill/>
              <a:prstDash val="solid"/>
              <a:miter lim="0"/>
            </a:ln>
          </p:spPr>
          <p:txBody>
            <a:bodyPr rtlCol="0"/>
            <a:p>
              <a:pPr algn="ctr"/>
              <a:endParaRPr lang="zh-CN" altLang="en-US"/>
            </a:p>
          </p:txBody>
        </p:sp>
        <p:sp>
          <p:nvSpPr>
            <p:cNvPr id="310" name="path"/>
            <p:cNvSpPr/>
            <p:nvPr>
              <p:custDataLst>
                <p:tags r:id="rId5"/>
              </p:custDataLst>
            </p:nvPr>
          </p:nvSpPr>
          <p:spPr>
            <a:xfrm>
              <a:off x="0" y="0"/>
              <a:ext cx="490728" cy="489204"/>
            </a:xfrm>
            <a:custGeom>
              <a:avLst/>
              <a:gdLst/>
              <a:ahLst/>
              <a:cxnLst/>
              <a:rect l="0" t="0" r="0" b="0"/>
              <a:pathLst>
                <a:path w="772" h="770">
                  <a:moveTo>
                    <a:pt x="0" y="385"/>
                  </a:moveTo>
                  <a:cubicBezTo>
                    <a:pt x="0" y="172"/>
                    <a:pt x="173" y="0"/>
                    <a:pt x="386" y="0"/>
                  </a:cubicBezTo>
                  <a:cubicBezTo>
                    <a:pt x="599" y="0"/>
                    <a:pt x="772" y="172"/>
                    <a:pt x="772" y="385"/>
                  </a:cubicBezTo>
                  <a:cubicBezTo>
                    <a:pt x="772" y="597"/>
                    <a:pt x="599" y="770"/>
                    <a:pt x="386" y="770"/>
                  </a:cubicBezTo>
                  <a:cubicBezTo>
                    <a:pt x="173" y="770"/>
                    <a:pt x="0" y="597"/>
                    <a:pt x="0" y="385"/>
                  </a:cubicBezTo>
                </a:path>
              </a:pathLst>
            </a:custGeom>
            <a:solidFill>
              <a:srgbClr val="0070C0">
                <a:alpha val="100000"/>
              </a:srgbClr>
            </a:solidFill>
            <a:ln cap="flat">
              <a:noFill/>
              <a:prstDash val="solid"/>
              <a:miter lim="0"/>
            </a:ln>
          </p:spPr>
          <p:txBody>
            <a:bodyPr rtlCol="0"/>
            <a:p>
              <a:pPr algn="ctr"/>
              <a:endParaRPr lang="zh-CN" altLang="en-US"/>
            </a:p>
          </p:txBody>
        </p:sp>
      </p:grpSp>
    </p:spTree>
  </p:cSld>
  <p:clrMapOvr>
    <a:masterClrMapping/>
  </p:clrMapOvr>
  <p:transition>
    <p:randomBar dir="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4"/>
          <p:cNvSpPr txBox="1">
            <a:spLocks noChangeArrowheads="1"/>
          </p:cNvSpPr>
          <p:nvPr>
            <p:custDataLst>
              <p:tags r:id="rId1"/>
            </p:custDataLst>
          </p:nvPr>
        </p:nvSpPr>
        <p:spPr bwMode="auto">
          <a:xfrm>
            <a:off x="323850" y="116840"/>
            <a:ext cx="844550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a:lnSpc>
                <a:spcPct val="150000"/>
              </a:lnSpc>
              <a:spcBef>
                <a:spcPct val="20000"/>
              </a:spcBef>
              <a:buClr>
                <a:schemeClr val="folHlink"/>
              </a:buClr>
              <a:buFont typeface="Wingdings" panose="05000000000000000000" pitchFamily="2" charset="2"/>
              <a:buNone/>
            </a:pPr>
            <a:r>
              <a:rPr lang="zh-CN" altLang="en-US" sz="3200" dirty="0">
                <a:solidFill>
                  <a:srgbClr val="FF3300"/>
                </a:solidFill>
                <a:latin typeface="Arial" panose="020B0604020202020204" pitchFamily="34" charset="0"/>
              </a:rPr>
              <a:t>铅酸电池的不足</a:t>
            </a:r>
            <a:endParaRPr lang="zh-CN" altLang="en-US" sz="3200" dirty="0">
              <a:solidFill>
                <a:schemeClr val="tx1"/>
              </a:solidFill>
              <a:latin typeface="楷体_GB2312" pitchFamily="49" charset="-122"/>
              <a:ea typeface="楷体_GB2312" pitchFamily="49" charset="-122"/>
            </a:endParaRPr>
          </a:p>
        </p:txBody>
      </p:sp>
      <p:graphicFrame>
        <p:nvGraphicFramePr>
          <p:cNvPr id="324" name="table 324"/>
          <p:cNvGraphicFramePr>
            <a:graphicFrameLocks noGrp="1"/>
          </p:cNvGraphicFramePr>
          <p:nvPr>
            <p:custDataLst>
              <p:tags r:id="rId2"/>
            </p:custDataLst>
          </p:nvPr>
        </p:nvGraphicFramePr>
        <p:xfrm>
          <a:off x="91440" y="3068955"/>
          <a:ext cx="8973185" cy="2044065"/>
        </p:xfrm>
        <a:graphic>
          <a:graphicData uri="http://schemas.openxmlformats.org/drawingml/2006/table">
            <a:tbl>
              <a:tblPr/>
              <a:tblGrid>
                <a:gridCol w="8973185"/>
              </a:tblGrid>
              <a:tr h="2044065">
                <a:tc>
                  <a:txBody>
                    <a:bodyPr/>
                    <a:p>
                      <a:pPr algn="l" rtl="0" eaLnBrk="0">
                        <a:lnSpc>
                          <a:spcPct val="128000"/>
                        </a:lnSpc>
                      </a:pPr>
                      <a:endParaRPr lang="en-US" altLang="en-US" sz="1000" dirty="0"/>
                    </a:p>
                    <a:p>
                      <a:pPr algn="l" rtl="0" eaLnBrk="0">
                        <a:lnSpc>
                          <a:spcPct val="129000"/>
                        </a:lnSpc>
                      </a:pPr>
                      <a:endParaRPr lang="en-US" altLang="en-US" sz="1000" dirty="0"/>
                    </a:p>
                    <a:p>
                      <a:pPr marL="851535" algn="l" rtl="0" eaLnBrk="0">
                        <a:lnSpc>
                          <a:spcPct val="89000"/>
                        </a:lnSpc>
                        <a:spcBef>
                          <a:spcPts val="5"/>
                        </a:spcBef>
                      </a:pPr>
                      <a:r>
                        <a:rPr sz="26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传统的铅酸蓄电池质量和体积能量密度偏低，能量密</a:t>
                      </a:r>
                      <a:r>
                        <a:rPr sz="26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度</a:t>
                      </a:r>
                      <a:endParaRPr lang="en-US" altLang="en-US" sz="2600" dirty="0"/>
                    </a:p>
                    <a:p>
                      <a:pPr marL="273685" algn="l" rtl="0" eaLnBrk="0">
                        <a:lnSpc>
                          <a:spcPct val="134000"/>
                        </a:lnSpc>
                        <a:spcBef>
                          <a:spcPts val="10"/>
                        </a:spcBef>
                      </a:pPr>
                      <a:r>
                        <a:rPr sz="26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只有为锂离子电池的</a:t>
                      </a:r>
                      <a:r>
                        <a:rPr sz="2600" kern="0" spc="-10" dirty="0">
                          <a:solidFill>
                            <a:srgbClr val="000000">
                              <a:alpha val="100000"/>
                            </a:srgbClr>
                          </a:solidFill>
                          <a:latin typeface="Times New Roman" panose="02020603050405020304"/>
                          <a:ea typeface="Times New Roman" panose="02020603050405020304"/>
                          <a:cs typeface="Times New Roman" panose="02020603050405020304"/>
                        </a:rPr>
                        <a:t>1/3</a:t>
                      </a:r>
                      <a:r>
                        <a:rPr sz="26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左右，氢镍电池的</a:t>
                      </a:r>
                      <a:r>
                        <a:rPr sz="2600" kern="0" spc="-10" dirty="0">
                          <a:solidFill>
                            <a:srgbClr val="000000">
                              <a:alpha val="100000"/>
                            </a:srgbClr>
                          </a:solidFill>
                          <a:latin typeface="Times New Roman" panose="02020603050405020304"/>
                          <a:ea typeface="Times New Roman" panose="02020603050405020304"/>
                          <a:cs typeface="Times New Roman" panose="02020603050405020304"/>
                        </a:rPr>
                        <a:t>1/2</a:t>
                      </a:r>
                      <a:r>
                        <a:rPr sz="26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左右，并且体    </a:t>
                      </a:r>
                      <a:r>
                        <a:rPr sz="26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6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积较大，不适宜在质量轻、体积小的场合使用</a:t>
                      </a:r>
                      <a:r>
                        <a:rPr sz="26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lang="en-US" altLang="en-US" sz="2600" dirty="0"/>
                    </a:p>
                  </a:txBody>
                  <a:tcPr marL="0" marR="0" marT="0" marB="0" vert="horz">
                    <a:lnL w="28575" cap="flat" cmpd="sng" algn="ctr">
                      <a:solidFill>
                        <a:srgbClr val="0070C0"/>
                      </a:solidFill>
                      <a:prstDash val="dash"/>
                      <a:round/>
                      <a:headEnd type="none" w="med" len="med"/>
                      <a:tailEnd type="none" w="med" len="med"/>
                    </a:lnL>
                    <a:lnR w="28575" cap="flat" cmpd="sng" algn="ctr">
                      <a:solidFill>
                        <a:srgbClr val="0070C0"/>
                      </a:solidFill>
                      <a:prstDash val="dash"/>
                      <a:round/>
                      <a:headEnd type="none" w="med" len="med"/>
                      <a:tailEnd type="none" w="med" len="med"/>
                    </a:lnR>
                    <a:lnT w="28575" cap="flat" cmpd="sng" algn="ctr">
                      <a:solidFill>
                        <a:srgbClr val="0070C0"/>
                      </a:solidFill>
                      <a:prstDash val="dash"/>
                      <a:round/>
                      <a:headEnd type="none" w="med" len="med"/>
                      <a:tailEnd type="none" w="med" len="med"/>
                    </a:lnT>
                    <a:lnB w="28575" cap="flat" cmpd="sng" algn="ctr">
                      <a:solidFill>
                        <a:srgbClr val="0070C0"/>
                      </a:solidFill>
                      <a:prstDash val="dash"/>
                      <a:round/>
                      <a:headEnd type="none" w="med" len="med"/>
                      <a:tailEnd type="none" w="med" len="med"/>
                    </a:lnB>
                  </a:tcPr>
                </a:tc>
              </a:tr>
            </a:tbl>
          </a:graphicData>
        </a:graphic>
      </p:graphicFrame>
      <p:pic>
        <p:nvPicPr>
          <p:cNvPr id="326" name="picture 326"/>
          <p:cNvPicPr>
            <a:picLocks noChangeAspect="1"/>
          </p:cNvPicPr>
          <p:nvPr>
            <p:custDataLst>
              <p:tags r:id="rId3"/>
            </p:custDataLst>
          </p:nvPr>
        </p:nvPicPr>
        <p:blipFill>
          <a:blip r:embed="rId4"/>
          <a:stretch>
            <a:fillRect/>
          </a:stretch>
        </p:blipFill>
        <p:spPr>
          <a:xfrm rot="21600000">
            <a:off x="4067809" y="332993"/>
            <a:ext cx="4099559" cy="2215896"/>
          </a:xfrm>
          <a:prstGeom prst="rect">
            <a:avLst/>
          </a:prstGeom>
        </p:spPr>
      </p:pic>
      <p:sp>
        <p:nvSpPr>
          <p:cNvPr id="328" name="textbox 328"/>
          <p:cNvSpPr/>
          <p:nvPr>
            <p:custDataLst>
              <p:tags r:id="rId5"/>
            </p:custDataLst>
          </p:nvPr>
        </p:nvSpPr>
        <p:spPr>
          <a:xfrm>
            <a:off x="-3302" y="2114041"/>
            <a:ext cx="3232785" cy="559434"/>
          </a:xfrm>
          <a:prstGeom prst="rect">
            <a:avLst/>
          </a:prstGeom>
        </p:spPr>
        <p:txBody>
          <a:bodyPr vert="horz" wrap="square" lIns="0" tIns="0" rIns="0" bIns="0"/>
          <a:p>
            <a:pPr algn="l" rtl="0" eaLnBrk="0">
              <a:lnSpc>
                <a:spcPct val="107000"/>
              </a:lnSpc>
            </a:pPr>
            <a:endParaRPr lang="en-US" altLang="en-US" sz="900" dirty="0"/>
          </a:p>
          <a:p>
            <a:pPr marL="583565" algn="l" rtl="0" eaLnBrk="0">
              <a:lnSpc>
                <a:spcPct val="95000"/>
              </a:lnSpc>
              <a:spcBef>
                <a:spcPts val="5"/>
              </a:spcBef>
              <a:tabLst>
                <a:tab pos="742315" algn="l"/>
              </a:tabLst>
            </a:pPr>
            <a:r>
              <a:rPr sz="27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700" b="1"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①能量密度偏低</a:t>
            </a:r>
            <a:endParaRPr lang="en-US" altLang="en-US" sz="2700" dirty="0"/>
          </a:p>
        </p:txBody>
      </p:sp>
      <p:grpSp>
        <p:nvGrpSpPr>
          <p:cNvPr id="40" name="group 40"/>
          <p:cNvGrpSpPr/>
          <p:nvPr/>
        </p:nvGrpSpPr>
        <p:grpSpPr>
          <a:xfrm rot="21600000">
            <a:off x="9398" y="2126741"/>
            <a:ext cx="571499" cy="522732"/>
            <a:chOff x="0" y="0"/>
            <a:chExt cx="571499" cy="522732"/>
          </a:xfrm>
        </p:grpSpPr>
        <p:sp>
          <p:nvSpPr>
            <p:cNvPr id="330" name="path"/>
            <p:cNvSpPr/>
            <p:nvPr>
              <p:custDataLst>
                <p:tags r:id="rId6"/>
              </p:custDataLst>
            </p:nvPr>
          </p:nvSpPr>
          <p:spPr>
            <a:xfrm>
              <a:off x="82295" y="33528"/>
              <a:ext cx="489204" cy="489204"/>
            </a:xfrm>
            <a:custGeom>
              <a:avLst/>
              <a:gdLst/>
              <a:ahLst/>
              <a:cxnLst/>
              <a:rect l="0" t="0" r="0" b="0"/>
              <a:pathLst>
                <a:path w="770" h="770">
                  <a:moveTo>
                    <a:pt x="0" y="385"/>
                  </a:moveTo>
                  <a:cubicBezTo>
                    <a:pt x="0" y="172"/>
                    <a:pt x="172" y="0"/>
                    <a:pt x="385" y="0"/>
                  </a:cubicBezTo>
                  <a:cubicBezTo>
                    <a:pt x="597" y="0"/>
                    <a:pt x="770" y="172"/>
                    <a:pt x="770" y="385"/>
                  </a:cubicBezTo>
                  <a:cubicBezTo>
                    <a:pt x="770" y="597"/>
                    <a:pt x="597" y="770"/>
                    <a:pt x="385" y="770"/>
                  </a:cubicBezTo>
                  <a:cubicBezTo>
                    <a:pt x="172" y="770"/>
                    <a:pt x="0" y="597"/>
                    <a:pt x="0" y="385"/>
                  </a:cubicBezTo>
                </a:path>
              </a:pathLst>
            </a:custGeom>
            <a:solidFill>
              <a:srgbClr val="FFC518">
                <a:alpha val="100000"/>
              </a:srgbClr>
            </a:solidFill>
            <a:ln cap="flat">
              <a:noFill/>
              <a:prstDash val="solid"/>
              <a:miter lim="0"/>
            </a:ln>
          </p:spPr>
          <p:txBody>
            <a:bodyPr rtlCol="0"/>
            <a:p>
              <a:pPr algn="ctr"/>
              <a:endParaRPr lang="zh-CN" altLang="en-US"/>
            </a:p>
          </p:txBody>
        </p:sp>
        <p:sp>
          <p:nvSpPr>
            <p:cNvPr id="332" name="path"/>
            <p:cNvSpPr/>
            <p:nvPr>
              <p:custDataLst>
                <p:tags r:id="rId7"/>
              </p:custDataLst>
            </p:nvPr>
          </p:nvSpPr>
          <p:spPr>
            <a:xfrm>
              <a:off x="0" y="0"/>
              <a:ext cx="489203" cy="489204"/>
            </a:xfrm>
            <a:custGeom>
              <a:avLst/>
              <a:gdLst/>
              <a:ahLst/>
              <a:cxnLst/>
              <a:rect l="0" t="0" r="0" b="0"/>
              <a:pathLst>
                <a:path w="770" h="770">
                  <a:moveTo>
                    <a:pt x="0" y="385"/>
                  </a:moveTo>
                  <a:cubicBezTo>
                    <a:pt x="0" y="172"/>
                    <a:pt x="172" y="0"/>
                    <a:pt x="385" y="0"/>
                  </a:cubicBezTo>
                  <a:cubicBezTo>
                    <a:pt x="597" y="0"/>
                    <a:pt x="770" y="172"/>
                    <a:pt x="770" y="385"/>
                  </a:cubicBezTo>
                  <a:cubicBezTo>
                    <a:pt x="770" y="597"/>
                    <a:pt x="597" y="770"/>
                    <a:pt x="385" y="770"/>
                  </a:cubicBezTo>
                  <a:cubicBezTo>
                    <a:pt x="172" y="770"/>
                    <a:pt x="0" y="597"/>
                    <a:pt x="0" y="385"/>
                  </a:cubicBezTo>
                </a:path>
              </a:pathLst>
            </a:custGeom>
            <a:solidFill>
              <a:srgbClr val="0070C0">
                <a:alpha val="100000"/>
              </a:srgbClr>
            </a:solidFill>
            <a:ln cap="flat">
              <a:noFill/>
              <a:prstDash val="solid"/>
              <a:miter lim="0"/>
            </a:ln>
          </p:spPr>
          <p:txBody>
            <a:bodyPr rtlCol="0"/>
            <a:p>
              <a:pPr algn="ctr"/>
              <a:endParaRPr lang="zh-CN" altLang="en-US"/>
            </a:p>
          </p:txBody>
        </p:sp>
      </p:grpSp>
    </p:spTree>
  </p:cSld>
  <p:clrMapOvr>
    <a:masterClrMapping/>
  </p:clrMapOvr>
  <p:transition>
    <p:randomBar dir="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Text Box 4"/>
          <p:cNvSpPr txBox="1">
            <a:spLocks noChangeArrowheads="1"/>
          </p:cNvSpPr>
          <p:nvPr>
            <p:custDataLst>
              <p:tags r:id="rId1"/>
            </p:custDataLst>
          </p:nvPr>
        </p:nvSpPr>
        <p:spPr bwMode="auto">
          <a:xfrm>
            <a:off x="323850" y="116840"/>
            <a:ext cx="844550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a:lnSpc>
                <a:spcPct val="150000"/>
              </a:lnSpc>
              <a:spcBef>
                <a:spcPct val="20000"/>
              </a:spcBef>
              <a:buClr>
                <a:schemeClr val="folHlink"/>
              </a:buClr>
              <a:buFont typeface="Wingdings" panose="05000000000000000000" pitchFamily="2" charset="2"/>
              <a:buNone/>
            </a:pPr>
            <a:r>
              <a:rPr lang="zh-CN" altLang="en-US" sz="3200" dirty="0">
                <a:solidFill>
                  <a:srgbClr val="FF3300"/>
                </a:solidFill>
                <a:latin typeface="Arial" panose="020B0604020202020204" pitchFamily="34" charset="0"/>
              </a:rPr>
              <a:t>铅酸电池的不足</a:t>
            </a:r>
            <a:endParaRPr lang="zh-CN" altLang="en-US" sz="3200" dirty="0">
              <a:solidFill>
                <a:schemeClr val="tx1"/>
              </a:solidFill>
              <a:latin typeface="楷体_GB2312" pitchFamily="49" charset="-122"/>
              <a:ea typeface="楷体_GB2312" pitchFamily="49" charset="-122"/>
            </a:endParaRPr>
          </a:p>
        </p:txBody>
      </p:sp>
      <p:graphicFrame>
        <p:nvGraphicFramePr>
          <p:cNvPr id="346" name="table 346"/>
          <p:cNvGraphicFramePr>
            <a:graphicFrameLocks noGrp="1"/>
          </p:cNvGraphicFramePr>
          <p:nvPr>
            <p:custDataLst>
              <p:tags r:id="rId2"/>
            </p:custDataLst>
          </p:nvPr>
        </p:nvGraphicFramePr>
        <p:xfrm>
          <a:off x="143510" y="4251960"/>
          <a:ext cx="8930640" cy="1589405"/>
        </p:xfrm>
        <a:graphic>
          <a:graphicData uri="http://schemas.openxmlformats.org/drawingml/2006/table">
            <a:tbl>
              <a:tblPr/>
              <a:tblGrid>
                <a:gridCol w="8930640"/>
              </a:tblGrid>
              <a:tr h="1589405">
                <a:tc>
                  <a:txBody>
                    <a:bodyPr/>
                    <a:p>
                      <a:pPr algn="l" rtl="0" eaLnBrk="0">
                        <a:lnSpc>
                          <a:spcPct val="121000"/>
                        </a:lnSpc>
                      </a:pPr>
                      <a:endParaRPr lang="en-US" altLang="en-US" sz="1000" dirty="0"/>
                    </a:p>
                    <a:p>
                      <a:pPr algn="l" rtl="0" eaLnBrk="0">
                        <a:lnSpc>
                          <a:spcPct val="121000"/>
                        </a:lnSpc>
                      </a:pPr>
                      <a:endParaRPr lang="en-US" altLang="en-US" sz="1000" dirty="0"/>
                    </a:p>
                    <a:p>
                      <a:pPr marL="711835" algn="l" rtl="0" eaLnBrk="0">
                        <a:lnSpc>
                          <a:spcPct val="89000"/>
                        </a:lnSpc>
                        <a:spcBef>
                          <a:spcPts val="5"/>
                        </a:spcBef>
                      </a:pPr>
                      <a:r>
                        <a:rPr sz="26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铅是铅酸蓄电池的主要原材料，铅占电池质量的</a:t>
                      </a:r>
                      <a:r>
                        <a:rPr sz="2600" kern="0" spc="0" dirty="0">
                          <a:solidFill>
                            <a:srgbClr val="000000">
                              <a:alpha val="100000"/>
                            </a:srgbClr>
                          </a:solidFill>
                          <a:latin typeface="Times New Roman" panose="02020603050405020304"/>
                          <a:ea typeface="Times New Roman" panose="02020603050405020304"/>
                          <a:cs typeface="Times New Roman" panose="02020603050405020304"/>
                        </a:rPr>
                        <a:t>60%</a:t>
                      </a:r>
                      <a:r>
                        <a:rPr sz="26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以上，</a:t>
                      </a:r>
                      <a:r>
                        <a:rPr sz="26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全球铅酸蓄电池的用铅量占总用铅量的</a:t>
                      </a:r>
                      <a:r>
                        <a:rPr sz="2600" kern="0" spc="-50" dirty="0">
                          <a:solidFill>
                            <a:srgbClr val="000000">
                              <a:alpha val="100000"/>
                            </a:srgbClr>
                          </a:solidFill>
                          <a:latin typeface="Times New Roman" panose="02020603050405020304"/>
                          <a:ea typeface="Times New Roman" panose="02020603050405020304"/>
                          <a:cs typeface="Times New Roman" panose="02020603050405020304"/>
                        </a:rPr>
                        <a:t>8</a:t>
                      </a:r>
                      <a:r>
                        <a:rPr sz="2600" kern="0" spc="-60" dirty="0">
                          <a:solidFill>
                            <a:srgbClr val="000000">
                              <a:alpha val="100000"/>
                            </a:srgbClr>
                          </a:solidFill>
                          <a:latin typeface="Times New Roman" panose="02020603050405020304"/>
                          <a:ea typeface="Times New Roman" panose="02020603050405020304"/>
                          <a:cs typeface="Times New Roman" panose="02020603050405020304"/>
                        </a:rPr>
                        <a:t>0%</a:t>
                      </a:r>
                      <a:r>
                        <a:rPr sz="26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以上。</a:t>
                      </a:r>
                      <a:endParaRPr lang="en-US" altLang="en-US" sz="2600" dirty="0"/>
                    </a:p>
                  </a:txBody>
                  <a:tcPr marL="0" marR="0" marT="0" marB="0" vert="horz">
                    <a:lnL w="28575" cap="flat" cmpd="sng" algn="ctr">
                      <a:solidFill>
                        <a:srgbClr val="0070C0"/>
                      </a:solidFill>
                      <a:prstDash val="dash"/>
                      <a:round/>
                      <a:headEnd type="none" w="med" len="med"/>
                      <a:tailEnd type="none" w="med" len="med"/>
                    </a:lnL>
                    <a:lnR w="28575" cap="flat" cmpd="sng" algn="ctr">
                      <a:solidFill>
                        <a:srgbClr val="0070C0"/>
                      </a:solidFill>
                      <a:prstDash val="dash"/>
                      <a:round/>
                      <a:headEnd type="none" w="med" len="med"/>
                      <a:tailEnd type="none" w="med" len="med"/>
                    </a:lnR>
                    <a:lnT w="28575" cap="flat" cmpd="sng" algn="ctr">
                      <a:solidFill>
                        <a:srgbClr val="0070C0"/>
                      </a:solidFill>
                      <a:prstDash val="dash"/>
                      <a:round/>
                      <a:headEnd type="none" w="med" len="med"/>
                      <a:tailEnd type="none" w="med" len="med"/>
                    </a:lnT>
                    <a:lnB w="28575" cap="flat" cmpd="sng" algn="ctr">
                      <a:solidFill>
                        <a:srgbClr val="0070C0"/>
                      </a:solidFill>
                      <a:prstDash val="dash"/>
                      <a:round/>
                      <a:headEnd type="none" w="med" len="med"/>
                      <a:tailEnd type="none" w="med" len="med"/>
                    </a:lnB>
                  </a:tcPr>
                </a:tc>
              </a:tr>
            </a:tbl>
          </a:graphicData>
        </a:graphic>
      </p:graphicFrame>
      <p:graphicFrame>
        <p:nvGraphicFramePr>
          <p:cNvPr id="348" name="table 348"/>
          <p:cNvGraphicFramePr>
            <a:graphicFrameLocks noGrp="1"/>
          </p:cNvGraphicFramePr>
          <p:nvPr>
            <p:custDataLst>
              <p:tags r:id="rId3"/>
            </p:custDataLst>
          </p:nvPr>
        </p:nvGraphicFramePr>
        <p:xfrm>
          <a:off x="130810" y="1864995"/>
          <a:ext cx="8815070" cy="1483360"/>
        </p:xfrm>
        <a:graphic>
          <a:graphicData uri="http://schemas.openxmlformats.org/drawingml/2006/table">
            <a:tbl>
              <a:tblPr/>
              <a:tblGrid>
                <a:gridCol w="8815070"/>
              </a:tblGrid>
              <a:tr h="1483360">
                <a:tc>
                  <a:txBody>
                    <a:bodyPr/>
                    <a:p>
                      <a:pPr algn="l" rtl="0" eaLnBrk="0">
                        <a:lnSpc>
                          <a:spcPct val="128000"/>
                        </a:lnSpc>
                      </a:pPr>
                      <a:endParaRPr lang="en-US" altLang="en-US" sz="1000" dirty="0"/>
                    </a:p>
                    <a:p>
                      <a:pPr algn="l" rtl="0" eaLnBrk="0">
                        <a:lnSpc>
                          <a:spcPct val="129000"/>
                        </a:lnSpc>
                      </a:pPr>
                      <a:endParaRPr lang="en-US" altLang="en-US" sz="1000" dirty="0"/>
                    </a:p>
                    <a:p>
                      <a:pPr marL="772160" algn="l" rtl="0" eaLnBrk="0">
                        <a:lnSpc>
                          <a:spcPct val="89000"/>
                        </a:lnSpc>
                        <a:spcBef>
                          <a:spcPts val="5"/>
                        </a:spcBef>
                      </a:pPr>
                      <a:r>
                        <a:rPr sz="26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传统铅酸蓄电池循环寿命较短，理论循环次数为锂离</a:t>
                      </a:r>
                      <a:r>
                        <a:rPr sz="26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子</a:t>
                      </a:r>
                      <a:endParaRPr lang="en-US" altLang="en-US" sz="2600" dirty="0"/>
                    </a:p>
                    <a:p>
                      <a:pPr marL="128270" algn="l" rtl="0" eaLnBrk="0">
                        <a:lnSpc>
                          <a:spcPts val="4055"/>
                        </a:lnSpc>
                      </a:pPr>
                      <a:r>
                        <a:rPr sz="2600" kern="0" spc="-170" dirty="0">
                          <a:solidFill>
                            <a:srgbClr val="000000">
                              <a:alpha val="100000"/>
                            </a:srgbClr>
                          </a:solidFill>
                          <a:latin typeface="微软雅黑" panose="020B0503020204020204" charset="-122"/>
                          <a:ea typeface="微软雅黑" panose="020B0503020204020204" charset="-122"/>
                          <a:cs typeface="微软雅黑" panose="020B0503020204020204" charset="-122"/>
                        </a:rPr>
                        <a:t>电池</a:t>
                      </a:r>
                      <a:r>
                        <a:rPr sz="2600" kern="0" spc="-170" dirty="0">
                          <a:solidFill>
                            <a:srgbClr val="000000">
                              <a:alpha val="100000"/>
                            </a:srgbClr>
                          </a:solidFill>
                          <a:latin typeface="Times New Roman" panose="02020603050405020304"/>
                          <a:ea typeface="Times New Roman" panose="02020603050405020304"/>
                          <a:cs typeface="Times New Roman" panose="02020603050405020304"/>
                        </a:rPr>
                        <a:t>1/3</a:t>
                      </a:r>
                      <a:r>
                        <a:rPr sz="2600" kern="0" spc="-170" dirty="0">
                          <a:solidFill>
                            <a:srgbClr val="000000">
                              <a:alpha val="100000"/>
                            </a:srgbClr>
                          </a:solidFill>
                          <a:latin typeface="微软雅黑" panose="020B0503020204020204" charset="-122"/>
                          <a:ea typeface="微软雅黑" panose="020B0503020204020204" charset="-122"/>
                          <a:cs typeface="微软雅黑" panose="020B0503020204020204" charset="-122"/>
                        </a:rPr>
                        <a:t>左右。</a:t>
                      </a:r>
                      <a:endParaRPr lang="en-US" altLang="en-US" sz="2600" dirty="0"/>
                    </a:p>
                  </a:txBody>
                  <a:tcPr marL="0" marR="0" marT="0" marB="0" vert="horz">
                    <a:lnL w="28575" cap="flat" cmpd="sng" algn="ctr">
                      <a:solidFill>
                        <a:srgbClr val="0070C0"/>
                      </a:solidFill>
                      <a:prstDash val="dash"/>
                      <a:round/>
                      <a:headEnd type="none" w="med" len="med"/>
                      <a:tailEnd type="none" w="med" len="med"/>
                    </a:lnL>
                    <a:lnR w="28575" cap="flat" cmpd="sng" algn="ctr">
                      <a:solidFill>
                        <a:srgbClr val="0070C0"/>
                      </a:solidFill>
                      <a:prstDash val="dash"/>
                      <a:round/>
                      <a:headEnd type="none" w="med" len="med"/>
                      <a:tailEnd type="none" w="med" len="med"/>
                    </a:lnR>
                    <a:lnT w="28575" cap="flat" cmpd="sng" algn="ctr">
                      <a:solidFill>
                        <a:srgbClr val="0070C0"/>
                      </a:solidFill>
                      <a:prstDash val="dash"/>
                      <a:round/>
                      <a:headEnd type="none" w="med" len="med"/>
                      <a:tailEnd type="none" w="med" len="med"/>
                    </a:lnT>
                    <a:lnB w="28575" cap="flat" cmpd="sng" algn="ctr">
                      <a:solidFill>
                        <a:srgbClr val="0070C0"/>
                      </a:solidFill>
                      <a:prstDash val="dash"/>
                      <a:round/>
                      <a:headEnd type="none" w="med" len="med"/>
                      <a:tailEnd type="none" w="med" len="med"/>
                    </a:lnB>
                  </a:tcPr>
                </a:tc>
              </a:tr>
            </a:tbl>
          </a:graphicData>
        </a:graphic>
      </p:graphicFrame>
      <p:sp>
        <p:nvSpPr>
          <p:cNvPr id="350" name="textbox 350"/>
          <p:cNvSpPr/>
          <p:nvPr>
            <p:custDataLst>
              <p:tags r:id="rId4"/>
            </p:custDataLst>
          </p:nvPr>
        </p:nvSpPr>
        <p:spPr>
          <a:xfrm>
            <a:off x="130683" y="3543554"/>
            <a:ext cx="4653915" cy="561340"/>
          </a:xfrm>
          <a:prstGeom prst="rect">
            <a:avLst/>
          </a:prstGeom>
        </p:spPr>
        <p:txBody>
          <a:bodyPr vert="horz" wrap="square" lIns="0" tIns="0" rIns="0" bIns="0"/>
          <a:p>
            <a:pPr algn="l" rtl="0" eaLnBrk="0">
              <a:lnSpc>
                <a:spcPct val="108000"/>
              </a:lnSpc>
            </a:pPr>
            <a:endParaRPr lang="en-US" altLang="en-US" sz="900" dirty="0"/>
          </a:p>
          <a:p>
            <a:pPr marL="584200" algn="l" rtl="0" eaLnBrk="0">
              <a:lnSpc>
                <a:spcPct val="95000"/>
              </a:lnSpc>
              <a:tabLst>
                <a:tab pos="742950" algn="l"/>
              </a:tabLst>
            </a:pPr>
            <a:r>
              <a:rPr sz="27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700" b="1"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③产业链存在铅污染风</a:t>
            </a:r>
            <a:r>
              <a:rPr sz="2700" b="1"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险</a:t>
            </a:r>
            <a:endParaRPr lang="en-US" altLang="en-US" sz="2700" dirty="0"/>
          </a:p>
        </p:txBody>
      </p:sp>
      <p:grpSp>
        <p:nvGrpSpPr>
          <p:cNvPr id="42" name="group 42"/>
          <p:cNvGrpSpPr/>
          <p:nvPr/>
        </p:nvGrpSpPr>
        <p:grpSpPr>
          <a:xfrm rot="21600000">
            <a:off x="143383" y="3556254"/>
            <a:ext cx="571500" cy="524255"/>
            <a:chOff x="0" y="0"/>
            <a:chExt cx="571500" cy="524255"/>
          </a:xfrm>
        </p:grpSpPr>
        <p:sp>
          <p:nvSpPr>
            <p:cNvPr id="352" name="path"/>
            <p:cNvSpPr/>
            <p:nvPr>
              <p:custDataLst>
                <p:tags r:id="rId5"/>
              </p:custDataLst>
            </p:nvPr>
          </p:nvSpPr>
          <p:spPr>
            <a:xfrm>
              <a:off x="82295" y="33527"/>
              <a:ext cx="489204" cy="490727"/>
            </a:xfrm>
            <a:custGeom>
              <a:avLst/>
              <a:gdLst/>
              <a:ahLst/>
              <a:cxnLst/>
              <a:rect l="0" t="0" r="0" b="0"/>
              <a:pathLst>
                <a:path w="770" h="772">
                  <a:moveTo>
                    <a:pt x="0" y="386"/>
                  </a:moveTo>
                  <a:cubicBezTo>
                    <a:pt x="0" y="173"/>
                    <a:pt x="172" y="0"/>
                    <a:pt x="385" y="0"/>
                  </a:cubicBezTo>
                  <a:cubicBezTo>
                    <a:pt x="597" y="0"/>
                    <a:pt x="770" y="173"/>
                    <a:pt x="770" y="386"/>
                  </a:cubicBezTo>
                  <a:cubicBezTo>
                    <a:pt x="770" y="599"/>
                    <a:pt x="597" y="772"/>
                    <a:pt x="385" y="772"/>
                  </a:cubicBezTo>
                  <a:cubicBezTo>
                    <a:pt x="172" y="772"/>
                    <a:pt x="0" y="599"/>
                    <a:pt x="0" y="386"/>
                  </a:cubicBezTo>
                </a:path>
              </a:pathLst>
            </a:custGeom>
            <a:solidFill>
              <a:srgbClr val="FFC518">
                <a:alpha val="100000"/>
              </a:srgbClr>
            </a:solidFill>
            <a:ln cap="flat">
              <a:noFill/>
              <a:prstDash val="solid"/>
              <a:miter lim="0"/>
            </a:ln>
          </p:spPr>
          <p:txBody>
            <a:bodyPr rtlCol="0"/>
            <a:p>
              <a:pPr algn="ctr"/>
              <a:endParaRPr lang="zh-CN" altLang="en-US"/>
            </a:p>
          </p:txBody>
        </p:sp>
        <p:sp>
          <p:nvSpPr>
            <p:cNvPr id="354" name="path"/>
            <p:cNvSpPr/>
            <p:nvPr>
              <p:custDataLst>
                <p:tags r:id="rId6"/>
              </p:custDataLst>
            </p:nvPr>
          </p:nvSpPr>
          <p:spPr>
            <a:xfrm>
              <a:off x="0" y="0"/>
              <a:ext cx="489203" cy="489203"/>
            </a:xfrm>
            <a:custGeom>
              <a:avLst/>
              <a:gdLst/>
              <a:ahLst/>
              <a:cxnLst/>
              <a:rect l="0" t="0" r="0" b="0"/>
              <a:pathLst>
                <a:path w="770" h="770">
                  <a:moveTo>
                    <a:pt x="0" y="385"/>
                  </a:moveTo>
                  <a:cubicBezTo>
                    <a:pt x="0" y="172"/>
                    <a:pt x="172" y="0"/>
                    <a:pt x="385" y="0"/>
                  </a:cubicBezTo>
                  <a:cubicBezTo>
                    <a:pt x="597" y="0"/>
                    <a:pt x="770" y="172"/>
                    <a:pt x="770" y="385"/>
                  </a:cubicBezTo>
                  <a:cubicBezTo>
                    <a:pt x="770" y="597"/>
                    <a:pt x="597" y="770"/>
                    <a:pt x="385" y="770"/>
                  </a:cubicBezTo>
                  <a:cubicBezTo>
                    <a:pt x="172" y="770"/>
                    <a:pt x="0" y="597"/>
                    <a:pt x="0" y="385"/>
                  </a:cubicBezTo>
                </a:path>
              </a:pathLst>
            </a:custGeom>
            <a:solidFill>
              <a:srgbClr val="0070C0">
                <a:alpha val="100000"/>
              </a:srgbClr>
            </a:solidFill>
            <a:ln cap="flat">
              <a:noFill/>
              <a:prstDash val="solid"/>
              <a:miter lim="0"/>
            </a:ln>
          </p:spPr>
          <p:txBody>
            <a:bodyPr rtlCol="0"/>
            <a:p>
              <a:pPr algn="ctr"/>
              <a:endParaRPr lang="zh-CN" altLang="en-US"/>
            </a:p>
          </p:txBody>
        </p:sp>
      </p:grpSp>
      <p:sp>
        <p:nvSpPr>
          <p:cNvPr id="356" name="textbox 356"/>
          <p:cNvSpPr/>
          <p:nvPr>
            <p:custDataLst>
              <p:tags r:id="rId7"/>
            </p:custDataLst>
          </p:nvPr>
        </p:nvSpPr>
        <p:spPr>
          <a:xfrm>
            <a:off x="130683" y="1166114"/>
            <a:ext cx="3234054" cy="561340"/>
          </a:xfrm>
          <a:prstGeom prst="rect">
            <a:avLst/>
          </a:prstGeom>
        </p:spPr>
        <p:txBody>
          <a:bodyPr vert="horz" wrap="square" lIns="0" tIns="0" rIns="0" bIns="0"/>
          <a:p>
            <a:pPr algn="l" rtl="0" eaLnBrk="0">
              <a:lnSpc>
                <a:spcPct val="107000"/>
              </a:lnSpc>
            </a:pPr>
            <a:endParaRPr lang="en-US" altLang="en-US" sz="900" dirty="0"/>
          </a:p>
          <a:p>
            <a:pPr marL="584200" algn="l" rtl="0" eaLnBrk="0">
              <a:lnSpc>
                <a:spcPct val="95000"/>
              </a:lnSpc>
              <a:spcBef>
                <a:spcPts val="5"/>
              </a:spcBef>
              <a:tabLst>
                <a:tab pos="742950" algn="l"/>
              </a:tabLst>
            </a:pPr>
            <a:r>
              <a:rPr sz="27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700" b="1"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②循环寿命偏短</a:t>
            </a:r>
            <a:endParaRPr lang="en-US" altLang="en-US" sz="2700" dirty="0"/>
          </a:p>
        </p:txBody>
      </p:sp>
      <p:grpSp>
        <p:nvGrpSpPr>
          <p:cNvPr id="44" name="group 44"/>
          <p:cNvGrpSpPr/>
          <p:nvPr/>
        </p:nvGrpSpPr>
        <p:grpSpPr>
          <a:xfrm rot="21600000">
            <a:off x="143383" y="1178814"/>
            <a:ext cx="571500" cy="524255"/>
            <a:chOff x="0" y="0"/>
            <a:chExt cx="571500" cy="524255"/>
          </a:xfrm>
        </p:grpSpPr>
        <p:sp>
          <p:nvSpPr>
            <p:cNvPr id="358" name="path"/>
            <p:cNvSpPr/>
            <p:nvPr>
              <p:custDataLst>
                <p:tags r:id="rId8"/>
              </p:custDataLst>
            </p:nvPr>
          </p:nvSpPr>
          <p:spPr>
            <a:xfrm>
              <a:off x="82295" y="35052"/>
              <a:ext cx="489204" cy="489203"/>
            </a:xfrm>
            <a:custGeom>
              <a:avLst/>
              <a:gdLst/>
              <a:ahLst/>
              <a:cxnLst/>
              <a:rect l="0" t="0" r="0" b="0"/>
              <a:pathLst>
                <a:path w="770" h="770">
                  <a:moveTo>
                    <a:pt x="0" y="385"/>
                  </a:moveTo>
                  <a:cubicBezTo>
                    <a:pt x="0" y="172"/>
                    <a:pt x="172" y="0"/>
                    <a:pt x="385" y="0"/>
                  </a:cubicBezTo>
                  <a:cubicBezTo>
                    <a:pt x="597" y="0"/>
                    <a:pt x="770" y="172"/>
                    <a:pt x="770" y="385"/>
                  </a:cubicBezTo>
                  <a:cubicBezTo>
                    <a:pt x="770" y="597"/>
                    <a:pt x="597" y="770"/>
                    <a:pt x="385" y="770"/>
                  </a:cubicBezTo>
                  <a:cubicBezTo>
                    <a:pt x="172" y="770"/>
                    <a:pt x="0" y="597"/>
                    <a:pt x="0" y="385"/>
                  </a:cubicBezTo>
                </a:path>
              </a:pathLst>
            </a:custGeom>
            <a:solidFill>
              <a:srgbClr val="FFC518">
                <a:alpha val="100000"/>
              </a:srgbClr>
            </a:solidFill>
            <a:ln cap="flat">
              <a:noFill/>
              <a:prstDash val="solid"/>
              <a:miter lim="0"/>
            </a:ln>
          </p:spPr>
          <p:txBody>
            <a:bodyPr rtlCol="0"/>
            <a:p>
              <a:pPr algn="ctr"/>
              <a:endParaRPr lang="zh-CN" altLang="en-US"/>
            </a:p>
          </p:txBody>
        </p:sp>
        <p:sp>
          <p:nvSpPr>
            <p:cNvPr id="360" name="path"/>
            <p:cNvSpPr/>
            <p:nvPr>
              <p:custDataLst>
                <p:tags r:id="rId9"/>
              </p:custDataLst>
            </p:nvPr>
          </p:nvSpPr>
          <p:spPr>
            <a:xfrm>
              <a:off x="0" y="0"/>
              <a:ext cx="489203" cy="490727"/>
            </a:xfrm>
            <a:custGeom>
              <a:avLst/>
              <a:gdLst/>
              <a:ahLst/>
              <a:cxnLst/>
              <a:rect l="0" t="0" r="0" b="0"/>
              <a:pathLst>
                <a:path w="770" h="772">
                  <a:moveTo>
                    <a:pt x="0" y="386"/>
                  </a:moveTo>
                  <a:cubicBezTo>
                    <a:pt x="0" y="172"/>
                    <a:pt x="172" y="0"/>
                    <a:pt x="385" y="0"/>
                  </a:cubicBezTo>
                  <a:cubicBezTo>
                    <a:pt x="597" y="0"/>
                    <a:pt x="770" y="172"/>
                    <a:pt x="770" y="386"/>
                  </a:cubicBezTo>
                  <a:cubicBezTo>
                    <a:pt x="770" y="599"/>
                    <a:pt x="597" y="772"/>
                    <a:pt x="385" y="772"/>
                  </a:cubicBezTo>
                  <a:cubicBezTo>
                    <a:pt x="172" y="772"/>
                    <a:pt x="0" y="599"/>
                    <a:pt x="0" y="386"/>
                  </a:cubicBezTo>
                </a:path>
              </a:pathLst>
            </a:custGeom>
            <a:solidFill>
              <a:srgbClr val="0070C0">
                <a:alpha val="100000"/>
              </a:srgbClr>
            </a:solidFill>
            <a:ln cap="flat">
              <a:noFill/>
              <a:prstDash val="solid"/>
              <a:miter lim="0"/>
            </a:ln>
          </p:spPr>
          <p:txBody>
            <a:bodyPr rtlCol="0"/>
            <a:p>
              <a:pPr algn="ctr"/>
              <a:endParaRPr lang="zh-CN" altLang="en-US"/>
            </a:p>
          </p:txBody>
        </p:sp>
      </p:grpSp>
    </p:spTree>
  </p:cSld>
  <p:clrMapOvr>
    <a:masterClrMapping/>
  </p:clrMapOvr>
  <p:transition>
    <p:randomBar dir="vert"/>
  </p:transition>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9" name="Text Box 4"/>
          <p:cNvSpPr txBox="1">
            <a:spLocks noChangeArrowheads="1"/>
          </p:cNvSpPr>
          <p:nvPr/>
        </p:nvSpPr>
        <p:spPr bwMode="auto">
          <a:xfrm>
            <a:off x="495300" y="711200"/>
            <a:ext cx="627380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a:spcBef>
                <a:spcPct val="50000"/>
              </a:spcBef>
            </a:pPr>
            <a:r>
              <a:rPr lang="zh-CN" altLang="en-US" sz="3200">
                <a:solidFill>
                  <a:srgbClr val="FF3300"/>
                </a:solidFill>
                <a:ea typeface="楷体_GB2312" pitchFamily="49" charset="-122"/>
              </a:rPr>
              <a:t>铅酸电池循环寿命短的原因</a:t>
            </a:r>
            <a:endParaRPr lang="zh-CN" altLang="en-US" sz="3200">
              <a:solidFill>
                <a:srgbClr val="FF3300"/>
              </a:solidFill>
              <a:ea typeface="楷体_GB2312" pitchFamily="49" charset="-122"/>
            </a:endParaRPr>
          </a:p>
        </p:txBody>
      </p:sp>
      <p:sp>
        <p:nvSpPr>
          <p:cNvPr id="2" name="文本占位符 1"/>
          <p:cNvSpPr/>
          <p:nvPr>
            <p:ph type="body" idx="1"/>
          </p:nvPr>
        </p:nvSpPr>
        <p:spPr>
          <a:xfrm>
            <a:off x="323850" y="4437380"/>
            <a:ext cx="8540750" cy="2400300"/>
          </a:xfrm>
        </p:spPr>
        <p:txBody>
          <a:bodyPr/>
          <a:p>
            <a:r>
              <a:rPr lang="zh-CN" altLang="en-US" dirty="0">
                <a:ea typeface="楷体_GB2312" pitchFamily="49" charset="-122"/>
                <a:sym typeface="+mn-ea"/>
              </a:rPr>
              <a:t>电极上的活性物质的放电产物</a:t>
            </a:r>
            <a:r>
              <a:rPr lang="en-US" altLang="zh-CN" dirty="0">
                <a:solidFill>
                  <a:srgbClr val="FF0000"/>
                </a:solidFill>
                <a:ea typeface="楷体_GB2312" pitchFamily="49" charset="-122"/>
                <a:sym typeface="+mn-ea"/>
              </a:rPr>
              <a:t>PbSO</a:t>
            </a:r>
            <a:r>
              <a:rPr lang="en-US" altLang="zh-CN" baseline="-25000" dirty="0">
                <a:solidFill>
                  <a:srgbClr val="FF0000"/>
                </a:solidFill>
                <a:ea typeface="楷体_GB2312" pitchFamily="49" charset="-122"/>
                <a:sym typeface="+mn-ea"/>
              </a:rPr>
              <a:t>4</a:t>
            </a:r>
            <a:r>
              <a:rPr lang="zh-CN" altLang="en-US" dirty="0">
                <a:solidFill>
                  <a:srgbClr val="FF0000"/>
                </a:solidFill>
                <a:ea typeface="楷体_GB2312" pitchFamily="49" charset="-122"/>
                <a:sym typeface="+mn-ea"/>
              </a:rPr>
              <a:t>不导电</a:t>
            </a:r>
            <a:r>
              <a:rPr lang="zh-CN" altLang="en-US" dirty="0">
                <a:ea typeface="楷体_GB2312" pitchFamily="49" charset="-122"/>
                <a:sym typeface="+mn-ea"/>
              </a:rPr>
              <a:t>，会逐渐污染极板，使之不能发生正常的化学反应，导致蓄电池无法再次充电而报废，缩短了铅酸蓄电池的使用寿命。</a:t>
            </a:r>
            <a:r>
              <a:rPr lang="zh-CN" altLang="en-US" dirty="0">
                <a:latin typeface="楷体_GB2312" pitchFamily="49" charset="-122"/>
                <a:ea typeface="楷体_GB2312" pitchFamily="49" charset="-122"/>
                <a:sym typeface="+mn-ea"/>
              </a:rPr>
              <a:t> </a:t>
            </a:r>
            <a:endParaRPr lang="zh-CN" altLang="en-US" dirty="0">
              <a:solidFill>
                <a:schemeClr val="tx1"/>
              </a:solidFill>
              <a:latin typeface="楷体_GB2312" pitchFamily="49" charset="-122"/>
              <a:ea typeface="楷体_GB2312" pitchFamily="49" charset="-122"/>
            </a:endParaRPr>
          </a:p>
          <a:p>
            <a:endParaRPr lang="zh-CN" altLang="en-US"/>
          </a:p>
        </p:txBody>
      </p:sp>
      <p:pic>
        <p:nvPicPr>
          <p:cNvPr id="3" name="图片 2"/>
          <p:cNvPicPr>
            <a:picLocks noChangeAspect="1"/>
          </p:cNvPicPr>
          <p:nvPr/>
        </p:nvPicPr>
        <p:blipFill>
          <a:blip r:embed="rId1"/>
          <a:srcRect t="14701" b="34672"/>
          <a:stretch>
            <a:fillRect/>
          </a:stretch>
        </p:blipFill>
        <p:spPr>
          <a:xfrm>
            <a:off x="107315" y="1485265"/>
            <a:ext cx="8924925" cy="2232660"/>
          </a:xfrm>
          <a:prstGeom prst="rect">
            <a:avLst/>
          </a:prstGeom>
        </p:spPr>
      </p:pic>
    </p:spTree>
  </p:cSld>
  <p:clrMapOvr>
    <a:masterClrMapping/>
  </p:clrMapOvr>
  <p:transition>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2" grpId="1" build="p"/>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3"/>
          <p:cNvSpPr>
            <a:spLocks noGrp="1" noRot="1" noChangeArrowheads="1"/>
          </p:cNvSpPr>
          <p:nvPr>
            <p:ph type="body" idx="1"/>
          </p:nvPr>
        </p:nvSpPr>
        <p:spPr>
          <a:xfrm>
            <a:off x="323850" y="836613"/>
            <a:ext cx="8591550" cy="4725987"/>
          </a:xfrm>
        </p:spPr>
        <p:txBody>
          <a:bodyPr/>
          <a:lstStyle/>
          <a:p>
            <a:pPr>
              <a:lnSpc>
                <a:spcPct val="150000"/>
              </a:lnSpc>
              <a:buFont typeface="Wingdings" panose="05000000000000000000" pitchFamily="2" charset="2"/>
              <a:buNone/>
            </a:pPr>
            <a:r>
              <a:rPr lang="zh-CN" altLang="en-US" sz="2800">
                <a:latin typeface="Times New Roman" panose="02020603050405020304" pitchFamily="18" charset="0"/>
                <a:ea typeface="楷体_GB2312" pitchFamily="49" charset="-122"/>
              </a:rPr>
              <a:t>           当铅酸电池</a:t>
            </a:r>
            <a:r>
              <a:rPr lang="zh-CN" altLang="en-US" sz="2800">
                <a:solidFill>
                  <a:srgbClr val="FF0000"/>
                </a:solidFill>
                <a:latin typeface="Times New Roman" panose="02020603050405020304" pitchFamily="18" charset="0"/>
                <a:ea typeface="楷体_GB2312" pitchFamily="49" charset="-122"/>
              </a:rPr>
              <a:t>充电不足</a:t>
            </a:r>
            <a:r>
              <a:rPr lang="zh-CN" altLang="en-US" sz="2800">
                <a:latin typeface="Times New Roman" panose="02020603050405020304" pitchFamily="18" charset="0"/>
                <a:ea typeface="楷体_GB2312" pitchFamily="49" charset="-122"/>
              </a:rPr>
              <a:t>时，阴阳两极板的 </a:t>
            </a:r>
            <a:r>
              <a:rPr lang="en-US" altLang="zh-CN" sz="2800">
                <a:latin typeface="Times New Roman" panose="02020603050405020304" pitchFamily="18" charset="0"/>
                <a:ea typeface="楷体_GB2312" pitchFamily="49" charset="-122"/>
              </a:rPr>
              <a:t>PbSO</a:t>
            </a:r>
            <a:r>
              <a:rPr lang="en-US" altLang="zh-CN" sz="2800" baseline="-25000">
                <a:latin typeface="Times New Roman" panose="02020603050405020304" pitchFamily="18" charset="0"/>
                <a:ea typeface="楷体_GB2312" pitchFamily="49" charset="-122"/>
              </a:rPr>
              <a:t>4</a:t>
            </a:r>
            <a:r>
              <a:rPr lang="zh-CN" altLang="en-US" sz="2800">
                <a:latin typeface="Times New Roman" panose="02020603050405020304" pitchFamily="18" charset="0"/>
                <a:ea typeface="楷体_GB2312" pitchFamily="49" charset="-122"/>
              </a:rPr>
              <a:t>不能完全转化变成海绵状 </a:t>
            </a:r>
            <a:r>
              <a:rPr lang="en-US" altLang="zh-CN" sz="2800">
                <a:latin typeface="Times New Roman" panose="02020603050405020304" pitchFamily="18" charset="0"/>
                <a:ea typeface="楷体_GB2312" pitchFamily="49" charset="-122"/>
              </a:rPr>
              <a:t>Pb </a:t>
            </a:r>
            <a:r>
              <a:rPr lang="zh-CN" altLang="en-US" sz="2800">
                <a:latin typeface="Times New Roman" panose="02020603050405020304" pitchFamily="18" charset="0"/>
                <a:ea typeface="楷体_GB2312" pitchFamily="49" charset="-122"/>
              </a:rPr>
              <a:t>和 </a:t>
            </a:r>
            <a:r>
              <a:rPr lang="en-US" altLang="zh-CN" sz="2800">
                <a:latin typeface="Times New Roman" panose="02020603050405020304" pitchFamily="18" charset="0"/>
                <a:ea typeface="楷体_GB2312" pitchFamily="49" charset="-122"/>
              </a:rPr>
              <a:t>PbO</a:t>
            </a:r>
            <a:r>
              <a:rPr lang="en-US" altLang="zh-CN" sz="2800" baseline="-25000">
                <a:latin typeface="Times New Roman" panose="02020603050405020304" pitchFamily="18" charset="0"/>
                <a:ea typeface="楷体_GB2312" pitchFamily="49" charset="-122"/>
              </a:rPr>
              <a:t>2</a:t>
            </a:r>
            <a:r>
              <a:rPr lang="zh-CN" altLang="en-US" sz="2800">
                <a:latin typeface="Times New Roman" panose="02020603050405020304" pitchFamily="18" charset="0"/>
                <a:ea typeface="楷体_GB2312" pitchFamily="49" charset="-122"/>
              </a:rPr>
              <a:t>。如果长期充电不足，则会造成</a:t>
            </a:r>
            <a:r>
              <a:rPr lang="zh-CN" altLang="en-US" sz="2800">
                <a:solidFill>
                  <a:srgbClr val="FF0000"/>
                </a:solidFill>
                <a:latin typeface="Times New Roman" panose="02020603050405020304" pitchFamily="18" charset="0"/>
                <a:ea typeface="楷体_GB2312" pitchFamily="49" charset="-122"/>
              </a:rPr>
              <a:t> </a:t>
            </a:r>
            <a:r>
              <a:rPr lang="en-US" altLang="zh-CN" sz="2800">
                <a:solidFill>
                  <a:srgbClr val="FF0000"/>
                </a:solidFill>
                <a:latin typeface="Times New Roman" panose="02020603050405020304" pitchFamily="18" charset="0"/>
                <a:ea typeface="楷体_GB2312" pitchFamily="49" charset="-122"/>
              </a:rPr>
              <a:t>PbSO</a:t>
            </a:r>
            <a:r>
              <a:rPr lang="en-US" altLang="zh-CN" sz="2800" baseline="-25000">
                <a:solidFill>
                  <a:srgbClr val="FF0000"/>
                </a:solidFill>
                <a:latin typeface="Times New Roman" panose="02020603050405020304" pitchFamily="18" charset="0"/>
                <a:ea typeface="楷体_GB2312" pitchFamily="49" charset="-122"/>
              </a:rPr>
              <a:t>4 </a:t>
            </a:r>
            <a:r>
              <a:rPr lang="zh-CN" altLang="en-US" sz="2800">
                <a:solidFill>
                  <a:srgbClr val="FF0000"/>
                </a:solidFill>
                <a:latin typeface="Times New Roman" panose="02020603050405020304" pitchFamily="18" charset="0"/>
                <a:ea typeface="楷体_GB2312" pitchFamily="49" charset="-122"/>
              </a:rPr>
              <a:t>结晶</a:t>
            </a:r>
            <a:r>
              <a:rPr lang="zh-CN" altLang="en-US" sz="2800">
                <a:latin typeface="Times New Roman" panose="02020603050405020304" pitchFamily="18" charset="0"/>
                <a:ea typeface="楷体_GB2312" pitchFamily="49" charset="-122"/>
              </a:rPr>
              <a:t>，使极板</a:t>
            </a:r>
            <a:r>
              <a:rPr lang="zh-CN" altLang="en-US" sz="2800">
                <a:solidFill>
                  <a:srgbClr val="FF0000"/>
                </a:solidFill>
                <a:latin typeface="Times New Roman" panose="02020603050405020304" pitchFamily="18" charset="0"/>
                <a:ea typeface="楷体_GB2312" pitchFamily="49" charset="-122"/>
              </a:rPr>
              <a:t>硫化</a:t>
            </a:r>
            <a:r>
              <a:rPr lang="zh-CN" altLang="en-US" sz="2800">
                <a:latin typeface="Times New Roman" panose="02020603050405020304" pitchFamily="18" charset="0"/>
                <a:ea typeface="楷体_GB2312" pitchFamily="49" charset="-122"/>
              </a:rPr>
              <a:t>，电池性能严重下降；反之如果电池</a:t>
            </a:r>
            <a:r>
              <a:rPr lang="zh-CN" altLang="en-US" sz="2800">
                <a:solidFill>
                  <a:srgbClr val="FF0000"/>
                </a:solidFill>
                <a:latin typeface="Times New Roman" panose="02020603050405020304" pitchFamily="18" charset="0"/>
                <a:ea typeface="楷体_GB2312" pitchFamily="49" charset="-122"/>
              </a:rPr>
              <a:t>过度充电</a:t>
            </a:r>
            <a:r>
              <a:rPr lang="zh-CN" altLang="en-US" sz="2800">
                <a:latin typeface="Times New Roman" panose="02020603050405020304" pitchFamily="18" charset="0"/>
                <a:ea typeface="楷体_GB2312" pitchFamily="49" charset="-122"/>
              </a:rPr>
              <a:t>，阳极产生的</a:t>
            </a:r>
            <a:r>
              <a:rPr lang="zh-CN" altLang="en-US" sz="2800">
                <a:solidFill>
                  <a:srgbClr val="FF0000"/>
                </a:solidFill>
                <a:latin typeface="Times New Roman" panose="02020603050405020304" pitchFamily="18" charset="0"/>
                <a:ea typeface="楷体_GB2312" pitchFamily="49" charset="-122"/>
              </a:rPr>
              <a:t>氧气</a:t>
            </a:r>
            <a:r>
              <a:rPr lang="zh-CN" altLang="en-US" sz="2800">
                <a:latin typeface="Times New Roman" panose="02020603050405020304" pitchFamily="18" charset="0"/>
                <a:ea typeface="楷体_GB2312" pitchFamily="49" charset="-122"/>
              </a:rPr>
              <a:t>量大于阴极的吸附能力， 使得蓄电池内压增大，导致</a:t>
            </a:r>
            <a:r>
              <a:rPr lang="zh-CN" altLang="en-US" sz="2800">
                <a:solidFill>
                  <a:srgbClr val="FF0000"/>
                </a:solidFill>
                <a:latin typeface="Times New Roman" panose="02020603050405020304" pitchFamily="18" charset="0"/>
                <a:ea typeface="楷体_GB2312" pitchFamily="49" charset="-122"/>
              </a:rPr>
              <a:t>气体外溢、电解液减少</a:t>
            </a:r>
            <a:r>
              <a:rPr lang="zh-CN" altLang="en-US" sz="2800">
                <a:latin typeface="Times New Roman" panose="02020603050405020304" pitchFamily="18" charset="0"/>
                <a:ea typeface="楷体_GB2312" pitchFamily="49" charset="-122"/>
              </a:rPr>
              <a:t>，还可能导致活性物质软化或脱落，电池寿命大大缩短。</a:t>
            </a:r>
            <a:endParaRPr lang="zh-CN" altLang="en-US">
              <a:latin typeface="Times New Roman" panose="02020603050405020304" pitchFamily="18" charset="0"/>
              <a:ea typeface="楷体_GB2312" pitchFamily="49" charset="-122"/>
            </a:endParaRPr>
          </a:p>
        </p:txBody>
      </p:sp>
    </p:spTree>
  </p:cSld>
  <p:clrMapOvr>
    <a:masterClrMapping/>
  </p:clrMapOvr>
  <p:transition>
    <p:randomBar dir="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rrowheads="1"/>
          </p:cNvSpPr>
          <p:nvPr>
            <p:ph type="title"/>
          </p:nvPr>
        </p:nvSpPr>
        <p:spPr>
          <a:xfrm>
            <a:off x="1393825" y="889000"/>
            <a:ext cx="6099175" cy="609600"/>
          </a:xfrm>
        </p:spPr>
        <p:txBody>
          <a:bodyPr/>
          <a:lstStyle/>
          <a:p>
            <a:pPr algn="l"/>
            <a:r>
              <a:rPr lang="zh-CN" altLang="en-US" sz="3200">
                <a:solidFill>
                  <a:schemeClr val="tx1"/>
                </a:solidFill>
                <a:ea typeface="黑体" panose="02010609060101010101" pitchFamily="49" charset="-122"/>
              </a:rPr>
              <a:t>目前常用的铅酸电池的平均寿命</a:t>
            </a:r>
            <a:endParaRPr lang="zh-CN" altLang="en-US" sz="3200">
              <a:solidFill>
                <a:schemeClr val="tx1"/>
              </a:solidFill>
              <a:ea typeface="黑体" panose="02010609060101010101" pitchFamily="49" charset="-122"/>
            </a:endParaRPr>
          </a:p>
        </p:txBody>
      </p:sp>
      <p:graphicFrame>
        <p:nvGraphicFramePr>
          <p:cNvPr id="145447" name="Group 39"/>
          <p:cNvGraphicFramePr>
            <a:graphicFrameLocks noGrp="1"/>
          </p:cNvGraphicFramePr>
          <p:nvPr/>
        </p:nvGraphicFramePr>
        <p:xfrm>
          <a:off x="736600" y="1993900"/>
          <a:ext cx="8001000" cy="3099816"/>
        </p:xfrm>
        <a:graphic>
          <a:graphicData uri="http://schemas.openxmlformats.org/drawingml/2006/table">
            <a:tbl>
              <a:tblPr/>
              <a:tblGrid>
                <a:gridCol w="5486400"/>
                <a:gridCol w="2514600"/>
              </a:tblGrid>
              <a:tr h="533400">
                <a:tc>
                  <a:txBody>
                    <a:bodyPr/>
                    <a:lstStyle>
                      <a:lvl1pPr>
                        <a:spcBef>
                          <a:spcPct val="20000"/>
                        </a:spcBef>
                        <a:buClr>
                          <a:schemeClr val="folHlink"/>
                        </a:buClr>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pPr>
                      <a:r>
                        <a:rPr kumimoji="0" lang="zh-CN" altLang="en-US" sz="2800" b="1" i="0" u="none" strike="noStrike" cap="none" normalizeH="0" baseline="0">
                          <a:ln>
                            <a:noFill/>
                          </a:ln>
                          <a:solidFill>
                            <a:schemeClr val="tx1"/>
                          </a:solidFill>
                          <a:effectLst/>
                          <a:latin typeface="Times New Roman" panose="02020603050405020304" pitchFamily="18" charset="0"/>
                          <a:ea typeface="楷体_GB2312" pitchFamily="49" charset="-122"/>
                        </a:rPr>
                        <a:t>用途</a:t>
                      </a:r>
                      <a:endParaRPr kumimoji="0" lang="zh-CN" altLang="en-US" sz="28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pPr>
                      <a:r>
                        <a:rPr kumimoji="0" lang="zh-CN" altLang="en-US" sz="2800" b="1" i="0" u="none" strike="noStrike" cap="none" normalizeH="0" baseline="0">
                          <a:ln>
                            <a:noFill/>
                          </a:ln>
                          <a:solidFill>
                            <a:schemeClr val="tx1"/>
                          </a:solidFill>
                          <a:effectLst/>
                          <a:latin typeface="Times New Roman" panose="02020603050405020304" pitchFamily="18" charset="0"/>
                          <a:ea typeface="楷体_GB2312" pitchFamily="49" charset="-122"/>
                        </a:rPr>
                        <a:t>寿命/年</a:t>
                      </a:r>
                      <a:endParaRPr kumimoji="0" lang="en-US" altLang="zh-CN" sz="28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4800">
                <a:tc>
                  <a:txBody>
                    <a:bodyPr/>
                    <a:lstStyle>
                      <a:lvl1pPr>
                        <a:spcBef>
                          <a:spcPct val="20000"/>
                        </a:spcBef>
                        <a:buClr>
                          <a:schemeClr val="folHlink"/>
                        </a:buClr>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pPr>
                      <a:r>
                        <a:rPr kumimoji="0" lang="zh-CN" altLang="en-US" sz="2800" b="1" i="0" u="none" strike="noStrike" cap="none" normalizeH="0" baseline="0">
                          <a:ln>
                            <a:noFill/>
                          </a:ln>
                          <a:solidFill>
                            <a:schemeClr val="tx1"/>
                          </a:solidFill>
                          <a:effectLst/>
                          <a:latin typeface="Times New Roman" panose="02020603050405020304" pitchFamily="18" charset="0"/>
                          <a:ea typeface="楷体_GB2312" pitchFamily="49" charset="-122"/>
                        </a:rPr>
                        <a:t>电动车（12 </a:t>
                      </a:r>
                      <a:r>
                        <a:rPr kumimoji="0" lang="en-US" altLang="zh-CN" sz="2800" b="1" i="0" u="none" strike="noStrike" cap="none" normalizeH="0" baseline="0">
                          <a:ln>
                            <a:noFill/>
                          </a:ln>
                          <a:solidFill>
                            <a:schemeClr val="tx1"/>
                          </a:solidFill>
                          <a:effectLst/>
                          <a:latin typeface="Times New Roman" panose="02020603050405020304" pitchFamily="18" charset="0"/>
                          <a:ea typeface="楷体_GB2312" pitchFamily="49" charset="-122"/>
                        </a:rPr>
                        <a:t>V，17 Ah）</a:t>
                      </a:r>
                      <a:endParaRPr kumimoji="0" lang="en-US" altLang="zh-CN" sz="2800" b="1" i="0" u="none" strike="noStrike" cap="none" normalizeH="0" baseline="0">
                        <a:ln>
                          <a:noFill/>
                        </a:ln>
                        <a:solidFill>
                          <a:schemeClr val="tx1"/>
                        </a:solidFill>
                        <a:effectLst/>
                        <a:latin typeface="Times New Roman" panose="02020603050405020304" pitchFamily="18" charset="0"/>
                        <a:ea typeface="楷体_GB2312" pitchFamily="49" charset="-122"/>
                      </a:endParaRPr>
                    </a:p>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pPr>
                      <a:r>
                        <a:rPr kumimoji="0" lang="zh-CN" altLang="en-US" sz="2800" b="1" i="0" u="none" strike="noStrike" cap="none" normalizeH="0" baseline="0">
                          <a:ln>
                            <a:noFill/>
                          </a:ln>
                          <a:solidFill>
                            <a:schemeClr val="tx1"/>
                          </a:solidFill>
                          <a:effectLst/>
                          <a:latin typeface="Times New Roman" panose="02020603050405020304" pitchFamily="18" charset="0"/>
                          <a:ea typeface="楷体_GB2312" pitchFamily="49" charset="-122"/>
                        </a:rPr>
                        <a:t>出租车（12 </a:t>
                      </a:r>
                      <a:r>
                        <a:rPr kumimoji="0" lang="en-US" altLang="zh-CN" sz="2800" b="1" i="0" u="none" strike="noStrike" cap="none" normalizeH="0" baseline="0">
                          <a:ln>
                            <a:noFill/>
                          </a:ln>
                          <a:solidFill>
                            <a:schemeClr val="tx1"/>
                          </a:solidFill>
                          <a:effectLst/>
                          <a:latin typeface="Times New Roman" panose="02020603050405020304" pitchFamily="18" charset="0"/>
                          <a:ea typeface="楷体_GB2312" pitchFamily="49" charset="-122"/>
                        </a:rPr>
                        <a:t>V, 50</a:t>
                      </a:r>
                      <a:r>
                        <a:rPr kumimoji="0" lang="en-US" altLang="zh-CN" sz="2800" b="1" i="0" u="none" strike="noStrike" cap="none" normalizeH="0" baseline="0">
                          <a:ln>
                            <a:noFill/>
                          </a:ln>
                          <a:solidFill>
                            <a:schemeClr val="tx1"/>
                          </a:solidFill>
                          <a:effectLst/>
                          <a:latin typeface="Times New Roman" panose="02020603050405020304" pitchFamily="18" charset="0"/>
                          <a:ea typeface="楷体_GB2312" pitchFamily="49" charset="-122"/>
                          <a:sym typeface="Symbol" panose="05050102010706020507" pitchFamily="18" charset="2"/>
                        </a:rPr>
                        <a:t>60 Ah</a:t>
                      </a:r>
                      <a:r>
                        <a:rPr kumimoji="0" lang="en-US" altLang="zh-CN" sz="2800" b="1" i="0" u="none" strike="noStrike" cap="none" normalizeH="0" baseline="0">
                          <a:ln>
                            <a:noFill/>
                          </a:ln>
                          <a:solidFill>
                            <a:schemeClr val="tx1"/>
                          </a:solidFill>
                          <a:effectLst/>
                          <a:latin typeface="Times New Roman" panose="02020603050405020304" pitchFamily="18" charset="0"/>
                          <a:ea typeface="楷体_GB2312" pitchFamily="49" charset="-122"/>
                        </a:rPr>
                        <a:t>）</a:t>
                      </a:r>
                      <a:endParaRPr kumimoji="0" lang="en-US" altLang="zh-CN" sz="2800" b="1" i="0" u="none" strike="noStrike" cap="none" normalizeH="0" baseline="0">
                        <a:ln>
                          <a:noFill/>
                        </a:ln>
                        <a:solidFill>
                          <a:schemeClr val="tx1"/>
                        </a:solidFill>
                        <a:effectLst/>
                        <a:latin typeface="Times New Roman" panose="02020603050405020304" pitchFamily="18" charset="0"/>
                        <a:ea typeface="楷体_GB2312" pitchFamily="49" charset="-122"/>
                      </a:endParaRPr>
                    </a:p>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pPr>
                      <a:r>
                        <a:rPr kumimoji="0" lang="zh-CN" altLang="en-US" sz="2800" b="1" i="0" u="none" strike="noStrike" cap="none" normalizeH="0" baseline="0">
                          <a:ln>
                            <a:noFill/>
                          </a:ln>
                          <a:solidFill>
                            <a:schemeClr val="tx1"/>
                          </a:solidFill>
                          <a:effectLst/>
                          <a:latin typeface="Times New Roman" panose="02020603050405020304" pitchFamily="18" charset="0"/>
                          <a:ea typeface="楷体_GB2312" pitchFamily="49" charset="-122"/>
                        </a:rPr>
                        <a:t>私家车（12 </a:t>
                      </a:r>
                      <a:r>
                        <a:rPr kumimoji="0" lang="en-US" altLang="zh-CN" sz="2800" b="1" i="0" u="none" strike="noStrike" cap="none" normalizeH="0" baseline="0">
                          <a:ln>
                            <a:noFill/>
                          </a:ln>
                          <a:solidFill>
                            <a:schemeClr val="tx1"/>
                          </a:solidFill>
                          <a:effectLst/>
                          <a:latin typeface="Times New Roman" panose="02020603050405020304" pitchFamily="18" charset="0"/>
                          <a:ea typeface="楷体_GB2312" pitchFamily="49" charset="-122"/>
                        </a:rPr>
                        <a:t>V, 35</a:t>
                      </a:r>
                      <a:r>
                        <a:rPr kumimoji="0" lang="en-US" altLang="zh-CN" sz="2800" b="1" i="0" u="none" strike="noStrike" cap="none" normalizeH="0" baseline="0">
                          <a:ln>
                            <a:noFill/>
                          </a:ln>
                          <a:solidFill>
                            <a:schemeClr val="tx1"/>
                          </a:solidFill>
                          <a:effectLst/>
                          <a:latin typeface="Times New Roman" panose="02020603050405020304" pitchFamily="18" charset="0"/>
                          <a:ea typeface="楷体_GB2312" pitchFamily="49" charset="-122"/>
                          <a:sym typeface="Symbol" panose="05050102010706020507" pitchFamily="18" charset="2"/>
                        </a:rPr>
                        <a:t>55 Ah</a:t>
                      </a:r>
                      <a:r>
                        <a:rPr kumimoji="0" lang="en-US" altLang="zh-CN" sz="2800" b="1" i="0" u="none" strike="noStrike" cap="none" normalizeH="0" baseline="0">
                          <a:ln>
                            <a:noFill/>
                          </a:ln>
                          <a:solidFill>
                            <a:schemeClr val="tx1"/>
                          </a:solidFill>
                          <a:effectLst/>
                          <a:latin typeface="Times New Roman" panose="02020603050405020304" pitchFamily="18" charset="0"/>
                          <a:ea typeface="楷体_GB2312" pitchFamily="49" charset="-122"/>
                        </a:rPr>
                        <a:t> ）</a:t>
                      </a:r>
                      <a:endParaRPr kumimoji="0" lang="en-US" altLang="zh-CN" sz="2800" b="1" i="0" u="none" strike="noStrike" cap="none" normalizeH="0" baseline="0">
                        <a:ln>
                          <a:noFill/>
                        </a:ln>
                        <a:solidFill>
                          <a:schemeClr val="tx1"/>
                        </a:solidFill>
                        <a:effectLst/>
                        <a:latin typeface="Times New Roman" panose="02020603050405020304" pitchFamily="18" charset="0"/>
                        <a:ea typeface="楷体_GB2312" pitchFamily="49" charset="-122"/>
                      </a:endParaRPr>
                    </a:p>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pPr>
                      <a:r>
                        <a:rPr kumimoji="0" lang="zh-CN" altLang="en-US" sz="2800" b="1" i="0" u="none" strike="noStrike" cap="none" normalizeH="0" baseline="0">
                          <a:ln>
                            <a:noFill/>
                          </a:ln>
                          <a:solidFill>
                            <a:schemeClr val="tx1"/>
                          </a:solidFill>
                          <a:effectLst/>
                          <a:latin typeface="Times New Roman" panose="02020603050405020304" pitchFamily="18" charset="0"/>
                          <a:ea typeface="楷体_GB2312" pitchFamily="49" charset="-122"/>
                        </a:rPr>
                        <a:t>铲车（48 </a:t>
                      </a:r>
                      <a:r>
                        <a:rPr kumimoji="0" lang="en-US" altLang="zh-CN" sz="2800" b="1" i="0" u="none" strike="noStrike" cap="none" normalizeH="0" baseline="0">
                          <a:ln>
                            <a:noFill/>
                          </a:ln>
                          <a:solidFill>
                            <a:schemeClr val="tx1"/>
                          </a:solidFill>
                          <a:effectLst/>
                          <a:latin typeface="Times New Roman" panose="02020603050405020304" pitchFamily="18" charset="0"/>
                          <a:ea typeface="楷体_GB2312" pitchFamily="49" charset="-122"/>
                        </a:rPr>
                        <a:t>V，250</a:t>
                      </a:r>
                      <a:r>
                        <a:rPr kumimoji="0" lang="en-US" altLang="zh-CN" sz="2800" b="1" i="0" u="none" strike="noStrike" cap="none" normalizeH="0" baseline="0">
                          <a:ln>
                            <a:noFill/>
                          </a:ln>
                          <a:solidFill>
                            <a:schemeClr val="tx1"/>
                          </a:solidFill>
                          <a:effectLst/>
                          <a:latin typeface="Times New Roman" panose="02020603050405020304" pitchFamily="18" charset="0"/>
                          <a:ea typeface="楷体_GB2312" pitchFamily="49" charset="-122"/>
                          <a:sym typeface="Symbol" panose="05050102010706020507" pitchFamily="18" charset="2"/>
                        </a:rPr>
                        <a:t></a:t>
                      </a:r>
                      <a:r>
                        <a:rPr kumimoji="0" lang="en-US" altLang="zh-CN" sz="2800" b="1" i="0" u="none" strike="noStrike" cap="none" normalizeH="0" baseline="0">
                          <a:ln>
                            <a:noFill/>
                          </a:ln>
                          <a:solidFill>
                            <a:schemeClr val="tx1"/>
                          </a:solidFill>
                          <a:effectLst/>
                          <a:latin typeface="Times New Roman" panose="02020603050405020304" pitchFamily="18" charset="0"/>
                          <a:ea typeface="楷体_GB2312" pitchFamily="49" charset="-122"/>
                        </a:rPr>
                        <a:t>540 Ah）</a:t>
                      </a:r>
                      <a:endParaRPr kumimoji="0" lang="en-US" altLang="zh-CN" sz="2800" b="1" i="0" u="none" strike="noStrike" cap="none" normalizeH="0" baseline="0">
                        <a:ln>
                          <a:noFill/>
                        </a:ln>
                        <a:solidFill>
                          <a:schemeClr val="tx1"/>
                        </a:solidFill>
                        <a:effectLst/>
                        <a:latin typeface="Times New Roman" panose="02020603050405020304" pitchFamily="18" charset="0"/>
                        <a:ea typeface="楷体_GB2312" pitchFamily="49" charset="-122"/>
                      </a:endParaRPr>
                    </a:p>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pPr>
                      <a:r>
                        <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rPr>
                        <a:t>大型工程机械（ 48 </a:t>
                      </a:r>
                      <a:r>
                        <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V，250</a:t>
                      </a:r>
                      <a:r>
                        <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sym typeface="Symbol" panose="05050102010706020507" pitchFamily="18" charset="2"/>
                        </a:rPr>
                        <a:t></a:t>
                      </a:r>
                      <a:r>
                        <a:rPr kumimoji="0"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540 Ah</a:t>
                      </a:r>
                      <a:r>
                        <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rPr>
                        <a:t> ）</a:t>
                      </a:r>
                      <a:endParaRPr kumimoji="0"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pPr>
                      <a:r>
                        <a:rPr kumimoji="0" lang="en-US" altLang="zh-CN" sz="2800" b="1" i="0" u="none" strike="noStrike" cap="none" normalizeH="0" baseline="0">
                          <a:ln>
                            <a:noFill/>
                          </a:ln>
                          <a:solidFill>
                            <a:schemeClr val="tx1"/>
                          </a:solidFill>
                          <a:effectLst/>
                          <a:latin typeface="Times New Roman" panose="02020603050405020304" pitchFamily="18" charset="0"/>
                          <a:ea typeface="楷体_GB2312" pitchFamily="49" charset="-122"/>
                        </a:rPr>
                        <a:t>1</a:t>
                      </a:r>
                      <a:endParaRPr kumimoji="0" lang="en-US" altLang="zh-CN" sz="2800" b="1" i="0" u="none" strike="noStrike" cap="none" normalizeH="0" baseline="0">
                        <a:ln>
                          <a:noFill/>
                        </a:ln>
                        <a:solidFill>
                          <a:schemeClr val="tx1"/>
                        </a:solidFill>
                        <a:effectLst/>
                        <a:latin typeface="Times New Roman" panose="02020603050405020304" pitchFamily="18" charset="0"/>
                        <a:ea typeface="楷体_GB2312" pitchFamily="49" charset="-122"/>
                      </a:endParaRPr>
                    </a:p>
                    <a:p>
                      <a:pPr marL="0" marR="0" lvl="0" indent="0" algn="ctr"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pPr>
                      <a:r>
                        <a:rPr kumimoji="0" lang="en-US" altLang="zh-CN" sz="2800" b="1" i="0" u="none" strike="noStrike" cap="none" normalizeH="0" baseline="0">
                          <a:ln>
                            <a:noFill/>
                          </a:ln>
                          <a:solidFill>
                            <a:schemeClr val="tx1"/>
                          </a:solidFill>
                          <a:effectLst/>
                          <a:latin typeface="Times New Roman" panose="02020603050405020304" pitchFamily="18" charset="0"/>
                          <a:ea typeface="楷体_GB2312" pitchFamily="49" charset="-122"/>
                        </a:rPr>
                        <a:t>1.2 </a:t>
                      </a:r>
                      <a:r>
                        <a:rPr kumimoji="0" lang="en-US" altLang="zh-CN" sz="2800" b="1" i="0" u="none" strike="noStrike" cap="none" normalizeH="0" baseline="0">
                          <a:ln>
                            <a:noFill/>
                          </a:ln>
                          <a:solidFill>
                            <a:schemeClr val="tx1"/>
                          </a:solidFill>
                          <a:effectLst/>
                          <a:latin typeface="Times New Roman" panose="02020603050405020304" pitchFamily="18" charset="0"/>
                          <a:ea typeface="楷体_GB2312" pitchFamily="49" charset="-122"/>
                          <a:sym typeface="Symbol" panose="05050102010706020507" pitchFamily="18" charset="2"/>
                        </a:rPr>
                        <a:t>1.5</a:t>
                      </a:r>
                      <a:endParaRPr kumimoji="0" lang="en-US" altLang="zh-CN" sz="2800" b="1" i="0" u="none" strike="noStrike" cap="none" normalizeH="0" baseline="0">
                        <a:ln>
                          <a:noFill/>
                        </a:ln>
                        <a:solidFill>
                          <a:schemeClr val="tx1"/>
                        </a:solidFill>
                        <a:effectLst/>
                        <a:latin typeface="Times New Roman" panose="02020603050405020304" pitchFamily="18" charset="0"/>
                        <a:ea typeface="楷体_GB2312" pitchFamily="49" charset="-122"/>
                        <a:sym typeface="Symbol" panose="05050102010706020507" pitchFamily="18" charset="2"/>
                      </a:endParaRPr>
                    </a:p>
                    <a:p>
                      <a:pPr marL="0" marR="0" lvl="0" indent="0" algn="ctr"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pPr>
                      <a:r>
                        <a:rPr kumimoji="0" lang="en-US" altLang="zh-CN" sz="2800" b="1" i="0" u="none" strike="noStrike" cap="none" normalizeH="0" baseline="0">
                          <a:ln>
                            <a:noFill/>
                          </a:ln>
                          <a:solidFill>
                            <a:schemeClr val="tx1"/>
                          </a:solidFill>
                          <a:effectLst/>
                          <a:latin typeface="Times New Roman" panose="02020603050405020304" pitchFamily="18" charset="0"/>
                          <a:ea typeface="楷体_GB2312" pitchFamily="49" charset="-122"/>
                          <a:sym typeface="Symbol" panose="05050102010706020507" pitchFamily="18" charset="2"/>
                        </a:rPr>
                        <a:t>3 4</a:t>
                      </a:r>
                      <a:endParaRPr kumimoji="0" lang="en-US" altLang="zh-CN" sz="2800" b="1" i="0" u="none" strike="noStrike" cap="none" normalizeH="0" baseline="0">
                        <a:ln>
                          <a:noFill/>
                        </a:ln>
                        <a:solidFill>
                          <a:schemeClr val="tx1"/>
                        </a:solidFill>
                        <a:effectLst/>
                        <a:latin typeface="Times New Roman" panose="02020603050405020304" pitchFamily="18" charset="0"/>
                        <a:ea typeface="楷体_GB2312" pitchFamily="49" charset="-122"/>
                        <a:sym typeface="Symbol" panose="05050102010706020507" pitchFamily="18" charset="2"/>
                      </a:endParaRPr>
                    </a:p>
                    <a:p>
                      <a:pPr marL="0" marR="0" lvl="0" indent="0" algn="ctr"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pPr>
                      <a:r>
                        <a:rPr kumimoji="0" lang="en-US" altLang="zh-CN" sz="2800" b="1" i="0" u="none" strike="noStrike" cap="none" normalizeH="0" baseline="0">
                          <a:ln>
                            <a:noFill/>
                          </a:ln>
                          <a:solidFill>
                            <a:schemeClr val="tx1"/>
                          </a:solidFill>
                          <a:effectLst/>
                          <a:latin typeface="Times New Roman" panose="02020603050405020304" pitchFamily="18" charset="0"/>
                          <a:ea typeface="楷体_GB2312" pitchFamily="49" charset="-122"/>
                          <a:sym typeface="Symbol" panose="05050102010706020507" pitchFamily="18" charset="2"/>
                        </a:rPr>
                        <a:t>3 4</a:t>
                      </a:r>
                      <a:endParaRPr kumimoji="0" lang="en-US" altLang="zh-CN" sz="2800" b="1" i="0" u="none" strike="noStrike" cap="none" normalizeH="0" baseline="0">
                        <a:ln>
                          <a:noFill/>
                        </a:ln>
                        <a:solidFill>
                          <a:schemeClr val="tx1"/>
                        </a:solidFill>
                        <a:effectLst/>
                        <a:latin typeface="Times New Roman" panose="02020603050405020304" pitchFamily="18" charset="0"/>
                        <a:ea typeface="楷体_GB2312" pitchFamily="49" charset="-122"/>
                        <a:sym typeface="Symbol" panose="05050102010706020507" pitchFamily="18" charset="2"/>
                      </a:endParaRPr>
                    </a:p>
                    <a:p>
                      <a:pPr marL="0" marR="0" lvl="0" indent="0" algn="ctr"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pPr>
                      <a:r>
                        <a:rPr kumimoji="0" lang="en-US" altLang="zh-CN" sz="2800" b="1" i="0" u="none" strike="noStrike" cap="none" normalizeH="0" baseline="0">
                          <a:ln>
                            <a:noFill/>
                          </a:ln>
                          <a:solidFill>
                            <a:schemeClr val="tx1"/>
                          </a:solidFill>
                          <a:effectLst/>
                          <a:latin typeface="Times New Roman" panose="02020603050405020304" pitchFamily="18" charset="0"/>
                          <a:ea typeface="楷体_GB2312" pitchFamily="49" charset="-122"/>
                          <a:sym typeface="Symbol" panose="05050102010706020507" pitchFamily="18" charset="2"/>
                        </a:rPr>
                        <a:t>5 8</a:t>
                      </a:r>
                      <a:endParaRPr kumimoji="0" lang="en-US" altLang="zh-CN" sz="2800" b="1" i="0" u="none" strike="noStrike" cap="none" normalizeH="0" baseline="0">
                        <a:ln>
                          <a:noFill/>
                        </a:ln>
                        <a:solidFill>
                          <a:schemeClr val="tx1"/>
                        </a:solidFill>
                        <a:effectLst/>
                        <a:latin typeface="Times New Roman" panose="02020603050405020304" pitchFamily="18" charset="0"/>
                        <a:ea typeface="楷体_GB2312" pitchFamily="49" charset="-122"/>
                        <a:sym typeface="Symbol" panose="05050102010706020507" pitchFamily="18" charset="2"/>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randomBar dir="vert"/>
  </p:transition>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Rectangle 2"/>
          <p:cNvSpPr>
            <a:spLocks noGrp="1" noRot="1" noChangeArrowheads="1"/>
          </p:cNvSpPr>
          <p:nvPr>
            <p:ph type="title"/>
          </p:nvPr>
        </p:nvSpPr>
        <p:spPr>
          <a:xfrm>
            <a:off x="301625" y="-26988"/>
            <a:ext cx="8540750" cy="1143001"/>
          </a:xfrm>
        </p:spPr>
        <p:txBody>
          <a:bodyPr/>
          <a:lstStyle/>
          <a:p>
            <a:pPr algn="l"/>
            <a:r>
              <a:rPr lang="zh-CN" altLang="en-US" sz="3200">
                <a:solidFill>
                  <a:srgbClr val="FF3300"/>
                </a:solidFill>
                <a:latin typeface="Arial" panose="020B0604020202020204" pitchFamily="34" charset="0"/>
                <a:ea typeface="黑体" panose="02010609060101010101" pitchFamily="49" charset="-122"/>
              </a:rPr>
              <a:t>应对措施</a:t>
            </a:r>
            <a:endParaRPr lang="zh-CN" altLang="en-US" sz="3200">
              <a:solidFill>
                <a:srgbClr val="FF3300"/>
              </a:solidFill>
              <a:latin typeface="Arial" panose="020B0604020202020204" pitchFamily="34" charset="0"/>
              <a:ea typeface="黑体" panose="02010609060101010101" pitchFamily="49" charset="-122"/>
            </a:endParaRPr>
          </a:p>
        </p:txBody>
      </p:sp>
      <p:sp>
        <p:nvSpPr>
          <p:cNvPr id="39939" name="Rectangle 3"/>
          <p:cNvSpPr>
            <a:spLocks noGrp="1" noRot="1" noChangeArrowheads="1"/>
          </p:cNvSpPr>
          <p:nvPr>
            <p:ph type="body" idx="1"/>
          </p:nvPr>
        </p:nvSpPr>
        <p:spPr>
          <a:xfrm>
            <a:off x="179388" y="876300"/>
            <a:ext cx="8736012" cy="5753100"/>
          </a:xfrm>
          <a:solidFill>
            <a:srgbClr val="CCFFFF"/>
          </a:solidFill>
        </p:spPr>
        <p:txBody>
          <a:bodyPr/>
          <a:lstStyle/>
          <a:p>
            <a:pPr>
              <a:lnSpc>
                <a:spcPct val="120000"/>
              </a:lnSpc>
              <a:spcBef>
                <a:spcPct val="0"/>
              </a:spcBef>
              <a:buFont typeface="Wingdings" panose="05000000000000000000" pitchFamily="2" charset="2"/>
              <a:buNone/>
            </a:pPr>
            <a:r>
              <a:rPr lang="zh-CN" altLang="en-US" sz="2800">
                <a:latin typeface="楷体_GB2312" pitchFamily="49" charset="-122"/>
                <a:ea typeface="楷体_GB2312" pitchFamily="49" charset="-122"/>
              </a:rPr>
              <a:t>   设计与制造绿色的铅酸电池</a:t>
            </a:r>
            <a:endParaRPr lang="zh-CN" altLang="en-US" sz="2800">
              <a:latin typeface="楷体_GB2312" pitchFamily="49" charset="-122"/>
              <a:ea typeface="楷体_GB2312" pitchFamily="49" charset="-122"/>
            </a:endParaRPr>
          </a:p>
          <a:p>
            <a:pPr>
              <a:lnSpc>
                <a:spcPct val="120000"/>
              </a:lnSpc>
              <a:spcBef>
                <a:spcPct val="0"/>
              </a:spcBef>
              <a:buClr>
                <a:srgbClr val="FF3300"/>
              </a:buClr>
              <a:buFont typeface="Wingdings" panose="05000000000000000000" pitchFamily="2" charset="2"/>
              <a:buChar char="v"/>
            </a:pPr>
            <a:r>
              <a:rPr lang="zh-CN" altLang="en-US" sz="2800">
                <a:solidFill>
                  <a:srgbClr val="FF3300"/>
                </a:solidFill>
                <a:latin typeface="楷体_GB2312" pitchFamily="49" charset="-122"/>
                <a:ea typeface="楷体_GB2312" pitchFamily="49" charset="-122"/>
              </a:rPr>
              <a:t>材料的选择：</a:t>
            </a:r>
            <a:r>
              <a:rPr lang="zh-CN" altLang="en-US" sz="2800">
                <a:latin typeface="楷体_GB2312" pitchFamily="49" charset="-122"/>
                <a:ea typeface="楷体_GB2312" pitchFamily="49" charset="-122"/>
              </a:rPr>
              <a:t>即少用有害的、难回收的材料，优先采用相容性好的、可再利用的绿色环保材料； </a:t>
            </a:r>
            <a:endParaRPr lang="zh-CN" altLang="en-US" sz="2800">
              <a:latin typeface="楷体_GB2312" pitchFamily="49" charset="-122"/>
              <a:ea typeface="楷体_GB2312" pitchFamily="49" charset="-122"/>
            </a:endParaRPr>
          </a:p>
          <a:p>
            <a:pPr>
              <a:lnSpc>
                <a:spcPct val="120000"/>
              </a:lnSpc>
              <a:spcBef>
                <a:spcPct val="0"/>
              </a:spcBef>
              <a:buClr>
                <a:srgbClr val="FF3300"/>
              </a:buClr>
              <a:buFont typeface="Wingdings" panose="05000000000000000000" pitchFamily="2" charset="2"/>
              <a:buChar char="v"/>
            </a:pPr>
            <a:r>
              <a:rPr lang="zh-CN" altLang="en-US" sz="2800">
                <a:solidFill>
                  <a:srgbClr val="FF3300"/>
                </a:solidFill>
                <a:latin typeface="楷体_GB2312" pitchFamily="49" charset="-122"/>
                <a:ea typeface="楷体_GB2312" pitchFamily="49" charset="-122"/>
              </a:rPr>
              <a:t>拆卸设计与制造：</a:t>
            </a:r>
            <a:r>
              <a:rPr lang="zh-CN" altLang="en-US" sz="2800">
                <a:latin typeface="楷体_GB2312" pitchFamily="49" charset="-122"/>
                <a:ea typeface="楷体_GB2312" pitchFamily="49" charset="-122"/>
              </a:rPr>
              <a:t>一方面从产品或部件上有规律地拆下可用的零部件过程．同时保证不因拆卸过程造成该零部件的损伤．从而提高零件的重复回收利用率；另一方面在拆卸过程中不因零部件的损伤而导致有害物质的外泄；</a:t>
            </a:r>
            <a:endParaRPr lang="zh-CN" altLang="en-US" sz="2800">
              <a:latin typeface="楷体_GB2312" pitchFamily="49" charset="-122"/>
              <a:ea typeface="楷体_GB2312" pitchFamily="49" charset="-122"/>
            </a:endParaRPr>
          </a:p>
          <a:p>
            <a:pPr>
              <a:lnSpc>
                <a:spcPct val="120000"/>
              </a:lnSpc>
              <a:spcBef>
                <a:spcPct val="0"/>
              </a:spcBef>
              <a:buClr>
                <a:srgbClr val="FF3300"/>
              </a:buClr>
              <a:buFont typeface="Wingdings" panose="05000000000000000000" pitchFamily="2" charset="2"/>
              <a:buChar char="v"/>
            </a:pPr>
            <a:r>
              <a:rPr lang="zh-CN" altLang="en-US" sz="2800">
                <a:solidFill>
                  <a:srgbClr val="FF3300"/>
                </a:solidFill>
                <a:latin typeface="楷体_GB2312" pitchFamily="49" charset="-122"/>
                <a:ea typeface="楷体_GB2312" pitchFamily="49" charset="-122"/>
              </a:rPr>
              <a:t>回收设计与制造：</a:t>
            </a:r>
            <a:r>
              <a:rPr lang="zh-CN" altLang="en-US" sz="2800">
                <a:latin typeface="楷体_GB2312" pitchFamily="49" charset="-122"/>
                <a:ea typeface="楷体_GB2312" pitchFamily="49" charset="-122"/>
              </a:rPr>
              <a:t>即在产品设计与制造时．充分考虑产品零部件及材料的回收可能性、回收价值大小、回收处理方法以及与回收有关的系列问题。</a:t>
            </a:r>
            <a:endParaRPr lang="zh-CN" altLang="en-US" sz="2800">
              <a:latin typeface="楷体_GB2312" pitchFamily="49" charset="-122"/>
              <a:ea typeface="楷体_GB2312" pitchFamily="49" charset="-122"/>
            </a:endParaRPr>
          </a:p>
        </p:txBody>
      </p:sp>
    </p:spTree>
  </p:cSld>
  <p:clrMapOvr>
    <a:masterClrMapping/>
  </p:clrMapOvr>
  <p:transition>
    <p:randomBar dir="vert"/>
  </p:transition>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Rectangle 3"/>
          <p:cNvSpPr>
            <a:spLocks noGrp="1" noRot="1" noChangeArrowheads="1"/>
          </p:cNvSpPr>
          <p:nvPr>
            <p:ph type="body" idx="1"/>
          </p:nvPr>
        </p:nvSpPr>
        <p:spPr>
          <a:xfrm>
            <a:off x="395536" y="1412776"/>
            <a:ext cx="8540750" cy="5257800"/>
          </a:xfrm>
        </p:spPr>
        <p:txBody>
          <a:bodyPr/>
          <a:lstStyle/>
          <a:p>
            <a:pPr>
              <a:lnSpc>
                <a:spcPct val="150000"/>
              </a:lnSpc>
              <a:spcBef>
                <a:spcPct val="0"/>
              </a:spcBef>
              <a:buClr>
                <a:srgbClr val="FF3300"/>
              </a:buClr>
              <a:buFont typeface="Wingdings" panose="05000000000000000000" pitchFamily="2" charset="2"/>
              <a:buChar char="v"/>
            </a:pPr>
            <a:r>
              <a:rPr lang="zh-CN" altLang="en-US" sz="2800" dirty="0">
                <a:latin typeface="Times New Roman" panose="02020603050405020304" pitchFamily="18" charset="0"/>
                <a:ea typeface="楷体_GB2312" pitchFamily="49" charset="-122"/>
              </a:rPr>
              <a:t>同时，应该建立废旧电动自行车用铅酸电池的回收处理体系，控制其污染。</a:t>
            </a:r>
            <a:endParaRPr lang="zh-CN" altLang="en-US" sz="2800" dirty="0">
              <a:latin typeface="Times New Roman" panose="02020603050405020304" pitchFamily="18" charset="0"/>
              <a:ea typeface="楷体_GB2312" pitchFamily="49" charset="-122"/>
            </a:endParaRPr>
          </a:p>
          <a:p>
            <a:pPr>
              <a:lnSpc>
                <a:spcPct val="150000"/>
              </a:lnSpc>
              <a:spcBef>
                <a:spcPct val="0"/>
              </a:spcBef>
              <a:buClr>
                <a:srgbClr val="FF3300"/>
              </a:buClr>
              <a:buFont typeface="Wingdings" panose="05000000000000000000" pitchFamily="2" charset="2"/>
              <a:buChar char="v"/>
            </a:pPr>
            <a:r>
              <a:rPr lang="zh-CN" altLang="en-US" sz="2800" dirty="0">
                <a:latin typeface="Times New Roman" panose="02020603050405020304" pitchFamily="18" charset="0"/>
                <a:ea typeface="楷体_GB2312" pitchFamily="49" charset="-122"/>
              </a:rPr>
              <a:t>发达和中等发达国家再生铅金属产量超过原生铅金属产量。再生铅产量占总产量的比值：美国在</a:t>
            </a:r>
            <a:r>
              <a:rPr lang="en-US" altLang="zh-CN" sz="2800" dirty="0">
                <a:latin typeface="Times New Roman" panose="02020603050405020304" pitchFamily="18" charset="0"/>
                <a:ea typeface="楷体_GB2312" pitchFamily="49" charset="-122"/>
              </a:rPr>
              <a:t>98.5%</a:t>
            </a:r>
            <a:r>
              <a:rPr lang="zh-CN" altLang="en-US" sz="2800" dirty="0">
                <a:latin typeface="Times New Roman" panose="02020603050405020304" pitchFamily="18" charset="0"/>
                <a:ea typeface="楷体_GB2312" pitchFamily="49" charset="-122"/>
              </a:rPr>
              <a:t>以上。我国占</a:t>
            </a:r>
            <a:r>
              <a:rPr lang="en-US" altLang="zh-CN" sz="2800" dirty="0">
                <a:latin typeface="Times New Roman" panose="02020603050405020304" pitchFamily="18" charset="0"/>
                <a:ea typeface="楷体_GB2312" pitchFamily="49" charset="-122"/>
              </a:rPr>
              <a:t>90%</a:t>
            </a:r>
            <a:r>
              <a:rPr lang="zh-CN" altLang="en-US" sz="2800" dirty="0">
                <a:latin typeface="Times New Roman" panose="02020603050405020304" pitchFamily="18" charset="0"/>
                <a:ea typeface="楷体_GB2312" pitchFamily="49" charset="-122"/>
              </a:rPr>
              <a:t>以上。</a:t>
            </a:r>
            <a:r>
              <a:rPr lang="zh-CN" altLang="en-US" sz="2800" dirty="0">
                <a:latin typeface="楷体_GB2312" pitchFamily="49" charset="-122"/>
                <a:ea typeface="楷体_GB2312" pitchFamily="49" charset="-122"/>
              </a:rPr>
              <a:t> </a:t>
            </a:r>
            <a:endParaRPr lang="zh-CN" altLang="en-US" sz="2800" dirty="0">
              <a:latin typeface="楷体_GB2312" pitchFamily="49" charset="-122"/>
              <a:ea typeface="楷体_GB2312" pitchFamily="49" charset="-122"/>
            </a:endParaRPr>
          </a:p>
        </p:txBody>
      </p:sp>
    </p:spTree>
  </p:cSld>
  <p:clrMapOvr>
    <a:masterClrMapping/>
  </p:clrMapOvr>
  <p:transition>
    <p:randomBar dir="vert"/>
  </p:transition>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Rectangle 3"/>
          <p:cNvSpPr>
            <a:spLocks noGrp="1" noRot="1" noChangeArrowheads="1"/>
          </p:cNvSpPr>
          <p:nvPr>
            <p:ph type="body" idx="1"/>
          </p:nvPr>
        </p:nvSpPr>
        <p:spPr>
          <a:xfrm>
            <a:off x="304800" y="749300"/>
            <a:ext cx="8540750" cy="4876800"/>
          </a:xfrm>
          <a:solidFill>
            <a:srgbClr val="FFFFFF"/>
          </a:solidFill>
        </p:spPr>
        <p:txBody>
          <a:bodyPr/>
          <a:lstStyle/>
          <a:p>
            <a:pPr>
              <a:lnSpc>
                <a:spcPct val="150000"/>
              </a:lnSpc>
              <a:buFont typeface="Wingdings" panose="05000000000000000000" pitchFamily="2" charset="2"/>
              <a:buNone/>
            </a:pPr>
            <a:r>
              <a:rPr lang="zh-CN" altLang="en-US" sz="2800">
                <a:latin typeface="Times New Roman" panose="02020603050405020304" pitchFamily="18" charset="0"/>
                <a:ea typeface="楷体_GB2312" pitchFamily="49" charset="-122"/>
              </a:rPr>
              <a:t>          </a:t>
            </a:r>
            <a:r>
              <a:rPr lang="zh-CN" altLang="en-US" sz="2400">
                <a:latin typeface="Times New Roman" panose="02020603050405020304" pitchFamily="18" charset="0"/>
                <a:ea typeface="楷体_GB2312" pitchFamily="49" charset="-122"/>
              </a:rPr>
              <a:t>铅酸蓄电池尽管有其缺点与不足，但也有成熟、廉价、安全的优点。</a:t>
            </a:r>
            <a:endParaRPr lang="zh-CN" altLang="en-US" sz="2400">
              <a:latin typeface="Times New Roman" panose="02020603050405020304" pitchFamily="18" charset="0"/>
              <a:ea typeface="楷体_GB2312" pitchFamily="49" charset="-122"/>
            </a:endParaRPr>
          </a:p>
          <a:p>
            <a:pPr>
              <a:lnSpc>
                <a:spcPct val="150000"/>
              </a:lnSpc>
              <a:buFont typeface="Wingdings" panose="05000000000000000000" pitchFamily="2" charset="2"/>
              <a:buNone/>
            </a:pPr>
            <a:r>
              <a:rPr lang="zh-CN" altLang="en-US" sz="2400">
                <a:latin typeface="Times New Roman" panose="02020603050405020304" pitchFamily="18" charset="0"/>
                <a:ea typeface="楷体_GB2312" pitchFamily="49" charset="-122"/>
              </a:rPr>
              <a:t>           </a:t>
            </a:r>
            <a:r>
              <a:rPr lang="zh-CN" altLang="en-US" sz="2400">
                <a:solidFill>
                  <a:srgbClr val="FF0066"/>
                </a:solidFill>
                <a:latin typeface="Times New Roman" panose="02020603050405020304" pitchFamily="18" charset="0"/>
                <a:ea typeface="楷体_GB2312" pitchFamily="49" charset="-122"/>
              </a:rPr>
              <a:t>目前新型的铅酸电池，如阀控式铅酸蓄电池（</a:t>
            </a:r>
            <a:r>
              <a:rPr lang="en-US" altLang="zh-CN" sz="2400">
                <a:solidFill>
                  <a:srgbClr val="FF0066"/>
                </a:solidFill>
                <a:latin typeface="Times New Roman" panose="02020603050405020304" pitchFamily="18" charset="0"/>
                <a:ea typeface="楷体_GB2312" pitchFamily="49" charset="-122"/>
              </a:rPr>
              <a:t>VRLA）、</a:t>
            </a:r>
            <a:r>
              <a:rPr lang="zh-CN" altLang="en-US" sz="2400">
                <a:solidFill>
                  <a:srgbClr val="FF0066"/>
                </a:solidFill>
                <a:latin typeface="Times New Roman" panose="02020603050405020304" pitchFamily="18" charset="0"/>
                <a:ea typeface="楷体_GB2312" pitchFamily="49" charset="-122"/>
              </a:rPr>
              <a:t>采用吸附式玻璃纤维棉作膈膜的</a:t>
            </a:r>
            <a:r>
              <a:rPr lang="en-US" altLang="zh-CN" sz="2400">
                <a:solidFill>
                  <a:srgbClr val="FF0066"/>
                </a:solidFill>
                <a:latin typeface="Times New Roman" panose="02020603050405020304" pitchFamily="18" charset="0"/>
                <a:ea typeface="楷体_GB2312" pitchFamily="49" charset="-122"/>
              </a:rPr>
              <a:t>AGM-VRLA</a:t>
            </a:r>
            <a:r>
              <a:rPr lang="zh-CN" altLang="en-US" sz="2400">
                <a:solidFill>
                  <a:srgbClr val="FF0066"/>
                </a:solidFill>
                <a:latin typeface="Times New Roman" panose="02020603050405020304" pitchFamily="18" charset="0"/>
                <a:ea typeface="楷体_GB2312" pitchFamily="49" charset="-122"/>
              </a:rPr>
              <a:t>以及采用</a:t>
            </a:r>
            <a:r>
              <a:rPr lang="en-US" altLang="zh-CN" sz="2400">
                <a:solidFill>
                  <a:srgbClr val="FF0066"/>
                </a:solidFill>
                <a:latin typeface="Times New Roman" panose="02020603050405020304" pitchFamily="18" charset="0"/>
                <a:ea typeface="楷体_GB2312" pitchFamily="49" charset="-122"/>
              </a:rPr>
              <a:t>SiO</a:t>
            </a:r>
            <a:r>
              <a:rPr lang="en-US" altLang="zh-CN" sz="2400" baseline="-25000">
                <a:solidFill>
                  <a:srgbClr val="FF0066"/>
                </a:solidFill>
                <a:latin typeface="Times New Roman" panose="02020603050405020304" pitchFamily="18" charset="0"/>
                <a:ea typeface="楷体_GB2312" pitchFamily="49" charset="-122"/>
              </a:rPr>
              <a:t>2</a:t>
            </a:r>
            <a:r>
              <a:rPr lang="zh-CN" altLang="en-US" sz="2400">
                <a:solidFill>
                  <a:srgbClr val="FF0066"/>
                </a:solidFill>
                <a:latin typeface="Times New Roman" panose="02020603050405020304" pitchFamily="18" charset="0"/>
                <a:ea typeface="楷体_GB2312" pitchFamily="49" charset="-122"/>
              </a:rPr>
              <a:t>作凝固剂的</a:t>
            </a:r>
            <a:r>
              <a:rPr lang="en-US" altLang="zh-CN" sz="2400">
                <a:solidFill>
                  <a:srgbClr val="FF0066"/>
                </a:solidFill>
                <a:latin typeface="Times New Roman" panose="02020603050405020304" pitchFamily="18" charset="0"/>
                <a:ea typeface="楷体_GB2312" pitchFamily="49" charset="-122"/>
              </a:rPr>
              <a:t>GEL-VRLA </a:t>
            </a:r>
            <a:r>
              <a:rPr lang="zh-CN" altLang="en-US" sz="2400">
                <a:solidFill>
                  <a:srgbClr val="FF0066"/>
                </a:solidFill>
                <a:latin typeface="Times New Roman" panose="02020603050405020304" pitchFamily="18" charset="0"/>
                <a:ea typeface="楷体_GB2312" pitchFamily="49" charset="-122"/>
              </a:rPr>
              <a:t>已经广泛应用。</a:t>
            </a:r>
            <a:endParaRPr lang="zh-CN" altLang="en-US" sz="2400">
              <a:solidFill>
                <a:srgbClr val="FF0066"/>
              </a:solidFill>
              <a:latin typeface="Times New Roman" panose="02020603050405020304" pitchFamily="18" charset="0"/>
              <a:ea typeface="楷体_GB2312" pitchFamily="49" charset="-122"/>
            </a:endParaRPr>
          </a:p>
          <a:p>
            <a:pPr>
              <a:lnSpc>
                <a:spcPct val="150000"/>
              </a:lnSpc>
              <a:buFont typeface="Wingdings" panose="05000000000000000000" pitchFamily="2" charset="2"/>
              <a:buNone/>
            </a:pPr>
            <a:r>
              <a:rPr lang="zh-CN" altLang="en-US" sz="2400">
                <a:latin typeface="Times New Roman" panose="02020603050405020304" pitchFamily="18" charset="0"/>
                <a:ea typeface="楷体_GB2312" pitchFamily="49" charset="-122"/>
              </a:rPr>
              <a:t>           </a:t>
            </a:r>
            <a:r>
              <a:rPr lang="zh-CN" altLang="en-US" sz="2400">
                <a:solidFill>
                  <a:srgbClr val="0033CC"/>
                </a:solidFill>
                <a:latin typeface="Times New Roman" panose="02020603050405020304" pitchFamily="18" charset="0"/>
                <a:ea typeface="楷体_GB2312" pitchFamily="49" charset="-122"/>
              </a:rPr>
              <a:t>未来应致力于设计出具有高比能量，高比功率，循环寿命更长的超级铅酸电池，使其在大型纯电动车、增程式电动车、混合电动车、短程车等方面的应用有更广阔的前景。</a:t>
            </a:r>
            <a:endParaRPr lang="zh-CN" altLang="en-US" sz="2400">
              <a:solidFill>
                <a:srgbClr val="0033CC"/>
              </a:solidFill>
              <a:latin typeface="Times New Roman" panose="02020603050405020304" pitchFamily="18" charset="0"/>
              <a:ea typeface="楷体_GB2312" pitchFamily="49" charset="-122"/>
            </a:endParaRPr>
          </a:p>
        </p:txBody>
      </p:sp>
    </p:spTree>
  </p:cSld>
  <p:clrMapOvr>
    <a:masterClrMapping/>
  </p:clrMapOvr>
  <p:transition>
    <p:randomBar dir="ver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5"/>
          <p:cNvSpPr txBox="1">
            <a:spLocks noChangeArrowheads="1"/>
          </p:cNvSpPr>
          <p:nvPr/>
        </p:nvSpPr>
        <p:spPr bwMode="auto">
          <a:xfrm>
            <a:off x="596900" y="1676400"/>
            <a:ext cx="8001000" cy="265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a:lnSpc>
                <a:spcPct val="120000"/>
              </a:lnSpc>
              <a:spcBef>
                <a:spcPct val="20000"/>
              </a:spcBef>
              <a:buClr>
                <a:schemeClr val="folHlink"/>
              </a:buClr>
              <a:buFont typeface="Wingdings" panose="05000000000000000000" pitchFamily="2" charset="2"/>
              <a:buNone/>
            </a:pPr>
            <a:r>
              <a:rPr lang="zh-CN" altLang="en-US" sz="2800">
                <a:solidFill>
                  <a:schemeClr val="tx1"/>
                </a:solidFill>
                <a:ea typeface="楷体_GB2312" pitchFamily="49" charset="-122"/>
              </a:rPr>
              <a:t>         镍镉电池（</a:t>
            </a:r>
            <a:r>
              <a:rPr lang="en-US" altLang="zh-CN" sz="2800">
                <a:solidFill>
                  <a:schemeClr val="tx1"/>
                </a:solidFill>
                <a:ea typeface="楷体_GB2312" pitchFamily="49" charset="-122"/>
              </a:rPr>
              <a:t>Ni-Cd</a:t>
            </a:r>
            <a:r>
              <a:rPr lang="zh-CN" altLang="en-US" sz="2800">
                <a:solidFill>
                  <a:schemeClr val="tx1"/>
                </a:solidFill>
                <a:ea typeface="楷体_GB2312" pitchFamily="49" charset="-122"/>
              </a:rPr>
              <a:t>，</a:t>
            </a:r>
            <a:r>
              <a:rPr lang="en-US" altLang="zh-CN" sz="2800">
                <a:solidFill>
                  <a:schemeClr val="tx1"/>
                </a:solidFill>
                <a:ea typeface="楷体_GB2312" pitchFamily="49" charset="-122"/>
              </a:rPr>
              <a:t>Nickel-Cadmiun Batteries, Ni-Cd Rechargeable Battery</a:t>
            </a:r>
            <a:r>
              <a:rPr lang="zh-CN" altLang="en-US" sz="2800">
                <a:solidFill>
                  <a:schemeClr val="tx1"/>
                </a:solidFill>
                <a:ea typeface="楷体_GB2312" pitchFamily="49" charset="-122"/>
              </a:rPr>
              <a:t>）是最早应用于手机、笔记本电脑等设备的电池种类，它具有良好的大电流放电特性、耐过充放电能力强、维护简单。</a:t>
            </a:r>
            <a:endParaRPr lang="zh-CN" altLang="en-US" sz="2800">
              <a:ea typeface="楷体_GB2312" pitchFamily="49" charset="-122"/>
            </a:endParaRPr>
          </a:p>
        </p:txBody>
      </p:sp>
      <p:pic>
        <p:nvPicPr>
          <p:cNvPr id="43011" name="Picture 7" descr="File:NiCd various.jpg"/>
          <p:cNvPicPr>
            <a:picLocks noChangeAspect="1" noChangeArrowheads="1"/>
          </p:cNvPicPr>
          <p:nvPr/>
        </p:nvPicPr>
        <p:blipFill>
          <a:blip r:embed="rId1">
            <a:extLst>
              <a:ext uri="{28A0092B-C50C-407E-A947-70E740481C1C}">
                <a14:useLocalDpi xmlns:a14="http://schemas.microsoft.com/office/drawing/2010/main" val="0"/>
              </a:ext>
            </a:extLst>
          </a:blip>
          <a:srcRect l="11790" t="40874" r="10757"/>
          <a:stretch>
            <a:fillRect/>
          </a:stretch>
        </p:blipFill>
        <p:spPr bwMode="auto">
          <a:xfrm>
            <a:off x="4889500" y="4572000"/>
            <a:ext cx="3429000"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2" name="Rectangle 2"/>
          <p:cNvSpPr>
            <a:spLocks noRot="1" noChangeArrowheads="1"/>
          </p:cNvSpPr>
          <p:nvPr/>
        </p:nvSpPr>
        <p:spPr bwMode="auto">
          <a:xfrm>
            <a:off x="349250" y="317500"/>
            <a:ext cx="8540750" cy="11430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eaLnBrk="1" hangingPunct="1"/>
            <a:r>
              <a:rPr lang="en-US" altLang="zh-CN" sz="4000">
                <a:solidFill>
                  <a:schemeClr val="tx1"/>
                </a:solidFill>
              </a:rPr>
              <a:t>3.3.2 </a:t>
            </a:r>
            <a:r>
              <a:rPr lang="zh-CN" altLang="en-US" sz="4000">
                <a:solidFill>
                  <a:schemeClr val="tx1"/>
                </a:solidFill>
              </a:rPr>
              <a:t>镍镉电池</a:t>
            </a:r>
            <a:endParaRPr lang="zh-CN" altLang="en-US" sz="4000">
              <a:solidFill>
                <a:schemeClr val="tx1"/>
              </a:solidFill>
            </a:endParaRPr>
          </a:p>
        </p:txBody>
      </p:sp>
      <p:pic>
        <p:nvPicPr>
          <p:cNvPr id="43013" name="Picture 10" descr="f15e24294b2dfce798250a56[1]"/>
          <p:cNvPicPr>
            <a:picLocks noChangeAspect="1" noChangeArrowheads="1"/>
          </p:cNvPicPr>
          <p:nvPr/>
        </p:nvPicPr>
        <p:blipFill>
          <a:blip r:embed="rId2">
            <a:extLst>
              <a:ext uri="{28A0092B-C50C-407E-A947-70E740481C1C}">
                <a14:useLocalDpi xmlns:a14="http://schemas.microsoft.com/office/drawing/2010/main" val="0"/>
              </a:ext>
            </a:extLst>
          </a:blip>
          <a:srcRect l="26906" t="23947" r="18488" b="26741"/>
          <a:stretch>
            <a:fillRect/>
          </a:stretch>
        </p:blipFill>
        <p:spPr bwMode="auto">
          <a:xfrm>
            <a:off x="1079500" y="4451350"/>
            <a:ext cx="3048000" cy="206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Bar dir="ver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5"/>
          <p:cNvSpPr txBox="1">
            <a:spLocks noChangeArrowheads="1"/>
          </p:cNvSpPr>
          <p:nvPr/>
        </p:nvSpPr>
        <p:spPr bwMode="auto">
          <a:xfrm>
            <a:off x="304800" y="1219200"/>
            <a:ext cx="8610600" cy="522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a:lnSpc>
                <a:spcPct val="150000"/>
              </a:lnSpc>
              <a:spcBef>
                <a:spcPct val="20000"/>
              </a:spcBef>
              <a:buClr>
                <a:schemeClr val="folHlink"/>
              </a:buClr>
              <a:buFont typeface="Wingdings" panose="05000000000000000000" pitchFamily="2" charset="2"/>
              <a:buNone/>
            </a:pPr>
            <a:r>
              <a:rPr lang="zh-CN" altLang="en-US" sz="2800">
                <a:solidFill>
                  <a:schemeClr val="tx1"/>
                </a:solidFill>
                <a:ea typeface="楷体_GB2312" pitchFamily="49" charset="-122"/>
              </a:rPr>
              <a:t>       位于负极的镉</a:t>
            </a:r>
            <a:r>
              <a:rPr lang="en-US" altLang="zh-CN" sz="2800">
                <a:solidFill>
                  <a:schemeClr val="tx1"/>
                </a:solidFill>
                <a:ea typeface="楷体_GB2312" pitchFamily="49" charset="-122"/>
              </a:rPr>
              <a:t>(Cd)</a:t>
            </a:r>
            <a:r>
              <a:rPr lang="zh-CN" altLang="en-US" sz="2800">
                <a:solidFill>
                  <a:schemeClr val="tx1"/>
                </a:solidFill>
                <a:ea typeface="楷体_GB2312" pitchFamily="49" charset="-122"/>
              </a:rPr>
              <a:t>和氢氧化钾</a:t>
            </a:r>
            <a:r>
              <a:rPr lang="en-US" altLang="zh-CN" sz="2800">
                <a:solidFill>
                  <a:schemeClr val="tx1"/>
                </a:solidFill>
                <a:ea typeface="楷体_GB2312" pitchFamily="49" charset="-122"/>
              </a:rPr>
              <a:t>(KOH)</a:t>
            </a:r>
            <a:r>
              <a:rPr lang="zh-CN" altLang="en-US" sz="2800">
                <a:solidFill>
                  <a:schemeClr val="tx1"/>
                </a:solidFill>
                <a:ea typeface="楷体_GB2312" pitchFamily="49" charset="-122"/>
              </a:rPr>
              <a:t>中的氢氧根离子</a:t>
            </a:r>
            <a:r>
              <a:rPr lang="en-US" altLang="zh-CN" sz="2800">
                <a:solidFill>
                  <a:schemeClr val="tx1"/>
                </a:solidFill>
                <a:ea typeface="楷体_GB2312" pitchFamily="49" charset="-122"/>
              </a:rPr>
              <a:t>(OH</a:t>
            </a:r>
            <a:r>
              <a:rPr lang="en-US" altLang="zh-CN" sz="2800" baseline="30000">
                <a:solidFill>
                  <a:schemeClr val="tx1"/>
                </a:solidFill>
                <a:ea typeface="楷体_GB2312" pitchFamily="49" charset="-122"/>
              </a:rPr>
              <a:t>-</a:t>
            </a:r>
            <a:r>
              <a:rPr lang="en-US" altLang="zh-CN" sz="2800">
                <a:solidFill>
                  <a:schemeClr val="tx1"/>
                </a:solidFill>
                <a:ea typeface="楷体_GB2312" pitchFamily="49" charset="-122"/>
              </a:rPr>
              <a:t>)</a:t>
            </a:r>
            <a:r>
              <a:rPr lang="zh-CN" altLang="en-US" sz="2800">
                <a:solidFill>
                  <a:schemeClr val="tx1"/>
                </a:solidFill>
                <a:ea typeface="楷体_GB2312" pitchFamily="49" charset="-122"/>
              </a:rPr>
              <a:t>化合成氢氧化镉，并附着在阳极上，同时放出电子。电子沿着电线至阴极，和阴极的二氧化镍与氢氧化钠溶液中的水反应形成氢氧化镍和氢氧根离子，氢氧化镍会附着在阴极上，氢氧根离子则又回到氢氧化钠溶液中，故氢氧化钠溶液浓度不会随着时间而下降。电解液是比重为1.16</a:t>
            </a:r>
            <a:r>
              <a:rPr lang="zh-CN" altLang="en-US" sz="2800">
                <a:solidFill>
                  <a:schemeClr val="tx1"/>
                </a:solidFill>
                <a:ea typeface="楷体_GB2312" pitchFamily="49" charset="-122"/>
                <a:sym typeface="Symbol" panose="05050102010706020507" pitchFamily="18" charset="2"/>
              </a:rPr>
              <a:t>1.19的</a:t>
            </a:r>
            <a:r>
              <a:rPr lang="en-US" altLang="zh-CN" sz="2800">
                <a:solidFill>
                  <a:schemeClr val="tx1"/>
                </a:solidFill>
                <a:ea typeface="楷体_GB2312" pitchFamily="49" charset="-122"/>
              </a:rPr>
              <a:t>KOH</a:t>
            </a:r>
            <a:r>
              <a:rPr lang="zh-CN" altLang="en-US" sz="2800">
                <a:solidFill>
                  <a:schemeClr val="tx1"/>
                </a:solidFill>
                <a:ea typeface="楷体_GB2312" pitchFamily="49" charset="-122"/>
                <a:sym typeface="Symbol" panose="05050102010706020507" pitchFamily="18" charset="2"/>
              </a:rPr>
              <a:t> 溶液。</a:t>
            </a:r>
            <a:br>
              <a:rPr lang="zh-CN" altLang="en-US" sz="2800">
                <a:solidFill>
                  <a:schemeClr val="tx1"/>
                </a:solidFill>
                <a:ea typeface="楷体_GB2312" pitchFamily="49" charset="-122"/>
              </a:rPr>
            </a:br>
            <a:endParaRPr lang="zh-CN" altLang="en-US" sz="2800">
              <a:solidFill>
                <a:schemeClr val="tx1"/>
              </a:solidFill>
              <a:ea typeface="楷体_GB2312" pitchFamily="49" charset="-122"/>
            </a:endParaRPr>
          </a:p>
        </p:txBody>
      </p:sp>
      <p:sp>
        <p:nvSpPr>
          <p:cNvPr id="44035" name="Text Box 7"/>
          <p:cNvSpPr txBox="1">
            <a:spLocks noChangeArrowheads="1"/>
          </p:cNvSpPr>
          <p:nvPr/>
        </p:nvSpPr>
        <p:spPr bwMode="auto">
          <a:xfrm>
            <a:off x="381000" y="215900"/>
            <a:ext cx="18288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a:lnSpc>
                <a:spcPct val="150000"/>
              </a:lnSpc>
              <a:spcBef>
                <a:spcPct val="20000"/>
              </a:spcBef>
              <a:buClr>
                <a:schemeClr val="folHlink"/>
              </a:buClr>
              <a:buFont typeface="Wingdings" panose="05000000000000000000" pitchFamily="2" charset="2"/>
              <a:buNone/>
            </a:pPr>
            <a:r>
              <a:rPr lang="zh-CN" altLang="en-US" sz="3200">
                <a:solidFill>
                  <a:srgbClr val="FF3300"/>
                </a:solidFill>
                <a:latin typeface="Arial" panose="020B0604020202020204" pitchFamily="34" charset="0"/>
              </a:rPr>
              <a:t>电池原理</a:t>
            </a:r>
            <a:endParaRPr lang="zh-CN" altLang="en-US"/>
          </a:p>
        </p:txBody>
      </p:sp>
      <p:sp>
        <p:nvSpPr>
          <p:cNvPr id="44036" name="Rectangle 9"/>
          <p:cNvSpPr>
            <a:spLocks noChangeArrowheads="1"/>
          </p:cNvSpPr>
          <p:nvPr/>
        </p:nvSpPr>
        <p:spPr bwMode="auto">
          <a:xfrm>
            <a:off x="1933575" y="25003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endParaRPr lang="zh-CN" altLang="en-US"/>
          </a:p>
        </p:txBody>
      </p:sp>
    </p:spTree>
  </p:cSld>
  <p:clrMapOvr>
    <a:masterClrMapping/>
  </p:clrMapOvr>
  <p:transition>
    <p:randomBar dir="vert"/>
  </p:transition>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3"/>
          <p:cNvSpPr>
            <a:spLocks noGrp="1" noRot="1" noChangeArrowheads="1"/>
          </p:cNvSpPr>
          <p:nvPr>
            <p:ph type="body" idx="1"/>
          </p:nvPr>
        </p:nvSpPr>
        <p:spPr>
          <a:xfrm>
            <a:off x="184150" y="1219200"/>
            <a:ext cx="8820150" cy="4267200"/>
          </a:xfrm>
        </p:spPr>
        <p:txBody>
          <a:bodyPr/>
          <a:lstStyle/>
          <a:p>
            <a:pPr>
              <a:spcBef>
                <a:spcPct val="10000"/>
              </a:spcBef>
              <a:buFont typeface="Wingdings" panose="05000000000000000000" pitchFamily="2" charset="2"/>
              <a:buNone/>
            </a:pPr>
            <a:r>
              <a:rPr lang="zh-CN" altLang="en-US" sz="2800">
                <a:solidFill>
                  <a:srgbClr val="0033CC"/>
                </a:solidFill>
                <a:latin typeface="Times New Roman" panose="02020603050405020304" pitchFamily="18" charset="0"/>
                <a:ea typeface="楷体_GB2312" pitchFamily="49" charset="-122"/>
              </a:rPr>
              <a:t>放电反应式：</a:t>
            </a:r>
            <a:endParaRPr lang="zh-CN" altLang="en-US" sz="2800">
              <a:latin typeface="Times New Roman" panose="02020603050405020304" pitchFamily="18" charset="0"/>
              <a:ea typeface="楷体_GB2312" pitchFamily="49" charset="-122"/>
            </a:endParaRPr>
          </a:p>
          <a:p>
            <a:pPr>
              <a:spcBef>
                <a:spcPct val="10000"/>
              </a:spcBef>
              <a:buFont typeface="Wingdings" panose="05000000000000000000" pitchFamily="2" charset="2"/>
              <a:buNone/>
            </a:pPr>
            <a:r>
              <a:rPr lang="zh-CN" altLang="en-US" sz="2800">
                <a:latin typeface="Times New Roman" panose="02020603050405020304" pitchFamily="18" charset="0"/>
                <a:ea typeface="楷体_GB2312" pitchFamily="49" charset="-122"/>
              </a:rPr>
              <a:t>负极反应： </a:t>
            </a:r>
            <a:r>
              <a:rPr lang="en-US" altLang="zh-CN" sz="2800">
                <a:latin typeface="Times New Roman" panose="02020603050405020304" pitchFamily="18" charset="0"/>
                <a:ea typeface="楷体_GB2312" pitchFamily="49" charset="-122"/>
              </a:rPr>
              <a:t>Cd + 2OH</a:t>
            </a:r>
            <a:r>
              <a:rPr lang="en-US" altLang="zh-CN" sz="2800" baseline="30000">
                <a:latin typeface="Times New Roman" panose="02020603050405020304" pitchFamily="18" charset="0"/>
                <a:ea typeface="楷体_GB2312" pitchFamily="49" charset="-122"/>
              </a:rPr>
              <a:t>- </a:t>
            </a:r>
            <a:r>
              <a:rPr lang="en-US" altLang="zh-CN" sz="2800">
                <a:latin typeface="Times New Roman" panose="02020603050405020304" pitchFamily="18" charset="0"/>
                <a:ea typeface="楷体_GB2312" pitchFamily="49" charset="-122"/>
              </a:rPr>
              <a:t>→ Cd(OH)</a:t>
            </a:r>
            <a:r>
              <a:rPr lang="en-US" altLang="zh-CN" sz="2800" baseline="-25000">
                <a:latin typeface="Times New Roman" panose="02020603050405020304" pitchFamily="18" charset="0"/>
                <a:ea typeface="楷体_GB2312" pitchFamily="49" charset="-122"/>
              </a:rPr>
              <a:t>2 </a:t>
            </a:r>
            <a:r>
              <a:rPr lang="en-US" altLang="zh-CN" sz="2800">
                <a:latin typeface="Times New Roman" panose="02020603050405020304" pitchFamily="18" charset="0"/>
                <a:ea typeface="楷体_GB2312" pitchFamily="49" charset="-122"/>
              </a:rPr>
              <a:t>+ 2e</a:t>
            </a:r>
            <a:r>
              <a:rPr lang="en-US" altLang="zh-CN" sz="2800" baseline="30000">
                <a:latin typeface="Times New Roman" panose="02020603050405020304" pitchFamily="18" charset="0"/>
                <a:ea typeface="楷体_GB2312" pitchFamily="49" charset="-122"/>
              </a:rPr>
              <a:t>-</a:t>
            </a:r>
            <a:endParaRPr lang="en-US" altLang="zh-CN" sz="2800" baseline="30000">
              <a:latin typeface="Times New Roman" panose="02020603050405020304" pitchFamily="18" charset="0"/>
              <a:ea typeface="楷体_GB2312" pitchFamily="49" charset="-122"/>
            </a:endParaRPr>
          </a:p>
          <a:p>
            <a:pPr>
              <a:spcBef>
                <a:spcPct val="10000"/>
              </a:spcBef>
              <a:buFont typeface="Wingdings" panose="05000000000000000000" pitchFamily="2" charset="2"/>
              <a:buNone/>
            </a:pPr>
            <a:r>
              <a:rPr lang="zh-CN" altLang="en-US" sz="2800">
                <a:latin typeface="Times New Roman" panose="02020603050405020304" pitchFamily="18" charset="0"/>
                <a:ea typeface="楷体_GB2312" pitchFamily="49" charset="-122"/>
              </a:rPr>
              <a:t>正极反应： 2</a:t>
            </a:r>
            <a:r>
              <a:rPr lang="en-US" altLang="zh-CN" sz="2800">
                <a:latin typeface="Times New Roman" panose="02020603050405020304" pitchFamily="18" charset="0"/>
                <a:ea typeface="楷体_GB2312" pitchFamily="49" charset="-122"/>
              </a:rPr>
              <a:t>NiOOH</a:t>
            </a:r>
            <a:r>
              <a:rPr lang="en-US" altLang="zh-CN" sz="2800" baseline="-25000">
                <a:latin typeface="Times New Roman" panose="02020603050405020304" pitchFamily="18" charset="0"/>
                <a:ea typeface="楷体_GB2312" pitchFamily="49" charset="-122"/>
              </a:rPr>
              <a:t> </a:t>
            </a:r>
            <a:r>
              <a:rPr lang="en-US" altLang="zh-CN" sz="2800">
                <a:latin typeface="Times New Roman" panose="02020603050405020304" pitchFamily="18" charset="0"/>
                <a:ea typeface="楷体_GB2312" pitchFamily="49" charset="-122"/>
              </a:rPr>
              <a:t>+2H</a:t>
            </a:r>
            <a:r>
              <a:rPr lang="en-US" altLang="zh-CN" sz="2800" baseline="-25000">
                <a:latin typeface="Times New Roman" panose="02020603050405020304" pitchFamily="18" charset="0"/>
                <a:ea typeface="楷体_GB2312" pitchFamily="49" charset="-122"/>
              </a:rPr>
              <a:t>2</a:t>
            </a:r>
            <a:r>
              <a:rPr lang="en-US" altLang="zh-CN" sz="2800">
                <a:latin typeface="Times New Roman" panose="02020603050405020304" pitchFamily="18" charset="0"/>
                <a:ea typeface="楷体_GB2312" pitchFamily="49" charset="-122"/>
              </a:rPr>
              <a:t>O + 2e</a:t>
            </a:r>
            <a:r>
              <a:rPr lang="en-US" altLang="zh-CN" sz="2800" baseline="30000">
                <a:latin typeface="Times New Roman" panose="02020603050405020304" pitchFamily="18" charset="0"/>
                <a:ea typeface="楷体_GB2312" pitchFamily="49" charset="-122"/>
              </a:rPr>
              <a:t>- </a:t>
            </a:r>
            <a:r>
              <a:rPr lang="en-US" altLang="zh-CN" sz="2800">
                <a:latin typeface="Times New Roman" panose="02020603050405020304" pitchFamily="18" charset="0"/>
                <a:ea typeface="楷体_GB2312" pitchFamily="49" charset="-122"/>
              </a:rPr>
              <a:t>→ 2Ni(OH)</a:t>
            </a:r>
            <a:r>
              <a:rPr lang="en-US" altLang="zh-CN" sz="2800" baseline="-25000">
                <a:latin typeface="Times New Roman" panose="02020603050405020304" pitchFamily="18" charset="0"/>
                <a:ea typeface="楷体_GB2312" pitchFamily="49" charset="-122"/>
              </a:rPr>
              <a:t>2 </a:t>
            </a:r>
            <a:r>
              <a:rPr lang="en-US" altLang="zh-CN" sz="2800">
                <a:latin typeface="Times New Roman" panose="02020603050405020304" pitchFamily="18" charset="0"/>
                <a:ea typeface="楷体_GB2312" pitchFamily="49" charset="-122"/>
              </a:rPr>
              <a:t>+ 2OH</a:t>
            </a:r>
            <a:r>
              <a:rPr lang="en-US" altLang="zh-CN" sz="2800" baseline="30000">
                <a:latin typeface="Times New Roman" panose="02020603050405020304" pitchFamily="18" charset="0"/>
                <a:ea typeface="楷体_GB2312" pitchFamily="49" charset="-122"/>
              </a:rPr>
              <a:t>-</a:t>
            </a:r>
            <a:endParaRPr lang="en-US" altLang="zh-CN" sz="2800" baseline="30000">
              <a:latin typeface="Times New Roman" panose="02020603050405020304" pitchFamily="18" charset="0"/>
              <a:ea typeface="楷体_GB2312" pitchFamily="49" charset="-122"/>
            </a:endParaRPr>
          </a:p>
          <a:p>
            <a:pPr>
              <a:spcBef>
                <a:spcPct val="10000"/>
              </a:spcBef>
              <a:buFont typeface="Wingdings" panose="05000000000000000000" pitchFamily="2" charset="2"/>
              <a:buNone/>
            </a:pPr>
            <a:r>
              <a:rPr lang="zh-CN" altLang="en-US" sz="2800">
                <a:latin typeface="Times New Roman" panose="02020603050405020304" pitchFamily="18" charset="0"/>
                <a:ea typeface="楷体_GB2312" pitchFamily="49" charset="-122"/>
              </a:rPr>
              <a:t>总反应：</a:t>
            </a:r>
            <a:r>
              <a:rPr lang="en-US" altLang="zh-CN" sz="2800">
                <a:latin typeface="Times New Roman" panose="02020603050405020304" pitchFamily="18" charset="0"/>
                <a:ea typeface="楷体_GB2312" pitchFamily="49" charset="-122"/>
              </a:rPr>
              <a:t>Cd + 2NiOOH</a:t>
            </a:r>
            <a:r>
              <a:rPr lang="en-US" altLang="zh-CN" sz="2800" baseline="-25000">
                <a:latin typeface="Times New Roman" panose="02020603050405020304" pitchFamily="18" charset="0"/>
                <a:ea typeface="楷体_GB2312" pitchFamily="49" charset="-122"/>
              </a:rPr>
              <a:t> </a:t>
            </a:r>
            <a:r>
              <a:rPr lang="en-US" altLang="zh-CN" sz="2800">
                <a:latin typeface="Times New Roman" panose="02020603050405020304" pitchFamily="18" charset="0"/>
                <a:ea typeface="楷体_GB2312" pitchFamily="49" charset="-122"/>
              </a:rPr>
              <a:t>+ 2H</a:t>
            </a:r>
            <a:r>
              <a:rPr lang="en-US" altLang="zh-CN" sz="2800" baseline="-25000">
                <a:latin typeface="Times New Roman" panose="02020603050405020304" pitchFamily="18" charset="0"/>
                <a:ea typeface="楷体_GB2312" pitchFamily="49" charset="-122"/>
              </a:rPr>
              <a:t>2</a:t>
            </a:r>
            <a:r>
              <a:rPr lang="en-US" altLang="zh-CN" sz="2800">
                <a:latin typeface="Times New Roman" panose="02020603050405020304" pitchFamily="18" charset="0"/>
                <a:ea typeface="楷体_GB2312" pitchFamily="49" charset="-122"/>
              </a:rPr>
              <a:t>O → Cd(OH)</a:t>
            </a:r>
            <a:r>
              <a:rPr lang="en-US" altLang="zh-CN" sz="2800" baseline="-25000">
                <a:latin typeface="Times New Roman" panose="02020603050405020304" pitchFamily="18" charset="0"/>
                <a:ea typeface="楷体_GB2312" pitchFamily="49" charset="-122"/>
              </a:rPr>
              <a:t>2 </a:t>
            </a:r>
            <a:r>
              <a:rPr lang="en-US" altLang="zh-CN" sz="2800">
                <a:latin typeface="Times New Roman" panose="02020603050405020304" pitchFamily="18" charset="0"/>
                <a:ea typeface="楷体_GB2312" pitchFamily="49" charset="-122"/>
              </a:rPr>
              <a:t>+ 2Ni(OH)</a:t>
            </a:r>
            <a:r>
              <a:rPr lang="en-US" altLang="zh-CN" sz="2800" baseline="-25000">
                <a:latin typeface="Times New Roman" panose="02020603050405020304" pitchFamily="18" charset="0"/>
                <a:ea typeface="楷体_GB2312" pitchFamily="49" charset="-122"/>
              </a:rPr>
              <a:t>2</a:t>
            </a:r>
            <a:br>
              <a:rPr lang="en-US" altLang="zh-CN" sz="2800">
                <a:latin typeface="Times New Roman" panose="02020603050405020304" pitchFamily="18" charset="0"/>
                <a:ea typeface="楷体_GB2312" pitchFamily="49" charset="-122"/>
              </a:rPr>
            </a:br>
            <a:endParaRPr lang="en-US" altLang="zh-CN" sz="2800">
              <a:latin typeface="Times New Roman" panose="02020603050405020304" pitchFamily="18" charset="0"/>
              <a:ea typeface="楷体_GB2312" pitchFamily="49" charset="-122"/>
            </a:endParaRPr>
          </a:p>
          <a:p>
            <a:pPr>
              <a:spcBef>
                <a:spcPct val="10000"/>
              </a:spcBef>
              <a:buFont typeface="Wingdings" panose="05000000000000000000" pitchFamily="2" charset="2"/>
              <a:buNone/>
            </a:pPr>
            <a:r>
              <a:rPr lang="zh-CN" altLang="en-US" sz="2800">
                <a:solidFill>
                  <a:srgbClr val="0033CC"/>
                </a:solidFill>
                <a:latin typeface="Times New Roman" panose="02020603050405020304" pitchFamily="18" charset="0"/>
                <a:ea typeface="楷体_GB2312" pitchFamily="49" charset="-122"/>
              </a:rPr>
              <a:t>充电反应式：</a:t>
            </a:r>
            <a:endParaRPr lang="zh-CN" altLang="en-US" sz="2800">
              <a:latin typeface="Times New Roman" panose="02020603050405020304" pitchFamily="18" charset="0"/>
              <a:ea typeface="楷体_GB2312" pitchFamily="49" charset="-122"/>
            </a:endParaRPr>
          </a:p>
          <a:p>
            <a:pPr>
              <a:spcBef>
                <a:spcPct val="10000"/>
              </a:spcBef>
              <a:buFont typeface="Wingdings" panose="05000000000000000000" pitchFamily="2" charset="2"/>
              <a:buNone/>
            </a:pPr>
            <a:r>
              <a:rPr lang="zh-CN" altLang="en-US" sz="2800">
                <a:latin typeface="Times New Roman" panose="02020603050405020304" pitchFamily="18" charset="0"/>
                <a:ea typeface="楷体_GB2312" pitchFamily="49" charset="-122"/>
              </a:rPr>
              <a:t>阳极反应：2</a:t>
            </a:r>
            <a:r>
              <a:rPr lang="en-US" altLang="zh-CN" sz="2800">
                <a:latin typeface="Times New Roman" panose="02020603050405020304" pitchFamily="18" charset="0"/>
                <a:ea typeface="楷体_GB2312" pitchFamily="49" charset="-122"/>
              </a:rPr>
              <a:t>Ni(OH)</a:t>
            </a:r>
            <a:r>
              <a:rPr lang="en-US" altLang="zh-CN" sz="2800" baseline="-25000">
                <a:latin typeface="Times New Roman" panose="02020603050405020304" pitchFamily="18" charset="0"/>
                <a:ea typeface="楷体_GB2312" pitchFamily="49" charset="-122"/>
              </a:rPr>
              <a:t>2 </a:t>
            </a:r>
            <a:r>
              <a:rPr lang="en-US" altLang="zh-CN" sz="2800">
                <a:latin typeface="Times New Roman" panose="02020603050405020304" pitchFamily="18" charset="0"/>
                <a:ea typeface="楷体_GB2312" pitchFamily="49" charset="-122"/>
              </a:rPr>
              <a:t>+ 2OH</a:t>
            </a:r>
            <a:r>
              <a:rPr lang="en-US" altLang="zh-CN" sz="2800" baseline="30000">
                <a:latin typeface="Times New Roman" panose="02020603050405020304" pitchFamily="18" charset="0"/>
                <a:ea typeface="楷体_GB2312" pitchFamily="49" charset="-122"/>
              </a:rPr>
              <a:t>- </a:t>
            </a:r>
            <a:r>
              <a:rPr lang="en-US" altLang="zh-CN" sz="2800">
                <a:latin typeface="Times New Roman" panose="02020603050405020304" pitchFamily="18" charset="0"/>
                <a:ea typeface="楷体_GB2312" pitchFamily="49" charset="-122"/>
              </a:rPr>
              <a:t>→2NiOOH</a:t>
            </a:r>
            <a:r>
              <a:rPr lang="en-US" altLang="zh-CN" sz="2800" baseline="-25000">
                <a:latin typeface="Times New Roman" panose="02020603050405020304" pitchFamily="18" charset="0"/>
                <a:ea typeface="楷体_GB2312" pitchFamily="49" charset="-122"/>
              </a:rPr>
              <a:t> </a:t>
            </a:r>
            <a:r>
              <a:rPr lang="en-US" altLang="zh-CN" sz="2800">
                <a:latin typeface="Times New Roman" panose="02020603050405020304" pitchFamily="18" charset="0"/>
                <a:ea typeface="楷体_GB2312" pitchFamily="49" charset="-122"/>
              </a:rPr>
              <a:t>+ 2H</a:t>
            </a:r>
            <a:r>
              <a:rPr lang="en-US" altLang="zh-CN" sz="2800" baseline="-25000">
                <a:latin typeface="Times New Roman" panose="02020603050405020304" pitchFamily="18" charset="0"/>
                <a:ea typeface="楷体_GB2312" pitchFamily="49" charset="-122"/>
              </a:rPr>
              <a:t>2</a:t>
            </a:r>
            <a:r>
              <a:rPr lang="en-US" altLang="zh-CN" sz="2800">
                <a:latin typeface="Times New Roman" panose="02020603050405020304" pitchFamily="18" charset="0"/>
                <a:ea typeface="楷体_GB2312" pitchFamily="49" charset="-122"/>
              </a:rPr>
              <a:t>O + 2e</a:t>
            </a:r>
            <a:r>
              <a:rPr lang="en-US" altLang="zh-CN" sz="2800" baseline="30000">
                <a:latin typeface="Times New Roman" panose="02020603050405020304" pitchFamily="18" charset="0"/>
                <a:ea typeface="楷体_GB2312" pitchFamily="49" charset="-122"/>
              </a:rPr>
              <a:t>-</a:t>
            </a:r>
            <a:endParaRPr lang="en-US" altLang="zh-CN" sz="2800">
              <a:latin typeface="Times New Roman" panose="02020603050405020304" pitchFamily="18" charset="0"/>
              <a:ea typeface="楷体_GB2312" pitchFamily="49" charset="-122"/>
            </a:endParaRPr>
          </a:p>
          <a:p>
            <a:pPr>
              <a:spcBef>
                <a:spcPct val="10000"/>
              </a:spcBef>
              <a:buFont typeface="Wingdings" panose="05000000000000000000" pitchFamily="2" charset="2"/>
              <a:buNone/>
            </a:pPr>
            <a:r>
              <a:rPr lang="zh-CN" altLang="en-US" sz="2800">
                <a:latin typeface="Times New Roman" panose="02020603050405020304" pitchFamily="18" charset="0"/>
                <a:ea typeface="楷体_GB2312" pitchFamily="49" charset="-122"/>
              </a:rPr>
              <a:t>阴极反应： </a:t>
            </a:r>
            <a:r>
              <a:rPr lang="en-US" altLang="zh-CN" sz="2800">
                <a:latin typeface="Times New Roman" panose="02020603050405020304" pitchFamily="18" charset="0"/>
                <a:ea typeface="楷体_GB2312" pitchFamily="49" charset="-122"/>
              </a:rPr>
              <a:t>Cd(OH)</a:t>
            </a:r>
            <a:r>
              <a:rPr lang="en-US" altLang="zh-CN" sz="2800" baseline="-25000">
                <a:latin typeface="Times New Roman" panose="02020603050405020304" pitchFamily="18" charset="0"/>
                <a:ea typeface="楷体_GB2312" pitchFamily="49" charset="-122"/>
              </a:rPr>
              <a:t>2 </a:t>
            </a:r>
            <a:r>
              <a:rPr lang="en-US" altLang="zh-CN" sz="2800">
                <a:latin typeface="Times New Roman" panose="02020603050405020304" pitchFamily="18" charset="0"/>
                <a:ea typeface="楷体_GB2312" pitchFamily="49" charset="-122"/>
              </a:rPr>
              <a:t>+ 2e</a:t>
            </a:r>
            <a:r>
              <a:rPr lang="en-US" altLang="zh-CN" sz="2800" baseline="30000">
                <a:latin typeface="Times New Roman" panose="02020603050405020304" pitchFamily="18" charset="0"/>
                <a:ea typeface="楷体_GB2312" pitchFamily="49" charset="-122"/>
              </a:rPr>
              <a:t>-</a:t>
            </a:r>
            <a:r>
              <a:rPr lang="en-US" altLang="zh-CN" sz="2800">
                <a:latin typeface="Times New Roman" panose="02020603050405020304" pitchFamily="18" charset="0"/>
                <a:ea typeface="楷体_GB2312" pitchFamily="49" charset="-122"/>
              </a:rPr>
              <a:t> → Cd + 2OH</a:t>
            </a:r>
            <a:r>
              <a:rPr lang="en-US" altLang="zh-CN" sz="2800" baseline="30000">
                <a:latin typeface="Times New Roman" panose="02020603050405020304" pitchFamily="18" charset="0"/>
                <a:ea typeface="楷体_GB2312" pitchFamily="49" charset="-122"/>
              </a:rPr>
              <a:t>-</a:t>
            </a:r>
            <a:endParaRPr lang="en-US" altLang="zh-CN" sz="2800">
              <a:latin typeface="Times New Roman" panose="02020603050405020304" pitchFamily="18" charset="0"/>
              <a:ea typeface="楷体_GB2312" pitchFamily="49" charset="-122"/>
            </a:endParaRPr>
          </a:p>
          <a:p>
            <a:pPr>
              <a:spcBef>
                <a:spcPct val="10000"/>
              </a:spcBef>
              <a:buFont typeface="Wingdings" panose="05000000000000000000" pitchFamily="2" charset="2"/>
              <a:buNone/>
            </a:pPr>
            <a:r>
              <a:rPr lang="zh-CN" altLang="en-US" sz="2800">
                <a:latin typeface="Times New Roman" panose="02020603050405020304" pitchFamily="18" charset="0"/>
                <a:ea typeface="楷体_GB2312" pitchFamily="49" charset="-122"/>
              </a:rPr>
              <a:t>总反应： </a:t>
            </a:r>
            <a:r>
              <a:rPr lang="en-US" altLang="zh-CN" sz="2800">
                <a:latin typeface="Times New Roman" panose="02020603050405020304" pitchFamily="18" charset="0"/>
                <a:ea typeface="楷体_GB2312" pitchFamily="49" charset="-122"/>
              </a:rPr>
              <a:t>Cd(OH)</a:t>
            </a:r>
            <a:r>
              <a:rPr lang="en-US" altLang="zh-CN" sz="2800" baseline="-25000">
                <a:latin typeface="Times New Roman" panose="02020603050405020304" pitchFamily="18" charset="0"/>
                <a:ea typeface="楷体_GB2312" pitchFamily="49" charset="-122"/>
              </a:rPr>
              <a:t>2 </a:t>
            </a:r>
            <a:r>
              <a:rPr lang="en-US" altLang="zh-CN" sz="2800">
                <a:latin typeface="Times New Roman" panose="02020603050405020304" pitchFamily="18" charset="0"/>
                <a:ea typeface="楷体_GB2312" pitchFamily="49" charset="-122"/>
              </a:rPr>
              <a:t>+ 2Ni(OH)</a:t>
            </a:r>
            <a:r>
              <a:rPr lang="en-US" altLang="zh-CN" sz="2800" baseline="-25000">
                <a:latin typeface="Times New Roman" panose="02020603050405020304" pitchFamily="18" charset="0"/>
                <a:ea typeface="楷体_GB2312" pitchFamily="49" charset="-122"/>
              </a:rPr>
              <a:t>2 </a:t>
            </a:r>
            <a:r>
              <a:rPr lang="en-US" altLang="zh-CN" sz="2800">
                <a:latin typeface="Times New Roman" panose="02020603050405020304" pitchFamily="18" charset="0"/>
                <a:ea typeface="楷体_GB2312" pitchFamily="49" charset="-122"/>
              </a:rPr>
              <a:t>→ Cd + 2NiOOH</a:t>
            </a:r>
            <a:r>
              <a:rPr lang="en-US" altLang="zh-CN" sz="2800" baseline="-25000">
                <a:latin typeface="Times New Roman" panose="02020603050405020304" pitchFamily="18" charset="0"/>
                <a:ea typeface="楷体_GB2312" pitchFamily="49" charset="-122"/>
              </a:rPr>
              <a:t> </a:t>
            </a:r>
            <a:r>
              <a:rPr lang="en-US" altLang="zh-CN" sz="2800">
                <a:latin typeface="Times New Roman" panose="02020603050405020304" pitchFamily="18" charset="0"/>
                <a:ea typeface="楷体_GB2312" pitchFamily="49" charset="-122"/>
              </a:rPr>
              <a:t>+ 2H</a:t>
            </a:r>
            <a:r>
              <a:rPr lang="en-US" altLang="zh-CN" sz="2800" baseline="-25000">
                <a:latin typeface="Times New Roman" panose="02020603050405020304" pitchFamily="18" charset="0"/>
                <a:ea typeface="楷体_GB2312" pitchFamily="49" charset="-122"/>
              </a:rPr>
              <a:t>2</a:t>
            </a:r>
            <a:r>
              <a:rPr lang="en-US" altLang="zh-CN" sz="2800">
                <a:latin typeface="Times New Roman" panose="02020603050405020304" pitchFamily="18" charset="0"/>
                <a:ea typeface="楷体_GB2312" pitchFamily="49" charset="-122"/>
              </a:rPr>
              <a:t>O</a:t>
            </a:r>
            <a:endParaRPr lang="zh-CN" altLang="en-US" sz="2800">
              <a:latin typeface="Times New Roman" panose="02020603050405020304" pitchFamily="18" charset="0"/>
              <a:ea typeface="楷体_GB2312" pitchFamily="49" charset="-122"/>
            </a:endParaRPr>
          </a:p>
        </p:txBody>
      </p:sp>
    </p:spTree>
  </p:cSld>
  <p:clrMapOvr>
    <a:masterClrMapping/>
  </p:clrMapOvr>
  <p:transition>
    <p:randomBar dir="ver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4"/>
          <p:cNvSpPr>
            <a:spLocks noChangeArrowheads="1"/>
          </p:cNvSpPr>
          <p:nvPr/>
        </p:nvSpPr>
        <p:spPr bwMode="auto">
          <a:xfrm>
            <a:off x="533400" y="381000"/>
            <a:ext cx="18161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r>
              <a:rPr lang="zh-CN" altLang="en-US" sz="3200">
                <a:solidFill>
                  <a:srgbClr val="FF3300"/>
                </a:solidFill>
                <a:latin typeface="Arial" panose="020B0604020202020204" pitchFamily="34" charset="0"/>
              </a:rPr>
              <a:t>电池结构</a:t>
            </a:r>
            <a:endParaRPr lang="zh-CN" altLang="en-US" sz="3200">
              <a:solidFill>
                <a:srgbClr val="FF3300"/>
              </a:solidFill>
              <a:latin typeface="Arial" panose="020B0604020202020204" pitchFamily="34" charset="0"/>
            </a:endParaRPr>
          </a:p>
        </p:txBody>
      </p:sp>
      <p:sp>
        <p:nvSpPr>
          <p:cNvPr id="46083" name="Text Box 5"/>
          <p:cNvSpPr txBox="1">
            <a:spLocks noChangeArrowheads="1"/>
          </p:cNvSpPr>
          <p:nvPr/>
        </p:nvSpPr>
        <p:spPr bwMode="auto">
          <a:xfrm>
            <a:off x="355600" y="1089025"/>
            <a:ext cx="8458200" cy="467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a:lnSpc>
                <a:spcPct val="150000"/>
              </a:lnSpc>
              <a:spcBef>
                <a:spcPct val="20000"/>
              </a:spcBef>
              <a:buClr>
                <a:schemeClr val="folHlink"/>
              </a:buClr>
              <a:buFont typeface="Wingdings" panose="05000000000000000000" pitchFamily="2" charset="2"/>
              <a:buNone/>
            </a:pPr>
            <a:r>
              <a:rPr lang="zh-CN" altLang="en-US" sz="2400">
                <a:solidFill>
                  <a:schemeClr val="tx1"/>
                </a:solidFill>
                <a:latin typeface="楷体_GB2312" pitchFamily="49" charset="-122"/>
                <a:ea typeface="楷体_GB2312" pitchFamily="49" charset="-122"/>
              </a:rPr>
              <a:t>正极板上的由羟基氧化镍粉和石墨粉组成，石墨不参加化学反应，其主要作用是增强导电性。</a:t>
            </a:r>
            <a:endParaRPr lang="zh-CN" altLang="en-US" sz="2400">
              <a:solidFill>
                <a:schemeClr val="tx1"/>
              </a:solidFill>
              <a:latin typeface="楷体_GB2312" pitchFamily="49" charset="-122"/>
              <a:ea typeface="楷体_GB2312" pitchFamily="49" charset="-122"/>
            </a:endParaRPr>
          </a:p>
          <a:p>
            <a:pPr>
              <a:lnSpc>
                <a:spcPct val="150000"/>
              </a:lnSpc>
              <a:spcBef>
                <a:spcPct val="20000"/>
              </a:spcBef>
              <a:buClr>
                <a:schemeClr val="folHlink"/>
              </a:buClr>
              <a:buFont typeface="Wingdings" panose="05000000000000000000" pitchFamily="2" charset="2"/>
              <a:buNone/>
            </a:pPr>
            <a:r>
              <a:rPr lang="zh-CN" altLang="en-US" sz="2400">
                <a:solidFill>
                  <a:srgbClr val="FF00FF"/>
                </a:solidFill>
                <a:latin typeface="楷体_GB2312" pitchFamily="49" charset="-122"/>
                <a:ea typeface="楷体_GB2312" pitchFamily="49" charset="-122"/>
              </a:rPr>
              <a:t>负极板上的活性物质由氧化镉、海绵镉、氢氧化镉和氧化铁粉组成，氧化铁粉的作用是使氧化镉粉有较高的扩散性，防止结块，并增加极板的容量。</a:t>
            </a:r>
            <a:endParaRPr lang="zh-CN" altLang="en-US" sz="2400">
              <a:solidFill>
                <a:srgbClr val="FF00FF"/>
              </a:solidFill>
              <a:latin typeface="楷体_GB2312" pitchFamily="49" charset="-122"/>
              <a:ea typeface="楷体_GB2312" pitchFamily="49" charset="-122"/>
            </a:endParaRPr>
          </a:p>
          <a:p>
            <a:pPr>
              <a:lnSpc>
                <a:spcPct val="150000"/>
              </a:lnSpc>
              <a:spcBef>
                <a:spcPct val="20000"/>
              </a:spcBef>
              <a:buClr>
                <a:schemeClr val="folHlink"/>
              </a:buClr>
              <a:buFont typeface="Wingdings" panose="05000000000000000000" pitchFamily="2" charset="2"/>
              <a:buNone/>
            </a:pPr>
            <a:r>
              <a:rPr lang="zh-CN" altLang="en-US" sz="2400">
                <a:solidFill>
                  <a:srgbClr val="0033CC"/>
                </a:solidFill>
                <a:latin typeface="楷体_GB2312" pitchFamily="49" charset="-122"/>
                <a:ea typeface="楷体_GB2312" pitchFamily="49" charset="-122"/>
              </a:rPr>
              <a:t>活性物质分别包在穿孔钢带中，加压成型后即成为电池的正负极板。极板间用耐碱的硬橡胶绝缘棍或有孔的聚氯乙烯瓦楞板隔开。电解液通常用氢氧化钾溶液。</a:t>
            </a:r>
            <a:endParaRPr lang="zh-CN" altLang="en-US" sz="2400">
              <a:solidFill>
                <a:srgbClr val="0033CC"/>
              </a:solidFill>
              <a:latin typeface="楷体_GB2312" pitchFamily="49" charset="-122"/>
              <a:ea typeface="楷体_GB2312" pitchFamily="49" charset="-122"/>
            </a:endParaRPr>
          </a:p>
        </p:txBody>
      </p:sp>
    </p:spTree>
  </p:cSld>
  <p:clrMapOvr>
    <a:masterClrMapping/>
  </p:clrMapOvr>
  <p:transition>
    <p:randomBar dir="ver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p:cNvSpPr>
            <a:spLocks noChangeArrowheads="1"/>
          </p:cNvSpPr>
          <p:nvPr/>
        </p:nvSpPr>
        <p:spPr bwMode="auto">
          <a:xfrm>
            <a:off x="457200" y="639763"/>
            <a:ext cx="14081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r>
              <a:rPr lang="zh-CN" altLang="en-US" sz="3200">
                <a:solidFill>
                  <a:srgbClr val="FF3300"/>
                </a:solidFill>
                <a:latin typeface="Arial" panose="020B0604020202020204" pitchFamily="34" charset="0"/>
              </a:rPr>
              <a:t>优点：</a:t>
            </a:r>
            <a:endParaRPr lang="zh-CN" altLang="en-US" sz="3200">
              <a:solidFill>
                <a:srgbClr val="FF3300"/>
              </a:solidFill>
              <a:latin typeface="Arial" panose="020B0604020202020204" pitchFamily="34" charset="0"/>
            </a:endParaRPr>
          </a:p>
        </p:txBody>
      </p:sp>
      <p:sp>
        <p:nvSpPr>
          <p:cNvPr id="47107" name="Text Box 4"/>
          <p:cNvSpPr txBox="1">
            <a:spLocks noChangeArrowheads="1"/>
          </p:cNvSpPr>
          <p:nvPr/>
        </p:nvSpPr>
        <p:spPr bwMode="auto">
          <a:xfrm>
            <a:off x="533400" y="1447800"/>
            <a:ext cx="8305800" cy="457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a:spcBef>
                <a:spcPct val="50000"/>
              </a:spcBef>
              <a:buFont typeface="Wingdings" panose="05000000000000000000" pitchFamily="2" charset="2"/>
              <a:buChar char="Ø"/>
            </a:pPr>
            <a:r>
              <a:rPr lang="zh-CN" altLang="en-US" sz="2800">
                <a:solidFill>
                  <a:schemeClr val="tx1"/>
                </a:solidFill>
                <a:ea typeface="楷体_GB2312" pitchFamily="49" charset="-122"/>
              </a:rPr>
              <a:t>循环寿命长，一般寿命为500</a:t>
            </a:r>
            <a:r>
              <a:rPr lang="zh-CN" altLang="en-US" sz="2800">
                <a:solidFill>
                  <a:schemeClr val="tx1"/>
                </a:solidFill>
                <a:ea typeface="楷体_GB2312" pitchFamily="49" charset="-122"/>
                <a:sym typeface="Symbol" panose="05050102010706020507" pitchFamily="18" charset="2"/>
              </a:rPr>
              <a:t>1000次，有的甚至达到2000次以上；</a:t>
            </a:r>
            <a:endParaRPr lang="zh-CN" altLang="en-US" sz="2800">
              <a:solidFill>
                <a:schemeClr val="tx1"/>
              </a:solidFill>
              <a:ea typeface="楷体_GB2312" pitchFamily="49" charset="-122"/>
              <a:sym typeface="Symbol" panose="05050102010706020507" pitchFamily="18" charset="2"/>
            </a:endParaRPr>
          </a:p>
          <a:p>
            <a:pPr>
              <a:spcBef>
                <a:spcPct val="50000"/>
              </a:spcBef>
              <a:buFont typeface="Wingdings" panose="05000000000000000000" pitchFamily="2" charset="2"/>
              <a:buChar char="Ø"/>
            </a:pPr>
            <a:r>
              <a:rPr lang="zh-CN" altLang="en-US" sz="2800">
                <a:solidFill>
                  <a:schemeClr val="tx1"/>
                </a:solidFill>
                <a:ea typeface="楷体_GB2312" pitchFamily="49" charset="-122"/>
                <a:sym typeface="Symbol" panose="05050102010706020507" pitchFamily="18" charset="2"/>
              </a:rPr>
              <a:t>自放电较小，镉的析氢过电位较高，在碱性溶液中不发生自溶解，因此自放电率较小；</a:t>
            </a:r>
            <a:endParaRPr lang="zh-CN" altLang="en-US" sz="2800">
              <a:solidFill>
                <a:schemeClr val="tx1"/>
              </a:solidFill>
              <a:ea typeface="楷体_GB2312" pitchFamily="49" charset="-122"/>
              <a:sym typeface="Symbol" panose="05050102010706020507" pitchFamily="18" charset="2"/>
            </a:endParaRPr>
          </a:p>
          <a:p>
            <a:pPr>
              <a:spcBef>
                <a:spcPct val="50000"/>
              </a:spcBef>
              <a:buFont typeface="Wingdings" panose="05000000000000000000" pitchFamily="2" charset="2"/>
              <a:buChar char="Ø"/>
            </a:pPr>
            <a:r>
              <a:rPr lang="zh-CN" altLang="en-US" sz="2800">
                <a:solidFill>
                  <a:schemeClr val="tx1"/>
                </a:solidFill>
                <a:ea typeface="楷体_GB2312" pitchFamily="49" charset="-122"/>
                <a:sym typeface="Symbol" panose="05050102010706020507" pitchFamily="18" charset="2"/>
              </a:rPr>
              <a:t>性能稳定，并可以大电流放电；</a:t>
            </a:r>
            <a:endParaRPr lang="zh-CN" altLang="en-US" sz="2800">
              <a:solidFill>
                <a:schemeClr val="tx1"/>
              </a:solidFill>
              <a:ea typeface="楷体_GB2312" pitchFamily="49" charset="-122"/>
              <a:sym typeface="Symbol" panose="05050102010706020507" pitchFamily="18" charset="2"/>
            </a:endParaRPr>
          </a:p>
          <a:p>
            <a:pPr>
              <a:spcBef>
                <a:spcPct val="50000"/>
              </a:spcBef>
              <a:buFont typeface="Wingdings" panose="05000000000000000000" pitchFamily="2" charset="2"/>
              <a:buChar char="Ø"/>
            </a:pPr>
            <a:r>
              <a:rPr lang="zh-CN" altLang="en-US" sz="2800">
                <a:solidFill>
                  <a:schemeClr val="tx1"/>
                </a:solidFill>
                <a:ea typeface="楷体_GB2312" pitchFamily="49" charset="-122"/>
                <a:sym typeface="Symbol" panose="05050102010706020507" pitchFamily="18" charset="2"/>
              </a:rPr>
              <a:t>使用温度范围宽，可在-40</a:t>
            </a:r>
            <a:r>
              <a:rPr lang="en-US" altLang="zh-CN" sz="2800">
                <a:solidFill>
                  <a:schemeClr val="tx1"/>
                </a:solidFill>
                <a:ea typeface="楷体_GB2312" pitchFamily="49" charset="-122"/>
                <a:sym typeface="Symbol" panose="05050102010706020507" pitchFamily="18" charset="2"/>
              </a:rPr>
              <a:t>C40 </a:t>
            </a:r>
            <a:r>
              <a:rPr lang="zh-CN" altLang="en-US" sz="2800">
                <a:solidFill>
                  <a:schemeClr val="tx1"/>
                </a:solidFill>
                <a:ea typeface="楷体_GB2312" pitchFamily="49" charset="-122"/>
                <a:sym typeface="Symbol" panose="05050102010706020507" pitchFamily="18" charset="2"/>
              </a:rPr>
              <a:t></a:t>
            </a:r>
            <a:r>
              <a:rPr lang="en-US" altLang="zh-CN" sz="2800">
                <a:solidFill>
                  <a:schemeClr val="tx1"/>
                </a:solidFill>
                <a:ea typeface="楷体_GB2312" pitchFamily="49" charset="-122"/>
                <a:sym typeface="Symbol" panose="05050102010706020507" pitchFamily="18" charset="2"/>
              </a:rPr>
              <a:t>C</a:t>
            </a:r>
            <a:r>
              <a:rPr lang="zh-CN" altLang="en-US" sz="2800">
                <a:solidFill>
                  <a:schemeClr val="tx1"/>
                </a:solidFill>
                <a:ea typeface="楷体_GB2312" pitchFamily="49" charset="-122"/>
                <a:sym typeface="Symbol" panose="05050102010706020507" pitchFamily="18" charset="2"/>
              </a:rPr>
              <a:t>范围内使用；</a:t>
            </a:r>
            <a:endParaRPr lang="zh-CN" altLang="en-US" sz="2800">
              <a:solidFill>
                <a:schemeClr val="tx1"/>
              </a:solidFill>
              <a:ea typeface="楷体_GB2312" pitchFamily="49" charset="-122"/>
              <a:sym typeface="Symbol" panose="05050102010706020507" pitchFamily="18" charset="2"/>
            </a:endParaRPr>
          </a:p>
          <a:p>
            <a:pPr>
              <a:spcBef>
                <a:spcPct val="50000"/>
              </a:spcBef>
              <a:buFont typeface="Wingdings" panose="05000000000000000000" pitchFamily="2" charset="2"/>
              <a:buChar char="Ø"/>
            </a:pPr>
            <a:r>
              <a:rPr lang="zh-CN" altLang="en-US" sz="2800">
                <a:solidFill>
                  <a:schemeClr val="tx1"/>
                </a:solidFill>
                <a:ea typeface="楷体_GB2312" pitchFamily="49" charset="-122"/>
                <a:sym typeface="Symbol" panose="05050102010706020507" pitchFamily="18" charset="2"/>
              </a:rPr>
              <a:t>良好的力学性能，牢固、耐冲击和振动；</a:t>
            </a:r>
            <a:endParaRPr lang="zh-CN" altLang="en-US" sz="2800">
              <a:solidFill>
                <a:schemeClr val="tx1"/>
              </a:solidFill>
              <a:ea typeface="楷体_GB2312" pitchFamily="49" charset="-122"/>
              <a:sym typeface="Symbol" panose="05050102010706020507" pitchFamily="18" charset="2"/>
            </a:endParaRPr>
          </a:p>
          <a:p>
            <a:pPr>
              <a:spcBef>
                <a:spcPct val="50000"/>
              </a:spcBef>
              <a:buFont typeface="Wingdings" panose="05000000000000000000" pitchFamily="2" charset="2"/>
              <a:buChar char="Ø"/>
            </a:pPr>
            <a:r>
              <a:rPr lang="zh-CN" altLang="en-US" sz="2800">
                <a:solidFill>
                  <a:schemeClr val="tx1"/>
                </a:solidFill>
                <a:ea typeface="楷体_GB2312" pitchFamily="49" charset="-122"/>
                <a:sym typeface="Symbol" panose="05050102010706020507" pitchFamily="18" charset="2"/>
              </a:rPr>
              <a:t>结构紧凑等。</a:t>
            </a:r>
            <a:endParaRPr lang="zh-CN" altLang="en-US" sz="2800">
              <a:solidFill>
                <a:schemeClr val="tx1"/>
              </a:solidFill>
              <a:ea typeface="楷体_GB2312" pitchFamily="49" charset="-122"/>
              <a:sym typeface="Symbol" panose="05050102010706020507" pitchFamily="18" charset="2"/>
            </a:endParaRPr>
          </a:p>
        </p:txBody>
      </p:sp>
    </p:spTree>
  </p:cSld>
  <p:clrMapOvr>
    <a:masterClrMapping/>
  </p:clrMapOvr>
  <p:transition>
    <p:randomBar dir="ver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ChangeArrowheads="1"/>
          </p:cNvSpPr>
          <p:nvPr/>
        </p:nvSpPr>
        <p:spPr bwMode="auto">
          <a:xfrm>
            <a:off x="457200" y="639763"/>
            <a:ext cx="14081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r>
              <a:rPr lang="zh-CN" altLang="en-US" sz="3200">
                <a:solidFill>
                  <a:srgbClr val="FF3300"/>
                </a:solidFill>
                <a:latin typeface="Arial" panose="020B0604020202020204" pitchFamily="34" charset="0"/>
              </a:rPr>
              <a:t>缺点：</a:t>
            </a:r>
            <a:endParaRPr lang="zh-CN" altLang="en-US" sz="3200">
              <a:solidFill>
                <a:srgbClr val="FF3300"/>
              </a:solidFill>
              <a:latin typeface="Arial" panose="020B0604020202020204" pitchFamily="34" charset="0"/>
            </a:endParaRPr>
          </a:p>
        </p:txBody>
      </p:sp>
      <p:sp>
        <p:nvSpPr>
          <p:cNvPr id="48131" name="Text Box 3"/>
          <p:cNvSpPr txBox="1">
            <a:spLocks noChangeArrowheads="1"/>
          </p:cNvSpPr>
          <p:nvPr/>
        </p:nvSpPr>
        <p:spPr bwMode="auto">
          <a:xfrm>
            <a:off x="533400" y="1447800"/>
            <a:ext cx="8305800" cy="569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a:spcBef>
                <a:spcPct val="50000"/>
              </a:spcBef>
              <a:buFont typeface="Wingdings" panose="05000000000000000000" pitchFamily="2" charset="2"/>
              <a:buChar char="Ø"/>
            </a:pPr>
            <a:r>
              <a:rPr lang="zh-CN" altLang="en-US" sz="2800">
                <a:solidFill>
                  <a:schemeClr val="tx1"/>
                </a:solidFill>
                <a:ea typeface="楷体_GB2312" pitchFamily="49" charset="-122"/>
                <a:sym typeface="+mn-ea"/>
              </a:rPr>
              <a:t>有“</a:t>
            </a:r>
            <a:r>
              <a:rPr lang="zh-CN" altLang="en-US" sz="2800">
                <a:solidFill>
                  <a:srgbClr val="FF3300"/>
                </a:solidFill>
                <a:ea typeface="楷体_GB2312" pitchFamily="49" charset="-122"/>
                <a:sym typeface="+mn-ea"/>
              </a:rPr>
              <a:t>记忆效应</a:t>
            </a:r>
            <a:r>
              <a:rPr lang="zh-CN" altLang="en-US" sz="2800">
                <a:solidFill>
                  <a:schemeClr val="tx1"/>
                </a:solidFill>
                <a:ea typeface="楷体_GB2312" pitchFamily="49" charset="-122"/>
                <a:sym typeface="+mn-ea"/>
              </a:rPr>
              <a:t>” ，使得服务寿命大大缩短。</a:t>
            </a:r>
            <a:endParaRPr lang="zh-CN" altLang="en-US" sz="2800">
              <a:solidFill>
                <a:schemeClr val="tx1"/>
              </a:solidFill>
              <a:ea typeface="楷体_GB2312" pitchFamily="49" charset="-122"/>
            </a:endParaRPr>
          </a:p>
          <a:p>
            <a:pPr>
              <a:spcBef>
                <a:spcPct val="50000"/>
              </a:spcBef>
              <a:buFont typeface="Wingdings" panose="05000000000000000000" pitchFamily="2" charset="2"/>
              <a:buChar char="Ø"/>
            </a:pPr>
            <a:r>
              <a:rPr lang="zh-CN" altLang="en-US" sz="2800">
                <a:solidFill>
                  <a:schemeClr val="tx1"/>
                </a:solidFill>
                <a:ea typeface="楷体_GB2312" pitchFamily="49" charset="-122"/>
              </a:rPr>
              <a:t>活性物质利用率低；</a:t>
            </a:r>
            <a:endParaRPr lang="zh-CN" altLang="en-US" sz="2800">
              <a:solidFill>
                <a:schemeClr val="tx1"/>
              </a:solidFill>
              <a:ea typeface="楷体_GB2312" pitchFamily="49" charset="-122"/>
            </a:endParaRPr>
          </a:p>
          <a:p>
            <a:pPr>
              <a:spcBef>
                <a:spcPct val="50000"/>
              </a:spcBef>
              <a:buFont typeface="Wingdings" panose="05000000000000000000" pitchFamily="2" charset="2"/>
              <a:buChar char="Ø"/>
            </a:pPr>
            <a:r>
              <a:rPr lang="zh-CN" altLang="en-US" sz="2800">
                <a:solidFill>
                  <a:schemeClr val="tx1"/>
                </a:solidFill>
                <a:ea typeface="楷体_GB2312" pitchFamily="49" charset="-122"/>
              </a:rPr>
              <a:t>电压低，开路电压为1.38 </a:t>
            </a:r>
            <a:r>
              <a:rPr lang="en-US" altLang="zh-CN" sz="2800">
                <a:solidFill>
                  <a:schemeClr val="tx1"/>
                </a:solidFill>
                <a:ea typeface="楷体_GB2312" pitchFamily="49" charset="-122"/>
              </a:rPr>
              <a:t>V，</a:t>
            </a:r>
            <a:r>
              <a:rPr lang="zh-CN" altLang="en-US" sz="2800">
                <a:solidFill>
                  <a:schemeClr val="tx1"/>
                </a:solidFill>
                <a:ea typeface="楷体_GB2312" pitchFamily="49" charset="-122"/>
              </a:rPr>
              <a:t>工作电压为1.25 </a:t>
            </a:r>
            <a:r>
              <a:rPr lang="en-US" altLang="zh-CN" sz="2800">
                <a:solidFill>
                  <a:schemeClr val="tx1"/>
                </a:solidFill>
                <a:ea typeface="楷体_GB2312" pitchFamily="49" charset="-122"/>
              </a:rPr>
              <a:t>V</a:t>
            </a:r>
            <a:r>
              <a:rPr lang="zh-CN" altLang="en-US" sz="2800">
                <a:solidFill>
                  <a:schemeClr val="tx1"/>
                </a:solidFill>
                <a:ea typeface="楷体_GB2312" pitchFamily="49" charset="-122"/>
              </a:rPr>
              <a:t>左右，充电到1.40</a:t>
            </a:r>
            <a:r>
              <a:rPr lang="zh-CN" altLang="en-US" sz="2800">
                <a:solidFill>
                  <a:schemeClr val="tx1"/>
                </a:solidFill>
                <a:ea typeface="楷体_GB2312" pitchFamily="49" charset="-122"/>
                <a:sym typeface="Symbol" panose="05050102010706020507" pitchFamily="18" charset="2"/>
              </a:rPr>
              <a:t>1.45 </a:t>
            </a:r>
            <a:r>
              <a:rPr lang="en-US" altLang="zh-CN" sz="2800">
                <a:solidFill>
                  <a:schemeClr val="tx1"/>
                </a:solidFill>
                <a:ea typeface="楷体_GB2312" pitchFamily="49" charset="-122"/>
                <a:sym typeface="Symbol" panose="05050102010706020507" pitchFamily="18" charset="2"/>
              </a:rPr>
              <a:t>V</a:t>
            </a:r>
            <a:r>
              <a:rPr lang="zh-CN" altLang="en-US" sz="2800">
                <a:solidFill>
                  <a:schemeClr val="tx1"/>
                </a:solidFill>
                <a:ea typeface="楷体_GB2312" pitchFamily="49" charset="-122"/>
                <a:sym typeface="Symbol" panose="05050102010706020507" pitchFamily="18" charset="2"/>
              </a:rPr>
              <a:t>截止。</a:t>
            </a:r>
            <a:endParaRPr lang="zh-CN" altLang="en-US" sz="2800">
              <a:solidFill>
                <a:schemeClr val="tx1"/>
              </a:solidFill>
              <a:ea typeface="楷体_GB2312" pitchFamily="49" charset="-122"/>
            </a:endParaRPr>
          </a:p>
          <a:p>
            <a:pPr>
              <a:spcBef>
                <a:spcPct val="50000"/>
              </a:spcBef>
              <a:buFont typeface="Wingdings" panose="05000000000000000000" pitchFamily="2" charset="2"/>
              <a:buChar char="Ø"/>
            </a:pPr>
            <a:r>
              <a:rPr lang="zh-CN" altLang="en-US" sz="2800">
                <a:solidFill>
                  <a:schemeClr val="tx1"/>
                </a:solidFill>
                <a:ea typeface="楷体_GB2312" pitchFamily="49" charset="-122"/>
              </a:rPr>
              <a:t>电流效率和能量效率低；</a:t>
            </a:r>
            <a:endParaRPr lang="zh-CN" altLang="en-US" sz="2800">
              <a:solidFill>
                <a:schemeClr val="tx1"/>
              </a:solidFill>
              <a:ea typeface="楷体_GB2312" pitchFamily="49" charset="-122"/>
            </a:endParaRPr>
          </a:p>
          <a:p>
            <a:pPr>
              <a:spcBef>
                <a:spcPct val="50000"/>
              </a:spcBef>
              <a:buFont typeface="Wingdings" panose="05000000000000000000" pitchFamily="2" charset="2"/>
              <a:buChar char="Ø"/>
            </a:pPr>
            <a:r>
              <a:rPr lang="zh-CN" altLang="en-US" sz="2800">
                <a:solidFill>
                  <a:schemeClr val="tx1"/>
                </a:solidFill>
                <a:ea typeface="楷体_GB2312" pitchFamily="49" charset="-122"/>
              </a:rPr>
              <a:t>价格较高；</a:t>
            </a:r>
            <a:endParaRPr lang="zh-CN" altLang="en-US" sz="2800">
              <a:solidFill>
                <a:schemeClr val="tx1"/>
              </a:solidFill>
              <a:ea typeface="楷体_GB2312" pitchFamily="49" charset="-122"/>
            </a:endParaRPr>
          </a:p>
          <a:p>
            <a:pPr>
              <a:spcBef>
                <a:spcPct val="50000"/>
              </a:spcBef>
              <a:buFont typeface="Wingdings" panose="05000000000000000000" pitchFamily="2" charset="2"/>
              <a:buChar char="Ø"/>
            </a:pPr>
            <a:r>
              <a:rPr lang="zh-CN" altLang="en-US" sz="2800">
                <a:solidFill>
                  <a:schemeClr val="tx1"/>
                </a:solidFill>
                <a:ea typeface="楷体_GB2312" pitchFamily="49" charset="-122"/>
              </a:rPr>
              <a:t>存在二次污染。</a:t>
            </a:r>
            <a:r>
              <a:rPr lang="zh-CN" altLang="en-US" sz="2800">
                <a:solidFill>
                  <a:schemeClr val="tx1"/>
                </a:solidFill>
                <a:ea typeface="楷体_GB2312" pitchFamily="49" charset="-122"/>
                <a:sym typeface="+mn-ea"/>
              </a:rPr>
              <a:t>镉是有毒的，镍镉电池不利于生态环境的保护。为此，镍镉电池已基本被淘汰出数码设备电池的应用范围。</a:t>
            </a:r>
            <a:endParaRPr lang="zh-CN" altLang="en-US" sz="2800">
              <a:solidFill>
                <a:schemeClr val="tx1"/>
              </a:solidFill>
              <a:ea typeface="楷体_GB2312" pitchFamily="49" charset="-122"/>
            </a:endParaRPr>
          </a:p>
          <a:p>
            <a:pPr>
              <a:spcBef>
                <a:spcPct val="50000"/>
              </a:spcBef>
              <a:buFont typeface="Wingdings" panose="05000000000000000000" pitchFamily="2" charset="2"/>
              <a:buChar char="Ø"/>
            </a:pPr>
            <a:endParaRPr lang="zh-CN" altLang="en-US" sz="2800">
              <a:solidFill>
                <a:schemeClr val="tx1"/>
              </a:solidFill>
              <a:ea typeface="楷体_GB2312" pitchFamily="49" charset="-122"/>
              <a:sym typeface="Symbol" panose="05050102010706020507" pitchFamily="18" charset="2"/>
            </a:endParaRPr>
          </a:p>
        </p:txBody>
      </p:sp>
    </p:spTree>
  </p:cSld>
  <p:clrMapOvr>
    <a:masterClrMapping/>
  </p:clrMapOvr>
  <p:transition>
    <p:randomBar dir="ver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Text Box 5"/>
          <p:cNvSpPr txBox="1">
            <a:spLocks noChangeArrowheads="1"/>
          </p:cNvSpPr>
          <p:nvPr/>
        </p:nvSpPr>
        <p:spPr bwMode="auto">
          <a:xfrm>
            <a:off x="827405" y="1412240"/>
            <a:ext cx="6693535" cy="3415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a:spcBef>
                <a:spcPct val="50000"/>
              </a:spcBef>
            </a:pPr>
            <a:r>
              <a:rPr lang="zh-CN" altLang="en-US" sz="2400">
                <a:solidFill>
                  <a:schemeClr val="tx1"/>
                </a:solidFill>
                <a:ea typeface="楷体_GB2312" pitchFamily="49" charset="-122"/>
              </a:rPr>
              <a:t>     所谓 “</a:t>
            </a:r>
            <a:r>
              <a:rPr lang="zh-CN" altLang="en-US" sz="2400">
                <a:solidFill>
                  <a:srgbClr val="FF3300"/>
                </a:solidFill>
                <a:ea typeface="楷体_GB2312" pitchFamily="49" charset="-122"/>
              </a:rPr>
              <a:t>记忆效应</a:t>
            </a:r>
            <a:r>
              <a:rPr lang="zh-CN" altLang="en-US" sz="2400">
                <a:solidFill>
                  <a:schemeClr val="tx1"/>
                </a:solidFill>
                <a:ea typeface="楷体_GB2312" pitchFamily="49" charset="-122"/>
              </a:rPr>
              <a:t>” ：就是电池在充电前，电池的电量没有被完全放尽，久而久之将会引起电池容量的降低。</a:t>
            </a:r>
            <a:endParaRPr lang="zh-CN" altLang="en-US" sz="2400">
              <a:solidFill>
                <a:schemeClr val="tx1"/>
              </a:solidFill>
              <a:ea typeface="楷体_GB2312" pitchFamily="49" charset="-122"/>
            </a:endParaRPr>
          </a:p>
          <a:p>
            <a:pPr>
              <a:spcBef>
                <a:spcPct val="50000"/>
              </a:spcBef>
            </a:pPr>
            <a:endParaRPr lang="zh-CN" altLang="en-US" sz="2400">
              <a:solidFill>
                <a:schemeClr val="tx1"/>
              </a:solidFill>
              <a:ea typeface="楷体_GB2312" pitchFamily="49" charset="-122"/>
            </a:endParaRPr>
          </a:p>
          <a:p>
            <a:pPr>
              <a:spcBef>
                <a:spcPct val="50000"/>
              </a:spcBef>
            </a:pPr>
            <a:r>
              <a:rPr lang="zh-CN" altLang="en-US" sz="2400">
                <a:solidFill>
                  <a:schemeClr val="tx1"/>
                </a:solidFill>
                <a:ea typeface="楷体_GB2312" pitchFamily="49" charset="-122"/>
              </a:rPr>
              <a:t>在电池充放电的过程中（放电较为明显），会在电池极板上产生些许的小气泡，日积月累这些气泡减少了电池极板的面积也间接影响了电池的容量。</a:t>
            </a:r>
            <a:endParaRPr lang="zh-CN" altLang="en-US" sz="2400">
              <a:solidFill>
                <a:schemeClr val="tx1"/>
              </a:solidFill>
              <a:ea typeface="楷体_GB2312" pitchFamily="49" charset="-122"/>
            </a:endParaRPr>
          </a:p>
        </p:txBody>
      </p:sp>
    </p:spTree>
  </p:cSld>
  <p:clrMapOvr>
    <a:masterClrMapping/>
  </p:clrMapOvr>
  <p:transition>
    <p:randomBar dir="ver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Rot="1" noChangeArrowheads="1"/>
          </p:cNvSpPr>
          <p:nvPr/>
        </p:nvSpPr>
        <p:spPr bwMode="auto">
          <a:xfrm>
            <a:off x="368300" y="203200"/>
            <a:ext cx="8540750" cy="11430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eaLnBrk="1" hangingPunct="1"/>
            <a:r>
              <a:rPr lang="en-US" altLang="zh-CN" sz="4000">
                <a:solidFill>
                  <a:schemeClr val="tx1"/>
                </a:solidFill>
              </a:rPr>
              <a:t>3.3.3 </a:t>
            </a:r>
            <a:r>
              <a:rPr lang="zh-CN" altLang="en-US" sz="4000">
                <a:solidFill>
                  <a:schemeClr val="tx1"/>
                </a:solidFill>
              </a:rPr>
              <a:t>镍氢电池</a:t>
            </a:r>
            <a:endParaRPr lang="zh-CN" altLang="en-US" sz="4000">
              <a:solidFill>
                <a:schemeClr val="tx1"/>
              </a:solidFill>
            </a:endParaRPr>
          </a:p>
        </p:txBody>
      </p:sp>
      <p:pic>
        <p:nvPicPr>
          <p:cNvPr id="50179" name="Picture 7" descr="File:Four AA batteries.jpg">
            <a:hlinkClick r:id="rId1"/>
          </p:cNvPr>
          <p:cNvPicPr>
            <a:picLocks noChangeAspect="1" noChangeArrowheads="1"/>
          </p:cNvPicPr>
          <p:nvPr/>
        </p:nvPicPr>
        <p:blipFill>
          <a:blip r:embed="rId2">
            <a:extLst>
              <a:ext uri="{28A0092B-C50C-407E-A947-70E740481C1C}">
                <a14:useLocalDpi xmlns:a14="http://schemas.microsoft.com/office/drawing/2010/main" val="0"/>
              </a:ext>
            </a:extLst>
          </a:blip>
          <a:srcRect l="20206" t="10913" r="13666" b="13359"/>
          <a:stretch>
            <a:fillRect/>
          </a:stretch>
        </p:blipFill>
        <p:spPr bwMode="auto">
          <a:xfrm>
            <a:off x="3429000" y="4038600"/>
            <a:ext cx="2971800" cy="257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0" name="Text Box 8"/>
          <p:cNvSpPr txBox="1">
            <a:spLocks noChangeArrowheads="1"/>
          </p:cNvSpPr>
          <p:nvPr/>
        </p:nvSpPr>
        <p:spPr bwMode="auto">
          <a:xfrm>
            <a:off x="317500" y="1231900"/>
            <a:ext cx="8458200" cy="329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a:lnSpc>
                <a:spcPct val="150000"/>
              </a:lnSpc>
              <a:spcBef>
                <a:spcPct val="20000"/>
              </a:spcBef>
              <a:buClr>
                <a:schemeClr val="folHlink"/>
              </a:buClr>
              <a:buFont typeface="Wingdings" panose="05000000000000000000" pitchFamily="2" charset="2"/>
              <a:buNone/>
            </a:pPr>
            <a:r>
              <a:rPr lang="zh-CN" altLang="en-US" sz="2800">
                <a:solidFill>
                  <a:schemeClr val="tx1"/>
                </a:solidFill>
                <a:ea typeface="楷体_GB2312" pitchFamily="49" charset="-122"/>
              </a:rPr>
              <a:t>金属氢化物／镍电池</a:t>
            </a:r>
            <a:r>
              <a:rPr lang="en-US" altLang="zh-CN" sz="2800">
                <a:solidFill>
                  <a:schemeClr val="tx1"/>
                </a:solidFill>
                <a:ea typeface="楷体_GB2312" pitchFamily="49" charset="-122"/>
              </a:rPr>
              <a:t>(</a:t>
            </a:r>
            <a:r>
              <a:rPr lang="zh-CN" altLang="en-US" sz="2800">
                <a:solidFill>
                  <a:schemeClr val="tx1"/>
                </a:solidFill>
                <a:ea typeface="楷体_GB2312" pitchFamily="49" charset="-122"/>
              </a:rPr>
              <a:t>简称</a:t>
            </a:r>
            <a:r>
              <a:rPr lang="en-US" altLang="zh-CN" sz="2800">
                <a:solidFill>
                  <a:schemeClr val="tx1"/>
                </a:solidFill>
                <a:ea typeface="楷体_GB2312" pitchFamily="49" charset="-122"/>
              </a:rPr>
              <a:t>MH</a:t>
            </a:r>
            <a:r>
              <a:rPr lang="zh-CN" altLang="en-US" sz="2800">
                <a:solidFill>
                  <a:schemeClr val="tx1"/>
                </a:solidFill>
                <a:ea typeface="楷体_GB2312" pitchFamily="49" charset="-122"/>
              </a:rPr>
              <a:t>／</a:t>
            </a:r>
            <a:r>
              <a:rPr lang="en-US" altLang="zh-CN" sz="2800">
                <a:solidFill>
                  <a:schemeClr val="tx1"/>
                </a:solidFill>
                <a:ea typeface="楷体_GB2312" pitchFamily="49" charset="-122"/>
              </a:rPr>
              <a:t>Ni</a:t>
            </a:r>
            <a:r>
              <a:rPr lang="zh-CN" altLang="en-US" sz="2800">
                <a:solidFill>
                  <a:schemeClr val="tx1"/>
                </a:solidFill>
                <a:ea typeface="楷体_GB2312" pitchFamily="49" charset="-122"/>
              </a:rPr>
              <a:t>电池</a:t>
            </a:r>
            <a:r>
              <a:rPr lang="en-US" altLang="zh-CN" sz="2800">
                <a:solidFill>
                  <a:schemeClr val="tx1"/>
                </a:solidFill>
                <a:ea typeface="楷体_GB2312" pitchFamily="49" charset="-122"/>
              </a:rPr>
              <a:t>)</a:t>
            </a:r>
            <a:r>
              <a:rPr lang="zh-CN" altLang="en-US" sz="2800">
                <a:solidFill>
                  <a:schemeClr val="tx1"/>
                </a:solidFill>
                <a:ea typeface="楷体_GB2312" pitchFamily="49" charset="-122"/>
              </a:rPr>
              <a:t>系二十世纪八十年代末快速发展起来的高新技术产品，是一种很有发展潜力的化学电源系列。镍氢电池（</a:t>
            </a:r>
            <a:r>
              <a:rPr lang="en-US" altLang="zh-CN" sz="2800">
                <a:solidFill>
                  <a:schemeClr val="tx1"/>
                </a:solidFill>
                <a:ea typeface="楷体_GB2312" pitchFamily="49" charset="-122"/>
              </a:rPr>
              <a:t>Ni/MH</a:t>
            </a:r>
            <a:r>
              <a:rPr lang="zh-CN" altLang="en-US" sz="2800">
                <a:solidFill>
                  <a:schemeClr val="tx1"/>
                </a:solidFill>
                <a:ea typeface="楷体_GB2312" pitchFamily="49" charset="-122"/>
              </a:rPr>
              <a:t>）是由镍镉电池（</a:t>
            </a:r>
            <a:r>
              <a:rPr lang="en-US" altLang="zh-CN" sz="2800">
                <a:solidFill>
                  <a:schemeClr val="tx1"/>
                </a:solidFill>
                <a:ea typeface="楷体_GB2312" pitchFamily="49" charset="-122"/>
              </a:rPr>
              <a:t>Ni/Cd battery</a:t>
            </a:r>
            <a:r>
              <a:rPr lang="zh-CN" altLang="en-US" sz="2800">
                <a:solidFill>
                  <a:schemeClr val="tx1"/>
                </a:solidFill>
                <a:ea typeface="楷体_GB2312" pitchFamily="49" charset="-122"/>
              </a:rPr>
              <a:t>）改良而来的，其以储氢金属代替镉。</a:t>
            </a:r>
            <a:endParaRPr lang="zh-CN" altLang="en-US" sz="2800"/>
          </a:p>
        </p:txBody>
      </p:sp>
    </p:spTree>
  </p:cSld>
  <p:clrMapOvr>
    <a:masterClrMapping/>
  </p:clrMapOvr>
  <p:transition>
    <p:randomBar dir="ver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5"/>
          <p:cNvSpPr>
            <a:spLocks noChangeArrowheads="1"/>
          </p:cNvSpPr>
          <p:nvPr/>
        </p:nvSpPr>
        <p:spPr bwMode="auto">
          <a:xfrm>
            <a:off x="1995488" y="19002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endParaRPr lang="zh-CN" altLang="en-US"/>
          </a:p>
        </p:txBody>
      </p:sp>
      <p:graphicFrame>
        <p:nvGraphicFramePr>
          <p:cNvPr id="9218" name="Object 4"/>
          <p:cNvGraphicFramePr>
            <a:graphicFrameLocks noChangeAspect="1"/>
          </p:cNvGraphicFramePr>
          <p:nvPr/>
        </p:nvGraphicFramePr>
        <p:xfrm>
          <a:off x="304800" y="1143000"/>
          <a:ext cx="8458200" cy="5018088"/>
        </p:xfrm>
        <a:graphic>
          <a:graphicData uri="http://schemas.openxmlformats.org/presentationml/2006/ole">
            <mc:AlternateContent xmlns:mc="http://schemas.openxmlformats.org/markup-compatibility/2006">
              <mc:Choice xmlns:v="urn:schemas-microsoft-com:vml" Requires="v">
                <p:oleObj spid="_x0000_s9224" name="" r:id="rId1" imgW="6562725" imgH="3810000" progId="Paint.Picture">
                  <p:embed/>
                </p:oleObj>
              </mc:Choice>
              <mc:Fallback>
                <p:oleObj name="" r:id="rId1" imgW="6562725" imgH="3810000" progId="Paint.Picture">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l="2170"/>
                      <a:stretch>
                        <a:fillRect/>
                      </a:stretch>
                    </p:blipFill>
                    <p:spPr bwMode="auto">
                      <a:xfrm>
                        <a:off x="304800" y="1143000"/>
                        <a:ext cx="8458200" cy="5018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20" name="Text Box 6"/>
          <p:cNvSpPr txBox="1">
            <a:spLocks noChangeArrowheads="1"/>
          </p:cNvSpPr>
          <p:nvPr/>
        </p:nvSpPr>
        <p:spPr bwMode="auto">
          <a:xfrm>
            <a:off x="123825" y="173038"/>
            <a:ext cx="1828800"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a:lnSpc>
                <a:spcPct val="150000"/>
              </a:lnSpc>
              <a:spcBef>
                <a:spcPct val="20000"/>
              </a:spcBef>
              <a:buClr>
                <a:schemeClr val="folHlink"/>
              </a:buClr>
              <a:buFont typeface="Wingdings" panose="05000000000000000000" pitchFamily="2" charset="2"/>
              <a:buNone/>
            </a:pPr>
            <a:r>
              <a:rPr lang="zh-CN" altLang="en-US" sz="3200">
                <a:solidFill>
                  <a:srgbClr val="FF3300"/>
                </a:solidFill>
                <a:latin typeface="Arial" panose="020B0604020202020204" pitchFamily="34" charset="0"/>
              </a:rPr>
              <a:t>电池原理</a:t>
            </a:r>
            <a:endParaRPr lang="zh-CN" altLang="en-US"/>
          </a:p>
        </p:txBody>
      </p:sp>
    </p:spTree>
  </p:cSld>
  <p:clrMapOvr>
    <a:masterClrMapping/>
  </p:clrMapOvr>
  <p:transition>
    <p:randomBar dir="ver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4"/>
          <p:cNvSpPr>
            <a:spLocks noChangeArrowheads="1"/>
          </p:cNvSpPr>
          <p:nvPr/>
        </p:nvSpPr>
        <p:spPr bwMode="auto">
          <a:xfrm>
            <a:off x="381000" y="304800"/>
            <a:ext cx="14081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r>
              <a:rPr lang="zh-CN" altLang="en-US" sz="3200">
                <a:solidFill>
                  <a:srgbClr val="FF3300"/>
                </a:solidFill>
                <a:latin typeface="Arial" panose="020B0604020202020204" pitchFamily="34" charset="0"/>
              </a:rPr>
              <a:t>特点：</a:t>
            </a:r>
            <a:endParaRPr lang="zh-CN" altLang="en-US" sz="3200">
              <a:solidFill>
                <a:srgbClr val="FF3300"/>
              </a:solidFill>
              <a:latin typeface="Arial" panose="020B0604020202020204" pitchFamily="34" charset="0"/>
            </a:endParaRPr>
          </a:p>
        </p:txBody>
      </p:sp>
      <p:sp>
        <p:nvSpPr>
          <p:cNvPr id="51203" name="Text Box 5"/>
          <p:cNvSpPr txBox="1">
            <a:spLocks noChangeArrowheads="1"/>
          </p:cNvSpPr>
          <p:nvPr/>
        </p:nvSpPr>
        <p:spPr bwMode="auto">
          <a:xfrm>
            <a:off x="457200" y="1066800"/>
            <a:ext cx="8458200" cy="466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a:lnSpc>
                <a:spcPct val="150000"/>
              </a:lnSpc>
              <a:spcBef>
                <a:spcPct val="20000"/>
              </a:spcBef>
              <a:buClr>
                <a:schemeClr val="folHlink"/>
              </a:buClr>
              <a:buFont typeface="Wingdings" panose="05000000000000000000" pitchFamily="2" charset="2"/>
              <a:buNone/>
            </a:pPr>
            <a:r>
              <a:rPr lang="zh-CN" altLang="en-US" sz="2800">
                <a:solidFill>
                  <a:schemeClr val="tx1"/>
                </a:solidFill>
                <a:ea typeface="楷体_GB2312" pitchFamily="49" charset="-122"/>
              </a:rPr>
              <a:t>1、以相同的价格提供比镍镉电池更高的电容量、比较不明显的记忆效应、以及比较低的环境污染</a:t>
            </a:r>
            <a:r>
              <a:rPr lang="en-US" altLang="zh-CN" sz="2800">
                <a:solidFill>
                  <a:schemeClr val="tx1"/>
                </a:solidFill>
                <a:ea typeface="楷体_GB2312" pitchFamily="49" charset="-122"/>
              </a:rPr>
              <a:t>(</a:t>
            </a:r>
            <a:r>
              <a:rPr lang="zh-CN" altLang="en-US" sz="2800">
                <a:solidFill>
                  <a:schemeClr val="tx1"/>
                </a:solidFill>
                <a:ea typeface="楷体_GB2312" pitchFamily="49" charset="-122"/>
              </a:rPr>
              <a:t>不含有毒的镉</a:t>
            </a:r>
            <a:r>
              <a:rPr lang="en-US" altLang="zh-CN" sz="2800">
                <a:solidFill>
                  <a:schemeClr val="tx1"/>
                </a:solidFill>
                <a:ea typeface="楷体_GB2312" pitchFamily="49" charset="-122"/>
              </a:rPr>
              <a:t>)</a:t>
            </a:r>
            <a:r>
              <a:rPr lang="zh-CN" altLang="en-US" sz="2800">
                <a:solidFill>
                  <a:schemeClr val="tx1"/>
                </a:solidFill>
                <a:ea typeface="楷体_GB2312" pitchFamily="49" charset="-122"/>
              </a:rPr>
              <a:t>。它被称为是最环保的电池。</a:t>
            </a:r>
            <a:endParaRPr lang="zh-CN" altLang="en-US" sz="2800">
              <a:solidFill>
                <a:schemeClr val="tx1"/>
              </a:solidFill>
              <a:ea typeface="楷体_GB2312" pitchFamily="49" charset="-122"/>
            </a:endParaRPr>
          </a:p>
          <a:p>
            <a:pPr>
              <a:lnSpc>
                <a:spcPct val="150000"/>
              </a:lnSpc>
              <a:spcBef>
                <a:spcPct val="20000"/>
              </a:spcBef>
              <a:buClr>
                <a:schemeClr val="folHlink"/>
              </a:buClr>
              <a:buFont typeface="Wingdings" panose="05000000000000000000" pitchFamily="2" charset="2"/>
              <a:buNone/>
            </a:pPr>
            <a:r>
              <a:rPr lang="zh-CN" altLang="en-US" sz="2800">
                <a:solidFill>
                  <a:schemeClr val="tx1"/>
                </a:solidFill>
                <a:ea typeface="楷体_GB2312" pitchFamily="49" charset="-122"/>
              </a:rPr>
              <a:t>2、电压等性能和镉镍电池相近，可以与镉镍电池互换。</a:t>
            </a:r>
            <a:r>
              <a:rPr lang="en-US" altLang="zh-CN" sz="2800">
                <a:solidFill>
                  <a:schemeClr val="tx1"/>
                </a:solidFill>
                <a:ea typeface="楷体_GB2312" pitchFamily="49" charset="-122"/>
              </a:rPr>
              <a:t>MH/Ni</a:t>
            </a:r>
            <a:r>
              <a:rPr lang="zh-CN" altLang="en-US" sz="2800">
                <a:solidFill>
                  <a:schemeClr val="tx1"/>
                </a:solidFill>
                <a:ea typeface="楷体_GB2312" pitchFamily="49" charset="-122"/>
              </a:rPr>
              <a:t>电池作为一种绿色能源，由于具有高比能量、能快速充放电、无污染等特性，正吸引着越来越多的目光。</a:t>
            </a:r>
            <a:endParaRPr lang="zh-CN" altLang="en-US" sz="2800">
              <a:solidFill>
                <a:schemeClr val="tx1"/>
              </a:solidFill>
              <a:ea typeface="楷体_GB2312" pitchFamily="49" charset="-122"/>
            </a:endParaRPr>
          </a:p>
        </p:txBody>
      </p:sp>
    </p:spTree>
  </p:cSld>
  <p:clrMapOvr>
    <a:masterClrMapping/>
  </p:clrMapOvr>
  <p:transition>
    <p:randomBar dir="ver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ChangeArrowheads="1"/>
          </p:cNvSpPr>
          <p:nvPr/>
        </p:nvSpPr>
        <p:spPr bwMode="auto">
          <a:xfrm>
            <a:off x="457200" y="533400"/>
            <a:ext cx="73898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r>
              <a:rPr lang="zh-CN" altLang="en-US" sz="3200">
                <a:solidFill>
                  <a:srgbClr val="FF3300"/>
                </a:solidFill>
                <a:latin typeface="Arial" panose="020B0604020202020204" pitchFamily="34" charset="0"/>
              </a:rPr>
              <a:t>低压镍-氢电池与镉-镍电池相比的优点：</a:t>
            </a:r>
            <a:endParaRPr lang="zh-CN" altLang="en-US" sz="3200">
              <a:solidFill>
                <a:srgbClr val="FF3300"/>
              </a:solidFill>
              <a:latin typeface="Arial" panose="020B0604020202020204" pitchFamily="34" charset="0"/>
            </a:endParaRPr>
          </a:p>
        </p:txBody>
      </p:sp>
      <p:sp>
        <p:nvSpPr>
          <p:cNvPr id="52227" name="Text Box 3"/>
          <p:cNvSpPr txBox="1">
            <a:spLocks noChangeArrowheads="1"/>
          </p:cNvSpPr>
          <p:nvPr/>
        </p:nvSpPr>
        <p:spPr bwMode="auto">
          <a:xfrm>
            <a:off x="457200" y="1371600"/>
            <a:ext cx="8305800" cy="5008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a:spcBef>
                <a:spcPct val="50000"/>
              </a:spcBef>
              <a:buFont typeface="Wingdings" panose="05000000000000000000" pitchFamily="2" charset="2"/>
              <a:buChar char="Ø"/>
            </a:pPr>
            <a:r>
              <a:rPr lang="zh-CN" altLang="en-US" sz="2800">
                <a:solidFill>
                  <a:schemeClr val="tx1"/>
                </a:solidFill>
                <a:ea typeface="楷体_GB2312" pitchFamily="49" charset="-122"/>
              </a:rPr>
              <a:t>能量密度高，是镉-镍电池的1.5</a:t>
            </a:r>
            <a:r>
              <a:rPr lang="zh-CN" altLang="en-US" sz="2800">
                <a:solidFill>
                  <a:schemeClr val="tx1"/>
                </a:solidFill>
                <a:ea typeface="楷体_GB2312" pitchFamily="49" charset="-122"/>
                <a:sym typeface="Symbol" panose="05050102010706020507" pitchFamily="18" charset="2"/>
              </a:rPr>
              <a:t>2.0倍；</a:t>
            </a:r>
            <a:endParaRPr lang="zh-CN" altLang="en-US" sz="2800">
              <a:solidFill>
                <a:schemeClr val="tx1"/>
              </a:solidFill>
              <a:ea typeface="楷体_GB2312" pitchFamily="49" charset="-122"/>
              <a:sym typeface="Symbol" panose="05050102010706020507" pitchFamily="18" charset="2"/>
            </a:endParaRPr>
          </a:p>
          <a:p>
            <a:pPr>
              <a:spcBef>
                <a:spcPct val="50000"/>
              </a:spcBef>
              <a:buFont typeface="Wingdings" panose="05000000000000000000" pitchFamily="2" charset="2"/>
              <a:buChar char="Ø"/>
            </a:pPr>
            <a:r>
              <a:rPr lang="zh-CN" altLang="en-US" sz="2800">
                <a:solidFill>
                  <a:schemeClr val="tx1"/>
                </a:solidFill>
                <a:ea typeface="楷体_GB2312" pitchFamily="49" charset="-122"/>
                <a:sym typeface="Symbol" panose="05050102010706020507" pitchFamily="18" charset="2"/>
              </a:rPr>
              <a:t>电池电压为</a:t>
            </a:r>
            <a:r>
              <a:rPr lang="zh-CN" altLang="en-US" sz="2800">
                <a:solidFill>
                  <a:schemeClr val="tx1"/>
                </a:solidFill>
                <a:ea typeface="楷体_GB2312" pitchFamily="49" charset="-122"/>
              </a:rPr>
              <a:t>1.2</a:t>
            </a:r>
            <a:r>
              <a:rPr lang="zh-CN" altLang="en-US" sz="2800">
                <a:solidFill>
                  <a:schemeClr val="tx1"/>
                </a:solidFill>
                <a:ea typeface="楷体_GB2312" pitchFamily="49" charset="-122"/>
                <a:sym typeface="Symbol" panose="05050102010706020507" pitchFamily="18" charset="2"/>
              </a:rPr>
              <a:t>1.3 </a:t>
            </a:r>
            <a:r>
              <a:rPr lang="en-US" altLang="zh-CN" sz="2800">
                <a:solidFill>
                  <a:schemeClr val="tx1"/>
                </a:solidFill>
                <a:ea typeface="楷体_GB2312" pitchFamily="49" charset="-122"/>
                <a:sym typeface="Symbol" panose="05050102010706020507" pitchFamily="18" charset="2"/>
              </a:rPr>
              <a:t>V，</a:t>
            </a:r>
            <a:r>
              <a:rPr lang="zh-CN" altLang="en-US" sz="2800">
                <a:solidFill>
                  <a:schemeClr val="tx1"/>
                </a:solidFill>
                <a:ea typeface="楷体_GB2312" pitchFamily="49" charset="-122"/>
                <a:sym typeface="Symbol" panose="05050102010706020507" pitchFamily="18" charset="2"/>
              </a:rPr>
              <a:t>与</a:t>
            </a:r>
            <a:r>
              <a:rPr lang="zh-CN" altLang="en-US" sz="2800">
                <a:solidFill>
                  <a:schemeClr val="tx1"/>
                </a:solidFill>
                <a:ea typeface="楷体_GB2312" pitchFamily="49" charset="-122"/>
              </a:rPr>
              <a:t>镉-镍电池相当；</a:t>
            </a:r>
            <a:endParaRPr lang="zh-CN" altLang="en-US" sz="2800">
              <a:solidFill>
                <a:schemeClr val="tx1"/>
              </a:solidFill>
              <a:ea typeface="楷体_GB2312" pitchFamily="49" charset="-122"/>
              <a:sym typeface="Symbol" panose="05050102010706020507" pitchFamily="18" charset="2"/>
            </a:endParaRPr>
          </a:p>
          <a:p>
            <a:pPr>
              <a:spcBef>
                <a:spcPct val="50000"/>
              </a:spcBef>
              <a:buFont typeface="Wingdings" panose="05000000000000000000" pitchFamily="2" charset="2"/>
              <a:buChar char="Ø"/>
            </a:pPr>
            <a:r>
              <a:rPr lang="zh-CN" altLang="en-US" sz="2800">
                <a:solidFill>
                  <a:schemeClr val="tx1"/>
                </a:solidFill>
                <a:ea typeface="楷体_GB2312" pitchFamily="49" charset="-122"/>
                <a:sym typeface="Symbol" panose="05050102010706020507" pitchFamily="18" charset="2"/>
              </a:rPr>
              <a:t>可以快速充放电；</a:t>
            </a:r>
            <a:endParaRPr lang="zh-CN" altLang="en-US" sz="2800">
              <a:solidFill>
                <a:schemeClr val="tx1"/>
              </a:solidFill>
              <a:ea typeface="楷体_GB2312" pitchFamily="49" charset="-122"/>
              <a:sym typeface="Symbol" panose="05050102010706020507" pitchFamily="18" charset="2"/>
            </a:endParaRPr>
          </a:p>
          <a:p>
            <a:pPr>
              <a:spcBef>
                <a:spcPct val="50000"/>
              </a:spcBef>
              <a:buFont typeface="Wingdings" panose="05000000000000000000" pitchFamily="2" charset="2"/>
              <a:buChar char="Ø"/>
            </a:pPr>
            <a:r>
              <a:rPr lang="zh-CN" altLang="en-US" sz="2800">
                <a:solidFill>
                  <a:schemeClr val="tx1"/>
                </a:solidFill>
                <a:ea typeface="楷体_GB2312" pitchFamily="49" charset="-122"/>
                <a:sym typeface="Symbol" panose="05050102010706020507" pitchFamily="18" charset="2"/>
              </a:rPr>
              <a:t>低温特性较好；</a:t>
            </a:r>
            <a:endParaRPr lang="zh-CN" altLang="en-US" sz="2800">
              <a:solidFill>
                <a:schemeClr val="tx1"/>
              </a:solidFill>
              <a:ea typeface="楷体_GB2312" pitchFamily="49" charset="-122"/>
              <a:sym typeface="Symbol" panose="05050102010706020507" pitchFamily="18" charset="2"/>
            </a:endParaRPr>
          </a:p>
          <a:p>
            <a:pPr>
              <a:spcBef>
                <a:spcPct val="50000"/>
              </a:spcBef>
              <a:buFont typeface="Wingdings" panose="05000000000000000000" pitchFamily="2" charset="2"/>
              <a:buChar char="Ø"/>
            </a:pPr>
            <a:r>
              <a:rPr lang="zh-CN" altLang="en-US" sz="2800">
                <a:solidFill>
                  <a:schemeClr val="tx1"/>
                </a:solidFill>
                <a:ea typeface="楷体_GB2312" pitchFamily="49" charset="-122"/>
                <a:sym typeface="Symbol" panose="05050102010706020507" pitchFamily="18" charset="2"/>
              </a:rPr>
              <a:t>可密封，耐过充放电性能好；</a:t>
            </a:r>
            <a:endParaRPr lang="zh-CN" altLang="en-US" sz="2800">
              <a:solidFill>
                <a:schemeClr val="tx1"/>
              </a:solidFill>
              <a:ea typeface="楷体_GB2312" pitchFamily="49" charset="-122"/>
              <a:sym typeface="Symbol" panose="05050102010706020507" pitchFamily="18" charset="2"/>
            </a:endParaRPr>
          </a:p>
          <a:p>
            <a:pPr>
              <a:spcBef>
                <a:spcPct val="50000"/>
              </a:spcBef>
              <a:buFont typeface="Wingdings" panose="05000000000000000000" pitchFamily="2" charset="2"/>
              <a:buChar char="Ø"/>
            </a:pPr>
            <a:r>
              <a:rPr lang="zh-CN" altLang="en-US" sz="2800">
                <a:solidFill>
                  <a:schemeClr val="tx1"/>
                </a:solidFill>
                <a:ea typeface="楷体_GB2312" pitchFamily="49" charset="-122"/>
                <a:sym typeface="Symbol" panose="05050102010706020507" pitchFamily="18" charset="2"/>
              </a:rPr>
              <a:t>无毒和无环境污染，是“绿色环保电池”；</a:t>
            </a:r>
            <a:endParaRPr lang="zh-CN" altLang="en-US" sz="2800">
              <a:solidFill>
                <a:schemeClr val="tx1"/>
              </a:solidFill>
              <a:ea typeface="楷体_GB2312" pitchFamily="49" charset="-122"/>
              <a:sym typeface="Symbol" panose="05050102010706020507" pitchFamily="18" charset="2"/>
            </a:endParaRPr>
          </a:p>
          <a:p>
            <a:pPr>
              <a:spcBef>
                <a:spcPct val="50000"/>
              </a:spcBef>
              <a:buFont typeface="Wingdings" panose="05000000000000000000" pitchFamily="2" charset="2"/>
              <a:buChar char="Ø"/>
            </a:pPr>
            <a:r>
              <a:rPr lang="zh-CN" altLang="en-US" sz="2800">
                <a:solidFill>
                  <a:schemeClr val="tx1"/>
                </a:solidFill>
                <a:ea typeface="楷体_GB2312" pitchFamily="49" charset="-122"/>
                <a:sym typeface="Symbol" panose="05050102010706020507" pitchFamily="18" charset="2"/>
              </a:rPr>
              <a:t>不使用贵金属催化剂；</a:t>
            </a:r>
            <a:endParaRPr lang="zh-CN" altLang="en-US" sz="2800">
              <a:solidFill>
                <a:schemeClr val="tx1"/>
              </a:solidFill>
              <a:ea typeface="楷体_GB2312" pitchFamily="49" charset="-122"/>
              <a:sym typeface="Symbol" panose="05050102010706020507" pitchFamily="18" charset="2"/>
            </a:endParaRPr>
          </a:p>
          <a:p>
            <a:pPr>
              <a:spcBef>
                <a:spcPct val="50000"/>
              </a:spcBef>
              <a:buFont typeface="Wingdings" panose="05000000000000000000" pitchFamily="2" charset="2"/>
              <a:buChar char="Ø"/>
            </a:pPr>
            <a:r>
              <a:rPr lang="zh-CN" altLang="en-US" sz="2800">
                <a:solidFill>
                  <a:schemeClr val="tx1"/>
                </a:solidFill>
                <a:ea typeface="楷体_GB2312" pitchFamily="49" charset="-122"/>
                <a:sym typeface="Symbol" panose="05050102010706020507" pitchFamily="18" charset="2"/>
              </a:rPr>
              <a:t>记忆效应不显著。</a:t>
            </a:r>
            <a:endParaRPr lang="zh-CN" altLang="en-US" sz="2800">
              <a:solidFill>
                <a:schemeClr val="tx1"/>
              </a:solidFill>
              <a:ea typeface="楷体_GB2312" pitchFamily="49" charset="-122"/>
              <a:sym typeface="Symbol" panose="05050102010706020507" pitchFamily="18" charset="2"/>
            </a:endParaRPr>
          </a:p>
        </p:txBody>
      </p:sp>
    </p:spTree>
  </p:cSld>
  <p:clrMapOvr>
    <a:masterClrMapping/>
  </p:clrMapOvr>
  <p:transition>
    <p:randomBar dir="ver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4"/>
          <p:cNvSpPr>
            <a:spLocks noChangeArrowheads="1"/>
          </p:cNvSpPr>
          <p:nvPr/>
        </p:nvSpPr>
        <p:spPr bwMode="auto">
          <a:xfrm>
            <a:off x="457200" y="533400"/>
            <a:ext cx="76628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r>
              <a:rPr lang="zh-CN" altLang="en-US" sz="3200">
                <a:solidFill>
                  <a:srgbClr val="FF3300"/>
                </a:solidFill>
                <a:latin typeface="Arial" panose="020B0604020202020204" pitchFamily="34" charset="0"/>
              </a:rPr>
              <a:t>低压镍-氢电池与锂离子电池相比的不足：</a:t>
            </a:r>
            <a:endParaRPr lang="zh-CN" altLang="en-US" sz="3200">
              <a:solidFill>
                <a:srgbClr val="FF3300"/>
              </a:solidFill>
              <a:latin typeface="Arial" panose="020B0604020202020204" pitchFamily="34" charset="0"/>
            </a:endParaRPr>
          </a:p>
        </p:txBody>
      </p:sp>
      <p:sp>
        <p:nvSpPr>
          <p:cNvPr id="53251" name="Text Box 7"/>
          <p:cNvSpPr txBox="1">
            <a:spLocks noChangeArrowheads="1"/>
          </p:cNvSpPr>
          <p:nvPr/>
        </p:nvSpPr>
        <p:spPr bwMode="auto">
          <a:xfrm>
            <a:off x="533400" y="1447800"/>
            <a:ext cx="7772400" cy="116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a:spcBef>
                <a:spcPct val="50000"/>
              </a:spcBef>
              <a:buFont typeface="Wingdings" panose="05000000000000000000" pitchFamily="2" charset="2"/>
              <a:buChar char="v"/>
            </a:pPr>
            <a:r>
              <a:rPr lang="zh-CN" altLang="en-US" sz="2800">
                <a:solidFill>
                  <a:schemeClr val="tx1"/>
                </a:solidFill>
                <a:latin typeface="楷体_GB2312" pitchFamily="49" charset="-122"/>
                <a:ea typeface="楷体_GB2312" pitchFamily="49" charset="-122"/>
              </a:rPr>
              <a:t>相对高的记忆效应，</a:t>
            </a:r>
            <a:endParaRPr lang="zh-CN" altLang="en-US" sz="2800">
              <a:solidFill>
                <a:schemeClr val="tx1"/>
              </a:solidFill>
              <a:latin typeface="楷体_GB2312" pitchFamily="49" charset="-122"/>
              <a:ea typeface="楷体_GB2312" pitchFamily="49" charset="-122"/>
            </a:endParaRPr>
          </a:p>
          <a:p>
            <a:pPr>
              <a:spcBef>
                <a:spcPct val="50000"/>
              </a:spcBef>
              <a:buFont typeface="Wingdings" panose="05000000000000000000" pitchFamily="2" charset="2"/>
              <a:buChar char="v"/>
            </a:pPr>
            <a:r>
              <a:rPr lang="zh-CN" altLang="en-US" sz="2800">
                <a:solidFill>
                  <a:schemeClr val="tx1"/>
                </a:solidFill>
                <a:latin typeface="楷体_GB2312" pitchFamily="49" charset="-122"/>
                <a:ea typeface="楷体_GB2312" pitchFamily="49" charset="-122"/>
              </a:rPr>
              <a:t>较高的自身放电反应。</a:t>
            </a:r>
            <a:endParaRPr lang="zh-CN" altLang="en-US" sz="2800">
              <a:solidFill>
                <a:schemeClr val="tx1"/>
              </a:solidFill>
              <a:latin typeface="楷体_GB2312" pitchFamily="49" charset="-122"/>
              <a:ea typeface="楷体_GB2312" pitchFamily="49" charset="-122"/>
            </a:endParaRPr>
          </a:p>
        </p:txBody>
      </p:sp>
      <p:sp>
        <p:nvSpPr>
          <p:cNvPr id="53252" name="Text Box 9"/>
          <p:cNvSpPr txBox="1">
            <a:spLocks noChangeArrowheads="1"/>
          </p:cNvSpPr>
          <p:nvPr/>
        </p:nvSpPr>
        <p:spPr bwMode="auto">
          <a:xfrm>
            <a:off x="381000" y="4343400"/>
            <a:ext cx="82296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pPr>
              <a:spcBef>
                <a:spcPct val="50000"/>
              </a:spcBef>
            </a:pPr>
            <a:r>
              <a:rPr lang="zh-CN" altLang="en-US" sz="2800">
                <a:solidFill>
                  <a:schemeClr val="tx1"/>
                </a:solidFill>
                <a:latin typeface="楷体_GB2312" pitchFamily="49" charset="-122"/>
                <a:ea typeface="楷体_GB2312" pitchFamily="49" charset="-122"/>
              </a:rPr>
              <a:t>    镍氢电池比碱性电池有更大的输出电流，相对地更适合用于高耗电产品，某些型号甚至比镍镉电池有更大输出电流。</a:t>
            </a:r>
            <a:endParaRPr lang="zh-CN" altLang="en-US" sz="2800">
              <a:solidFill>
                <a:schemeClr val="tx1"/>
              </a:solidFill>
              <a:latin typeface="楷体_GB2312" pitchFamily="49" charset="-122"/>
              <a:ea typeface="楷体_GB2312" pitchFamily="49" charset="-122"/>
            </a:endParaRPr>
          </a:p>
        </p:txBody>
      </p:sp>
      <p:sp>
        <p:nvSpPr>
          <p:cNvPr id="53253" name="Rectangle 10"/>
          <p:cNvSpPr>
            <a:spLocks noChangeArrowheads="1"/>
          </p:cNvSpPr>
          <p:nvPr/>
        </p:nvSpPr>
        <p:spPr bwMode="auto">
          <a:xfrm>
            <a:off x="381000" y="3429000"/>
            <a:ext cx="39909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400" b="1">
                <a:solidFill>
                  <a:schemeClr val="tx2"/>
                </a:solidFill>
                <a:latin typeface="Times New Roman" panose="02020603050405020304" pitchFamily="18" charset="0"/>
                <a:ea typeface="黑体" panose="02010609060101010101" pitchFamily="49" charset="-122"/>
              </a:defRPr>
            </a:lvl1pPr>
            <a:lvl2pPr marL="742950" indent="-285750">
              <a:defRPr sz="4400" b="1">
                <a:solidFill>
                  <a:schemeClr val="tx2"/>
                </a:solidFill>
                <a:latin typeface="Times New Roman" panose="02020603050405020304" pitchFamily="18" charset="0"/>
                <a:ea typeface="黑体" panose="02010609060101010101" pitchFamily="49" charset="-122"/>
              </a:defRPr>
            </a:lvl2pPr>
            <a:lvl3pPr marL="1143000" indent="-228600">
              <a:defRPr sz="4400" b="1">
                <a:solidFill>
                  <a:schemeClr val="tx2"/>
                </a:solidFill>
                <a:latin typeface="Times New Roman" panose="02020603050405020304" pitchFamily="18" charset="0"/>
                <a:ea typeface="黑体" panose="02010609060101010101" pitchFamily="49" charset="-122"/>
              </a:defRPr>
            </a:lvl3pPr>
            <a:lvl4pPr marL="1600200" indent="-228600">
              <a:defRPr sz="4400" b="1">
                <a:solidFill>
                  <a:schemeClr val="tx2"/>
                </a:solidFill>
                <a:latin typeface="Times New Roman" panose="02020603050405020304" pitchFamily="18" charset="0"/>
                <a:ea typeface="黑体" panose="02010609060101010101" pitchFamily="49" charset="-122"/>
              </a:defRPr>
            </a:lvl4pPr>
            <a:lvl5pPr marL="2057400" indent="-228600">
              <a:defRPr sz="4400" b="1">
                <a:solidFill>
                  <a:schemeClr val="tx2"/>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4400" b="1">
                <a:solidFill>
                  <a:schemeClr val="tx2"/>
                </a:solidFill>
                <a:latin typeface="Times New Roman" panose="02020603050405020304" pitchFamily="18" charset="0"/>
                <a:ea typeface="黑体" panose="02010609060101010101" pitchFamily="49" charset="-122"/>
              </a:defRPr>
            </a:lvl9pPr>
          </a:lstStyle>
          <a:p>
            <a:r>
              <a:rPr lang="zh-CN" altLang="en-US" sz="3200">
                <a:solidFill>
                  <a:srgbClr val="0033CC"/>
                </a:solidFill>
                <a:latin typeface="Arial" panose="020B0604020202020204" pitchFamily="34" charset="0"/>
              </a:rPr>
              <a:t>镍-氢电池适用对象：</a:t>
            </a:r>
            <a:endParaRPr lang="zh-CN" altLang="en-US" sz="3200">
              <a:solidFill>
                <a:srgbClr val="0033CC"/>
              </a:solidFill>
              <a:latin typeface="Arial" panose="020B0604020202020204" pitchFamily="34" charset="0"/>
            </a:endParaRPr>
          </a:p>
        </p:txBody>
      </p:sp>
    </p:spTree>
  </p:cSld>
  <p:clrMapOvr>
    <a:masterClrMapping/>
  </p:clrMapOvr>
  <p:transition>
    <p:randomBar dir="vert"/>
  </p:transition>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54274" name="Picture 3"/>
          <p:cNvPicPr>
            <a:picLocks noGrp="1" noChangeAspect="1" noChangeArrowheads="1"/>
          </p:cNvPicPr>
          <p:nvPr>
            <p:ph type="body" idx="1"/>
          </p:nvPr>
        </p:nvPicPr>
        <p:blipFill>
          <a:blip r:embed="rId1">
            <a:extLst>
              <a:ext uri="{28A0092B-C50C-407E-A947-70E740481C1C}">
                <a14:useLocalDpi xmlns:a14="http://schemas.microsoft.com/office/drawing/2010/main" val="0"/>
              </a:ext>
            </a:extLst>
          </a:blip>
          <a:srcRect t="6084"/>
          <a:stretch>
            <a:fillRect/>
          </a:stretch>
        </p:blipFill>
        <p:spPr>
          <a:xfrm>
            <a:off x="304800" y="1312863"/>
            <a:ext cx="8569325" cy="5329237"/>
          </a:xfrm>
          <a:noFill/>
        </p:spPr>
      </p:pic>
      <p:sp>
        <p:nvSpPr>
          <p:cNvPr id="54275" name="Rectangle 5"/>
          <p:cNvSpPr>
            <a:spLocks noGrp="1" noRot="1" noChangeArrowheads="1"/>
          </p:cNvSpPr>
          <p:nvPr>
            <p:ph type="title"/>
          </p:nvPr>
        </p:nvSpPr>
        <p:spPr>
          <a:xfrm>
            <a:off x="1498600" y="508000"/>
            <a:ext cx="6099175" cy="609600"/>
          </a:xfrm>
          <a:noFill/>
        </p:spPr>
        <p:txBody>
          <a:bodyPr/>
          <a:lstStyle/>
          <a:p>
            <a:pPr algn="l"/>
            <a:r>
              <a:rPr lang="zh-CN" altLang="en-US" sz="3200">
                <a:solidFill>
                  <a:schemeClr val="tx1"/>
                </a:solidFill>
                <a:ea typeface="黑体" panose="02010609060101010101" pitchFamily="49" charset="-122"/>
              </a:rPr>
              <a:t>几种常用二次电池的性能比较</a:t>
            </a:r>
            <a:endParaRPr lang="zh-CN" altLang="en-US" sz="3200">
              <a:solidFill>
                <a:schemeClr val="tx1"/>
              </a:solidFill>
              <a:ea typeface="黑体" panose="02010609060101010101" pitchFamily="49" charset="-122"/>
            </a:endParaRPr>
          </a:p>
        </p:txBody>
      </p:sp>
    </p:spTree>
  </p:cSld>
  <p:clrMapOvr>
    <a:masterClrMapping/>
  </p:clrMapOvr>
  <p:transition>
    <p:randomBar dir="vert"/>
  </p:transition>
</p:sld>
</file>

<file path=ppt/tags/tag1.xml><?xml version="1.0" encoding="utf-8"?>
<p:tagLst xmlns:p="http://schemas.openxmlformats.org/presentationml/2006/main">
  <p:tag name="KSO_WM_UNIT_TABLE_BEAUTIFY" val="smartTable{7d9ae608-54a8-4175-8095-3ee6e6a93fa7}"/>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 name="TABLE_ENDDRAG_ORIGIN_RECT" val="589*197"/>
  <p:tag name="TABLE_ENDDRAG_RECT" val="-14*190*589*197"/>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 name="TABLE_ENDDRAG_ORIGIN_RECT" val="717*197"/>
  <p:tag name="TABLE_ENDDRAG_RECT" val="2*218*717*197"/>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 name="TABLE_ENDDRAG_ORIGIN_RECT" val="706*160"/>
  <p:tag name="TABLE_ENDDRAG_RECT" val="0*241*706*160"/>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 name="TABLE_ENDDRAG_ORIGIN_RECT" val="703*116"/>
  <p:tag name="TABLE_ENDDRAG_RECT" val="-2*334*703*116"/>
</p:tagLst>
</file>

<file path=ppt/tags/tag29.xml><?xml version="1.0" encoding="utf-8"?>
<p:tagLst xmlns:p="http://schemas.openxmlformats.org/presentationml/2006/main">
  <p:tag name="KSO_WM_BEAUTIFY_FLAG" val=""/>
  <p:tag name="TABLE_ENDDRAG_ORIGIN_RECT" val="694*116"/>
  <p:tag name="TABLE_ENDDRAG_RECT" val="-2*146*694*116"/>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PP_MARK_KEY" val="fb302efb-10e4-432d-9fcd-c9a71537a702"/>
  <p:tag name="COMMONDATA" val="eyJoZGlkIjoiODIyZGQ3MzI3NDI1MDU1N2YyZWRhMDJkZThkMjhmMDYifQ=="/>
  <p:tag name="commondata" val="eyJoZGlkIjoiYWUwOGEzYjhjOGE0NTE3ZTlmZmY0ZDg0MTljYmVmNzQifQ=="/>
</p:tagLst>
</file>

<file path=ppt/theme/theme1.xml><?xml version="1.0" encoding="utf-8"?>
<a:theme xmlns:a="http://schemas.openxmlformats.org/drawingml/2006/main" name="万里长城">
  <a:themeElements>
    <a:clrScheme name="万里长城 6">
      <a:dk1>
        <a:srgbClr val="000000"/>
      </a:dk1>
      <a:lt1>
        <a:srgbClr val="FFFFCC"/>
      </a:lt1>
      <a:dk2>
        <a:srgbClr val="6756A6"/>
      </a:dk2>
      <a:lt2>
        <a:srgbClr val="969696"/>
      </a:lt2>
      <a:accent1>
        <a:srgbClr val="99CCFF"/>
      </a:accent1>
      <a:accent2>
        <a:srgbClr val="008000"/>
      </a:accent2>
      <a:accent3>
        <a:srgbClr val="FFFFE2"/>
      </a:accent3>
      <a:accent4>
        <a:srgbClr val="000000"/>
      </a:accent4>
      <a:accent5>
        <a:srgbClr val="CAE2FF"/>
      </a:accent5>
      <a:accent6>
        <a:srgbClr val="007300"/>
      </a:accent6>
      <a:hlink>
        <a:srgbClr val="990033"/>
      </a:hlink>
      <a:folHlink>
        <a:srgbClr val="9900CC"/>
      </a:folHlink>
    </a:clrScheme>
    <a:fontScheme name="万里长城">
      <a:majorFont>
        <a:latin typeface="Times New Roman"/>
        <a:ea typeface="楷体_GB2312"/>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万里长城 1">
        <a:dk1>
          <a:srgbClr val="000000"/>
        </a:dk1>
        <a:lt1>
          <a:srgbClr val="FFFFFF"/>
        </a:lt1>
        <a:dk2>
          <a:srgbClr val="000099"/>
        </a:dk2>
        <a:lt2>
          <a:srgbClr val="969696"/>
        </a:lt2>
        <a:accent1>
          <a:srgbClr val="FFFF99"/>
        </a:accent1>
        <a:accent2>
          <a:srgbClr val="006666"/>
        </a:accent2>
        <a:accent3>
          <a:srgbClr val="FFFFFF"/>
        </a:accent3>
        <a:accent4>
          <a:srgbClr val="000000"/>
        </a:accent4>
        <a:accent5>
          <a:srgbClr val="FFFFCA"/>
        </a:accent5>
        <a:accent6>
          <a:srgbClr val="005C5C"/>
        </a:accent6>
        <a:hlink>
          <a:srgbClr val="800080"/>
        </a:hlink>
        <a:folHlink>
          <a:srgbClr val="FF6600"/>
        </a:folHlink>
      </a:clrScheme>
      <a:clrMap bg1="lt1" tx1="dk1" bg2="lt2" tx2="dk2" accent1="accent1" accent2="accent2" accent3="accent3" accent4="accent4" accent5="accent5" accent6="accent6" hlink="hlink" folHlink="folHlink"/>
    </a:extraClrScheme>
    <a:extraClrScheme>
      <a:clrScheme name="万里长城 2">
        <a:dk1>
          <a:srgbClr val="000000"/>
        </a:dk1>
        <a:lt1>
          <a:srgbClr val="8EA4EA"/>
        </a:lt1>
        <a:dk2>
          <a:srgbClr val="0033CC"/>
        </a:dk2>
        <a:lt2>
          <a:srgbClr val="969696"/>
        </a:lt2>
        <a:accent1>
          <a:srgbClr val="86B5B6"/>
        </a:accent1>
        <a:accent2>
          <a:srgbClr val="FFCC66"/>
        </a:accent2>
        <a:accent3>
          <a:srgbClr val="C6CFF3"/>
        </a:accent3>
        <a:accent4>
          <a:srgbClr val="000000"/>
        </a:accent4>
        <a:accent5>
          <a:srgbClr val="C3D7D7"/>
        </a:accent5>
        <a:accent6>
          <a:srgbClr val="E7B95C"/>
        </a:accent6>
        <a:hlink>
          <a:srgbClr val="626292"/>
        </a:hlink>
        <a:folHlink>
          <a:srgbClr val="A2366C"/>
        </a:folHlink>
      </a:clrScheme>
      <a:clrMap bg1="lt1" tx1="dk1" bg2="lt2" tx2="dk2" accent1="accent1" accent2="accent2" accent3="accent3" accent4="accent4" accent5="accent5" accent6="accent6" hlink="hlink" folHlink="folHlink"/>
    </a:extraClrScheme>
    <a:extraClrScheme>
      <a:clrScheme name="万里长城 3">
        <a:dk1>
          <a:srgbClr val="0000FF"/>
        </a:dk1>
        <a:lt1>
          <a:srgbClr val="C0C0C0"/>
        </a:lt1>
        <a:dk2>
          <a:srgbClr val="000000"/>
        </a:dk2>
        <a:lt2>
          <a:srgbClr val="B2B2B2"/>
        </a:lt2>
        <a:accent1>
          <a:srgbClr val="FFCC99"/>
        </a:accent1>
        <a:accent2>
          <a:srgbClr val="FF99CC"/>
        </a:accent2>
        <a:accent3>
          <a:srgbClr val="DCDCDC"/>
        </a:accent3>
        <a:accent4>
          <a:srgbClr val="0000DA"/>
        </a:accent4>
        <a:accent5>
          <a:srgbClr val="FFE2CA"/>
        </a:accent5>
        <a:accent6>
          <a:srgbClr val="E78AB9"/>
        </a:accent6>
        <a:hlink>
          <a:srgbClr val="9C4070"/>
        </a:hlink>
        <a:folHlink>
          <a:srgbClr val="00716E"/>
        </a:folHlink>
      </a:clrScheme>
      <a:clrMap bg1="lt1" tx1="dk1" bg2="lt2" tx2="dk2" accent1="accent1" accent2="accent2" accent3="accent3" accent4="accent4" accent5="accent5" accent6="accent6" hlink="hlink" folHlink="folHlink"/>
    </a:extraClrScheme>
    <a:extraClrScheme>
      <a:clrScheme name="万里长城 4">
        <a:dk1>
          <a:srgbClr val="0029AC"/>
        </a:dk1>
        <a:lt1>
          <a:srgbClr val="CCFFCC"/>
        </a:lt1>
        <a:dk2>
          <a:srgbClr val="993366"/>
        </a:dk2>
        <a:lt2>
          <a:srgbClr val="969696"/>
        </a:lt2>
        <a:accent1>
          <a:srgbClr val="FFCC99"/>
        </a:accent1>
        <a:accent2>
          <a:srgbClr val="6699FF"/>
        </a:accent2>
        <a:accent3>
          <a:srgbClr val="E2FFE2"/>
        </a:accent3>
        <a:accent4>
          <a:srgbClr val="002192"/>
        </a:accent4>
        <a:accent5>
          <a:srgbClr val="FFE2CA"/>
        </a:accent5>
        <a:accent6>
          <a:srgbClr val="5C8AE7"/>
        </a:accent6>
        <a:hlink>
          <a:srgbClr val="006600"/>
        </a:hlink>
        <a:folHlink>
          <a:srgbClr val="3366FF"/>
        </a:folHlink>
      </a:clrScheme>
      <a:clrMap bg1="lt1" tx1="dk1" bg2="lt2" tx2="dk2" accent1="accent1" accent2="accent2" accent3="accent3" accent4="accent4" accent5="accent5" accent6="accent6" hlink="hlink" folHlink="folHlink"/>
    </a:extraClrScheme>
    <a:extraClrScheme>
      <a:clrScheme name="万里长城 5">
        <a:dk1>
          <a:srgbClr val="333333"/>
        </a:dk1>
        <a:lt1>
          <a:srgbClr val="FF99CC"/>
        </a:lt1>
        <a:dk2>
          <a:srgbClr val="006600"/>
        </a:dk2>
        <a:lt2>
          <a:srgbClr val="B2B2B2"/>
        </a:lt2>
        <a:accent1>
          <a:srgbClr val="FFFF66"/>
        </a:accent1>
        <a:accent2>
          <a:srgbClr val="33CCFF"/>
        </a:accent2>
        <a:accent3>
          <a:srgbClr val="FFCAE2"/>
        </a:accent3>
        <a:accent4>
          <a:srgbClr val="2A2A2A"/>
        </a:accent4>
        <a:accent5>
          <a:srgbClr val="FFFFB8"/>
        </a:accent5>
        <a:accent6>
          <a:srgbClr val="2DB9E7"/>
        </a:accent6>
        <a:hlink>
          <a:srgbClr val="6600FF"/>
        </a:hlink>
        <a:folHlink>
          <a:srgbClr val="CC0066"/>
        </a:folHlink>
      </a:clrScheme>
      <a:clrMap bg1="lt1" tx1="dk1" bg2="lt2" tx2="dk2" accent1="accent1" accent2="accent2" accent3="accent3" accent4="accent4" accent5="accent5" accent6="accent6" hlink="hlink" folHlink="folHlink"/>
    </a:extraClrScheme>
    <a:extraClrScheme>
      <a:clrScheme name="万里长城 6">
        <a:dk1>
          <a:srgbClr val="000000"/>
        </a:dk1>
        <a:lt1>
          <a:srgbClr val="FFFFCC"/>
        </a:lt1>
        <a:dk2>
          <a:srgbClr val="6756A6"/>
        </a:dk2>
        <a:lt2>
          <a:srgbClr val="969696"/>
        </a:lt2>
        <a:accent1>
          <a:srgbClr val="99CCFF"/>
        </a:accent1>
        <a:accent2>
          <a:srgbClr val="008000"/>
        </a:accent2>
        <a:accent3>
          <a:srgbClr val="FFFFE2"/>
        </a:accent3>
        <a:accent4>
          <a:srgbClr val="000000"/>
        </a:accent4>
        <a:accent5>
          <a:srgbClr val="CAE2FF"/>
        </a:accent5>
        <a:accent6>
          <a:srgbClr val="007300"/>
        </a:accent6>
        <a:hlink>
          <a:srgbClr val="990033"/>
        </a:hlink>
        <a:folHlink>
          <a:srgbClr val="9900CC"/>
        </a:folHlink>
      </a:clrScheme>
      <a:clrMap bg1="lt1" tx1="dk1" bg2="lt2" tx2="dk2" accent1="accent1" accent2="accent2" accent3="accent3" accent4="accent4" accent5="accent5" accent6="accent6" hlink="hlink" folHlink="folHlink"/>
    </a:extraClrScheme>
    <a:extraClrScheme>
      <a:clrScheme name="万里长城 7">
        <a:dk1>
          <a:srgbClr val="CC3300"/>
        </a:dk1>
        <a:lt1>
          <a:srgbClr val="99CCFF"/>
        </a:lt1>
        <a:dk2>
          <a:srgbClr val="003399"/>
        </a:dk2>
        <a:lt2>
          <a:srgbClr val="969696"/>
        </a:lt2>
        <a:accent1>
          <a:srgbClr val="CED7FE"/>
        </a:accent1>
        <a:accent2>
          <a:srgbClr val="FFFFFF"/>
        </a:accent2>
        <a:accent3>
          <a:srgbClr val="CAE2FF"/>
        </a:accent3>
        <a:accent4>
          <a:srgbClr val="AE2A00"/>
        </a:accent4>
        <a:accent5>
          <a:srgbClr val="E3E8FE"/>
        </a:accent5>
        <a:accent6>
          <a:srgbClr val="E7E7E7"/>
        </a:accent6>
        <a:hlink>
          <a:srgbClr val="006600"/>
        </a:hlink>
        <a:folHlink>
          <a:srgbClr val="777777"/>
        </a:folHlink>
      </a:clrScheme>
      <a:clrMap bg1="lt1" tx1="dk1" bg2="lt2" tx2="dk2" accent1="accent1" accent2="accent2" accent3="accent3" accent4="accent4" accent5="accent5" accent6="accent6" hlink="hlink" folHlink="folHlink"/>
    </a:extraClrScheme>
    <a:extraClrScheme>
      <a:clrScheme name="万里长城 8">
        <a:dk1>
          <a:srgbClr val="006600"/>
        </a:dk1>
        <a:lt1>
          <a:srgbClr val="FFCC99"/>
        </a:lt1>
        <a:dk2>
          <a:srgbClr val="000000"/>
        </a:dk2>
        <a:lt2>
          <a:srgbClr val="B2B2B2"/>
        </a:lt2>
        <a:accent1>
          <a:srgbClr val="FFFFFF"/>
        </a:accent1>
        <a:accent2>
          <a:srgbClr val="FFFF66"/>
        </a:accent2>
        <a:accent3>
          <a:srgbClr val="FFE2CA"/>
        </a:accent3>
        <a:accent4>
          <a:srgbClr val="005600"/>
        </a:accent4>
        <a:accent5>
          <a:srgbClr val="FFFFFF"/>
        </a:accent5>
        <a:accent6>
          <a:srgbClr val="E7E75C"/>
        </a:accent6>
        <a:hlink>
          <a:srgbClr val="5B5B89"/>
        </a:hlink>
        <a:folHlink>
          <a:srgbClr val="3366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CDESIGNA</Template>
  <TotalTime>0</TotalTime>
  <Words>6214</Words>
  <Application>WPS 演示</Application>
  <PresentationFormat>全屏显示(4:3)</PresentationFormat>
  <Paragraphs>379</Paragraphs>
  <Slides>50</Slides>
  <Notes>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4</vt:i4>
      </vt:variant>
      <vt:variant>
        <vt:lpstr>幻灯片标题</vt:lpstr>
      </vt:variant>
      <vt:variant>
        <vt:i4>50</vt:i4>
      </vt:variant>
    </vt:vector>
  </HeadingPairs>
  <TitlesOfParts>
    <vt:vector size="67" baseType="lpstr">
      <vt:lpstr>Arial</vt:lpstr>
      <vt:lpstr>宋体</vt:lpstr>
      <vt:lpstr>Wingdings</vt:lpstr>
      <vt:lpstr>Times New Roman</vt:lpstr>
      <vt:lpstr>黑体</vt:lpstr>
      <vt:lpstr>楷体_GB2312</vt:lpstr>
      <vt:lpstr>新宋体</vt:lpstr>
      <vt:lpstr>Symbol</vt:lpstr>
      <vt:lpstr>微软雅黑</vt:lpstr>
      <vt:lpstr>Arial Unicode MS</vt:lpstr>
      <vt:lpstr>Microsoft JhengHei</vt:lpstr>
      <vt:lpstr>Times New Roman</vt:lpstr>
      <vt:lpstr>万里长城</vt:lpstr>
      <vt:lpstr>Paint.Picture</vt:lpstr>
      <vt:lpstr>Paint.Picture</vt:lpstr>
      <vt:lpstr>Paint.Picture</vt:lpstr>
      <vt:lpstr>Paint.Picture</vt:lpstr>
      <vt:lpstr>PowerPoint 演示文稿</vt:lpstr>
      <vt:lpstr>原电池生产主要有几个系列:</vt:lpstr>
      <vt:lpstr>PowerPoint 演示文稿</vt:lpstr>
      <vt:lpstr>一次电池的种类及结构</vt:lpstr>
      <vt:lpstr>PowerPoint 演示文稿</vt:lpstr>
      <vt:lpstr>(-)Zn | ZnCl2 10%, NH4Cl 20%(糊状) | MnO2 | C(+) 负极： Zn(s) = Zn2+(aq) + 2e 正极： 2 MnO2(s) + 2NH4+(aq) + 2e = Mn2O3(s) + 2NH3(aq) + H2O  电池反应： 2 MnO2(s) + 2NH4+(aq) + Zn(s) = Zn2+(aq) + Mn2O3(s) + 2NH3(aq) + H2O</vt:lpstr>
      <vt:lpstr>PowerPoint 演示文稿</vt:lpstr>
      <vt:lpstr>PowerPoint 演示文稿</vt:lpstr>
      <vt:lpstr>纸板式锌锰电池的结构特点</vt:lpstr>
      <vt:lpstr>PowerPoint 演示文稿</vt:lpstr>
      <vt:lpstr>PowerPoint 演示文稿</vt:lpstr>
      <vt:lpstr>PowerPoint 演示文稿</vt:lpstr>
      <vt:lpstr>(-)Zn | KOH（ aq) | MnO2 | C(+) 负极： Zn(s) + 2OH-(aq)  = ZnO (s) + H2O + 2e 正极： 2MnO2(s)+ 2H2O(aq) + 2e = MnOOH + 2OH-(aq)   电池反应：  2MnO2(s) + Zn (s) + H2O = ZnO  + 2MnOOH  </vt:lpstr>
      <vt:lpstr>PowerPoint 演示文稿</vt:lpstr>
      <vt:lpstr>PowerPoint 演示文稿</vt:lpstr>
      <vt:lpstr>金属锂原电池</vt:lpstr>
      <vt:lpstr>PowerPoint 演示文稿</vt:lpstr>
      <vt:lpstr>二次电池综述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目前常用的铅酸电池的平均寿命</vt:lpstr>
      <vt:lpstr>应对措施</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几种常用二次电池的性能比较</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无际</cp:lastModifiedBy>
  <cp:revision>601</cp:revision>
  <dcterms:created xsi:type="dcterms:W3CDTF">2113-01-01T00:00:00Z</dcterms:created>
  <dcterms:modified xsi:type="dcterms:W3CDTF">2025-10-29T01:55:16Z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EF08206DC42E4D66909A73AFE3FD74FC</vt:lpwstr>
  </property>
  <property fmtid="{D5CDD505-2E9C-101B-9397-08002B2CF9AE}" pid="3" name="KSOProductBuildVer">
    <vt:lpwstr>2052-12.1.0.23125</vt:lpwstr>
  </property>
</Properties>
</file>
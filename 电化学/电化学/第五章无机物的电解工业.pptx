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9"/>
  </p:notesMasterIdLst>
  <p:handoutMasterIdLst>
    <p:handoutMasterId r:id="rId120"/>
  </p:handoutMasterIdLst>
  <p:sldIdLst>
    <p:sldId id="918" r:id="rId3"/>
    <p:sldId id="919" r:id="rId4"/>
    <p:sldId id="920" r:id="rId5"/>
    <p:sldId id="921" r:id="rId6"/>
    <p:sldId id="922" r:id="rId7"/>
    <p:sldId id="923" r:id="rId8"/>
    <p:sldId id="924" r:id="rId9"/>
    <p:sldId id="925" r:id="rId10"/>
    <p:sldId id="926" r:id="rId11"/>
    <p:sldId id="927" r:id="rId12"/>
    <p:sldId id="928" r:id="rId13"/>
    <p:sldId id="929" r:id="rId14"/>
    <p:sldId id="930" r:id="rId15"/>
    <p:sldId id="931" r:id="rId16"/>
    <p:sldId id="932" r:id="rId17"/>
    <p:sldId id="933" r:id="rId18"/>
    <p:sldId id="934" r:id="rId19"/>
    <p:sldId id="935" r:id="rId20"/>
    <p:sldId id="936" r:id="rId21"/>
    <p:sldId id="937" r:id="rId22"/>
    <p:sldId id="938" r:id="rId23"/>
    <p:sldId id="939" r:id="rId24"/>
    <p:sldId id="940" r:id="rId25"/>
    <p:sldId id="941" r:id="rId26"/>
    <p:sldId id="942" r:id="rId27"/>
    <p:sldId id="943" r:id="rId28"/>
    <p:sldId id="944" r:id="rId29"/>
    <p:sldId id="945" r:id="rId30"/>
    <p:sldId id="946" r:id="rId31"/>
    <p:sldId id="947" r:id="rId32"/>
    <p:sldId id="948" r:id="rId33"/>
    <p:sldId id="949" r:id="rId34"/>
    <p:sldId id="950" r:id="rId35"/>
    <p:sldId id="951" r:id="rId36"/>
    <p:sldId id="952" r:id="rId37"/>
    <p:sldId id="953" r:id="rId38"/>
    <p:sldId id="954" r:id="rId39"/>
    <p:sldId id="955" r:id="rId40"/>
    <p:sldId id="956" r:id="rId41"/>
    <p:sldId id="958" r:id="rId42"/>
    <p:sldId id="959" r:id="rId43"/>
    <p:sldId id="1034" r:id="rId44"/>
    <p:sldId id="960" r:id="rId45"/>
    <p:sldId id="961" r:id="rId46"/>
    <p:sldId id="962" r:id="rId47"/>
    <p:sldId id="963" r:id="rId48"/>
    <p:sldId id="964" r:id="rId49"/>
    <p:sldId id="965" r:id="rId50"/>
    <p:sldId id="966" r:id="rId51"/>
    <p:sldId id="967" r:id="rId52"/>
    <p:sldId id="968" r:id="rId53"/>
    <p:sldId id="969" r:id="rId54"/>
    <p:sldId id="970" r:id="rId55"/>
    <p:sldId id="971" r:id="rId56"/>
    <p:sldId id="972" r:id="rId57"/>
    <p:sldId id="973" r:id="rId58"/>
    <p:sldId id="974" r:id="rId59"/>
    <p:sldId id="975" r:id="rId60"/>
    <p:sldId id="976" r:id="rId61"/>
    <p:sldId id="977" r:id="rId62"/>
    <p:sldId id="978" r:id="rId63"/>
    <p:sldId id="979" r:id="rId64"/>
    <p:sldId id="980" r:id="rId65"/>
    <p:sldId id="981" r:id="rId66"/>
    <p:sldId id="982" r:id="rId67"/>
    <p:sldId id="983" r:id="rId68"/>
    <p:sldId id="984" r:id="rId69"/>
    <p:sldId id="985" r:id="rId70"/>
    <p:sldId id="986" r:id="rId71"/>
    <p:sldId id="1035" r:id="rId72"/>
    <p:sldId id="987" r:id="rId73"/>
    <p:sldId id="988" r:id="rId74"/>
    <p:sldId id="989" r:id="rId75"/>
    <p:sldId id="1036" r:id="rId76"/>
    <p:sldId id="992" r:id="rId77"/>
    <p:sldId id="990" r:id="rId78"/>
    <p:sldId id="994" r:id="rId79"/>
    <p:sldId id="995" r:id="rId80"/>
    <p:sldId id="997" r:id="rId81"/>
    <p:sldId id="996" r:id="rId82"/>
    <p:sldId id="998" r:id="rId83"/>
    <p:sldId id="999" r:id="rId84"/>
    <p:sldId id="1000" r:id="rId85"/>
    <p:sldId id="1001" r:id="rId86"/>
    <p:sldId id="1002" r:id="rId87"/>
    <p:sldId id="1003" r:id="rId88"/>
    <p:sldId id="1004" r:id="rId89"/>
    <p:sldId id="1005" r:id="rId90"/>
    <p:sldId id="1006" r:id="rId91"/>
    <p:sldId id="1007" r:id="rId92"/>
    <p:sldId id="1008" r:id="rId93"/>
    <p:sldId id="1009" r:id="rId94"/>
    <p:sldId id="1010" r:id="rId95"/>
    <p:sldId id="1011" r:id="rId96"/>
    <p:sldId id="1012" r:id="rId97"/>
    <p:sldId id="1013" r:id="rId98"/>
    <p:sldId id="1014" r:id="rId99"/>
    <p:sldId id="1015" r:id="rId100"/>
    <p:sldId id="1016" r:id="rId101"/>
    <p:sldId id="1017" r:id="rId102"/>
    <p:sldId id="1018" r:id="rId103"/>
    <p:sldId id="1019" r:id="rId104"/>
    <p:sldId id="1020" r:id="rId105"/>
    <p:sldId id="1021" r:id="rId106"/>
    <p:sldId id="1022" r:id="rId107"/>
    <p:sldId id="1023" r:id="rId108"/>
    <p:sldId id="1024" r:id="rId109"/>
    <p:sldId id="1025" r:id="rId110"/>
    <p:sldId id="1026" r:id="rId111"/>
    <p:sldId id="1027" r:id="rId112"/>
    <p:sldId id="1028" r:id="rId113"/>
    <p:sldId id="1029" r:id="rId114"/>
    <p:sldId id="1030" r:id="rId115"/>
    <p:sldId id="1031" r:id="rId116"/>
    <p:sldId id="1032" r:id="rId117"/>
    <p:sldId id="1033" r:id="rId118"/>
  </p:sldIdLst>
  <p:sldSz cx="9144000" cy="6858000" type="screen4x3"/>
  <p:notesSz cx="6858000" cy="9144000"/>
  <p:custDataLst>
    <p:tags r:id="rId124"/>
  </p:custDataLst>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12" userDrawn="1">
          <p15:clr>
            <a:srgbClr val="A4A3A4"/>
          </p15:clr>
        </p15:guide>
        <p15:guide id="2" pos="2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showGuides="1">
      <p:cViewPr varScale="1">
        <p:scale>
          <a:sx n="103" d="100"/>
          <a:sy n="103" d="100"/>
        </p:scale>
        <p:origin x="1446" y="102"/>
      </p:cViewPr>
      <p:guideLst>
        <p:guide orient="horz" pos="2212"/>
        <p:guide pos="2832"/>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4" Type="http://schemas.openxmlformats.org/officeDocument/2006/relationships/tags" Target="tags/tag11.xml"/><Relationship Id="rId123" Type="http://schemas.openxmlformats.org/officeDocument/2006/relationships/tableStyles" Target="tableStyles.xml"/><Relationship Id="rId122" Type="http://schemas.openxmlformats.org/officeDocument/2006/relationships/viewProps" Target="viewProps.xml"/><Relationship Id="rId121" Type="http://schemas.openxmlformats.org/officeDocument/2006/relationships/presProps" Target="presProps.xml"/><Relationship Id="rId120" Type="http://schemas.openxmlformats.org/officeDocument/2006/relationships/handoutMaster" Target="handoutMasters/handoutMaster1.xml"/><Relationship Id="rId12" Type="http://schemas.openxmlformats.org/officeDocument/2006/relationships/slide" Target="slides/slide10.xml"/><Relationship Id="rId119" Type="http://schemas.openxmlformats.org/officeDocument/2006/relationships/notesMaster" Target="notesMasters/notesMaster1.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51.wmf"/><Relationship Id="rId1" Type="http://schemas.openxmlformats.org/officeDocument/2006/relationships/image" Target="../media/image5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106.wmf"/><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6F39F05-2B87-4353-9879-B2C2EB3EAC8B}"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8FE763A-CB5D-4D9F-A56F-28784FAEB5DC}"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583F72A-7008-4BB6-8F63-B131801610C4}"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932AAF3-09B1-486D-86CC-931F0C82A377}"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15F8DA5E-0AD7-4D84-A569-D515A939E2E7}"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D916AB5E-5170-47E0-8E2E-279F13453F9F}"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ADE378CF-057D-4E97-A53D-1F4B2DB42E5F}"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AA53C0F-A542-4F45-8767-D9C30FFDE0DD}"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E8F84A4-035C-4A9B-AB3D-D8F63E2C6955}"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EF4E367-4408-431C-9360-A868741A27C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926F75E-B06D-42AC-95EC-BD992EA657B5}"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4BB55BE7-732E-43E7-BF0F-2B86CF0DB5FA}"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8.wmf"/><Relationship Id="rId5" Type="http://schemas.openxmlformats.org/officeDocument/2006/relationships/oleObject" Target="../embeddings/oleObject5.bin"/><Relationship Id="rId4" Type="http://schemas.openxmlformats.org/officeDocument/2006/relationships/image" Target="../media/image7.wmf"/><Relationship Id="rId3" Type="http://schemas.openxmlformats.org/officeDocument/2006/relationships/oleObject" Target="../embeddings/oleObject4.bin"/><Relationship Id="rId2" Type="http://schemas.openxmlformats.org/officeDocument/2006/relationships/image" Target="../media/image6.wmf"/><Relationship Id="rId1"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21160;&#30011;\&#30005;&#35299;.ex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0.wmf"/><Relationship Id="rId1"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39064;&#24211;/07-&#20363;&#39064;.ppt" TargetMode="Externa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6.xml"/><Relationship Id="rId2" Type="http://schemas.openxmlformats.org/officeDocument/2006/relationships/image" Target="../media/image11.wmf"/><Relationship Id="rId1" Type="http://schemas.openxmlformats.org/officeDocument/2006/relationships/oleObject" Target="../embeddings/oleObject8.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6.xml"/><Relationship Id="rId2" Type="http://schemas.openxmlformats.org/officeDocument/2006/relationships/image" Target="../media/image12.wmf"/><Relationship Id="rId1" Type="http://schemas.openxmlformats.org/officeDocument/2006/relationships/oleObject" Target="../embeddings/oleObject9.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6.wmf"/><Relationship Id="rId7" Type="http://schemas.openxmlformats.org/officeDocument/2006/relationships/oleObject" Target="../embeddings/oleObject13.bin"/><Relationship Id="rId6" Type="http://schemas.openxmlformats.org/officeDocument/2006/relationships/image" Target="../media/image15.wmf"/><Relationship Id="rId5" Type="http://schemas.openxmlformats.org/officeDocument/2006/relationships/oleObject" Target="../embeddings/oleObject12.bin"/><Relationship Id="rId4" Type="http://schemas.openxmlformats.org/officeDocument/2006/relationships/image" Target="../media/image14.wmf"/><Relationship Id="rId3" Type="http://schemas.openxmlformats.org/officeDocument/2006/relationships/oleObject" Target="../embeddings/oleObject11.bin"/><Relationship Id="rId2" Type="http://schemas.openxmlformats.org/officeDocument/2006/relationships/image" Target="../media/image13.wmf"/><Relationship Id="rId10" Type="http://schemas.openxmlformats.org/officeDocument/2006/relationships/vmlDrawing" Target="../drawings/vmlDrawing7.vml"/><Relationship Id="rId1"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IAO/&#22810;&#23186;&#20307;&#35762;&#31295;/&#30005;&#21270;&#23398;/7-11&#26497;&#21270;&#20316;&#29992;.ppt" TargetMode="Externa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xml"/><Relationship Id="rId2" Type="http://schemas.openxmlformats.org/officeDocument/2006/relationships/image" Target="../media/image17.png"/><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tags" Target="../tags/tag4.xml"/><Relationship Id="rId2" Type="http://schemas.openxmlformats.org/officeDocument/2006/relationships/image" Target="../media/image18.png"/><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tags" Target="../tags/tag6.xml"/><Relationship Id="rId2" Type="http://schemas.openxmlformats.org/officeDocument/2006/relationships/image" Target="../media/image20.png"/><Relationship Id="rId1" Type="http://schemas.openxmlformats.org/officeDocument/2006/relationships/tags" Target="../tags/tag5.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tags" Target="../tags/tag8.xml"/><Relationship Id="rId2" Type="http://schemas.openxmlformats.org/officeDocument/2006/relationships/image" Target="../media/image22.png"/><Relationship Id="rId1" Type="http://schemas.openxmlformats.org/officeDocument/2006/relationships/tags" Target="../tags/tag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7.png"/><Relationship Id="rId2" Type="http://schemas.openxmlformats.org/officeDocument/2006/relationships/tags" Target="../tags/tag9.xml"/><Relationship Id="rId1" Type="http://schemas.openxmlformats.org/officeDocument/2006/relationships/image" Target="../media/image26.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tags" Target="../tags/tag10.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49.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image" Target="../media/image38.wmf"/><Relationship Id="rId5" Type="http://schemas.openxmlformats.org/officeDocument/2006/relationships/oleObject" Target="../embeddings/oleObject16.bin"/><Relationship Id="rId4" Type="http://schemas.openxmlformats.org/officeDocument/2006/relationships/image" Target="../media/image37.wmf"/><Relationship Id="rId3" Type="http://schemas.openxmlformats.org/officeDocument/2006/relationships/oleObject" Target="../embeddings/oleObject15.bin"/><Relationship Id="rId2" Type="http://schemas.openxmlformats.org/officeDocument/2006/relationships/image" Target="../media/image36.wmf"/><Relationship Id="rId1" Type="http://schemas.openxmlformats.org/officeDocument/2006/relationships/oleObject" Target="../embeddings/oleObject14.bin"/></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40.wmf"/><Relationship Id="rId3" Type="http://schemas.openxmlformats.org/officeDocument/2006/relationships/oleObject" Target="../embeddings/oleObject18.bin"/><Relationship Id="rId2" Type="http://schemas.openxmlformats.org/officeDocument/2006/relationships/image" Target="../media/image39.wmf"/><Relationship Id="rId1" Type="http://schemas.openxmlformats.org/officeDocument/2006/relationships/oleObject" Target="../embeddings/oleObject17.bin"/></Relationships>
</file>

<file path=ppt/slides/_rels/slide51.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43.wmf"/><Relationship Id="rId5" Type="http://schemas.openxmlformats.org/officeDocument/2006/relationships/oleObject" Target="../embeddings/oleObject21.bin"/><Relationship Id="rId4" Type="http://schemas.openxmlformats.org/officeDocument/2006/relationships/image" Target="../media/image42.wmf"/><Relationship Id="rId3" Type="http://schemas.openxmlformats.org/officeDocument/2006/relationships/oleObject" Target="../embeddings/oleObject20.bin"/><Relationship Id="rId2" Type="http://schemas.openxmlformats.org/officeDocument/2006/relationships/image" Target="../media/image41.wmf"/><Relationship Id="rId1" Type="http://schemas.openxmlformats.org/officeDocument/2006/relationships/oleObject" Target="../embeddings/oleObject19.bin"/></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44.wmf"/><Relationship Id="rId1" Type="http://schemas.openxmlformats.org/officeDocument/2006/relationships/oleObject" Target="../embeddings/oleObject22.bin"/></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7.xml"/><Relationship Id="rId6" Type="http://schemas.openxmlformats.org/officeDocument/2006/relationships/image" Target="../media/image49.wmf"/><Relationship Id="rId5" Type="http://schemas.openxmlformats.org/officeDocument/2006/relationships/oleObject" Target="../embeddings/oleObject25.bin"/><Relationship Id="rId4" Type="http://schemas.openxmlformats.org/officeDocument/2006/relationships/image" Target="../media/image48.wmf"/><Relationship Id="rId3" Type="http://schemas.openxmlformats.org/officeDocument/2006/relationships/oleObject" Target="../embeddings/oleObject24.bin"/><Relationship Id="rId2" Type="http://schemas.openxmlformats.org/officeDocument/2006/relationships/image" Target="../media/image47.wmf"/><Relationship Id="rId1" Type="http://schemas.openxmlformats.org/officeDocument/2006/relationships/oleObject" Target="../embeddings/oleObject23.bin"/></Relationships>
</file>

<file path=ppt/slides/_rels/slide57.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7.xml"/><Relationship Id="rId6" Type="http://schemas.openxmlformats.org/officeDocument/2006/relationships/image" Target="../media/image49.wmf"/><Relationship Id="rId5" Type="http://schemas.openxmlformats.org/officeDocument/2006/relationships/oleObject" Target="../embeddings/oleObject28.bin"/><Relationship Id="rId4" Type="http://schemas.openxmlformats.org/officeDocument/2006/relationships/image" Target="../media/image51.wmf"/><Relationship Id="rId3" Type="http://schemas.openxmlformats.org/officeDocument/2006/relationships/oleObject" Target="../embeddings/oleObject27.bin"/><Relationship Id="rId2" Type="http://schemas.openxmlformats.org/officeDocument/2006/relationships/image" Target="../media/image50.wmf"/><Relationship Id="rId1" Type="http://schemas.openxmlformats.org/officeDocument/2006/relationships/oleObject" Target="../embeddings/oleObject26.bin"/></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jpe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31.png"/></Relationships>
</file>

<file path=ppt/slides/_rels/slide71.xml.rels><?xml version="1.0" encoding="UTF-8" standalone="yes"?>
<Relationships xmlns="http://schemas.openxmlformats.org/package/2006/relationships"><Relationship Id="rId7" Type="http://schemas.openxmlformats.org/officeDocument/2006/relationships/vmlDrawing" Target="../drawings/vmlDrawing14.vml"/><Relationship Id="rId6"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62.wmf"/><Relationship Id="rId3" Type="http://schemas.openxmlformats.org/officeDocument/2006/relationships/oleObject" Target="../embeddings/oleObject30.bin"/><Relationship Id="rId2" Type="http://schemas.openxmlformats.org/officeDocument/2006/relationships/image" Target="../media/image61.wmf"/><Relationship Id="rId1" Type="http://schemas.openxmlformats.org/officeDocument/2006/relationships/oleObject" Target="../embeddings/oleObject29.bin"/></Relationships>
</file>

<file path=ppt/slides/_rels/slide7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6.wmf"/><Relationship Id="rId7" Type="http://schemas.openxmlformats.org/officeDocument/2006/relationships/oleObject" Target="../embeddings/oleObject34.bin"/><Relationship Id="rId6" Type="http://schemas.openxmlformats.org/officeDocument/2006/relationships/image" Target="../media/image65.wmf"/><Relationship Id="rId5" Type="http://schemas.openxmlformats.org/officeDocument/2006/relationships/oleObject" Target="../embeddings/oleObject33.bin"/><Relationship Id="rId4" Type="http://schemas.openxmlformats.org/officeDocument/2006/relationships/image" Target="../media/image64.wmf"/><Relationship Id="rId3" Type="http://schemas.openxmlformats.org/officeDocument/2006/relationships/oleObject" Target="../embeddings/oleObject32.bin"/><Relationship Id="rId2" Type="http://schemas.openxmlformats.org/officeDocument/2006/relationships/image" Target="../media/image63.wmf"/><Relationship Id="rId10" Type="http://schemas.openxmlformats.org/officeDocument/2006/relationships/vmlDrawing" Target="../drawings/vmlDrawing15.vml"/><Relationship Id="rId1" Type="http://schemas.openxmlformats.org/officeDocument/2006/relationships/oleObject" Target="../embeddings/oleObject31.bin"/></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67.wmf"/><Relationship Id="rId1" Type="http://schemas.openxmlformats.org/officeDocument/2006/relationships/oleObject" Target="../embeddings/oleObject35.bin"/></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8.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jpe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jpe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jpeg"/></Relationships>
</file>

<file path=ppt/slides/_rels/slide8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7.wmf"/><Relationship Id="rId7" Type="http://schemas.openxmlformats.org/officeDocument/2006/relationships/oleObject" Target="../embeddings/oleObject39.bin"/><Relationship Id="rId6" Type="http://schemas.openxmlformats.org/officeDocument/2006/relationships/image" Target="../media/image76.wmf"/><Relationship Id="rId5" Type="http://schemas.openxmlformats.org/officeDocument/2006/relationships/oleObject" Target="../embeddings/oleObject38.bin"/><Relationship Id="rId4" Type="http://schemas.openxmlformats.org/officeDocument/2006/relationships/image" Target="../media/image75.wmf"/><Relationship Id="rId3" Type="http://schemas.openxmlformats.org/officeDocument/2006/relationships/oleObject" Target="../embeddings/oleObject37.bin"/><Relationship Id="rId2" Type="http://schemas.openxmlformats.org/officeDocument/2006/relationships/image" Target="../media/image74.wmf"/><Relationship Id="rId10" Type="http://schemas.openxmlformats.org/officeDocument/2006/relationships/vmlDrawing" Target="../drawings/vmlDrawing17.vml"/><Relationship Id="rId1" Type="http://schemas.openxmlformats.org/officeDocument/2006/relationships/oleObject" Target="../embeddings/oleObject36.bin"/></Relationships>
</file>

<file path=ppt/slides/_rels/slide82.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7.xml"/><Relationship Id="rId4" Type="http://schemas.openxmlformats.org/officeDocument/2006/relationships/image" Target="../media/image79.wmf"/><Relationship Id="rId3" Type="http://schemas.openxmlformats.org/officeDocument/2006/relationships/oleObject" Target="../embeddings/oleObject41.bin"/><Relationship Id="rId2" Type="http://schemas.openxmlformats.org/officeDocument/2006/relationships/image" Target="../media/image78.wmf"/><Relationship Id="rId1" Type="http://schemas.openxmlformats.org/officeDocument/2006/relationships/oleObject" Target="../embeddings/oleObject40.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image" Target="../media/image80.jpe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3.jpeg"/><Relationship Id="rId1" Type="http://schemas.openxmlformats.org/officeDocument/2006/relationships/hyperlink" Target="javascript:dyn.onClickNextTbn()" TargetMode="External"/></Relationships>
</file>

<file path=ppt/slides/_rels/slide8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5.jpeg"/><Relationship Id="rId3" Type="http://schemas.openxmlformats.org/officeDocument/2006/relationships/hyperlink" Target="http://imgsrc.baidu.com/baike/pic/item/7e7f7909b25c5edb3bc763d2.jpg" TargetMode="External"/><Relationship Id="rId2" Type="http://schemas.openxmlformats.org/officeDocument/2006/relationships/image" Target="../media/image84.jpeg"/><Relationship Id="rId1" Type="http://schemas.openxmlformats.org/officeDocument/2006/relationships/hyperlink" Target="http://imgsrc.baidu.com/baike/pic/item/b853d6fc4491ede9fc037fd0.jpg" TargetMode="External"/></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7.jpeg"/><Relationship Id="rId3" Type="http://schemas.openxmlformats.org/officeDocument/2006/relationships/hyperlink" Target="http://imgsrc.baidu.com/baike/pic/item/0d729944345c4d58510ffe9e.jpg" TargetMode="External"/><Relationship Id="rId2" Type="http://schemas.openxmlformats.org/officeDocument/2006/relationships/image" Target="../media/image86.jpeg"/><Relationship Id="rId1" Type="http://schemas.openxmlformats.org/officeDocument/2006/relationships/hyperlink" Target="http://imgsrc.baidu.com/baike/pic/item/0b07ec1f67ab3c77f624e49c.jpg" TargetMode="Externa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8.jpeg"/><Relationship Id="rId1" Type="http://schemas.openxmlformats.org/officeDocument/2006/relationships/hyperlink" Target="javascript:dyn.onClickNextTbn()" TargetMode="Externa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9.jpeg"/><Relationship Id="rId1" Type="http://schemas.openxmlformats.org/officeDocument/2006/relationships/hyperlink" Target="javascript:dyn.onClickNextTbn()" TargetMode="Externa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0.jpeg"/><Relationship Id="rId1" Type="http://schemas.openxmlformats.org/officeDocument/2006/relationships/hyperlink" Target="http://imgsrc.baidu.com/baike/pic/item/3853ad1b0067bd0a8618bfef.jpg" TargetMode="Externa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1.jpeg"/><Relationship Id="rId1" Type="http://schemas.openxmlformats.org/officeDocument/2006/relationships/hyperlink" Target="javascript:dyn.onClickNextTbn()"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3.jpeg"/><Relationship Id="rId1" Type="http://schemas.openxmlformats.org/officeDocument/2006/relationships/image" Target="../media/image92.jpe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5.jpeg"/><Relationship Id="rId1" Type="http://schemas.openxmlformats.org/officeDocument/2006/relationships/image" Target="../media/image94.jpe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6.jpeg"/></Relationships>
</file>

<file path=ppt/slides/_rels/slide96.xml.rels><?xml version="1.0" encoding="UTF-8" standalone="yes"?>
<Relationships xmlns="http://schemas.openxmlformats.org/package/2006/relationships"><Relationship Id="rId5" Type="http://schemas.openxmlformats.org/officeDocument/2006/relationships/vmlDrawing" Target="../drawings/vmlDrawing19.vml"/><Relationship Id="rId4" Type="http://schemas.openxmlformats.org/officeDocument/2006/relationships/slideLayout" Target="../slideLayouts/slideLayout7.xml"/><Relationship Id="rId3" Type="http://schemas.openxmlformats.org/officeDocument/2006/relationships/image" Target="../media/image98.png"/><Relationship Id="rId2" Type="http://schemas.openxmlformats.org/officeDocument/2006/relationships/image" Target="../media/image97.wmf"/><Relationship Id="rId1" Type="http://schemas.openxmlformats.org/officeDocument/2006/relationships/oleObject" Target="../embeddings/oleObject42.bin"/></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0.png"/><Relationship Id="rId1" Type="http://schemas.openxmlformats.org/officeDocument/2006/relationships/image" Target="../media/image9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1.jpe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jpe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6.wmf"/><Relationship Id="rId7" Type="http://schemas.openxmlformats.org/officeDocument/2006/relationships/oleObject" Target="../embeddings/oleObject46.bin"/><Relationship Id="rId6" Type="http://schemas.openxmlformats.org/officeDocument/2006/relationships/image" Target="../media/image105.wmf"/><Relationship Id="rId5" Type="http://schemas.openxmlformats.org/officeDocument/2006/relationships/oleObject" Target="../embeddings/oleObject45.bin"/><Relationship Id="rId4" Type="http://schemas.openxmlformats.org/officeDocument/2006/relationships/image" Target="../media/image104.wmf"/><Relationship Id="rId3" Type="http://schemas.openxmlformats.org/officeDocument/2006/relationships/oleObject" Target="../embeddings/oleObject44.bin"/><Relationship Id="rId2" Type="http://schemas.openxmlformats.org/officeDocument/2006/relationships/image" Target="../media/image103.wmf"/><Relationship Id="rId10" Type="http://schemas.openxmlformats.org/officeDocument/2006/relationships/vmlDrawing" Target="../drawings/vmlDrawing20.vml"/><Relationship Id="rId1" Type="http://schemas.openxmlformats.org/officeDocument/2006/relationships/oleObject" Target="../embeddings/oleObject43.bin"/></Relationships>
</file>

<file path=ppt/slides/_rels/slide10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8.jpeg"/><Relationship Id="rId3" Type="http://schemas.openxmlformats.org/officeDocument/2006/relationships/hyperlink" Target="http://tupian.hudong.com/a0_34_55_01300000178518121657556909335_jpg.html" TargetMode="External"/><Relationship Id="rId2" Type="http://schemas.openxmlformats.org/officeDocument/2006/relationships/image" Target="../media/image107.jpeg"/><Relationship Id="rId1" Type="http://schemas.openxmlformats.org/officeDocument/2006/relationships/hyperlink" Target="http://tupian.hudong.com/a4_68_55_01300000178518121657559824043_jpg.html" TargetMode="External"/></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0.jpeg"/><Relationship Id="rId1" Type="http://schemas.openxmlformats.org/officeDocument/2006/relationships/image" Target="../media/image109.jpe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1.jpe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3.jpeg"/><Relationship Id="rId1" Type="http://schemas.openxmlformats.org/officeDocument/2006/relationships/image" Target="../media/image112.jpeg"/></Relationships>
</file>

<file path=ppt/slides/_rels/slide110.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7.xml"/><Relationship Id="rId2" Type="http://schemas.openxmlformats.org/officeDocument/2006/relationships/image" Target="../media/image114.wmf"/><Relationship Id="rId1" Type="http://schemas.openxmlformats.org/officeDocument/2006/relationships/oleObject" Target="../embeddings/oleObject47.bin"/></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5.png"/></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7.emf"/><Relationship Id="rId1" Type="http://schemas.openxmlformats.org/officeDocument/2006/relationships/image" Target="../media/image116.emf"/></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8.emf"/></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9.emf"/></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838200" y="304800"/>
            <a:ext cx="777240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a:ea typeface="微软雅黑" panose="020B0503020204020204" charset="-122"/>
              </a:rPr>
              <a:t>第五章   无机物的电解工业</a:t>
            </a:r>
            <a:endParaRPr lang="zh-CN" altLang="en-US" sz="3600" b="1">
              <a:ea typeface="微软雅黑" panose="020B0503020204020204" charset="-122"/>
            </a:endParaRPr>
          </a:p>
        </p:txBody>
      </p:sp>
      <p:sp>
        <p:nvSpPr>
          <p:cNvPr id="3079" name="Text Box 7"/>
          <p:cNvSpPr txBox="1">
            <a:spLocks noChangeArrowheads="1"/>
          </p:cNvSpPr>
          <p:nvPr/>
        </p:nvSpPr>
        <p:spPr bwMode="auto">
          <a:xfrm>
            <a:off x="914400" y="1600200"/>
            <a:ext cx="7696200" cy="3538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latin typeface="Arial" panose="020B0604020202020204" pitchFamily="34" charset="0"/>
                <a:ea typeface="微软雅黑" panose="020B0503020204020204" charset="-122"/>
              </a:rPr>
              <a:t>本章主要内容</a:t>
            </a:r>
            <a:r>
              <a:rPr lang="en-US" altLang="zh-CN" sz="3200" b="1">
                <a:latin typeface="Arial" panose="020B0604020202020204" pitchFamily="34" charset="0"/>
                <a:ea typeface="微软雅黑" panose="020B0503020204020204" charset="-122"/>
              </a:rPr>
              <a:t>:</a:t>
            </a:r>
            <a:endParaRPr lang="en-US" altLang="zh-CN" sz="3200" b="1">
              <a:latin typeface="Arial" panose="020B0604020202020204" pitchFamily="34" charset="0"/>
              <a:ea typeface="微软雅黑" panose="020B0503020204020204" charset="-122"/>
            </a:endParaRPr>
          </a:p>
          <a:p>
            <a:pPr>
              <a:spcBef>
                <a:spcPct val="50000"/>
              </a:spcBef>
            </a:pPr>
            <a:r>
              <a:rPr lang="en-US" altLang="zh-CN" sz="3200" b="1">
                <a:latin typeface="Arial" panose="020B0604020202020204" pitchFamily="34" charset="0"/>
                <a:ea typeface="微软雅黑" panose="020B0503020204020204" charset="-122"/>
              </a:rPr>
              <a:t>1.</a:t>
            </a:r>
            <a:r>
              <a:rPr lang="zh-CN" altLang="en-US" sz="3200" b="1">
                <a:latin typeface="Arial" panose="020B0604020202020204" pitchFamily="34" charset="0"/>
                <a:ea typeface="微软雅黑" panose="020B0503020204020204" charset="-122"/>
              </a:rPr>
              <a:t>基础知识</a:t>
            </a:r>
            <a:endParaRPr lang="zh-CN" altLang="en-US" sz="3200" b="1">
              <a:latin typeface="Arial" panose="020B0604020202020204" pitchFamily="34" charset="0"/>
              <a:ea typeface="微软雅黑" panose="020B0503020204020204" charset="-122"/>
            </a:endParaRPr>
          </a:p>
          <a:p>
            <a:pPr>
              <a:spcBef>
                <a:spcPct val="50000"/>
              </a:spcBef>
            </a:pPr>
            <a:r>
              <a:rPr lang="en-US" altLang="zh-CN" sz="3200" b="1">
                <a:latin typeface="Arial" panose="020B0604020202020204" pitchFamily="34" charset="0"/>
                <a:ea typeface="微软雅黑" panose="020B0503020204020204" charset="-122"/>
              </a:rPr>
              <a:t>2.</a:t>
            </a:r>
            <a:r>
              <a:rPr lang="zh-CN" altLang="en-US" sz="3200" b="1">
                <a:latin typeface="Arial" panose="020B0604020202020204" pitchFamily="34" charset="0"/>
                <a:ea typeface="微软雅黑" panose="020B0503020204020204" charset="-122"/>
              </a:rPr>
              <a:t>氯碱工业</a:t>
            </a:r>
            <a:endParaRPr lang="zh-CN" altLang="en-US" sz="3200" b="1">
              <a:latin typeface="Arial" panose="020B0604020202020204" pitchFamily="34" charset="0"/>
              <a:ea typeface="微软雅黑" panose="020B0503020204020204" charset="-122"/>
            </a:endParaRPr>
          </a:p>
          <a:p>
            <a:pPr>
              <a:spcBef>
                <a:spcPct val="50000"/>
              </a:spcBef>
            </a:pPr>
            <a:r>
              <a:rPr lang="en-US" altLang="zh-CN" sz="3200" b="1">
                <a:latin typeface="Arial" panose="020B0604020202020204" pitchFamily="34" charset="0"/>
                <a:ea typeface="微软雅黑" panose="020B0503020204020204" charset="-122"/>
              </a:rPr>
              <a:t>3.</a:t>
            </a:r>
            <a:r>
              <a:rPr lang="zh-CN" altLang="en-US" sz="3200" b="1">
                <a:latin typeface="Arial" panose="020B0604020202020204" pitchFamily="34" charset="0"/>
                <a:ea typeface="微软雅黑" panose="020B0503020204020204" charset="-122"/>
              </a:rPr>
              <a:t>氯酸盐和高氯酸盐的电合成</a:t>
            </a:r>
            <a:endParaRPr lang="zh-CN" altLang="en-US" sz="3200" b="1">
              <a:latin typeface="Arial" panose="020B0604020202020204" pitchFamily="34" charset="0"/>
              <a:ea typeface="微软雅黑" panose="020B0503020204020204" charset="-122"/>
            </a:endParaRPr>
          </a:p>
          <a:p>
            <a:pPr>
              <a:spcBef>
                <a:spcPct val="50000"/>
              </a:spcBef>
            </a:pPr>
            <a:r>
              <a:rPr lang="en-US" altLang="zh-CN" sz="3200" b="1">
                <a:latin typeface="Arial" panose="020B0604020202020204" pitchFamily="34" charset="0"/>
                <a:ea typeface="微软雅黑" panose="020B0503020204020204" charset="-122"/>
              </a:rPr>
              <a:t>4.</a:t>
            </a:r>
            <a:r>
              <a:rPr lang="zh-CN" altLang="en-US" sz="3200" b="1">
                <a:latin typeface="Arial" panose="020B0604020202020204" pitchFamily="34" charset="0"/>
                <a:ea typeface="微软雅黑" panose="020B0503020204020204" charset="-122"/>
              </a:rPr>
              <a:t>锰化合物的电解合成   </a:t>
            </a:r>
            <a:endParaRPr lang="zh-CN" altLang="en-US" sz="3200" b="1">
              <a:latin typeface="Arial" panose="020B0604020202020204" pitchFamily="34" charset="0"/>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3204210" y="44450"/>
            <a:ext cx="356235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200" b="1">
                <a:ea typeface="微软雅黑" panose="020B0503020204020204" charset="-122"/>
              </a:rPr>
              <a:t>5.1   </a:t>
            </a:r>
            <a:r>
              <a:rPr lang="zh-CN" altLang="en-US" sz="3200" b="1">
                <a:ea typeface="微软雅黑" panose="020B0503020204020204" charset="-122"/>
              </a:rPr>
              <a:t>基础知识</a:t>
            </a:r>
            <a:endParaRPr lang="zh-CN" altLang="en-US" sz="3200" b="1">
              <a:ea typeface="微软雅黑" panose="020B0503020204020204" charset="-122"/>
            </a:endParaRPr>
          </a:p>
        </p:txBody>
      </p:sp>
      <p:sp>
        <p:nvSpPr>
          <p:cNvPr id="72707" name="Text Box 3"/>
          <p:cNvSpPr txBox="1">
            <a:spLocks noChangeArrowheads="1"/>
          </p:cNvSpPr>
          <p:nvPr/>
        </p:nvSpPr>
        <p:spPr bwMode="auto">
          <a:xfrm>
            <a:off x="342900" y="692785"/>
            <a:ext cx="845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ea typeface="微软雅黑" panose="020B0503020204020204" charset="-122"/>
              </a:rPr>
              <a:t>本章主要介绍利用电化学方法合成工业上的一些产品</a:t>
            </a:r>
            <a:endParaRPr lang="zh-CN" altLang="en-US" sz="2800">
              <a:ea typeface="微软雅黑" panose="020B0503020204020204" charset="-122"/>
            </a:endParaRPr>
          </a:p>
        </p:txBody>
      </p:sp>
      <p:sp>
        <p:nvSpPr>
          <p:cNvPr id="72708" name="Text Box 4"/>
          <p:cNvSpPr txBox="1">
            <a:spLocks noChangeArrowheads="1"/>
          </p:cNvSpPr>
          <p:nvPr/>
        </p:nvSpPr>
        <p:spPr bwMode="auto">
          <a:xfrm>
            <a:off x="467995" y="1412875"/>
            <a:ext cx="3733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ea typeface="微软雅黑" panose="020B0503020204020204" charset="-122"/>
              </a:rPr>
              <a:t>1.</a:t>
            </a:r>
            <a:r>
              <a:rPr lang="zh-CN" altLang="en-US" sz="2800" b="1">
                <a:ea typeface="微软雅黑" panose="020B0503020204020204" charset="-122"/>
              </a:rPr>
              <a:t>电解合成方法的优点</a:t>
            </a:r>
            <a:endParaRPr lang="zh-CN" altLang="en-US" sz="2800" b="1">
              <a:ea typeface="微软雅黑" panose="020B0503020204020204" charset="-122"/>
            </a:endParaRPr>
          </a:p>
        </p:txBody>
      </p:sp>
      <p:sp>
        <p:nvSpPr>
          <p:cNvPr id="72709" name="Text Box 5"/>
          <p:cNvSpPr txBox="1">
            <a:spLocks noChangeArrowheads="1"/>
          </p:cNvSpPr>
          <p:nvPr/>
        </p:nvSpPr>
        <p:spPr bwMode="auto">
          <a:xfrm>
            <a:off x="395605" y="2060575"/>
            <a:ext cx="8001000" cy="4554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800">
                <a:latin typeface="Arial" panose="020B0604020202020204" pitchFamily="34" charset="0"/>
                <a:ea typeface="微软雅黑" panose="020B0503020204020204" charset="-122"/>
              </a:rPr>
              <a:t>(1)</a:t>
            </a:r>
            <a:r>
              <a:rPr lang="zh-CN" altLang="en-US" sz="2800">
                <a:solidFill>
                  <a:srgbClr val="FF3300"/>
                </a:solidFill>
                <a:latin typeface="Arial" panose="020B0604020202020204" pitchFamily="34" charset="0"/>
                <a:ea typeface="微软雅黑" panose="020B0503020204020204" charset="-122"/>
              </a:rPr>
              <a:t>污染少，电子是清洁的反应试剂。</a:t>
            </a:r>
            <a:r>
              <a:rPr lang="zh-CN" altLang="en-US" sz="2400">
                <a:latin typeface="Arial" panose="020B0604020202020204" pitchFamily="34" charset="0"/>
                <a:ea typeface="微软雅黑" panose="020B0503020204020204" charset="-122"/>
              </a:rPr>
              <a:t>电合成中一般不用外加化学氧化剂或还原剂，杂 质少，产品纯。</a:t>
            </a:r>
            <a:endParaRPr lang="zh-CN" altLang="en-US" sz="2800">
              <a:solidFill>
                <a:srgbClr val="FF3300"/>
              </a:solidFill>
              <a:latin typeface="Arial" panose="020B0604020202020204" pitchFamily="34" charset="0"/>
              <a:ea typeface="微软雅黑" panose="020B0503020204020204" charset="-122"/>
            </a:endParaRPr>
          </a:p>
          <a:p>
            <a:pPr algn="just">
              <a:spcBef>
                <a:spcPct val="50000"/>
              </a:spcBef>
            </a:pPr>
            <a:r>
              <a:rPr lang="en-US" altLang="zh-CN" sz="2800">
                <a:latin typeface="Arial" panose="020B0604020202020204" pitchFamily="34" charset="0"/>
                <a:ea typeface="微软雅黑" panose="020B0503020204020204" charset="-122"/>
              </a:rPr>
              <a:t>(2)</a:t>
            </a:r>
            <a:r>
              <a:rPr lang="zh-CN" altLang="en-US" sz="2800">
                <a:solidFill>
                  <a:srgbClr val="FF3300"/>
                </a:solidFill>
                <a:latin typeface="Arial" panose="020B0604020202020204" pitchFamily="34" charset="0"/>
                <a:ea typeface="微软雅黑" panose="020B0503020204020204" charset="-122"/>
              </a:rPr>
              <a:t>可在常温常压下进行</a:t>
            </a:r>
            <a:r>
              <a:rPr lang="zh-CN" altLang="en-US" sz="2800">
                <a:latin typeface="Arial" panose="020B0604020202020204" pitchFamily="34" charset="0"/>
                <a:ea typeface="微软雅黑" panose="020B0503020204020204" charset="-122"/>
              </a:rPr>
              <a:t>。电合成主要通过调节电位去改变反应的活化能，</a:t>
            </a:r>
            <a:endParaRPr lang="zh-CN" altLang="en-US" sz="2800">
              <a:latin typeface="Arial" panose="020B0604020202020204" pitchFamily="34" charset="0"/>
              <a:ea typeface="微软雅黑" panose="020B0503020204020204" charset="-122"/>
            </a:endParaRPr>
          </a:p>
          <a:p>
            <a:pPr algn="just">
              <a:spcBef>
                <a:spcPct val="50000"/>
              </a:spcBef>
            </a:pPr>
            <a:r>
              <a:rPr lang="zh-CN" altLang="en-US" sz="2800">
                <a:latin typeface="Arial" panose="020B0604020202020204" pitchFamily="34" charset="0"/>
                <a:ea typeface="微软雅黑" panose="020B0503020204020204" charset="-122"/>
              </a:rPr>
              <a:t> </a:t>
            </a:r>
            <a:r>
              <a:rPr lang="en-US" altLang="zh-CN" sz="2800">
                <a:latin typeface="Arial" panose="020B0604020202020204" pitchFamily="34" charset="0"/>
                <a:ea typeface="微软雅黑" panose="020B0503020204020204" charset="-122"/>
              </a:rPr>
              <a:t>(3)</a:t>
            </a:r>
            <a:r>
              <a:rPr lang="zh-CN" altLang="en-US" sz="2800">
                <a:solidFill>
                  <a:srgbClr val="FF3300"/>
                </a:solidFill>
                <a:latin typeface="Arial" panose="020B0604020202020204" pitchFamily="34" charset="0"/>
                <a:ea typeface="微软雅黑" panose="020B0503020204020204" charset="-122"/>
              </a:rPr>
              <a:t>易控制反应的方向</a:t>
            </a:r>
            <a:r>
              <a:rPr lang="zh-CN" altLang="en-US" sz="2800">
                <a:latin typeface="Arial" panose="020B0604020202020204" pitchFamily="34" charset="0"/>
                <a:ea typeface="微软雅黑" panose="020B0503020204020204" charset="-122"/>
              </a:rPr>
              <a:t>。通过控制电势，选择适当的电极等方法，易实现电解反应的控制，避免副反应，得到所希望的产品。 </a:t>
            </a:r>
            <a:endParaRPr lang="zh-CN" altLang="en-US" sz="2800">
              <a:latin typeface="Arial" panose="020B0604020202020204" pitchFamily="34" charset="0"/>
              <a:ea typeface="微软雅黑" panose="020B0503020204020204" charset="-122"/>
            </a:endParaRPr>
          </a:p>
          <a:p>
            <a:pPr algn="just">
              <a:spcBef>
                <a:spcPct val="50000"/>
              </a:spcBef>
            </a:pPr>
            <a:r>
              <a:rPr lang="en-US" altLang="zh-CN" sz="2800">
                <a:latin typeface="Arial" panose="020B0604020202020204" pitchFamily="34" charset="0"/>
                <a:ea typeface="微软雅黑" panose="020B0503020204020204" charset="-122"/>
                <a:sym typeface="+mn-ea"/>
              </a:rPr>
              <a:t>(4)</a:t>
            </a:r>
            <a:r>
              <a:rPr lang="zh-CN" altLang="en-US" sz="2800">
                <a:solidFill>
                  <a:srgbClr val="FF3300"/>
                </a:solidFill>
                <a:latin typeface="Arial" panose="020B0604020202020204" pitchFamily="34" charset="0"/>
                <a:ea typeface="微软雅黑" panose="020B0503020204020204" charset="-122"/>
                <a:sym typeface="+mn-ea"/>
              </a:rPr>
              <a:t>电化学过程的电参数便于数据采集，生产过程容易自动化控制，电解槽可以连续运转</a:t>
            </a:r>
            <a:r>
              <a:rPr lang="zh-CN" altLang="en-US" sz="2800">
                <a:latin typeface="Arial" panose="020B0604020202020204" pitchFamily="34" charset="0"/>
                <a:ea typeface="微软雅黑" panose="020B0503020204020204" charset="-122"/>
                <a:sym typeface="+mn-ea"/>
              </a:rPr>
              <a:t>。</a:t>
            </a:r>
            <a:endParaRPr lang="zh-CN" altLang="en-US" sz="2800">
              <a:latin typeface="Arial" panose="020B0604020202020204" pitchFamily="34" charset="0"/>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179705" y="404495"/>
            <a:ext cx="8153400" cy="569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800" b="1" dirty="0">
                <a:latin typeface="Arial" panose="020B0604020202020204" pitchFamily="34" charset="0"/>
                <a:ea typeface="微软雅黑" panose="020B0503020204020204" charset="-122"/>
                <a:sym typeface="+mn-ea"/>
              </a:rPr>
              <a:t>2. </a:t>
            </a:r>
            <a:r>
              <a:rPr lang="zh-CN" altLang="en-US" sz="2800" b="1" dirty="0">
                <a:latin typeface="Arial" panose="020B0604020202020204" pitchFamily="34" charset="0"/>
                <a:ea typeface="微软雅黑" panose="020B0503020204020204" charset="-122"/>
                <a:sym typeface="+mn-ea"/>
              </a:rPr>
              <a:t>电化学合成的缺点</a:t>
            </a:r>
            <a:endParaRPr lang="en-US" altLang="zh-CN" sz="2800" b="1" dirty="0">
              <a:latin typeface="Arial" panose="020B0604020202020204" pitchFamily="34" charset="0"/>
              <a:ea typeface="微软雅黑" panose="020B0503020204020204" charset="-122"/>
            </a:endParaRPr>
          </a:p>
          <a:p>
            <a:pPr algn="just">
              <a:spcBef>
                <a:spcPct val="50000"/>
              </a:spcBef>
            </a:pPr>
            <a:r>
              <a:rPr lang="en-US" altLang="zh-CN" sz="2800" dirty="0">
                <a:latin typeface="Arial" panose="020B0604020202020204" pitchFamily="34" charset="0"/>
                <a:ea typeface="微软雅黑" panose="020B0503020204020204" charset="-122"/>
              </a:rPr>
              <a:t>(1)</a:t>
            </a:r>
            <a:r>
              <a:rPr lang="zh-CN" altLang="en-US" sz="2800" dirty="0">
                <a:solidFill>
                  <a:srgbClr val="FF0000"/>
                </a:solidFill>
                <a:latin typeface="Arial" panose="020B0604020202020204" pitchFamily="34" charset="0"/>
                <a:ea typeface="微软雅黑" panose="020B0503020204020204" charset="-122"/>
              </a:rPr>
              <a:t>消耗大量电能</a:t>
            </a:r>
            <a:r>
              <a:rPr lang="zh-CN" altLang="en-US" sz="2800" dirty="0">
                <a:latin typeface="Arial" panose="020B0604020202020204" pitchFamily="34" charset="0"/>
                <a:ea typeface="微软雅黑" panose="020B0503020204020204" charset="-122"/>
              </a:rPr>
              <a:t>。例如每生产</a:t>
            </a:r>
            <a:r>
              <a:rPr lang="en-US" altLang="zh-CN" sz="2800" dirty="0">
                <a:latin typeface="Arial" panose="020B0604020202020204" pitchFamily="34" charset="0"/>
                <a:ea typeface="微软雅黑" panose="020B0503020204020204" charset="-122"/>
              </a:rPr>
              <a:t>1</a:t>
            </a:r>
            <a:r>
              <a:rPr lang="zh-CN" altLang="en-US" sz="2800" dirty="0">
                <a:latin typeface="Arial" panose="020B0604020202020204" pitchFamily="34" charset="0"/>
                <a:ea typeface="微软雅黑" panose="020B0503020204020204" charset="-122"/>
              </a:rPr>
              <a:t>吨铝耗电</a:t>
            </a:r>
            <a:r>
              <a:rPr lang="en-US" altLang="zh-CN" sz="2800" dirty="0">
                <a:latin typeface="Arial" panose="020B0604020202020204" pitchFamily="34" charset="0"/>
                <a:ea typeface="微软雅黑" panose="020B0503020204020204" charset="-122"/>
              </a:rPr>
              <a:t>18500Kw/h</a:t>
            </a:r>
            <a:r>
              <a:rPr lang="zh-CN" altLang="en-US" sz="2800" dirty="0">
                <a:latin typeface="Arial" panose="020B0604020202020204" pitchFamily="34" charset="0"/>
                <a:ea typeface="微软雅黑" panose="020B0503020204020204" charset="-122"/>
              </a:rPr>
              <a:t>，生产</a:t>
            </a:r>
            <a:r>
              <a:rPr lang="en-US" altLang="zh-CN" sz="2800" dirty="0">
                <a:latin typeface="Arial" panose="020B0604020202020204" pitchFamily="34" charset="0"/>
                <a:ea typeface="微软雅黑" panose="020B0503020204020204" charset="-122"/>
              </a:rPr>
              <a:t>1</a:t>
            </a:r>
            <a:r>
              <a:rPr lang="zh-CN" altLang="en-US" sz="2800" dirty="0">
                <a:latin typeface="Arial" panose="020B0604020202020204" pitchFamily="34" charset="0"/>
                <a:ea typeface="微软雅黑" panose="020B0503020204020204" charset="-122"/>
              </a:rPr>
              <a:t>吨氢氧化钠耗电</a:t>
            </a:r>
            <a:r>
              <a:rPr lang="en-US" altLang="zh-CN" sz="2800" dirty="0">
                <a:latin typeface="Arial" panose="020B0604020202020204" pitchFamily="34" charset="0"/>
                <a:ea typeface="微软雅黑" panose="020B0503020204020204" charset="-122"/>
              </a:rPr>
              <a:t>3150kw/h</a:t>
            </a:r>
            <a:r>
              <a:rPr lang="zh-CN" altLang="en-US" sz="2800" dirty="0">
                <a:latin typeface="Arial" panose="020B0604020202020204" pitchFamily="34" charset="0"/>
                <a:ea typeface="微软雅黑" panose="020B0503020204020204" charset="-122"/>
              </a:rPr>
              <a:t>，电解锌每吨耗电</a:t>
            </a:r>
            <a:r>
              <a:rPr lang="en-US" altLang="zh-CN" sz="2800" dirty="0">
                <a:latin typeface="Arial" panose="020B0604020202020204" pitchFamily="34" charset="0"/>
                <a:ea typeface="微软雅黑" panose="020B0503020204020204" charset="-122"/>
              </a:rPr>
              <a:t>6000kW/h</a:t>
            </a:r>
            <a:r>
              <a:rPr lang="zh-CN" altLang="en-US" sz="2800" dirty="0">
                <a:latin typeface="Arial" panose="020B0604020202020204" pitchFamily="34" charset="0"/>
                <a:ea typeface="微软雅黑" panose="020B0503020204020204" charset="-122"/>
              </a:rPr>
              <a:t>。</a:t>
            </a:r>
            <a:endParaRPr lang="zh-CN" altLang="en-US" sz="2800" dirty="0">
              <a:latin typeface="Arial" panose="020B0604020202020204" pitchFamily="34" charset="0"/>
              <a:ea typeface="微软雅黑" panose="020B0503020204020204" charset="-122"/>
            </a:endParaRPr>
          </a:p>
          <a:p>
            <a:pPr algn="just">
              <a:spcBef>
                <a:spcPct val="50000"/>
              </a:spcBef>
            </a:pPr>
            <a:r>
              <a:rPr lang="en-US" altLang="zh-CN" sz="2800" dirty="0">
                <a:latin typeface="Arial" panose="020B0604020202020204" pitchFamily="34" charset="0"/>
                <a:ea typeface="微软雅黑" panose="020B0503020204020204" charset="-122"/>
              </a:rPr>
              <a:t>(2)</a:t>
            </a:r>
            <a:r>
              <a:rPr lang="zh-CN" altLang="en-US" sz="2800" dirty="0">
                <a:solidFill>
                  <a:srgbClr val="FF0000"/>
                </a:solidFill>
                <a:latin typeface="Arial" panose="020B0604020202020204" pitchFamily="34" charset="0"/>
                <a:ea typeface="微软雅黑" panose="020B0503020204020204" charset="-122"/>
              </a:rPr>
              <a:t>占用厂房面积大</a:t>
            </a:r>
            <a:r>
              <a:rPr lang="zh-CN" altLang="en-US" sz="2800" dirty="0">
                <a:latin typeface="Arial" panose="020B0604020202020204" pitchFamily="34" charset="0"/>
                <a:ea typeface="微软雅黑" panose="020B0503020204020204" charset="-122"/>
              </a:rPr>
              <a:t>。由于生产中要同时用许多电解槽</a:t>
            </a:r>
            <a:r>
              <a:rPr lang="en-US" altLang="zh-CN" sz="2800" dirty="0">
                <a:latin typeface="Arial" panose="020B0604020202020204" pitchFamily="34" charset="0"/>
                <a:ea typeface="微软雅黑" panose="020B0503020204020204" charset="-122"/>
              </a:rPr>
              <a:t>,</a:t>
            </a:r>
            <a:r>
              <a:rPr lang="zh-CN" altLang="en-US" sz="2800" dirty="0">
                <a:latin typeface="Arial" panose="020B0604020202020204" pitchFamily="34" charset="0"/>
                <a:ea typeface="微软雅黑" panose="020B0503020204020204" charset="-122"/>
              </a:rPr>
              <a:t>一些前处理还要占用厂房等。另外，要实现各槽在相同条件下运行，需较高的技术水平和管理水平。</a:t>
            </a:r>
            <a:endParaRPr lang="zh-CN" altLang="en-US" sz="2800" dirty="0">
              <a:latin typeface="Arial" panose="020B0604020202020204" pitchFamily="34" charset="0"/>
              <a:ea typeface="微软雅黑" panose="020B0503020204020204" charset="-122"/>
            </a:endParaRPr>
          </a:p>
          <a:p>
            <a:pPr algn="just">
              <a:spcBef>
                <a:spcPct val="50000"/>
              </a:spcBef>
            </a:pPr>
            <a:r>
              <a:rPr lang="en-US" altLang="zh-CN" sz="2800" dirty="0">
                <a:latin typeface="Arial" panose="020B0604020202020204" pitchFamily="34" charset="0"/>
                <a:ea typeface="微软雅黑" panose="020B0503020204020204" charset="-122"/>
              </a:rPr>
              <a:t>(3)</a:t>
            </a:r>
            <a:r>
              <a:rPr lang="zh-CN" altLang="en-US" sz="2800">
                <a:latin typeface="Arial" panose="020B0604020202020204" pitchFamily="34" charset="0"/>
                <a:ea typeface="微软雅黑" panose="020B0503020204020204" charset="-122"/>
              </a:rPr>
              <a:t>有些</a:t>
            </a:r>
            <a:r>
              <a:rPr lang="zh-CN" altLang="en-US" sz="2800">
                <a:solidFill>
                  <a:srgbClr val="FF0000"/>
                </a:solidFill>
                <a:latin typeface="Arial" panose="020B0604020202020204" pitchFamily="34" charset="0"/>
                <a:ea typeface="微软雅黑" panose="020B0503020204020204" charset="-122"/>
              </a:rPr>
              <a:t>电解槽结构复杂</a:t>
            </a:r>
            <a:r>
              <a:rPr lang="zh-CN" altLang="en-US" sz="2800">
                <a:latin typeface="Arial" panose="020B0604020202020204" pitchFamily="34" charset="0"/>
                <a:ea typeface="微软雅黑" panose="020B0503020204020204" charset="-122"/>
              </a:rPr>
              <a:t>，电极间电器绝缘，</a:t>
            </a:r>
            <a:r>
              <a:rPr lang="zh-CN" altLang="en-US" sz="2800">
                <a:solidFill>
                  <a:srgbClr val="FF0000"/>
                </a:solidFill>
                <a:latin typeface="Arial" panose="020B0604020202020204" pitchFamily="34" charset="0"/>
                <a:ea typeface="微软雅黑" panose="020B0503020204020204" charset="-122"/>
              </a:rPr>
              <a:t>隔膜的制造、保护和调换比较困难</a:t>
            </a:r>
            <a:r>
              <a:rPr lang="zh-CN" altLang="en-US" sz="2800">
                <a:latin typeface="Arial" panose="020B0604020202020204" pitchFamily="34" charset="0"/>
                <a:ea typeface="微软雅黑" panose="020B0503020204020204" charset="-122"/>
              </a:rPr>
              <a:t>。 </a:t>
            </a:r>
            <a:endParaRPr lang="zh-CN" altLang="en-US" sz="2800">
              <a:latin typeface="Arial" panose="020B0604020202020204" pitchFamily="34" charset="0"/>
              <a:ea typeface="微软雅黑" panose="020B0503020204020204" charset="-122"/>
            </a:endParaRPr>
          </a:p>
          <a:p>
            <a:pPr algn="just">
              <a:spcBef>
                <a:spcPct val="50000"/>
              </a:spcBef>
            </a:pPr>
            <a:r>
              <a:rPr lang="en-US" altLang="zh-CN" sz="2800" dirty="0">
                <a:latin typeface="Arial" panose="020B0604020202020204" pitchFamily="34" charset="0"/>
                <a:ea typeface="微软雅黑" panose="020B0503020204020204" charset="-122"/>
              </a:rPr>
              <a:t>(4)</a:t>
            </a:r>
            <a:r>
              <a:rPr lang="zh-CN" altLang="en-US" sz="2800" dirty="0">
                <a:solidFill>
                  <a:srgbClr val="FF0000"/>
                </a:solidFill>
                <a:latin typeface="Arial" panose="020B0604020202020204" pitchFamily="34" charset="0"/>
                <a:ea typeface="微软雅黑" panose="020B0503020204020204" charset="-122"/>
              </a:rPr>
              <a:t>电极易受污染，活性不易维持</a:t>
            </a:r>
            <a:r>
              <a:rPr lang="zh-CN" altLang="en-US" sz="2800" dirty="0">
                <a:latin typeface="Arial" panose="020B0604020202020204" pitchFamily="34" charset="0"/>
                <a:ea typeface="微软雅黑" panose="020B0503020204020204" charset="-122"/>
              </a:rPr>
              <a:t>．阳极尤易受到腐蚀损耗。</a:t>
            </a:r>
            <a:endParaRPr lang="zh-CN" altLang="en-US" sz="2800" dirty="0">
              <a:latin typeface="Arial" panose="020B0604020202020204" pitchFamily="34" charset="0"/>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7" name="Text Box 5"/>
          <p:cNvSpPr txBox="1">
            <a:spLocks noChangeArrowheads="1"/>
          </p:cNvSpPr>
          <p:nvPr/>
        </p:nvSpPr>
        <p:spPr bwMode="auto">
          <a:xfrm>
            <a:off x="827088" y="836613"/>
            <a:ext cx="7993062" cy="3538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tx1"/>
                </a:solidFill>
                <a:uFillTx/>
                <a:latin typeface="Arial" panose="020B0604020202020204" pitchFamily="34" charset="0"/>
                <a:ea typeface="微软雅黑" panose="020B0503020204020204" charset="-122"/>
              </a:rPr>
              <a:t>        </a:t>
            </a:r>
            <a:r>
              <a:rPr lang="zh-CN" altLang="en-US" sz="2800">
                <a:solidFill>
                  <a:schemeClr val="tx1"/>
                </a:solidFill>
                <a:uFillTx/>
                <a:latin typeface="Arial" panose="020B0604020202020204" pitchFamily="34" charset="0"/>
                <a:ea typeface="微软雅黑" panose="020B0503020204020204" charset="-122"/>
              </a:rPr>
              <a:t>克服电合成的不足，积极发展电合成工业，这是努力的目标。但现在可根据下述情况考虑采用电合成方法</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a:p>
            <a:r>
              <a:rPr lang="en-US" altLang="zh-CN" sz="2800">
                <a:solidFill>
                  <a:schemeClr val="tx1"/>
                </a:solidFill>
                <a:uFillTx/>
                <a:latin typeface="Arial" panose="020B0604020202020204" pitchFamily="34" charset="0"/>
                <a:ea typeface="微软雅黑" panose="020B0503020204020204" charset="-122"/>
              </a:rPr>
              <a:t>①</a:t>
            </a:r>
            <a:r>
              <a:rPr lang="zh-CN" altLang="en-US" sz="2800">
                <a:solidFill>
                  <a:schemeClr val="tx1"/>
                </a:solidFill>
                <a:uFillTx/>
                <a:latin typeface="Arial" panose="020B0604020202020204" pitchFamily="34" charset="0"/>
                <a:ea typeface="微软雅黑" panose="020B0503020204020204" charset="-122"/>
              </a:rPr>
              <a:t>没有已知的化学方法</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a:p>
            <a:r>
              <a:rPr lang="en-US" altLang="zh-CN" sz="2800">
                <a:solidFill>
                  <a:schemeClr val="tx1"/>
                </a:solidFill>
                <a:uFillTx/>
                <a:latin typeface="Arial" panose="020B0604020202020204" pitchFamily="34" charset="0"/>
                <a:ea typeface="微软雅黑" panose="020B0503020204020204" charset="-122"/>
              </a:rPr>
              <a:t>②</a:t>
            </a:r>
            <a:r>
              <a:rPr lang="zh-CN" altLang="en-US" sz="2800">
                <a:solidFill>
                  <a:schemeClr val="tx1"/>
                </a:solidFill>
                <a:uFillTx/>
                <a:latin typeface="Arial" panose="020B0604020202020204" pitchFamily="34" charset="0"/>
                <a:ea typeface="微软雅黑" panose="020B0503020204020204" charset="-122"/>
              </a:rPr>
              <a:t>已知化学方法步骤多或产率低</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a:p>
            <a:r>
              <a:rPr lang="en-US" altLang="zh-CN" sz="2800">
                <a:solidFill>
                  <a:schemeClr val="tx1"/>
                </a:solidFill>
                <a:uFillTx/>
                <a:latin typeface="Arial" panose="020B0604020202020204" pitchFamily="34" charset="0"/>
                <a:ea typeface="微软雅黑" panose="020B0503020204020204" charset="-122"/>
              </a:rPr>
              <a:t>③</a:t>
            </a:r>
            <a:r>
              <a:rPr lang="zh-CN" altLang="en-US" sz="2800">
                <a:solidFill>
                  <a:schemeClr val="tx1"/>
                </a:solidFill>
                <a:uFillTx/>
                <a:latin typeface="Arial" panose="020B0604020202020204" pitchFamily="34" charset="0"/>
                <a:ea typeface="微软雅黑" panose="020B0503020204020204" charset="-122"/>
              </a:rPr>
              <a:t>化学方法采用的试剂价格太贵</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a:p>
            <a:r>
              <a:rPr lang="en-US" altLang="zh-CN" sz="2800">
                <a:solidFill>
                  <a:schemeClr val="tx1"/>
                </a:solidFill>
                <a:uFillTx/>
                <a:latin typeface="Arial" panose="020B0604020202020204" pitchFamily="34" charset="0"/>
                <a:ea typeface="微软雅黑" panose="020B0503020204020204" charset="-122"/>
              </a:rPr>
              <a:t>④</a:t>
            </a:r>
            <a:r>
              <a:rPr lang="zh-CN" altLang="en-US" sz="2800">
                <a:solidFill>
                  <a:schemeClr val="tx1"/>
                </a:solidFill>
                <a:uFillTx/>
                <a:latin typeface="Arial" panose="020B0604020202020204" pitchFamily="34" charset="0"/>
                <a:ea typeface="微软雅黑" panose="020B0503020204020204" charset="-122"/>
              </a:rPr>
              <a:t>现有化学方法工艺流程大批量生产有困难，或经济不合算，或者污染问题未解决。</a:t>
            </a:r>
            <a:endParaRPr lang="zh-CN" altLang="en-US" sz="2800">
              <a:solidFill>
                <a:schemeClr val="tx1"/>
              </a:solidFill>
              <a:uFillTx/>
              <a:latin typeface="Arial" panose="020B0604020202020204" pitchFamily="34" charset="0"/>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67360" y="260350"/>
            <a:ext cx="4096385" cy="737235"/>
          </a:xfrm>
          <a:prstGeom prst="rect">
            <a:avLst/>
          </a:prstGeom>
        </p:spPr>
      </p:pic>
      <p:pic>
        <p:nvPicPr>
          <p:cNvPr id="4" name="图片 3" descr="屏幕截图 2025-11-19 094749"/>
          <p:cNvPicPr>
            <a:picLocks noChangeAspect="1"/>
          </p:cNvPicPr>
          <p:nvPr/>
        </p:nvPicPr>
        <p:blipFill>
          <a:blip r:embed="rId2"/>
          <a:stretch>
            <a:fillRect/>
          </a:stretch>
        </p:blipFill>
        <p:spPr>
          <a:xfrm>
            <a:off x="0" y="1361440"/>
            <a:ext cx="9144000" cy="41344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251460" y="260350"/>
            <a:ext cx="6823710" cy="765810"/>
          </a:xfrm>
          <a:prstGeom prst="rect">
            <a:avLst/>
          </a:prstGeom>
        </p:spPr>
      </p:pic>
      <p:sp>
        <p:nvSpPr>
          <p:cNvPr id="6" name="文本框 5"/>
          <p:cNvSpPr txBox="1"/>
          <p:nvPr/>
        </p:nvSpPr>
        <p:spPr>
          <a:xfrm>
            <a:off x="612140" y="1905635"/>
            <a:ext cx="8154670" cy="3046095"/>
          </a:xfrm>
          <a:prstGeom prst="rect">
            <a:avLst/>
          </a:prstGeom>
          <a:noFill/>
        </p:spPr>
        <p:txBody>
          <a:bodyPr wrap="square" rtlCol="0" anchor="t">
            <a:spAutoFit/>
          </a:bodyPr>
          <a:p>
            <a:r>
              <a:rPr lang="en-US" altLang="zh-CN" sz="3200">
                <a:latin typeface="Arial" panose="020B0604020202020204" pitchFamily="34" charset="0"/>
                <a:ea typeface="微软雅黑" panose="020B0503020204020204" charset="-122"/>
                <a:cs typeface="微软雅黑" panose="020B0503020204020204" charset="-122"/>
              </a:rPr>
              <a:t>(1)</a:t>
            </a:r>
            <a:r>
              <a:rPr lang="zh-CN" altLang="en-US" sz="3200">
                <a:latin typeface="Arial" panose="020B0604020202020204" pitchFamily="34" charset="0"/>
                <a:ea typeface="微软雅黑" panose="020B0503020204020204" charset="-122"/>
                <a:cs typeface="微软雅黑" panose="020B0503020204020204" charset="-122"/>
              </a:rPr>
              <a:t>通过电化学反应在电极表面直接生成产物。</a:t>
            </a:r>
            <a:endParaRPr lang="zh-CN" altLang="en-US" sz="3200">
              <a:latin typeface="Arial" panose="020B0604020202020204" pitchFamily="34" charset="0"/>
              <a:ea typeface="微软雅黑" panose="020B0503020204020204" charset="-122"/>
              <a:cs typeface="微软雅黑" panose="020B0503020204020204" charset="-122"/>
            </a:endParaRPr>
          </a:p>
          <a:p>
            <a:endParaRPr lang="en-US" altLang="zh-CN" sz="3200">
              <a:latin typeface="Arial" panose="020B0604020202020204" pitchFamily="34" charset="0"/>
              <a:ea typeface="微软雅黑" panose="020B0503020204020204" charset="-122"/>
              <a:cs typeface="微软雅黑" panose="020B0503020204020204" charset="-122"/>
            </a:endParaRPr>
          </a:p>
          <a:p>
            <a:r>
              <a:rPr lang="en-US" altLang="zh-CN" sz="3200">
                <a:latin typeface="Arial" panose="020B0604020202020204" pitchFamily="34" charset="0"/>
                <a:ea typeface="微软雅黑" panose="020B0503020204020204" charset="-122"/>
                <a:cs typeface="微软雅黑" panose="020B0503020204020204" charset="-122"/>
              </a:rPr>
              <a:t>(2)</a:t>
            </a:r>
            <a:r>
              <a:rPr lang="zh-CN" altLang="en-US" sz="3200">
                <a:latin typeface="Arial" panose="020B0604020202020204" pitchFamily="34" charset="0"/>
                <a:ea typeface="微软雅黑" panose="020B0503020204020204" charset="-122"/>
                <a:cs typeface="微软雅黑" panose="020B0503020204020204" charset="-122"/>
              </a:rPr>
              <a:t>先在电极表面发生电化学反应</a:t>
            </a:r>
            <a:r>
              <a:rPr lang="en-US" altLang="zh-CN" sz="3200">
                <a:latin typeface="Arial" panose="020B0604020202020204" pitchFamily="34" charset="0"/>
                <a:ea typeface="微软雅黑" panose="020B0503020204020204" charset="-122"/>
                <a:cs typeface="微软雅黑" panose="020B0503020204020204" charset="-122"/>
              </a:rPr>
              <a:t>,</a:t>
            </a:r>
            <a:endParaRPr lang="en-US" altLang="zh-CN" sz="3200">
              <a:latin typeface="Arial" panose="020B0604020202020204" pitchFamily="34" charset="0"/>
              <a:ea typeface="微软雅黑" panose="020B0503020204020204" charset="-122"/>
              <a:cs typeface="微软雅黑" panose="020B0503020204020204" charset="-122"/>
            </a:endParaRPr>
          </a:p>
          <a:p>
            <a:r>
              <a:rPr lang="zh-CN" altLang="en-US" sz="3200">
                <a:latin typeface="Arial" panose="020B0604020202020204" pitchFamily="34" charset="0"/>
                <a:ea typeface="微软雅黑" panose="020B0503020204020204" charset="-122"/>
                <a:cs typeface="微软雅黑" panose="020B0503020204020204" charset="-122"/>
              </a:rPr>
              <a:t>再通过后续反应</a:t>
            </a:r>
            <a:r>
              <a:rPr lang="en-US" altLang="zh-CN" sz="3200">
                <a:latin typeface="Arial" panose="020B0604020202020204" pitchFamily="34" charset="0"/>
                <a:ea typeface="微软雅黑" panose="020B0503020204020204" charset="-122"/>
                <a:cs typeface="微软雅黑" panose="020B0503020204020204" charset="-122"/>
              </a:rPr>
              <a:t>,</a:t>
            </a:r>
            <a:endParaRPr lang="en-US" altLang="zh-CN" sz="3200">
              <a:latin typeface="Arial" panose="020B0604020202020204" pitchFamily="34" charset="0"/>
              <a:ea typeface="微软雅黑" panose="020B0503020204020204" charset="-122"/>
              <a:cs typeface="微软雅黑" panose="020B0503020204020204" charset="-122"/>
            </a:endParaRPr>
          </a:p>
          <a:p>
            <a:r>
              <a:rPr lang="zh-CN" altLang="en-US" sz="3200">
                <a:latin typeface="Arial" panose="020B0604020202020204" pitchFamily="34" charset="0"/>
                <a:ea typeface="微软雅黑" panose="020B0503020204020204" charset="-122"/>
                <a:cs typeface="微软雅黑" panose="020B0503020204020204" charset="-122"/>
              </a:rPr>
              <a:t>包括配位、解离、氧化还原反应等形成欲制取的产物。</a:t>
            </a:r>
            <a:endParaRPr lang="zh-CN" altLang="en-US" sz="3200">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5560" y="1340485"/>
            <a:ext cx="9019540" cy="4092575"/>
          </a:xfrm>
          <a:prstGeom prst="rect">
            <a:avLst/>
          </a:prstGeom>
          <a:noFill/>
        </p:spPr>
        <p:txBody>
          <a:bodyPr wrap="square" rtlCol="0" anchor="t">
            <a:spAutoFit/>
          </a:bodyPr>
          <a:p>
            <a:r>
              <a:rPr lang="zh-CN" altLang="en-US" sz="2600">
                <a:solidFill>
                  <a:schemeClr val="tx1"/>
                </a:solidFill>
                <a:uFillTx/>
                <a:latin typeface="Arial" panose="020B0604020202020204" pitchFamily="34" charset="0"/>
                <a:ea typeface="微软雅黑" panose="020B0503020204020204" charset="-122"/>
              </a:rPr>
              <a:t>重要提示</a:t>
            </a:r>
            <a:r>
              <a:rPr lang="en-US" altLang="zh-CN" sz="2600">
                <a:solidFill>
                  <a:schemeClr val="tx1"/>
                </a:solidFill>
                <a:uFillTx/>
                <a:latin typeface="Arial" panose="020B0604020202020204" pitchFamily="34" charset="0"/>
                <a:ea typeface="微软雅黑" panose="020B0503020204020204" charset="-122"/>
              </a:rPr>
              <a:t>:</a:t>
            </a:r>
            <a:r>
              <a:rPr lang="zh-CN" altLang="en-US" sz="2600" b="1">
                <a:solidFill>
                  <a:schemeClr val="tx1"/>
                </a:solidFill>
                <a:uFillTx/>
                <a:latin typeface="Arial" panose="020B0604020202020204" pitchFamily="34" charset="0"/>
                <a:ea typeface="微软雅黑" panose="020B0503020204020204" charset="-122"/>
              </a:rPr>
              <a:t>需要考虑超电势</a:t>
            </a:r>
            <a:r>
              <a:rPr lang="en-US" altLang="zh-CN" sz="2600" b="1">
                <a:solidFill>
                  <a:schemeClr val="tx1"/>
                </a:solidFill>
                <a:uFillTx/>
                <a:latin typeface="Arial" panose="020B0604020202020204" pitchFamily="34" charset="0"/>
                <a:ea typeface="微软雅黑" panose="020B0503020204020204" charset="-122"/>
              </a:rPr>
              <a:t>,</a:t>
            </a:r>
            <a:r>
              <a:rPr lang="zh-CN" altLang="en-US" sz="2600" b="1">
                <a:solidFill>
                  <a:schemeClr val="tx1"/>
                </a:solidFill>
                <a:uFillTx/>
                <a:latin typeface="Arial" panose="020B0604020202020204" pitchFamily="34" charset="0"/>
                <a:ea typeface="微软雅黑" panose="020B0503020204020204" charset="-122"/>
              </a:rPr>
              <a:t>根据实际电极电势进行判断。</a:t>
            </a:r>
            <a:endParaRPr lang="zh-CN" altLang="en-US" sz="2600">
              <a:solidFill>
                <a:schemeClr val="tx1"/>
              </a:solidFill>
              <a:uFillTx/>
              <a:latin typeface="Arial" panose="020B0604020202020204" pitchFamily="34" charset="0"/>
              <a:ea typeface="微软雅黑" panose="020B0503020204020204" charset="-122"/>
            </a:endParaRPr>
          </a:p>
          <a:p>
            <a:endParaRPr lang="en-US" altLang="zh-CN" sz="2600">
              <a:solidFill>
                <a:schemeClr val="tx1"/>
              </a:solidFill>
              <a:uFillTx/>
              <a:latin typeface="Arial" panose="020B0604020202020204" pitchFamily="34" charset="0"/>
              <a:ea typeface="微软雅黑" panose="020B0503020204020204" charset="-122"/>
            </a:endParaRPr>
          </a:p>
          <a:p>
            <a:r>
              <a:rPr lang="zh-CN" altLang="en-US" sz="2600" b="1">
                <a:solidFill>
                  <a:schemeClr val="tx1"/>
                </a:solidFill>
                <a:uFillTx/>
                <a:latin typeface="Arial" panose="020B0604020202020204" pitchFamily="34" charset="0"/>
                <a:ea typeface="微软雅黑" panose="020B0503020204020204" charset="-122"/>
              </a:rPr>
              <a:t>阳极</a:t>
            </a:r>
            <a:r>
              <a:rPr lang="en-US" altLang="zh-CN" sz="2600" b="1">
                <a:solidFill>
                  <a:schemeClr val="tx1"/>
                </a:solidFill>
                <a:uFillTx/>
                <a:latin typeface="Arial" panose="020B0604020202020204" pitchFamily="34" charset="0"/>
                <a:ea typeface="微软雅黑" panose="020B0503020204020204" charset="-122"/>
              </a:rPr>
              <a:t>:</a:t>
            </a:r>
            <a:r>
              <a:rPr lang="zh-CN" altLang="en-US" sz="2600">
                <a:solidFill>
                  <a:schemeClr val="tx1"/>
                </a:solidFill>
                <a:uFillTx/>
                <a:latin typeface="Arial" panose="020B0604020202020204" pitchFamily="34" charset="0"/>
                <a:ea typeface="微软雅黑" panose="020B0503020204020204" charset="-122"/>
              </a:rPr>
              <a:t>和</a:t>
            </a:r>
            <a:r>
              <a:rPr lang="zh-CN" altLang="en-US" sz="2600">
                <a:solidFill>
                  <a:srgbClr val="FF0000"/>
                </a:solidFill>
                <a:uFillTx/>
                <a:latin typeface="Arial" panose="020B0604020202020204" pitchFamily="34" charset="0"/>
                <a:ea typeface="微软雅黑" panose="020B0503020204020204" charset="-122"/>
              </a:rPr>
              <a:t>外电源正极相连</a:t>
            </a:r>
            <a:r>
              <a:rPr lang="en-US" altLang="zh-CN" sz="2600">
                <a:solidFill>
                  <a:schemeClr val="tx1"/>
                </a:solidFill>
                <a:uFillTx/>
                <a:latin typeface="Arial" panose="020B0604020202020204" pitchFamily="34" charset="0"/>
                <a:ea typeface="微软雅黑" panose="020B0503020204020204" charset="-122"/>
              </a:rPr>
              <a:t>,</a:t>
            </a:r>
            <a:r>
              <a:rPr lang="zh-CN" altLang="en-US" sz="2600">
                <a:solidFill>
                  <a:srgbClr val="FF0000"/>
                </a:solidFill>
                <a:uFillTx/>
                <a:latin typeface="Arial" panose="020B0604020202020204" pitchFamily="34" charset="0"/>
                <a:ea typeface="微软雅黑" panose="020B0503020204020204" charset="-122"/>
              </a:rPr>
              <a:t>电势高</a:t>
            </a:r>
            <a:r>
              <a:rPr lang="en-US" altLang="zh-CN" sz="2600">
                <a:solidFill>
                  <a:schemeClr val="tx1"/>
                </a:solidFill>
                <a:uFillTx/>
                <a:latin typeface="Arial" panose="020B0604020202020204" pitchFamily="34" charset="0"/>
                <a:ea typeface="微软雅黑" panose="020B0503020204020204" charset="-122"/>
              </a:rPr>
              <a:t>,</a:t>
            </a:r>
            <a:r>
              <a:rPr lang="en-US" altLang="zh-CN" sz="2600">
                <a:solidFill>
                  <a:srgbClr val="FF0000"/>
                </a:solidFill>
                <a:uFillTx/>
                <a:latin typeface="Arial" panose="020B0604020202020204" pitchFamily="34" charset="0"/>
                <a:ea typeface="微软雅黑" panose="020B0503020204020204" charset="-122"/>
              </a:rPr>
              <a:t>物种失去电子</a:t>
            </a:r>
            <a:r>
              <a:rPr lang="zh-CN" altLang="en-US" sz="2600">
                <a:solidFill>
                  <a:schemeClr val="tx1"/>
                </a:solidFill>
                <a:uFillTx/>
                <a:latin typeface="Arial" panose="020B0604020202020204" pitchFamily="34" charset="0"/>
                <a:ea typeface="微软雅黑" panose="020B0503020204020204" charset="-122"/>
              </a:rPr>
              <a:t>给电极</a:t>
            </a:r>
            <a:r>
              <a:rPr lang="en-US" altLang="zh-CN" sz="2600">
                <a:solidFill>
                  <a:schemeClr val="tx1"/>
                </a:solidFill>
                <a:uFillTx/>
                <a:latin typeface="Arial" panose="020B0604020202020204" pitchFamily="34" charset="0"/>
                <a:ea typeface="微软雅黑" panose="020B0503020204020204" charset="-122"/>
              </a:rPr>
              <a:t>,</a:t>
            </a:r>
            <a:r>
              <a:rPr lang="zh-CN" altLang="en-US" sz="2600">
                <a:solidFill>
                  <a:schemeClr val="tx1"/>
                </a:solidFill>
                <a:uFillTx/>
                <a:latin typeface="Arial" panose="020B0604020202020204" pitchFamily="34" charset="0"/>
                <a:ea typeface="微软雅黑" panose="020B0503020204020204" charset="-122"/>
              </a:rPr>
              <a:t>被氧化。</a:t>
            </a:r>
            <a:endParaRPr lang="zh-CN" altLang="en-US" sz="2600">
              <a:solidFill>
                <a:schemeClr val="tx1"/>
              </a:solidFill>
              <a:uFillTx/>
              <a:latin typeface="Arial" panose="020B0604020202020204" pitchFamily="34" charset="0"/>
              <a:ea typeface="微软雅黑" panose="020B0503020204020204" charset="-122"/>
            </a:endParaRPr>
          </a:p>
          <a:p>
            <a:r>
              <a:rPr lang="en-US" altLang="zh-CN" sz="2600">
                <a:solidFill>
                  <a:schemeClr val="tx1"/>
                </a:solidFill>
                <a:uFillTx/>
                <a:latin typeface="Arial" panose="020B0604020202020204" pitchFamily="34" charset="0"/>
                <a:ea typeface="微软雅黑" panose="020B0503020204020204" charset="-122"/>
              </a:rPr>
              <a:t>        </a:t>
            </a:r>
            <a:r>
              <a:rPr lang="zh-CN" altLang="en-US" sz="2600">
                <a:solidFill>
                  <a:srgbClr val="FF0000"/>
                </a:solidFill>
                <a:uFillTx/>
                <a:latin typeface="Arial" panose="020B0604020202020204" pitchFamily="34" charset="0"/>
                <a:ea typeface="微软雅黑" panose="020B0503020204020204" charset="-122"/>
              </a:rPr>
              <a:t>实际电极电势更低的电对的还原态优先失去电子</a:t>
            </a:r>
            <a:r>
              <a:rPr lang="zh-CN" altLang="en-US" sz="2600">
                <a:solidFill>
                  <a:schemeClr val="tx1"/>
                </a:solidFill>
                <a:uFillTx/>
                <a:latin typeface="Arial" panose="020B0604020202020204" pitchFamily="34" charset="0"/>
                <a:ea typeface="微软雅黑" panose="020B0503020204020204" charset="-122"/>
              </a:rPr>
              <a:t>被氧化。</a:t>
            </a:r>
            <a:endParaRPr lang="zh-CN" altLang="en-US" sz="2600">
              <a:solidFill>
                <a:schemeClr val="tx1"/>
              </a:solidFill>
              <a:uFillTx/>
              <a:latin typeface="Arial" panose="020B0604020202020204" pitchFamily="34" charset="0"/>
              <a:ea typeface="微软雅黑" panose="020B0503020204020204" charset="-122"/>
            </a:endParaRPr>
          </a:p>
          <a:p>
            <a:endParaRPr lang="en-US" altLang="zh-CN" sz="2600">
              <a:solidFill>
                <a:schemeClr val="tx1"/>
              </a:solidFill>
              <a:uFillTx/>
              <a:latin typeface="Arial" panose="020B0604020202020204" pitchFamily="34" charset="0"/>
              <a:ea typeface="微软雅黑" panose="020B0503020204020204" charset="-122"/>
            </a:endParaRPr>
          </a:p>
          <a:p>
            <a:r>
              <a:rPr lang="zh-CN" altLang="en-US" sz="2600" b="1">
                <a:solidFill>
                  <a:schemeClr val="tx1"/>
                </a:solidFill>
                <a:uFillTx/>
                <a:latin typeface="Arial" panose="020B0604020202020204" pitchFamily="34" charset="0"/>
                <a:ea typeface="微软雅黑" panose="020B0503020204020204" charset="-122"/>
              </a:rPr>
              <a:t>阴极</a:t>
            </a:r>
            <a:r>
              <a:rPr lang="en-US" altLang="zh-CN" sz="2600">
                <a:solidFill>
                  <a:schemeClr val="tx1"/>
                </a:solidFill>
                <a:uFillTx/>
                <a:latin typeface="Arial" panose="020B0604020202020204" pitchFamily="34" charset="0"/>
                <a:ea typeface="微软雅黑" panose="020B0503020204020204" charset="-122"/>
              </a:rPr>
              <a:t>:</a:t>
            </a:r>
            <a:r>
              <a:rPr lang="zh-CN" altLang="en-US" sz="2600">
                <a:solidFill>
                  <a:schemeClr val="tx1"/>
                </a:solidFill>
                <a:uFillTx/>
                <a:latin typeface="Arial" panose="020B0604020202020204" pitchFamily="34" charset="0"/>
                <a:ea typeface="微软雅黑" panose="020B0503020204020204" charset="-122"/>
              </a:rPr>
              <a:t>和</a:t>
            </a:r>
            <a:r>
              <a:rPr lang="zh-CN" altLang="en-US" sz="2600">
                <a:solidFill>
                  <a:schemeClr val="accent1"/>
                </a:solidFill>
                <a:uFillTx/>
                <a:latin typeface="Arial" panose="020B0604020202020204" pitchFamily="34" charset="0"/>
                <a:ea typeface="微软雅黑" panose="020B0503020204020204" charset="-122"/>
              </a:rPr>
              <a:t>外电源负极相连</a:t>
            </a:r>
            <a:r>
              <a:rPr lang="en-US" altLang="zh-CN" sz="2600">
                <a:solidFill>
                  <a:schemeClr val="accent1"/>
                </a:solidFill>
                <a:uFillTx/>
                <a:latin typeface="Arial" panose="020B0604020202020204" pitchFamily="34" charset="0"/>
                <a:ea typeface="微软雅黑" panose="020B0503020204020204" charset="-122"/>
              </a:rPr>
              <a:t>,</a:t>
            </a:r>
            <a:r>
              <a:rPr lang="zh-CN" altLang="en-US" sz="2600">
                <a:solidFill>
                  <a:schemeClr val="accent1"/>
                </a:solidFill>
                <a:uFillTx/>
                <a:latin typeface="Arial" panose="020B0604020202020204" pitchFamily="34" charset="0"/>
                <a:ea typeface="微软雅黑" panose="020B0503020204020204" charset="-122"/>
              </a:rPr>
              <a:t>电势低</a:t>
            </a:r>
            <a:r>
              <a:rPr lang="en-US" altLang="zh-CN" sz="2600">
                <a:solidFill>
                  <a:schemeClr val="accent1"/>
                </a:solidFill>
                <a:uFillTx/>
                <a:latin typeface="Arial" panose="020B0604020202020204" pitchFamily="34" charset="0"/>
                <a:ea typeface="微软雅黑" panose="020B0503020204020204" charset="-122"/>
              </a:rPr>
              <a:t>,</a:t>
            </a:r>
            <a:r>
              <a:rPr lang="zh-CN" altLang="en-US" sz="2600">
                <a:solidFill>
                  <a:schemeClr val="accent1"/>
                </a:solidFill>
                <a:uFillTx/>
                <a:latin typeface="Arial" panose="020B0604020202020204" pitchFamily="34" charset="0"/>
                <a:ea typeface="微软雅黑" panose="020B0503020204020204" charset="-122"/>
              </a:rPr>
              <a:t>物种从电极得到电子</a:t>
            </a:r>
            <a:r>
              <a:rPr lang="en-US" altLang="zh-CN" sz="2600">
                <a:solidFill>
                  <a:schemeClr val="tx1"/>
                </a:solidFill>
                <a:uFillTx/>
                <a:latin typeface="Arial" panose="020B0604020202020204" pitchFamily="34" charset="0"/>
                <a:ea typeface="微软雅黑" panose="020B0503020204020204" charset="-122"/>
              </a:rPr>
              <a:t>,</a:t>
            </a:r>
            <a:r>
              <a:rPr lang="zh-CN" altLang="en-US" sz="2600">
                <a:solidFill>
                  <a:schemeClr val="tx1"/>
                </a:solidFill>
                <a:uFillTx/>
                <a:latin typeface="Arial" panose="020B0604020202020204" pitchFamily="34" charset="0"/>
                <a:ea typeface="微软雅黑" panose="020B0503020204020204" charset="-122"/>
              </a:rPr>
              <a:t>被还原。</a:t>
            </a:r>
            <a:endParaRPr lang="zh-CN" altLang="en-US" sz="2600">
              <a:solidFill>
                <a:schemeClr val="tx1"/>
              </a:solidFill>
              <a:uFillTx/>
              <a:latin typeface="Arial" panose="020B0604020202020204" pitchFamily="34" charset="0"/>
              <a:ea typeface="微软雅黑" panose="020B0503020204020204" charset="-122"/>
            </a:endParaRPr>
          </a:p>
          <a:p>
            <a:r>
              <a:rPr lang="en-US" altLang="zh-CN" sz="2600">
                <a:solidFill>
                  <a:schemeClr val="tx1"/>
                </a:solidFill>
                <a:uFillTx/>
                <a:latin typeface="Arial" panose="020B0604020202020204" pitchFamily="34" charset="0"/>
                <a:ea typeface="微软雅黑" panose="020B0503020204020204" charset="-122"/>
              </a:rPr>
              <a:t>        </a:t>
            </a:r>
            <a:r>
              <a:rPr lang="zh-CN" altLang="en-US" sz="2600">
                <a:solidFill>
                  <a:schemeClr val="tx1"/>
                </a:solidFill>
                <a:uFillTx/>
                <a:latin typeface="Arial" panose="020B0604020202020204" pitchFamily="34" charset="0"/>
                <a:ea typeface="微软雅黑" panose="020B0503020204020204" charset="-122"/>
              </a:rPr>
              <a:t>实际电极</a:t>
            </a:r>
            <a:r>
              <a:rPr lang="zh-CN" altLang="en-US" sz="2600">
                <a:solidFill>
                  <a:schemeClr val="accent1"/>
                </a:solidFill>
                <a:uFillTx/>
                <a:latin typeface="Arial" panose="020B0604020202020204" pitchFamily="34" charset="0"/>
                <a:ea typeface="微软雅黑" panose="020B0503020204020204" charset="-122"/>
              </a:rPr>
              <a:t>电势更高的电对的氧化态</a:t>
            </a:r>
            <a:r>
              <a:rPr lang="zh-CN" altLang="en-US" sz="2600">
                <a:solidFill>
                  <a:schemeClr val="tx1"/>
                </a:solidFill>
                <a:uFillTx/>
                <a:latin typeface="Arial" panose="020B0604020202020204" pitchFamily="34" charset="0"/>
                <a:ea typeface="微软雅黑" panose="020B0503020204020204" charset="-122"/>
              </a:rPr>
              <a:t>优先</a:t>
            </a:r>
            <a:r>
              <a:rPr lang="zh-CN" altLang="en-US" sz="2600">
                <a:solidFill>
                  <a:schemeClr val="accent1"/>
                </a:solidFill>
                <a:uFillTx/>
                <a:latin typeface="Arial" panose="020B0604020202020204" pitchFamily="34" charset="0"/>
                <a:ea typeface="微软雅黑" panose="020B0503020204020204" charset="-122"/>
              </a:rPr>
              <a:t>得电子</a:t>
            </a:r>
            <a:r>
              <a:rPr lang="zh-CN" altLang="en-US" sz="2600">
                <a:solidFill>
                  <a:schemeClr val="tx1"/>
                </a:solidFill>
                <a:uFillTx/>
                <a:latin typeface="Arial" panose="020B0604020202020204" pitchFamily="34" charset="0"/>
                <a:ea typeface="微软雅黑" panose="020B0503020204020204" charset="-122"/>
              </a:rPr>
              <a:t>被还原。</a:t>
            </a:r>
            <a:endParaRPr lang="zh-CN" altLang="en-US" sz="2600">
              <a:solidFill>
                <a:schemeClr val="tx1"/>
              </a:solidFill>
              <a:uFillTx/>
              <a:latin typeface="Arial" panose="020B0604020202020204" pitchFamily="34" charset="0"/>
              <a:ea typeface="微软雅黑" panose="020B0503020204020204" charset="-122"/>
            </a:endParaRPr>
          </a:p>
          <a:p>
            <a:r>
              <a:rPr lang="en-US" altLang="zh-CN" sz="2600">
                <a:solidFill>
                  <a:schemeClr val="tx1"/>
                </a:solidFill>
                <a:uFillTx/>
                <a:latin typeface="Arial" panose="020B0604020202020204" pitchFamily="34" charset="0"/>
                <a:ea typeface="微软雅黑" panose="020B0503020204020204" charset="-122"/>
              </a:rPr>
              <a:t> </a:t>
            </a:r>
            <a:endParaRPr lang="en-US" altLang="zh-CN" sz="2600">
              <a:solidFill>
                <a:schemeClr val="tx1"/>
              </a:solidFill>
              <a:uFillTx/>
              <a:latin typeface="Arial" panose="020B0604020202020204" pitchFamily="34" charset="0"/>
              <a:ea typeface="微软雅黑" panose="020B0503020204020204" charset="-122"/>
            </a:endParaRPr>
          </a:p>
          <a:p>
            <a:r>
              <a:rPr lang="en-US" altLang="zh-CN" sz="2600">
                <a:solidFill>
                  <a:schemeClr val="tx1"/>
                </a:solidFill>
                <a:uFillTx/>
                <a:latin typeface="Arial" panose="020B0604020202020204" pitchFamily="34" charset="0"/>
                <a:ea typeface="微软雅黑" panose="020B0503020204020204" charset="-122"/>
              </a:rPr>
              <a:t>          </a:t>
            </a:r>
            <a:endParaRPr lang="en-US" altLang="zh-CN" sz="2600">
              <a:solidFill>
                <a:schemeClr val="tx1"/>
              </a:solidFill>
              <a:uFillTx/>
              <a:latin typeface="Arial" panose="020B0604020202020204" pitchFamily="34" charset="0"/>
              <a:ea typeface="微软雅黑" panose="020B0503020204020204" charset="-122"/>
            </a:endParaRPr>
          </a:p>
          <a:p>
            <a:r>
              <a:rPr lang="en-US" altLang="zh-CN" sz="2600">
                <a:solidFill>
                  <a:schemeClr val="tx1"/>
                </a:solidFill>
                <a:uFillTx/>
                <a:latin typeface="Arial" panose="020B0604020202020204" pitchFamily="34" charset="0"/>
                <a:ea typeface="微软雅黑" panose="020B0503020204020204" charset="-122"/>
              </a:rPr>
              <a:t>                 E</a:t>
            </a:r>
            <a:r>
              <a:rPr lang="zh-CN" altLang="en-US" sz="2600" baseline="-25000">
                <a:solidFill>
                  <a:schemeClr val="tx1"/>
                </a:solidFill>
                <a:uFillTx/>
                <a:latin typeface="Arial" panose="020B0604020202020204" pitchFamily="34" charset="0"/>
                <a:ea typeface="微软雅黑" panose="020B0503020204020204" charset="-122"/>
              </a:rPr>
              <a:t>实际</a:t>
            </a:r>
            <a:r>
              <a:rPr lang="en-US" altLang="zh-CN" sz="2600">
                <a:solidFill>
                  <a:schemeClr val="tx1"/>
                </a:solidFill>
                <a:uFillTx/>
                <a:latin typeface="Arial" panose="020B0604020202020204" pitchFamily="34" charset="0"/>
                <a:ea typeface="微软雅黑" panose="020B0503020204020204" charset="-122"/>
              </a:rPr>
              <a:t>=E</a:t>
            </a:r>
            <a:r>
              <a:rPr lang="zh-CN" altLang="en-US" sz="2600" baseline="-25000">
                <a:solidFill>
                  <a:schemeClr val="tx1"/>
                </a:solidFill>
                <a:uFillTx/>
                <a:latin typeface="Arial" panose="020B0604020202020204" pitchFamily="34" charset="0"/>
                <a:ea typeface="微软雅黑" panose="020B0503020204020204" charset="-122"/>
              </a:rPr>
              <a:t>平衡</a:t>
            </a:r>
            <a:r>
              <a:rPr lang="en-US" altLang="zh-CN" sz="2600">
                <a:solidFill>
                  <a:schemeClr val="tx1"/>
                </a:solidFill>
                <a:uFillTx/>
                <a:latin typeface="Arial" panose="020B0604020202020204" pitchFamily="34" charset="0"/>
                <a:ea typeface="微软雅黑" panose="020B0503020204020204" charset="-122"/>
              </a:rPr>
              <a:t>+</a:t>
            </a:r>
            <a:r>
              <a:rPr lang="en-US" altLang="zh-CN" sz="2600">
                <a:solidFill>
                  <a:schemeClr val="tx1"/>
                </a:solidFill>
                <a:uFillTx/>
                <a:latin typeface="Arial" panose="020B0604020202020204" pitchFamily="34" charset="0"/>
                <a:ea typeface="微软雅黑" panose="020B0503020204020204" charset="-122"/>
                <a:sym typeface="+mn-ea"/>
              </a:rPr>
              <a:t>η</a:t>
            </a:r>
            <a:endParaRPr lang="en-US" altLang="zh-CN" sz="2600">
              <a:solidFill>
                <a:schemeClr val="tx1"/>
              </a:solidFill>
              <a:uFillTx/>
              <a:latin typeface="Arial" panose="020B0604020202020204" pitchFamily="34" charset="0"/>
              <a:ea typeface="微软雅黑" panose="020B0503020204020204" charset="-122"/>
              <a:sym typeface="+mn-ea"/>
            </a:endParaRPr>
          </a:p>
        </p:txBody>
      </p:sp>
      <p:sp>
        <p:nvSpPr>
          <p:cNvPr id="5" name="文本框 4"/>
          <p:cNvSpPr txBox="1"/>
          <p:nvPr/>
        </p:nvSpPr>
        <p:spPr>
          <a:xfrm>
            <a:off x="3347720" y="4725035"/>
            <a:ext cx="4572000" cy="891540"/>
          </a:xfrm>
          <a:prstGeom prst="rect">
            <a:avLst/>
          </a:prstGeom>
          <a:noFill/>
        </p:spPr>
        <p:txBody>
          <a:bodyPr wrap="square" rtlCol="0" anchor="t">
            <a:spAutoFit/>
          </a:bodyPr>
          <a:p>
            <a:pPr algn="ctr"/>
            <a:r>
              <a:rPr lang="en-US" altLang="zh-CN" sz="2600">
                <a:uFillTx/>
                <a:latin typeface="Arial" panose="020B0604020202020204" pitchFamily="34" charset="0"/>
                <a:ea typeface="微软雅黑" panose="020B0503020204020204" charset="-122"/>
                <a:sym typeface="+mn-ea"/>
              </a:rPr>
              <a:t>η&gt;0,</a:t>
            </a:r>
            <a:r>
              <a:rPr lang="zh-CN" altLang="en-US" sz="2600">
                <a:uFillTx/>
                <a:latin typeface="Arial" panose="020B0604020202020204" pitchFamily="34" charset="0"/>
                <a:ea typeface="微软雅黑" panose="020B0503020204020204" charset="-122"/>
                <a:sym typeface="+mn-ea"/>
              </a:rPr>
              <a:t>阳极极化</a:t>
            </a:r>
            <a:endParaRPr lang="zh-CN" altLang="en-US" sz="2600">
              <a:solidFill>
                <a:schemeClr val="tx1"/>
              </a:solidFill>
              <a:uFillTx/>
              <a:latin typeface="Arial" panose="020B0604020202020204" pitchFamily="34" charset="0"/>
              <a:ea typeface="微软雅黑" panose="020B0503020204020204" charset="-122"/>
            </a:endParaRPr>
          </a:p>
          <a:p>
            <a:pPr algn="ctr"/>
            <a:r>
              <a:rPr lang="en-US" altLang="zh-CN" sz="2600">
                <a:uFillTx/>
                <a:latin typeface="Arial" panose="020B0604020202020204" pitchFamily="34" charset="0"/>
                <a:ea typeface="微软雅黑" panose="020B0503020204020204" charset="-122"/>
                <a:sym typeface="+mn-ea"/>
              </a:rPr>
              <a:t>η</a:t>
            </a:r>
            <a:r>
              <a:rPr lang="en-US" altLang="zh-CN" sz="2600">
                <a:uFillTx/>
                <a:latin typeface="Arial" panose="020B0604020202020204" pitchFamily="34" charset="0"/>
                <a:ea typeface="微软雅黑" panose="020B0503020204020204" charset="-122"/>
                <a:sym typeface="+mn-ea"/>
              </a:rPr>
              <a:t>&lt;0,</a:t>
            </a:r>
            <a:r>
              <a:rPr lang="zh-CN" altLang="en-US" sz="2600">
                <a:uFillTx/>
                <a:latin typeface="Arial" panose="020B0604020202020204" pitchFamily="34" charset="0"/>
                <a:ea typeface="微软雅黑" panose="020B0503020204020204" charset="-122"/>
                <a:sym typeface="+mn-ea"/>
              </a:rPr>
              <a:t>阴极极化</a:t>
            </a:r>
            <a:endParaRPr lang="zh-CN" altLang="en-US" sz="2600">
              <a:uFillTx/>
              <a:latin typeface="Arial" panose="020B0604020202020204" pitchFamily="34" charset="0"/>
              <a:ea typeface="微软雅黑" panose="020B0503020204020204" charset="-122"/>
              <a:sym typeface="+mn-ea"/>
            </a:endParaRPr>
          </a:p>
        </p:txBody>
      </p:sp>
      <p:sp>
        <p:nvSpPr>
          <p:cNvPr id="6" name="文本框 5"/>
          <p:cNvSpPr txBox="1"/>
          <p:nvPr/>
        </p:nvSpPr>
        <p:spPr>
          <a:xfrm>
            <a:off x="2483485" y="260350"/>
            <a:ext cx="3342640" cy="583565"/>
          </a:xfrm>
          <a:prstGeom prst="rect">
            <a:avLst/>
          </a:prstGeom>
          <a:noFill/>
        </p:spPr>
        <p:txBody>
          <a:bodyPr wrap="square" rtlCol="0" anchor="t">
            <a:spAutoFit/>
          </a:bodyPr>
          <a:p>
            <a:pPr algn="ctr"/>
            <a:r>
              <a:rPr lang="zh-CN" sz="3200" b="1">
                <a:uFillTx/>
                <a:latin typeface="Arial" panose="020B0604020202020204" pitchFamily="34" charset="0"/>
                <a:ea typeface="微软雅黑" panose="020B0503020204020204" charset="-122"/>
                <a:sym typeface="+mn-ea"/>
              </a:rPr>
              <a:t>电解反应的次序</a:t>
            </a:r>
            <a:endParaRPr lang="zh-CN" sz="3200" b="1">
              <a:uFillTx/>
              <a:latin typeface="Arial" panose="020B0604020202020204" pitchFamily="34" charset="0"/>
              <a:ea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Text Box 4"/>
          <p:cNvSpPr txBox="1">
            <a:spLocks noChangeArrowheads="1"/>
          </p:cNvSpPr>
          <p:nvPr/>
        </p:nvSpPr>
        <p:spPr bwMode="auto">
          <a:xfrm>
            <a:off x="468313" y="1125538"/>
            <a:ext cx="806450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chemeClr val="tx1"/>
                </a:solidFill>
                <a:uFillTx/>
                <a:latin typeface="Arial" panose="020B0604020202020204" pitchFamily="34" charset="0"/>
                <a:ea typeface="微软雅黑" panose="020B0503020204020204" charset="-122"/>
              </a:rPr>
              <a:t>        </a:t>
            </a:r>
            <a:r>
              <a:rPr lang="zh-CN" altLang="en-US" sz="2800">
                <a:solidFill>
                  <a:schemeClr val="tx1"/>
                </a:solidFill>
                <a:uFillTx/>
                <a:latin typeface="Arial" panose="020B0604020202020204" pitchFamily="34" charset="0"/>
                <a:ea typeface="微软雅黑" panose="020B0503020204020204" charset="-122"/>
              </a:rPr>
              <a:t>最重要的无机电化学工业是电解食盐水溶液制取氢氧化钠、氯气和氢气，因为氢氧化钠和氯都是属于支撑现代化学工业的基本化学产品。氯碱是电解产量最大的产品，世界年总产量达到近</a:t>
            </a:r>
            <a:r>
              <a:rPr lang="en-US" altLang="zh-CN" sz="2800">
                <a:solidFill>
                  <a:schemeClr val="tx1"/>
                </a:solidFill>
                <a:uFillTx/>
                <a:latin typeface="Arial" panose="020B0604020202020204" pitchFamily="34" charset="0"/>
                <a:ea typeface="微软雅黑" panose="020B0503020204020204" charset="-122"/>
              </a:rPr>
              <a:t>5000</a:t>
            </a:r>
            <a:r>
              <a:rPr lang="zh-CN" altLang="en-US" sz="2800">
                <a:solidFill>
                  <a:schemeClr val="tx1"/>
                </a:solidFill>
                <a:uFillTx/>
                <a:latin typeface="Arial" panose="020B0604020202020204" pitchFamily="34" charset="0"/>
                <a:ea typeface="微软雅黑" panose="020B0503020204020204" charset="-122"/>
              </a:rPr>
              <a:t>万吨。制造氯气也有用电解盐酸的方法，但是规模不大。 </a:t>
            </a:r>
            <a:endParaRPr lang="zh-CN" altLang="en-US" sz="2800">
              <a:solidFill>
                <a:schemeClr val="tx1"/>
              </a:solidFill>
              <a:uFillTx/>
              <a:latin typeface="Arial" panose="020B0604020202020204" pitchFamily="34" charset="0"/>
              <a:ea typeface="微软雅黑" panose="020B0503020204020204" charset="-122"/>
            </a:endParaRPr>
          </a:p>
        </p:txBody>
      </p:sp>
      <p:sp>
        <p:nvSpPr>
          <p:cNvPr id="91141" name="Text Box 5"/>
          <p:cNvSpPr txBox="1">
            <a:spLocks noChangeArrowheads="1"/>
          </p:cNvSpPr>
          <p:nvPr/>
        </p:nvSpPr>
        <p:spPr bwMode="auto">
          <a:xfrm>
            <a:off x="2153285" y="333375"/>
            <a:ext cx="443484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a:solidFill>
                  <a:schemeClr val="tx1"/>
                </a:solidFill>
                <a:uFillTx/>
                <a:latin typeface="Arial" panose="020B0604020202020204" pitchFamily="34" charset="0"/>
                <a:ea typeface="微软雅黑" panose="020B0503020204020204" charset="-122"/>
              </a:rPr>
              <a:t>5.1.1</a:t>
            </a:r>
            <a:r>
              <a:rPr lang="zh-CN" altLang="en-US" sz="2800" b="1">
                <a:solidFill>
                  <a:schemeClr val="tx1"/>
                </a:solidFill>
                <a:uFillTx/>
                <a:latin typeface="Arial" panose="020B0604020202020204" pitchFamily="34" charset="0"/>
                <a:ea typeface="微软雅黑" panose="020B0503020204020204" charset="-122"/>
              </a:rPr>
              <a:t>无机物电合成简介 </a:t>
            </a:r>
            <a:endParaRPr lang="zh-CN" altLang="en-US" sz="2800" b="1">
              <a:solidFill>
                <a:schemeClr val="tx1"/>
              </a:solidFill>
              <a:uFillTx/>
              <a:latin typeface="Arial" panose="020B0604020202020204" pitchFamily="34" charset="0"/>
              <a:ea typeface="微软雅黑" panose="020B0503020204020204" charset="-122"/>
            </a:endParaRPr>
          </a:p>
        </p:txBody>
      </p:sp>
      <p:sp>
        <p:nvSpPr>
          <p:cNvPr id="91142" name="Text Box 6"/>
          <p:cNvSpPr txBox="1">
            <a:spLocks noChangeArrowheads="1"/>
          </p:cNvSpPr>
          <p:nvPr/>
        </p:nvSpPr>
        <p:spPr bwMode="auto">
          <a:xfrm>
            <a:off x="611188" y="4149725"/>
            <a:ext cx="7777162" cy="13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tx1"/>
                </a:solidFill>
                <a:uFillTx/>
                <a:latin typeface="Arial" panose="020B0604020202020204" pitchFamily="34" charset="0"/>
                <a:ea typeface="微软雅黑" panose="020B0503020204020204" charset="-122"/>
              </a:rPr>
              <a:t>        </a:t>
            </a:r>
            <a:r>
              <a:rPr lang="zh-CN" altLang="en-US" sz="2800">
                <a:solidFill>
                  <a:schemeClr val="tx1"/>
                </a:solidFill>
                <a:uFillTx/>
                <a:latin typeface="Arial" panose="020B0604020202020204" pitchFamily="34" charset="0"/>
                <a:ea typeface="微软雅黑" panose="020B0503020204020204" charset="-122"/>
              </a:rPr>
              <a:t>电解水主要是制取氢气，用于有机物氢化、制造半导体、制取高纯金属、合成氨。但若大规模生产，较之从水煤气中分离氢出来的费用更大。 </a:t>
            </a:r>
            <a:endParaRPr lang="zh-CN" altLang="en-US" sz="2800">
              <a:solidFill>
                <a:schemeClr val="tx1"/>
              </a:solidFill>
              <a:uFillTx/>
              <a:latin typeface="Arial" panose="020B0604020202020204" pitchFamily="34" charset="0"/>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Text Box 4"/>
          <p:cNvSpPr txBox="1">
            <a:spLocks noChangeArrowheads="1"/>
          </p:cNvSpPr>
          <p:nvPr/>
        </p:nvSpPr>
        <p:spPr bwMode="auto">
          <a:xfrm>
            <a:off x="539750" y="908050"/>
            <a:ext cx="7561263"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t>         </a:t>
            </a:r>
            <a:r>
              <a:rPr lang="zh-CN" altLang="en-US" sz="2800"/>
              <a:t>电解水还可制取重水。因重水对中子吸收很少，且具有使高速中子减速的良好性能，故在重水型原子反应堆中被用作中子减速剂。再者将来可望作为能源的核聚变反应，重水是其燃料，因此制取重水越来越引起人们的重视。</a:t>
            </a:r>
            <a:endParaRPr lang="zh-CN" altLang="en-US" sz="2800"/>
          </a:p>
        </p:txBody>
      </p:sp>
      <p:sp>
        <p:nvSpPr>
          <p:cNvPr id="92165" name="Text Box 5"/>
          <p:cNvSpPr txBox="1">
            <a:spLocks noChangeArrowheads="1"/>
          </p:cNvSpPr>
          <p:nvPr/>
        </p:nvSpPr>
        <p:spPr bwMode="auto">
          <a:xfrm>
            <a:off x="684213" y="3429000"/>
            <a:ext cx="7559675"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dirty="0"/>
              <a:t>      </a:t>
            </a:r>
            <a:r>
              <a:rPr lang="zh-CN" altLang="en-US" sz="2800" dirty="0"/>
              <a:t>利用电解方法可以制取许多其他的无机化合物，例如，高锰酸钾、过氧化氢、铬酸、二氧化锰、氧化亚铜、臭氧、氟等等，这起多属强氧化剂或具有很高活性的化合物，一般生产规模不大。</a:t>
            </a:r>
            <a:endParaRPr lang="zh-CN" alt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Text Box 4"/>
          <p:cNvSpPr txBox="1">
            <a:spLocks noChangeArrowheads="1"/>
          </p:cNvSpPr>
          <p:nvPr/>
        </p:nvSpPr>
        <p:spPr bwMode="auto">
          <a:xfrm>
            <a:off x="900113" y="1484313"/>
            <a:ext cx="7129462"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t>电化学合成新材料。包括纳米材料，电极材料，多孔材料，超导材料，复合材料，功能材料等。</a:t>
            </a:r>
            <a:endParaRPr lang="zh-CN" alt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539750" y="260350"/>
            <a:ext cx="4953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latin typeface="Arial" panose="020B0604020202020204" pitchFamily="34" charset="0"/>
                <a:ea typeface="微软雅黑" panose="020B0503020204020204" charset="-122"/>
              </a:rPr>
              <a:t>5.1.2</a:t>
            </a:r>
            <a:r>
              <a:rPr lang="zh-CN" altLang="en-US" sz="2400" b="1">
                <a:latin typeface="Arial" panose="020B0604020202020204" pitchFamily="34" charset="0"/>
                <a:ea typeface="微软雅黑" panose="020B0503020204020204" charset="-122"/>
              </a:rPr>
              <a:t>．几个重要的基本概念和术语 </a:t>
            </a:r>
            <a:endParaRPr lang="zh-CN" altLang="en-US" sz="2400" b="1">
              <a:latin typeface="Arial" panose="020B0604020202020204" pitchFamily="34" charset="0"/>
              <a:ea typeface="微软雅黑" panose="020B0503020204020204" charset="-122"/>
            </a:endParaRPr>
          </a:p>
        </p:txBody>
      </p:sp>
      <p:sp>
        <p:nvSpPr>
          <p:cNvPr id="5123" name="Rectangle 3"/>
          <p:cNvSpPr>
            <a:spLocks noChangeArrowheads="1"/>
          </p:cNvSpPr>
          <p:nvPr/>
        </p:nvSpPr>
        <p:spPr bwMode="auto">
          <a:xfrm>
            <a:off x="609600" y="914400"/>
            <a:ext cx="8534400" cy="230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latin typeface="Arial" panose="020B0604020202020204" pitchFamily="34" charset="0"/>
                <a:ea typeface="微软雅黑" panose="020B0503020204020204" charset="-122"/>
              </a:rPr>
              <a:t>(1)</a:t>
            </a:r>
            <a:r>
              <a:rPr lang="zh-CN" altLang="en-US" sz="2400" b="1">
                <a:latin typeface="Arial" panose="020B0604020202020204" pitchFamily="34" charset="0"/>
                <a:ea typeface="微软雅黑" panose="020B0503020204020204" charset="-122"/>
              </a:rPr>
              <a:t>电流效率</a:t>
            </a:r>
            <a:r>
              <a:rPr lang="zh-CN" altLang="en-US" sz="2400" b="1">
                <a:latin typeface="Arial" panose="020B0604020202020204" pitchFamily="34" charset="0"/>
                <a:ea typeface="微软雅黑" panose="020B0503020204020204" charset="-122"/>
                <a:sym typeface="Symbol" panose="05050102010706020507" pitchFamily="18" charset="2"/>
              </a:rPr>
              <a:t></a:t>
            </a:r>
            <a:r>
              <a:rPr lang="en-US" altLang="zh-CN" sz="2400" b="1" baseline="-25000">
                <a:latin typeface="Arial" panose="020B0604020202020204" pitchFamily="34" charset="0"/>
                <a:ea typeface="微软雅黑" panose="020B0503020204020204" charset="-122"/>
                <a:sym typeface="Symbol" panose="05050102010706020507" pitchFamily="18" charset="2"/>
              </a:rPr>
              <a:t>l</a:t>
            </a:r>
            <a:r>
              <a:rPr lang="zh-CN" altLang="en-US" sz="2400" b="1">
                <a:latin typeface="Arial" panose="020B0604020202020204" pitchFamily="34" charset="0"/>
                <a:ea typeface="微软雅黑" panose="020B0503020204020204" charset="-122"/>
              </a:rPr>
              <a:t>与电能效率</a:t>
            </a:r>
            <a:r>
              <a:rPr lang="zh-CN" altLang="en-US" sz="2400" b="1">
                <a:latin typeface="Arial" panose="020B0604020202020204" pitchFamily="34" charset="0"/>
                <a:ea typeface="微软雅黑" panose="020B0503020204020204" charset="-122"/>
                <a:sym typeface="Symbol" panose="05050102010706020507" pitchFamily="18" charset="2"/>
              </a:rPr>
              <a:t></a:t>
            </a:r>
            <a:r>
              <a:rPr lang="en-US" altLang="zh-CN" sz="2400" b="1" baseline="-25000">
                <a:latin typeface="Arial" panose="020B0604020202020204" pitchFamily="34" charset="0"/>
                <a:ea typeface="微软雅黑" panose="020B0503020204020204" charset="-122"/>
                <a:sym typeface="Symbol" panose="05050102010706020507" pitchFamily="18" charset="2"/>
              </a:rPr>
              <a:t>E</a:t>
            </a:r>
            <a:endParaRPr lang="en-US" altLang="zh-CN" sz="2400" b="1">
              <a:latin typeface="Arial" panose="020B0604020202020204" pitchFamily="34" charset="0"/>
              <a:ea typeface="微软雅黑" panose="020B0503020204020204" charset="-122"/>
            </a:endParaRPr>
          </a:p>
          <a:p>
            <a:r>
              <a:rPr lang="en-US" altLang="zh-CN" sz="2400" b="1">
                <a:latin typeface="Arial" panose="020B0604020202020204" pitchFamily="34" charset="0"/>
                <a:ea typeface="微软雅黑" panose="020B0503020204020204" charset="-122"/>
              </a:rPr>
              <a:t>   </a:t>
            </a:r>
            <a:r>
              <a:rPr lang="zh-CN" altLang="en-US" sz="2400" b="1">
                <a:latin typeface="Arial" panose="020B0604020202020204" pitchFamily="34" charset="0"/>
                <a:ea typeface="微软雅黑" panose="020B0503020204020204" charset="-122"/>
              </a:rPr>
              <a:t>为了衡量一个产品的经济指标，常需计算</a:t>
            </a:r>
            <a:r>
              <a:rPr lang="zh-CN" altLang="en-US" sz="2400" b="1">
                <a:latin typeface="Arial" panose="020B0604020202020204" pitchFamily="34" charset="0"/>
                <a:ea typeface="微软雅黑" panose="020B0503020204020204" charset="-122"/>
                <a:sym typeface="Symbol" panose="05050102010706020507" pitchFamily="18" charset="2"/>
              </a:rPr>
              <a:t></a:t>
            </a:r>
            <a:r>
              <a:rPr lang="en-US" altLang="zh-CN" sz="2400" b="1" baseline="-25000">
                <a:latin typeface="Arial" panose="020B0604020202020204" pitchFamily="34" charset="0"/>
                <a:ea typeface="微软雅黑" panose="020B0503020204020204" charset="-122"/>
                <a:sym typeface="Symbol" panose="05050102010706020507" pitchFamily="18" charset="2"/>
              </a:rPr>
              <a:t>l </a:t>
            </a:r>
            <a:r>
              <a:rPr lang="en-US" altLang="zh-CN" sz="2400" b="1">
                <a:latin typeface="Arial" panose="020B0604020202020204" pitchFamily="34" charset="0"/>
                <a:ea typeface="微软雅黑" panose="020B0503020204020204" charset="-122"/>
                <a:sym typeface="Symbol" panose="05050102010706020507" pitchFamily="18" charset="2"/>
              </a:rPr>
              <a:t></a:t>
            </a:r>
            <a:r>
              <a:rPr lang="en-US" altLang="zh-CN" sz="2400" b="1" baseline="-25000">
                <a:latin typeface="Arial" panose="020B0604020202020204" pitchFamily="34" charset="0"/>
                <a:ea typeface="微软雅黑" panose="020B0503020204020204" charset="-122"/>
                <a:sym typeface="Symbol" panose="05050102010706020507" pitchFamily="18" charset="2"/>
              </a:rPr>
              <a:t>E</a:t>
            </a:r>
            <a:r>
              <a:rPr lang="zh-CN" altLang="en-US" sz="2400" b="1">
                <a:latin typeface="Arial" panose="020B0604020202020204" pitchFamily="34" charset="0"/>
                <a:ea typeface="微软雅黑" panose="020B0503020204020204" charset="-122"/>
              </a:rPr>
              <a:t>。电解时产物的实际产量往往小于理论产量，因为一部分电流消耗在副反应上，也有部分电流用于克服电阻而发热，于是提出效率问题</a:t>
            </a:r>
            <a:r>
              <a:rPr lang="en-US" altLang="zh-CN" sz="2400" b="1">
                <a:latin typeface="Arial" panose="020B0604020202020204" pitchFamily="34" charset="0"/>
                <a:ea typeface="微软雅黑" panose="020B0503020204020204" charset="-122"/>
              </a:rPr>
              <a:t>.</a:t>
            </a:r>
            <a:r>
              <a:rPr lang="zh-CN" altLang="en-US" sz="2400" b="1">
                <a:solidFill>
                  <a:srgbClr val="FF3300"/>
                </a:solidFill>
                <a:latin typeface="Arial" panose="020B0604020202020204" pitchFamily="34" charset="0"/>
                <a:ea typeface="微软雅黑" panose="020B0503020204020204" charset="-122"/>
              </a:rPr>
              <a:t>电流效率</a:t>
            </a:r>
            <a:r>
              <a:rPr lang="zh-CN" altLang="en-US" sz="2400" b="1">
                <a:solidFill>
                  <a:srgbClr val="FF3300"/>
                </a:solidFill>
                <a:latin typeface="Arial" panose="020B0604020202020204" pitchFamily="34" charset="0"/>
                <a:ea typeface="微软雅黑" panose="020B0503020204020204" charset="-122"/>
                <a:sym typeface="Symbol" panose="05050102010706020507" pitchFamily="18" charset="2"/>
              </a:rPr>
              <a:t></a:t>
            </a:r>
            <a:r>
              <a:rPr lang="en-US" altLang="zh-CN" sz="2400" b="1" baseline="-25000">
                <a:solidFill>
                  <a:srgbClr val="FF3300"/>
                </a:solidFill>
                <a:latin typeface="Arial" panose="020B0604020202020204" pitchFamily="34" charset="0"/>
                <a:ea typeface="微软雅黑" panose="020B0503020204020204" charset="-122"/>
                <a:sym typeface="Symbol" panose="05050102010706020507" pitchFamily="18" charset="2"/>
              </a:rPr>
              <a:t>l</a:t>
            </a:r>
            <a:r>
              <a:rPr lang="zh-CN" altLang="en-US" sz="2400" b="1">
                <a:solidFill>
                  <a:srgbClr val="FF3300"/>
                </a:solidFill>
                <a:latin typeface="Arial" panose="020B0604020202020204" pitchFamily="34" charset="0"/>
                <a:ea typeface="微软雅黑" panose="020B0503020204020204" charset="-122"/>
              </a:rPr>
              <a:t>是制取一定量物质所必需的理论消耗电量</a:t>
            </a:r>
            <a:r>
              <a:rPr lang="en-US" altLang="zh-CN" sz="2400" b="1">
                <a:solidFill>
                  <a:srgbClr val="FF3300"/>
                </a:solidFill>
                <a:latin typeface="Arial" panose="020B0604020202020204" pitchFamily="34" charset="0"/>
                <a:ea typeface="微软雅黑" panose="020B0503020204020204" charset="-122"/>
              </a:rPr>
              <a:t>Q</a:t>
            </a:r>
            <a:r>
              <a:rPr lang="zh-CN" altLang="en-US" sz="2400" b="1">
                <a:solidFill>
                  <a:srgbClr val="FF3300"/>
                </a:solidFill>
                <a:latin typeface="Arial" panose="020B0604020202020204" pitchFamily="34" charset="0"/>
                <a:ea typeface="微软雅黑" panose="020B0503020204020204" charset="-122"/>
              </a:rPr>
              <a:t>与实际消耗电量</a:t>
            </a:r>
            <a:r>
              <a:rPr lang="en-US" altLang="zh-CN" sz="2400" b="1">
                <a:solidFill>
                  <a:srgbClr val="FF3300"/>
                </a:solidFill>
                <a:latin typeface="Arial" panose="020B0604020202020204" pitchFamily="34" charset="0"/>
                <a:ea typeface="微软雅黑" panose="020B0503020204020204" charset="-122"/>
              </a:rPr>
              <a:t>Qr</a:t>
            </a:r>
            <a:r>
              <a:rPr lang="zh-CN" altLang="en-US" sz="2400" b="1">
                <a:solidFill>
                  <a:srgbClr val="FF3300"/>
                </a:solidFill>
                <a:latin typeface="Arial" panose="020B0604020202020204" pitchFamily="34" charset="0"/>
                <a:ea typeface="微软雅黑" panose="020B0503020204020204" charset="-122"/>
              </a:rPr>
              <a:t>的比值： </a:t>
            </a:r>
            <a:endParaRPr lang="zh-CN" altLang="en-US" sz="2400" b="1">
              <a:solidFill>
                <a:srgbClr val="FF3300"/>
              </a:solidFill>
              <a:latin typeface="Arial" panose="020B0604020202020204" pitchFamily="34" charset="0"/>
              <a:ea typeface="微软雅黑" panose="020B0503020204020204" charset="-122"/>
            </a:endParaRPr>
          </a:p>
        </p:txBody>
      </p:sp>
      <p:graphicFrame>
        <p:nvGraphicFramePr>
          <p:cNvPr id="5124" name="Object 4"/>
          <p:cNvGraphicFramePr>
            <a:graphicFrameLocks noChangeAspect="1"/>
          </p:cNvGraphicFramePr>
          <p:nvPr/>
        </p:nvGraphicFramePr>
        <p:xfrm>
          <a:off x="1476375" y="3068638"/>
          <a:ext cx="6121400" cy="1981200"/>
        </p:xfrm>
        <a:graphic>
          <a:graphicData uri="http://schemas.openxmlformats.org/presentationml/2006/ole">
            <mc:AlternateContent xmlns:mc="http://schemas.openxmlformats.org/markup-compatibility/2006">
              <mc:Choice xmlns:v="urn:schemas-microsoft-com:vml" Requires="v">
                <p:oleObj spid="_x0000_s2" name="Equation" r:id="rId1" imgW="2197100" imgH="635000" progId="Equation.3">
                  <p:embed/>
                </p:oleObj>
              </mc:Choice>
              <mc:Fallback>
                <p:oleObj name="Equation" r:id="rId1" imgW="2197100" imgH="6350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3068638"/>
                        <a:ext cx="612140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5" name="Rectangle 5"/>
          <p:cNvSpPr>
            <a:spLocks noChangeArrowheads="1"/>
          </p:cNvSpPr>
          <p:nvPr/>
        </p:nvSpPr>
        <p:spPr bwMode="auto">
          <a:xfrm>
            <a:off x="609600" y="4648200"/>
            <a:ext cx="853440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latin typeface="Arial" panose="020B0604020202020204" pitchFamily="34" charset="0"/>
                <a:ea typeface="微软雅黑" panose="020B0503020204020204" charset="-122"/>
              </a:rPr>
              <a:t>式中．</a:t>
            </a:r>
            <a:r>
              <a:rPr lang="en-US" altLang="zh-CN" sz="2400" b="1">
                <a:latin typeface="Arial" panose="020B0604020202020204" pitchFamily="34" charset="0"/>
                <a:ea typeface="微软雅黑" panose="020B0503020204020204" charset="-122"/>
              </a:rPr>
              <a:t>m</a:t>
            </a:r>
            <a:r>
              <a:rPr lang="zh-CN" altLang="en-US" sz="2400" b="1">
                <a:latin typeface="Arial" panose="020B0604020202020204" pitchFamily="34" charset="0"/>
                <a:ea typeface="微软雅黑" panose="020B0503020204020204" charset="-122"/>
              </a:rPr>
              <a:t>为所得物质的质量，</a:t>
            </a:r>
            <a:r>
              <a:rPr lang="en-US" altLang="zh-CN" sz="2400" b="1">
                <a:latin typeface="Arial" panose="020B0604020202020204" pitchFamily="34" charset="0"/>
                <a:ea typeface="微软雅黑" panose="020B0503020204020204" charset="-122"/>
              </a:rPr>
              <a:t>M</a:t>
            </a:r>
            <a:r>
              <a:rPr lang="zh-CN" altLang="en-US" sz="2400" b="1">
                <a:latin typeface="Arial" panose="020B0604020202020204" pitchFamily="34" charset="0"/>
                <a:ea typeface="微软雅黑" panose="020B0503020204020204" charset="-122"/>
              </a:rPr>
              <a:t>为所得物质的摩尔质量，</a:t>
            </a:r>
            <a:r>
              <a:rPr lang="en-US" altLang="zh-CN" sz="2400" b="1">
                <a:latin typeface="Arial" panose="020B0604020202020204" pitchFamily="34" charset="0"/>
                <a:ea typeface="微软雅黑" panose="020B0503020204020204" charset="-122"/>
              </a:rPr>
              <a:t>z</a:t>
            </a:r>
            <a:r>
              <a:rPr lang="zh-CN" altLang="en-US" sz="2400" b="1">
                <a:latin typeface="Arial" panose="020B0604020202020204" pitchFamily="34" charset="0"/>
                <a:ea typeface="微软雅黑" panose="020B0503020204020204" charset="-122"/>
              </a:rPr>
              <a:t>为电极反应式中的电子计量数．</a:t>
            </a:r>
            <a:r>
              <a:rPr lang="en-US" altLang="zh-CN" sz="2400" b="1">
                <a:latin typeface="Arial" panose="020B0604020202020204" pitchFamily="34" charset="0"/>
                <a:ea typeface="微软雅黑" panose="020B0503020204020204" charset="-122"/>
              </a:rPr>
              <a:t>F</a:t>
            </a:r>
            <a:r>
              <a:rPr lang="zh-CN" altLang="en-US" sz="2400" b="1">
                <a:latin typeface="Arial" panose="020B0604020202020204" pitchFamily="34" charset="0"/>
                <a:ea typeface="微软雅黑" panose="020B0503020204020204" charset="-122"/>
              </a:rPr>
              <a:t>为法拉第常数。实际消耗电量可通过下式计算： </a:t>
            </a:r>
            <a:endParaRPr lang="zh-CN" altLang="en-US" sz="2400" b="1">
              <a:latin typeface="Arial" panose="020B0604020202020204" pitchFamily="34" charset="0"/>
              <a:ea typeface="微软雅黑" panose="020B0503020204020204" charset="-122"/>
            </a:endParaRPr>
          </a:p>
        </p:txBody>
      </p:sp>
      <p:graphicFrame>
        <p:nvGraphicFramePr>
          <p:cNvPr id="5126" name="Object 6"/>
          <p:cNvGraphicFramePr>
            <a:graphicFrameLocks noChangeAspect="1"/>
          </p:cNvGraphicFramePr>
          <p:nvPr/>
        </p:nvGraphicFramePr>
        <p:xfrm>
          <a:off x="2895600" y="5638800"/>
          <a:ext cx="1676400" cy="806450"/>
        </p:xfrm>
        <a:graphic>
          <a:graphicData uri="http://schemas.openxmlformats.org/presentationml/2006/ole">
            <mc:AlternateContent xmlns:mc="http://schemas.openxmlformats.org/markup-compatibility/2006">
              <mc:Choice xmlns:v="urn:schemas-microsoft-com:vml" Requires="v">
                <p:oleObj spid="_x0000_s3" name="Equation" r:id="rId3" imgW="342900" imgH="165100" progId="Equation.3">
                  <p:embed/>
                </p:oleObj>
              </mc:Choice>
              <mc:Fallback>
                <p:oleObj name="Equation" r:id="rId3" imgW="342900" imgH="1651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5638800"/>
                        <a:ext cx="1676400"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457200" y="304800"/>
            <a:ext cx="7924800" cy="2030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2800" b="1">
                <a:latin typeface="Arial" panose="020B0604020202020204" pitchFamily="34" charset="0"/>
                <a:ea typeface="微软雅黑" panose="020B0503020204020204" charset="-122"/>
              </a:rPr>
              <a:t>式中，</a:t>
            </a:r>
            <a:r>
              <a:rPr lang="en-US" altLang="zh-CN" sz="2800" b="1">
                <a:latin typeface="Arial" panose="020B0604020202020204" pitchFamily="34" charset="0"/>
                <a:ea typeface="微软雅黑" panose="020B0503020204020204" charset="-122"/>
              </a:rPr>
              <a:t>l</a:t>
            </a:r>
            <a:r>
              <a:rPr lang="zh-CN" altLang="en-US" sz="2800" b="1">
                <a:latin typeface="Arial" panose="020B0604020202020204" pitchFamily="34" charset="0"/>
                <a:ea typeface="微软雅黑" panose="020B0503020204020204" charset="-122"/>
              </a:rPr>
              <a:t>为电流强度，</a:t>
            </a:r>
            <a:r>
              <a:rPr lang="en-US" altLang="zh-CN" sz="2800" b="1">
                <a:latin typeface="Arial" panose="020B0604020202020204" pitchFamily="34" charset="0"/>
                <a:ea typeface="微软雅黑" panose="020B0503020204020204" charset="-122"/>
              </a:rPr>
              <a:t>t</a:t>
            </a:r>
            <a:r>
              <a:rPr lang="zh-CN" altLang="en-US" sz="2800" b="1">
                <a:latin typeface="Arial" panose="020B0604020202020204" pitchFamily="34" charset="0"/>
                <a:ea typeface="微软雅黑" panose="020B0503020204020204" charset="-122"/>
              </a:rPr>
              <a:t>为通电时间。 </a:t>
            </a:r>
            <a:endParaRPr lang="zh-CN" altLang="en-US" sz="2800" b="1">
              <a:latin typeface="Arial" panose="020B0604020202020204" pitchFamily="34" charset="0"/>
              <a:ea typeface="微软雅黑" panose="020B0503020204020204" charset="-122"/>
            </a:endParaRPr>
          </a:p>
          <a:p>
            <a:pPr algn="just">
              <a:spcBef>
                <a:spcPct val="50000"/>
              </a:spcBef>
            </a:pPr>
            <a:r>
              <a:rPr lang="zh-CN" altLang="en-US" sz="2800" b="1">
                <a:latin typeface="Arial" panose="020B0604020202020204" pitchFamily="34" charset="0"/>
                <a:ea typeface="微软雅黑" panose="020B0503020204020204" charset="-122"/>
              </a:rPr>
              <a:t>       </a:t>
            </a:r>
            <a:r>
              <a:rPr lang="zh-CN" altLang="en-US" sz="2800" b="1">
                <a:solidFill>
                  <a:srgbClr val="FF3300"/>
                </a:solidFill>
                <a:latin typeface="Arial" panose="020B0604020202020204" pitchFamily="34" charset="0"/>
                <a:ea typeface="微软雅黑" panose="020B0503020204020204" charset="-122"/>
              </a:rPr>
              <a:t>电能效率</a:t>
            </a:r>
            <a:r>
              <a:rPr lang="zh-CN" altLang="en-US" sz="2800" b="1">
                <a:solidFill>
                  <a:srgbClr val="FF3300"/>
                </a:solidFill>
                <a:latin typeface="Arial" panose="020B0604020202020204" pitchFamily="34" charset="0"/>
                <a:ea typeface="微软雅黑" panose="020B0503020204020204" charset="-122"/>
                <a:sym typeface="Symbol" panose="05050102010706020507" pitchFamily="18" charset="2"/>
              </a:rPr>
              <a:t></a:t>
            </a:r>
            <a:r>
              <a:rPr lang="en-US" altLang="zh-CN" sz="2800" b="1" baseline="-25000">
                <a:solidFill>
                  <a:srgbClr val="FF3300"/>
                </a:solidFill>
                <a:latin typeface="Arial" panose="020B0604020202020204" pitchFamily="34" charset="0"/>
                <a:ea typeface="微软雅黑" panose="020B0503020204020204" charset="-122"/>
                <a:sym typeface="Symbol" panose="05050102010706020507" pitchFamily="18" charset="2"/>
              </a:rPr>
              <a:t>E</a:t>
            </a:r>
            <a:r>
              <a:rPr lang="zh-CN" altLang="en-US" sz="2800" b="1">
                <a:solidFill>
                  <a:srgbClr val="FF3300"/>
                </a:solidFill>
                <a:latin typeface="Arial" panose="020B0604020202020204" pitchFamily="34" charset="0"/>
                <a:ea typeface="微软雅黑" panose="020B0503020204020204" charset="-122"/>
              </a:rPr>
              <a:t>是为获得一定量产品，根据热力学计算所需的理论能耗与实际能耗之比</a:t>
            </a:r>
            <a:r>
              <a:rPr lang="zh-CN" altLang="en-US" sz="2800" b="1">
                <a:latin typeface="Arial" panose="020B0604020202020204" pitchFamily="34" charset="0"/>
                <a:ea typeface="微软雅黑" panose="020B0503020204020204" charset="-122"/>
              </a:rPr>
              <a:t>。电能</a:t>
            </a:r>
            <a:r>
              <a:rPr lang="en-US" altLang="zh-CN" sz="2800" b="1">
                <a:latin typeface="Arial" panose="020B0604020202020204" pitchFamily="34" charset="0"/>
                <a:ea typeface="微软雅黑" panose="020B0503020204020204" charset="-122"/>
              </a:rPr>
              <a:t>W</a:t>
            </a:r>
            <a:r>
              <a:rPr lang="zh-CN" altLang="en-US" sz="2800" b="1">
                <a:latin typeface="Arial" panose="020B0604020202020204" pitchFamily="34" charset="0"/>
                <a:ea typeface="微软雅黑" panose="020B0503020204020204" charset="-122"/>
              </a:rPr>
              <a:t>等于电压</a:t>
            </a:r>
            <a:r>
              <a:rPr lang="en-US" altLang="zh-CN" sz="2800" b="1">
                <a:latin typeface="Arial" panose="020B0604020202020204" pitchFamily="34" charset="0"/>
                <a:ea typeface="微软雅黑" panose="020B0503020204020204" charset="-122"/>
              </a:rPr>
              <a:t>v</a:t>
            </a:r>
            <a:r>
              <a:rPr lang="zh-CN" altLang="en-US" sz="2800" b="1">
                <a:latin typeface="Arial" panose="020B0604020202020204" pitchFamily="34" charset="0"/>
                <a:ea typeface="微软雅黑" panose="020B0503020204020204" charset="-122"/>
              </a:rPr>
              <a:t>和电量</a:t>
            </a:r>
            <a:r>
              <a:rPr lang="en-US" altLang="zh-CN" sz="2800" b="1">
                <a:latin typeface="Arial" panose="020B0604020202020204" pitchFamily="34" charset="0"/>
                <a:ea typeface="微软雅黑" panose="020B0503020204020204" charset="-122"/>
              </a:rPr>
              <a:t>Q</a:t>
            </a:r>
            <a:r>
              <a:rPr lang="zh-CN" altLang="en-US" sz="2800" b="1">
                <a:latin typeface="Arial" panose="020B0604020202020204" pitchFamily="34" charset="0"/>
                <a:ea typeface="微软雅黑" panose="020B0503020204020204" charset="-122"/>
              </a:rPr>
              <a:t>的乘积，即： </a:t>
            </a:r>
            <a:endParaRPr lang="zh-CN" altLang="en-US" sz="2800" b="1">
              <a:latin typeface="Arial" panose="020B0604020202020204" pitchFamily="34" charset="0"/>
              <a:ea typeface="微软雅黑" panose="020B0503020204020204" charset="-122"/>
            </a:endParaRPr>
          </a:p>
        </p:txBody>
      </p:sp>
      <p:graphicFrame>
        <p:nvGraphicFramePr>
          <p:cNvPr id="6147" name="Object 3"/>
          <p:cNvGraphicFramePr>
            <a:graphicFrameLocks noChangeAspect="1"/>
          </p:cNvGraphicFramePr>
          <p:nvPr/>
        </p:nvGraphicFramePr>
        <p:xfrm>
          <a:off x="2971800" y="2362200"/>
          <a:ext cx="1828800" cy="685800"/>
        </p:xfrm>
        <a:graphic>
          <a:graphicData uri="http://schemas.openxmlformats.org/presentationml/2006/ole">
            <mc:AlternateContent xmlns:mc="http://schemas.openxmlformats.org/markup-compatibility/2006">
              <mc:Choice xmlns:v="urn:schemas-microsoft-com:vml" Requires="v">
                <p:oleObj spid="_x0000_s2" name="Equation" r:id="rId1" imgW="405765" imgH="152400" progId="Equation.3">
                  <p:embed/>
                </p:oleObj>
              </mc:Choice>
              <mc:Fallback>
                <p:oleObj name="Equation" r:id="rId1" imgW="405765" imgH="1524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362200"/>
                        <a:ext cx="1828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8" name="Text Box 4"/>
          <p:cNvSpPr txBox="1">
            <a:spLocks noChangeArrowheads="1"/>
          </p:cNvSpPr>
          <p:nvPr/>
        </p:nvSpPr>
        <p:spPr bwMode="auto">
          <a:xfrm>
            <a:off x="533400" y="2895600"/>
            <a:ext cx="8229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2800" b="1">
                <a:latin typeface="Arial" panose="020B0604020202020204" pitchFamily="34" charset="0"/>
                <a:ea typeface="微软雅黑" panose="020B0503020204020204" charset="-122"/>
              </a:rPr>
              <a:t>实际能耗</a:t>
            </a:r>
            <a:r>
              <a:rPr lang="en-US" altLang="zh-CN" sz="2800" b="1">
                <a:latin typeface="Arial" panose="020B0604020202020204" pitchFamily="34" charset="0"/>
                <a:ea typeface="微软雅黑" panose="020B0503020204020204" charset="-122"/>
              </a:rPr>
              <a:t>W</a:t>
            </a:r>
            <a:r>
              <a:rPr lang="en-US" altLang="zh-CN" sz="2800" b="1" baseline="-25000">
                <a:latin typeface="Arial" panose="020B0604020202020204" pitchFamily="34" charset="0"/>
                <a:ea typeface="微软雅黑" panose="020B0503020204020204" charset="-122"/>
              </a:rPr>
              <a:t>r</a:t>
            </a:r>
            <a:r>
              <a:rPr lang="zh-CN" altLang="en-US" sz="2800" b="1">
                <a:latin typeface="Arial" panose="020B0604020202020204" pitchFamily="34" charset="0"/>
                <a:ea typeface="微软雅黑" panose="020B0503020204020204" charset="-122"/>
              </a:rPr>
              <a:t>等于电压</a:t>
            </a:r>
            <a:r>
              <a:rPr lang="en-US" altLang="zh-CN" sz="2800" b="1">
                <a:latin typeface="Arial" panose="020B0604020202020204" pitchFamily="34" charset="0"/>
                <a:ea typeface="微软雅黑" panose="020B0503020204020204" charset="-122"/>
              </a:rPr>
              <a:t>v</a:t>
            </a:r>
            <a:r>
              <a:rPr lang="zh-CN" altLang="en-US" sz="2800" b="1">
                <a:latin typeface="Arial" panose="020B0604020202020204" pitchFamily="34" charset="0"/>
                <a:ea typeface="微软雅黑" panose="020B0503020204020204" charset="-122"/>
              </a:rPr>
              <a:t>和实际耗电量</a:t>
            </a:r>
            <a:r>
              <a:rPr lang="en-US" altLang="zh-CN" sz="2800" b="1">
                <a:latin typeface="Arial" panose="020B0604020202020204" pitchFamily="34" charset="0"/>
                <a:ea typeface="微软雅黑" panose="020B0503020204020204" charset="-122"/>
              </a:rPr>
              <a:t>Q</a:t>
            </a:r>
            <a:r>
              <a:rPr lang="en-US" altLang="zh-CN" sz="2800" b="1" baseline="-25000">
                <a:latin typeface="Arial" panose="020B0604020202020204" pitchFamily="34" charset="0"/>
                <a:ea typeface="微软雅黑" panose="020B0503020204020204" charset="-122"/>
              </a:rPr>
              <a:t>r</a:t>
            </a:r>
            <a:r>
              <a:rPr lang="zh-CN" altLang="en-US" sz="2800" b="1">
                <a:latin typeface="Arial" panose="020B0604020202020204" pitchFamily="34" charset="0"/>
                <a:ea typeface="微软雅黑" panose="020B0503020204020204" charset="-122"/>
              </a:rPr>
              <a:t>的乘积，即： </a:t>
            </a:r>
            <a:endParaRPr lang="zh-CN" altLang="en-US" sz="2400">
              <a:latin typeface="Arial" panose="020B0604020202020204" pitchFamily="34" charset="0"/>
              <a:ea typeface="微软雅黑" panose="020B0503020204020204" charset="-122"/>
            </a:endParaRPr>
          </a:p>
        </p:txBody>
      </p:sp>
      <p:graphicFrame>
        <p:nvGraphicFramePr>
          <p:cNvPr id="6149" name="Object 5"/>
          <p:cNvGraphicFramePr>
            <a:graphicFrameLocks noChangeAspect="1"/>
          </p:cNvGraphicFramePr>
          <p:nvPr/>
        </p:nvGraphicFramePr>
        <p:xfrm>
          <a:off x="2895600" y="3276600"/>
          <a:ext cx="2114550" cy="742950"/>
        </p:xfrm>
        <a:graphic>
          <a:graphicData uri="http://schemas.openxmlformats.org/presentationml/2006/ole">
            <mc:AlternateContent xmlns:mc="http://schemas.openxmlformats.org/markup-compatibility/2006">
              <mc:Choice xmlns:v="urn:schemas-microsoft-com:vml" Requires="v">
                <p:oleObj spid="_x0000_s3" name="Equation" r:id="rId3" imgW="469900" imgH="165100" progId="Equation.3">
                  <p:embed/>
                </p:oleObj>
              </mc:Choice>
              <mc:Fallback>
                <p:oleObj name="Equation" r:id="rId3" imgW="469900" imgH="1651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276600"/>
                        <a:ext cx="211455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0" name="Text Box 6"/>
          <p:cNvSpPr txBox="1">
            <a:spLocks noChangeArrowheads="1"/>
          </p:cNvSpPr>
          <p:nvPr/>
        </p:nvSpPr>
        <p:spPr bwMode="auto">
          <a:xfrm>
            <a:off x="685800" y="3962400"/>
            <a:ext cx="777240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latin typeface="Arial" panose="020B0604020202020204" pitchFamily="34" charset="0"/>
                <a:ea typeface="微软雅黑" panose="020B0503020204020204" charset="-122"/>
              </a:rPr>
              <a:t>理论能耗为理论分解电压</a:t>
            </a:r>
            <a:r>
              <a:rPr lang="en-US" altLang="zh-CN" sz="2800" b="1">
                <a:latin typeface="Arial" panose="020B0604020202020204" pitchFamily="34" charset="0"/>
                <a:ea typeface="微软雅黑" panose="020B0503020204020204" charset="-122"/>
              </a:rPr>
              <a:t>Ee </a:t>
            </a:r>
            <a:r>
              <a:rPr lang="zh-CN" altLang="en-US" sz="2800" b="1">
                <a:latin typeface="Arial" panose="020B0604020202020204" pitchFamily="34" charset="0"/>
                <a:ea typeface="微软雅黑" panose="020B0503020204020204" charset="-122"/>
              </a:rPr>
              <a:t>和理论电量</a:t>
            </a:r>
            <a:r>
              <a:rPr lang="en-US" altLang="zh-CN" sz="2800" b="1">
                <a:latin typeface="Arial" panose="020B0604020202020204" pitchFamily="34" charset="0"/>
                <a:ea typeface="微软雅黑" panose="020B0503020204020204" charset="-122"/>
              </a:rPr>
              <a:t>Q</a:t>
            </a:r>
            <a:r>
              <a:rPr lang="zh-CN" altLang="en-US" sz="2800" b="1">
                <a:latin typeface="Arial" panose="020B0604020202020204" pitchFamily="34" charset="0"/>
                <a:ea typeface="微软雅黑" panose="020B0503020204020204" charset="-122"/>
              </a:rPr>
              <a:t>的乘积，即</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graphicFrame>
        <p:nvGraphicFramePr>
          <p:cNvPr id="6151" name="Object 7"/>
          <p:cNvGraphicFramePr>
            <a:graphicFrameLocks noChangeAspect="1"/>
          </p:cNvGraphicFramePr>
          <p:nvPr/>
        </p:nvGraphicFramePr>
        <p:xfrm>
          <a:off x="2286000" y="4648200"/>
          <a:ext cx="3543300" cy="800100"/>
        </p:xfrm>
        <a:graphic>
          <a:graphicData uri="http://schemas.openxmlformats.org/presentationml/2006/ole">
            <mc:AlternateContent xmlns:mc="http://schemas.openxmlformats.org/markup-compatibility/2006">
              <mc:Choice xmlns:v="urn:schemas-microsoft-com:vml" Requires="v">
                <p:oleObj spid="_x0000_s4" name="Equation" r:id="rId5" imgW="786765" imgH="177800" progId="Equation.3">
                  <p:embed/>
                </p:oleObj>
              </mc:Choice>
              <mc:Fallback>
                <p:oleObj name="Equation" r:id="rId5" imgW="786765" imgH="177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4648200"/>
                        <a:ext cx="35433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304800" y="304800"/>
            <a:ext cx="8305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ea typeface="微软雅黑" panose="020B0503020204020204" charset="-122"/>
              </a:rPr>
              <a:t>2)</a:t>
            </a:r>
            <a:r>
              <a:rPr lang="zh-CN" altLang="en-US" sz="2800" b="1">
                <a:ea typeface="微软雅黑" panose="020B0503020204020204" charset="-122"/>
              </a:rPr>
              <a:t>槽电压</a:t>
            </a:r>
            <a:r>
              <a:rPr lang="en-US" altLang="zh-CN" sz="2800" b="1">
                <a:ea typeface="微软雅黑" panose="020B0503020204020204" charset="-122"/>
              </a:rPr>
              <a:t>V</a:t>
            </a:r>
            <a:endParaRPr lang="en-US" altLang="zh-CN" sz="2800" b="1">
              <a:ea typeface="微软雅黑" panose="020B0503020204020204" charset="-122"/>
            </a:endParaRPr>
          </a:p>
        </p:txBody>
      </p:sp>
      <p:sp>
        <p:nvSpPr>
          <p:cNvPr id="7171" name="Text Box 3"/>
          <p:cNvSpPr txBox="1">
            <a:spLocks noChangeArrowheads="1"/>
          </p:cNvSpPr>
          <p:nvPr/>
        </p:nvSpPr>
        <p:spPr bwMode="auto">
          <a:xfrm>
            <a:off x="533400" y="990600"/>
            <a:ext cx="8153400" cy="3538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2800" b="1">
                <a:solidFill>
                  <a:srgbClr val="FF3300"/>
                </a:solidFill>
                <a:latin typeface="Arial" panose="020B0604020202020204" pitchFamily="34" charset="0"/>
                <a:ea typeface="微软雅黑" panose="020B0503020204020204" charset="-122"/>
              </a:rPr>
              <a:t>外电源加在电解槽的两极的电压</a:t>
            </a:r>
            <a:r>
              <a:rPr lang="en-US" altLang="zh-CN" sz="2800" b="1">
                <a:solidFill>
                  <a:srgbClr val="FF3300"/>
                </a:solidFill>
                <a:latin typeface="Arial" panose="020B0604020202020204" pitchFamily="34" charset="0"/>
                <a:ea typeface="微软雅黑" panose="020B0503020204020204" charset="-122"/>
              </a:rPr>
              <a:t>(</a:t>
            </a:r>
            <a:r>
              <a:rPr lang="zh-CN" altLang="en-US" sz="2800" b="1">
                <a:solidFill>
                  <a:srgbClr val="FF3300"/>
                </a:solidFill>
                <a:latin typeface="Arial" panose="020B0604020202020204" pitchFamily="34" charset="0"/>
                <a:ea typeface="微软雅黑" panose="020B0503020204020204" charset="-122"/>
              </a:rPr>
              <a:t>或称电 势</a:t>
            </a:r>
            <a:r>
              <a:rPr lang="en-US" altLang="zh-CN" sz="2800" b="1">
                <a:solidFill>
                  <a:srgbClr val="FF3300"/>
                </a:solidFill>
                <a:latin typeface="Arial" panose="020B0604020202020204" pitchFamily="34" charset="0"/>
                <a:ea typeface="微软雅黑" panose="020B0503020204020204" charset="-122"/>
              </a:rPr>
              <a:t>) </a:t>
            </a:r>
            <a:r>
              <a:rPr lang="zh-CN" altLang="en-US" sz="2800" b="1">
                <a:solidFill>
                  <a:srgbClr val="FF3300"/>
                </a:solidFill>
                <a:latin typeface="Arial" panose="020B0604020202020204" pitchFamily="34" charset="0"/>
                <a:ea typeface="微软雅黑" panose="020B0503020204020204" charset="-122"/>
              </a:rPr>
              <a:t>就是槽电压</a:t>
            </a:r>
            <a:r>
              <a:rPr lang="en-US" altLang="zh-CN" sz="2800" b="1">
                <a:solidFill>
                  <a:srgbClr val="FF3300"/>
                </a:solidFill>
                <a:latin typeface="Arial" panose="020B0604020202020204" pitchFamily="34" charset="0"/>
                <a:ea typeface="微软雅黑" panose="020B0503020204020204" charset="-122"/>
              </a:rPr>
              <a:t>V</a:t>
            </a:r>
            <a:r>
              <a:rPr lang="en-US" altLang="zh-CN" sz="2800" b="1">
                <a:latin typeface="Arial" panose="020B0604020202020204" pitchFamily="34" charset="0"/>
                <a:ea typeface="微软雅黑" panose="020B0503020204020204" charset="-122"/>
              </a:rPr>
              <a:t> .</a:t>
            </a:r>
            <a:r>
              <a:rPr lang="zh-CN" altLang="en-US" sz="2800" b="1">
                <a:latin typeface="Arial" panose="020B0604020202020204" pitchFamily="34" charset="0"/>
                <a:ea typeface="微软雅黑" panose="020B0503020204020204" charset="-122"/>
              </a:rPr>
              <a:t>理论分解电压</a:t>
            </a:r>
            <a:r>
              <a:rPr lang="en-US" altLang="zh-CN" sz="2800" b="1">
                <a:latin typeface="Arial" panose="020B0604020202020204" pitchFamily="34" charset="0"/>
                <a:ea typeface="微软雅黑" panose="020B0503020204020204" charset="-122"/>
              </a:rPr>
              <a:t>E</a:t>
            </a:r>
            <a:r>
              <a:rPr lang="en-US" altLang="zh-CN" sz="2800" b="1" baseline="-25000">
                <a:latin typeface="Arial" panose="020B0604020202020204" pitchFamily="34" charset="0"/>
                <a:ea typeface="微软雅黑" panose="020B0503020204020204" charset="-122"/>
              </a:rPr>
              <a:t>e</a:t>
            </a:r>
            <a:r>
              <a:rPr lang="zh-CN" altLang="en-US" sz="2800" b="1">
                <a:latin typeface="Arial" panose="020B0604020202020204" pitchFamily="34" charset="0"/>
                <a:ea typeface="微软雅黑" panose="020B0503020204020204" charset="-122"/>
              </a:rPr>
              <a:t>即没有电流流过电解槽时的槽电压</a:t>
            </a:r>
            <a:r>
              <a:rPr lang="en-US" altLang="zh-CN" sz="2800" b="1">
                <a:latin typeface="Arial" panose="020B0604020202020204" pitchFamily="34" charset="0"/>
                <a:ea typeface="微软雅黑" panose="020B0503020204020204" charset="-122"/>
              </a:rPr>
              <a:t>E </a:t>
            </a:r>
            <a:r>
              <a:rPr lang="en-US" altLang="zh-CN" sz="2800" b="1" baseline="-25000">
                <a:latin typeface="Arial" panose="020B0604020202020204" pitchFamily="34" charset="0"/>
                <a:ea typeface="微软雅黑" panose="020B0503020204020204" charset="-122"/>
              </a:rPr>
              <a:t>e </a:t>
            </a:r>
            <a:r>
              <a:rPr lang="zh-CN" altLang="en-US" sz="2800" b="1">
                <a:latin typeface="Arial" panose="020B0604020202020204" pitchFamily="34" charset="0"/>
                <a:ea typeface="微软雅黑" panose="020B0503020204020204" charset="-122"/>
              </a:rPr>
              <a:t>＝</a:t>
            </a:r>
            <a:r>
              <a:rPr lang="zh-CN" altLang="en-US" sz="2800" b="1">
                <a:latin typeface="Arial" panose="020B0604020202020204" pitchFamily="34" charset="0"/>
                <a:ea typeface="微软雅黑" panose="020B0503020204020204" charset="-122"/>
                <a:sym typeface="Symbol" panose="05050102010706020507" pitchFamily="18" charset="2"/>
              </a:rPr>
              <a:t></a:t>
            </a:r>
            <a:r>
              <a:rPr lang="en-US" altLang="zh-CN" sz="2800" b="1" baseline="-25000">
                <a:latin typeface="Arial" panose="020B0604020202020204" pitchFamily="34" charset="0"/>
                <a:ea typeface="微软雅黑" panose="020B0503020204020204" charset="-122"/>
                <a:sym typeface="Symbol" panose="05050102010706020507" pitchFamily="18" charset="2"/>
              </a:rPr>
              <a:t>+</a:t>
            </a:r>
            <a:r>
              <a:rPr lang="en-US" altLang="zh-CN" sz="2800" b="1">
                <a:latin typeface="Arial" panose="020B0604020202020204" pitchFamily="34" charset="0"/>
                <a:ea typeface="微软雅黑" panose="020B0503020204020204" charset="-122"/>
                <a:sym typeface="Symbol" panose="05050102010706020507" pitchFamily="18" charset="2"/>
              </a:rPr>
              <a:t>-</a:t>
            </a:r>
            <a:r>
              <a:rPr lang="en-US" altLang="zh-CN" sz="2800" b="1" baseline="-25000">
                <a:latin typeface="Arial" panose="020B0604020202020204" pitchFamily="34" charset="0"/>
                <a:ea typeface="微软雅黑" panose="020B0503020204020204" charset="-122"/>
                <a:sym typeface="Symbol" panose="05050102010706020507" pitchFamily="18" charset="2"/>
              </a:rPr>
              <a:t>-</a:t>
            </a:r>
            <a:r>
              <a:rPr lang="zh-CN" altLang="en-US" sz="2800" b="1">
                <a:latin typeface="Arial" panose="020B0604020202020204" pitchFamily="34" charset="0"/>
                <a:ea typeface="微软雅黑" panose="020B0503020204020204" charset="-122"/>
              </a:rPr>
              <a:t>，而实际电解时，一定有电流流过电解槽、电极发生极化</a:t>
            </a:r>
            <a:r>
              <a:rPr lang="en-US" altLang="zh-CN" sz="2800" b="1">
                <a:latin typeface="Arial" panose="020B0604020202020204" pitchFamily="34" charset="0"/>
                <a:ea typeface="微软雅黑" panose="020B0503020204020204" charset="-122"/>
              </a:rPr>
              <a:t>,</a:t>
            </a:r>
            <a:r>
              <a:rPr lang="zh-CN" altLang="en-US" sz="2800" b="1">
                <a:latin typeface="Arial" panose="020B0604020202020204" pitchFamily="34" charset="0"/>
                <a:ea typeface="微软雅黑" panose="020B0503020204020204" charset="-122"/>
              </a:rPr>
              <a:t>出现了超电势 </a:t>
            </a:r>
            <a:r>
              <a:rPr lang="zh-CN" altLang="en-US" sz="2800" b="1">
                <a:latin typeface="Arial" panose="020B0604020202020204" pitchFamily="34" charset="0"/>
                <a:ea typeface="微软雅黑" panose="020B0503020204020204" charset="-122"/>
                <a:sym typeface="Symbol" panose="05050102010706020507" pitchFamily="18" charset="2"/>
              </a:rPr>
              <a:t></a:t>
            </a:r>
            <a:r>
              <a:rPr lang="zh-CN" altLang="en-US" sz="2800" b="1">
                <a:latin typeface="Arial" panose="020B0604020202020204" pitchFamily="34" charset="0"/>
                <a:ea typeface="微软雅黑" panose="020B0503020204020204" charset="-122"/>
              </a:rPr>
              <a:t>，还有溶液电阻引起的电位降</a:t>
            </a:r>
            <a:r>
              <a:rPr lang="en-US" altLang="zh-CN" sz="2800" b="1">
                <a:latin typeface="Arial" panose="020B0604020202020204" pitchFamily="34" charset="0"/>
                <a:ea typeface="微软雅黑" panose="020B0503020204020204" charset="-122"/>
              </a:rPr>
              <a:t>lR</a:t>
            </a:r>
            <a:r>
              <a:rPr lang="en-US" altLang="zh-CN" sz="2800" b="1" baseline="-25000">
                <a:latin typeface="Arial" panose="020B0604020202020204" pitchFamily="34" charset="0"/>
                <a:ea typeface="微软雅黑" panose="020B0503020204020204" charset="-122"/>
              </a:rPr>
              <a:t>sol</a:t>
            </a:r>
            <a:r>
              <a:rPr lang="zh-CN" altLang="en-US" sz="2800" b="1">
                <a:latin typeface="Arial" panose="020B0604020202020204" pitchFamily="34" charset="0"/>
                <a:ea typeface="微软雅黑" panose="020B0503020204020204" charset="-122"/>
              </a:rPr>
              <a:t>和电解槽的各种欧姆损失</a:t>
            </a:r>
            <a:r>
              <a:rPr lang="en-US" altLang="zh-CN" sz="2800" b="1">
                <a:latin typeface="Arial" panose="020B0604020202020204" pitchFamily="34" charset="0"/>
                <a:ea typeface="微软雅黑" panose="020B0503020204020204" charset="-122"/>
              </a:rPr>
              <a:t>.</a:t>
            </a:r>
            <a:r>
              <a:rPr lang="zh-CN" altLang="en-US" sz="2800" b="1">
                <a:latin typeface="Arial" panose="020B0604020202020204" pitchFamily="34" charset="0"/>
                <a:ea typeface="微软雅黑" panose="020B0503020204020204" charset="-122"/>
              </a:rPr>
              <a:t>其中包括电极本身的电阻、隔膜电阻、导线与电极接触的电阻等。所以，实际的槽电压大于理论分 解电压，计算槽电压的一般公式为：  </a:t>
            </a:r>
            <a:endParaRPr lang="zh-CN" altLang="en-US" sz="2800" b="1">
              <a:latin typeface="Arial" panose="020B0604020202020204" pitchFamily="34" charset="0"/>
              <a:ea typeface="微软雅黑" panose="020B0503020204020204" charset="-122"/>
            </a:endParaRPr>
          </a:p>
        </p:txBody>
      </p:sp>
      <p:graphicFrame>
        <p:nvGraphicFramePr>
          <p:cNvPr id="7172" name="Object 4"/>
          <p:cNvGraphicFramePr>
            <a:graphicFrameLocks noChangeAspect="1"/>
          </p:cNvGraphicFramePr>
          <p:nvPr/>
        </p:nvGraphicFramePr>
        <p:xfrm>
          <a:off x="2057400" y="4724400"/>
          <a:ext cx="4724400" cy="752475"/>
        </p:xfrm>
        <a:graphic>
          <a:graphicData uri="http://schemas.openxmlformats.org/presentationml/2006/ole">
            <mc:AlternateContent xmlns:mc="http://schemas.openxmlformats.org/markup-compatibility/2006">
              <mc:Choice xmlns:v="urn:schemas-microsoft-com:vml" Requires="v">
                <p:oleObj spid="_x0000_s2" name="Equation" r:id="rId1" imgW="1435100" imgH="228600" progId="Equation.3">
                  <p:embed/>
                </p:oleObj>
              </mc:Choice>
              <mc:Fallback>
                <p:oleObj name="Equation" r:id="rId1" imgW="1435100" imgH="228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724400"/>
                        <a:ext cx="4724400" cy="7524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457200" y="304800"/>
            <a:ext cx="6019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ea typeface="微软雅黑" panose="020B0503020204020204" charset="-122"/>
              </a:rPr>
              <a:t>3)</a:t>
            </a:r>
            <a:r>
              <a:rPr lang="zh-CN" altLang="en-US" sz="2800" b="1">
                <a:ea typeface="微软雅黑" panose="020B0503020204020204" charset="-122"/>
              </a:rPr>
              <a:t>时空产率</a:t>
            </a:r>
            <a:endParaRPr lang="zh-CN" altLang="en-US" sz="2800" b="1">
              <a:ea typeface="微软雅黑" panose="020B0503020204020204" charset="-122"/>
            </a:endParaRPr>
          </a:p>
        </p:txBody>
      </p:sp>
      <p:sp>
        <p:nvSpPr>
          <p:cNvPr id="8195" name="Text Box 3"/>
          <p:cNvSpPr txBox="1">
            <a:spLocks noChangeArrowheads="1"/>
          </p:cNvSpPr>
          <p:nvPr/>
        </p:nvSpPr>
        <p:spPr bwMode="auto">
          <a:xfrm>
            <a:off x="1295400" y="1219200"/>
            <a:ext cx="6858000" cy="4154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2400" b="1">
                <a:solidFill>
                  <a:srgbClr val="FF3300"/>
                </a:solidFill>
                <a:latin typeface="Arial" panose="020B0604020202020204" pitchFamily="34" charset="0"/>
                <a:ea typeface="微软雅黑" panose="020B0503020204020204" charset="-122"/>
              </a:rPr>
              <a:t>时空产率</a:t>
            </a:r>
            <a:r>
              <a:rPr lang="en-US" altLang="zh-CN" sz="2400" b="1">
                <a:solidFill>
                  <a:srgbClr val="FF3300"/>
                </a:solidFill>
                <a:latin typeface="Arial" panose="020B0604020202020204" pitchFamily="34" charset="0"/>
                <a:ea typeface="微软雅黑" panose="020B0503020204020204" charset="-122"/>
              </a:rPr>
              <a:t>(STY)</a:t>
            </a:r>
            <a:r>
              <a:rPr lang="zh-CN" altLang="en-US" sz="2400" b="1">
                <a:solidFill>
                  <a:srgbClr val="FF3300"/>
                </a:solidFill>
                <a:latin typeface="Arial" panose="020B0604020202020204" pitchFamily="34" charset="0"/>
                <a:ea typeface="微软雅黑" panose="020B0503020204020204" charset="-122"/>
              </a:rPr>
              <a:t>指单位体积的电解槽在单位时间内所生产的产品的数量</a:t>
            </a:r>
            <a:r>
              <a:rPr lang="zh-CN" altLang="en-US" sz="2400" b="1">
                <a:latin typeface="Arial" panose="020B0604020202020204" pitchFamily="34" charset="0"/>
                <a:ea typeface="微软雅黑" panose="020B0503020204020204" charset="-122"/>
              </a:rPr>
              <a:t>。通常以 </a:t>
            </a:r>
            <a:r>
              <a:rPr lang="en-US" altLang="zh-CN" sz="2400" b="1">
                <a:solidFill>
                  <a:srgbClr val="FF3300"/>
                </a:solidFill>
                <a:latin typeface="Arial" panose="020B0604020202020204" pitchFamily="34" charset="0"/>
                <a:ea typeface="微软雅黑" panose="020B0503020204020204" charset="-122"/>
              </a:rPr>
              <a:t>mol.L</a:t>
            </a:r>
            <a:r>
              <a:rPr lang="en-US" altLang="zh-CN" sz="2400" b="1" baseline="30000">
                <a:solidFill>
                  <a:srgbClr val="FF3300"/>
                </a:solidFill>
                <a:latin typeface="Arial" panose="020B0604020202020204" pitchFamily="34" charset="0"/>
                <a:ea typeface="微软雅黑" panose="020B0503020204020204" charset="-122"/>
              </a:rPr>
              <a:t>-1</a:t>
            </a:r>
            <a:r>
              <a:rPr lang="en-US" altLang="zh-CN" sz="2400" b="1">
                <a:solidFill>
                  <a:srgbClr val="FF3300"/>
                </a:solidFill>
                <a:latin typeface="Arial" panose="020B0604020202020204" pitchFamily="34" charset="0"/>
                <a:ea typeface="微软雅黑" panose="020B0503020204020204" charset="-122"/>
              </a:rPr>
              <a:t>.h</a:t>
            </a:r>
            <a:r>
              <a:rPr lang="en-US" altLang="zh-CN" sz="2400" b="1" baseline="30000">
                <a:solidFill>
                  <a:srgbClr val="FF3300"/>
                </a:solidFill>
                <a:latin typeface="Arial" panose="020B0604020202020204" pitchFamily="34" charset="0"/>
                <a:ea typeface="微软雅黑" panose="020B0503020204020204" charset="-122"/>
              </a:rPr>
              <a:t>-1</a:t>
            </a:r>
            <a:r>
              <a:rPr lang="zh-CN" altLang="en-US" sz="2400" b="1">
                <a:latin typeface="Arial" panose="020B0604020202020204" pitchFamily="34" charset="0"/>
                <a:ea typeface="微软雅黑" panose="020B0503020204020204" charset="-122"/>
              </a:rPr>
              <a:t>为单位。与流过单位体积反应器的有效电流成正比，因此它与电流密度</a:t>
            </a:r>
            <a:r>
              <a:rPr lang="en-US" altLang="zh-CN" sz="2400" b="1">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超电势、电活性物质的浓度和质量传输方式</a:t>
            </a:r>
            <a:r>
              <a:rPr lang="en-US" altLang="zh-CN" sz="2400" b="1">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、电流效率和 单位体积电极的活性表面积有关。电解糟的时空产率比其他的化学反应器的时空 产率要低，例如；典型的铜电解沉积槽的时空产率仅为</a:t>
            </a:r>
            <a:r>
              <a:rPr lang="en-US" altLang="zh-CN" sz="2400" b="1">
                <a:latin typeface="Arial" panose="020B0604020202020204" pitchFamily="34" charset="0"/>
                <a:ea typeface="微软雅黑" panose="020B0503020204020204" charset="-122"/>
              </a:rPr>
              <a:t>0.08kg.L</a:t>
            </a:r>
            <a:r>
              <a:rPr lang="en-US" altLang="zh-CN" sz="2400" b="1" baseline="30000">
                <a:latin typeface="Arial" panose="020B0604020202020204" pitchFamily="34" charset="0"/>
                <a:ea typeface="微软雅黑" panose="020B0503020204020204" charset="-122"/>
              </a:rPr>
              <a:t>-1</a:t>
            </a:r>
            <a:r>
              <a:rPr lang="en-US" altLang="zh-CN" sz="2400" b="1">
                <a:latin typeface="Arial" panose="020B0604020202020204" pitchFamily="34" charset="0"/>
                <a:ea typeface="微软雅黑" panose="020B0503020204020204" charset="-122"/>
              </a:rPr>
              <a:t>.h</a:t>
            </a:r>
            <a:r>
              <a:rPr lang="en-US" altLang="zh-CN" sz="2400" b="1" baseline="30000">
                <a:latin typeface="Arial" panose="020B0604020202020204" pitchFamily="34" charset="0"/>
                <a:ea typeface="微软雅黑" panose="020B0503020204020204" charset="-122"/>
              </a:rPr>
              <a:t>-1</a:t>
            </a:r>
            <a:r>
              <a:rPr lang="en-US" altLang="zh-CN" sz="2400" b="1">
                <a:latin typeface="Arial" panose="020B0604020202020204" pitchFamily="34" charset="0"/>
                <a:ea typeface="微软雅黑" panose="020B0503020204020204" charset="-122"/>
              </a:rPr>
              <a:t> </a:t>
            </a:r>
            <a:r>
              <a:rPr lang="zh-CN" altLang="en-US" sz="2400" b="1">
                <a:latin typeface="Arial" panose="020B0604020202020204" pitchFamily="34" charset="0"/>
                <a:ea typeface="微软雅黑" panose="020B0503020204020204" charset="-122"/>
              </a:rPr>
              <a:t>，而一般化 学反应器的时空产率在</a:t>
            </a:r>
            <a:r>
              <a:rPr lang="en-US" altLang="zh-CN" sz="2400" b="1">
                <a:latin typeface="Arial" panose="020B0604020202020204" pitchFamily="34" charset="0"/>
                <a:ea typeface="微软雅黑" panose="020B0503020204020204" charset="-122"/>
              </a:rPr>
              <a:t>0.2—1.0 08kg.L</a:t>
            </a:r>
            <a:r>
              <a:rPr lang="en-US" altLang="zh-CN" sz="2400" b="1" baseline="30000">
                <a:latin typeface="Arial" panose="020B0604020202020204" pitchFamily="34" charset="0"/>
                <a:ea typeface="微软雅黑" panose="020B0503020204020204" charset="-122"/>
              </a:rPr>
              <a:t>-1</a:t>
            </a:r>
            <a:r>
              <a:rPr lang="en-US" altLang="zh-CN" sz="2400" b="1">
                <a:latin typeface="Arial" panose="020B0604020202020204" pitchFamily="34" charset="0"/>
                <a:ea typeface="微软雅黑" panose="020B0503020204020204" charset="-122"/>
              </a:rPr>
              <a:t>.h</a:t>
            </a:r>
            <a:r>
              <a:rPr lang="en-US" altLang="zh-CN" sz="2400" b="1" baseline="30000">
                <a:latin typeface="Arial" panose="020B0604020202020204" pitchFamily="34" charset="0"/>
                <a:ea typeface="微软雅黑" panose="020B0503020204020204" charset="-122"/>
              </a:rPr>
              <a:t>-1</a:t>
            </a:r>
            <a:r>
              <a:rPr lang="en-US" altLang="zh-CN" sz="2400" b="1">
                <a:latin typeface="Arial" panose="020B0604020202020204" pitchFamily="34" charset="0"/>
                <a:ea typeface="微软雅黑" panose="020B0503020204020204" charset="-122"/>
              </a:rPr>
              <a:t> </a:t>
            </a:r>
            <a:r>
              <a:rPr lang="zh-CN" altLang="en-US" sz="2400" b="1">
                <a:latin typeface="Arial" panose="020B0604020202020204" pitchFamily="34" charset="0"/>
                <a:ea typeface="微软雅黑" panose="020B0503020204020204" charset="-122"/>
              </a:rPr>
              <a:t>之间。因此，在电化学工程研究中 常常通过改进电解槽的设计</a:t>
            </a:r>
            <a:r>
              <a:rPr lang="en-US" altLang="zh-CN" sz="2400" b="1">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例如：引入流化床电极</a:t>
            </a:r>
            <a:r>
              <a:rPr lang="en-US" altLang="zh-CN" sz="2400" b="1">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来提高时空产率。 </a:t>
            </a:r>
            <a:endParaRPr lang="zh-CN" altLang="en-US" sz="2400" b="1">
              <a:latin typeface="Arial" panose="020B0604020202020204" pitchFamily="34" charset="0"/>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Slide Number Placeholder 3"/>
          <p:cNvSpPr txBox="1">
            <a:spLocks noGrp="1"/>
          </p:cNvSpPr>
          <p:nvPr/>
        </p:nvSpPr>
        <p:spPr>
          <a:xfrm>
            <a:off x="6553500" y="6249000"/>
            <a:ext cx="1905000" cy="456000"/>
          </a:xfrm>
          <a:prstGeom prst="rect">
            <a:avLst/>
          </a:prstGeom>
          <a:noFill/>
          <a:ln w="9525">
            <a:noFill/>
          </a:ln>
        </p:spPr>
        <p:txBody>
          <a:bodyPr lIns="91437" tIns="45718" rIns="91437" bIns="45718" anchor="t" anchorCtr="0"/>
          <a:p>
            <a:pPr algn="r" defTabSz="968375"/>
            <a:fld id="{9A0DB2DC-4C9A-4742-B13C-FB6460FD3503}" type="slidenum">
              <a:rPr lang="en-US" altLang="zh-CN" sz="1415" b="0" dirty="0">
                <a:latin typeface="Times New Roman" panose="02020603050405020304" pitchFamily="18" charset="0"/>
                <a:ea typeface="宋体" panose="02010600030101010101" pitchFamily="2" charset="-122"/>
              </a:rPr>
            </a:fld>
            <a:endParaRPr lang="en-US" altLang="zh-CN" sz="1415" b="0" dirty="0">
              <a:latin typeface="Times New Roman" panose="02020603050405020304" pitchFamily="18" charset="0"/>
              <a:ea typeface="宋体" panose="02010600030101010101" pitchFamily="2" charset="-122"/>
            </a:endParaRPr>
          </a:p>
        </p:txBody>
      </p:sp>
      <p:sp>
        <p:nvSpPr>
          <p:cNvPr id="8194" name="Rectangle 3"/>
          <p:cNvSpPr/>
          <p:nvPr/>
        </p:nvSpPr>
        <p:spPr>
          <a:xfrm>
            <a:off x="504000" y="648000"/>
            <a:ext cx="7992000" cy="2016000"/>
          </a:xfrm>
          <a:prstGeom prst="rect">
            <a:avLst/>
          </a:prstGeom>
          <a:noFill/>
          <a:ln w="9525">
            <a:noFill/>
          </a:ln>
        </p:spPr>
        <p:txBody>
          <a:bodyPr anchor="t" anchorCtr="0"/>
          <a:p>
            <a:pPr marL="95250" indent="-95250" algn="ctr">
              <a:lnSpc>
                <a:spcPct val="150000"/>
              </a:lnSpc>
            </a:pPr>
            <a:r>
              <a:rPr lang="en-US" altLang="zh-CN" sz="5100" dirty="0">
                <a:solidFill>
                  <a:srgbClr val="CC0000"/>
                </a:solidFill>
                <a:latin typeface="Arial" panose="020B0604020202020204" pitchFamily="34" charset="0"/>
                <a:ea typeface="微软雅黑" panose="020B0503020204020204" charset="-122"/>
              </a:rPr>
              <a:t>5.1.3   </a:t>
            </a:r>
            <a:r>
              <a:rPr lang="zh-CN" altLang="en-US" sz="5100" dirty="0">
                <a:solidFill>
                  <a:srgbClr val="CC0000"/>
                </a:solidFill>
                <a:latin typeface="Arial" panose="020B0604020202020204" pitchFamily="34" charset="0"/>
                <a:ea typeface="微软雅黑" panose="020B0503020204020204" charset="-122"/>
              </a:rPr>
              <a:t>分解电压</a:t>
            </a:r>
            <a:endParaRPr lang="zh-CN" altLang="en-US" sz="5100" dirty="0">
              <a:solidFill>
                <a:srgbClr val="CC0000"/>
              </a:solidFill>
              <a:latin typeface="Arial" panose="020B0604020202020204" pitchFamily="34" charset="0"/>
              <a:ea typeface="微软雅黑" panose="020B0503020204020204" charset="-122"/>
            </a:endParaRPr>
          </a:p>
          <a:p>
            <a:pPr marL="95250" indent="-95250" algn="ctr">
              <a:lnSpc>
                <a:spcPct val="150000"/>
              </a:lnSpc>
            </a:pPr>
            <a:endParaRPr lang="zh-CN" altLang="en-US" sz="5100" dirty="0">
              <a:solidFill>
                <a:srgbClr val="CC0000"/>
              </a:solidFill>
              <a:latin typeface="Arial" panose="020B0604020202020204" pitchFamily="34" charset="0"/>
              <a:ea typeface="微软雅黑" panose="020B0503020204020204" charset="-122"/>
            </a:endParaRPr>
          </a:p>
          <a:p>
            <a:pPr marL="95250" indent="-95250">
              <a:lnSpc>
                <a:spcPct val="150000"/>
              </a:lnSpc>
            </a:pPr>
            <a:r>
              <a:rPr lang="zh-CN" altLang="en-US" sz="2455" dirty="0">
                <a:latin typeface="Arial" panose="020B0604020202020204" pitchFamily="34" charset="0"/>
                <a:ea typeface="微软雅黑" panose="020B0503020204020204" charset="-122"/>
              </a:rPr>
              <a:t>         </a:t>
            </a:r>
            <a:r>
              <a:rPr lang="zh-CN" altLang="en-US" sz="3025" dirty="0">
                <a:latin typeface="Arial" panose="020B0604020202020204" pitchFamily="34" charset="0"/>
                <a:ea typeface="微软雅黑" panose="020B0503020204020204" charset="-122"/>
              </a:rPr>
              <a:t>进行电解操作时，使电解质能在两极不断地进行分解所需的最小外加电压即为</a:t>
            </a:r>
            <a:r>
              <a:rPr lang="zh-CN" altLang="en-US" sz="3025" dirty="0">
                <a:solidFill>
                  <a:srgbClr val="CC0000"/>
                </a:solidFill>
                <a:latin typeface="Arial" panose="020B0604020202020204" pitchFamily="34" charset="0"/>
                <a:ea typeface="微软雅黑" panose="020B0503020204020204" charset="-122"/>
              </a:rPr>
              <a:t>分解电压</a:t>
            </a:r>
            <a:r>
              <a:rPr lang="zh-CN" altLang="en-US" sz="3025" dirty="0">
                <a:latin typeface="Arial" panose="020B0604020202020204" pitchFamily="34" charset="0"/>
                <a:ea typeface="微软雅黑" panose="020B0503020204020204" charset="-122"/>
              </a:rPr>
              <a:t>。</a:t>
            </a:r>
            <a:endParaRPr lang="zh-CN" altLang="en-US" sz="3025" dirty="0">
              <a:latin typeface="Arial" panose="020B0604020202020204" pitchFamily="34" charset="0"/>
              <a:ea typeface="微软雅黑" panose="020B0503020204020204" charset="-122"/>
            </a:endParaRP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文本框 9217"/>
          <p:cNvSpPr txBox="1"/>
          <p:nvPr/>
        </p:nvSpPr>
        <p:spPr>
          <a:xfrm>
            <a:off x="0" y="762000"/>
            <a:ext cx="4725000" cy="557530"/>
          </a:xfrm>
          <a:prstGeom prst="rect">
            <a:avLst/>
          </a:prstGeom>
          <a:noFill/>
          <a:ln w="9525">
            <a:noFill/>
          </a:ln>
        </p:spPr>
        <p:txBody>
          <a:bodyPr anchor="t" anchorCtr="0">
            <a:spAutoFit/>
          </a:bodyPr>
          <a:p>
            <a:pPr indent="476250">
              <a:spcBef>
                <a:spcPct val="50000"/>
              </a:spcBef>
            </a:pPr>
            <a:r>
              <a:rPr lang="zh-CN" altLang="en-US" sz="3025" b="0">
                <a:latin typeface="Arial" panose="020B0604020202020204" pitchFamily="34" charset="0"/>
                <a:ea typeface="微软雅黑" panose="020B0503020204020204" charset="-122"/>
              </a:rPr>
              <a:t>下图所示为电解过程</a:t>
            </a:r>
            <a:endParaRPr lang="zh-CN" altLang="en-US" sz="3025" b="0">
              <a:latin typeface="Arial" panose="020B0604020202020204" pitchFamily="34" charset="0"/>
              <a:ea typeface="微软雅黑" panose="020B0503020204020204" charset="-122"/>
            </a:endParaRPr>
          </a:p>
        </p:txBody>
      </p:sp>
      <p:grpSp>
        <p:nvGrpSpPr>
          <p:cNvPr id="9219" name="组合 9218"/>
          <p:cNvGrpSpPr/>
          <p:nvPr/>
        </p:nvGrpSpPr>
        <p:grpSpPr>
          <a:xfrm>
            <a:off x="685500" y="1260000"/>
            <a:ext cx="8077500" cy="4212199"/>
            <a:chOff x="0" y="0"/>
            <a:chExt cx="5088" cy="2654"/>
          </a:xfrm>
        </p:grpSpPr>
        <p:grpSp>
          <p:nvGrpSpPr>
            <p:cNvPr id="2" name="组合 9219"/>
            <p:cNvGrpSpPr/>
            <p:nvPr/>
          </p:nvGrpSpPr>
          <p:grpSpPr>
            <a:xfrm>
              <a:off x="0" y="0"/>
              <a:ext cx="2249" cy="2654"/>
              <a:chOff x="0" y="0"/>
              <a:chExt cx="2249" cy="2846"/>
            </a:xfrm>
          </p:grpSpPr>
          <p:sp>
            <p:nvSpPr>
              <p:cNvPr id="9220" name="未知"/>
              <p:cNvSpPr/>
              <p:nvPr/>
            </p:nvSpPr>
            <p:spPr>
              <a:xfrm>
                <a:off x="1326" y="678"/>
                <a:ext cx="324" cy="858"/>
              </a:xfrm>
              <a:custGeom>
                <a:avLst/>
                <a:gdLst/>
                <a:ahLst/>
                <a:cxnLst/>
                <a:pathLst>
                  <a:path w="324" h="858">
                    <a:moveTo>
                      <a:pt x="0" y="858"/>
                    </a:moveTo>
                    <a:cubicBezTo>
                      <a:pt x="14" y="805"/>
                      <a:pt x="37" y="624"/>
                      <a:pt x="85" y="541"/>
                    </a:cubicBezTo>
                    <a:cubicBezTo>
                      <a:pt x="133" y="458"/>
                      <a:pt x="250" y="449"/>
                      <a:pt x="287" y="359"/>
                    </a:cubicBezTo>
                    <a:cubicBezTo>
                      <a:pt x="324" y="269"/>
                      <a:pt x="302" y="75"/>
                      <a:pt x="306" y="0"/>
                    </a:cubicBezTo>
                  </a:path>
                </a:pathLst>
              </a:custGeom>
              <a:noFill/>
              <a:ln w="28575" cap="flat" cmpd="sng">
                <a:solidFill>
                  <a:srgbClr val="006600"/>
                </a:solidFill>
                <a:prstDash val="solid"/>
                <a:round/>
                <a:headEnd type="none" w="med" len="med"/>
                <a:tailEnd type="stealth" w="med" len="med"/>
              </a:ln>
            </p:spPr>
            <p:txBody>
              <a:bodyPr/>
              <a:p>
                <a:endParaRPr lang="zh-CN" altLang="en-US" sz="1890"/>
              </a:p>
            </p:txBody>
          </p:sp>
          <p:sp>
            <p:nvSpPr>
              <p:cNvPr id="9221" name="文本框 9221"/>
              <p:cNvSpPr txBox="1"/>
              <p:nvPr/>
            </p:nvSpPr>
            <p:spPr>
              <a:xfrm>
                <a:off x="0" y="2588"/>
                <a:ext cx="1872" cy="258"/>
              </a:xfrm>
              <a:prstGeom prst="rect">
                <a:avLst/>
              </a:prstGeom>
              <a:noFill/>
              <a:ln w="9525">
                <a:noFill/>
              </a:ln>
            </p:spPr>
            <p:txBody>
              <a:bodyPr anchor="t" anchorCtr="0">
                <a:spAutoFit/>
              </a:bodyPr>
              <a:p>
                <a:pPr marL="282575" indent="-282575" eaLnBrk="0" hangingPunct="0">
                  <a:spcBef>
                    <a:spcPct val="50000"/>
                  </a:spcBef>
                  <a:buChar char="•"/>
                </a:pPr>
                <a:r>
                  <a:rPr lang="zh-CN" altLang="en-US" sz="1890" b="0">
                    <a:latin typeface="Arial" panose="020B0604020202020204" pitchFamily="34" charset="0"/>
                    <a:ea typeface="微软雅黑" panose="020B0503020204020204" charset="-122"/>
                  </a:rPr>
                  <a:t>分解电压的测定装置</a:t>
                </a:r>
                <a:endParaRPr lang="zh-CN" altLang="en-US" sz="1890" b="0">
                  <a:latin typeface="Arial" panose="020B0604020202020204" pitchFamily="34" charset="0"/>
                  <a:ea typeface="微软雅黑" panose="020B0503020204020204" charset="-122"/>
                </a:endParaRPr>
              </a:p>
            </p:txBody>
          </p:sp>
          <p:sp>
            <p:nvSpPr>
              <p:cNvPr id="9222" name="矩形 9222"/>
              <p:cNvSpPr/>
              <p:nvPr/>
            </p:nvSpPr>
            <p:spPr>
              <a:xfrm>
                <a:off x="480" y="1711"/>
                <a:ext cx="1008" cy="536"/>
              </a:xfrm>
              <a:prstGeom prst="rect">
                <a:avLst/>
              </a:prstGeom>
              <a:pattFill prst="dashUpDiag">
                <a:fgClr>
                  <a:srgbClr val="00CCFF"/>
                </a:fgClr>
                <a:bgClr>
                  <a:srgbClr val="FFFFFF"/>
                </a:bgClr>
              </a:pattFill>
              <a:ln w="3175" cap="flat" cmpd="sng">
                <a:pattFill prst="trellis">
                  <a:fgClr>
                    <a:srgbClr val="006600"/>
                  </a:fgClr>
                  <a:bgClr>
                    <a:srgbClr val="FFFFFF"/>
                  </a:bgClr>
                </a:pattFill>
                <a:prstDash val="solid"/>
                <a:miter/>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9223" name="圆角矩形 9223"/>
              <p:cNvSpPr/>
              <p:nvPr/>
            </p:nvSpPr>
            <p:spPr>
              <a:xfrm>
                <a:off x="480" y="2198"/>
                <a:ext cx="1008" cy="341"/>
              </a:xfrm>
              <a:prstGeom prst="roundRect">
                <a:avLst>
                  <a:gd name="adj" fmla="val 16667"/>
                </a:avLst>
              </a:prstGeom>
              <a:pattFill prst="dashUpDiag">
                <a:fgClr>
                  <a:srgbClr val="00CCFF"/>
                </a:fgClr>
                <a:bgClr>
                  <a:srgbClr val="FFFFFF"/>
                </a:bgClr>
              </a:pattFill>
              <a:ln w="9525" cap="flat" cmpd="sng">
                <a:solidFill>
                  <a:srgbClr val="00CCFF"/>
                </a:solidFill>
                <a:prstDash val="solid"/>
                <a:round/>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9224" name="直接连接符 9224"/>
              <p:cNvSpPr/>
              <p:nvPr/>
            </p:nvSpPr>
            <p:spPr>
              <a:xfrm>
                <a:off x="528" y="2539"/>
                <a:ext cx="912" cy="0"/>
              </a:xfrm>
              <a:prstGeom prst="line">
                <a:avLst/>
              </a:prstGeom>
              <a:ln w="76200" cap="flat" cmpd="sng">
                <a:pattFill prst="trellis">
                  <a:fgClr>
                    <a:srgbClr val="006600"/>
                  </a:fgClr>
                  <a:bgClr>
                    <a:srgbClr val="FFFFFF"/>
                  </a:bgClr>
                </a:pattFill>
                <a:prstDash val="solid"/>
                <a:round/>
                <a:headEnd type="none" w="med" len="med"/>
                <a:tailEnd type="none" w="med" len="med"/>
              </a:ln>
            </p:spPr>
          </p:sp>
          <p:sp>
            <p:nvSpPr>
              <p:cNvPr id="9225" name="直接连接符 9225"/>
              <p:cNvSpPr/>
              <p:nvPr/>
            </p:nvSpPr>
            <p:spPr>
              <a:xfrm>
                <a:off x="480" y="1516"/>
                <a:ext cx="0" cy="974"/>
              </a:xfrm>
              <a:prstGeom prst="line">
                <a:avLst/>
              </a:prstGeom>
              <a:ln w="76200" cap="flat" cmpd="sng">
                <a:pattFill prst="trellis">
                  <a:fgClr>
                    <a:srgbClr val="006600"/>
                  </a:fgClr>
                  <a:bgClr>
                    <a:srgbClr val="FFFFFF"/>
                  </a:bgClr>
                </a:pattFill>
                <a:prstDash val="solid"/>
                <a:round/>
                <a:headEnd type="none" w="med" len="med"/>
                <a:tailEnd type="none" w="med" len="med"/>
              </a:ln>
            </p:spPr>
          </p:sp>
          <p:sp>
            <p:nvSpPr>
              <p:cNvPr id="9226" name="直接连接符 9226"/>
              <p:cNvSpPr/>
              <p:nvPr/>
            </p:nvSpPr>
            <p:spPr>
              <a:xfrm>
                <a:off x="1488" y="1516"/>
                <a:ext cx="0" cy="974"/>
              </a:xfrm>
              <a:prstGeom prst="line">
                <a:avLst/>
              </a:prstGeom>
              <a:ln w="76200" cap="flat" cmpd="sng">
                <a:pattFill prst="trellis">
                  <a:fgClr>
                    <a:srgbClr val="006600"/>
                  </a:fgClr>
                  <a:bgClr>
                    <a:srgbClr val="FFFFFF"/>
                  </a:bgClr>
                </a:pattFill>
                <a:prstDash val="solid"/>
                <a:round/>
                <a:headEnd type="none" w="med" len="med"/>
                <a:tailEnd type="none" w="med" len="med"/>
              </a:ln>
            </p:spPr>
          </p:sp>
          <p:sp>
            <p:nvSpPr>
              <p:cNvPr id="9227" name="未知"/>
              <p:cNvSpPr/>
              <p:nvPr/>
            </p:nvSpPr>
            <p:spPr>
              <a:xfrm>
                <a:off x="480" y="2474"/>
                <a:ext cx="48" cy="65"/>
              </a:xfrm>
              <a:custGeom>
                <a:avLst/>
                <a:gdLst/>
                <a:ahLst/>
                <a:cxnLst/>
                <a:pathLst>
                  <a:path w="69" h="97">
                    <a:moveTo>
                      <a:pt x="0" y="0"/>
                    </a:moveTo>
                    <a:cubicBezTo>
                      <a:pt x="1" y="14"/>
                      <a:pt x="3" y="31"/>
                      <a:pt x="9" y="43"/>
                    </a:cubicBezTo>
                    <a:cubicBezTo>
                      <a:pt x="11" y="54"/>
                      <a:pt x="16" y="66"/>
                      <a:pt x="25" y="73"/>
                    </a:cubicBezTo>
                    <a:cubicBezTo>
                      <a:pt x="30" y="82"/>
                      <a:pt x="38" y="86"/>
                      <a:pt x="48" y="88"/>
                    </a:cubicBezTo>
                    <a:cubicBezTo>
                      <a:pt x="53" y="91"/>
                      <a:pt x="57" y="93"/>
                      <a:pt x="63" y="94"/>
                    </a:cubicBezTo>
                    <a:cubicBezTo>
                      <a:pt x="68" y="96"/>
                      <a:pt x="66" y="97"/>
                      <a:pt x="69" y="94"/>
                    </a:cubicBezTo>
                  </a:path>
                </a:pathLst>
              </a:custGeom>
              <a:noFill/>
              <a:ln w="76200" cap="flat" cmpd="sng">
                <a:pattFill prst="trellis">
                  <a:fgClr>
                    <a:srgbClr val="006600"/>
                  </a:fgClr>
                  <a:bgClr>
                    <a:srgbClr val="FFFFFF"/>
                  </a:bgClr>
                </a:pattFill>
                <a:prstDash val="solid"/>
                <a:round/>
                <a:headEnd type="none" w="med" len="med"/>
                <a:tailEnd type="none" w="med" len="med"/>
              </a:ln>
            </p:spPr>
            <p:txBody>
              <a:bodyPr/>
              <a:p>
                <a:endParaRPr lang="zh-CN" altLang="en-US" sz="1890"/>
              </a:p>
            </p:txBody>
          </p:sp>
          <p:sp>
            <p:nvSpPr>
              <p:cNvPr id="9228" name="未知"/>
              <p:cNvSpPr/>
              <p:nvPr/>
            </p:nvSpPr>
            <p:spPr>
              <a:xfrm flipH="1">
                <a:off x="1440" y="2473"/>
                <a:ext cx="48" cy="66"/>
              </a:xfrm>
              <a:custGeom>
                <a:avLst/>
                <a:gdLst/>
                <a:ahLst/>
                <a:cxnLst/>
                <a:pathLst>
                  <a:path w="69" h="97">
                    <a:moveTo>
                      <a:pt x="0" y="0"/>
                    </a:moveTo>
                    <a:cubicBezTo>
                      <a:pt x="1" y="14"/>
                      <a:pt x="3" y="31"/>
                      <a:pt x="9" y="43"/>
                    </a:cubicBezTo>
                    <a:cubicBezTo>
                      <a:pt x="11" y="54"/>
                      <a:pt x="16" y="66"/>
                      <a:pt x="25" y="73"/>
                    </a:cubicBezTo>
                    <a:cubicBezTo>
                      <a:pt x="30" y="82"/>
                      <a:pt x="38" y="86"/>
                      <a:pt x="48" y="88"/>
                    </a:cubicBezTo>
                    <a:cubicBezTo>
                      <a:pt x="53" y="91"/>
                      <a:pt x="57" y="93"/>
                      <a:pt x="63" y="94"/>
                    </a:cubicBezTo>
                    <a:cubicBezTo>
                      <a:pt x="68" y="96"/>
                      <a:pt x="66" y="97"/>
                      <a:pt x="69" y="94"/>
                    </a:cubicBezTo>
                  </a:path>
                </a:pathLst>
              </a:custGeom>
              <a:noFill/>
              <a:ln w="76200" cap="flat" cmpd="sng">
                <a:pattFill prst="trellis">
                  <a:fgClr>
                    <a:srgbClr val="006600"/>
                  </a:fgClr>
                  <a:bgClr>
                    <a:srgbClr val="FFFFFF"/>
                  </a:bgClr>
                </a:pattFill>
                <a:prstDash val="solid"/>
                <a:round/>
                <a:headEnd type="none" w="med" len="med"/>
                <a:tailEnd type="none" w="med" len="med"/>
              </a:ln>
            </p:spPr>
            <p:txBody>
              <a:bodyPr/>
              <a:p>
                <a:endParaRPr lang="zh-CN" altLang="en-US" sz="1890"/>
              </a:p>
            </p:txBody>
          </p:sp>
          <p:sp>
            <p:nvSpPr>
              <p:cNvPr id="9229" name="直接连接符 9229"/>
              <p:cNvSpPr/>
              <p:nvPr/>
            </p:nvSpPr>
            <p:spPr>
              <a:xfrm>
                <a:off x="480" y="1703"/>
                <a:ext cx="1008" cy="0"/>
              </a:xfrm>
              <a:prstGeom prst="line">
                <a:avLst/>
              </a:prstGeom>
              <a:ln w="9525" cap="flat" cmpd="sng">
                <a:solidFill>
                  <a:schemeClr val="tx1"/>
                </a:solidFill>
                <a:prstDash val="solid"/>
                <a:round/>
                <a:headEnd type="none" w="med" len="med"/>
                <a:tailEnd type="none" w="med" len="med"/>
              </a:ln>
            </p:spPr>
          </p:sp>
          <p:sp>
            <p:nvSpPr>
              <p:cNvPr id="9230" name="直接连接符 9230"/>
              <p:cNvSpPr/>
              <p:nvPr/>
            </p:nvSpPr>
            <p:spPr>
              <a:xfrm>
                <a:off x="811" y="2317"/>
                <a:ext cx="34" cy="0"/>
              </a:xfrm>
              <a:prstGeom prst="line">
                <a:avLst/>
              </a:prstGeom>
              <a:ln w="9525" cap="flat" cmpd="sng">
                <a:solidFill>
                  <a:schemeClr val="tx1"/>
                </a:solidFill>
                <a:prstDash val="solid"/>
                <a:round/>
                <a:headEnd type="none" w="med" len="med"/>
                <a:tailEnd type="none" w="med" len="med"/>
              </a:ln>
            </p:spPr>
          </p:sp>
          <p:sp>
            <p:nvSpPr>
              <p:cNvPr id="9231" name="矩形 9231"/>
              <p:cNvSpPr/>
              <p:nvPr/>
            </p:nvSpPr>
            <p:spPr>
              <a:xfrm>
                <a:off x="624" y="1536"/>
                <a:ext cx="48" cy="859"/>
              </a:xfrm>
              <a:prstGeom prst="rect">
                <a:avLst/>
              </a:prstGeom>
              <a:solidFill>
                <a:srgbClr val="808080"/>
              </a:solidFill>
              <a:ln w="9525" cap="flat" cmpd="sng">
                <a:solidFill>
                  <a:srgbClr val="808080"/>
                </a:solidFill>
                <a:prstDash val="solid"/>
                <a:miter/>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9232" name="矩形 9232"/>
              <p:cNvSpPr/>
              <p:nvPr/>
            </p:nvSpPr>
            <p:spPr>
              <a:xfrm>
                <a:off x="1296" y="1536"/>
                <a:ext cx="48" cy="859"/>
              </a:xfrm>
              <a:prstGeom prst="rect">
                <a:avLst/>
              </a:prstGeom>
              <a:solidFill>
                <a:srgbClr val="808080"/>
              </a:solidFill>
              <a:ln w="9525" cap="flat" cmpd="sng">
                <a:solidFill>
                  <a:srgbClr val="808080"/>
                </a:solidFill>
                <a:prstDash val="solid"/>
                <a:miter/>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9233" name="文本框 9233"/>
              <p:cNvSpPr txBox="1"/>
              <p:nvPr/>
            </p:nvSpPr>
            <p:spPr>
              <a:xfrm>
                <a:off x="864" y="1440"/>
                <a:ext cx="280" cy="258"/>
              </a:xfrm>
              <a:prstGeom prst="rect">
                <a:avLst/>
              </a:prstGeom>
              <a:noFill/>
              <a:ln w="9525">
                <a:noFill/>
              </a:ln>
            </p:spPr>
            <p:txBody>
              <a:bodyPr anchor="t" anchorCtr="0">
                <a:spAutoFit/>
              </a:bodyPr>
              <a:p>
                <a:pPr algn="ctr" eaLnBrk="0" hangingPunct="0">
                  <a:spcBef>
                    <a:spcPct val="50000"/>
                  </a:spcBef>
                </a:pPr>
                <a:r>
                  <a:rPr lang="en-US" altLang="zh-CN" sz="1890" b="0">
                    <a:latin typeface="Arial" panose="020B0604020202020204" pitchFamily="34" charset="0"/>
                    <a:ea typeface="微软雅黑" panose="020B0503020204020204" charset="-122"/>
                  </a:rPr>
                  <a:t>Pt</a:t>
                </a:r>
                <a:endParaRPr lang="en-US" altLang="zh-CN" sz="1890" b="0">
                  <a:latin typeface="Arial" panose="020B0604020202020204" pitchFamily="34" charset="0"/>
                  <a:ea typeface="微软雅黑" panose="020B0503020204020204" charset="-122"/>
                </a:endParaRPr>
              </a:p>
            </p:txBody>
          </p:sp>
          <p:sp>
            <p:nvSpPr>
              <p:cNvPr id="9234" name="椭圆 9234"/>
              <p:cNvSpPr/>
              <p:nvPr/>
            </p:nvSpPr>
            <p:spPr>
              <a:xfrm>
                <a:off x="480" y="886"/>
                <a:ext cx="240" cy="244"/>
              </a:xfrm>
              <a:prstGeom prst="ellipse">
                <a:avLst/>
              </a:prstGeom>
              <a:solidFill>
                <a:srgbClr val="FF99CC"/>
              </a:solidFill>
              <a:ln w="9525" cap="flat" cmpd="sng">
                <a:solidFill>
                  <a:schemeClr val="tx1"/>
                </a:solidFill>
                <a:prstDash val="solid"/>
                <a:round/>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9235" name="文本框 9235"/>
              <p:cNvSpPr txBox="1"/>
              <p:nvPr/>
            </p:nvSpPr>
            <p:spPr>
              <a:xfrm>
                <a:off x="480" y="902"/>
                <a:ext cx="240" cy="258"/>
              </a:xfrm>
              <a:prstGeom prst="rect">
                <a:avLst/>
              </a:prstGeom>
              <a:noFill/>
              <a:ln w="9525">
                <a:noFill/>
              </a:ln>
            </p:spPr>
            <p:txBody>
              <a:bodyPr anchor="t" anchorCtr="0">
                <a:spAutoFit/>
              </a:bodyPr>
              <a:p>
                <a:pPr eaLnBrk="0" hangingPunct="0">
                  <a:spcBef>
                    <a:spcPct val="50000"/>
                  </a:spcBef>
                </a:pPr>
                <a:r>
                  <a:rPr lang="en-US" altLang="zh-CN" sz="1890" b="0">
                    <a:latin typeface="Arial" panose="020B0604020202020204" pitchFamily="34" charset="0"/>
                    <a:ea typeface="微软雅黑" panose="020B0503020204020204" charset="-122"/>
                  </a:rPr>
                  <a:t>V</a:t>
                </a:r>
                <a:endParaRPr lang="en-US" altLang="zh-CN" sz="1890" b="0">
                  <a:latin typeface="Arial" panose="020B0604020202020204" pitchFamily="34" charset="0"/>
                  <a:ea typeface="微软雅黑" panose="020B0503020204020204" charset="-122"/>
                </a:endParaRPr>
              </a:p>
            </p:txBody>
          </p:sp>
          <p:sp>
            <p:nvSpPr>
              <p:cNvPr id="9236" name="矩形 9236"/>
              <p:cNvSpPr/>
              <p:nvPr/>
            </p:nvSpPr>
            <p:spPr>
              <a:xfrm>
                <a:off x="192" y="576"/>
                <a:ext cx="1776" cy="98"/>
              </a:xfrm>
              <a:prstGeom prst="rect">
                <a:avLst/>
              </a:prstGeom>
              <a:pattFill prst="smCheck">
                <a:fgClr>
                  <a:srgbClr val="FF3300"/>
                </a:fgClr>
                <a:bgClr>
                  <a:srgbClr val="FFFFFF"/>
                </a:bgClr>
              </a:pattFill>
              <a:ln w="9525" cap="flat" cmpd="sng">
                <a:solidFill>
                  <a:schemeClr val="tx1"/>
                </a:solidFill>
                <a:prstDash val="solid"/>
                <a:miter/>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grpSp>
            <p:nvGrpSpPr>
              <p:cNvPr id="9237" name="组合 9237"/>
              <p:cNvGrpSpPr/>
              <p:nvPr/>
            </p:nvGrpSpPr>
            <p:grpSpPr>
              <a:xfrm>
                <a:off x="864" y="237"/>
                <a:ext cx="189" cy="243"/>
                <a:chOff x="0" y="0"/>
                <a:chExt cx="288" cy="288"/>
              </a:xfrm>
            </p:grpSpPr>
            <p:sp>
              <p:nvSpPr>
                <p:cNvPr id="9238" name="直接连接符 9238"/>
                <p:cNvSpPr/>
                <p:nvPr/>
              </p:nvSpPr>
              <p:spPr>
                <a:xfrm>
                  <a:off x="0" y="0"/>
                  <a:ext cx="0" cy="288"/>
                </a:xfrm>
                <a:prstGeom prst="line">
                  <a:avLst/>
                </a:prstGeom>
                <a:ln w="28575" cap="flat" cmpd="sng">
                  <a:solidFill>
                    <a:srgbClr val="006600"/>
                  </a:solidFill>
                  <a:prstDash val="solid"/>
                  <a:round/>
                  <a:headEnd type="none" w="med" len="med"/>
                  <a:tailEnd type="none" w="med" len="med"/>
                </a:ln>
              </p:spPr>
            </p:sp>
            <p:sp>
              <p:nvSpPr>
                <p:cNvPr id="9239" name="直接连接符 9239"/>
                <p:cNvSpPr/>
                <p:nvPr/>
              </p:nvSpPr>
              <p:spPr>
                <a:xfrm>
                  <a:off x="192" y="0"/>
                  <a:ext cx="0" cy="288"/>
                </a:xfrm>
                <a:prstGeom prst="line">
                  <a:avLst/>
                </a:prstGeom>
                <a:ln w="28575" cap="flat" cmpd="sng">
                  <a:solidFill>
                    <a:srgbClr val="006600"/>
                  </a:solidFill>
                  <a:prstDash val="solid"/>
                  <a:round/>
                  <a:headEnd type="none" w="med" len="med"/>
                  <a:tailEnd type="none" w="med" len="med"/>
                </a:ln>
              </p:spPr>
            </p:sp>
            <p:sp>
              <p:nvSpPr>
                <p:cNvPr id="9240" name="直接连接符 9240"/>
                <p:cNvSpPr/>
                <p:nvPr/>
              </p:nvSpPr>
              <p:spPr>
                <a:xfrm>
                  <a:off x="288" y="96"/>
                  <a:ext cx="0" cy="96"/>
                </a:xfrm>
                <a:prstGeom prst="line">
                  <a:avLst/>
                </a:prstGeom>
                <a:ln w="28575" cap="flat" cmpd="sng">
                  <a:solidFill>
                    <a:srgbClr val="006600"/>
                  </a:solidFill>
                  <a:prstDash val="solid"/>
                  <a:round/>
                  <a:headEnd type="none" w="med" len="med"/>
                  <a:tailEnd type="none" w="med" len="med"/>
                </a:ln>
              </p:spPr>
            </p:sp>
            <p:sp>
              <p:nvSpPr>
                <p:cNvPr id="9241" name="直接连接符 9241"/>
                <p:cNvSpPr/>
                <p:nvPr/>
              </p:nvSpPr>
              <p:spPr>
                <a:xfrm>
                  <a:off x="96" y="96"/>
                  <a:ext cx="0" cy="96"/>
                </a:xfrm>
                <a:prstGeom prst="line">
                  <a:avLst/>
                </a:prstGeom>
                <a:ln w="28575" cap="flat" cmpd="sng">
                  <a:solidFill>
                    <a:srgbClr val="006600"/>
                  </a:solidFill>
                  <a:prstDash val="solid"/>
                  <a:round/>
                  <a:headEnd type="none" w="med" len="med"/>
                  <a:tailEnd type="none" w="med" len="med"/>
                </a:ln>
              </p:spPr>
            </p:sp>
          </p:grpSp>
          <p:sp>
            <p:nvSpPr>
              <p:cNvPr id="9242" name="未知"/>
              <p:cNvSpPr/>
              <p:nvPr/>
            </p:nvSpPr>
            <p:spPr>
              <a:xfrm>
                <a:off x="337" y="314"/>
                <a:ext cx="521" cy="2"/>
              </a:xfrm>
              <a:custGeom>
                <a:avLst/>
                <a:gdLst/>
                <a:ahLst/>
                <a:cxnLst/>
                <a:pathLst>
                  <a:path w="521" h="2">
                    <a:moveTo>
                      <a:pt x="0" y="2"/>
                    </a:moveTo>
                    <a:lnTo>
                      <a:pt x="521" y="0"/>
                    </a:lnTo>
                  </a:path>
                </a:pathLst>
              </a:custGeom>
              <a:noFill/>
              <a:ln w="28575" cap="flat" cmpd="sng">
                <a:solidFill>
                  <a:srgbClr val="006600"/>
                </a:solidFill>
                <a:prstDash val="solid"/>
                <a:round/>
                <a:headEnd type="none" w="med" len="med"/>
                <a:tailEnd type="none" w="med" len="med"/>
              </a:ln>
            </p:spPr>
            <p:txBody>
              <a:bodyPr/>
              <a:p>
                <a:endParaRPr lang="zh-CN" altLang="en-US" sz="1890"/>
              </a:p>
            </p:txBody>
          </p:sp>
          <p:sp>
            <p:nvSpPr>
              <p:cNvPr id="9243" name="未知"/>
              <p:cNvSpPr/>
              <p:nvPr/>
            </p:nvSpPr>
            <p:spPr>
              <a:xfrm flipV="1">
                <a:off x="1056" y="288"/>
                <a:ext cx="1185" cy="48"/>
              </a:xfrm>
              <a:custGeom>
                <a:avLst/>
                <a:gdLst/>
                <a:ahLst/>
                <a:cxnLst/>
                <a:pathLst>
                  <a:path w="1363" h="1">
                    <a:moveTo>
                      <a:pt x="0" y="0"/>
                    </a:moveTo>
                    <a:lnTo>
                      <a:pt x="1363" y="0"/>
                    </a:lnTo>
                  </a:path>
                </a:pathLst>
              </a:custGeom>
              <a:noFill/>
              <a:ln w="28575" cap="flat" cmpd="sng">
                <a:solidFill>
                  <a:srgbClr val="006600"/>
                </a:solidFill>
                <a:prstDash val="solid"/>
                <a:round/>
                <a:headEnd type="none" w="med" len="med"/>
                <a:tailEnd type="none" w="med" len="med"/>
              </a:ln>
            </p:spPr>
            <p:txBody>
              <a:bodyPr/>
              <a:p>
                <a:endParaRPr lang="zh-CN" altLang="en-US" sz="1890"/>
              </a:p>
            </p:txBody>
          </p:sp>
          <p:cxnSp>
            <p:nvCxnSpPr>
              <p:cNvPr id="9244" name="肘形连接符 9244"/>
              <p:cNvCxnSpPr>
                <a:stCxn id="9242" idx="0"/>
                <a:endCxn id="9231" idx="0"/>
              </p:cNvCxnSpPr>
              <p:nvPr/>
            </p:nvCxnSpPr>
            <p:spPr>
              <a:xfrm rot="10800000" flipH="1" flipV="1">
                <a:off x="328" y="316"/>
                <a:ext cx="320" cy="1220"/>
              </a:xfrm>
              <a:prstGeom prst="bentConnector4">
                <a:avLst>
                  <a:gd name="adj1" fmla="val -42190"/>
                  <a:gd name="adj2" fmla="val 84588"/>
                </a:avLst>
              </a:prstGeom>
              <a:ln w="28575" cap="flat" cmpd="sng">
                <a:solidFill>
                  <a:srgbClr val="006600"/>
                </a:solidFill>
                <a:prstDash val="solid"/>
                <a:miter/>
                <a:headEnd type="none" w="med" len="med"/>
                <a:tailEnd type="none" w="med" len="med"/>
              </a:ln>
            </p:spPr>
          </p:cxnSp>
          <p:sp>
            <p:nvSpPr>
              <p:cNvPr id="9245" name="未知"/>
              <p:cNvSpPr/>
              <p:nvPr/>
            </p:nvSpPr>
            <p:spPr>
              <a:xfrm>
                <a:off x="192" y="996"/>
                <a:ext cx="300" cy="3"/>
              </a:xfrm>
              <a:custGeom>
                <a:avLst/>
                <a:gdLst/>
                <a:ahLst/>
                <a:cxnLst/>
                <a:pathLst>
                  <a:path w="300" h="3">
                    <a:moveTo>
                      <a:pt x="0" y="3"/>
                    </a:moveTo>
                    <a:lnTo>
                      <a:pt x="300" y="0"/>
                    </a:lnTo>
                  </a:path>
                </a:pathLst>
              </a:custGeom>
              <a:noFill/>
              <a:ln w="28575" cap="flat" cmpd="sng">
                <a:solidFill>
                  <a:srgbClr val="006600"/>
                </a:solidFill>
                <a:prstDash val="solid"/>
                <a:round/>
                <a:headEnd type="none" w="med" len="med"/>
                <a:tailEnd type="none" w="med" len="med"/>
              </a:ln>
            </p:spPr>
            <p:txBody>
              <a:bodyPr/>
              <a:p>
                <a:endParaRPr lang="zh-CN" altLang="en-US" sz="1890"/>
              </a:p>
            </p:txBody>
          </p:sp>
          <p:sp>
            <p:nvSpPr>
              <p:cNvPr id="9246" name="未知"/>
              <p:cNvSpPr/>
              <p:nvPr/>
            </p:nvSpPr>
            <p:spPr>
              <a:xfrm>
                <a:off x="732" y="996"/>
                <a:ext cx="900" cy="12"/>
              </a:xfrm>
              <a:custGeom>
                <a:avLst/>
                <a:gdLst/>
                <a:ahLst/>
                <a:cxnLst/>
                <a:pathLst>
                  <a:path w="900" h="12">
                    <a:moveTo>
                      <a:pt x="0" y="0"/>
                    </a:moveTo>
                    <a:lnTo>
                      <a:pt x="900" y="12"/>
                    </a:lnTo>
                  </a:path>
                </a:pathLst>
              </a:custGeom>
              <a:noFill/>
              <a:ln w="28575" cap="flat" cmpd="sng">
                <a:solidFill>
                  <a:srgbClr val="006600"/>
                </a:solidFill>
                <a:prstDash val="solid"/>
                <a:round/>
                <a:headEnd type="none" w="med" len="med"/>
                <a:tailEnd type="none" w="med" len="med"/>
              </a:ln>
            </p:spPr>
            <p:txBody>
              <a:bodyPr/>
              <a:p>
                <a:endParaRPr lang="zh-CN" altLang="en-US" sz="1890"/>
              </a:p>
            </p:txBody>
          </p:sp>
          <p:cxnSp>
            <p:nvCxnSpPr>
              <p:cNvPr id="9247" name="肘形连接符 9247"/>
              <p:cNvCxnSpPr>
                <a:stCxn id="9243" idx="1"/>
                <a:endCxn id="9236" idx="3"/>
              </p:cNvCxnSpPr>
              <p:nvPr/>
            </p:nvCxnSpPr>
            <p:spPr>
              <a:xfrm flipH="1">
                <a:off x="1968" y="336"/>
                <a:ext cx="281" cy="289"/>
              </a:xfrm>
              <a:prstGeom prst="bentConnector3">
                <a:avLst>
                  <a:gd name="adj1" fmla="val 6759"/>
                </a:avLst>
              </a:prstGeom>
              <a:ln w="28575" cap="flat" cmpd="sng">
                <a:solidFill>
                  <a:srgbClr val="006600"/>
                </a:solidFill>
                <a:prstDash val="solid"/>
                <a:miter/>
                <a:headEnd type="none" w="med" len="med"/>
                <a:tailEnd type="none" w="med" len="med"/>
              </a:ln>
            </p:spPr>
          </p:cxnSp>
          <p:sp>
            <p:nvSpPr>
              <p:cNvPr id="9248" name="未知"/>
              <p:cNvSpPr/>
              <p:nvPr/>
            </p:nvSpPr>
            <p:spPr>
              <a:xfrm flipV="1">
                <a:off x="672" y="1584"/>
                <a:ext cx="240" cy="48"/>
              </a:xfrm>
              <a:custGeom>
                <a:avLst/>
                <a:gdLst/>
                <a:ahLst/>
                <a:cxnLst/>
                <a:pathLst>
                  <a:path w="64" h="50">
                    <a:moveTo>
                      <a:pt x="0" y="0"/>
                    </a:moveTo>
                    <a:lnTo>
                      <a:pt x="64" y="50"/>
                    </a:lnTo>
                  </a:path>
                </a:pathLst>
              </a:custGeom>
              <a:noFill/>
              <a:ln w="19050" cap="flat" cmpd="sng">
                <a:solidFill>
                  <a:schemeClr val="tx1"/>
                </a:solidFill>
                <a:prstDash val="solid"/>
                <a:round/>
                <a:headEnd type="none" w="med" len="med"/>
                <a:tailEnd type="none" w="med" len="med"/>
              </a:ln>
            </p:spPr>
            <p:txBody>
              <a:bodyPr/>
              <a:p>
                <a:endParaRPr lang="zh-CN" altLang="en-US" sz="1890"/>
              </a:p>
            </p:txBody>
          </p:sp>
          <p:sp>
            <p:nvSpPr>
              <p:cNvPr id="9249" name="未知"/>
              <p:cNvSpPr/>
              <p:nvPr/>
            </p:nvSpPr>
            <p:spPr>
              <a:xfrm flipV="1">
                <a:off x="1104" y="1584"/>
                <a:ext cx="192" cy="48"/>
              </a:xfrm>
              <a:custGeom>
                <a:avLst/>
                <a:gdLst/>
                <a:ahLst/>
                <a:cxnLst/>
                <a:pathLst>
                  <a:path w="79" h="98">
                    <a:moveTo>
                      <a:pt x="79" y="0"/>
                    </a:moveTo>
                    <a:lnTo>
                      <a:pt x="0" y="98"/>
                    </a:lnTo>
                  </a:path>
                </a:pathLst>
              </a:custGeom>
              <a:noFill/>
              <a:ln w="19050" cap="flat" cmpd="sng">
                <a:solidFill>
                  <a:schemeClr val="tx1"/>
                </a:solidFill>
                <a:prstDash val="solid"/>
                <a:round/>
                <a:headEnd type="none" w="med" len="med"/>
                <a:tailEnd type="none" w="med" len="med"/>
              </a:ln>
            </p:spPr>
            <p:txBody>
              <a:bodyPr/>
              <a:p>
                <a:endParaRPr lang="zh-CN" altLang="en-US" sz="1890"/>
              </a:p>
            </p:txBody>
          </p:sp>
          <p:sp>
            <p:nvSpPr>
              <p:cNvPr id="9250" name="文本框 9250"/>
              <p:cNvSpPr txBox="1"/>
              <p:nvPr/>
            </p:nvSpPr>
            <p:spPr>
              <a:xfrm>
                <a:off x="1728" y="672"/>
                <a:ext cx="240" cy="258"/>
              </a:xfrm>
              <a:prstGeom prst="rect">
                <a:avLst/>
              </a:prstGeom>
              <a:noFill/>
              <a:ln w="9525">
                <a:noFill/>
              </a:ln>
            </p:spPr>
            <p:txBody>
              <a:bodyPr anchor="t" anchorCtr="0">
                <a:spAutoFit/>
              </a:bodyPr>
              <a:p>
                <a:pPr eaLnBrk="0" hangingPunct="0">
                  <a:spcBef>
                    <a:spcPct val="50000"/>
                  </a:spcBef>
                </a:pPr>
                <a:r>
                  <a:rPr lang="en-US" altLang="zh-CN" sz="1890" b="0">
                    <a:latin typeface="Arial" panose="020B0604020202020204" pitchFamily="34" charset="0"/>
                    <a:ea typeface="微软雅黑" panose="020B0503020204020204" charset="-122"/>
                  </a:rPr>
                  <a:t>R</a:t>
                </a:r>
                <a:endParaRPr lang="en-US" altLang="zh-CN" sz="1890" b="0">
                  <a:latin typeface="Arial" panose="020B0604020202020204" pitchFamily="34" charset="0"/>
                  <a:ea typeface="微软雅黑" panose="020B0503020204020204" charset="-122"/>
                </a:endParaRPr>
              </a:p>
            </p:txBody>
          </p:sp>
          <p:sp>
            <p:nvSpPr>
              <p:cNvPr id="9251" name="文本框 9251"/>
              <p:cNvSpPr txBox="1"/>
              <p:nvPr/>
            </p:nvSpPr>
            <p:spPr>
              <a:xfrm>
                <a:off x="720" y="2256"/>
                <a:ext cx="624" cy="258"/>
              </a:xfrm>
              <a:prstGeom prst="rect">
                <a:avLst/>
              </a:prstGeom>
              <a:noFill/>
              <a:ln w="9525">
                <a:noFill/>
              </a:ln>
            </p:spPr>
            <p:txBody>
              <a:bodyPr anchor="t" anchorCtr="0">
                <a:spAutoFit/>
              </a:bodyPr>
              <a:p>
                <a:pPr eaLnBrk="0" hangingPunct="0">
                  <a:spcBef>
                    <a:spcPct val="50000"/>
                  </a:spcBef>
                </a:pPr>
                <a:r>
                  <a:rPr lang="en-US" altLang="zh-CN" sz="1890" b="0">
                    <a:latin typeface="Arial" panose="020B0604020202020204" pitchFamily="34" charset="0"/>
                    <a:ea typeface="微软雅黑" panose="020B0503020204020204" charset="-122"/>
                  </a:rPr>
                  <a:t>HCl</a:t>
                </a:r>
                <a:endParaRPr lang="en-US" altLang="zh-CN" sz="1890" b="0">
                  <a:latin typeface="Arial" panose="020B0604020202020204" pitchFamily="34" charset="0"/>
                  <a:ea typeface="微软雅黑" panose="020B0503020204020204" charset="-122"/>
                </a:endParaRPr>
              </a:p>
            </p:txBody>
          </p:sp>
          <p:sp>
            <p:nvSpPr>
              <p:cNvPr id="9252" name="文本框 9252"/>
              <p:cNvSpPr txBox="1"/>
              <p:nvPr/>
            </p:nvSpPr>
            <p:spPr>
              <a:xfrm>
                <a:off x="624" y="10"/>
                <a:ext cx="690" cy="258"/>
              </a:xfrm>
              <a:prstGeom prst="rect">
                <a:avLst/>
              </a:prstGeom>
              <a:noFill/>
              <a:ln w="9525">
                <a:noFill/>
              </a:ln>
            </p:spPr>
            <p:txBody>
              <a:bodyPr anchor="t" anchorCtr="0">
                <a:spAutoFit/>
              </a:bodyPr>
              <a:p>
                <a:pPr algn="ctr" eaLnBrk="0" hangingPunct="0">
                  <a:spcBef>
                    <a:spcPct val="50000"/>
                  </a:spcBef>
                </a:pPr>
                <a:r>
                  <a:rPr lang="zh-CN" altLang="en-US" sz="1890" b="0">
                    <a:solidFill>
                      <a:srgbClr val="3333FF"/>
                    </a:solidFill>
                    <a:latin typeface="Arial" panose="020B0604020202020204" pitchFamily="34" charset="0"/>
                    <a:ea typeface="微软雅黑" panose="020B0503020204020204" charset="-122"/>
                  </a:rPr>
                  <a:t>外电源</a:t>
                </a:r>
                <a:endParaRPr lang="zh-CN" altLang="en-US" sz="1890" b="0">
                  <a:solidFill>
                    <a:srgbClr val="3333FF"/>
                  </a:solidFill>
                  <a:latin typeface="Arial" panose="020B0604020202020204" pitchFamily="34" charset="0"/>
                  <a:ea typeface="微软雅黑" panose="020B0503020204020204" charset="-122"/>
                </a:endParaRPr>
              </a:p>
            </p:txBody>
          </p:sp>
          <p:sp>
            <p:nvSpPr>
              <p:cNvPr id="9253" name="文本框 9253"/>
              <p:cNvSpPr txBox="1"/>
              <p:nvPr/>
            </p:nvSpPr>
            <p:spPr>
              <a:xfrm>
                <a:off x="192" y="1094"/>
                <a:ext cx="864" cy="258"/>
              </a:xfrm>
              <a:prstGeom prst="rect">
                <a:avLst/>
              </a:prstGeom>
              <a:noFill/>
              <a:ln w="9525">
                <a:noFill/>
              </a:ln>
            </p:spPr>
            <p:txBody>
              <a:bodyPr anchor="t" anchorCtr="0">
                <a:spAutoFit/>
              </a:bodyPr>
              <a:p>
                <a:pPr algn="ctr" eaLnBrk="0" hangingPunct="0">
                  <a:spcBef>
                    <a:spcPct val="50000"/>
                  </a:spcBef>
                </a:pPr>
                <a:r>
                  <a:rPr lang="zh-CN" altLang="en-US" sz="1890" b="0">
                    <a:solidFill>
                      <a:srgbClr val="3333FF"/>
                    </a:solidFill>
                    <a:latin typeface="Arial" panose="020B0604020202020204" pitchFamily="34" charset="0"/>
                    <a:ea typeface="微软雅黑" panose="020B0503020204020204" charset="-122"/>
                  </a:rPr>
                  <a:t>伏特计</a:t>
                </a:r>
                <a:endParaRPr lang="zh-CN" altLang="en-US" sz="1890" b="0">
                  <a:solidFill>
                    <a:srgbClr val="3333FF"/>
                  </a:solidFill>
                  <a:latin typeface="Arial" panose="020B0604020202020204" pitchFamily="34" charset="0"/>
                  <a:ea typeface="微软雅黑" panose="020B0503020204020204" charset="-122"/>
                </a:endParaRPr>
              </a:p>
            </p:txBody>
          </p:sp>
          <p:sp>
            <p:nvSpPr>
              <p:cNvPr id="9254" name="文本框 9254"/>
              <p:cNvSpPr txBox="1"/>
              <p:nvPr/>
            </p:nvSpPr>
            <p:spPr>
              <a:xfrm>
                <a:off x="1344" y="1200"/>
                <a:ext cx="738" cy="258"/>
              </a:xfrm>
              <a:prstGeom prst="rect">
                <a:avLst/>
              </a:prstGeom>
              <a:noFill/>
              <a:ln w="9525">
                <a:noFill/>
              </a:ln>
            </p:spPr>
            <p:txBody>
              <a:bodyPr anchor="t" anchorCtr="0">
                <a:spAutoFit/>
              </a:bodyPr>
              <a:p>
                <a:pPr algn="ctr" eaLnBrk="0" hangingPunct="0">
                  <a:spcBef>
                    <a:spcPct val="50000"/>
                  </a:spcBef>
                </a:pPr>
                <a:r>
                  <a:rPr lang="zh-CN" altLang="en-US" sz="1890" b="0">
                    <a:solidFill>
                      <a:srgbClr val="3333FF"/>
                    </a:solidFill>
                    <a:latin typeface="Arial" panose="020B0604020202020204" pitchFamily="34" charset="0"/>
                    <a:ea typeface="微软雅黑" panose="020B0503020204020204" charset="-122"/>
                  </a:rPr>
                  <a:t>电流计</a:t>
                </a:r>
                <a:endParaRPr lang="zh-CN" altLang="en-US" sz="1890" b="0">
                  <a:solidFill>
                    <a:srgbClr val="3333FF"/>
                  </a:solidFill>
                  <a:latin typeface="Arial" panose="020B0604020202020204" pitchFamily="34" charset="0"/>
                  <a:ea typeface="微软雅黑" panose="020B0503020204020204" charset="-122"/>
                </a:endParaRPr>
              </a:p>
            </p:txBody>
          </p:sp>
          <p:sp>
            <p:nvSpPr>
              <p:cNvPr id="9255" name="文本框 9255"/>
              <p:cNvSpPr txBox="1"/>
              <p:nvPr/>
            </p:nvSpPr>
            <p:spPr>
              <a:xfrm>
                <a:off x="576" y="97"/>
                <a:ext cx="240" cy="258"/>
              </a:xfrm>
              <a:prstGeom prst="rect">
                <a:avLst/>
              </a:prstGeom>
              <a:noFill/>
              <a:ln w="9525">
                <a:noFill/>
              </a:ln>
            </p:spPr>
            <p:txBody>
              <a:bodyPr anchor="t" anchorCtr="0">
                <a:spAutoFit/>
              </a:bodyPr>
              <a:p>
                <a:pPr eaLnBrk="0" hangingPunct="0">
                  <a:spcBef>
                    <a:spcPct val="50000"/>
                  </a:spcBef>
                </a:pPr>
                <a:r>
                  <a:rPr lang="en-US" altLang="zh-CN" sz="1890" b="0">
                    <a:latin typeface="Arial" panose="020B0604020202020204" pitchFamily="34" charset="0"/>
                    <a:ea typeface="微软雅黑" panose="020B0503020204020204" charset="-122"/>
                  </a:rPr>
                  <a:t>+</a:t>
                </a:r>
                <a:endParaRPr lang="en-US" altLang="zh-CN" sz="1890" b="0">
                  <a:latin typeface="Arial" panose="020B0604020202020204" pitchFamily="34" charset="0"/>
                  <a:ea typeface="微软雅黑" panose="020B0503020204020204" charset="-122"/>
                </a:endParaRPr>
              </a:p>
            </p:txBody>
          </p:sp>
          <p:sp>
            <p:nvSpPr>
              <p:cNvPr id="9256" name="文本框 9256"/>
              <p:cNvSpPr txBox="1"/>
              <p:nvPr/>
            </p:nvSpPr>
            <p:spPr>
              <a:xfrm>
                <a:off x="1200" y="0"/>
                <a:ext cx="240" cy="258"/>
              </a:xfrm>
              <a:prstGeom prst="rect">
                <a:avLst/>
              </a:prstGeom>
              <a:noFill/>
              <a:ln w="9525">
                <a:noFill/>
              </a:ln>
            </p:spPr>
            <p:txBody>
              <a:bodyPr anchor="t" anchorCtr="0">
                <a:spAutoFit/>
              </a:bodyPr>
              <a:p>
                <a:pPr eaLnBrk="0" hangingPunct="0">
                  <a:spcBef>
                    <a:spcPct val="50000"/>
                  </a:spcBef>
                </a:pPr>
                <a:r>
                  <a:rPr lang="en-US" altLang="zh-CN" sz="1890" b="0">
                    <a:latin typeface="Times New Roman" panose="02020603050405020304" pitchFamily="18" charset="0"/>
                    <a:ea typeface="楷体_GB2312" pitchFamily="1" charset="-122"/>
                  </a:rPr>
                  <a:t>_</a:t>
                </a:r>
                <a:endParaRPr lang="en-US" altLang="zh-CN" sz="1890" b="0">
                  <a:latin typeface="Times New Roman" panose="02020603050405020304" pitchFamily="18" charset="0"/>
                  <a:ea typeface="楷体_GB2312" pitchFamily="1" charset="-122"/>
                </a:endParaRPr>
              </a:p>
            </p:txBody>
          </p:sp>
          <p:sp>
            <p:nvSpPr>
              <p:cNvPr id="9257" name="椭圆 9257"/>
              <p:cNvSpPr/>
              <p:nvPr/>
            </p:nvSpPr>
            <p:spPr>
              <a:xfrm>
                <a:off x="1248" y="1104"/>
                <a:ext cx="240" cy="244"/>
              </a:xfrm>
              <a:prstGeom prst="ellipse">
                <a:avLst/>
              </a:prstGeom>
              <a:solidFill>
                <a:srgbClr val="FF99CC"/>
              </a:solidFill>
              <a:ln w="9525" cap="flat" cmpd="sng">
                <a:solidFill>
                  <a:schemeClr val="tx1"/>
                </a:solidFill>
                <a:prstDash val="solid"/>
                <a:round/>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9258" name="文本框 9258"/>
              <p:cNvSpPr txBox="1"/>
              <p:nvPr/>
            </p:nvSpPr>
            <p:spPr>
              <a:xfrm>
                <a:off x="1248" y="1104"/>
                <a:ext cx="240" cy="258"/>
              </a:xfrm>
              <a:prstGeom prst="rect">
                <a:avLst/>
              </a:prstGeom>
              <a:noFill/>
              <a:ln w="9525">
                <a:noFill/>
              </a:ln>
            </p:spPr>
            <p:txBody>
              <a:bodyPr anchor="t" anchorCtr="0">
                <a:spAutoFit/>
              </a:bodyPr>
              <a:p>
                <a:pPr eaLnBrk="0" hangingPunct="0">
                  <a:spcBef>
                    <a:spcPct val="50000"/>
                  </a:spcBef>
                </a:pPr>
                <a:r>
                  <a:rPr lang="en-US" altLang="zh-CN" sz="1890" b="0">
                    <a:latin typeface="Arial" panose="020B0604020202020204" pitchFamily="34" charset="0"/>
                    <a:ea typeface="微软雅黑" panose="020B0503020204020204" charset="-122"/>
                  </a:rPr>
                  <a:t>G</a:t>
                </a:r>
                <a:endParaRPr lang="en-US" altLang="zh-CN" sz="1890" b="0">
                  <a:latin typeface="Arial" panose="020B0604020202020204" pitchFamily="34" charset="0"/>
                  <a:ea typeface="微软雅黑" panose="020B0503020204020204" charset="-122"/>
                </a:endParaRPr>
              </a:p>
            </p:txBody>
          </p:sp>
        </p:grpSp>
        <p:grpSp>
          <p:nvGrpSpPr>
            <p:cNvPr id="9259" name="组合 9259"/>
            <p:cNvGrpSpPr/>
            <p:nvPr/>
          </p:nvGrpSpPr>
          <p:grpSpPr>
            <a:xfrm>
              <a:off x="2352" y="288"/>
              <a:ext cx="2736" cy="2275"/>
              <a:chOff x="0" y="0"/>
              <a:chExt cx="2736" cy="2275"/>
            </a:xfrm>
          </p:grpSpPr>
          <p:grpSp>
            <p:nvGrpSpPr>
              <p:cNvPr id="9260" name="组合 9260"/>
              <p:cNvGrpSpPr/>
              <p:nvPr/>
            </p:nvGrpSpPr>
            <p:grpSpPr>
              <a:xfrm>
                <a:off x="0" y="30"/>
                <a:ext cx="2736" cy="2245"/>
                <a:chOff x="0" y="0"/>
                <a:chExt cx="2736" cy="2245"/>
              </a:xfrm>
            </p:grpSpPr>
            <p:sp>
              <p:nvSpPr>
                <p:cNvPr id="9261" name="文本框 9261"/>
                <p:cNvSpPr txBox="1"/>
                <p:nvPr/>
              </p:nvSpPr>
              <p:spPr>
                <a:xfrm>
                  <a:off x="1392" y="1698"/>
                  <a:ext cx="624" cy="295"/>
                </a:xfrm>
                <a:prstGeom prst="rect">
                  <a:avLst/>
                </a:prstGeom>
                <a:noFill/>
                <a:ln w="9525">
                  <a:noFill/>
                </a:ln>
              </p:spPr>
              <p:txBody>
                <a:bodyPr anchor="t" anchorCtr="0">
                  <a:spAutoFit/>
                </a:bodyPr>
                <a:p>
                  <a:pPr eaLnBrk="0" hangingPunct="0">
                    <a:lnSpc>
                      <a:spcPct val="130000"/>
                    </a:lnSpc>
                    <a:spcBef>
                      <a:spcPct val="50000"/>
                    </a:spcBef>
                  </a:pPr>
                  <a:r>
                    <a:rPr lang="en-US" altLang="zh-CN" sz="1890" b="0" i="1">
                      <a:latin typeface="Arial" panose="020B0604020202020204" pitchFamily="34" charset="0"/>
                      <a:ea typeface="微软雅黑" panose="020B0503020204020204" charset="-122"/>
                    </a:rPr>
                    <a:t>V</a:t>
                  </a:r>
                  <a:r>
                    <a:rPr lang="zh-CN" altLang="en-US" sz="1890" b="0" baseline="-25000">
                      <a:latin typeface="Arial" panose="020B0604020202020204" pitchFamily="34" charset="0"/>
                      <a:ea typeface="微软雅黑" panose="020B0503020204020204" charset="-122"/>
                    </a:rPr>
                    <a:t>分解</a:t>
                  </a:r>
                  <a:endParaRPr lang="zh-CN" altLang="en-US" sz="1890" b="0" baseline="-25000">
                    <a:latin typeface="Arial" panose="020B0604020202020204" pitchFamily="34" charset="0"/>
                    <a:ea typeface="微软雅黑" panose="020B0503020204020204" charset="-122"/>
                    <a:sym typeface="Symbol" panose="05050102010706020507" pitchFamily="18" charset="2"/>
                  </a:endParaRPr>
                </a:p>
              </p:txBody>
            </p:sp>
            <p:sp>
              <p:nvSpPr>
                <p:cNvPr id="9262" name="文本框 9262"/>
                <p:cNvSpPr txBox="1"/>
                <p:nvPr/>
              </p:nvSpPr>
              <p:spPr>
                <a:xfrm>
                  <a:off x="2352" y="1737"/>
                  <a:ext cx="288" cy="240"/>
                </a:xfrm>
                <a:prstGeom prst="rect">
                  <a:avLst/>
                </a:prstGeom>
                <a:noFill/>
                <a:ln w="9525">
                  <a:noFill/>
                </a:ln>
              </p:spPr>
              <p:txBody>
                <a:bodyPr anchor="t" anchorCtr="0">
                  <a:spAutoFit/>
                </a:bodyPr>
                <a:p>
                  <a:pPr eaLnBrk="0" hangingPunct="0">
                    <a:spcBef>
                      <a:spcPct val="50000"/>
                    </a:spcBef>
                  </a:pPr>
                  <a:r>
                    <a:rPr lang="en-US" altLang="zh-CN" sz="1890" b="0" i="1">
                      <a:latin typeface="Arial" panose="020B0604020202020204" pitchFamily="34" charset="0"/>
                      <a:ea typeface="微软雅黑" panose="020B0503020204020204" charset="-122"/>
                    </a:rPr>
                    <a:t>V</a:t>
                  </a:r>
                  <a:endParaRPr lang="en-US" altLang="zh-CN" sz="1890" b="0" i="1">
                    <a:latin typeface="Arial" panose="020B0604020202020204" pitchFamily="34" charset="0"/>
                    <a:ea typeface="微软雅黑" panose="020B0503020204020204" charset="-122"/>
                    <a:sym typeface="Symbol" panose="05050102010706020507" pitchFamily="18" charset="2"/>
                  </a:endParaRPr>
                </a:p>
              </p:txBody>
            </p:sp>
            <p:sp>
              <p:nvSpPr>
                <p:cNvPr id="9263" name="文本框 9263"/>
                <p:cNvSpPr txBox="1"/>
                <p:nvPr/>
              </p:nvSpPr>
              <p:spPr>
                <a:xfrm flipV="1">
                  <a:off x="0" y="0"/>
                  <a:ext cx="288" cy="240"/>
                </a:xfrm>
                <a:prstGeom prst="rect">
                  <a:avLst/>
                </a:prstGeom>
                <a:noFill/>
                <a:ln w="9525">
                  <a:noFill/>
                </a:ln>
              </p:spPr>
              <p:txBody>
                <a:bodyPr anchor="t" anchorCtr="0">
                  <a:spAutoFit/>
                </a:bodyPr>
                <a:p>
                  <a:pPr eaLnBrk="0" hangingPunct="0">
                    <a:spcBef>
                      <a:spcPct val="50000"/>
                    </a:spcBef>
                  </a:pPr>
                  <a:r>
                    <a:rPr lang="en-US" altLang="zh-CN" sz="1890" b="0" i="1">
                      <a:latin typeface="Arial" panose="020B0604020202020204" pitchFamily="34" charset="0"/>
                      <a:ea typeface="微软雅黑" panose="020B0503020204020204" charset="-122"/>
                    </a:rPr>
                    <a:t>I</a:t>
                  </a:r>
                  <a:endParaRPr lang="en-US" altLang="zh-CN" sz="1890" b="0" i="1">
                    <a:latin typeface="Arial" panose="020B0604020202020204" pitchFamily="34" charset="0"/>
                    <a:ea typeface="微软雅黑" panose="020B0503020204020204" charset="-122"/>
                  </a:endParaRPr>
                </a:p>
              </p:txBody>
            </p:sp>
            <p:sp>
              <p:nvSpPr>
                <p:cNvPr id="9264" name="文本框 9264"/>
                <p:cNvSpPr txBox="1"/>
                <p:nvPr/>
              </p:nvSpPr>
              <p:spPr>
                <a:xfrm>
                  <a:off x="240" y="2005"/>
                  <a:ext cx="2496" cy="240"/>
                </a:xfrm>
                <a:prstGeom prst="rect">
                  <a:avLst/>
                </a:prstGeom>
                <a:noFill/>
                <a:ln w="9525">
                  <a:noFill/>
                </a:ln>
              </p:spPr>
              <p:txBody>
                <a:bodyPr anchor="t" anchorCtr="0">
                  <a:spAutoFit/>
                </a:bodyPr>
                <a:p>
                  <a:pPr marL="193675" indent="-193675" eaLnBrk="0" hangingPunct="0">
                    <a:spcBef>
                      <a:spcPct val="50000"/>
                    </a:spcBef>
                    <a:buChar char="•"/>
                  </a:pPr>
                  <a:r>
                    <a:rPr lang="zh-CN" altLang="en-US" sz="1890" b="0">
                      <a:latin typeface="Arial" panose="020B0604020202020204" pitchFamily="34" charset="0"/>
                      <a:ea typeface="微软雅黑" panose="020B0503020204020204" charset="-122"/>
                    </a:rPr>
                    <a:t>测定分解电压的电流 </a:t>
                  </a:r>
                  <a:r>
                    <a:rPr lang="en-US" altLang="zh-CN" sz="1890" b="0">
                      <a:latin typeface="Arial" panose="020B0604020202020204" pitchFamily="34" charset="0"/>
                      <a:ea typeface="微软雅黑" panose="020B0503020204020204" charset="-122"/>
                    </a:rPr>
                    <a:t>-</a:t>
                  </a:r>
                  <a:r>
                    <a:rPr lang="zh-CN" altLang="en-US" sz="1890" b="0">
                      <a:latin typeface="Arial" panose="020B0604020202020204" pitchFamily="34" charset="0"/>
                      <a:ea typeface="微软雅黑" panose="020B0503020204020204" charset="-122"/>
                    </a:rPr>
                    <a:t>电压曲线</a:t>
                  </a:r>
                  <a:endParaRPr lang="zh-CN" altLang="en-US" sz="1890" b="0">
                    <a:latin typeface="Arial" panose="020B0604020202020204" pitchFamily="34" charset="0"/>
                    <a:ea typeface="微软雅黑" panose="020B0503020204020204" charset="-122"/>
                  </a:endParaRPr>
                </a:p>
              </p:txBody>
            </p:sp>
          </p:grpSp>
          <p:grpSp>
            <p:nvGrpSpPr>
              <p:cNvPr id="9265" name="组合 9265"/>
              <p:cNvGrpSpPr/>
              <p:nvPr/>
            </p:nvGrpSpPr>
            <p:grpSpPr>
              <a:xfrm>
                <a:off x="334" y="0"/>
                <a:ext cx="2258" cy="1780"/>
                <a:chOff x="0" y="0"/>
                <a:chExt cx="2258" cy="1780"/>
              </a:xfrm>
            </p:grpSpPr>
            <p:sp>
              <p:nvSpPr>
                <p:cNvPr id="9266" name="直接连接符 9266"/>
                <p:cNvSpPr/>
                <p:nvPr/>
              </p:nvSpPr>
              <p:spPr>
                <a:xfrm flipV="1">
                  <a:off x="1" y="0"/>
                  <a:ext cx="0" cy="1780"/>
                </a:xfrm>
                <a:prstGeom prst="line">
                  <a:avLst/>
                </a:prstGeom>
                <a:ln w="38100" cap="flat" cmpd="sng">
                  <a:solidFill>
                    <a:srgbClr val="333300"/>
                  </a:solidFill>
                  <a:prstDash val="solid"/>
                  <a:round/>
                  <a:headEnd type="none" w="med" len="med"/>
                  <a:tailEnd type="stealth" w="med" len="med"/>
                </a:ln>
                <a:effectLst>
                  <a:prstShdw prst="shdw13" dist="53882" dir="13499999">
                    <a:schemeClr val="bg2"/>
                  </a:prstShdw>
                </a:effectLst>
              </p:spPr>
            </p:sp>
            <p:sp>
              <p:nvSpPr>
                <p:cNvPr id="9267" name="直接连接符 9267"/>
                <p:cNvSpPr/>
                <p:nvPr/>
              </p:nvSpPr>
              <p:spPr>
                <a:xfrm>
                  <a:off x="1" y="1780"/>
                  <a:ext cx="2257" cy="0"/>
                </a:xfrm>
                <a:prstGeom prst="line">
                  <a:avLst/>
                </a:prstGeom>
                <a:ln w="38100" cap="flat" cmpd="sng">
                  <a:solidFill>
                    <a:srgbClr val="333300"/>
                  </a:solidFill>
                  <a:prstDash val="solid"/>
                  <a:round/>
                  <a:headEnd type="none" w="med" len="med"/>
                  <a:tailEnd type="stealth" w="med" len="med"/>
                </a:ln>
                <a:effectLst>
                  <a:prstShdw prst="shdw13" dist="53882" dir="13499999">
                    <a:schemeClr val="bg2"/>
                  </a:prstShdw>
                </a:effectLst>
              </p:spPr>
            </p:sp>
            <p:sp>
              <p:nvSpPr>
                <p:cNvPr id="9268" name="未知"/>
                <p:cNvSpPr/>
                <p:nvPr/>
              </p:nvSpPr>
              <p:spPr>
                <a:xfrm>
                  <a:off x="0" y="205"/>
                  <a:ext cx="1786" cy="1554"/>
                </a:xfrm>
                <a:custGeom>
                  <a:avLst/>
                  <a:gdLst/>
                  <a:ahLst/>
                  <a:cxnLst/>
                  <a:pathLst>
                    <a:path w="2546" h="2178">
                      <a:moveTo>
                        <a:pt x="0" y="2178"/>
                      </a:moveTo>
                      <a:cubicBezTo>
                        <a:pt x="139" y="2173"/>
                        <a:pt x="572" y="2162"/>
                        <a:pt x="833" y="2145"/>
                      </a:cubicBezTo>
                      <a:cubicBezTo>
                        <a:pt x="1094" y="2128"/>
                        <a:pt x="1408" y="2132"/>
                        <a:pt x="1567" y="2078"/>
                      </a:cubicBezTo>
                      <a:cubicBezTo>
                        <a:pt x="1726" y="2024"/>
                        <a:pt x="1698" y="1993"/>
                        <a:pt x="1789" y="1823"/>
                      </a:cubicBezTo>
                      <a:cubicBezTo>
                        <a:pt x="1880" y="1653"/>
                        <a:pt x="1988" y="1360"/>
                        <a:pt x="2114" y="1056"/>
                      </a:cubicBezTo>
                      <a:cubicBezTo>
                        <a:pt x="2240" y="752"/>
                        <a:pt x="2394" y="380"/>
                        <a:pt x="2546" y="0"/>
                      </a:cubicBezTo>
                    </a:path>
                  </a:pathLst>
                </a:custGeom>
                <a:noFill/>
                <a:ln w="28575" cap="flat" cmpd="sng">
                  <a:solidFill>
                    <a:srgbClr val="FF9933"/>
                  </a:solidFill>
                  <a:prstDash val="solid"/>
                  <a:round/>
                  <a:headEnd type="none" w="med" len="med"/>
                  <a:tailEnd type="none" w="med" len="med"/>
                </a:ln>
              </p:spPr>
              <p:txBody>
                <a:bodyPr/>
                <a:p>
                  <a:endParaRPr lang="zh-CN" altLang="en-US" sz="1890"/>
                </a:p>
              </p:txBody>
            </p:sp>
            <p:sp>
              <p:nvSpPr>
                <p:cNvPr id="9269" name="未知"/>
                <p:cNvSpPr/>
                <p:nvPr/>
              </p:nvSpPr>
              <p:spPr>
                <a:xfrm>
                  <a:off x="1167" y="1022"/>
                  <a:ext cx="291" cy="743"/>
                </a:xfrm>
                <a:custGeom>
                  <a:avLst/>
                  <a:gdLst/>
                  <a:ahLst/>
                  <a:cxnLst/>
                  <a:pathLst>
                    <a:path w="291" h="743">
                      <a:moveTo>
                        <a:pt x="291" y="0"/>
                      </a:moveTo>
                      <a:lnTo>
                        <a:pt x="0" y="743"/>
                      </a:lnTo>
                    </a:path>
                  </a:pathLst>
                </a:custGeom>
                <a:noFill/>
                <a:ln w="19050" cap="flat" cmpd="sng">
                  <a:solidFill>
                    <a:srgbClr val="006600"/>
                  </a:solidFill>
                  <a:prstDash val="dash"/>
                  <a:round/>
                  <a:headEnd type="none" w="med" len="med"/>
                  <a:tailEnd type="none" w="med" len="med"/>
                </a:ln>
              </p:spPr>
              <p:txBody>
                <a:bodyPr/>
                <a:p>
                  <a:endParaRPr lang="zh-CN" altLang="en-US" sz="1890"/>
                </a:p>
              </p:txBody>
            </p:sp>
          </p:grpSp>
        </p:grpSp>
      </p:grpSp>
      <p:sp>
        <p:nvSpPr>
          <p:cNvPr id="9271" name="文本框 9270"/>
          <p:cNvSpPr txBox="1"/>
          <p:nvPr/>
        </p:nvSpPr>
        <p:spPr>
          <a:xfrm>
            <a:off x="4038000" y="228000"/>
            <a:ext cx="2820000" cy="381635"/>
          </a:xfrm>
          <a:prstGeom prst="rect">
            <a:avLst/>
          </a:prstGeom>
          <a:noFill/>
          <a:ln w="9525">
            <a:noFill/>
          </a:ln>
        </p:spPr>
        <p:txBody>
          <a:bodyPr anchor="t" anchorCtr="0">
            <a:spAutoFit/>
          </a:bodyPr>
          <a:p>
            <a:pPr algn="ctr" eaLnBrk="0" hangingPunct="0">
              <a:spcBef>
                <a:spcPct val="50000"/>
              </a:spcBef>
            </a:pPr>
            <a:r>
              <a:rPr lang="zh-CN" altLang="en-US" sz="1890" b="0">
                <a:latin typeface="Arial" panose="020B0604020202020204" pitchFamily="34" charset="0"/>
                <a:ea typeface="微软雅黑" panose="020B0503020204020204" charset="-122"/>
                <a:hlinkClick r:id="rId1"/>
              </a:rPr>
              <a:t>电解过程动画演示</a:t>
            </a:r>
            <a:endParaRPr lang="zh-CN" altLang="en-US" sz="1890" b="0">
              <a:latin typeface="Arial" panose="020B0604020202020204" pitchFamily="34" charset="0"/>
              <a:ea typeface="微软雅黑" panose="020B0503020204020204" charset="-122"/>
              <a:hlinkClick r:id="rId1"/>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left)">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219"/>
                                        </p:tgtEl>
                                        <p:attrNameLst>
                                          <p:attrName>style.visibility</p:attrName>
                                        </p:attrNameLst>
                                      </p:cBhvr>
                                      <p:to>
                                        <p:strVal val="visible"/>
                                      </p:to>
                                    </p:set>
                                    <p:anim calcmode="lin" valueType="num">
                                      <p:cBhvr additive="base">
                                        <p:cTn id="12" dur="500" fill="hold"/>
                                        <p:tgtEl>
                                          <p:spTgt spid="9219"/>
                                        </p:tgtEl>
                                        <p:attrNameLst>
                                          <p:attrName>ppt_x</p:attrName>
                                        </p:attrNameLst>
                                      </p:cBhvr>
                                      <p:tavLst>
                                        <p:tav tm="0">
                                          <p:val>
                                            <p:strVal val="#ppt_x"/>
                                          </p:val>
                                        </p:tav>
                                        <p:tav tm="100000">
                                          <p:val>
                                            <p:strVal val="#ppt_x"/>
                                          </p:val>
                                        </p:tav>
                                      </p:tavLst>
                                    </p:anim>
                                    <p:anim calcmode="lin" valueType="num">
                                      <p:cBhvr additive="base">
                                        <p:cTn id="13" dur="500" fill="hold"/>
                                        <p:tgtEl>
                                          <p:spTgt spid="9219"/>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grpId="0" nodeType="afterEffect">
                                  <p:stCondLst>
                                    <p:cond delay="1000"/>
                                  </p:stCondLst>
                                  <p:childTnLst>
                                    <p:set>
                                      <p:cBhvr>
                                        <p:cTn id="16" dur="1" fill="hold">
                                          <p:stCondLst>
                                            <p:cond delay="0"/>
                                          </p:stCondLst>
                                        </p:cTn>
                                        <p:tgtEl>
                                          <p:spTgt spid="9271"/>
                                        </p:tgtEl>
                                        <p:attrNameLst>
                                          <p:attrName>style.visibility</p:attrName>
                                        </p:attrNameLst>
                                      </p:cBhvr>
                                      <p:to>
                                        <p:strVal val="visible"/>
                                      </p:to>
                                    </p:set>
                                    <p:anim calcmode="lin" valueType="num">
                                      <p:cBhvr additive="base">
                                        <p:cTn id="17" dur="500" fill="hold"/>
                                        <p:tgtEl>
                                          <p:spTgt spid="9271"/>
                                        </p:tgtEl>
                                        <p:attrNameLst>
                                          <p:attrName>ppt_x</p:attrName>
                                        </p:attrNameLst>
                                      </p:cBhvr>
                                      <p:tavLst>
                                        <p:tav tm="0">
                                          <p:val>
                                            <p:strVal val="#ppt_x"/>
                                          </p:val>
                                        </p:tav>
                                        <p:tav tm="100000">
                                          <p:val>
                                            <p:strVal val="#ppt_x"/>
                                          </p:val>
                                        </p:tav>
                                      </p:tavLst>
                                    </p:anim>
                                    <p:anim calcmode="lin" valueType="num">
                                      <p:cBhvr additive="base">
                                        <p:cTn id="18" dur="500" fill="hold"/>
                                        <p:tgtEl>
                                          <p:spTgt spid="92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P spid="927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文本框 10241"/>
          <p:cNvSpPr txBox="1"/>
          <p:nvPr/>
        </p:nvSpPr>
        <p:spPr>
          <a:xfrm>
            <a:off x="228000" y="838500"/>
            <a:ext cx="8688000" cy="1137285"/>
          </a:xfrm>
          <a:prstGeom prst="rect">
            <a:avLst/>
          </a:prstGeom>
          <a:noFill/>
          <a:ln w="9525">
            <a:noFill/>
          </a:ln>
        </p:spPr>
        <p:txBody>
          <a:bodyPr anchor="t" anchorCtr="0">
            <a:spAutoFit/>
          </a:bodyPr>
          <a:p>
            <a:pPr indent="565150" algn="just" eaLnBrk="0" hangingPunct="0"/>
            <a:r>
              <a:rPr lang="zh-CN" altLang="en-US" sz="3400" b="0">
                <a:latin typeface="Arial" panose="020B0604020202020204" pitchFamily="34" charset="0"/>
                <a:ea typeface="微软雅黑" panose="020B0503020204020204" charset="-122"/>
              </a:rPr>
              <a:t>使电解质在两电极上继续不断地进行分解所需的最小外加电压称为</a:t>
            </a:r>
            <a:r>
              <a:rPr lang="zh-CN" altLang="en-US" sz="3400" b="0" u="sng">
                <a:solidFill>
                  <a:srgbClr val="3333FF"/>
                </a:solidFill>
                <a:latin typeface="Arial" panose="020B0604020202020204" pitchFamily="34" charset="0"/>
                <a:ea typeface="微软雅黑" panose="020B0503020204020204" charset="-122"/>
              </a:rPr>
              <a:t>分解电压</a:t>
            </a:r>
            <a:r>
              <a:rPr lang="en-US" altLang="zh-CN" sz="3400" b="0">
                <a:latin typeface="Arial" panose="020B0604020202020204" pitchFamily="34" charset="0"/>
                <a:ea typeface="微软雅黑" panose="020B0503020204020204" charset="-122"/>
              </a:rPr>
              <a:t>.</a:t>
            </a:r>
            <a:endParaRPr lang="en-US" altLang="zh-CN" sz="3400" b="0">
              <a:latin typeface="Arial" panose="020B0604020202020204" pitchFamily="34" charset="0"/>
              <a:ea typeface="微软雅黑" panose="020B0503020204020204" charset="-122"/>
            </a:endParaRPr>
          </a:p>
        </p:txBody>
      </p:sp>
      <p:sp>
        <p:nvSpPr>
          <p:cNvPr id="10243" name="文本框 10242"/>
          <p:cNvSpPr txBox="1"/>
          <p:nvPr/>
        </p:nvSpPr>
        <p:spPr>
          <a:xfrm>
            <a:off x="685500" y="2560598"/>
            <a:ext cx="7924500" cy="1868805"/>
          </a:xfrm>
          <a:prstGeom prst="rect">
            <a:avLst/>
          </a:prstGeom>
          <a:noFill/>
          <a:ln w="9525">
            <a:noFill/>
          </a:ln>
        </p:spPr>
        <p:txBody>
          <a:bodyPr anchor="ctr" anchorCtr="0">
            <a:spAutoFit/>
          </a:bodyPr>
          <a:p>
            <a:pPr>
              <a:lnSpc>
                <a:spcPct val="80000"/>
              </a:lnSpc>
              <a:spcBef>
                <a:spcPct val="50000"/>
              </a:spcBef>
            </a:pPr>
            <a:r>
              <a:rPr lang="zh-CN" altLang="en-US" sz="3400" b="0">
                <a:latin typeface="Arial" panose="020B0604020202020204" pitchFamily="34" charset="0"/>
                <a:ea typeface="微软雅黑" panose="020B0503020204020204" charset="-122"/>
              </a:rPr>
              <a:t>阴极</a:t>
            </a:r>
            <a:r>
              <a:rPr lang="en-US" altLang="zh-CN" sz="3400" b="0">
                <a:latin typeface="Arial" panose="020B0604020202020204" pitchFamily="34" charset="0"/>
                <a:ea typeface="微软雅黑" panose="020B0503020204020204" charset="-122"/>
              </a:rPr>
              <a:t>(</a:t>
            </a:r>
            <a:r>
              <a:rPr lang="zh-CN" altLang="en-US" sz="3400" b="0">
                <a:latin typeface="Arial" panose="020B0604020202020204" pitchFamily="34" charset="0"/>
                <a:ea typeface="微软雅黑" panose="020B0503020204020204" charset="-122"/>
              </a:rPr>
              <a:t>负极</a:t>
            </a:r>
            <a:r>
              <a:rPr lang="en-US" altLang="zh-CN" sz="3400" b="0">
                <a:latin typeface="Arial" panose="020B0604020202020204" pitchFamily="34" charset="0"/>
                <a:ea typeface="微软雅黑" panose="020B0503020204020204" charset="-122"/>
              </a:rPr>
              <a:t>): 2H</a:t>
            </a:r>
            <a:r>
              <a:rPr lang="en-US" altLang="zh-CN" sz="3400" b="0" baseline="30000">
                <a:latin typeface="Arial" panose="020B0604020202020204" pitchFamily="34" charset="0"/>
                <a:ea typeface="微软雅黑" panose="020B0503020204020204" charset="-122"/>
              </a:rPr>
              <a:t>+</a:t>
            </a:r>
            <a:r>
              <a:rPr lang="en-US" altLang="zh-CN" sz="3400" b="0">
                <a:latin typeface="Arial" panose="020B0604020202020204" pitchFamily="34" charset="0"/>
                <a:ea typeface="微软雅黑" panose="020B0503020204020204" charset="-122"/>
              </a:rPr>
              <a:t>  + 2e</a:t>
            </a:r>
            <a:r>
              <a:rPr lang="zh-CN" altLang="en-US" sz="3400" b="0" baseline="30000">
                <a:latin typeface="Arial" panose="020B0604020202020204" pitchFamily="34" charset="0"/>
                <a:ea typeface="微软雅黑" panose="020B0503020204020204" charset="-122"/>
              </a:rPr>
              <a:t>－</a:t>
            </a:r>
            <a:r>
              <a:rPr lang="en-US" altLang="zh-CN" sz="3400" b="0">
                <a:latin typeface="Arial" panose="020B0604020202020204" pitchFamily="34" charset="0"/>
                <a:ea typeface="微软雅黑" panose="020B0503020204020204" charset="-122"/>
                <a:sym typeface="Symbol" panose="05050102010706020507" pitchFamily="18" charset="2"/>
              </a:rPr>
              <a:t></a:t>
            </a:r>
            <a:r>
              <a:rPr lang="en-US" altLang="zh-CN" sz="3400" b="0">
                <a:latin typeface="Arial" panose="020B0604020202020204" pitchFamily="34" charset="0"/>
                <a:ea typeface="微软雅黑" panose="020B0503020204020204" charset="-122"/>
              </a:rPr>
              <a:t> H</a:t>
            </a:r>
            <a:r>
              <a:rPr lang="en-US" altLang="zh-CN" sz="3400" b="0" baseline="-25000">
                <a:latin typeface="Arial" panose="020B0604020202020204" pitchFamily="34" charset="0"/>
                <a:ea typeface="微软雅黑" panose="020B0503020204020204" charset="-122"/>
              </a:rPr>
              <a:t>2</a:t>
            </a:r>
            <a:r>
              <a:rPr lang="en-US" altLang="zh-CN" sz="3400" b="0">
                <a:latin typeface="Arial" panose="020B0604020202020204" pitchFamily="34" charset="0"/>
                <a:ea typeface="微软雅黑" panose="020B0503020204020204" charset="-122"/>
              </a:rPr>
              <a:t>(g)</a:t>
            </a:r>
            <a:endParaRPr lang="en-US" altLang="zh-CN" sz="3400" b="0">
              <a:latin typeface="Arial" panose="020B0604020202020204" pitchFamily="34" charset="0"/>
              <a:ea typeface="微软雅黑" panose="020B0503020204020204" charset="-122"/>
            </a:endParaRPr>
          </a:p>
          <a:p>
            <a:pPr>
              <a:lnSpc>
                <a:spcPct val="80000"/>
              </a:lnSpc>
              <a:spcBef>
                <a:spcPct val="50000"/>
              </a:spcBef>
            </a:pPr>
            <a:r>
              <a:rPr lang="zh-CN" altLang="en-US" sz="3400" b="0">
                <a:latin typeface="Arial" panose="020B0604020202020204" pitchFamily="34" charset="0"/>
                <a:ea typeface="微软雅黑" panose="020B0503020204020204" charset="-122"/>
              </a:rPr>
              <a:t>阳极</a:t>
            </a:r>
            <a:r>
              <a:rPr lang="en-US" altLang="zh-CN" sz="3400" b="0">
                <a:latin typeface="Arial" panose="020B0604020202020204" pitchFamily="34" charset="0"/>
                <a:ea typeface="微软雅黑" panose="020B0503020204020204" charset="-122"/>
              </a:rPr>
              <a:t>(</a:t>
            </a:r>
            <a:r>
              <a:rPr lang="zh-CN" altLang="en-US" sz="3400" b="0">
                <a:latin typeface="Arial" panose="020B0604020202020204" pitchFamily="34" charset="0"/>
                <a:ea typeface="微软雅黑" panose="020B0503020204020204" charset="-122"/>
              </a:rPr>
              <a:t>正极</a:t>
            </a:r>
            <a:r>
              <a:rPr lang="en-US" altLang="zh-CN" sz="3400" b="0">
                <a:latin typeface="Arial" panose="020B0604020202020204" pitchFamily="34" charset="0"/>
                <a:ea typeface="微软雅黑" panose="020B0503020204020204" charset="-122"/>
              </a:rPr>
              <a:t>): 2Cl</a:t>
            </a:r>
            <a:r>
              <a:rPr lang="zh-CN" altLang="en-US" sz="3400" b="0" baseline="30000">
                <a:latin typeface="Arial" panose="020B0604020202020204" pitchFamily="34" charset="0"/>
                <a:ea typeface="微软雅黑" panose="020B0503020204020204" charset="-122"/>
              </a:rPr>
              <a:t>－</a:t>
            </a:r>
            <a:r>
              <a:rPr lang="zh-CN" altLang="en-US" sz="3400" b="0">
                <a:latin typeface="Arial" panose="020B0604020202020204" pitchFamily="34" charset="0"/>
                <a:ea typeface="微软雅黑" panose="020B0503020204020204" charset="-122"/>
              </a:rPr>
              <a:t> </a:t>
            </a:r>
            <a:r>
              <a:rPr lang="en-US" altLang="zh-CN" sz="3400" b="0">
                <a:latin typeface="Arial" panose="020B0604020202020204" pitchFamily="34" charset="0"/>
                <a:ea typeface="微软雅黑" panose="020B0503020204020204" charset="-122"/>
              </a:rPr>
              <a:t>+ 2e</a:t>
            </a:r>
            <a:r>
              <a:rPr lang="zh-CN" altLang="en-US" sz="3400" b="0" baseline="30000">
                <a:latin typeface="Arial" panose="020B0604020202020204" pitchFamily="34" charset="0"/>
                <a:ea typeface="微软雅黑" panose="020B0503020204020204" charset="-122"/>
              </a:rPr>
              <a:t>－</a:t>
            </a:r>
            <a:r>
              <a:rPr lang="zh-CN" altLang="en-US" sz="3400" b="0">
                <a:latin typeface="Arial" panose="020B0604020202020204" pitchFamily="34" charset="0"/>
                <a:ea typeface="微软雅黑" panose="020B0503020204020204" charset="-122"/>
              </a:rPr>
              <a:t> </a:t>
            </a:r>
            <a:r>
              <a:rPr lang="en-US" altLang="zh-CN" sz="3400" b="0">
                <a:latin typeface="Arial" panose="020B0604020202020204" pitchFamily="34" charset="0"/>
                <a:ea typeface="微软雅黑" panose="020B0503020204020204" charset="-122"/>
                <a:sym typeface="Symbol" panose="05050102010706020507" pitchFamily="18" charset="2"/>
              </a:rPr>
              <a:t></a:t>
            </a:r>
            <a:r>
              <a:rPr lang="en-US" altLang="zh-CN" sz="3400" b="0">
                <a:latin typeface="Arial" panose="020B0604020202020204" pitchFamily="34" charset="0"/>
                <a:ea typeface="微软雅黑" panose="020B0503020204020204" charset="-122"/>
              </a:rPr>
              <a:t> Cl</a:t>
            </a:r>
            <a:r>
              <a:rPr lang="en-US" altLang="zh-CN" sz="3400" b="0" baseline="-25000">
                <a:latin typeface="Arial" panose="020B0604020202020204" pitchFamily="34" charset="0"/>
                <a:ea typeface="微软雅黑" panose="020B0503020204020204" charset="-122"/>
              </a:rPr>
              <a:t>2</a:t>
            </a:r>
            <a:r>
              <a:rPr lang="en-US" altLang="zh-CN" sz="3400" b="0">
                <a:latin typeface="Arial" panose="020B0604020202020204" pitchFamily="34" charset="0"/>
                <a:ea typeface="微软雅黑" panose="020B0503020204020204" charset="-122"/>
              </a:rPr>
              <a:t>(g)</a:t>
            </a:r>
            <a:endParaRPr lang="en-US" altLang="zh-CN" sz="3400" b="0">
              <a:latin typeface="Arial" panose="020B0604020202020204" pitchFamily="34" charset="0"/>
              <a:ea typeface="微软雅黑" panose="020B0503020204020204" charset="-122"/>
            </a:endParaRPr>
          </a:p>
          <a:p>
            <a:pPr>
              <a:lnSpc>
                <a:spcPct val="80000"/>
              </a:lnSpc>
              <a:spcBef>
                <a:spcPct val="50000"/>
              </a:spcBef>
            </a:pPr>
            <a:r>
              <a:rPr lang="zh-CN" altLang="en-US" sz="3400" b="0">
                <a:latin typeface="Arial" panose="020B0604020202020204" pitchFamily="34" charset="0"/>
                <a:ea typeface="微软雅黑" panose="020B0503020204020204" charset="-122"/>
              </a:rPr>
              <a:t>电解反应</a:t>
            </a:r>
            <a:r>
              <a:rPr lang="en-US" altLang="zh-CN" sz="3400" b="0">
                <a:latin typeface="Arial" panose="020B0604020202020204" pitchFamily="34" charset="0"/>
                <a:ea typeface="微软雅黑" panose="020B0503020204020204" charset="-122"/>
              </a:rPr>
              <a:t>: 2H</a:t>
            </a:r>
            <a:r>
              <a:rPr lang="en-US" altLang="zh-CN" sz="3400" b="0" baseline="30000">
                <a:latin typeface="Arial" panose="020B0604020202020204" pitchFamily="34" charset="0"/>
                <a:ea typeface="微软雅黑" panose="020B0503020204020204" charset="-122"/>
              </a:rPr>
              <a:t>+</a:t>
            </a:r>
            <a:r>
              <a:rPr lang="en-US" altLang="zh-CN" sz="3400" b="0">
                <a:latin typeface="Arial" panose="020B0604020202020204" pitchFamily="34" charset="0"/>
                <a:ea typeface="微软雅黑" panose="020B0503020204020204" charset="-122"/>
              </a:rPr>
              <a:t>  + 2Cl</a:t>
            </a:r>
            <a:r>
              <a:rPr lang="zh-CN" altLang="en-US" sz="3400" b="0" baseline="30000">
                <a:latin typeface="Arial" panose="020B0604020202020204" pitchFamily="34" charset="0"/>
                <a:ea typeface="微软雅黑" panose="020B0503020204020204" charset="-122"/>
              </a:rPr>
              <a:t>－</a:t>
            </a:r>
            <a:r>
              <a:rPr lang="zh-CN" altLang="en-US" sz="3400" b="0">
                <a:latin typeface="Arial" panose="020B0604020202020204" pitchFamily="34" charset="0"/>
                <a:ea typeface="微软雅黑" panose="020B0503020204020204" charset="-122"/>
              </a:rPr>
              <a:t> </a:t>
            </a:r>
            <a:r>
              <a:rPr lang="en-US" altLang="zh-CN" sz="3400" b="0">
                <a:latin typeface="Arial" panose="020B0604020202020204" pitchFamily="34" charset="0"/>
                <a:ea typeface="微软雅黑" panose="020B0503020204020204" charset="-122"/>
                <a:sym typeface="Symbol" panose="05050102010706020507" pitchFamily="18" charset="2"/>
              </a:rPr>
              <a:t></a:t>
            </a:r>
            <a:r>
              <a:rPr lang="en-US" altLang="zh-CN" sz="3400" b="0">
                <a:latin typeface="Arial" panose="020B0604020202020204" pitchFamily="34" charset="0"/>
                <a:ea typeface="微软雅黑" panose="020B0503020204020204" charset="-122"/>
              </a:rPr>
              <a:t> H</a:t>
            </a:r>
            <a:r>
              <a:rPr lang="en-US" altLang="zh-CN" sz="3400" b="0" baseline="-25000">
                <a:latin typeface="Arial" panose="020B0604020202020204" pitchFamily="34" charset="0"/>
                <a:ea typeface="微软雅黑" panose="020B0503020204020204" charset="-122"/>
              </a:rPr>
              <a:t>2</a:t>
            </a:r>
            <a:r>
              <a:rPr lang="en-US" altLang="zh-CN" sz="3400" b="0">
                <a:latin typeface="Arial" panose="020B0604020202020204" pitchFamily="34" charset="0"/>
                <a:ea typeface="微软雅黑" panose="020B0503020204020204" charset="-122"/>
              </a:rPr>
              <a:t>(g)</a:t>
            </a:r>
            <a:r>
              <a:rPr lang="zh-CN" altLang="en-US" sz="3400" b="0">
                <a:latin typeface="Arial" panose="020B0604020202020204" pitchFamily="34" charset="0"/>
                <a:ea typeface="微软雅黑" panose="020B0503020204020204" charset="-122"/>
              </a:rPr>
              <a:t>＋</a:t>
            </a:r>
            <a:r>
              <a:rPr lang="en-US" altLang="zh-CN" sz="3400" b="0">
                <a:latin typeface="Arial" panose="020B0604020202020204" pitchFamily="34" charset="0"/>
                <a:ea typeface="微软雅黑" panose="020B0503020204020204" charset="-122"/>
              </a:rPr>
              <a:t>Cl</a:t>
            </a:r>
            <a:r>
              <a:rPr lang="en-US" altLang="zh-CN" sz="3400" b="0" baseline="-25000">
                <a:latin typeface="Arial" panose="020B0604020202020204" pitchFamily="34" charset="0"/>
                <a:ea typeface="微软雅黑" panose="020B0503020204020204" charset="-122"/>
              </a:rPr>
              <a:t>2</a:t>
            </a:r>
            <a:r>
              <a:rPr lang="en-US" altLang="zh-CN" sz="3400" b="0">
                <a:latin typeface="Arial" panose="020B0604020202020204" pitchFamily="34" charset="0"/>
                <a:ea typeface="微软雅黑" panose="020B0503020204020204" charset="-122"/>
              </a:rPr>
              <a:t>(g)</a:t>
            </a:r>
            <a:endParaRPr lang="en-US" altLang="zh-CN" sz="3400" b="0">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ipe(left)">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wipe(left)">
                                      <p:cBhvr>
                                        <p:cTn id="12" dur="500"/>
                                        <p:tgtEl>
                                          <p:spTgt spid="1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4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266" name="组合 11265"/>
          <p:cNvGrpSpPr/>
          <p:nvPr/>
        </p:nvGrpSpPr>
        <p:grpSpPr>
          <a:xfrm>
            <a:off x="0" y="1460543"/>
            <a:ext cx="8763000" cy="2653957"/>
            <a:chOff x="0" y="12"/>
            <a:chExt cx="3840" cy="1078"/>
          </a:xfrm>
        </p:grpSpPr>
        <p:sp>
          <p:nvSpPr>
            <p:cNvPr id="2" name="文本框 11266"/>
            <p:cNvSpPr txBox="1"/>
            <p:nvPr/>
          </p:nvSpPr>
          <p:spPr>
            <a:xfrm>
              <a:off x="0" y="12"/>
              <a:ext cx="3840" cy="526"/>
            </a:xfrm>
            <a:prstGeom prst="rect">
              <a:avLst/>
            </a:prstGeom>
            <a:noFill/>
            <a:ln w="9525">
              <a:noFill/>
            </a:ln>
          </p:spPr>
          <p:txBody>
            <a:bodyPr anchor="ctr" anchorCtr="0">
              <a:spAutoFit/>
            </a:bodyPr>
            <a:p>
              <a:pPr>
                <a:spcBef>
                  <a:spcPct val="50000"/>
                </a:spcBef>
              </a:pPr>
              <a:r>
                <a:rPr lang="zh-CN" altLang="en-US" sz="3400" b="0">
                  <a:latin typeface="Arial" panose="020B0604020202020204" pitchFamily="34" charset="0"/>
                  <a:ea typeface="微软雅黑" panose="020B0503020204020204" charset="-122"/>
                </a:rPr>
                <a:t>电解时构成电池</a:t>
              </a:r>
              <a:r>
                <a:rPr lang="en-US" altLang="zh-CN" sz="3400" b="0">
                  <a:latin typeface="Arial" panose="020B0604020202020204" pitchFamily="34" charset="0"/>
                  <a:ea typeface="微软雅黑" panose="020B0503020204020204" charset="-122"/>
                </a:rPr>
                <a:t>: Pt | H</a:t>
              </a:r>
              <a:r>
                <a:rPr lang="en-US" altLang="zh-CN" sz="3400" b="0" baseline="-25000">
                  <a:latin typeface="Arial" panose="020B0604020202020204" pitchFamily="34" charset="0"/>
                  <a:ea typeface="微软雅黑" panose="020B0503020204020204" charset="-122"/>
                </a:rPr>
                <a:t>2 </a:t>
              </a:r>
              <a:r>
                <a:rPr lang="en-US" altLang="zh-CN" sz="3400" b="0">
                  <a:latin typeface="Arial" panose="020B0604020202020204" pitchFamily="34" charset="0"/>
                  <a:ea typeface="微软雅黑" panose="020B0503020204020204" charset="-122"/>
                </a:rPr>
                <a:t>| HCl(b) | Cl</a:t>
              </a:r>
              <a:r>
                <a:rPr lang="en-US" altLang="zh-CN" sz="3400" b="0" baseline="-25000">
                  <a:latin typeface="Arial" panose="020B0604020202020204" pitchFamily="34" charset="0"/>
                  <a:ea typeface="微软雅黑" panose="020B0503020204020204" charset="-122"/>
                </a:rPr>
                <a:t>2 </a:t>
              </a:r>
              <a:r>
                <a:rPr lang="en-US" altLang="zh-CN" sz="3400" b="0">
                  <a:latin typeface="Arial" panose="020B0604020202020204" pitchFamily="34" charset="0"/>
                  <a:ea typeface="微软雅黑" panose="020B0503020204020204" charset="-122"/>
                </a:rPr>
                <a:t>| Pt</a:t>
              </a:r>
              <a:endParaRPr lang="en-US" altLang="zh-CN" sz="3400" b="0">
                <a:latin typeface="Arial" panose="020B0604020202020204" pitchFamily="34" charset="0"/>
                <a:ea typeface="微软雅黑" panose="020B0503020204020204" charset="-122"/>
              </a:endParaRPr>
            </a:p>
            <a:p>
              <a:pPr>
                <a:spcBef>
                  <a:spcPct val="30000"/>
                </a:spcBef>
              </a:pPr>
              <a:r>
                <a:rPr lang="zh-CN" altLang="en-US" sz="3400" b="0">
                  <a:latin typeface="Arial" panose="020B0604020202020204" pitchFamily="34" charset="0"/>
                  <a:ea typeface="微软雅黑" panose="020B0503020204020204" charset="-122"/>
                </a:rPr>
                <a:t>该电池的电动势 </a:t>
              </a:r>
              <a:r>
                <a:rPr lang="en-US" altLang="zh-CN" sz="3400" b="0" i="1">
                  <a:solidFill>
                    <a:srgbClr val="FF3300"/>
                  </a:solidFill>
                  <a:latin typeface="Arial" panose="020B0604020202020204" pitchFamily="34" charset="0"/>
                  <a:ea typeface="微软雅黑" panose="020B0503020204020204" charset="-122"/>
                </a:rPr>
                <a:t>E</a:t>
              </a:r>
              <a:r>
                <a:rPr lang="en-US" altLang="zh-CN" sz="3400" b="0" i="1">
                  <a:latin typeface="Arial" panose="020B0604020202020204" pitchFamily="34" charset="0"/>
                  <a:ea typeface="微软雅黑" panose="020B0503020204020204" charset="-122"/>
                </a:rPr>
                <a:t> </a:t>
              </a:r>
              <a:r>
                <a:rPr lang="zh-CN" altLang="en-US" sz="3400" b="0">
                  <a:latin typeface="Arial" panose="020B0604020202020204" pitchFamily="34" charset="0"/>
                  <a:ea typeface="微软雅黑" panose="020B0503020204020204" charset="-122"/>
                </a:rPr>
                <a:t>与外加电压方向相反</a:t>
              </a:r>
              <a:r>
                <a:rPr lang="en-US" altLang="zh-CN" sz="3400" b="0">
                  <a:latin typeface="Arial" panose="020B0604020202020204" pitchFamily="34" charset="0"/>
                  <a:ea typeface="微软雅黑" panose="020B0503020204020204" charset="-122"/>
                </a:rPr>
                <a:t>.</a:t>
              </a:r>
              <a:endParaRPr lang="en-US" altLang="zh-CN" sz="3400" b="0">
                <a:latin typeface="Arial" panose="020B0604020202020204" pitchFamily="34" charset="0"/>
                <a:ea typeface="微软雅黑" panose="020B0503020204020204" charset="-122"/>
              </a:endParaRPr>
            </a:p>
          </p:txBody>
        </p:sp>
        <p:graphicFrame>
          <p:nvGraphicFramePr>
            <p:cNvPr id="11267" name="对象 11267"/>
            <p:cNvGraphicFramePr>
              <a:graphicFrameLocks noChangeAspect="1"/>
            </p:cNvGraphicFramePr>
            <p:nvPr/>
          </p:nvGraphicFramePr>
          <p:xfrm>
            <a:off x="624" y="557"/>
            <a:ext cx="3216" cy="533"/>
          </p:xfrm>
          <a:graphic>
            <a:graphicData uri="http://schemas.openxmlformats.org/presentationml/2006/ole">
              <mc:AlternateContent xmlns:mc="http://schemas.openxmlformats.org/markup-compatibility/2006">
                <mc:Choice xmlns:v="urn:schemas-microsoft-com:vml" Requires="v">
                  <p:oleObj spid="_x0000_s3076" name="" r:id="rId1" imgW="3670300" imgH="609600" progId="Equation.3">
                    <p:embed/>
                  </p:oleObj>
                </mc:Choice>
                <mc:Fallback>
                  <p:oleObj name="" r:id="rId1" imgW="3670300" imgH="609600" progId="Equation.3">
                    <p:embed/>
                    <p:pic>
                      <p:nvPicPr>
                        <p:cNvPr id="0" name="图片 3075"/>
                        <p:cNvPicPr/>
                        <p:nvPr/>
                      </p:nvPicPr>
                      <p:blipFill>
                        <a:blip r:embed="rId2"/>
                        <a:stretch>
                          <a:fillRect/>
                        </a:stretch>
                      </p:blipFill>
                      <p:spPr>
                        <a:xfrm>
                          <a:off x="624" y="557"/>
                          <a:ext cx="3216" cy="533"/>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0-#ppt_w/2"/>
                                          </p:val>
                                        </p:tav>
                                        <p:tav tm="100000">
                                          <p:val>
                                            <p:strVal val="#ppt_x"/>
                                          </p:val>
                                        </p:tav>
                                      </p:tavLst>
                                    </p:anim>
                                    <p:anim calcmode="lin" valueType="num">
                                      <p:cBhvr additive="base">
                                        <p:cTn id="8" dur="500" fill="hold"/>
                                        <p:tgtEl>
                                          <p:spTgt spid="112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文本框 12289"/>
          <p:cNvSpPr txBox="1"/>
          <p:nvPr/>
        </p:nvSpPr>
        <p:spPr>
          <a:xfrm>
            <a:off x="228000" y="880926"/>
            <a:ext cx="8611500" cy="4692650"/>
          </a:xfrm>
          <a:prstGeom prst="rect">
            <a:avLst/>
          </a:prstGeom>
          <a:noFill/>
          <a:ln w="9525">
            <a:noFill/>
          </a:ln>
        </p:spPr>
        <p:txBody>
          <a:bodyPr anchor="ctr" anchorCtr="0">
            <a:spAutoFit/>
          </a:bodyPr>
          <a:p>
            <a:pPr indent="476250">
              <a:lnSpc>
                <a:spcPct val="110000"/>
              </a:lnSpc>
            </a:pPr>
            <a:r>
              <a:rPr lang="zh-CN" altLang="en-US" sz="3400" b="0">
                <a:latin typeface="Arial" panose="020B0604020202020204" pitchFamily="34" charset="0"/>
                <a:ea typeface="微软雅黑" panose="020B0503020204020204" charset="-122"/>
              </a:rPr>
              <a:t>该电动势随外电压的增大而同步升高</a:t>
            </a:r>
            <a:r>
              <a:rPr lang="en-US" altLang="zh-CN" sz="3400" b="0">
                <a:latin typeface="Arial" panose="020B0604020202020204" pitchFamily="34" charset="0"/>
                <a:ea typeface="微软雅黑" panose="020B0503020204020204" charset="-122"/>
              </a:rPr>
              <a:t>. </a:t>
            </a:r>
            <a:r>
              <a:rPr lang="zh-CN" altLang="en-US" sz="3400" b="0">
                <a:latin typeface="Arial" panose="020B0604020202020204" pitchFamily="34" charset="0"/>
                <a:ea typeface="微软雅黑" panose="020B0503020204020204" charset="-122"/>
              </a:rPr>
              <a:t>因</a:t>
            </a:r>
            <a:r>
              <a:rPr lang="en-US" altLang="zh-CN" sz="3400" b="0">
                <a:latin typeface="Arial" panose="020B0604020202020204" pitchFamily="34" charset="0"/>
                <a:ea typeface="微软雅黑" panose="020B0503020204020204" charset="-122"/>
              </a:rPr>
              <a:t>H</a:t>
            </a:r>
            <a:r>
              <a:rPr lang="en-US" altLang="zh-CN" sz="3400" b="0" baseline="-25000">
                <a:latin typeface="Arial" panose="020B0604020202020204" pitchFamily="34" charset="0"/>
                <a:ea typeface="微软雅黑" panose="020B0503020204020204" charset="-122"/>
              </a:rPr>
              <a:t>2</a:t>
            </a:r>
            <a:r>
              <a:rPr lang="zh-CN" altLang="en-US" sz="3400" b="0">
                <a:latin typeface="Arial" panose="020B0604020202020204" pitchFamily="34" charset="0"/>
                <a:ea typeface="微软雅黑" panose="020B0503020204020204" charset="-122"/>
              </a:rPr>
              <a:t>和</a:t>
            </a:r>
            <a:r>
              <a:rPr lang="en-US" altLang="zh-CN" sz="3400" b="0">
                <a:latin typeface="Arial" panose="020B0604020202020204" pitchFamily="34" charset="0"/>
                <a:ea typeface="微软雅黑" panose="020B0503020204020204" charset="-122"/>
              </a:rPr>
              <a:t>Cl</a:t>
            </a:r>
            <a:r>
              <a:rPr lang="en-US" altLang="zh-CN" sz="3400" b="0" baseline="-25000">
                <a:latin typeface="Arial" panose="020B0604020202020204" pitchFamily="34" charset="0"/>
                <a:ea typeface="微软雅黑" panose="020B0503020204020204" charset="-122"/>
              </a:rPr>
              <a:t>2</a:t>
            </a:r>
            <a:r>
              <a:rPr lang="zh-CN" altLang="en-US" sz="3400" b="0">
                <a:latin typeface="Arial" panose="020B0604020202020204" pitchFamily="34" charset="0"/>
                <a:ea typeface="微软雅黑" panose="020B0503020204020204" charset="-122"/>
              </a:rPr>
              <a:t>从电极上缓慢向 外扩散</a:t>
            </a:r>
            <a:r>
              <a:rPr lang="en-US" altLang="zh-CN" sz="3400" b="0">
                <a:latin typeface="Arial" panose="020B0604020202020204" pitchFamily="34" charset="0"/>
                <a:ea typeface="微软雅黑" panose="020B0503020204020204" charset="-122"/>
              </a:rPr>
              <a:t>, </a:t>
            </a:r>
            <a:r>
              <a:rPr lang="zh-CN" altLang="en-US" sz="3400" b="0">
                <a:latin typeface="Arial" panose="020B0604020202020204" pitchFamily="34" charset="0"/>
                <a:ea typeface="微软雅黑" panose="020B0503020204020204" charset="-122"/>
              </a:rPr>
              <a:t>使 </a:t>
            </a:r>
            <a:r>
              <a:rPr lang="en-US" altLang="zh-CN" sz="3400" b="0" i="1">
                <a:solidFill>
                  <a:srgbClr val="FF3300"/>
                </a:solidFill>
                <a:latin typeface="Arial" panose="020B0604020202020204" pitchFamily="34" charset="0"/>
                <a:ea typeface="微软雅黑" panose="020B0503020204020204" charset="-122"/>
              </a:rPr>
              <a:t>E</a:t>
            </a:r>
            <a:r>
              <a:rPr lang="en-US" altLang="zh-CN" sz="3400" b="0" i="1">
                <a:solidFill>
                  <a:srgbClr val="3333FF"/>
                </a:solidFill>
                <a:latin typeface="Arial" panose="020B0604020202020204" pitchFamily="34" charset="0"/>
                <a:ea typeface="微软雅黑" panose="020B0503020204020204" charset="-122"/>
              </a:rPr>
              <a:t> </a:t>
            </a:r>
            <a:r>
              <a:rPr lang="zh-CN" altLang="en-US" sz="3400" b="0">
                <a:latin typeface="Arial" panose="020B0604020202020204" pitchFamily="34" charset="0"/>
                <a:ea typeface="微软雅黑" panose="020B0503020204020204" charset="-122"/>
              </a:rPr>
              <a:t>总略小于外加电压</a:t>
            </a:r>
            <a:r>
              <a:rPr lang="en-US" altLang="zh-CN" sz="3400" b="0">
                <a:latin typeface="Arial" panose="020B0604020202020204" pitchFamily="34" charset="0"/>
                <a:ea typeface="微软雅黑" panose="020B0503020204020204" charset="-122"/>
              </a:rPr>
              <a:t>, </a:t>
            </a:r>
            <a:r>
              <a:rPr lang="zh-CN" altLang="en-US" sz="3400" b="0">
                <a:latin typeface="Arial" panose="020B0604020202020204" pitchFamily="34" charset="0"/>
                <a:ea typeface="微软雅黑" panose="020B0503020204020204" charset="-122"/>
              </a:rPr>
              <a:t>从而有微小电流持续通过</a:t>
            </a:r>
            <a:r>
              <a:rPr lang="en-US" altLang="zh-CN" sz="3400" b="0">
                <a:latin typeface="Arial" panose="020B0604020202020204" pitchFamily="34" charset="0"/>
                <a:ea typeface="微软雅黑" panose="020B0503020204020204" charset="-122"/>
              </a:rPr>
              <a:t>. </a:t>
            </a:r>
            <a:endParaRPr lang="en-US" altLang="zh-CN" sz="3400" b="0">
              <a:latin typeface="Arial" panose="020B0604020202020204" pitchFamily="34" charset="0"/>
              <a:ea typeface="微软雅黑" panose="020B0503020204020204" charset="-122"/>
            </a:endParaRPr>
          </a:p>
          <a:p>
            <a:pPr indent="476250">
              <a:lnSpc>
                <a:spcPct val="110000"/>
              </a:lnSpc>
            </a:pPr>
            <a:r>
              <a:rPr lang="zh-CN" altLang="en-US" sz="3400" b="0">
                <a:latin typeface="Arial" panose="020B0604020202020204" pitchFamily="34" charset="0"/>
                <a:ea typeface="微软雅黑" panose="020B0503020204020204" charset="-122"/>
              </a:rPr>
              <a:t>当</a:t>
            </a:r>
            <a:r>
              <a:rPr lang="en-US" altLang="zh-CN" sz="3400" b="0">
                <a:latin typeface="Arial" panose="020B0604020202020204" pitchFamily="34" charset="0"/>
                <a:ea typeface="微软雅黑" panose="020B0503020204020204" charset="-122"/>
              </a:rPr>
              <a:t>H</a:t>
            </a:r>
            <a:r>
              <a:rPr lang="en-US" altLang="zh-CN" sz="3400" b="0" baseline="-25000">
                <a:latin typeface="Arial" panose="020B0604020202020204" pitchFamily="34" charset="0"/>
                <a:ea typeface="微软雅黑" panose="020B0503020204020204" charset="-122"/>
              </a:rPr>
              <a:t>2</a:t>
            </a:r>
            <a:r>
              <a:rPr lang="zh-CN" altLang="en-US" sz="3400" b="0">
                <a:latin typeface="Arial" panose="020B0604020202020204" pitchFamily="34" charset="0"/>
                <a:ea typeface="微软雅黑" panose="020B0503020204020204" charset="-122"/>
              </a:rPr>
              <a:t>和</a:t>
            </a:r>
            <a:r>
              <a:rPr lang="en-US" altLang="zh-CN" sz="3400" b="0">
                <a:latin typeface="Arial" panose="020B0604020202020204" pitchFamily="34" charset="0"/>
                <a:ea typeface="微软雅黑" panose="020B0503020204020204" charset="-122"/>
              </a:rPr>
              <a:t>Cl</a:t>
            </a:r>
            <a:r>
              <a:rPr lang="en-US" altLang="zh-CN" sz="3400" b="0" baseline="-25000">
                <a:latin typeface="Arial" panose="020B0604020202020204" pitchFamily="34" charset="0"/>
                <a:ea typeface="微软雅黑" panose="020B0503020204020204" charset="-122"/>
              </a:rPr>
              <a:t>2</a:t>
            </a:r>
            <a:r>
              <a:rPr lang="zh-CN" altLang="en-US" sz="3400" b="0">
                <a:latin typeface="Arial" panose="020B0604020202020204" pitchFamily="34" charset="0"/>
                <a:ea typeface="微软雅黑" panose="020B0503020204020204" charset="-122"/>
              </a:rPr>
              <a:t>达到饱和而析出时</a:t>
            </a:r>
            <a:r>
              <a:rPr lang="en-US" altLang="zh-CN" sz="3400" b="0">
                <a:latin typeface="Arial" panose="020B0604020202020204" pitchFamily="34" charset="0"/>
                <a:ea typeface="微软雅黑" panose="020B0503020204020204" charset="-122"/>
              </a:rPr>
              <a:t>, </a:t>
            </a:r>
            <a:r>
              <a:rPr lang="en-US" altLang="zh-CN" sz="3400" b="0" i="1">
                <a:solidFill>
                  <a:srgbClr val="FF3300"/>
                </a:solidFill>
                <a:latin typeface="Arial" panose="020B0604020202020204" pitchFamily="34" charset="0"/>
                <a:ea typeface="微软雅黑" panose="020B0503020204020204" charset="-122"/>
              </a:rPr>
              <a:t>E  </a:t>
            </a:r>
            <a:r>
              <a:rPr lang="zh-CN" altLang="en-US" sz="3400" b="0">
                <a:latin typeface="Arial" panose="020B0604020202020204" pitchFamily="34" charset="0"/>
                <a:ea typeface="微软雅黑" panose="020B0503020204020204" charset="-122"/>
              </a:rPr>
              <a:t>达到最大值</a:t>
            </a:r>
            <a:r>
              <a:rPr lang="en-US" altLang="zh-CN" sz="3400" b="0">
                <a:latin typeface="Arial" panose="020B0604020202020204" pitchFamily="34" charset="0"/>
                <a:ea typeface="微软雅黑" panose="020B0503020204020204" charset="-122"/>
              </a:rPr>
              <a:t>, </a:t>
            </a:r>
            <a:r>
              <a:rPr lang="zh-CN" altLang="en-US" sz="3400" b="0">
                <a:latin typeface="Arial" panose="020B0604020202020204" pitchFamily="34" charset="0"/>
                <a:ea typeface="微软雅黑" panose="020B0503020204020204" charset="-122"/>
              </a:rPr>
              <a:t>该值为</a:t>
            </a:r>
            <a:r>
              <a:rPr lang="zh-CN" altLang="en-US" sz="3400" b="0" u="sng">
                <a:solidFill>
                  <a:srgbClr val="3333FF"/>
                </a:solidFill>
                <a:latin typeface="Arial" panose="020B0604020202020204" pitchFamily="34" charset="0"/>
                <a:ea typeface="微软雅黑" panose="020B0503020204020204" charset="-122"/>
              </a:rPr>
              <a:t>分解电压的理论值</a:t>
            </a:r>
            <a:r>
              <a:rPr lang="en-US" altLang="zh-CN" sz="3400" b="0">
                <a:latin typeface="Arial" panose="020B0604020202020204" pitchFamily="34" charset="0"/>
                <a:ea typeface="微软雅黑" panose="020B0503020204020204" charset="-122"/>
              </a:rPr>
              <a:t>. </a:t>
            </a:r>
            <a:r>
              <a:rPr lang="zh-CN" altLang="en-US" sz="3400" b="0">
                <a:latin typeface="Arial" panose="020B0604020202020204" pitchFamily="34" charset="0"/>
                <a:ea typeface="微软雅黑" panose="020B0503020204020204" charset="-122"/>
              </a:rPr>
              <a:t>此后电解电流随外压增大而快速上升。</a:t>
            </a:r>
            <a:endParaRPr lang="zh-CN" altLang="en-US" sz="3400" b="0">
              <a:latin typeface="Arial" panose="020B0604020202020204" pitchFamily="34" charset="0"/>
              <a:ea typeface="微软雅黑" panose="020B0503020204020204" charset="-122"/>
            </a:endParaRPr>
          </a:p>
          <a:p>
            <a:pPr indent="476250">
              <a:lnSpc>
                <a:spcPct val="110000"/>
              </a:lnSpc>
            </a:pPr>
            <a:r>
              <a:rPr lang="zh-CN" altLang="en-US" sz="3400">
                <a:latin typeface="Arial" panose="020B0604020202020204" pitchFamily="34" charset="0"/>
                <a:ea typeface="微软雅黑" panose="020B0503020204020204" charset="-122"/>
              </a:rPr>
              <a:t>当外加电压等于分解电压时</a:t>
            </a:r>
            <a:r>
              <a:rPr lang="en-US" altLang="zh-CN" sz="3400">
                <a:latin typeface="Arial" panose="020B0604020202020204" pitchFamily="34" charset="0"/>
                <a:ea typeface="微软雅黑" panose="020B0503020204020204" charset="-122"/>
              </a:rPr>
              <a:t>, </a:t>
            </a:r>
            <a:r>
              <a:rPr lang="zh-CN" altLang="en-US" sz="3400">
                <a:latin typeface="Arial" panose="020B0604020202020204" pitchFamily="34" charset="0"/>
                <a:ea typeface="微软雅黑" panose="020B0503020204020204" charset="-122"/>
              </a:rPr>
              <a:t>两极上的电极电势</a:t>
            </a:r>
            <a:r>
              <a:rPr lang="zh-CN" altLang="en-US" sz="3400" b="0">
                <a:latin typeface="Arial" panose="020B0604020202020204" pitchFamily="34" charset="0"/>
                <a:ea typeface="微软雅黑" panose="020B0503020204020204" charset="-122"/>
              </a:rPr>
              <a:t>分别称为氢和氯的</a:t>
            </a:r>
            <a:r>
              <a:rPr lang="zh-CN" altLang="en-US" sz="3400" u="sng">
                <a:solidFill>
                  <a:srgbClr val="3333FF"/>
                </a:solidFill>
                <a:latin typeface="Arial" panose="020B0604020202020204" pitchFamily="34" charset="0"/>
                <a:ea typeface="微软雅黑" panose="020B0503020204020204" charset="-122"/>
              </a:rPr>
              <a:t>析出电势</a:t>
            </a:r>
            <a:r>
              <a:rPr lang="zh-CN" altLang="en-US" sz="3400" b="0">
                <a:latin typeface="Arial" panose="020B0604020202020204" pitchFamily="34" charset="0"/>
                <a:ea typeface="微软雅黑" panose="020B0503020204020204" charset="-122"/>
                <a:sym typeface="+mn-ea"/>
              </a:rPr>
              <a:t>。</a:t>
            </a:r>
            <a:endParaRPr lang="en-US" altLang="zh-CN" sz="3400" b="0">
              <a:latin typeface="Arial" panose="020B0604020202020204" pitchFamily="34" charset="0"/>
              <a:ea typeface="微软雅黑" panose="020B0503020204020204" charset="-122"/>
            </a:endParaRPr>
          </a:p>
        </p:txBody>
      </p:sp>
      <p:sp>
        <p:nvSpPr>
          <p:cNvPr id="2" name="文本框 12290"/>
          <p:cNvSpPr txBox="1"/>
          <p:nvPr/>
        </p:nvSpPr>
        <p:spPr>
          <a:xfrm>
            <a:off x="7181446" y="6172500"/>
            <a:ext cx="689610" cy="381635"/>
          </a:xfrm>
          <a:prstGeom prst="rect">
            <a:avLst/>
          </a:prstGeom>
          <a:noFill/>
          <a:ln w="9525">
            <a:noFill/>
          </a:ln>
        </p:spPr>
        <p:txBody>
          <a:bodyPr wrap="none" anchor="t" anchorCtr="0">
            <a:spAutoFit/>
          </a:bodyPr>
          <a:p>
            <a:pPr algn="ctr" eaLnBrk="0" hangingPunct="0">
              <a:spcBef>
                <a:spcPct val="50000"/>
              </a:spcBef>
            </a:pPr>
            <a:r>
              <a:rPr lang="zh-CN" altLang="en-US" sz="1890" b="0">
                <a:latin typeface="Arial" panose="020B0604020202020204" pitchFamily="34" charset="0"/>
                <a:ea typeface="微软雅黑" panose="020B0503020204020204" charset="-122"/>
                <a:hlinkClick r:id="rId1" action="ppaction://hlinkpres?slideindex=1&amp;slidetitle="/>
              </a:rPr>
              <a:t>例</a:t>
            </a:r>
            <a:r>
              <a:rPr lang="en-US" altLang="zh-CN" sz="1890" b="0">
                <a:latin typeface="Arial" panose="020B0604020202020204" pitchFamily="34" charset="0"/>
                <a:ea typeface="微软雅黑" panose="020B0503020204020204" charset="-122"/>
                <a:hlinkClick r:id="rId1" action="ppaction://hlinkpres?slideindex=1&amp;slidetitle="/>
              </a:rPr>
              <a:t>42</a:t>
            </a:r>
            <a:endParaRPr lang="en-US" altLang="zh-CN" sz="1890" b="0">
              <a:latin typeface="Arial" panose="020B0604020202020204" pitchFamily="34" charset="0"/>
              <a:ea typeface="微软雅黑" panose="020B0503020204020204" charset="-122"/>
              <a:hlinkClick r:id="rId1" action="ppaction://hlinkpres?slideindex=1&amp;slidetitl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left)">
                                      <p:cBhvr>
                                        <p:cTn id="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13313"/>
          <p:cNvSpPr>
            <a:spLocks noGrp="1"/>
          </p:cNvSpPr>
          <p:nvPr>
            <p:ph type="title"/>
          </p:nvPr>
        </p:nvSpPr>
        <p:spPr/>
        <p:txBody>
          <a:bodyPr anchor="ctr" anchorCtr="0"/>
          <a:p>
            <a:r>
              <a:rPr lang="zh-CN" altLang="en-US" sz="5100">
                <a:solidFill>
                  <a:srgbClr val="0000FF"/>
                </a:solidFill>
                <a:latin typeface="Arial" panose="020B0604020202020204" pitchFamily="34" charset="0"/>
                <a:ea typeface="微软雅黑" panose="020B0503020204020204" charset="-122"/>
              </a:rPr>
              <a:t>理论分解电压</a:t>
            </a:r>
            <a:endParaRPr lang="zh-CN" altLang="en-US" sz="5100">
              <a:solidFill>
                <a:srgbClr val="0000FF"/>
              </a:solidFill>
              <a:latin typeface="Arial" panose="020B0604020202020204" pitchFamily="34" charset="0"/>
              <a:ea typeface="微软雅黑" panose="020B0503020204020204" charset="-122"/>
            </a:endParaRPr>
          </a:p>
        </p:txBody>
      </p:sp>
      <p:sp>
        <p:nvSpPr>
          <p:cNvPr id="13314" name="文本框 13314"/>
          <p:cNvSpPr txBox="1"/>
          <p:nvPr/>
        </p:nvSpPr>
        <p:spPr>
          <a:xfrm>
            <a:off x="517500" y="1734000"/>
            <a:ext cx="8245500" cy="2200275"/>
          </a:xfrm>
          <a:prstGeom prst="rect">
            <a:avLst/>
          </a:prstGeom>
          <a:noFill/>
          <a:ln w="9525">
            <a:noFill/>
          </a:ln>
        </p:spPr>
        <p:txBody>
          <a:bodyPr tIns="0" bIns="0" anchor="t" anchorCtr="0">
            <a:spAutoFit/>
          </a:bodyPr>
          <a:p>
            <a:pPr eaLnBrk="0" hangingPunct="0">
              <a:lnSpc>
                <a:spcPct val="180000"/>
              </a:lnSpc>
            </a:pPr>
            <a:r>
              <a:rPr lang="zh-CN" altLang="en-US" sz="2645">
                <a:solidFill>
                  <a:srgbClr val="FF0000"/>
                </a:solidFill>
                <a:latin typeface="Arial" panose="020B0604020202020204" pitchFamily="34" charset="0"/>
                <a:ea typeface="微软雅黑" panose="020B0503020204020204" charset="-122"/>
              </a:rPr>
              <a:t>理论分解电压 </a:t>
            </a:r>
            <a:r>
              <a:rPr lang="zh-CN" altLang="en-US" sz="2645">
                <a:latin typeface="Arial" panose="020B0604020202020204" pitchFamily="34" charset="0"/>
                <a:ea typeface="微软雅黑" panose="020B0503020204020204" charset="-122"/>
              </a:rPr>
              <a:t>    使某电解质溶液能连续不断发生电解时所必须外加的最小电压，在数值上等于该电解池作为可逆电池时的可逆电动势</a:t>
            </a:r>
            <a:endParaRPr lang="zh-CN" altLang="en-US" sz="2645">
              <a:latin typeface="Arial" panose="020B0604020202020204" pitchFamily="34" charset="0"/>
              <a:ea typeface="微软雅黑" panose="020B0503020204020204" charset="-122"/>
            </a:endParaRPr>
          </a:p>
        </p:txBody>
      </p:sp>
      <p:graphicFrame>
        <p:nvGraphicFramePr>
          <p:cNvPr id="13315" name="对象 13315"/>
          <p:cNvGraphicFramePr>
            <a:graphicFrameLocks noChangeAspect="1"/>
          </p:cNvGraphicFramePr>
          <p:nvPr/>
        </p:nvGraphicFramePr>
        <p:xfrm>
          <a:off x="1828500" y="4495500"/>
          <a:ext cx="4783500" cy="652500"/>
        </p:xfrm>
        <a:graphic>
          <a:graphicData uri="http://schemas.openxmlformats.org/presentationml/2006/ole">
            <mc:AlternateContent xmlns:mc="http://schemas.openxmlformats.org/markup-compatibility/2006">
              <mc:Choice xmlns:v="urn:schemas-microsoft-com:vml" Requires="v">
                <p:oleObj spid="_x0000_s3080" name="" r:id="rId1" imgW="1572895" imgH="215900" progId="Equation.DSMT4">
                  <p:embed/>
                </p:oleObj>
              </mc:Choice>
              <mc:Fallback>
                <p:oleObj name="" r:id="rId1" imgW="1572895" imgH="215900" progId="Equation.DSMT4">
                  <p:embed/>
                  <p:pic>
                    <p:nvPicPr>
                      <p:cNvPr id="0" name="图片 3079"/>
                      <p:cNvPicPr/>
                      <p:nvPr/>
                    </p:nvPicPr>
                    <p:blipFill>
                      <a:blip r:embed="rId2"/>
                      <a:stretch>
                        <a:fillRect/>
                      </a:stretch>
                    </p:blipFill>
                    <p:spPr>
                      <a:xfrm>
                        <a:off x="1828500" y="4495500"/>
                        <a:ext cx="4783500" cy="652500"/>
                      </a:xfrm>
                      <a:prstGeom prst="rect">
                        <a:avLst/>
                      </a:prstGeom>
                      <a:noFill/>
                      <a:ln w="38100">
                        <a:noFill/>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337" name="对象 14337"/>
          <p:cNvGraphicFramePr>
            <a:graphicFrameLocks noChangeAspect="1"/>
          </p:cNvGraphicFramePr>
          <p:nvPr/>
        </p:nvGraphicFramePr>
        <p:xfrm>
          <a:off x="285600" y="3632700"/>
          <a:ext cx="8085000" cy="699000"/>
        </p:xfrm>
        <a:graphic>
          <a:graphicData uri="http://schemas.openxmlformats.org/presentationml/2006/ole">
            <mc:AlternateContent xmlns:mc="http://schemas.openxmlformats.org/markup-compatibility/2006">
              <mc:Choice xmlns:v="urn:schemas-microsoft-com:vml" Requires="v">
                <p:oleObj spid="_x0000_s3077" name="" r:id="rId1" imgW="3390900" imgH="292100" progId="Equation.DSMT4">
                  <p:embed/>
                </p:oleObj>
              </mc:Choice>
              <mc:Fallback>
                <p:oleObj name="" r:id="rId1" imgW="3390900" imgH="292100" progId="Equation.DSMT4">
                  <p:embed/>
                  <p:pic>
                    <p:nvPicPr>
                      <p:cNvPr id="0" name="图片 3076"/>
                      <p:cNvPicPr/>
                      <p:nvPr/>
                    </p:nvPicPr>
                    <p:blipFill>
                      <a:blip r:embed="rId2"/>
                      <a:stretch>
                        <a:fillRect/>
                      </a:stretch>
                    </p:blipFill>
                    <p:spPr>
                      <a:xfrm>
                        <a:off x="285600" y="3632700"/>
                        <a:ext cx="8085000" cy="699000"/>
                      </a:xfrm>
                      <a:prstGeom prst="rect">
                        <a:avLst/>
                      </a:prstGeom>
                      <a:noFill/>
                      <a:ln w="38100">
                        <a:noFill/>
                        <a:miter/>
                      </a:ln>
                    </p:spPr>
                  </p:pic>
                </p:oleObj>
              </mc:Fallback>
            </mc:AlternateContent>
          </a:graphicData>
        </a:graphic>
      </p:graphicFrame>
      <p:sp>
        <p:nvSpPr>
          <p:cNvPr id="14339" name="文本框 14339"/>
          <p:cNvSpPr txBox="1"/>
          <p:nvPr/>
        </p:nvSpPr>
        <p:spPr>
          <a:xfrm>
            <a:off x="217800" y="775800"/>
            <a:ext cx="8305200" cy="2268220"/>
          </a:xfrm>
          <a:prstGeom prst="rect">
            <a:avLst/>
          </a:prstGeom>
          <a:noFill/>
          <a:ln w="9525">
            <a:noFill/>
          </a:ln>
        </p:spPr>
        <p:txBody>
          <a:bodyPr tIns="0" bIns="0" anchor="t" anchorCtr="0">
            <a:spAutoFit/>
          </a:bodyPr>
          <a:p>
            <a:pPr eaLnBrk="0" hangingPunct="0">
              <a:lnSpc>
                <a:spcPct val="130000"/>
              </a:lnSpc>
            </a:pPr>
            <a:r>
              <a:rPr lang="zh-CN" altLang="en-US" sz="2645" dirty="0">
                <a:latin typeface="Arial" panose="020B0604020202020204" pitchFamily="34" charset="0"/>
                <a:ea typeface="微软雅黑" panose="020B0503020204020204" charset="-122"/>
              </a:rPr>
              <a:t>    要使电解池顺利地进行连续反应，除了克服作为原电池时的可逆电动势外，还要克服由于极化在阴、阳极上产生的超电势</a:t>
            </a:r>
            <a:r>
              <a:rPr lang="zh-CN" altLang="en-US" sz="3400" dirty="0">
                <a:latin typeface="Arial" panose="020B0604020202020204" pitchFamily="34" charset="0"/>
                <a:ea typeface="微软雅黑" panose="020B0503020204020204" charset="-122"/>
                <a:cs typeface="Arial" panose="020B0604020202020204" pitchFamily="34" charset="0"/>
              </a:rPr>
              <a:t>η</a:t>
            </a:r>
            <a:r>
              <a:rPr lang="zh-CN" altLang="en-US" sz="2645" baseline="-25000" dirty="0">
                <a:latin typeface="Arial" panose="020B0604020202020204" pitchFamily="34" charset="0"/>
                <a:ea typeface="微软雅黑" panose="020B0503020204020204" charset="-122"/>
              </a:rPr>
              <a:t>(阴）</a:t>
            </a:r>
            <a:r>
              <a:rPr lang="zh-CN" altLang="en-US" sz="2645" dirty="0">
                <a:latin typeface="Arial" panose="020B0604020202020204" pitchFamily="34" charset="0"/>
                <a:ea typeface="微软雅黑" panose="020B0503020204020204" charset="-122"/>
              </a:rPr>
              <a:t>和</a:t>
            </a:r>
            <a:r>
              <a:rPr lang="zh-CN" altLang="en-US" sz="3400" dirty="0">
                <a:latin typeface="Arial" panose="020B0604020202020204" pitchFamily="34" charset="0"/>
                <a:ea typeface="微软雅黑" panose="020B0503020204020204" charset="-122"/>
                <a:cs typeface="Arial" panose="020B0604020202020204" pitchFamily="34" charset="0"/>
                <a:sym typeface="+mn-ea"/>
              </a:rPr>
              <a:t>η</a:t>
            </a:r>
            <a:r>
              <a:rPr lang="en-US" altLang="zh-CN" sz="2645" baseline="-25000" dirty="0">
                <a:latin typeface="Arial" panose="020B0604020202020204" pitchFamily="34" charset="0"/>
                <a:ea typeface="微软雅黑" panose="020B0503020204020204" charset="-122"/>
              </a:rPr>
              <a:t>(</a:t>
            </a:r>
            <a:r>
              <a:rPr lang="zh-CN" altLang="en-US" sz="2645" baseline="-25000" dirty="0">
                <a:latin typeface="Arial" panose="020B0604020202020204" pitchFamily="34" charset="0"/>
                <a:ea typeface="微软雅黑" panose="020B0503020204020204" charset="-122"/>
              </a:rPr>
              <a:t>阳</a:t>
            </a:r>
            <a:r>
              <a:rPr lang="en-US" altLang="zh-CN" sz="2645" baseline="-25000" dirty="0">
                <a:latin typeface="Arial" panose="020B0604020202020204" pitchFamily="34" charset="0"/>
                <a:ea typeface="微软雅黑" panose="020B0503020204020204" charset="-122"/>
              </a:rPr>
              <a:t>)</a:t>
            </a:r>
            <a:r>
              <a:rPr lang="zh-CN" altLang="en-US" sz="2645" dirty="0">
                <a:latin typeface="Arial" panose="020B0604020202020204" pitchFamily="34" charset="0"/>
                <a:ea typeface="微软雅黑" panose="020B0503020204020204" charset="-122"/>
              </a:rPr>
              <a:t>，以及克服电池电阻所产生的电位降IR。这三者的加和就称为实际分解电压。</a:t>
            </a:r>
            <a:endParaRPr lang="zh-CN" altLang="en-US" sz="2645" dirty="0">
              <a:latin typeface="Arial" panose="020B0604020202020204" pitchFamily="34" charset="0"/>
              <a:ea typeface="微软雅黑" panose="020B0503020204020204" charset="-122"/>
            </a:endParaRPr>
          </a:p>
        </p:txBody>
      </p:sp>
      <p:sp>
        <p:nvSpPr>
          <p:cNvPr id="14342" name="矩形 14343"/>
          <p:cNvSpPr/>
          <p:nvPr/>
        </p:nvSpPr>
        <p:spPr>
          <a:xfrm>
            <a:off x="-20400" y="5388000"/>
            <a:ext cx="9164400" cy="529590"/>
          </a:xfrm>
          <a:prstGeom prst="rect">
            <a:avLst/>
          </a:prstGeom>
          <a:noFill/>
          <a:ln w="9525">
            <a:noFill/>
          </a:ln>
        </p:spPr>
        <p:txBody>
          <a:bodyPr wrap="square" tIns="0" bIns="0" anchor="t" anchorCtr="0">
            <a:spAutoFit/>
          </a:bodyPr>
          <a:p>
            <a:pPr eaLnBrk="0" hangingPunct="0">
              <a:lnSpc>
                <a:spcPct val="130000"/>
              </a:lnSpc>
            </a:pPr>
            <a:r>
              <a:rPr lang="en-US" altLang="zh-CN" sz="2645">
                <a:latin typeface="Arial" panose="020B0604020202020204" pitchFamily="34" charset="0"/>
                <a:ea typeface="微软雅黑" panose="020B0503020204020204" charset="-122"/>
              </a:rPr>
              <a:t>    </a:t>
            </a:r>
            <a:r>
              <a:rPr lang="zh-CN" altLang="en-US" sz="2645">
                <a:latin typeface="Arial" panose="020B0604020202020204" pitchFamily="34" charset="0"/>
                <a:ea typeface="微软雅黑" panose="020B0503020204020204" charset="-122"/>
              </a:rPr>
              <a:t>显然分解电压的数值会随着通入电流强度的增加而增加。</a:t>
            </a:r>
            <a:endParaRPr lang="zh-CN" altLang="en-US" sz="2645">
              <a:latin typeface="Arial" panose="020B0604020202020204" pitchFamily="34" charset="0"/>
              <a:ea typeface="微软雅黑" panose="020B0503020204020204" charset="-122"/>
            </a:endParaRPr>
          </a:p>
        </p:txBody>
      </p:sp>
      <p:sp>
        <p:nvSpPr>
          <p:cNvPr id="14343" name="矩形 14344"/>
          <p:cNvSpPr/>
          <p:nvPr/>
        </p:nvSpPr>
        <p:spPr>
          <a:xfrm>
            <a:off x="685500" y="153000"/>
            <a:ext cx="7773000" cy="609000"/>
          </a:xfrm>
          <a:prstGeom prst="rect">
            <a:avLst/>
          </a:prstGeom>
          <a:noFill/>
          <a:ln w="9525">
            <a:noFill/>
          </a:ln>
        </p:spPr>
        <p:txBody>
          <a:bodyPr anchor="ctr" anchorCtr="0"/>
          <a:p>
            <a:pPr algn="ctr"/>
            <a:r>
              <a:rPr lang="zh-CN" altLang="en-US" sz="3400" b="0">
                <a:solidFill>
                  <a:srgbClr val="0000FF"/>
                </a:solidFill>
                <a:latin typeface="Arial" panose="020B0604020202020204" pitchFamily="34" charset="0"/>
                <a:ea typeface="微软雅黑" panose="020B0503020204020204" charset="-122"/>
              </a:rPr>
              <a:t>实际分解电压</a:t>
            </a:r>
            <a:endParaRPr lang="zh-CN" altLang="en-US" sz="3400" b="0">
              <a:solidFill>
                <a:srgbClr val="0000FF"/>
              </a:solidFill>
              <a:latin typeface="Arial" panose="020B0604020202020204" pitchFamily="34" charset="0"/>
              <a:ea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Slide Number Placeholder 3"/>
          <p:cNvSpPr txBox="1">
            <a:spLocks noGrp="1"/>
          </p:cNvSpPr>
          <p:nvPr/>
        </p:nvSpPr>
        <p:spPr>
          <a:xfrm>
            <a:off x="6553500" y="6249000"/>
            <a:ext cx="1905000" cy="456000"/>
          </a:xfrm>
          <a:prstGeom prst="rect">
            <a:avLst/>
          </a:prstGeom>
          <a:noFill/>
          <a:ln w="9525">
            <a:noFill/>
          </a:ln>
        </p:spPr>
        <p:txBody>
          <a:bodyPr lIns="91437" tIns="45718" rIns="91437" bIns="45718" anchor="t" anchorCtr="0"/>
          <a:p>
            <a:pPr algn="r" defTabSz="968375"/>
            <a:fld id="{9A0DB2DC-4C9A-4742-B13C-FB6460FD3503}" type="slidenum">
              <a:rPr lang="en-US" altLang="zh-CN" sz="1415" b="0" dirty="0">
                <a:latin typeface="Times New Roman" panose="02020603050405020304" pitchFamily="18" charset="0"/>
                <a:ea typeface="宋体" panose="02010600030101010101" pitchFamily="2" charset="-122"/>
              </a:rPr>
            </a:fld>
            <a:endParaRPr lang="en-US" altLang="zh-CN" sz="1415" b="0" dirty="0">
              <a:latin typeface="Times New Roman" panose="02020603050405020304" pitchFamily="18" charset="0"/>
              <a:ea typeface="宋体" panose="02010600030101010101" pitchFamily="2" charset="-122"/>
            </a:endParaRPr>
          </a:p>
        </p:txBody>
      </p:sp>
      <p:sp>
        <p:nvSpPr>
          <p:cNvPr id="15362" name="Text Box 2"/>
          <p:cNvSpPr txBox="1"/>
          <p:nvPr/>
        </p:nvSpPr>
        <p:spPr>
          <a:xfrm>
            <a:off x="648000" y="504000"/>
            <a:ext cx="7920000" cy="1605280"/>
          </a:xfrm>
          <a:prstGeom prst="rect">
            <a:avLst/>
          </a:prstGeom>
          <a:noFill/>
          <a:ln w="9525">
            <a:noFill/>
          </a:ln>
        </p:spPr>
        <p:txBody>
          <a:bodyPr anchor="t" anchorCtr="0">
            <a:spAutoFit/>
          </a:bodyPr>
          <a:p>
            <a:pPr>
              <a:lnSpc>
                <a:spcPct val="130000"/>
              </a:lnSpc>
            </a:pPr>
            <a:r>
              <a:rPr lang="zh-CN" altLang="en-US" sz="3025" dirty="0">
                <a:solidFill>
                  <a:schemeClr val="accent2"/>
                </a:solidFill>
                <a:latin typeface="Arial" panose="020B0604020202020204" pitchFamily="34" charset="0"/>
                <a:ea typeface="微软雅黑" panose="020B0503020204020204" charset="-122"/>
              </a:rPr>
              <a:t>分解电压产生的原因：</a:t>
            </a:r>
            <a:endParaRPr lang="zh-CN" altLang="en-US" sz="3025" dirty="0">
              <a:solidFill>
                <a:schemeClr val="accent2"/>
              </a:solidFill>
              <a:latin typeface="Arial" panose="020B0604020202020204" pitchFamily="34" charset="0"/>
              <a:ea typeface="微软雅黑" panose="020B0503020204020204" charset="-122"/>
            </a:endParaRPr>
          </a:p>
          <a:p>
            <a:pPr>
              <a:lnSpc>
                <a:spcPct val="130000"/>
              </a:lnSpc>
            </a:pPr>
            <a:r>
              <a:rPr lang="zh-CN" altLang="en-US" sz="2270" dirty="0">
                <a:latin typeface="Arial" panose="020B0604020202020204" pitchFamily="34" charset="0"/>
                <a:ea typeface="微软雅黑" panose="020B0503020204020204" charset="-122"/>
              </a:rPr>
              <a:t>        在外加电压</a:t>
            </a:r>
            <a:r>
              <a:rPr lang="en-US" altLang="zh-CN" sz="2270" i="1" dirty="0">
                <a:solidFill>
                  <a:srgbClr val="FF0000"/>
                </a:solidFill>
                <a:latin typeface="Arial" panose="020B0604020202020204" pitchFamily="34" charset="0"/>
                <a:ea typeface="微软雅黑" panose="020B0503020204020204" charset="-122"/>
              </a:rPr>
              <a:t>V</a:t>
            </a:r>
            <a:r>
              <a:rPr lang="zh-CN" altLang="en-US" sz="2270" baseline="-25000" dirty="0">
                <a:solidFill>
                  <a:srgbClr val="FF0000"/>
                </a:solidFill>
                <a:latin typeface="Arial" panose="020B0604020202020204" pitchFamily="34" charset="0"/>
                <a:ea typeface="微软雅黑" panose="020B0503020204020204" charset="-122"/>
              </a:rPr>
              <a:t>外</a:t>
            </a:r>
            <a:r>
              <a:rPr lang="zh-CN" altLang="en-US" sz="2270" dirty="0">
                <a:latin typeface="Arial" panose="020B0604020202020204" pitchFamily="34" charset="0"/>
                <a:ea typeface="微软雅黑" panose="020B0503020204020204" charset="-122"/>
              </a:rPr>
              <a:t>作用下，电解反应的产物与溶液中相应离子及电极构成原电池，产生反电动势</a:t>
            </a:r>
            <a:r>
              <a:rPr lang="en-US" altLang="zh-CN" sz="2270" i="1" dirty="0">
                <a:solidFill>
                  <a:srgbClr val="FF0000"/>
                </a:solidFill>
                <a:latin typeface="Arial" panose="020B0604020202020204" pitchFamily="34" charset="0"/>
                <a:ea typeface="微软雅黑" panose="020B0503020204020204" charset="-122"/>
              </a:rPr>
              <a:t>E</a:t>
            </a:r>
            <a:r>
              <a:rPr lang="zh-CN" altLang="en-US" sz="2270" baseline="-25000" dirty="0">
                <a:solidFill>
                  <a:srgbClr val="FF0000"/>
                </a:solidFill>
                <a:latin typeface="Arial" panose="020B0604020202020204" pitchFamily="34" charset="0"/>
                <a:ea typeface="微软雅黑" panose="020B0503020204020204" charset="-122"/>
              </a:rPr>
              <a:t>反</a:t>
            </a:r>
            <a:r>
              <a:rPr lang="zh-CN" altLang="en-US" sz="2270" dirty="0">
                <a:latin typeface="Arial" panose="020B0604020202020204" pitchFamily="34" charset="0"/>
                <a:ea typeface="微软雅黑" panose="020B0503020204020204" charset="-122"/>
              </a:rPr>
              <a:t>。</a:t>
            </a:r>
            <a:endParaRPr lang="zh-CN" altLang="en-US" sz="2270" dirty="0">
              <a:latin typeface="Arial" panose="020B0604020202020204" pitchFamily="34" charset="0"/>
              <a:ea typeface="微软雅黑" panose="020B0503020204020204" charset="-122"/>
            </a:endParaRPr>
          </a:p>
        </p:txBody>
      </p:sp>
      <p:sp>
        <p:nvSpPr>
          <p:cNvPr id="15364" name="Text Box 3"/>
          <p:cNvSpPr txBox="1"/>
          <p:nvPr/>
        </p:nvSpPr>
        <p:spPr>
          <a:xfrm>
            <a:off x="720000" y="2520000"/>
            <a:ext cx="7128000" cy="440055"/>
          </a:xfrm>
          <a:prstGeom prst="rect">
            <a:avLst/>
          </a:prstGeom>
          <a:noFill/>
          <a:ln w="9525">
            <a:noFill/>
          </a:ln>
        </p:spPr>
        <p:txBody>
          <a:bodyPr anchor="t" anchorCtr="0">
            <a:spAutoFit/>
          </a:bodyPr>
          <a:p>
            <a:pPr>
              <a:spcBef>
                <a:spcPct val="50000"/>
              </a:spcBef>
            </a:pPr>
            <a:r>
              <a:rPr lang="en-US" altLang="zh-CN" sz="2270" i="1" dirty="0">
                <a:latin typeface="Arial" panose="020B0604020202020204" pitchFamily="34" charset="0"/>
                <a:ea typeface="微软雅黑" panose="020B0503020204020204" charset="-122"/>
              </a:rPr>
              <a:t>V</a:t>
            </a:r>
            <a:r>
              <a:rPr lang="zh-CN" altLang="en-US" sz="2270" baseline="-25000" dirty="0">
                <a:latin typeface="Arial" panose="020B0604020202020204" pitchFamily="34" charset="0"/>
                <a:ea typeface="微软雅黑" panose="020B0503020204020204" charset="-122"/>
              </a:rPr>
              <a:t>外 </a:t>
            </a:r>
            <a:r>
              <a:rPr lang="en-US" altLang="zh-CN" sz="2270" dirty="0">
                <a:latin typeface="Arial" panose="020B0604020202020204" pitchFamily="34" charset="0"/>
                <a:ea typeface="微软雅黑" panose="020B0503020204020204" charset="-122"/>
              </a:rPr>
              <a:t>&lt; </a:t>
            </a:r>
            <a:r>
              <a:rPr lang="en-US" altLang="zh-CN" sz="2270" i="1" dirty="0">
                <a:latin typeface="Arial" panose="020B0604020202020204" pitchFamily="34" charset="0"/>
                <a:ea typeface="微软雅黑" panose="020B0503020204020204" charset="-122"/>
              </a:rPr>
              <a:t>E</a:t>
            </a:r>
            <a:r>
              <a:rPr lang="zh-CN" altLang="en-US" sz="2270" baseline="-25000" dirty="0">
                <a:latin typeface="Arial" panose="020B0604020202020204" pitchFamily="34" charset="0"/>
                <a:ea typeface="微软雅黑" panose="020B0503020204020204" charset="-122"/>
              </a:rPr>
              <a:t>分</a:t>
            </a:r>
            <a:r>
              <a:rPr lang="zh-CN" altLang="en-US" sz="2270" dirty="0">
                <a:latin typeface="Arial" panose="020B0604020202020204" pitchFamily="34" charset="0"/>
                <a:ea typeface="微软雅黑" panose="020B0503020204020204" charset="-122"/>
              </a:rPr>
              <a:t>时，</a:t>
            </a:r>
            <a:r>
              <a:rPr lang="en-US" altLang="zh-CN" sz="2270" i="1" dirty="0">
                <a:latin typeface="Arial" panose="020B0604020202020204" pitchFamily="34" charset="0"/>
                <a:ea typeface="微软雅黑" panose="020B0503020204020204" charset="-122"/>
              </a:rPr>
              <a:t>I</a:t>
            </a:r>
            <a:r>
              <a:rPr lang="en-US" altLang="zh-CN" sz="2270" dirty="0">
                <a:latin typeface="Arial" panose="020B0604020202020204" pitchFamily="34" charset="0"/>
                <a:ea typeface="微软雅黑" panose="020B0503020204020204" charset="-122"/>
              </a:rPr>
              <a:t> </a:t>
            </a:r>
            <a:r>
              <a:rPr lang="en-US" altLang="zh-CN" sz="2270" dirty="0">
                <a:latin typeface="Arial" panose="020B0604020202020204" pitchFamily="34" charset="0"/>
                <a:ea typeface="微软雅黑" panose="020B0503020204020204" charset="-122"/>
                <a:sym typeface="Symbol" panose="05050102010706020507" pitchFamily="18" charset="2"/>
              </a:rPr>
              <a:t> 0</a:t>
            </a:r>
            <a:r>
              <a:rPr lang="zh-CN" altLang="en-US" sz="2270" dirty="0">
                <a:latin typeface="Arial" panose="020B0604020202020204" pitchFamily="34" charset="0"/>
                <a:ea typeface="微软雅黑" panose="020B0503020204020204" charset="-122"/>
                <a:sym typeface="Symbol" panose="05050102010706020507" pitchFamily="18" charset="2"/>
              </a:rPr>
              <a:t>；</a:t>
            </a:r>
            <a:endParaRPr lang="en-US" altLang="zh-CN" sz="1890" dirty="0">
              <a:solidFill>
                <a:srgbClr val="008080"/>
              </a:solidFill>
              <a:latin typeface="Arial" panose="020B0604020202020204" pitchFamily="34" charset="0"/>
              <a:ea typeface="微软雅黑" panose="020B0503020204020204" charset="-122"/>
            </a:endParaRPr>
          </a:p>
        </p:txBody>
      </p:sp>
      <p:sp>
        <p:nvSpPr>
          <p:cNvPr id="15365" name="Text Box 4"/>
          <p:cNvSpPr txBox="1"/>
          <p:nvPr/>
        </p:nvSpPr>
        <p:spPr>
          <a:xfrm>
            <a:off x="720000" y="3024000"/>
            <a:ext cx="3888000" cy="440055"/>
          </a:xfrm>
          <a:prstGeom prst="rect">
            <a:avLst/>
          </a:prstGeom>
          <a:noFill/>
          <a:ln w="9525">
            <a:noFill/>
          </a:ln>
        </p:spPr>
        <p:txBody>
          <a:bodyPr anchor="t" anchorCtr="0">
            <a:spAutoFit/>
          </a:bodyPr>
          <a:p>
            <a:pPr>
              <a:spcBef>
                <a:spcPct val="50000"/>
              </a:spcBef>
            </a:pPr>
            <a:r>
              <a:rPr lang="en-US" altLang="zh-CN" sz="2270" i="1" dirty="0">
                <a:latin typeface="Arial" panose="020B0604020202020204" pitchFamily="34" charset="0"/>
                <a:ea typeface="微软雅黑" panose="020B0503020204020204" charset="-122"/>
              </a:rPr>
              <a:t>V</a:t>
            </a:r>
            <a:r>
              <a:rPr lang="zh-CN" altLang="en-US" sz="2270" baseline="-25000" dirty="0">
                <a:latin typeface="Arial" panose="020B0604020202020204" pitchFamily="34" charset="0"/>
                <a:ea typeface="微软雅黑" panose="020B0503020204020204" charset="-122"/>
              </a:rPr>
              <a:t>外 </a:t>
            </a:r>
            <a:r>
              <a:rPr lang="zh-CN" altLang="en-US" sz="2270" dirty="0">
                <a:latin typeface="Arial" panose="020B0604020202020204" pitchFamily="34" charset="0"/>
                <a:ea typeface="微软雅黑" panose="020B0503020204020204" charset="-122"/>
                <a:sym typeface="Symbol" panose="05050102010706020507" pitchFamily="18" charset="2"/>
              </a:rPr>
              <a:t></a:t>
            </a:r>
            <a:r>
              <a:rPr lang="zh-CN" altLang="en-US" sz="2270" dirty="0">
                <a:latin typeface="Arial" panose="020B0604020202020204" pitchFamily="34" charset="0"/>
                <a:ea typeface="微软雅黑" panose="020B0503020204020204" charset="-122"/>
              </a:rPr>
              <a:t> ，</a:t>
            </a:r>
            <a:r>
              <a:rPr lang="en-US" altLang="zh-CN" sz="2270" i="1" dirty="0">
                <a:latin typeface="Arial" panose="020B0604020202020204" pitchFamily="34" charset="0"/>
                <a:ea typeface="微软雅黑" panose="020B0503020204020204" charset="-122"/>
              </a:rPr>
              <a:t>E</a:t>
            </a:r>
            <a:r>
              <a:rPr lang="zh-CN" altLang="en-US" sz="2270" baseline="-25000" dirty="0">
                <a:latin typeface="Arial" panose="020B0604020202020204" pitchFamily="34" charset="0"/>
                <a:ea typeface="微软雅黑" panose="020B0503020204020204" charset="-122"/>
              </a:rPr>
              <a:t>反</a:t>
            </a:r>
            <a:r>
              <a:rPr lang="zh-CN" altLang="en-US" sz="2270" dirty="0">
                <a:latin typeface="Arial" panose="020B0604020202020204" pitchFamily="34" charset="0"/>
                <a:ea typeface="微软雅黑" panose="020B0503020204020204" charset="-122"/>
                <a:sym typeface="Symbol" panose="05050102010706020507" pitchFamily="18" charset="2"/>
              </a:rPr>
              <a:t></a:t>
            </a:r>
            <a:endParaRPr lang="zh-CN" altLang="en-US" sz="2270" dirty="0">
              <a:latin typeface="Arial" panose="020B0604020202020204" pitchFamily="34" charset="0"/>
              <a:ea typeface="微软雅黑" panose="020B0503020204020204" charset="-122"/>
              <a:sym typeface="Symbol" panose="05050102010706020507" pitchFamily="18" charset="2"/>
            </a:endParaRPr>
          </a:p>
        </p:txBody>
      </p:sp>
      <p:sp>
        <p:nvSpPr>
          <p:cNvPr id="15366" name="Text Box 5"/>
          <p:cNvSpPr txBox="1"/>
          <p:nvPr/>
        </p:nvSpPr>
        <p:spPr>
          <a:xfrm>
            <a:off x="222000" y="3526500"/>
            <a:ext cx="8700000" cy="788670"/>
          </a:xfrm>
          <a:prstGeom prst="rect">
            <a:avLst/>
          </a:prstGeom>
          <a:noFill/>
          <a:ln w="9525">
            <a:noFill/>
          </a:ln>
        </p:spPr>
        <p:txBody>
          <a:bodyPr wrap="square" anchor="t" anchorCtr="0">
            <a:spAutoFit/>
          </a:bodyPr>
          <a:p>
            <a:pPr>
              <a:spcBef>
                <a:spcPct val="50000"/>
              </a:spcBef>
            </a:pPr>
            <a:r>
              <a:rPr lang="en-US" altLang="zh-CN" sz="2270" i="1" dirty="0">
                <a:latin typeface="Arial" panose="020B0604020202020204" pitchFamily="34" charset="0"/>
                <a:ea typeface="微软雅黑" panose="020B0503020204020204" charset="-122"/>
              </a:rPr>
              <a:t>V</a:t>
            </a:r>
            <a:r>
              <a:rPr lang="zh-CN" altLang="en-US" sz="2270" baseline="-25000" dirty="0">
                <a:latin typeface="Arial" panose="020B0604020202020204" pitchFamily="34" charset="0"/>
                <a:ea typeface="微软雅黑" panose="020B0503020204020204" charset="-122"/>
              </a:rPr>
              <a:t>外 </a:t>
            </a:r>
            <a:r>
              <a:rPr lang="zh-CN" altLang="en-US" sz="2270" dirty="0">
                <a:latin typeface="Arial" panose="020B0604020202020204" pitchFamily="34" charset="0"/>
                <a:ea typeface="微软雅黑" panose="020B0503020204020204" charset="-122"/>
                <a:sym typeface="Symbol" panose="05050102010706020507" pitchFamily="18" charset="2"/>
              </a:rPr>
              <a:t> </a:t>
            </a:r>
            <a:r>
              <a:rPr lang="en-US" altLang="zh-CN" sz="2270" i="1" dirty="0">
                <a:latin typeface="Arial" panose="020B0604020202020204" pitchFamily="34" charset="0"/>
                <a:ea typeface="微软雅黑" panose="020B0503020204020204" charset="-122"/>
              </a:rPr>
              <a:t>E</a:t>
            </a:r>
            <a:r>
              <a:rPr lang="zh-CN" altLang="en-US" sz="2270" baseline="-25000" dirty="0">
                <a:latin typeface="Arial" panose="020B0604020202020204" pitchFamily="34" charset="0"/>
                <a:ea typeface="微软雅黑" panose="020B0503020204020204" charset="-122"/>
              </a:rPr>
              <a:t>分</a:t>
            </a:r>
            <a:r>
              <a:rPr lang="zh-CN" altLang="en-US" sz="2270" dirty="0">
                <a:latin typeface="Arial" panose="020B0604020202020204" pitchFamily="34" charset="0"/>
                <a:ea typeface="微软雅黑" panose="020B0503020204020204" charset="-122"/>
                <a:sym typeface="Symbol" panose="05050102010706020507" pitchFamily="18" charset="2"/>
              </a:rPr>
              <a:t>，</a:t>
            </a:r>
            <a:r>
              <a:rPr lang="zh-CN" altLang="en-US" sz="2270" dirty="0">
                <a:latin typeface="Arial" panose="020B0604020202020204" pitchFamily="34" charset="0"/>
                <a:ea typeface="微软雅黑" panose="020B0503020204020204" charset="-122"/>
              </a:rPr>
              <a:t> </a:t>
            </a:r>
            <a:r>
              <a:rPr lang="en-US" altLang="zh-CN" sz="2270" i="1" dirty="0">
                <a:latin typeface="Arial" panose="020B0604020202020204" pitchFamily="34" charset="0"/>
                <a:ea typeface="微软雅黑" panose="020B0503020204020204" charset="-122"/>
              </a:rPr>
              <a:t>E</a:t>
            </a:r>
            <a:r>
              <a:rPr lang="zh-CN" altLang="en-US" sz="2270" baseline="-25000" dirty="0">
                <a:latin typeface="Arial" panose="020B0604020202020204" pitchFamily="34" charset="0"/>
                <a:ea typeface="微软雅黑" panose="020B0503020204020204" charset="-122"/>
              </a:rPr>
              <a:t>反</a:t>
            </a:r>
            <a:r>
              <a:rPr lang="zh-CN" altLang="en-US" sz="2270" dirty="0">
                <a:latin typeface="Arial" panose="020B0604020202020204" pitchFamily="34" charset="0"/>
                <a:ea typeface="微软雅黑" panose="020B0503020204020204" charset="-122"/>
                <a:sym typeface="Symbol" panose="05050102010706020507" pitchFamily="18" charset="2"/>
              </a:rPr>
              <a:t> </a:t>
            </a:r>
            <a:r>
              <a:rPr lang="en-US" altLang="zh-CN" sz="2270" i="1" dirty="0">
                <a:latin typeface="Arial" panose="020B0604020202020204" pitchFamily="34" charset="0"/>
                <a:ea typeface="微软雅黑" panose="020B0503020204020204" charset="-122"/>
              </a:rPr>
              <a:t>E</a:t>
            </a:r>
            <a:r>
              <a:rPr lang="en-US" altLang="zh-CN" sz="2270" baseline="-25000" dirty="0">
                <a:latin typeface="Arial" panose="020B0604020202020204" pitchFamily="34" charset="0"/>
                <a:ea typeface="微软雅黑" panose="020B0503020204020204" charset="-122"/>
              </a:rPr>
              <a:t>max</a:t>
            </a:r>
            <a:r>
              <a:rPr lang="en-US" altLang="zh-CN" sz="2270" baseline="-25000" dirty="0">
                <a:solidFill>
                  <a:srgbClr val="FF00FF"/>
                </a:solidFill>
                <a:latin typeface="Arial" panose="020B0604020202020204" pitchFamily="34" charset="0"/>
                <a:ea typeface="微软雅黑" panose="020B0503020204020204" charset="-122"/>
              </a:rPr>
              <a:t>    </a:t>
            </a:r>
            <a:r>
              <a:rPr lang="en-US" altLang="zh-CN" sz="2270" dirty="0">
                <a:solidFill>
                  <a:srgbClr val="008080"/>
                </a:solidFill>
                <a:latin typeface="Arial" panose="020B0604020202020204" pitchFamily="34" charset="0"/>
                <a:ea typeface="微软雅黑" panose="020B0503020204020204" charset="-122"/>
              </a:rPr>
              <a:t>(</a:t>
            </a:r>
            <a:r>
              <a:rPr lang="en-US" altLang="zh-CN" sz="2270" i="1" dirty="0">
                <a:solidFill>
                  <a:srgbClr val="008080"/>
                </a:solidFill>
                <a:latin typeface="Arial" panose="020B0604020202020204" pitchFamily="34" charset="0"/>
                <a:ea typeface="微软雅黑" panose="020B0503020204020204" charset="-122"/>
              </a:rPr>
              <a:t>p</a:t>
            </a:r>
            <a:r>
              <a:rPr lang="en-US" altLang="zh-CN" sz="2270" baseline="-25000" dirty="0">
                <a:solidFill>
                  <a:srgbClr val="008080"/>
                </a:solidFill>
                <a:latin typeface="Arial" panose="020B0604020202020204" pitchFamily="34" charset="0"/>
                <a:ea typeface="微软雅黑" panose="020B0503020204020204" charset="-122"/>
              </a:rPr>
              <a:t>H2 </a:t>
            </a:r>
            <a:r>
              <a:rPr lang="en-US" altLang="zh-CN" sz="2270" dirty="0">
                <a:solidFill>
                  <a:srgbClr val="008080"/>
                </a:solidFill>
                <a:latin typeface="Arial" panose="020B0604020202020204" pitchFamily="34" charset="0"/>
                <a:ea typeface="微软雅黑" panose="020B0503020204020204" charset="-122"/>
                <a:sym typeface="Symbol" panose="05050102010706020507" pitchFamily="18" charset="2"/>
              </a:rPr>
              <a:t>1atm,  </a:t>
            </a:r>
            <a:r>
              <a:rPr lang="en-US" altLang="zh-CN" sz="2270" i="1" dirty="0">
                <a:solidFill>
                  <a:srgbClr val="008080"/>
                </a:solidFill>
                <a:latin typeface="Arial" panose="020B0604020202020204" pitchFamily="34" charset="0"/>
                <a:ea typeface="微软雅黑" panose="020B0503020204020204" charset="-122"/>
              </a:rPr>
              <a:t>p</a:t>
            </a:r>
            <a:r>
              <a:rPr lang="en-US" altLang="zh-CN" sz="2270" baseline="-25000" dirty="0">
                <a:solidFill>
                  <a:srgbClr val="008080"/>
                </a:solidFill>
                <a:latin typeface="Arial" panose="020B0604020202020204" pitchFamily="34" charset="0"/>
                <a:ea typeface="微软雅黑" panose="020B0503020204020204" charset="-122"/>
              </a:rPr>
              <a:t>Cl2 </a:t>
            </a:r>
            <a:r>
              <a:rPr lang="en-US" altLang="zh-CN" sz="2270" dirty="0">
                <a:solidFill>
                  <a:srgbClr val="008080"/>
                </a:solidFill>
                <a:latin typeface="Arial" panose="020B0604020202020204" pitchFamily="34" charset="0"/>
                <a:ea typeface="微软雅黑" panose="020B0503020204020204" charset="-122"/>
                <a:sym typeface="Symbol" panose="05050102010706020507" pitchFamily="18" charset="2"/>
              </a:rPr>
              <a:t>1atm, </a:t>
            </a:r>
            <a:r>
              <a:rPr lang="zh-CN" altLang="en-US" sz="2270" dirty="0">
                <a:solidFill>
                  <a:srgbClr val="008080"/>
                </a:solidFill>
                <a:latin typeface="Arial" panose="020B0604020202020204" pitchFamily="34" charset="0"/>
                <a:ea typeface="微软雅黑" panose="020B0503020204020204" charset="-122"/>
                <a:sym typeface="Symbol" panose="05050102010706020507" pitchFamily="18" charset="2"/>
              </a:rPr>
              <a:t>反电动势达最大值</a:t>
            </a:r>
            <a:r>
              <a:rPr lang="zh-CN" altLang="en-US" sz="2270" dirty="0">
                <a:solidFill>
                  <a:srgbClr val="008080"/>
                </a:solidFill>
                <a:latin typeface="Arial" panose="020B0604020202020204" pitchFamily="34" charset="0"/>
                <a:ea typeface="微软雅黑" panose="020B0503020204020204" charset="-122"/>
              </a:rPr>
              <a:t>)</a:t>
            </a:r>
            <a:endParaRPr lang="en-US" altLang="zh-CN" sz="1890" dirty="0">
              <a:solidFill>
                <a:srgbClr val="008080"/>
              </a:solidFill>
              <a:latin typeface="Arial" panose="020B0604020202020204" pitchFamily="34" charset="0"/>
              <a:ea typeface="微软雅黑" panose="020B0503020204020204" charset="-122"/>
            </a:endParaRPr>
          </a:p>
        </p:txBody>
      </p:sp>
      <p:sp>
        <p:nvSpPr>
          <p:cNvPr id="15367" name="Text Box 6"/>
          <p:cNvSpPr txBox="1"/>
          <p:nvPr/>
        </p:nvSpPr>
        <p:spPr>
          <a:xfrm>
            <a:off x="720000" y="2016000"/>
            <a:ext cx="6984000" cy="440055"/>
          </a:xfrm>
          <a:prstGeom prst="rect">
            <a:avLst/>
          </a:prstGeom>
          <a:noFill/>
          <a:ln w="9525">
            <a:noFill/>
          </a:ln>
        </p:spPr>
        <p:txBody>
          <a:bodyPr anchor="t" anchorCtr="0">
            <a:spAutoFit/>
          </a:bodyPr>
          <a:p>
            <a:pPr>
              <a:spcBef>
                <a:spcPct val="50000"/>
              </a:spcBef>
            </a:pPr>
            <a:r>
              <a:rPr lang="zh-CN" altLang="en-US" sz="2270" dirty="0">
                <a:latin typeface="Arial" panose="020B0604020202020204" pitchFamily="34" charset="0"/>
                <a:ea typeface="微软雅黑" panose="020B0503020204020204" charset="-122"/>
              </a:rPr>
              <a:t>例：电解反应：</a:t>
            </a:r>
            <a:r>
              <a:rPr lang="en-US" altLang="zh-CN" sz="2270" dirty="0">
                <a:latin typeface="Arial" panose="020B0604020202020204" pitchFamily="34" charset="0"/>
                <a:ea typeface="微软雅黑" panose="020B0503020204020204" charset="-122"/>
              </a:rPr>
              <a:t>2HCl </a:t>
            </a:r>
            <a:r>
              <a:rPr lang="en-US" altLang="zh-CN" sz="2270" dirty="0">
                <a:latin typeface="Arial" panose="020B0604020202020204" pitchFamily="34" charset="0"/>
                <a:ea typeface="微软雅黑" panose="020B0503020204020204" charset="-122"/>
                <a:sym typeface="Symbol" panose="05050102010706020507" pitchFamily="18" charset="2"/>
              </a:rPr>
              <a:t> H</a:t>
            </a:r>
            <a:r>
              <a:rPr lang="en-US" altLang="zh-CN" sz="2270" baseline="-25000" dirty="0">
                <a:latin typeface="Arial" panose="020B0604020202020204" pitchFamily="34" charset="0"/>
                <a:ea typeface="微软雅黑" panose="020B0503020204020204" charset="-122"/>
                <a:sym typeface="Symbol" panose="05050102010706020507" pitchFamily="18" charset="2"/>
              </a:rPr>
              <a:t>2</a:t>
            </a:r>
            <a:r>
              <a:rPr lang="en-US" altLang="zh-CN" sz="2270" dirty="0">
                <a:latin typeface="Arial" panose="020B0604020202020204" pitchFamily="34" charset="0"/>
                <a:ea typeface="微软雅黑" panose="020B0503020204020204" charset="-122"/>
                <a:sym typeface="Symbol" panose="05050102010706020507" pitchFamily="18" charset="2"/>
              </a:rPr>
              <a:t> + Cl</a:t>
            </a:r>
            <a:r>
              <a:rPr lang="en-US" altLang="zh-CN" sz="2270" baseline="-25000" dirty="0">
                <a:latin typeface="Arial" panose="020B0604020202020204" pitchFamily="34" charset="0"/>
                <a:ea typeface="微软雅黑" panose="020B0503020204020204" charset="-122"/>
                <a:sym typeface="Symbol" panose="05050102010706020507" pitchFamily="18" charset="2"/>
              </a:rPr>
              <a:t>2</a:t>
            </a:r>
            <a:endParaRPr lang="en-US" altLang="zh-CN" sz="2270" dirty="0">
              <a:latin typeface="Arial" panose="020B0604020202020204" pitchFamily="34" charset="0"/>
              <a:ea typeface="微软雅黑" panose="020B0503020204020204" charset="-122"/>
            </a:endParaRPr>
          </a:p>
        </p:txBody>
      </p:sp>
      <p:sp>
        <p:nvSpPr>
          <p:cNvPr id="15368" name="Text Box 7"/>
          <p:cNvSpPr txBox="1"/>
          <p:nvPr/>
        </p:nvSpPr>
        <p:spPr>
          <a:xfrm>
            <a:off x="720000" y="4032000"/>
            <a:ext cx="3816000" cy="440055"/>
          </a:xfrm>
          <a:prstGeom prst="rect">
            <a:avLst/>
          </a:prstGeom>
          <a:noFill/>
          <a:ln w="9525">
            <a:noFill/>
          </a:ln>
        </p:spPr>
        <p:txBody>
          <a:bodyPr anchor="t" anchorCtr="0">
            <a:spAutoFit/>
          </a:bodyPr>
          <a:p>
            <a:pPr>
              <a:spcBef>
                <a:spcPct val="50000"/>
              </a:spcBef>
            </a:pPr>
            <a:r>
              <a:rPr lang="en-US" altLang="zh-CN" sz="2270" i="1" dirty="0">
                <a:latin typeface="Arial" panose="020B0604020202020204" pitchFamily="34" charset="0"/>
                <a:ea typeface="微软雅黑" panose="020B0503020204020204" charset="-122"/>
              </a:rPr>
              <a:t>V</a:t>
            </a:r>
            <a:r>
              <a:rPr lang="zh-CN" altLang="en-US" sz="2270" baseline="-25000" dirty="0">
                <a:latin typeface="Arial" panose="020B0604020202020204" pitchFamily="34" charset="0"/>
                <a:ea typeface="微软雅黑" panose="020B0503020204020204" charset="-122"/>
              </a:rPr>
              <a:t>外 </a:t>
            </a:r>
            <a:r>
              <a:rPr lang="en-US" altLang="zh-CN" sz="2270" dirty="0">
                <a:latin typeface="Arial" panose="020B0604020202020204" pitchFamily="34" charset="0"/>
                <a:ea typeface="微软雅黑" panose="020B0503020204020204" charset="-122"/>
                <a:sym typeface="Symbol" panose="05050102010706020507" pitchFamily="18" charset="2"/>
              </a:rPr>
              <a:t>&gt; </a:t>
            </a:r>
            <a:r>
              <a:rPr lang="en-US" altLang="zh-CN" sz="2270" i="1" dirty="0">
                <a:latin typeface="Arial" panose="020B0604020202020204" pitchFamily="34" charset="0"/>
                <a:ea typeface="微软雅黑" panose="020B0503020204020204" charset="-122"/>
              </a:rPr>
              <a:t>E</a:t>
            </a:r>
            <a:r>
              <a:rPr lang="zh-CN" altLang="en-US" sz="2270" baseline="-25000" dirty="0">
                <a:latin typeface="Arial" panose="020B0604020202020204" pitchFamily="34" charset="0"/>
                <a:ea typeface="微软雅黑" panose="020B0503020204020204" charset="-122"/>
              </a:rPr>
              <a:t>分</a:t>
            </a:r>
            <a:r>
              <a:rPr lang="zh-CN" altLang="en-US" sz="2270" dirty="0">
                <a:latin typeface="Arial" panose="020B0604020202020204" pitchFamily="34" charset="0"/>
                <a:ea typeface="微软雅黑" panose="020B0503020204020204" charset="-122"/>
                <a:sym typeface="Symbol" panose="05050102010706020507" pitchFamily="18" charset="2"/>
              </a:rPr>
              <a:t>，</a:t>
            </a:r>
            <a:r>
              <a:rPr lang="en-US" altLang="zh-CN" sz="2270" i="1" dirty="0">
                <a:latin typeface="Arial" panose="020B0604020202020204" pitchFamily="34" charset="0"/>
                <a:ea typeface="微软雅黑" panose="020B0503020204020204" charset="-122"/>
              </a:rPr>
              <a:t>V</a:t>
            </a:r>
            <a:r>
              <a:rPr lang="zh-CN" altLang="en-US" sz="2270" baseline="-25000" dirty="0">
                <a:latin typeface="Arial" panose="020B0604020202020204" pitchFamily="34" charset="0"/>
                <a:ea typeface="微软雅黑" panose="020B0503020204020204" charset="-122"/>
              </a:rPr>
              <a:t>外 </a:t>
            </a:r>
            <a:r>
              <a:rPr lang="zh-CN" altLang="en-US" sz="2270" dirty="0">
                <a:latin typeface="Arial" panose="020B0604020202020204" pitchFamily="34" charset="0"/>
                <a:ea typeface="微软雅黑" panose="020B0503020204020204" charset="-122"/>
                <a:sym typeface="Symbol" panose="05050102010706020507" pitchFamily="18" charset="2"/>
              </a:rPr>
              <a:t></a:t>
            </a:r>
            <a:r>
              <a:rPr lang="zh-CN" altLang="en-US" sz="2270" dirty="0">
                <a:latin typeface="Arial" panose="020B0604020202020204" pitchFamily="34" charset="0"/>
                <a:ea typeface="微软雅黑" panose="020B0503020204020204" charset="-122"/>
              </a:rPr>
              <a:t> ，</a:t>
            </a:r>
            <a:r>
              <a:rPr lang="en-US" altLang="zh-CN" sz="2270" i="1" dirty="0">
                <a:latin typeface="Arial" panose="020B0604020202020204" pitchFamily="34" charset="0"/>
                <a:ea typeface="微软雅黑" panose="020B0503020204020204" charset="-122"/>
              </a:rPr>
              <a:t>I </a:t>
            </a:r>
            <a:r>
              <a:rPr lang="en-US" altLang="zh-CN" sz="2270" dirty="0">
                <a:latin typeface="Arial" panose="020B0604020202020204" pitchFamily="34" charset="0"/>
                <a:ea typeface="微软雅黑" panose="020B0503020204020204" charset="-122"/>
                <a:sym typeface="Symbol" panose="05050102010706020507" pitchFamily="18" charset="2"/>
              </a:rPr>
              <a:t></a:t>
            </a:r>
            <a:endParaRPr lang="en-US" altLang="zh-CN" sz="2270" dirty="0">
              <a:latin typeface="Arial" panose="020B0604020202020204" pitchFamily="34" charset="0"/>
              <a:ea typeface="微软雅黑" panose="020B0503020204020204" charset="-122"/>
              <a:sym typeface="Symbol" panose="05050102010706020507" pitchFamily="18" charset="2"/>
            </a:endParaRPr>
          </a:p>
        </p:txBody>
      </p:sp>
      <p:sp>
        <p:nvSpPr>
          <p:cNvPr id="15369" name="Text Box 8"/>
          <p:cNvSpPr txBox="1"/>
          <p:nvPr/>
        </p:nvSpPr>
        <p:spPr>
          <a:xfrm>
            <a:off x="720000" y="4536000"/>
            <a:ext cx="5544000" cy="440055"/>
          </a:xfrm>
          <a:prstGeom prst="rect">
            <a:avLst/>
          </a:prstGeom>
          <a:noFill/>
          <a:ln w="9525">
            <a:noFill/>
          </a:ln>
        </p:spPr>
        <p:txBody>
          <a:bodyPr anchor="t" anchorCtr="0">
            <a:spAutoFit/>
          </a:bodyPr>
          <a:p>
            <a:pPr>
              <a:spcBef>
                <a:spcPct val="50000"/>
              </a:spcBef>
            </a:pPr>
            <a:r>
              <a:rPr lang="en-US" altLang="zh-CN" sz="2270" i="1" dirty="0">
                <a:latin typeface="Arial" panose="020B0604020202020204" pitchFamily="34" charset="0"/>
                <a:ea typeface="微软雅黑" panose="020B0503020204020204" charset="-122"/>
              </a:rPr>
              <a:t>V</a:t>
            </a:r>
            <a:r>
              <a:rPr lang="zh-CN" altLang="en-US" sz="2270" baseline="-25000" dirty="0">
                <a:latin typeface="Arial" panose="020B0604020202020204" pitchFamily="34" charset="0"/>
                <a:ea typeface="微软雅黑" panose="020B0503020204020204" charset="-122"/>
              </a:rPr>
              <a:t>外 </a:t>
            </a:r>
            <a:r>
              <a:rPr lang="en-US" altLang="zh-CN" sz="2270" dirty="0">
                <a:latin typeface="Arial" panose="020B0604020202020204" pitchFamily="34" charset="0"/>
                <a:ea typeface="微软雅黑" panose="020B0503020204020204" charset="-122"/>
                <a:sym typeface="Symbol" panose="05050102010706020507" pitchFamily="18" charset="2"/>
              </a:rPr>
              <a:t>= </a:t>
            </a:r>
            <a:r>
              <a:rPr lang="en-US" altLang="zh-CN" sz="2270" i="1" dirty="0">
                <a:latin typeface="Arial" panose="020B0604020202020204" pitchFamily="34" charset="0"/>
                <a:ea typeface="微软雅黑" panose="020B0503020204020204" charset="-122"/>
              </a:rPr>
              <a:t>E</a:t>
            </a:r>
            <a:r>
              <a:rPr lang="zh-CN" altLang="en-US" sz="2270" baseline="-25000" dirty="0">
                <a:latin typeface="Arial" panose="020B0604020202020204" pitchFamily="34" charset="0"/>
                <a:ea typeface="微软雅黑" panose="020B0503020204020204" charset="-122"/>
              </a:rPr>
              <a:t>分 </a:t>
            </a:r>
            <a:r>
              <a:rPr lang="zh-CN" altLang="en-US" sz="2270" dirty="0">
                <a:latin typeface="Arial" panose="020B0604020202020204" pitchFamily="34" charset="0"/>
                <a:ea typeface="微软雅黑" panose="020B0503020204020204" charset="-122"/>
                <a:sym typeface="Symbol" panose="05050102010706020507" pitchFamily="18" charset="2"/>
              </a:rPr>
              <a:t>时的电极电势称为</a:t>
            </a:r>
            <a:r>
              <a:rPr lang="zh-CN" altLang="en-US" sz="2270" dirty="0">
                <a:solidFill>
                  <a:srgbClr val="CC0000"/>
                </a:solidFill>
                <a:latin typeface="Arial" panose="020B0604020202020204" pitchFamily="34" charset="0"/>
                <a:ea typeface="微软雅黑" panose="020B0503020204020204" charset="-122"/>
                <a:sym typeface="Symbol" panose="05050102010706020507" pitchFamily="18" charset="2"/>
              </a:rPr>
              <a:t>析出电势</a:t>
            </a:r>
            <a:endParaRPr lang="zh-CN" altLang="en-US" sz="2270" dirty="0">
              <a:solidFill>
                <a:srgbClr val="CC0000"/>
              </a:solidFill>
              <a:latin typeface="Arial" panose="020B0604020202020204" pitchFamily="34" charset="0"/>
              <a:ea typeface="微软雅黑" panose="020B0503020204020204" charset="-122"/>
              <a:sym typeface="Symbol" panose="05050102010706020507" pitchFamily="18" charset="2"/>
            </a:endParaRPr>
          </a:p>
        </p:txBody>
      </p:sp>
      <p:sp>
        <p:nvSpPr>
          <p:cNvPr id="15370" name="Text Box 9"/>
          <p:cNvSpPr txBox="1"/>
          <p:nvPr/>
        </p:nvSpPr>
        <p:spPr>
          <a:xfrm>
            <a:off x="792000" y="5184000"/>
            <a:ext cx="6552000" cy="440055"/>
          </a:xfrm>
          <a:prstGeom prst="rect">
            <a:avLst/>
          </a:prstGeom>
          <a:noFill/>
          <a:ln w="9525">
            <a:noFill/>
          </a:ln>
        </p:spPr>
        <p:txBody>
          <a:bodyPr anchor="t" anchorCtr="0">
            <a:spAutoFit/>
          </a:bodyPr>
          <a:p>
            <a:pPr>
              <a:spcBef>
                <a:spcPct val="50000"/>
              </a:spcBef>
            </a:pPr>
            <a:r>
              <a:rPr lang="zh-CN" altLang="en-US" sz="2270" dirty="0">
                <a:solidFill>
                  <a:schemeClr val="accent2"/>
                </a:solidFill>
                <a:latin typeface="Arial" panose="020B0604020202020204" pitchFamily="34" charset="0"/>
                <a:ea typeface="微软雅黑" panose="020B0503020204020204" charset="-122"/>
              </a:rPr>
              <a:t>理想情况： </a:t>
            </a:r>
            <a:r>
              <a:rPr lang="en-US" altLang="zh-CN" sz="2270" i="1" dirty="0">
                <a:solidFill>
                  <a:schemeClr val="accent2"/>
                </a:solidFill>
                <a:latin typeface="Arial" panose="020B0604020202020204" pitchFamily="34" charset="0"/>
                <a:ea typeface="微软雅黑" panose="020B0503020204020204" charset="-122"/>
              </a:rPr>
              <a:t>E</a:t>
            </a:r>
            <a:r>
              <a:rPr lang="zh-CN" altLang="en-US" sz="2270" baseline="-25000" dirty="0">
                <a:solidFill>
                  <a:schemeClr val="accent2"/>
                </a:solidFill>
                <a:latin typeface="Arial" panose="020B0604020202020204" pitchFamily="34" charset="0"/>
                <a:ea typeface="微软雅黑" panose="020B0503020204020204" charset="-122"/>
              </a:rPr>
              <a:t>分 </a:t>
            </a:r>
            <a:r>
              <a:rPr lang="en-US" altLang="zh-CN" sz="2270" dirty="0">
                <a:solidFill>
                  <a:schemeClr val="accent2"/>
                </a:solidFill>
                <a:latin typeface="Arial" panose="020B0604020202020204" pitchFamily="34" charset="0"/>
                <a:ea typeface="微软雅黑" panose="020B0503020204020204" charset="-122"/>
                <a:sym typeface="Symbol" panose="05050102010706020507" pitchFamily="18" charset="2"/>
              </a:rPr>
              <a:t>= </a:t>
            </a:r>
            <a:r>
              <a:rPr lang="en-US" altLang="zh-CN" sz="2270" i="1" dirty="0">
                <a:solidFill>
                  <a:schemeClr val="accent2"/>
                </a:solidFill>
                <a:latin typeface="Arial" panose="020B0604020202020204" pitchFamily="34" charset="0"/>
                <a:ea typeface="微软雅黑" panose="020B0503020204020204" charset="-122"/>
              </a:rPr>
              <a:t>E</a:t>
            </a:r>
            <a:r>
              <a:rPr lang="zh-CN" altLang="en-US" sz="2270" baseline="-25000" dirty="0">
                <a:solidFill>
                  <a:schemeClr val="accent2"/>
                </a:solidFill>
                <a:latin typeface="Arial" panose="020B0604020202020204" pitchFamily="34" charset="0"/>
                <a:ea typeface="微软雅黑" panose="020B0503020204020204" charset="-122"/>
              </a:rPr>
              <a:t>理</a:t>
            </a:r>
            <a:r>
              <a:rPr lang="zh-CN" altLang="en-US" sz="2270" baseline="-25000" dirty="0">
                <a:solidFill>
                  <a:srgbClr val="FF00FF"/>
                </a:solidFill>
                <a:latin typeface="Arial" panose="020B0604020202020204" pitchFamily="34" charset="0"/>
                <a:ea typeface="微软雅黑" panose="020B0503020204020204" charset="-122"/>
              </a:rPr>
              <a:t> </a:t>
            </a:r>
            <a:r>
              <a:rPr lang="zh-CN" altLang="en-US" sz="2270" dirty="0">
                <a:solidFill>
                  <a:srgbClr val="008080"/>
                </a:solidFill>
                <a:latin typeface="Arial" panose="020B0604020202020204" pitchFamily="34" charset="0"/>
                <a:ea typeface="微软雅黑" panose="020B0503020204020204" charset="-122"/>
              </a:rPr>
              <a:t>(由</a:t>
            </a:r>
            <a:r>
              <a:rPr lang="en-US" altLang="zh-CN" sz="2270" dirty="0">
                <a:solidFill>
                  <a:srgbClr val="008080"/>
                </a:solidFill>
                <a:latin typeface="Arial" panose="020B0604020202020204" pitchFamily="34" charset="0"/>
                <a:ea typeface="微软雅黑" panose="020B0503020204020204" charset="-122"/>
              </a:rPr>
              <a:t>Nernst</a:t>
            </a:r>
            <a:r>
              <a:rPr lang="zh-CN" altLang="en-US" sz="2270" dirty="0">
                <a:solidFill>
                  <a:srgbClr val="008080"/>
                </a:solidFill>
                <a:latin typeface="Arial" panose="020B0604020202020204" pitchFamily="34" charset="0"/>
                <a:ea typeface="微软雅黑" panose="020B0503020204020204" charset="-122"/>
              </a:rPr>
              <a:t>方程计算得出) </a:t>
            </a:r>
            <a:endParaRPr lang="en-US" altLang="zh-CN" sz="1890" dirty="0">
              <a:solidFill>
                <a:srgbClr val="008080"/>
              </a:solidFill>
              <a:latin typeface="Arial" panose="020B0604020202020204" pitchFamily="34" charset="0"/>
              <a:ea typeface="微软雅黑" panose="020B0503020204020204" charset="-122"/>
            </a:endParaRPr>
          </a:p>
        </p:txBody>
      </p:sp>
      <p:sp>
        <p:nvSpPr>
          <p:cNvPr id="15371" name="Text Box 10"/>
          <p:cNvSpPr txBox="1"/>
          <p:nvPr/>
        </p:nvSpPr>
        <p:spPr>
          <a:xfrm>
            <a:off x="792000" y="5760000"/>
            <a:ext cx="6768000" cy="440055"/>
          </a:xfrm>
          <a:prstGeom prst="rect">
            <a:avLst/>
          </a:prstGeom>
          <a:noFill/>
          <a:ln w="9525">
            <a:noFill/>
          </a:ln>
        </p:spPr>
        <p:txBody>
          <a:bodyPr anchor="t" anchorCtr="0">
            <a:spAutoFit/>
          </a:bodyPr>
          <a:p>
            <a:pPr>
              <a:spcBef>
                <a:spcPct val="50000"/>
              </a:spcBef>
            </a:pPr>
            <a:r>
              <a:rPr lang="zh-CN" altLang="en-US" sz="2270" dirty="0">
                <a:solidFill>
                  <a:schemeClr val="accent2"/>
                </a:solidFill>
                <a:latin typeface="Arial" panose="020B0604020202020204" pitchFamily="34" charset="0"/>
                <a:ea typeface="微软雅黑" panose="020B0503020204020204" charset="-122"/>
              </a:rPr>
              <a:t>但实际上通常： </a:t>
            </a:r>
            <a:r>
              <a:rPr lang="en-US" altLang="zh-CN" sz="2270" i="1" dirty="0">
                <a:solidFill>
                  <a:schemeClr val="accent2"/>
                </a:solidFill>
                <a:latin typeface="Arial" panose="020B0604020202020204" pitchFamily="34" charset="0"/>
                <a:ea typeface="微软雅黑" panose="020B0503020204020204" charset="-122"/>
              </a:rPr>
              <a:t>E</a:t>
            </a:r>
            <a:r>
              <a:rPr lang="zh-CN" altLang="en-US" sz="2270" baseline="-25000" dirty="0">
                <a:solidFill>
                  <a:schemeClr val="accent2"/>
                </a:solidFill>
                <a:latin typeface="Arial" panose="020B0604020202020204" pitchFamily="34" charset="0"/>
                <a:ea typeface="微软雅黑" panose="020B0503020204020204" charset="-122"/>
              </a:rPr>
              <a:t>分 </a:t>
            </a:r>
            <a:r>
              <a:rPr lang="en-US" altLang="zh-CN" sz="2270" dirty="0">
                <a:solidFill>
                  <a:schemeClr val="accent2"/>
                </a:solidFill>
                <a:latin typeface="Arial" panose="020B0604020202020204" pitchFamily="34" charset="0"/>
                <a:ea typeface="微软雅黑" panose="020B0503020204020204" charset="-122"/>
                <a:sym typeface="Symbol" panose="05050102010706020507" pitchFamily="18" charset="2"/>
              </a:rPr>
              <a:t>&gt; </a:t>
            </a:r>
            <a:r>
              <a:rPr lang="en-US" altLang="zh-CN" sz="2270" i="1" dirty="0">
                <a:solidFill>
                  <a:schemeClr val="accent2"/>
                </a:solidFill>
                <a:latin typeface="Arial" panose="020B0604020202020204" pitchFamily="34" charset="0"/>
                <a:ea typeface="微软雅黑" panose="020B0503020204020204" charset="-122"/>
              </a:rPr>
              <a:t>E</a:t>
            </a:r>
            <a:r>
              <a:rPr lang="zh-CN" altLang="en-US" sz="2270" baseline="-25000" dirty="0">
                <a:solidFill>
                  <a:schemeClr val="accent2"/>
                </a:solidFill>
                <a:latin typeface="Arial" panose="020B0604020202020204" pitchFamily="34" charset="0"/>
                <a:ea typeface="微软雅黑" panose="020B0503020204020204" charset="-122"/>
              </a:rPr>
              <a:t>理</a:t>
            </a:r>
            <a:r>
              <a:rPr lang="zh-CN" altLang="en-US" sz="2270" dirty="0">
                <a:solidFill>
                  <a:schemeClr val="accent2"/>
                </a:solidFill>
                <a:latin typeface="Arial" panose="020B0604020202020204" pitchFamily="34" charset="0"/>
                <a:ea typeface="微软雅黑" panose="020B0503020204020204" charset="-122"/>
              </a:rPr>
              <a:t>，</a:t>
            </a:r>
            <a:r>
              <a:rPr lang="zh-CN" altLang="en-US" sz="2270" baseline="-25000" dirty="0">
                <a:solidFill>
                  <a:schemeClr val="accent2"/>
                </a:solidFill>
                <a:latin typeface="Arial" panose="020B0604020202020204" pitchFamily="34" charset="0"/>
                <a:ea typeface="微软雅黑" panose="020B0503020204020204" charset="-122"/>
              </a:rPr>
              <a:t> </a:t>
            </a:r>
            <a:r>
              <a:rPr lang="zh-CN" altLang="en-US" sz="2270" dirty="0">
                <a:solidFill>
                  <a:schemeClr val="accent2"/>
                </a:solidFill>
                <a:latin typeface="Arial" panose="020B0604020202020204" pitchFamily="34" charset="0"/>
                <a:ea typeface="微软雅黑" panose="020B0503020204020204" charset="-122"/>
              </a:rPr>
              <a:t>原因：</a:t>
            </a:r>
            <a:r>
              <a:rPr lang="zh-CN" altLang="en-US" sz="2270" dirty="0">
                <a:solidFill>
                  <a:srgbClr val="CC0000"/>
                </a:solidFill>
                <a:latin typeface="Arial" panose="020B0604020202020204" pitchFamily="34" charset="0"/>
                <a:ea typeface="微软雅黑" panose="020B0503020204020204" charset="-122"/>
              </a:rPr>
              <a:t>电极极化</a:t>
            </a:r>
            <a:endParaRPr lang="zh-CN" altLang="en-US" sz="2270" dirty="0">
              <a:solidFill>
                <a:srgbClr val="CC0000"/>
              </a:solidFill>
              <a:latin typeface="Arial" panose="020B0604020202020204" pitchFamily="34" charset="0"/>
              <a:ea typeface="微软雅黑" panose="020B050302020402020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5367"/>
                                        </p:tgtEl>
                                        <p:attrNameLst>
                                          <p:attrName>style.visibility</p:attrName>
                                        </p:attrNameLst>
                                      </p:cBhvr>
                                      <p:to>
                                        <p:strVal val="visible"/>
                                      </p:to>
                                    </p:set>
                                    <p:animEffect transition="in" filter="blinds(vertical)">
                                      <p:cBhvr>
                                        <p:cTn id="7" dur="500"/>
                                        <p:tgtEl>
                                          <p:spTgt spid="153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5364"/>
                                        </p:tgtEl>
                                        <p:attrNameLst>
                                          <p:attrName>style.visibility</p:attrName>
                                        </p:attrNameLst>
                                      </p:cBhvr>
                                      <p:to>
                                        <p:strVal val="visible"/>
                                      </p:to>
                                    </p:set>
                                    <p:animEffect transition="in" filter="blinds(vertical)">
                                      <p:cBhvr>
                                        <p:cTn id="12" dur="500"/>
                                        <p:tgtEl>
                                          <p:spTgt spid="1536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5365"/>
                                        </p:tgtEl>
                                        <p:attrNameLst>
                                          <p:attrName>style.visibility</p:attrName>
                                        </p:attrNameLst>
                                      </p:cBhvr>
                                      <p:to>
                                        <p:strVal val="visible"/>
                                      </p:to>
                                    </p:set>
                                    <p:animEffect transition="in" filter="blinds(vertical)">
                                      <p:cBhvr>
                                        <p:cTn id="17" dur="500"/>
                                        <p:tgtEl>
                                          <p:spTgt spid="1536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5366"/>
                                        </p:tgtEl>
                                        <p:attrNameLst>
                                          <p:attrName>style.visibility</p:attrName>
                                        </p:attrNameLst>
                                      </p:cBhvr>
                                      <p:to>
                                        <p:strVal val="visible"/>
                                      </p:to>
                                    </p:set>
                                    <p:animEffect transition="in" filter="blinds(vertical)">
                                      <p:cBhvr>
                                        <p:cTn id="22" dur="500"/>
                                        <p:tgtEl>
                                          <p:spTgt spid="1536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5368"/>
                                        </p:tgtEl>
                                        <p:attrNameLst>
                                          <p:attrName>style.visibility</p:attrName>
                                        </p:attrNameLst>
                                      </p:cBhvr>
                                      <p:to>
                                        <p:strVal val="visible"/>
                                      </p:to>
                                    </p:set>
                                    <p:animEffect transition="in" filter="blinds(vertical)">
                                      <p:cBhvr>
                                        <p:cTn id="27" dur="500"/>
                                        <p:tgtEl>
                                          <p:spTgt spid="1536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15369"/>
                                        </p:tgtEl>
                                        <p:attrNameLst>
                                          <p:attrName>style.visibility</p:attrName>
                                        </p:attrNameLst>
                                      </p:cBhvr>
                                      <p:to>
                                        <p:strVal val="visible"/>
                                      </p:to>
                                    </p:set>
                                    <p:animEffect transition="in" filter="blinds(vertical)">
                                      <p:cBhvr>
                                        <p:cTn id="32" dur="500"/>
                                        <p:tgtEl>
                                          <p:spTgt spid="1536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15370"/>
                                        </p:tgtEl>
                                        <p:attrNameLst>
                                          <p:attrName>style.visibility</p:attrName>
                                        </p:attrNameLst>
                                      </p:cBhvr>
                                      <p:to>
                                        <p:strVal val="visible"/>
                                      </p:to>
                                    </p:set>
                                    <p:animEffect transition="in" filter="blinds(vertical)">
                                      <p:cBhvr>
                                        <p:cTn id="37" dur="500"/>
                                        <p:tgtEl>
                                          <p:spTgt spid="1537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15371"/>
                                        </p:tgtEl>
                                        <p:attrNameLst>
                                          <p:attrName>style.visibility</p:attrName>
                                        </p:attrNameLst>
                                      </p:cBhvr>
                                      <p:to>
                                        <p:strVal val="visible"/>
                                      </p:to>
                                    </p:set>
                                    <p:animEffect transition="in" filter="blinds(vertical)">
                                      <p:cBhvr>
                                        <p:cTn id="42" dur="500"/>
                                        <p:tgtEl>
                                          <p:spTgt spid="15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p:bldP spid="15365" grpId="0"/>
      <p:bldP spid="15366" grpId="0"/>
      <p:bldP spid="15367" grpId="0"/>
      <p:bldP spid="15368" grpId="0"/>
      <p:bldP spid="15369" grpId="0"/>
      <p:bldP spid="15370" grpId="0"/>
      <p:bldP spid="1537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矩形 16385"/>
          <p:cNvSpPr/>
          <p:nvPr/>
        </p:nvSpPr>
        <p:spPr>
          <a:xfrm>
            <a:off x="685500" y="153000"/>
            <a:ext cx="7773000" cy="609000"/>
          </a:xfrm>
          <a:prstGeom prst="rect">
            <a:avLst/>
          </a:prstGeom>
          <a:noFill/>
          <a:ln w="9525">
            <a:noFill/>
          </a:ln>
        </p:spPr>
        <p:txBody>
          <a:bodyPr anchor="ctr" anchorCtr="0"/>
          <a:p>
            <a:pPr algn="ctr"/>
            <a:r>
              <a:rPr lang="zh-CN" altLang="en-US" sz="3400" b="0">
                <a:solidFill>
                  <a:srgbClr val="0000FF"/>
                </a:solidFill>
                <a:latin typeface="Arial" panose="020B0604020202020204" pitchFamily="34" charset="0"/>
                <a:ea typeface="微软雅黑" panose="020B0503020204020204" charset="-122"/>
              </a:rPr>
              <a:t>分解电压的测定</a:t>
            </a:r>
            <a:endParaRPr lang="zh-CN" altLang="en-US" sz="3400" b="0">
              <a:solidFill>
                <a:srgbClr val="0000FF"/>
              </a:solidFill>
              <a:latin typeface="Arial" panose="020B0604020202020204" pitchFamily="34" charset="0"/>
              <a:ea typeface="微软雅黑" panose="020B0503020204020204" charset="-122"/>
            </a:endParaRPr>
          </a:p>
        </p:txBody>
      </p:sp>
      <p:sp>
        <p:nvSpPr>
          <p:cNvPr id="16386" name="文本框 16386"/>
          <p:cNvSpPr txBox="1"/>
          <p:nvPr/>
        </p:nvSpPr>
        <p:spPr>
          <a:xfrm>
            <a:off x="153000" y="1296000"/>
            <a:ext cx="4191000" cy="1711960"/>
          </a:xfrm>
          <a:prstGeom prst="rect">
            <a:avLst/>
          </a:prstGeom>
          <a:noFill/>
          <a:ln w="9525">
            <a:noFill/>
          </a:ln>
        </p:spPr>
        <p:txBody>
          <a:bodyPr tIns="0" bIns="0" anchor="t" anchorCtr="0">
            <a:spAutoFit/>
          </a:bodyPr>
          <a:p>
            <a:pPr eaLnBrk="0" hangingPunct="0">
              <a:lnSpc>
                <a:spcPct val="140000"/>
              </a:lnSpc>
            </a:pPr>
            <a:r>
              <a:rPr lang="en-US" altLang="zh-CN" sz="2645">
                <a:latin typeface="Arial" panose="020B0604020202020204" pitchFamily="34" charset="0"/>
                <a:ea typeface="微软雅黑" panose="020B0503020204020204" charset="-122"/>
              </a:rPr>
              <a:t>    </a:t>
            </a:r>
            <a:r>
              <a:rPr lang="zh-CN" altLang="en-US" sz="2645">
                <a:latin typeface="Arial" panose="020B0604020202020204" pitchFamily="34" charset="0"/>
                <a:ea typeface="微软雅黑" panose="020B0503020204020204" charset="-122"/>
              </a:rPr>
              <a:t>使用</a:t>
            </a:r>
            <a:r>
              <a:rPr lang="en-US" altLang="zh-CN" sz="2645">
                <a:latin typeface="Arial" panose="020B0604020202020204" pitchFamily="34" charset="0"/>
                <a:ea typeface="微软雅黑" panose="020B0503020204020204" charset="-122"/>
              </a:rPr>
              <a:t>Pt</a:t>
            </a:r>
            <a:r>
              <a:rPr lang="zh-CN" altLang="en-US" sz="2645">
                <a:latin typeface="Arial" panose="020B0604020202020204" pitchFamily="34" charset="0"/>
                <a:ea typeface="微软雅黑" panose="020B0503020204020204" charset="-122"/>
              </a:rPr>
              <a:t>电极电解</a:t>
            </a:r>
            <a:r>
              <a:rPr lang="en-US" altLang="zh-CN" sz="2645">
                <a:latin typeface="Arial" panose="020B0604020202020204" pitchFamily="34" charset="0"/>
                <a:ea typeface="微软雅黑" panose="020B0503020204020204" charset="-122"/>
              </a:rPr>
              <a:t>HCl</a:t>
            </a:r>
            <a:r>
              <a:rPr lang="zh-CN" altLang="en-US" sz="2645">
                <a:latin typeface="Arial" panose="020B0604020202020204" pitchFamily="34" charset="0"/>
                <a:ea typeface="微软雅黑" panose="020B0503020204020204" charset="-122"/>
              </a:rPr>
              <a:t>，加入中性盐用来导电，实验装置如图所示。</a:t>
            </a:r>
            <a:endParaRPr lang="zh-CN" altLang="en-US" sz="2645">
              <a:latin typeface="Arial" panose="020B0604020202020204" pitchFamily="34" charset="0"/>
              <a:ea typeface="微软雅黑" panose="020B0503020204020204" charset="-122"/>
            </a:endParaRPr>
          </a:p>
        </p:txBody>
      </p:sp>
      <p:sp>
        <p:nvSpPr>
          <p:cNvPr id="16387" name="文本框 16387"/>
          <p:cNvSpPr txBox="1"/>
          <p:nvPr/>
        </p:nvSpPr>
        <p:spPr>
          <a:xfrm>
            <a:off x="228000" y="3201000"/>
            <a:ext cx="4039500" cy="2282190"/>
          </a:xfrm>
          <a:prstGeom prst="rect">
            <a:avLst/>
          </a:prstGeom>
          <a:noFill/>
          <a:ln w="9525">
            <a:noFill/>
          </a:ln>
        </p:spPr>
        <p:txBody>
          <a:bodyPr tIns="0" bIns="0" anchor="t" anchorCtr="0">
            <a:spAutoFit/>
          </a:bodyPr>
          <a:p>
            <a:pPr eaLnBrk="0" hangingPunct="0">
              <a:lnSpc>
                <a:spcPct val="140000"/>
              </a:lnSpc>
            </a:pPr>
            <a:r>
              <a:rPr lang="en-US" altLang="zh-CN" sz="2645">
                <a:latin typeface="Arial" panose="020B0604020202020204" pitchFamily="34" charset="0"/>
                <a:ea typeface="微软雅黑" panose="020B0503020204020204" charset="-122"/>
              </a:rPr>
              <a:t>    </a:t>
            </a:r>
            <a:r>
              <a:rPr lang="zh-CN" altLang="en-US" sz="2645">
                <a:latin typeface="Arial" panose="020B0604020202020204" pitchFamily="34" charset="0"/>
                <a:ea typeface="微软雅黑" panose="020B0503020204020204" charset="-122"/>
              </a:rPr>
              <a:t>逐渐增加外加电压，由安培计</a:t>
            </a:r>
            <a:r>
              <a:rPr lang="en-US" altLang="zh-CN" sz="2645" i="1">
                <a:latin typeface="Arial" panose="020B0604020202020204" pitchFamily="34" charset="0"/>
                <a:ea typeface="微软雅黑" panose="020B0503020204020204" charset="-122"/>
              </a:rPr>
              <a:t>G</a:t>
            </a:r>
            <a:r>
              <a:rPr lang="zh-CN" altLang="en-US" sz="2645">
                <a:latin typeface="Arial" panose="020B0604020202020204" pitchFamily="34" charset="0"/>
                <a:ea typeface="微软雅黑" panose="020B0503020204020204" charset="-122"/>
              </a:rPr>
              <a:t>和伏特计</a:t>
            </a:r>
            <a:r>
              <a:rPr lang="en-US" altLang="zh-CN" sz="2645" i="1">
                <a:latin typeface="Arial" panose="020B0604020202020204" pitchFamily="34" charset="0"/>
                <a:ea typeface="微软雅黑" panose="020B0503020204020204" charset="-122"/>
              </a:rPr>
              <a:t>V</a:t>
            </a:r>
            <a:r>
              <a:rPr lang="zh-CN" altLang="en-US" sz="2645">
                <a:latin typeface="Arial" panose="020B0604020202020204" pitchFamily="34" charset="0"/>
                <a:ea typeface="微软雅黑" panose="020B0503020204020204" charset="-122"/>
              </a:rPr>
              <a:t>分别测定线路中的电流强度</a:t>
            </a:r>
            <a:r>
              <a:rPr lang="en-US" altLang="zh-CN" sz="2645" i="1">
                <a:latin typeface="Arial" panose="020B0604020202020204" pitchFamily="34" charset="0"/>
                <a:ea typeface="微软雅黑" panose="020B0503020204020204" charset="-122"/>
              </a:rPr>
              <a:t>I </a:t>
            </a:r>
            <a:r>
              <a:rPr lang="zh-CN" altLang="en-US" sz="2645">
                <a:latin typeface="Arial" panose="020B0604020202020204" pitchFamily="34" charset="0"/>
                <a:ea typeface="微软雅黑" panose="020B0503020204020204" charset="-122"/>
              </a:rPr>
              <a:t>和电压</a:t>
            </a:r>
            <a:r>
              <a:rPr lang="en-US" altLang="zh-CN" sz="2645" i="1">
                <a:latin typeface="Arial" panose="020B0604020202020204" pitchFamily="34" charset="0"/>
                <a:ea typeface="微软雅黑" panose="020B0503020204020204" charset="-122"/>
              </a:rPr>
              <a:t>E</a:t>
            </a:r>
            <a:r>
              <a:rPr lang="zh-CN" altLang="en-US" sz="2645">
                <a:latin typeface="Arial" panose="020B0604020202020204" pitchFamily="34" charset="0"/>
                <a:ea typeface="微软雅黑" panose="020B0503020204020204" charset="-122"/>
              </a:rPr>
              <a:t>，画出</a:t>
            </a:r>
            <a:r>
              <a:rPr lang="en-US" altLang="zh-CN" sz="2645" i="1">
                <a:latin typeface="Arial" panose="020B0604020202020204" pitchFamily="34" charset="0"/>
                <a:ea typeface="微软雅黑" panose="020B0503020204020204" charset="-122"/>
              </a:rPr>
              <a:t>I-E</a:t>
            </a:r>
            <a:r>
              <a:rPr lang="zh-CN" altLang="en-US" sz="2645">
                <a:latin typeface="Arial" panose="020B0604020202020204" pitchFamily="34" charset="0"/>
                <a:ea typeface="微软雅黑" panose="020B0503020204020204" charset="-122"/>
              </a:rPr>
              <a:t>曲线。</a:t>
            </a:r>
            <a:endParaRPr lang="zh-CN" altLang="en-US" sz="2645">
              <a:latin typeface="Arial" panose="020B0604020202020204" pitchFamily="34" charset="0"/>
              <a:ea typeface="微软雅黑" panose="020B0503020204020204" charset="-122"/>
            </a:endParaRPr>
          </a:p>
        </p:txBody>
      </p:sp>
      <p:grpSp>
        <p:nvGrpSpPr>
          <p:cNvPr id="16388" name="组合 9219"/>
          <p:cNvGrpSpPr/>
          <p:nvPr/>
        </p:nvGrpSpPr>
        <p:grpSpPr>
          <a:xfrm>
            <a:off x="5049000" y="1707000"/>
            <a:ext cx="3570000" cy="4212199"/>
            <a:chOff x="0" y="0"/>
            <a:chExt cx="2249" cy="2846"/>
          </a:xfrm>
        </p:grpSpPr>
        <p:sp>
          <p:nvSpPr>
            <p:cNvPr id="16389" name="未知"/>
            <p:cNvSpPr/>
            <p:nvPr/>
          </p:nvSpPr>
          <p:spPr>
            <a:xfrm>
              <a:off x="1326" y="678"/>
              <a:ext cx="324" cy="858"/>
            </a:xfrm>
            <a:custGeom>
              <a:avLst/>
              <a:gdLst/>
              <a:ahLst/>
              <a:cxnLst/>
              <a:pathLst>
                <a:path w="324" h="858">
                  <a:moveTo>
                    <a:pt x="0" y="858"/>
                  </a:moveTo>
                  <a:cubicBezTo>
                    <a:pt x="14" y="805"/>
                    <a:pt x="37" y="624"/>
                    <a:pt x="85" y="541"/>
                  </a:cubicBezTo>
                  <a:cubicBezTo>
                    <a:pt x="133" y="458"/>
                    <a:pt x="250" y="449"/>
                    <a:pt x="287" y="359"/>
                  </a:cubicBezTo>
                  <a:cubicBezTo>
                    <a:pt x="324" y="269"/>
                    <a:pt x="302" y="75"/>
                    <a:pt x="306" y="0"/>
                  </a:cubicBezTo>
                </a:path>
              </a:pathLst>
            </a:custGeom>
            <a:noFill/>
            <a:ln w="28575" cap="flat" cmpd="sng">
              <a:solidFill>
                <a:srgbClr val="006600"/>
              </a:solidFill>
              <a:prstDash val="solid"/>
              <a:round/>
              <a:headEnd type="none" w="med" len="med"/>
              <a:tailEnd type="stealth" w="med" len="med"/>
            </a:ln>
          </p:spPr>
          <p:txBody>
            <a:bodyPr/>
            <a:p>
              <a:endParaRPr lang="zh-CN" altLang="en-US" sz="1890"/>
            </a:p>
          </p:txBody>
        </p:sp>
        <p:sp>
          <p:nvSpPr>
            <p:cNvPr id="16390" name="文本框 9221"/>
            <p:cNvSpPr txBox="1"/>
            <p:nvPr/>
          </p:nvSpPr>
          <p:spPr>
            <a:xfrm>
              <a:off x="0" y="2588"/>
              <a:ext cx="1872" cy="258"/>
            </a:xfrm>
            <a:prstGeom prst="rect">
              <a:avLst/>
            </a:prstGeom>
            <a:noFill/>
            <a:ln w="9525">
              <a:noFill/>
            </a:ln>
          </p:spPr>
          <p:txBody>
            <a:bodyPr anchor="t" anchorCtr="0">
              <a:spAutoFit/>
            </a:bodyPr>
            <a:p>
              <a:pPr marL="282575" indent="-282575" eaLnBrk="0" hangingPunct="0">
                <a:spcBef>
                  <a:spcPct val="50000"/>
                </a:spcBef>
                <a:buChar char="•"/>
              </a:pPr>
              <a:r>
                <a:rPr lang="zh-CN" altLang="en-US" sz="1890" b="0">
                  <a:latin typeface="Arial" panose="020B0604020202020204" pitchFamily="34" charset="0"/>
                  <a:ea typeface="微软雅黑" panose="020B0503020204020204" charset="-122"/>
                </a:rPr>
                <a:t>分解电压的测定装置</a:t>
              </a:r>
              <a:endParaRPr lang="zh-CN" altLang="en-US" sz="1890" b="0">
                <a:latin typeface="Arial" panose="020B0604020202020204" pitchFamily="34" charset="0"/>
                <a:ea typeface="微软雅黑" panose="020B0503020204020204" charset="-122"/>
              </a:endParaRPr>
            </a:p>
          </p:txBody>
        </p:sp>
        <p:sp>
          <p:nvSpPr>
            <p:cNvPr id="16391" name="矩形 9222"/>
            <p:cNvSpPr/>
            <p:nvPr/>
          </p:nvSpPr>
          <p:spPr>
            <a:xfrm>
              <a:off x="480" y="1711"/>
              <a:ext cx="1008" cy="536"/>
            </a:xfrm>
            <a:prstGeom prst="rect">
              <a:avLst/>
            </a:prstGeom>
            <a:pattFill prst="dashUpDiag">
              <a:fgClr>
                <a:srgbClr val="00CCFF"/>
              </a:fgClr>
              <a:bgClr>
                <a:srgbClr val="FFFFFF"/>
              </a:bgClr>
            </a:pattFill>
            <a:ln w="3175" cap="flat" cmpd="sng">
              <a:pattFill prst="trellis">
                <a:fgClr>
                  <a:srgbClr val="006600"/>
                </a:fgClr>
                <a:bgClr>
                  <a:srgbClr val="FFFFFF"/>
                </a:bgClr>
              </a:pattFill>
              <a:prstDash val="solid"/>
              <a:miter/>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16392" name="圆角矩形 9223"/>
            <p:cNvSpPr/>
            <p:nvPr/>
          </p:nvSpPr>
          <p:spPr>
            <a:xfrm>
              <a:off x="480" y="2198"/>
              <a:ext cx="1008" cy="341"/>
            </a:xfrm>
            <a:prstGeom prst="roundRect">
              <a:avLst>
                <a:gd name="adj" fmla="val 16667"/>
              </a:avLst>
            </a:prstGeom>
            <a:pattFill prst="dashUpDiag">
              <a:fgClr>
                <a:srgbClr val="00CCFF"/>
              </a:fgClr>
              <a:bgClr>
                <a:srgbClr val="FFFFFF"/>
              </a:bgClr>
            </a:pattFill>
            <a:ln w="9525" cap="flat" cmpd="sng">
              <a:solidFill>
                <a:srgbClr val="00CCFF"/>
              </a:solidFill>
              <a:prstDash val="solid"/>
              <a:round/>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16393" name="直接连接符 9224"/>
            <p:cNvSpPr/>
            <p:nvPr/>
          </p:nvSpPr>
          <p:spPr>
            <a:xfrm>
              <a:off x="528" y="2539"/>
              <a:ext cx="912" cy="0"/>
            </a:xfrm>
            <a:prstGeom prst="line">
              <a:avLst/>
            </a:prstGeom>
            <a:ln w="76200" cap="flat" cmpd="sng">
              <a:pattFill prst="trellis">
                <a:fgClr>
                  <a:srgbClr val="006600"/>
                </a:fgClr>
                <a:bgClr>
                  <a:srgbClr val="FFFFFF"/>
                </a:bgClr>
              </a:pattFill>
              <a:prstDash val="solid"/>
              <a:round/>
              <a:headEnd type="none" w="med" len="med"/>
              <a:tailEnd type="none" w="med" len="med"/>
            </a:ln>
          </p:spPr>
        </p:sp>
        <p:sp>
          <p:nvSpPr>
            <p:cNvPr id="16394" name="直接连接符 9225"/>
            <p:cNvSpPr/>
            <p:nvPr/>
          </p:nvSpPr>
          <p:spPr>
            <a:xfrm>
              <a:off x="480" y="1516"/>
              <a:ext cx="0" cy="974"/>
            </a:xfrm>
            <a:prstGeom prst="line">
              <a:avLst/>
            </a:prstGeom>
            <a:ln w="76200" cap="flat" cmpd="sng">
              <a:pattFill prst="trellis">
                <a:fgClr>
                  <a:srgbClr val="006600"/>
                </a:fgClr>
                <a:bgClr>
                  <a:srgbClr val="FFFFFF"/>
                </a:bgClr>
              </a:pattFill>
              <a:prstDash val="solid"/>
              <a:round/>
              <a:headEnd type="none" w="med" len="med"/>
              <a:tailEnd type="none" w="med" len="med"/>
            </a:ln>
          </p:spPr>
        </p:sp>
        <p:sp>
          <p:nvSpPr>
            <p:cNvPr id="16395" name="直接连接符 9226"/>
            <p:cNvSpPr/>
            <p:nvPr/>
          </p:nvSpPr>
          <p:spPr>
            <a:xfrm>
              <a:off x="1488" y="1516"/>
              <a:ext cx="0" cy="974"/>
            </a:xfrm>
            <a:prstGeom prst="line">
              <a:avLst/>
            </a:prstGeom>
            <a:ln w="76200" cap="flat" cmpd="sng">
              <a:pattFill prst="trellis">
                <a:fgClr>
                  <a:srgbClr val="006600"/>
                </a:fgClr>
                <a:bgClr>
                  <a:srgbClr val="FFFFFF"/>
                </a:bgClr>
              </a:pattFill>
              <a:prstDash val="solid"/>
              <a:round/>
              <a:headEnd type="none" w="med" len="med"/>
              <a:tailEnd type="none" w="med" len="med"/>
            </a:ln>
          </p:spPr>
        </p:sp>
        <p:sp>
          <p:nvSpPr>
            <p:cNvPr id="16396" name="未知"/>
            <p:cNvSpPr/>
            <p:nvPr/>
          </p:nvSpPr>
          <p:spPr>
            <a:xfrm>
              <a:off x="480" y="2474"/>
              <a:ext cx="48" cy="65"/>
            </a:xfrm>
            <a:custGeom>
              <a:avLst/>
              <a:gdLst/>
              <a:ahLst/>
              <a:cxnLst/>
              <a:pathLst>
                <a:path w="69" h="97">
                  <a:moveTo>
                    <a:pt x="0" y="0"/>
                  </a:moveTo>
                  <a:cubicBezTo>
                    <a:pt x="1" y="14"/>
                    <a:pt x="3" y="31"/>
                    <a:pt x="9" y="43"/>
                  </a:cubicBezTo>
                  <a:cubicBezTo>
                    <a:pt x="11" y="54"/>
                    <a:pt x="16" y="66"/>
                    <a:pt x="25" y="73"/>
                  </a:cubicBezTo>
                  <a:cubicBezTo>
                    <a:pt x="30" y="82"/>
                    <a:pt x="38" y="86"/>
                    <a:pt x="48" y="88"/>
                  </a:cubicBezTo>
                  <a:cubicBezTo>
                    <a:pt x="53" y="91"/>
                    <a:pt x="57" y="93"/>
                    <a:pt x="63" y="94"/>
                  </a:cubicBezTo>
                  <a:cubicBezTo>
                    <a:pt x="68" y="96"/>
                    <a:pt x="66" y="97"/>
                    <a:pt x="69" y="94"/>
                  </a:cubicBezTo>
                </a:path>
              </a:pathLst>
            </a:custGeom>
            <a:noFill/>
            <a:ln w="76200" cap="flat" cmpd="sng">
              <a:pattFill prst="trellis">
                <a:fgClr>
                  <a:srgbClr val="006600"/>
                </a:fgClr>
                <a:bgClr>
                  <a:srgbClr val="FFFFFF"/>
                </a:bgClr>
              </a:pattFill>
              <a:prstDash val="solid"/>
              <a:round/>
              <a:headEnd type="none" w="med" len="med"/>
              <a:tailEnd type="none" w="med" len="med"/>
            </a:ln>
          </p:spPr>
          <p:txBody>
            <a:bodyPr/>
            <a:p>
              <a:endParaRPr lang="zh-CN" altLang="en-US" sz="1890"/>
            </a:p>
          </p:txBody>
        </p:sp>
        <p:sp>
          <p:nvSpPr>
            <p:cNvPr id="16397" name="未知"/>
            <p:cNvSpPr/>
            <p:nvPr/>
          </p:nvSpPr>
          <p:spPr>
            <a:xfrm flipH="1">
              <a:off x="1440" y="2473"/>
              <a:ext cx="48" cy="66"/>
            </a:xfrm>
            <a:custGeom>
              <a:avLst/>
              <a:gdLst/>
              <a:ahLst/>
              <a:cxnLst/>
              <a:pathLst>
                <a:path w="69" h="97">
                  <a:moveTo>
                    <a:pt x="0" y="0"/>
                  </a:moveTo>
                  <a:cubicBezTo>
                    <a:pt x="1" y="14"/>
                    <a:pt x="3" y="31"/>
                    <a:pt x="9" y="43"/>
                  </a:cubicBezTo>
                  <a:cubicBezTo>
                    <a:pt x="11" y="54"/>
                    <a:pt x="16" y="66"/>
                    <a:pt x="25" y="73"/>
                  </a:cubicBezTo>
                  <a:cubicBezTo>
                    <a:pt x="30" y="82"/>
                    <a:pt x="38" y="86"/>
                    <a:pt x="48" y="88"/>
                  </a:cubicBezTo>
                  <a:cubicBezTo>
                    <a:pt x="53" y="91"/>
                    <a:pt x="57" y="93"/>
                    <a:pt x="63" y="94"/>
                  </a:cubicBezTo>
                  <a:cubicBezTo>
                    <a:pt x="68" y="96"/>
                    <a:pt x="66" y="97"/>
                    <a:pt x="69" y="94"/>
                  </a:cubicBezTo>
                </a:path>
              </a:pathLst>
            </a:custGeom>
            <a:noFill/>
            <a:ln w="76200" cap="flat" cmpd="sng">
              <a:pattFill prst="trellis">
                <a:fgClr>
                  <a:srgbClr val="006600"/>
                </a:fgClr>
                <a:bgClr>
                  <a:srgbClr val="FFFFFF"/>
                </a:bgClr>
              </a:pattFill>
              <a:prstDash val="solid"/>
              <a:round/>
              <a:headEnd type="none" w="med" len="med"/>
              <a:tailEnd type="none" w="med" len="med"/>
            </a:ln>
          </p:spPr>
          <p:txBody>
            <a:bodyPr/>
            <a:p>
              <a:endParaRPr lang="zh-CN" altLang="en-US" sz="1890"/>
            </a:p>
          </p:txBody>
        </p:sp>
        <p:sp>
          <p:nvSpPr>
            <p:cNvPr id="16398" name="直接连接符 9229"/>
            <p:cNvSpPr/>
            <p:nvPr/>
          </p:nvSpPr>
          <p:spPr>
            <a:xfrm>
              <a:off x="480" y="1703"/>
              <a:ext cx="1008" cy="0"/>
            </a:xfrm>
            <a:prstGeom prst="line">
              <a:avLst/>
            </a:prstGeom>
            <a:ln w="9525" cap="flat" cmpd="sng">
              <a:solidFill>
                <a:schemeClr val="tx1"/>
              </a:solidFill>
              <a:prstDash val="solid"/>
              <a:round/>
              <a:headEnd type="none" w="med" len="med"/>
              <a:tailEnd type="none" w="med" len="med"/>
            </a:ln>
          </p:spPr>
        </p:sp>
        <p:sp>
          <p:nvSpPr>
            <p:cNvPr id="16399" name="直接连接符 9230"/>
            <p:cNvSpPr/>
            <p:nvPr/>
          </p:nvSpPr>
          <p:spPr>
            <a:xfrm>
              <a:off x="811" y="2317"/>
              <a:ext cx="34" cy="0"/>
            </a:xfrm>
            <a:prstGeom prst="line">
              <a:avLst/>
            </a:prstGeom>
            <a:ln w="9525" cap="flat" cmpd="sng">
              <a:solidFill>
                <a:schemeClr val="tx1"/>
              </a:solidFill>
              <a:prstDash val="solid"/>
              <a:round/>
              <a:headEnd type="none" w="med" len="med"/>
              <a:tailEnd type="none" w="med" len="med"/>
            </a:ln>
          </p:spPr>
        </p:sp>
        <p:sp>
          <p:nvSpPr>
            <p:cNvPr id="16400" name="矩形 9231"/>
            <p:cNvSpPr/>
            <p:nvPr/>
          </p:nvSpPr>
          <p:spPr>
            <a:xfrm>
              <a:off x="624" y="1536"/>
              <a:ext cx="48" cy="859"/>
            </a:xfrm>
            <a:prstGeom prst="rect">
              <a:avLst/>
            </a:prstGeom>
            <a:solidFill>
              <a:srgbClr val="808080"/>
            </a:solidFill>
            <a:ln w="9525" cap="flat" cmpd="sng">
              <a:solidFill>
                <a:srgbClr val="808080"/>
              </a:solidFill>
              <a:prstDash val="solid"/>
              <a:miter/>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16401" name="矩形 9232"/>
            <p:cNvSpPr/>
            <p:nvPr/>
          </p:nvSpPr>
          <p:spPr>
            <a:xfrm>
              <a:off x="1296" y="1536"/>
              <a:ext cx="48" cy="859"/>
            </a:xfrm>
            <a:prstGeom prst="rect">
              <a:avLst/>
            </a:prstGeom>
            <a:solidFill>
              <a:srgbClr val="808080"/>
            </a:solidFill>
            <a:ln w="9525" cap="flat" cmpd="sng">
              <a:solidFill>
                <a:srgbClr val="808080"/>
              </a:solidFill>
              <a:prstDash val="solid"/>
              <a:miter/>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16402" name="文本框 9233"/>
            <p:cNvSpPr txBox="1"/>
            <p:nvPr/>
          </p:nvSpPr>
          <p:spPr>
            <a:xfrm>
              <a:off x="864" y="1440"/>
              <a:ext cx="280" cy="258"/>
            </a:xfrm>
            <a:prstGeom prst="rect">
              <a:avLst/>
            </a:prstGeom>
            <a:noFill/>
            <a:ln w="9525">
              <a:noFill/>
            </a:ln>
          </p:spPr>
          <p:txBody>
            <a:bodyPr anchor="t" anchorCtr="0">
              <a:spAutoFit/>
            </a:bodyPr>
            <a:p>
              <a:pPr algn="ctr" eaLnBrk="0" hangingPunct="0">
                <a:spcBef>
                  <a:spcPct val="50000"/>
                </a:spcBef>
              </a:pPr>
              <a:r>
                <a:rPr lang="en-US" altLang="zh-CN" sz="1890" b="0">
                  <a:latin typeface="Arial" panose="020B0604020202020204" pitchFamily="34" charset="0"/>
                  <a:ea typeface="微软雅黑" panose="020B0503020204020204" charset="-122"/>
                </a:rPr>
                <a:t>Pt</a:t>
              </a:r>
              <a:endParaRPr lang="en-US" altLang="zh-CN" sz="1890" b="0">
                <a:latin typeface="Arial" panose="020B0604020202020204" pitchFamily="34" charset="0"/>
                <a:ea typeface="微软雅黑" panose="020B0503020204020204" charset="-122"/>
              </a:endParaRPr>
            </a:p>
          </p:txBody>
        </p:sp>
        <p:sp>
          <p:nvSpPr>
            <p:cNvPr id="16403" name="椭圆 9234"/>
            <p:cNvSpPr/>
            <p:nvPr/>
          </p:nvSpPr>
          <p:spPr>
            <a:xfrm>
              <a:off x="480" y="886"/>
              <a:ext cx="240" cy="244"/>
            </a:xfrm>
            <a:prstGeom prst="ellipse">
              <a:avLst/>
            </a:prstGeom>
            <a:solidFill>
              <a:srgbClr val="FF99CC"/>
            </a:solidFill>
            <a:ln w="9525" cap="flat" cmpd="sng">
              <a:solidFill>
                <a:schemeClr val="tx1"/>
              </a:solidFill>
              <a:prstDash val="solid"/>
              <a:round/>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16404" name="文本框 9235"/>
            <p:cNvSpPr txBox="1"/>
            <p:nvPr/>
          </p:nvSpPr>
          <p:spPr>
            <a:xfrm>
              <a:off x="480" y="902"/>
              <a:ext cx="240" cy="258"/>
            </a:xfrm>
            <a:prstGeom prst="rect">
              <a:avLst/>
            </a:prstGeom>
            <a:noFill/>
            <a:ln w="9525">
              <a:noFill/>
            </a:ln>
          </p:spPr>
          <p:txBody>
            <a:bodyPr anchor="t" anchorCtr="0">
              <a:spAutoFit/>
            </a:bodyPr>
            <a:p>
              <a:pPr eaLnBrk="0" hangingPunct="0">
                <a:spcBef>
                  <a:spcPct val="50000"/>
                </a:spcBef>
              </a:pPr>
              <a:r>
                <a:rPr lang="en-US" altLang="zh-CN" sz="1890" b="0">
                  <a:latin typeface="Arial" panose="020B0604020202020204" pitchFamily="34" charset="0"/>
                  <a:ea typeface="微软雅黑" panose="020B0503020204020204" charset="-122"/>
                </a:rPr>
                <a:t>V</a:t>
              </a:r>
              <a:endParaRPr lang="en-US" altLang="zh-CN" sz="1890" b="0">
                <a:latin typeface="Arial" panose="020B0604020202020204" pitchFamily="34" charset="0"/>
                <a:ea typeface="微软雅黑" panose="020B0503020204020204" charset="-122"/>
              </a:endParaRPr>
            </a:p>
          </p:txBody>
        </p:sp>
        <p:sp>
          <p:nvSpPr>
            <p:cNvPr id="16405" name="矩形 9236"/>
            <p:cNvSpPr/>
            <p:nvPr/>
          </p:nvSpPr>
          <p:spPr>
            <a:xfrm>
              <a:off x="192" y="576"/>
              <a:ext cx="1776" cy="98"/>
            </a:xfrm>
            <a:prstGeom prst="rect">
              <a:avLst/>
            </a:prstGeom>
            <a:pattFill prst="smCheck">
              <a:fgClr>
                <a:srgbClr val="FF3300"/>
              </a:fgClr>
              <a:bgClr>
                <a:srgbClr val="FFFFFF"/>
              </a:bgClr>
            </a:pattFill>
            <a:ln w="9525" cap="flat" cmpd="sng">
              <a:solidFill>
                <a:schemeClr val="tx1"/>
              </a:solidFill>
              <a:prstDash val="solid"/>
              <a:miter/>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grpSp>
          <p:nvGrpSpPr>
            <p:cNvPr id="16406" name="组合 9237"/>
            <p:cNvGrpSpPr/>
            <p:nvPr/>
          </p:nvGrpSpPr>
          <p:grpSpPr>
            <a:xfrm>
              <a:off x="864" y="237"/>
              <a:ext cx="189" cy="243"/>
              <a:chOff x="0" y="0"/>
              <a:chExt cx="288" cy="288"/>
            </a:xfrm>
          </p:grpSpPr>
          <p:sp>
            <p:nvSpPr>
              <p:cNvPr id="16407" name="直接连接符 9238"/>
              <p:cNvSpPr/>
              <p:nvPr/>
            </p:nvSpPr>
            <p:spPr>
              <a:xfrm>
                <a:off x="0" y="0"/>
                <a:ext cx="0" cy="288"/>
              </a:xfrm>
              <a:prstGeom prst="line">
                <a:avLst/>
              </a:prstGeom>
              <a:ln w="28575" cap="flat" cmpd="sng">
                <a:solidFill>
                  <a:srgbClr val="006600"/>
                </a:solidFill>
                <a:prstDash val="solid"/>
                <a:round/>
                <a:headEnd type="none" w="med" len="med"/>
                <a:tailEnd type="none" w="med" len="med"/>
              </a:ln>
            </p:spPr>
          </p:sp>
          <p:sp>
            <p:nvSpPr>
              <p:cNvPr id="16408" name="直接连接符 9239"/>
              <p:cNvSpPr/>
              <p:nvPr/>
            </p:nvSpPr>
            <p:spPr>
              <a:xfrm>
                <a:off x="192" y="0"/>
                <a:ext cx="0" cy="288"/>
              </a:xfrm>
              <a:prstGeom prst="line">
                <a:avLst/>
              </a:prstGeom>
              <a:ln w="28575" cap="flat" cmpd="sng">
                <a:solidFill>
                  <a:srgbClr val="006600"/>
                </a:solidFill>
                <a:prstDash val="solid"/>
                <a:round/>
                <a:headEnd type="none" w="med" len="med"/>
                <a:tailEnd type="none" w="med" len="med"/>
              </a:ln>
            </p:spPr>
          </p:sp>
          <p:sp>
            <p:nvSpPr>
              <p:cNvPr id="16409" name="直接连接符 9240"/>
              <p:cNvSpPr/>
              <p:nvPr/>
            </p:nvSpPr>
            <p:spPr>
              <a:xfrm>
                <a:off x="288" y="96"/>
                <a:ext cx="0" cy="96"/>
              </a:xfrm>
              <a:prstGeom prst="line">
                <a:avLst/>
              </a:prstGeom>
              <a:ln w="28575" cap="flat" cmpd="sng">
                <a:solidFill>
                  <a:srgbClr val="006600"/>
                </a:solidFill>
                <a:prstDash val="solid"/>
                <a:round/>
                <a:headEnd type="none" w="med" len="med"/>
                <a:tailEnd type="none" w="med" len="med"/>
              </a:ln>
            </p:spPr>
          </p:sp>
          <p:sp>
            <p:nvSpPr>
              <p:cNvPr id="16410" name="直接连接符 9241"/>
              <p:cNvSpPr/>
              <p:nvPr/>
            </p:nvSpPr>
            <p:spPr>
              <a:xfrm>
                <a:off x="96" y="96"/>
                <a:ext cx="0" cy="96"/>
              </a:xfrm>
              <a:prstGeom prst="line">
                <a:avLst/>
              </a:prstGeom>
              <a:ln w="28575" cap="flat" cmpd="sng">
                <a:solidFill>
                  <a:srgbClr val="006600"/>
                </a:solidFill>
                <a:prstDash val="solid"/>
                <a:round/>
                <a:headEnd type="none" w="med" len="med"/>
                <a:tailEnd type="none" w="med" len="med"/>
              </a:ln>
            </p:spPr>
          </p:sp>
        </p:grpSp>
        <p:sp>
          <p:nvSpPr>
            <p:cNvPr id="16411" name="未知"/>
            <p:cNvSpPr/>
            <p:nvPr/>
          </p:nvSpPr>
          <p:spPr>
            <a:xfrm>
              <a:off x="337" y="314"/>
              <a:ext cx="521" cy="2"/>
            </a:xfrm>
            <a:custGeom>
              <a:avLst/>
              <a:gdLst/>
              <a:ahLst/>
              <a:cxnLst/>
              <a:pathLst>
                <a:path w="521" h="2">
                  <a:moveTo>
                    <a:pt x="0" y="2"/>
                  </a:moveTo>
                  <a:lnTo>
                    <a:pt x="521" y="0"/>
                  </a:lnTo>
                </a:path>
              </a:pathLst>
            </a:custGeom>
            <a:noFill/>
            <a:ln w="28575" cap="flat" cmpd="sng">
              <a:solidFill>
                <a:srgbClr val="006600"/>
              </a:solidFill>
              <a:prstDash val="solid"/>
              <a:round/>
              <a:headEnd type="none" w="med" len="med"/>
              <a:tailEnd type="none" w="med" len="med"/>
            </a:ln>
          </p:spPr>
          <p:txBody>
            <a:bodyPr/>
            <a:p>
              <a:endParaRPr lang="zh-CN" altLang="en-US" sz="1890"/>
            </a:p>
          </p:txBody>
        </p:sp>
        <p:sp>
          <p:nvSpPr>
            <p:cNvPr id="16412" name="未知"/>
            <p:cNvSpPr/>
            <p:nvPr/>
          </p:nvSpPr>
          <p:spPr>
            <a:xfrm flipV="1">
              <a:off x="1056" y="288"/>
              <a:ext cx="1185" cy="48"/>
            </a:xfrm>
            <a:custGeom>
              <a:avLst/>
              <a:gdLst/>
              <a:ahLst/>
              <a:cxnLst/>
              <a:pathLst>
                <a:path w="1363" h="1">
                  <a:moveTo>
                    <a:pt x="0" y="0"/>
                  </a:moveTo>
                  <a:lnTo>
                    <a:pt x="1363" y="0"/>
                  </a:lnTo>
                </a:path>
              </a:pathLst>
            </a:custGeom>
            <a:noFill/>
            <a:ln w="28575" cap="flat" cmpd="sng">
              <a:solidFill>
                <a:srgbClr val="006600"/>
              </a:solidFill>
              <a:prstDash val="solid"/>
              <a:round/>
              <a:headEnd type="none" w="med" len="med"/>
              <a:tailEnd type="none" w="med" len="med"/>
            </a:ln>
          </p:spPr>
          <p:txBody>
            <a:bodyPr/>
            <a:p>
              <a:endParaRPr lang="zh-CN" altLang="en-US" sz="1890"/>
            </a:p>
          </p:txBody>
        </p:sp>
        <p:cxnSp>
          <p:nvCxnSpPr>
            <p:cNvPr id="16413" name="肘形连接符 9244"/>
            <p:cNvCxnSpPr>
              <a:stCxn id="16411" idx="0"/>
              <a:endCxn id="16400" idx="0"/>
            </p:cNvCxnSpPr>
            <p:nvPr/>
          </p:nvCxnSpPr>
          <p:spPr>
            <a:xfrm rot="10800000" flipH="1" flipV="1">
              <a:off x="328" y="316"/>
              <a:ext cx="320" cy="1220"/>
            </a:xfrm>
            <a:prstGeom prst="bentConnector4">
              <a:avLst>
                <a:gd name="adj1" fmla="val -42190"/>
                <a:gd name="adj2" fmla="val 84588"/>
              </a:avLst>
            </a:prstGeom>
            <a:ln w="28575" cap="flat" cmpd="sng">
              <a:solidFill>
                <a:srgbClr val="006600"/>
              </a:solidFill>
              <a:prstDash val="solid"/>
              <a:miter/>
              <a:headEnd type="none" w="med" len="med"/>
              <a:tailEnd type="none" w="med" len="med"/>
            </a:ln>
          </p:spPr>
        </p:cxnSp>
        <p:sp>
          <p:nvSpPr>
            <p:cNvPr id="16414" name="未知"/>
            <p:cNvSpPr/>
            <p:nvPr/>
          </p:nvSpPr>
          <p:spPr>
            <a:xfrm>
              <a:off x="192" y="996"/>
              <a:ext cx="300" cy="3"/>
            </a:xfrm>
            <a:custGeom>
              <a:avLst/>
              <a:gdLst/>
              <a:ahLst/>
              <a:cxnLst/>
              <a:pathLst>
                <a:path w="300" h="3">
                  <a:moveTo>
                    <a:pt x="0" y="3"/>
                  </a:moveTo>
                  <a:lnTo>
                    <a:pt x="300" y="0"/>
                  </a:lnTo>
                </a:path>
              </a:pathLst>
            </a:custGeom>
            <a:noFill/>
            <a:ln w="28575" cap="flat" cmpd="sng">
              <a:solidFill>
                <a:srgbClr val="006600"/>
              </a:solidFill>
              <a:prstDash val="solid"/>
              <a:round/>
              <a:headEnd type="none" w="med" len="med"/>
              <a:tailEnd type="none" w="med" len="med"/>
            </a:ln>
          </p:spPr>
          <p:txBody>
            <a:bodyPr/>
            <a:p>
              <a:endParaRPr lang="zh-CN" altLang="en-US" sz="1890"/>
            </a:p>
          </p:txBody>
        </p:sp>
        <p:sp>
          <p:nvSpPr>
            <p:cNvPr id="16415" name="未知"/>
            <p:cNvSpPr/>
            <p:nvPr/>
          </p:nvSpPr>
          <p:spPr>
            <a:xfrm>
              <a:off x="732" y="996"/>
              <a:ext cx="900" cy="12"/>
            </a:xfrm>
            <a:custGeom>
              <a:avLst/>
              <a:gdLst/>
              <a:ahLst/>
              <a:cxnLst/>
              <a:pathLst>
                <a:path w="900" h="12">
                  <a:moveTo>
                    <a:pt x="0" y="0"/>
                  </a:moveTo>
                  <a:lnTo>
                    <a:pt x="900" y="12"/>
                  </a:lnTo>
                </a:path>
              </a:pathLst>
            </a:custGeom>
            <a:noFill/>
            <a:ln w="28575" cap="flat" cmpd="sng">
              <a:solidFill>
                <a:srgbClr val="006600"/>
              </a:solidFill>
              <a:prstDash val="solid"/>
              <a:round/>
              <a:headEnd type="none" w="med" len="med"/>
              <a:tailEnd type="none" w="med" len="med"/>
            </a:ln>
          </p:spPr>
          <p:txBody>
            <a:bodyPr/>
            <a:p>
              <a:endParaRPr lang="zh-CN" altLang="en-US" sz="1890"/>
            </a:p>
          </p:txBody>
        </p:sp>
        <p:cxnSp>
          <p:nvCxnSpPr>
            <p:cNvPr id="16416" name="肘形连接符 9247"/>
            <p:cNvCxnSpPr>
              <a:stCxn id="16412" idx="1"/>
              <a:endCxn id="16405" idx="3"/>
            </p:cNvCxnSpPr>
            <p:nvPr/>
          </p:nvCxnSpPr>
          <p:spPr>
            <a:xfrm flipH="1">
              <a:off x="1968" y="336"/>
              <a:ext cx="281" cy="289"/>
            </a:xfrm>
            <a:prstGeom prst="bentConnector3">
              <a:avLst>
                <a:gd name="adj1" fmla="val 6759"/>
              </a:avLst>
            </a:prstGeom>
            <a:ln w="28575" cap="flat" cmpd="sng">
              <a:solidFill>
                <a:srgbClr val="006600"/>
              </a:solidFill>
              <a:prstDash val="solid"/>
              <a:miter/>
              <a:headEnd type="none" w="med" len="med"/>
              <a:tailEnd type="none" w="med" len="med"/>
            </a:ln>
          </p:spPr>
        </p:cxnSp>
        <p:sp>
          <p:nvSpPr>
            <p:cNvPr id="16417" name="未知"/>
            <p:cNvSpPr/>
            <p:nvPr/>
          </p:nvSpPr>
          <p:spPr>
            <a:xfrm flipV="1">
              <a:off x="672" y="1584"/>
              <a:ext cx="240" cy="48"/>
            </a:xfrm>
            <a:custGeom>
              <a:avLst/>
              <a:gdLst/>
              <a:ahLst/>
              <a:cxnLst/>
              <a:pathLst>
                <a:path w="64" h="50">
                  <a:moveTo>
                    <a:pt x="0" y="0"/>
                  </a:moveTo>
                  <a:lnTo>
                    <a:pt x="64" y="50"/>
                  </a:lnTo>
                </a:path>
              </a:pathLst>
            </a:custGeom>
            <a:noFill/>
            <a:ln w="19050" cap="flat" cmpd="sng">
              <a:solidFill>
                <a:schemeClr val="tx1"/>
              </a:solidFill>
              <a:prstDash val="solid"/>
              <a:round/>
              <a:headEnd type="none" w="med" len="med"/>
              <a:tailEnd type="none" w="med" len="med"/>
            </a:ln>
          </p:spPr>
          <p:txBody>
            <a:bodyPr/>
            <a:p>
              <a:endParaRPr lang="zh-CN" altLang="en-US" sz="1890"/>
            </a:p>
          </p:txBody>
        </p:sp>
        <p:sp>
          <p:nvSpPr>
            <p:cNvPr id="16418" name="未知"/>
            <p:cNvSpPr/>
            <p:nvPr/>
          </p:nvSpPr>
          <p:spPr>
            <a:xfrm flipV="1">
              <a:off x="1104" y="1584"/>
              <a:ext cx="192" cy="48"/>
            </a:xfrm>
            <a:custGeom>
              <a:avLst/>
              <a:gdLst/>
              <a:ahLst/>
              <a:cxnLst/>
              <a:pathLst>
                <a:path w="79" h="98">
                  <a:moveTo>
                    <a:pt x="79" y="0"/>
                  </a:moveTo>
                  <a:lnTo>
                    <a:pt x="0" y="98"/>
                  </a:lnTo>
                </a:path>
              </a:pathLst>
            </a:custGeom>
            <a:noFill/>
            <a:ln w="19050" cap="flat" cmpd="sng">
              <a:solidFill>
                <a:schemeClr val="tx1"/>
              </a:solidFill>
              <a:prstDash val="solid"/>
              <a:round/>
              <a:headEnd type="none" w="med" len="med"/>
              <a:tailEnd type="none" w="med" len="med"/>
            </a:ln>
          </p:spPr>
          <p:txBody>
            <a:bodyPr/>
            <a:p>
              <a:endParaRPr lang="zh-CN" altLang="en-US" sz="1890"/>
            </a:p>
          </p:txBody>
        </p:sp>
        <p:sp>
          <p:nvSpPr>
            <p:cNvPr id="16419" name="文本框 9250"/>
            <p:cNvSpPr txBox="1"/>
            <p:nvPr/>
          </p:nvSpPr>
          <p:spPr>
            <a:xfrm>
              <a:off x="1728" y="672"/>
              <a:ext cx="240" cy="258"/>
            </a:xfrm>
            <a:prstGeom prst="rect">
              <a:avLst/>
            </a:prstGeom>
            <a:noFill/>
            <a:ln w="9525">
              <a:noFill/>
            </a:ln>
          </p:spPr>
          <p:txBody>
            <a:bodyPr anchor="t" anchorCtr="0">
              <a:spAutoFit/>
            </a:bodyPr>
            <a:p>
              <a:pPr eaLnBrk="0" hangingPunct="0">
                <a:spcBef>
                  <a:spcPct val="50000"/>
                </a:spcBef>
              </a:pPr>
              <a:r>
                <a:rPr lang="en-US" altLang="zh-CN" sz="1890" b="0">
                  <a:latin typeface="Arial" panose="020B0604020202020204" pitchFamily="34" charset="0"/>
                  <a:ea typeface="微软雅黑" panose="020B0503020204020204" charset="-122"/>
                </a:rPr>
                <a:t>R</a:t>
              </a:r>
              <a:endParaRPr lang="en-US" altLang="zh-CN" sz="1890" b="0">
                <a:latin typeface="Arial" panose="020B0604020202020204" pitchFamily="34" charset="0"/>
                <a:ea typeface="微软雅黑" panose="020B0503020204020204" charset="-122"/>
              </a:endParaRPr>
            </a:p>
          </p:txBody>
        </p:sp>
        <p:sp>
          <p:nvSpPr>
            <p:cNvPr id="16420" name="文本框 9251"/>
            <p:cNvSpPr txBox="1"/>
            <p:nvPr/>
          </p:nvSpPr>
          <p:spPr>
            <a:xfrm>
              <a:off x="720" y="2256"/>
              <a:ext cx="624" cy="258"/>
            </a:xfrm>
            <a:prstGeom prst="rect">
              <a:avLst/>
            </a:prstGeom>
            <a:noFill/>
            <a:ln w="9525">
              <a:noFill/>
            </a:ln>
          </p:spPr>
          <p:txBody>
            <a:bodyPr anchor="t" anchorCtr="0">
              <a:spAutoFit/>
            </a:bodyPr>
            <a:p>
              <a:pPr eaLnBrk="0" hangingPunct="0">
                <a:spcBef>
                  <a:spcPct val="50000"/>
                </a:spcBef>
              </a:pPr>
              <a:r>
                <a:rPr lang="en-US" altLang="zh-CN" sz="1890" b="0">
                  <a:latin typeface="Arial" panose="020B0604020202020204" pitchFamily="34" charset="0"/>
                  <a:ea typeface="微软雅黑" panose="020B0503020204020204" charset="-122"/>
                </a:rPr>
                <a:t>HCl</a:t>
              </a:r>
              <a:endParaRPr lang="en-US" altLang="zh-CN" sz="1890" b="0">
                <a:latin typeface="Arial" panose="020B0604020202020204" pitchFamily="34" charset="0"/>
                <a:ea typeface="微软雅黑" panose="020B0503020204020204" charset="-122"/>
              </a:endParaRPr>
            </a:p>
          </p:txBody>
        </p:sp>
        <p:sp>
          <p:nvSpPr>
            <p:cNvPr id="16421" name="文本框 9252"/>
            <p:cNvSpPr txBox="1"/>
            <p:nvPr/>
          </p:nvSpPr>
          <p:spPr>
            <a:xfrm>
              <a:off x="624" y="10"/>
              <a:ext cx="690" cy="258"/>
            </a:xfrm>
            <a:prstGeom prst="rect">
              <a:avLst/>
            </a:prstGeom>
            <a:noFill/>
            <a:ln w="9525">
              <a:noFill/>
            </a:ln>
          </p:spPr>
          <p:txBody>
            <a:bodyPr anchor="t" anchorCtr="0">
              <a:spAutoFit/>
            </a:bodyPr>
            <a:p>
              <a:pPr algn="ctr" eaLnBrk="0" hangingPunct="0">
                <a:spcBef>
                  <a:spcPct val="50000"/>
                </a:spcBef>
              </a:pPr>
              <a:r>
                <a:rPr lang="zh-CN" altLang="en-US" sz="1890" b="0">
                  <a:solidFill>
                    <a:srgbClr val="3333FF"/>
                  </a:solidFill>
                  <a:latin typeface="Arial" panose="020B0604020202020204" pitchFamily="34" charset="0"/>
                  <a:ea typeface="微软雅黑" panose="020B0503020204020204" charset="-122"/>
                </a:rPr>
                <a:t>外电源</a:t>
              </a:r>
              <a:endParaRPr lang="zh-CN" altLang="en-US" sz="1890" b="0">
                <a:solidFill>
                  <a:srgbClr val="3333FF"/>
                </a:solidFill>
                <a:latin typeface="Arial" panose="020B0604020202020204" pitchFamily="34" charset="0"/>
                <a:ea typeface="微软雅黑" panose="020B0503020204020204" charset="-122"/>
              </a:endParaRPr>
            </a:p>
          </p:txBody>
        </p:sp>
        <p:sp>
          <p:nvSpPr>
            <p:cNvPr id="16422" name="文本框 9253"/>
            <p:cNvSpPr txBox="1"/>
            <p:nvPr/>
          </p:nvSpPr>
          <p:spPr>
            <a:xfrm>
              <a:off x="192" y="1094"/>
              <a:ext cx="864" cy="258"/>
            </a:xfrm>
            <a:prstGeom prst="rect">
              <a:avLst/>
            </a:prstGeom>
            <a:noFill/>
            <a:ln w="9525">
              <a:noFill/>
            </a:ln>
          </p:spPr>
          <p:txBody>
            <a:bodyPr anchor="t" anchorCtr="0">
              <a:spAutoFit/>
            </a:bodyPr>
            <a:p>
              <a:pPr algn="ctr" eaLnBrk="0" hangingPunct="0">
                <a:spcBef>
                  <a:spcPct val="50000"/>
                </a:spcBef>
              </a:pPr>
              <a:r>
                <a:rPr lang="zh-CN" altLang="en-US" sz="1890" b="0">
                  <a:solidFill>
                    <a:srgbClr val="3333FF"/>
                  </a:solidFill>
                  <a:latin typeface="Arial" panose="020B0604020202020204" pitchFamily="34" charset="0"/>
                  <a:ea typeface="微软雅黑" panose="020B0503020204020204" charset="-122"/>
                </a:rPr>
                <a:t>伏特计</a:t>
              </a:r>
              <a:endParaRPr lang="zh-CN" altLang="en-US" sz="1890" b="0">
                <a:solidFill>
                  <a:srgbClr val="3333FF"/>
                </a:solidFill>
                <a:latin typeface="Arial" panose="020B0604020202020204" pitchFamily="34" charset="0"/>
                <a:ea typeface="微软雅黑" panose="020B0503020204020204" charset="-122"/>
              </a:endParaRPr>
            </a:p>
          </p:txBody>
        </p:sp>
        <p:sp>
          <p:nvSpPr>
            <p:cNvPr id="16423" name="文本框 9254"/>
            <p:cNvSpPr txBox="1"/>
            <p:nvPr/>
          </p:nvSpPr>
          <p:spPr>
            <a:xfrm>
              <a:off x="1344" y="1200"/>
              <a:ext cx="738" cy="258"/>
            </a:xfrm>
            <a:prstGeom prst="rect">
              <a:avLst/>
            </a:prstGeom>
            <a:noFill/>
            <a:ln w="9525">
              <a:noFill/>
            </a:ln>
          </p:spPr>
          <p:txBody>
            <a:bodyPr anchor="t" anchorCtr="0">
              <a:spAutoFit/>
            </a:bodyPr>
            <a:p>
              <a:pPr algn="ctr" eaLnBrk="0" hangingPunct="0">
                <a:spcBef>
                  <a:spcPct val="50000"/>
                </a:spcBef>
              </a:pPr>
              <a:r>
                <a:rPr lang="zh-CN" altLang="en-US" sz="1890" b="0">
                  <a:solidFill>
                    <a:srgbClr val="3333FF"/>
                  </a:solidFill>
                  <a:latin typeface="Arial" panose="020B0604020202020204" pitchFamily="34" charset="0"/>
                  <a:ea typeface="微软雅黑" panose="020B0503020204020204" charset="-122"/>
                </a:rPr>
                <a:t>电流计</a:t>
              </a:r>
              <a:endParaRPr lang="zh-CN" altLang="en-US" sz="1890" b="0">
                <a:solidFill>
                  <a:srgbClr val="3333FF"/>
                </a:solidFill>
                <a:latin typeface="Arial" panose="020B0604020202020204" pitchFamily="34" charset="0"/>
                <a:ea typeface="微软雅黑" panose="020B0503020204020204" charset="-122"/>
              </a:endParaRPr>
            </a:p>
          </p:txBody>
        </p:sp>
        <p:sp>
          <p:nvSpPr>
            <p:cNvPr id="16424" name="文本框 9255"/>
            <p:cNvSpPr txBox="1"/>
            <p:nvPr/>
          </p:nvSpPr>
          <p:spPr>
            <a:xfrm>
              <a:off x="576" y="97"/>
              <a:ext cx="240" cy="258"/>
            </a:xfrm>
            <a:prstGeom prst="rect">
              <a:avLst/>
            </a:prstGeom>
            <a:noFill/>
            <a:ln w="9525">
              <a:noFill/>
            </a:ln>
          </p:spPr>
          <p:txBody>
            <a:bodyPr anchor="t" anchorCtr="0">
              <a:spAutoFit/>
            </a:bodyPr>
            <a:p>
              <a:pPr eaLnBrk="0" hangingPunct="0">
                <a:spcBef>
                  <a:spcPct val="50000"/>
                </a:spcBef>
              </a:pPr>
              <a:r>
                <a:rPr lang="en-US" altLang="zh-CN" sz="1890" b="0">
                  <a:latin typeface="Arial" panose="020B0604020202020204" pitchFamily="34" charset="0"/>
                  <a:ea typeface="微软雅黑" panose="020B0503020204020204" charset="-122"/>
                </a:rPr>
                <a:t>+</a:t>
              </a:r>
              <a:endParaRPr lang="en-US" altLang="zh-CN" sz="1890" b="0">
                <a:latin typeface="Arial" panose="020B0604020202020204" pitchFamily="34" charset="0"/>
                <a:ea typeface="微软雅黑" panose="020B0503020204020204" charset="-122"/>
              </a:endParaRPr>
            </a:p>
          </p:txBody>
        </p:sp>
        <p:sp>
          <p:nvSpPr>
            <p:cNvPr id="16425" name="文本框 9256"/>
            <p:cNvSpPr txBox="1"/>
            <p:nvPr/>
          </p:nvSpPr>
          <p:spPr>
            <a:xfrm>
              <a:off x="1200" y="0"/>
              <a:ext cx="240" cy="258"/>
            </a:xfrm>
            <a:prstGeom prst="rect">
              <a:avLst/>
            </a:prstGeom>
            <a:noFill/>
            <a:ln w="9525">
              <a:noFill/>
            </a:ln>
          </p:spPr>
          <p:txBody>
            <a:bodyPr anchor="t" anchorCtr="0">
              <a:spAutoFit/>
            </a:bodyPr>
            <a:p>
              <a:pPr eaLnBrk="0" hangingPunct="0">
                <a:spcBef>
                  <a:spcPct val="50000"/>
                </a:spcBef>
              </a:pPr>
              <a:r>
                <a:rPr lang="en-US" altLang="zh-CN" sz="1890" b="0">
                  <a:latin typeface="Times New Roman" panose="02020603050405020304" pitchFamily="18" charset="0"/>
                  <a:ea typeface="楷体_GB2312" pitchFamily="1" charset="-122"/>
                </a:rPr>
                <a:t>_</a:t>
              </a:r>
              <a:endParaRPr lang="en-US" altLang="zh-CN" sz="1890" b="0">
                <a:latin typeface="Times New Roman" panose="02020603050405020304" pitchFamily="18" charset="0"/>
                <a:ea typeface="楷体_GB2312" pitchFamily="1" charset="-122"/>
              </a:endParaRPr>
            </a:p>
          </p:txBody>
        </p:sp>
        <p:sp>
          <p:nvSpPr>
            <p:cNvPr id="16426" name="椭圆 9257"/>
            <p:cNvSpPr/>
            <p:nvPr/>
          </p:nvSpPr>
          <p:spPr>
            <a:xfrm>
              <a:off x="1248" y="1104"/>
              <a:ext cx="240" cy="244"/>
            </a:xfrm>
            <a:prstGeom prst="ellipse">
              <a:avLst/>
            </a:prstGeom>
            <a:solidFill>
              <a:srgbClr val="FF99CC"/>
            </a:solidFill>
            <a:ln w="9525" cap="flat" cmpd="sng">
              <a:solidFill>
                <a:schemeClr val="tx1"/>
              </a:solidFill>
              <a:prstDash val="solid"/>
              <a:round/>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
          <p:nvSpPr>
            <p:cNvPr id="16427" name="文本框 9258"/>
            <p:cNvSpPr txBox="1"/>
            <p:nvPr/>
          </p:nvSpPr>
          <p:spPr>
            <a:xfrm>
              <a:off x="1248" y="1104"/>
              <a:ext cx="240" cy="258"/>
            </a:xfrm>
            <a:prstGeom prst="rect">
              <a:avLst/>
            </a:prstGeom>
            <a:noFill/>
            <a:ln w="9525">
              <a:noFill/>
            </a:ln>
          </p:spPr>
          <p:txBody>
            <a:bodyPr anchor="t" anchorCtr="0">
              <a:spAutoFit/>
            </a:bodyPr>
            <a:p>
              <a:pPr eaLnBrk="0" hangingPunct="0">
                <a:spcBef>
                  <a:spcPct val="50000"/>
                </a:spcBef>
              </a:pPr>
              <a:r>
                <a:rPr lang="en-US" altLang="zh-CN" sz="1890" b="0">
                  <a:latin typeface="Arial" panose="020B0604020202020204" pitchFamily="34" charset="0"/>
                  <a:ea typeface="微软雅黑" panose="020B0503020204020204" charset="-122"/>
                </a:rPr>
                <a:t>G</a:t>
              </a:r>
              <a:endParaRPr lang="en-US" altLang="zh-CN" sz="1890" b="0">
                <a:latin typeface="Arial" panose="020B0604020202020204" pitchFamily="34" charset="0"/>
                <a:ea typeface="微软雅黑" panose="020B0503020204020204" charset="-122"/>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框 17409"/>
          <p:cNvSpPr txBox="1"/>
          <p:nvPr/>
        </p:nvSpPr>
        <p:spPr>
          <a:xfrm>
            <a:off x="228000" y="1320000"/>
            <a:ext cx="4648500" cy="1920875"/>
          </a:xfrm>
          <a:prstGeom prst="rect">
            <a:avLst/>
          </a:prstGeom>
          <a:noFill/>
          <a:ln w="9525">
            <a:noFill/>
          </a:ln>
        </p:spPr>
        <p:txBody>
          <a:bodyPr tIns="0" bIns="0" anchor="t" anchorCtr="0">
            <a:spAutoFit/>
          </a:bodyPr>
          <a:p>
            <a:pPr eaLnBrk="0" hangingPunct="0">
              <a:lnSpc>
                <a:spcPct val="110000"/>
              </a:lnSpc>
            </a:pPr>
            <a:r>
              <a:rPr lang="en-US" altLang="zh-CN" sz="2645">
                <a:latin typeface="Arial" panose="020B0604020202020204" pitchFamily="34" charset="0"/>
                <a:ea typeface="微软雅黑" panose="020B0503020204020204" charset="-122"/>
              </a:rPr>
              <a:t>    </a:t>
            </a:r>
            <a:r>
              <a:rPr lang="zh-CN" altLang="en-US" sz="2645">
                <a:latin typeface="Arial" panose="020B0604020202020204" pitchFamily="34" charset="0"/>
                <a:ea typeface="微软雅黑" panose="020B0503020204020204" charset="-122"/>
              </a:rPr>
              <a:t>当外压增至</a:t>
            </a:r>
            <a:r>
              <a:rPr lang="en-US" altLang="zh-CN" sz="2645">
                <a:latin typeface="Arial" panose="020B0604020202020204" pitchFamily="34" charset="0"/>
                <a:ea typeface="微软雅黑" panose="020B0503020204020204" charset="-122"/>
              </a:rPr>
              <a:t>2-3</a:t>
            </a:r>
            <a:r>
              <a:rPr lang="zh-CN" altLang="en-US" sz="2645">
                <a:latin typeface="Arial" panose="020B0604020202020204" pitchFamily="34" charset="0"/>
                <a:ea typeface="微软雅黑" panose="020B0503020204020204" charset="-122"/>
              </a:rPr>
              <a:t>段，</a:t>
            </a:r>
            <a:r>
              <a:rPr lang="zh-CN" altLang="en-US" sz="3025">
                <a:latin typeface="Arial" panose="020B0604020202020204" pitchFamily="34" charset="0"/>
                <a:ea typeface="微软雅黑" panose="020B0503020204020204" charset="-122"/>
              </a:rPr>
              <a:t>氢气和氯气的压力等于大气压力</a:t>
            </a:r>
            <a:r>
              <a:rPr lang="zh-CN" altLang="en-US" sz="2645">
                <a:latin typeface="Arial" panose="020B0604020202020204" pitchFamily="34" charset="0"/>
                <a:ea typeface="微软雅黑" panose="020B0503020204020204" charset="-122"/>
              </a:rPr>
              <a:t>，呈气泡逸出，反电动势达极大值 </a:t>
            </a:r>
            <a:r>
              <a:rPr lang="en-US" altLang="zh-CN" sz="2645" i="1">
                <a:solidFill>
                  <a:srgbClr val="0000FF"/>
                </a:solidFill>
                <a:latin typeface="Arial" panose="020B0604020202020204" pitchFamily="34" charset="0"/>
                <a:ea typeface="微软雅黑" panose="020B0503020204020204" charset="-122"/>
              </a:rPr>
              <a:t>E</a:t>
            </a:r>
            <a:r>
              <a:rPr lang="en-US" altLang="zh-CN" sz="2645" baseline="-25000">
                <a:solidFill>
                  <a:srgbClr val="0000FF"/>
                </a:solidFill>
                <a:latin typeface="Arial" panose="020B0604020202020204" pitchFamily="34" charset="0"/>
                <a:ea typeface="微软雅黑" panose="020B0503020204020204" charset="-122"/>
              </a:rPr>
              <a:t>b,max</a:t>
            </a:r>
            <a:r>
              <a:rPr lang="zh-CN" altLang="en-US" sz="2645">
                <a:latin typeface="Arial" panose="020B0604020202020204" pitchFamily="34" charset="0"/>
                <a:ea typeface="微软雅黑" panose="020B0503020204020204" charset="-122"/>
              </a:rPr>
              <a:t>。</a:t>
            </a:r>
            <a:endParaRPr lang="zh-CN" altLang="en-US" sz="2645">
              <a:latin typeface="Arial" panose="020B0604020202020204" pitchFamily="34" charset="0"/>
              <a:ea typeface="微软雅黑" panose="020B0503020204020204" charset="-122"/>
            </a:endParaRPr>
          </a:p>
        </p:txBody>
      </p:sp>
      <p:sp>
        <p:nvSpPr>
          <p:cNvPr id="17410" name="文本框 17410"/>
          <p:cNvSpPr txBox="1"/>
          <p:nvPr/>
        </p:nvSpPr>
        <p:spPr>
          <a:xfrm>
            <a:off x="304500" y="3616500"/>
            <a:ext cx="4725000" cy="2433320"/>
          </a:xfrm>
          <a:prstGeom prst="rect">
            <a:avLst/>
          </a:prstGeom>
          <a:noFill/>
          <a:ln w="9525">
            <a:noFill/>
          </a:ln>
        </p:spPr>
        <p:txBody>
          <a:bodyPr tIns="0" bIns="0" anchor="t" anchorCtr="0">
            <a:spAutoFit/>
          </a:bodyPr>
          <a:p>
            <a:pPr eaLnBrk="0" hangingPunct="0">
              <a:lnSpc>
                <a:spcPct val="110000"/>
              </a:lnSpc>
            </a:pPr>
            <a:r>
              <a:rPr lang="en-US" altLang="zh-CN" sz="2645">
                <a:latin typeface="Arial" panose="020B0604020202020204" pitchFamily="34" charset="0"/>
                <a:ea typeface="微软雅黑" panose="020B0503020204020204" charset="-122"/>
              </a:rPr>
              <a:t>    </a:t>
            </a:r>
            <a:r>
              <a:rPr lang="zh-CN" altLang="en-US" sz="2645">
                <a:latin typeface="Arial" panose="020B0604020202020204" pitchFamily="34" charset="0"/>
                <a:ea typeface="微软雅黑" panose="020B0503020204020204" charset="-122"/>
              </a:rPr>
              <a:t>再增加电压，使</a:t>
            </a:r>
            <a:r>
              <a:rPr lang="en-US" altLang="zh-CN" sz="2645" i="1">
                <a:latin typeface="Arial" panose="020B0604020202020204" pitchFamily="34" charset="0"/>
                <a:ea typeface="微软雅黑" panose="020B0503020204020204" charset="-122"/>
              </a:rPr>
              <a:t>I </a:t>
            </a:r>
            <a:r>
              <a:rPr lang="zh-CN" altLang="en-US" sz="2645">
                <a:latin typeface="Arial" panose="020B0604020202020204" pitchFamily="34" charset="0"/>
                <a:ea typeface="微软雅黑" panose="020B0503020204020204" charset="-122"/>
              </a:rPr>
              <a:t>迅速增加。将直线外延至</a:t>
            </a:r>
            <a:r>
              <a:rPr lang="en-US" altLang="zh-CN" sz="2645" i="1">
                <a:latin typeface="Arial" panose="020B0604020202020204" pitchFamily="34" charset="0"/>
                <a:ea typeface="微软雅黑" panose="020B0503020204020204" charset="-122"/>
              </a:rPr>
              <a:t>I </a:t>
            </a:r>
            <a:r>
              <a:rPr lang="en-US" altLang="zh-CN" sz="2645">
                <a:latin typeface="Arial" panose="020B0604020202020204" pitchFamily="34" charset="0"/>
                <a:ea typeface="微软雅黑" panose="020B0503020204020204" charset="-122"/>
              </a:rPr>
              <a:t>= 0 </a:t>
            </a:r>
            <a:r>
              <a:rPr lang="zh-CN" altLang="en-US" sz="2645">
                <a:latin typeface="Arial" panose="020B0604020202020204" pitchFamily="34" charset="0"/>
                <a:ea typeface="微软雅黑" panose="020B0503020204020204" charset="-122"/>
              </a:rPr>
              <a:t>处，得</a:t>
            </a:r>
            <a:r>
              <a:rPr lang="en-US" altLang="zh-CN" sz="2645" i="1">
                <a:latin typeface="Arial" panose="020B0604020202020204" pitchFamily="34" charset="0"/>
                <a:ea typeface="微软雅黑" panose="020B0503020204020204" charset="-122"/>
              </a:rPr>
              <a:t>E</a:t>
            </a:r>
            <a:r>
              <a:rPr lang="en-US" altLang="zh-CN" sz="2645">
                <a:latin typeface="Arial" panose="020B0604020202020204" pitchFamily="34" charset="0"/>
                <a:ea typeface="微软雅黑" panose="020B0503020204020204" charset="-122"/>
              </a:rPr>
              <a:t>(</a:t>
            </a:r>
            <a:r>
              <a:rPr lang="zh-CN" altLang="en-US" sz="2645">
                <a:latin typeface="Arial" panose="020B0604020202020204" pitchFamily="34" charset="0"/>
                <a:ea typeface="微软雅黑" panose="020B0503020204020204" charset="-122"/>
              </a:rPr>
              <a:t>分解</a:t>
            </a:r>
            <a:r>
              <a:rPr lang="en-US" altLang="zh-CN" sz="2645">
                <a:latin typeface="Arial" panose="020B0604020202020204" pitchFamily="34" charset="0"/>
                <a:ea typeface="微软雅黑" panose="020B0503020204020204" charset="-122"/>
              </a:rPr>
              <a:t>)</a:t>
            </a:r>
            <a:r>
              <a:rPr lang="zh-CN" altLang="en-US" sz="2645">
                <a:latin typeface="Arial" panose="020B0604020202020204" pitchFamily="34" charset="0"/>
                <a:ea typeface="微软雅黑" panose="020B0503020204020204" charset="-122"/>
              </a:rPr>
              <a:t>值，</a:t>
            </a:r>
            <a:r>
              <a:rPr lang="zh-CN" altLang="en-US" sz="3025">
                <a:latin typeface="Arial" panose="020B0604020202020204" pitchFamily="34" charset="0"/>
                <a:ea typeface="微软雅黑" panose="020B0503020204020204" charset="-122"/>
              </a:rPr>
              <a:t>这是使电解池不断工作所必需外加的最小电压</a:t>
            </a:r>
            <a:r>
              <a:rPr lang="zh-CN" altLang="en-US" sz="2645">
                <a:latin typeface="Arial" panose="020B0604020202020204" pitchFamily="34" charset="0"/>
                <a:ea typeface="微软雅黑" panose="020B0503020204020204" charset="-122"/>
              </a:rPr>
              <a:t>，称为</a:t>
            </a:r>
            <a:r>
              <a:rPr lang="zh-CN" altLang="en-US" sz="2645">
                <a:solidFill>
                  <a:srgbClr val="0000FF"/>
                </a:solidFill>
                <a:latin typeface="Arial" panose="020B0604020202020204" pitchFamily="34" charset="0"/>
                <a:ea typeface="微软雅黑" panose="020B0503020204020204" charset="-122"/>
              </a:rPr>
              <a:t>分解电压</a:t>
            </a:r>
            <a:r>
              <a:rPr lang="zh-CN" altLang="en-US" sz="2645">
                <a:latin typeface="Arial" panose="020B0604020202020204" pitchFamily="34" charset="0"/>
                <a:ea typeface="微软雅黑" panose="020B0503020204020204" charset="-122"/>
              </a:rPr>
              <a:t>。</a:t>
            </a:r>
            <a:endParaRPr lang="zh-CN" altLang="en-US" sz="2645">
              <a:latin typeface="Arial" panose="020B0604020202020204" pitchFamily="34" charset="0"/>
              <a:ea typeface="微软雅黑" panose="020B0503020204020204" charset="-122"/>
            </a:endParaRPr>
          </a:p>
        </p:txBody>
      </p:sp>
      <p:grpSp>
        <p:nvGrpSpPr>
          <p:cNvPr id="17411" name="组合 17411"/>
          <p:cNvGrpSpPr/>
          <p:nvPr/>
        </p:nvGrpSpPr>
        <p:grpSpPr>
          <a:xfrm>
            <a:off x="4876500" y="1524000"/>
            <a:ext cx="4157133" cy="4266628"/>
            <a:chOff x="0" y="0"/>
            <a:chExt cx="2618" cy="2688"/>
          </a:xfrm>
        </p:grpSpPr>
        <p:sp>
          <p:nvSpPr>
            <p:cNvPr id="17412" name="直接连接符 17412"/>
            <p:cNvSpPr/>
            <p:nvPr/>
          </p:nvSpPr>
          <p:spPr>
            <a:xfrm>
              <a:off x="266" y="2112"/>
              <a:ext cx="2352" cy="0"/>
            </a:xfrm>
            <a:prstGeom prst="line">
              <a:avLst/>
            </a:prstGeom>
            <a:ln w="28575" cap="flat" cmpd="sng">
              <a:solidFill>
                <a:srgbClr val="000000"/>
              </a:solidFill>
              <a:prstDash val="solid"/>
              <a:round/>
              <a:headEnd type="none" w="med" len="med"/>
              <a:tailEnd type="triangle" w="med" len="med"/>
            </a:ln>
          </p:spPr>
        </p:sp>
        <p:sp>
          <p:nvSpPr>
            <p:cNvPr id="17413" name="直接连接符 17413"/>
            <p:cNvSpPr/>
            <p:nvPr/>
          </p:nvSpPr>
          <p:spPr>
            <a:xfrm rot="-5400000">
              <a:off x="-790" y="1056"/>
              <a:ext cx="2112" cy="0"/>
            </a:xfrm>
            <a:prstGeom prst="line">
              <a:avLst/>
            </a:prstGeom>
            <a:ln w="28575" cap="flat" cmpd="sng">
              <a:solidFill>
                <a:srgbClr val="000000"/>
              </a:solidFill>
              <a:prstDash val="solid"/>
              <a:round/>
              <a:headEnd type="none" w="med" len="med"/>
              <a:tailEnd type="triangle" w="med" len="med"/>
            </a:ln>
          </p:spPr>
        </p:sp>
        <p:sp>
          <p:nvSpPr>
            <p:cNvPr id="17414" name="未知"/>
            <p:cNvSpPr/>
            <p:nvPr/>
          </p:nvSpPr>
          <p:spPr>
            <a:xfrm>
              <a:off x="266" y="192"/>
              <a:ext cx="1920" cy="1920"/>
            </a:xfrm>
            <a:custGeom>
              <a:avLst/>
              <a:gdLst/>
              <a:ahLst/>
              <a:cxnLst/>
              <a:pathLst>
                <a:path w="1920" h="1920">
                  <a:moveTo>
                    <a:pt x="0" y="1920"/>
                  </a:moveTo>
                  <a:cubicBezTo>
                    <a:pt x="260" y="1896"/>
                    <a:pt x="520" y="1872"/>
                    <a:pt x="720" y="1824"/>
                  </a:cubicBezTo>
                  <a:cubicBezTo>
                    <a:pt x="920" y="1776"/>
                    <a:pt x="1080" y="1712"/>
                    <a:pt x="1200" y="1632"/>
                  </a:cubicBezTo>
                  <a:cubicBezTo>
                    <a:pt x="1320" y="1552"/>
                    <a:pt x="1360" y="1488"/>
                    <a:pt x="1440" y="1344"/>
                  </a:cubicBezTo>
                  <a:cubicBezTo>
                    <a:pt x="1520" y="1200"/>
                    <a:pt x="1600" y="992"/>
                    <a:pt x="1680" y="768"/>
                  </a:cubicBezTo>
                  <a:cubicBezTo>
                    <a:pt x="1760" y="544"/>
                    <a:pt x="1840" y="272"/>
                    <a:pt x="1920" y="0"/>
                  </a:cubicBezTo>
                </a:path>
              </a:pathLst>
            </a:custGeom>
            <a:noFill/>
            <a:ln w="28575" cap="flat" cmpd="sng">
              <a:solidFill>
                <a:srgbClr val="000000"/>
              </a:solidFill>
              <a:prstDash val="solid"/>
              <a:round/>
              <a:headEnd type="none" w="med" len="med"/>
              <a:tailEnd type="none" w="med" len="med"/>
            </a:ln>
          </p:spPr>
          <p:txBody>
            <a:bodyPr/>
            <a:p>
              <a:endParaRPr lang="zh-CN" altLang="en-US" sz="1890"/>
            </a:p>
          </p:txBody>
        </p:sp>
        <p:sp>
          <p:nvSpPr>
            <p:cNvPr id="17415" name="直接连接符 17415"/>
            <p:cNvSpPr/>
            <p:nvPr/>
          </p:nvSpPr>
          <p:spPr>
            <a:xfrm flipH="1">
              <a:off x="1562" y="1200"/>
              <a:ext cx="288" cy="912"/>
            </a:xfrm>
            <a:prstGeom prst="line">
              <a:avLst/>
            </a:prstGeom>
            <a:ln w="28575" cap="flat" cmpd="sng">
              <a:solidFill>
                <a:srgbClr val="000000"/>
              </a:solidFill>
              <a:prstDash val="dash"/>
              <a:round/>
              <a:headEnd type="none" w="med" len="med"/>
              <a:tailEnd type="none" w="med" len="med"/>
            </a:ln>
          </p:spPr>
        </p:sp>
        <p:graphicFrame>
          <p:nvGraphicFramePr>
            <p:cNvPr id="17416" name="对象 17416"/>
            <p:cNvGraphicFramePr>
              <a:graphicFrameLocks noChangeAspect="1"/>
            </p:cNvGraphicFramePr>
            <p:nvPr/>
          </p:nvGraphicFramePr>
          <p:xfrm>
            <a:off x="1322" y="2064"/>
            <a:ext cx="432" cy="301"/>
          </p:xfrm>
          <a:graphic>
            <a:graphicData uri="http://schemas.openxmlformats.org/presentationml/2006/ole">
              <mc:AlternateContent xmlns:mc="http://schemas.openxmlformats.org/markup-compatibility/2006">
                <mc:Choice xmlns:v="urn:schemas-microsoft-com:vml" Requires="v">
                  <p:oleObj spid="_x0000_s3082" name="" r:id="rId1" imgW="344805" imgH="242570" progId="Equation.DSMT4">
                    <p:embed/>
                  </p:oleObj>
                </mc:Choice>
                <mc:Fallback>
                  <p:oleObj name="" r:id="rId1" imgW="344805" imgH="242570" progId="Equation.DSMT4">
                    <p:embed/>
                    <p:pic>
                      <p:nvPicPr>
                        <p:cNvPr id="0" name="图片 3081"/>
                        <p:cNvPicPr/>
                        <p:nvPr/>
                      </p:nvPicPr>
                      <p:blipFill>
                        <a:blip r:embed="rId2"/>
                        <a:stretch>
                          <a:fillRect/>
                        </a:stretch>
                      </p:blipFill>
                      <p:spPr>
                        <a:xfrm>
                          <a:off x="1322" y="2064"/>
                          <a:ext cx="432" cy="301"/>
                        </a:xfrm>
                        <a:prstGeom prst="rect">
                          <a:avLst/>
                        </a:prstGeom>
                        <a:noFill/>
                        <a:ln w="38100">
                          <a:noFill/>
                          <a:miter/>
                        </a:ln>
                      </p:spPr>
                    </p:pic>
                  </p:oleObj>
                </mc:Fallback>
              </mc:AlternateContent>
            </a:graphicData>
          </a:graphic>
        </p:graphicFrame>
        <p:sp>
          <p:nvSpPr>
            <p:cNvPr id="17417" name="文本框 17417"/>
            <p:cNvSpPr txBox="1"/>
            <p:nvPr/>
          </p:nvSpPr>
          <p:spPr>
            <a:xfrm>
              <a:off x="0" y="144"/>
              <a:ext cx="218" cy="606"/>
            </a:xfrm>
            <a:prstGeom prst="rect">
              <a:avLst/>
            </a:prstGeom>
            <a:noFill/>
            <a:ln w="9525">
              <a:noFill/>
            </a:ln>
          </p:spPr>
          <p:txBody>
            <a:bodyPr anchor="t" anchorCtr="0">
              <a:spAutoFit/>
            </a:bodyPr>
            <a:p>
              <a:pPr algn="ctr" eaLnBrk="0" fontAlgn="t" hangingPunct="0"/>
              <a:r>
                <a:rPr lang="zh-CN" altLang="en-US" sz="1890">
                  <a:latin typeface="Arial" panose="020B0604020202020204" pitchFamily="34" charset="0"/>
                  <a:ea typeface="微软雅黑" panose="020B0503020204020204" charset="-122"/>
                </a:rPr>
                <a:t>电</a:t>
              </a:r>
              <a:endParaRPr lang="zh-CN" altLang="en-US" sz="1890">
                <a:latin typeface="Arial" panose="020B0604020202020204" pitchFamily="34" charset="0"/>
                <a:ea typeface="微软雅黑" panose="020B0503020204020204" charset="-122"/>
              </a:endParaRPr>
            </a:p>
            <a:p>
              <a:pPr algn="ctr" eaLnBrk="0" fontAlgn="t" hangingPunct="0"/>
              <a:r>
                <a:rPr lang="zh-CN" altLang="en-US" sz="1890">
                  <a:latin typeface="Arial" panose="020B0604020202020204" pitchFamily="34" charset="0"/>
                  <a:ea typeface="微软雅黑" panose="020B0503020204020204" charset="-122"/>
                </a:rPr>
                <a:t>流</a:t>
              </a:r>
              <a:endParaRPr lang="zh-CN" altLang="en-US" sz="1890">
                <a:latin typeface="Arial" panose="020B0604020202020204" pitchFamily="34" charset="0"/>
                <a:ea typeface="微软雅黑" panose="020B0503020204020204" charset="-122"/>
              </a:endParaRPr>
            </a:p>
            <a:p>
              <a:pPr algn="ctr" eaLnBrk="0" fontAlgn="t" hangingPunct="0"/>
              <a:r>
                <a:rPr lang="en-US" altLang="zh-CN" sz="1890" i="1">
                  <a:latin typeface="Arial" panose="020B0604020202020204" pitchFamily="34" charset="0"/>
                  <a:ea typeface="微软雅黑" panose="020B0503020204020204" charset="-122"/>
                </a:rPr>
                <a:t>I</a:t>
              </a:r>
              <a:endParaRPr lang="en-US" altLang="zh-CN" sz="1890" i="1">
                <a:latin typeface="Arial" panose="020B0604020202020204" pitchFamily="34" charset="0"/>
                <a:ea typeface="微软雅黑" panose="020B0503020204020204" charset="-122"/>
              </a:endParaRPr>
            </a:p>
          </p:txBody>
        </p:sp>
        <p:sp>
          <p:nvSpPr>
            <p:cNvPr id="17418" name="文本框 17418"/>
            <p:cNvSpPr txBox="1"/>
            <p:nvPr/>
          </p:nvSpPr>
          <p:spPr>
            <a:xfrm>
              <a:off x="1994" y="2102"/>
              <a:ext cx="576" cy="240"/>
            </a:xfrm>
            <a:prstGeom prst="rect">
              <a:avLst/>
            </a:prstGeom>
            <a:noFill/>
            <a:ln w="9525">
              <a:noFill/>
            </a:ln>
          </p:spPr>
          <p:txBody>
            <a:bodyPr anchor="t" anchorCtr="0">
              <a:spAutoFit/>
            </a:bodyPr>
            <a:p>
              <a:pPr eaLnBrk="0" fontAlgn="t" hangingPunct="0"/>
              <a:r>
                <a:rPr lang="zh-CN" altLang="en-US" sz="1890" dirty="0">
                  <a:latin typeface="Arial" panose="020B0604020202020204" pitchFamily="34" charset="0"/>
                  <a:ea typeface="微软雅黑" panose="020B0503020204020204" charset="-122"/>
                </a:rPr>
                <a:t>电压</a:t>
              </a:r>
              <a:r>
                <a:rPr lang="en-US" altLang="zh-CN" sz="1890" i="1" dirty="0">
                  <a:latin typeface="Arial" panose="020B0604020202020204" pitchFamily="34" charset="0"/>
                  <a:ea typeface="微软雅黑" panose="020B0503020204020204" charset="-122"/>
                </a:rPr>
                <a:t>E</a:t>
              </a:r>
              <a:endParaRPr lang="en-US" altLang="zh-CN" sz="1890" i="1" dirty="0">
                <a:latin typeface="Arial" panose="020B0604020202020204" pitchFamily="34" charset="0"/>
                <a:ea typeface="微软雅黑" panose="020B0503020204020204" charset="-122"/>
              </a:endParaRPr>
            </a:p>
          </p:txBody>
        </p:sp>
        <p:graphicFrame>
          <p:nvGraphicFramePr>
            <p:cNvPr id="17419" name="对象 17419"/>
            <p:cNvGraphicFramePr>
              <a:graphicFrameLocks noChangeAspect="1"/>
            </p:cNvGraphicFramePr>
            <p:nvPr/>
          </p:nvGraphicFramePr>
          <p:xfrm>
            <a:off x="726" y="1824"/>
            <a:ext cx="102" cy="192"/>
          </p:xfrm>
          <a:graphic>
            <a:graphicData uri="http://schemas.openxmlformats.org/presentationml/2006/ole">
              <mc:AlternateContent xmlns:mc="http://schemas.openxmlformats.org/markup-compatibility/2006">
                <mc:Choice xmlns:v="urn:schemas-microsoft-com:vml" Requires="v">
                  <p:oleObj spid="_x0000_s3083" name="" r:id="rId3" imgW="89535" imgH="166370" progId="Equation.DSMT4">
                    <p:embed/>
                  </p:oleObj>
                </mc:Choice>
                <mc:Fallback>
                  <p:oleObj name="" r:id="rId3" imgW="89535" imgH="166370" progId="Equation.DSMT4">
                    <p:embed/>
                    <p:pic>
                      <p:nvPicPr>
                        <p:cNvPr id="0" name="图片 3082"/>
                        <p:cNvPicPr/>
                        <p:nvPr/>
                      </p:nvPicPr>
                      <p:blipFill>
                        <a:blip r:embed="rId4"/>
                        <a:stretch>
                          <a:fillRect/>
                        </a:stretch>
                      </p:blipFill>
                      <p:spPr>
                        <a:xfrm>
                          <a:off x="726" y="1824"/>
                          <a:ext cx="102" cy="192"/>
                        </a:xfrm>
                        <a:prstGeom prst="rect">
                          <a:avLst/>
                        </a:prstGeom>
                        <a:noFill/>
                        <a:ln w="38100">
                          <a:noFill/>
                          <a:miter/>
                        </a:ln>
                      </p:spPr>
                    </p:pic>
                  </p:oleObj>
                </mc:Fallback>
              </mc:AlternateContent>
            </a:graphicData>
          </a:graphic>
        </p:graphicFrame>
        <p:graphicFrame>
          <p:nvGraphicFramePr>
            <p:cNvPr id="17420" name="对象 17420"/>
            <p:cNvGraphicFramePr>
              <a:graphicFrameLocks noChangeAspect="1"/>
            </p:cNvGraphicFramePr>
            <p:nvPr/>
          </p:nvGraphicFramePr>
          <p:xfrm>
            <a:off x="1396" y="1536"/>
            <a:ext cx="147" cy="192"/>
          </p:xfrm>
          <a:graphic>
            <a:graphicData uri="http://schemas.openxmlformats.org/presentationml/2006/ole">
              <mc:AlternateContent xmlns:mc="http://schemas.openxmlformats.org/markup-compatibility/2006">
                <mc:Choice xmlns:v="urn:schemas-microsoft-com:vml" Requires="v">
                  <p:oleObj spid="_x0000_s3084" name="" r:id="rId5" imgW="128270" imgH="166370" progId="Equation.DSMT4">
                    <p:embed/>
                  </p:oleObj>
                </mc:Choice>
                <mc:Fallback>
                  <p:oleObj name="" r:id="rId5" imgW="128270" imgH="166370" progId="Equation.DSMT4">
                    <p:embed/>
                    <p:pic>
                      <p:nvPicPr>
                        <p:cNvPr id="0" name="图片 3083"/>
                        <p:cNvPicPr/>
                        <p:nvPr/>
                      </p:nvPicPr>
                      <p:blipFill>
                        <a:blip r:embed="rId6"/>
                        <a:stretch>
                          <a:fillRect/>
                        </a:stretch>
                      </p:blipFill>
                      <p:spPr>
                        <a:xfrm>
                          <a:off x="1396" y="1536"/>
                          <a:ext cx="147" cy="192"/>
                        </a:xfrm>
                        <a:prstGeom prst="rect">
                          <a:avLst/>
                        </a:prstGeom>
                        <a:noFill/>
                        <a:ln w="38100">
                          <a:noFill/>
                          <a:miter/>
                        </a:ln>
                      </p:spPr>
                    </p:pic>
                  </p:oleObj>
                </mc:Fallback>
              </mc:AlternateContent>
            </a:graphicData>
          </a:graphic>
        </p:graphicFrame>
        <p:graphicFrame>
          <p:nvGraphicFramePr>
            <p:cNvPr id="17421" name="对象 17421"/>
            <p:cNvGraphicFramePr>
              <a:graphicFrameLocks noChangeAspect="1"/>
            </p:cNvGraphicFramePr>
            <p:nvPr/>
          </p:nvGraphicFramePr>
          <p:xfrm>
            <a:off x="1754" y="816"/>
            <a:ext cx="132" cy="207"/>
          </p:xfrm>
          <a:graphic>
            <a:graphicData uri="http://schemas.openxmlformats.org/presentationml/2006/ole">
              <mc:AlternateContent xmlns:mc="http://schemas.openxmlformats.org/markup-compatibility/2006">
                <mc:Choice xmlns:v="urn:schemas-microsoft-com:vml" Requires="v">
                  <p:oleObj spid="_x0000_s3085" name="" r:id="rId7" imgW="115570" imgH="179070" progId="Equation.DSMT4">
                    <p:embed/>
                  </p:oleObj>
                </mc:Choice>
                <mc:Fallback>
                  <p:oleObj name="" r:id="rId7" imgW="115570" imgH="179070" progId="Equation.DSMT4">
                    <p:embed/>
                    <p:pic>
                      <p:nvPicPr>
                        <p:cNvPr id="0" name="图片 3084"/>
                        <p:cNvPicPr/>
                        <p:nvPr/>
                      </p:nvPicPr>
                      <p:blipFill>
                        <a:blip r:embed="rId8"/>
                        <a:stretch>
                          <a:fillRect/>
                        </a:stretch>
                      </p:blipFill>
                      <p:spPr>
                        <a:xfrm>
                          <a:off x="1754" y="816"/>
                          <a:ext cx="132" cy="207"/>
                        </a:xfrm>
                        <a:prstGeom prst="rect">
                          <a:avLst/>
                        </a:prstGeom>
                        <a:noFill/>
                        <a:ln w="38100">
                          <a:noFill/>
                          <a:miter/>
                        </a:ln>
                      </p:spPr>
                    </p:pic>
                  </p:oleObj>
                </mc:Fallback>
              </mc:AlternateContent>
            </a:graphicData>
          </a:graphic>
        </p:graphicFrame>
        <p:sp>
          <p:nvSpPr>
            <p:cNvPr id="17422" name="文本框 17422"/>
            <p:cNvSpPr txBox="1"/>
            <p:nvPr/>
          </p:nvSpPr>
          <p:spPr>
            <a:xfrm>
              <a:off x="303" y="2448"/>
              <a:ext cx="2282" cy="240"/>
            </a:xfrm>
            <a:prstGeom prst="rect">
              <a:avLst/>
            </a:prstGeom>
            <a:noFill/>
            <a:ln w="9525">
              <a:noFill/>
            </a:ln>
          </p:spPr>
          <p:txBody>
            <a:bodyPr wrap="none" anchor="t" anchorCtr="0">
              <a:spAutoFit/>
            </a:bodyPr>
            <a:p>
              <a:pPr algn="ctr" eaLnBrk="0" fontAlgn="t" hangingPunct="0"/>
              <a:r>
                <a:rPr lang="zh-CN" altLang="en-US" sz="1890">
                  <a:solidFill>
                    <a:srgbClr val="CC0000"/>
                  </a:solidFill>
                  <a:latin typeface="Arial" panose="020B0604020202020204" pitchFamily="34" charset="0"/>
                  <a:ea typeface="微软雅黑" panose="020B0503020204020204" charset="-122"/>
                </a:rPr>
                <a:t>测定分解电压时的电流</a:t>
              </a:r>
              <a:r>
                <a:rPr lang="en-US" altLang="zh-CN" sz="1890">
                  <a:solidFill>
                    <a:srgbClr val="CC0000"/>
                  </a:solidFill>
                  <a:latin typeface="Arial" panose="020B0604020202020204" pitchFamily="34" charset="0"/>
                  <a:ea typeface="微软雅黑" panose="020B0503020204020204" charset="-122"/>
                </a:rPr>
                <a:t>-</a:t>
              </a:r>
              <a:r>
                <a:rPr lang="zh-CN" altLang="en-US" sz="1890">
                  <a:solidFill>
                    <a:srgbClr val="CC0000"/>
                  </a:solidFill>
                  <a:latin typeface="Arial" panose="020B0604020202020204" pitchFamily="34" charset="0"/>
                  <a:ea typeface="微软雅黑" panose="020B0503020204020204" charset="-122"/>
                </a:rPr>
                <a:t>电压曲线</a:t>
              </a:r>
              <a:endParaRPr lang="zh-CN" altLang="en-US" sz="1890">
                <a:solidFill>
                  <a:srgbClr val="CC0000"/>
                </a:solidFill>
                <a:latin typeface="Arial" panose="020B0604020202020204" pitchFamily="34" charset="0"/>
                <a:ea typeface="微软雅黑" panose="020B0503020204020204" charset="-122"/>
              </a:endParaRPr>
            </a:p>
          </p:txBody>
        </p:sp>
      </p:grpSp>
      <p:sp>
        <p:nvSpPr>
          <p:cNvPr id="17423" name="矩形 17423"/>
          <p:cNvSpPr/>
          <p:nvPr/>
        </p:nvSpPr>
        <p:spPr>
          <a:xfrm>
            <a:off x="685500" y="228000"/>
            <a:ext cx="7773000" cy="609000"/>
          </a:xfrm>
          <a:prstGeom prst="rect">
            <a:avLst/>
          </a:prstGeom>
          <a:noFill/>
          <a:ln w="9525">
            <a:noFill/>
          </a:ln>
        </p:spPr>
        <p:txBody>
          <a:bodyPr anchor="ctr" anchorCtr="0"/>
          <a:p>
            <a:pPr algn="ctr"/>
            <a:r>
              <a:rPr lang="zh-CN" altLang="en-US" sz="3400" b="0">
                <a:solidFill>
                  <a:srgbClr val="0000FF"/>
                </a:solidFill>
                <a:latin typeface="Arial" panose="020B0604020202020204" pitchFamily="34" charset="0"/>
                <a:ea typeface="微软雅黑" panose="020B0503020204020204" charset="-122"/>
              </a:rPr>
              <a:t>分解电压的测定</a:t>
            </a:r>
            <a:endParaRPr lang="zh-CN" altLang="en-US" sz="3400" b="0">
              <a:solidFill>
                <a:srgbClr val="0000FF"/>
              </a:solidFill>
              <a:latin typeface="Arial" panose="020B0604020202020204" pitchFamily="34" charset="0"/>
              <a:ea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18433"/>
          <p:cNvSpPr txBox="1"/>
          <p:nvPr/>
        </p:nvSpPr>
        <p:spPr>
          <a:xfrm>
            <a:off x="142500" y="45000"/>
            <a:ext cx="8893500" cy="3826500"/>
          </a:xfrm>
          <a:prstGeom prst="rect">
            <a:avLst/>
          </a:prstGeom>
          <a:solidFill>
            <a:srgbClr val="CCECFF"/>
          </a:solidFill>
          <a:ln w="9525" cap="flat" cmpd="sng">
            <a:solidFill>
              <a:srgbClr val="000080"/>
            </a:solidFill>
            <a:prstDash val="solid"/>
            <a:miter/>
            <a:headEnd type="none" w="med" len="med"/>
            <a:tailEnd type="none" w="med" len="med"/>
          </a:ln>
          <a:effectLst>
            <a:outerShdw dist="107763" dir="2699999" algn="ctr" rotWithShape="0">
              <a:schemeClr val="folHlink"/>
            </a:outerShdw>
          </a:effectLst>
        </p:spPr>
        <p:txBody>
          <a:bodyPr anchor="t" anchorCtr="0"/>
          <a:p>
            <a:pPr>
              <a:lnSpc>
                <a:spcPct val="130000"/>
              </a:lnSpc>
            </a:pPr>
            <a:r>
              <a:rPr lang="zh-CN" altLang="en-US" sz="3025" b="0" dirty="0">
                <a:solidFill>
                  <a:srgbClr val="000000"/>
                </a:solidFill>
                <a:latin typeface="Arial" panose="020B0604020202020204" pitchFamily="34" charset="0"/>
                <a:ea typeface="微软雅黑" panose="020B0503020204020204" charset="-122"/>
              </a:rPr>
              <a:t>  例题</a:t>
            </a:r>
            <a:r>
              <a:rPr lang="zh-CN" altLang="en-US" sz="3400" b="0" dirty="0">
                <a:solidFill>
                  <a:srgbClr val="000000"/>
                </a:solidFill>
                <a:latin typeface="Arial" panose="020B0604020202020204" pitchFamily="34" charset="0"/>
                <a:ea typeface="微软雅黑" panose="020B0503020204020204" charset="-122"/>
              </a:rPr>
              <a:t>1     </a:t>
            </a:r>
            <a:r>
              <a:rPr lang="zh-CN" altLang="en-US" sz="3025" b="0" dirty="0">
                <a:solidFill>
                  <a:srgbClr val="000000"/>
                </a:solidFill>
                <a:latin typeface="Arial" panose="020B0604020202020204" pitchFamily="34" charset="0"/>
                <a:ea typeface="微软雅黑" panose="020B0503020204020204" charset="-122"/>
              </a:rPr>
              <a:t>298K时, 用铂做两极, 电解 1 mol·kg</a:t>
            </a:r>
            <a:r>
              <a:rPr lang="en-US" altLang="zh-CN" sz="3025" b="0" baseline="30000" dirty="0">
                <a:solidFill>
                  <a:srgbClr val="000000"/>
                </a:solidFill>
                <a:latin typeface="Arial" panose="020B0604020202020204" pitchFamily="34" charset="0"/>
                <a:ea typeface="微软雅黑" panose="020B0503020204020204" charset="-122"/>
                <a:sym typeface="Symbol" panose="05050102010706020507" pitchFamily="18" charset="2"/>
              </a:rPr>
              <a:t>-</a:t>
            </a:r>
            <a:r>
              <a:rPr lang="zh-CN" altLang="en-US" sz="3025" b="0" baseline="30000" dirty="0">
                <a:solidFill>
                  <a:srgbClr val="000000"/>
                </a:solidFill>
                <a:latin typeface="Arial" panose="020B0604020202020204" pitchFamily="34" charset="0"/>
                <a:ea typeface="微软雅黑" panose="020B0503020204020204" charset="-122"/>
              </a:rPr>
              <a:t>1 </a:t>
            </a:r>
            <a:r>
              <a:rPr lang="zh-CN" altLang="en-US" sz="3025" b="0" dirty="0">
                <a:solidFill>
                  <a:srgbClr val="000000"/>
                </a:solidFill>
                <a:latin typeface="Arial" panose="020B0604020202020204" pitchFamily="34" charset="0"/>
                <a:ea typeface="微软雅黑" panose="020B0503020204020204" charset="-122"/>
              </a:rPr>
              <a:t>的NaOH溶液。(1)两极产物是什么？写出电极反应; </a:t>
            </a:r>
            <a:endParaRPr lang="zh-CN" altLang="en-US" sz="3025" b="0" dirty="0">
              <a:solidFill>
                <a:srgbClr val="000000"/>
              </a:solidFill>
              <a:latin typeface="Arial" panose="020B0604020202020204" pitchFamily="34" charset="0"/>
              <a:ea typeface="微软雅黑" panose="020B0503020204020204" charset="-122"/>
            </a:endParaRPr>
          </a:p>
          <a:p>
            <a:pPr>
              <a:lnSpc>
                <a:spcPct val="130000"/>
              </a:lnSpc>
            </a:pPr>
            <a:r>
              <a:rPr lang="zh-CN" altLang="en-US" sz="3025" b="0" dirty="0">
                <a:solidFill>
                  <a:srgbClr val="000000"/>
                </a:solidFill>
                <a:latin typeface="Arial" panose="020B0604020202020204" pitchFamily="34" charset="0"/>
                <a:ea typeface="微软雅黑" panose="020B0503020204020204" charset="-122"/>
              </a:rPr>
              <a:t>(2)电解时理论分解电压是多少？</a:t>
            </a:r>
            <a:endParaRPr lang="zh-CN" altLang="en-US" sz="3025" b="0" dirty="0">
              <a:solidFill>
                <a:srgbClr val="000000"/>
              </a:solidFill>
              <a:latin typeface="Arial" panose="020B0604020202020204" pitchFamily="34" charset="0"/>
              <a:ea typeface="微软雅黑" panose="020B0503020204020204" charset="-122"/>
            </a:endParaRPr>
          </a:p>
          <a:p>
            <a:pPr>
              <a:lnSpc>
                <a:spcPct val="130000"/>
              </a:lnSpc>
            </a:pPr>
            <a:r>
              <a:rPr lang="zh-CN" altLang="en-US" sz="3025" b="0" dirty="0">
                <a:solidFill>
                  <a:srgbClr val="000000"/>
                </a:solidFill>
                <a:latin typeface="Arial" panose="020B0604020202020204" pitchFamily="34" charset="0"/>
                <a:ea typeface="微软雅黑" panose="020B0503020204020204" charset="-122"/>
              </a:rPr>
              <a:t>     (已知298K时, </a:t>
            </a:r>
            <a:r>
              <a:rPr lang="zh-CN" altLang="en-US" sz="3025" b="0" i="1" dirty="0">
                <a:solidFill>
                  <a:srgbClr val="000000"/>
                </a:solidFill>
                <a:latin typeface="Arial" panose="020B0604020202020204" pitchFamily="34" charset="0"/>
                <a:ea typeface="微软雅黑" panose="020B0503020204020204" charset="-122"/>
              </a:rPr>
              <a:t>E</a:t>
            </a:r>
            <a:r>
              <a:rPr lang="zh-CN" altLang="en-US" sz="2645" b="0" baseline="60000" dirty="0">
                <a:solidFill>
                  <a:srgbClr val="000000"/>
                </a:solidFill>
                <a:latin typeface="Arial" panose="020B0604020202020204" pitchFamily="34" charset="0"/>
                <a:ea typeface="微软雅黑" panose="020B0503020204020204" charset="-122"/>
                <a:sym typeface="Webdings" panose="05030102010509060703" pitchFamily="2" charset="2"/>
              </a:rPr>
              <a:t></a:t>
            </a:r>
            <a:r>
              <a:rPr lang="zh-CN" altLang="en-US" sz="3025" b="0" dirty="0">
                <a:solidFill>
                  <a:srgbClr val="000000"/>
                </a:solidFill>
                <a:latin typeface="Arial" panose="020B0604020202020204" pitchFamily="34" charset="0"/>
                <a:ea typeface="微软雅黑" panose="020B0503020204020204" charset="-122"/>
              </a:rPr>
              <a:t>(OH</a:t>
            </a:r>
            <a:r>
              <a:rPr lang="zh-CN" altLang="en-US" sz="3025" b="0" baseline="30000" dirty="0">
                <a:solidFill>
                  <a:srgbClr val="000000"/>
                </a:solidFill>
                <a:latin typeface="Arial" panose="020B0604020202020204" pitchFamily="34" charset="0"/>
                <a:ea typeface="微软雅黑" panose="020B0503020204020204" charset="-122"/>
              </a:rPr>
              <a:t>－</a:t>
            </a:r>
            <a:r>
              <a:rPr lang="zh-CN" altLang="en-US" sz="3025" b="0" dirty="0">
                <a:solidFill>
                  <a:srgbClr val="000000"/>
                </a:solidFill>
                <a:latin typeface="Arial" panose="020B0604020202020204" pitchFamily="34" charset="0"/>
                <a:ea typeface="微软雅黑" panose="020B0503020204020204" charset="-122"/>
              </a:rPr>
              <a:t>|O</a:t>
            </a:r>
            <a:r>
              <a:rPr lang="zh-CN" altLang="en-US" sz="3025" b="0" baseline="-25000" dirty="0">
                <a:solidFill>
                  <a:srgbClr val="000000"/>
                </a:solidFill>
                <a:latin typeface="Arial" panose="020B0604020202020204" pitchFamily="34" charset="0"/>
                <a:ea typeface="微软雅黑" panose="020B0503020204020204" charset="-122"/>
              </a:rPr>
              <a:t>2</a:t>
            </a:r>
            <a:r>
              <a:rPr lang="zh-CN" altLang="en-US" sz="3025" b="0" dirty="0">
                <a:solidFill>
                  <a:srgbClr val="000000"/>
                </a:solidFill>
                <a:latin typeface="Arial" panose="020B0604020202020204" pitchFamily="34" charset="0"/>
                <a:ea typeface="微软雅黑" panose="020B0503020204020204" charset="-122"/>
              </a:rPr>
              <a:t>|Pt) = 0.401 V，</a:t>
            </a:r>
            <a:endParaRPr lang="zh-CN" altLang="en-US" sz="3025" b="0" dirty="0">
              <a:solidFill>
                <a:srgbClr val="000000"/>
              </a:solidFill>
              <a:latin typeface="Arial" panose="020B0604020202020204" pitchFamily="34" charset="0"/>
              <a:ea typeface="微软雅黑" panose="020B0503020204020204" charset="-122"/>
            </a:endParaRPr>
          </a:p>
          <a:p>
            <a:pPr>
              <a:lnSpc>
                <a:spcPct val="130000"/>
              </a:lnSpc>
            </a:pPr>
            <a:r>
              <a:rPr lang="zh-CN" altLang="en-US" sz="3025" b="0" i="1" dirty="0">
                <a:solidFill>
                  <a:srgbClr val="000000"/>
                </a:solidFill>
                <a:latin typeface="Arial" panose="020B0604020202020204" pitchFamily="34" charset="0"/>
                <a:ea typeface="微软雅黑" panose="020B0503020204020204" charset="-122"/>
              </a:rPr>
              <a:t>E</a:t>
            </a:r>
            <a:r>
              <a:rPr lang="zh-CN" altLang="en-US" sz="3025" b="0" baseline="60000" dirty="0">
                <a:solidFill>
                  <a:srgbClr val="000000"/>
                </a:solidFill>
                <a:latin typeface="Arial" panose="020B0604020202020204" pitchFamily="34" charset="0"/>
                <a:ea typeface="微软雅黑" panose="020B0503020204020204" charset="-122"/>
                <a:sym typeface="Webdings" panose="05030102010509060703" pitchFamily="2" charset="2"/>
              </a:rPr>
              <a:t></a:t>
            </a:r>
            <a:r>
              <a:rPr lang="zh-CN" altLang="en-US" sz="3025" b="0" dirty="0">
                <a:solidFill>
                  <a:srgbClr val="000000"/>
                </a:solidFill>
                <a:latin typeface="Arial" panose="020B0604020202020204" pitchFamily="34" charset="0"/>
                <a:ea typeface="微软雅黑" panose="020B0503020204020204" charset="-122"/>
              </a:rPr>
              <a:t>(</a:t>
            </a:r>
            <a:r>
              <a:rPr lang="en-US" altLang="zh-CN" sz="3025" b="0" dirty="0">
                <a:solidFill>
                  <a:srgbClr val="000000"/>
                </a:solidFill>
                <a:latin typeface="Arial" panose="020B0604020202020204" pitchFamily="34" charset="0"/>
                <a:ea typeface="微软雅黑" panose="020B0503020204020204" charset="-122"/>
              </a:rPr>
              <a:t>H</a:t>
            </a:r>
            <a:r>
              <a:rPr lang="en-US" altLang="zh-CN" sz="3025" b="0" baseline="-25000" dirty="0">
                <a:solidFill>
                  <a:srgbClr val="000000"/>
                </a:solidFill>
                <a:latin typeface="Arial" panose="020B0604020202020204" pitchFamily="34" charset="0"/>
                <a:ea typeface="微软雅黑" panose="020B0503020204020204" charset="-122"/>
              </a:rPr>
              <a:t>2</a:t>
            </a:r>
            <a:r>
              <a:rPr lang="en-US" altLang="zh-CN" sz="3025" b="0" dirty="0">
                <a:solidFill>
                  <a:srgbClr val="000000"/>
                </a:solidFill>
                <a:latin typeface="Arial" panose="020B0604020202020204" pitchFamily="34" charset="0"/>
                <a:ea typeface="微软雅黑" panose="020B0503020204020204" charset="-122"/>
              </a:rPr>
              <a:t>O</a:t>
            </a:r>
            <a:r>
              <a:rPr lang="zh-CN" altLang="en-US" sz="3025" b="0" dirty="0">
                <a:solidFill>
                  <a:srgbClr val="000000"/>
                </a:solidFill>
                <a:latin typeface="Arial" panose="020B0604020202020204" pitchFamily="34" charset="0"/>
                <a:ea typeface="微软雅黑" panose="020B0503020204020204" charset="-122"/>
              </a:rPr>
              <a:t>|</a:t>
            </a:r>
            <a:r>
              <a:rPr lang="en-US" altLang="zh-CN" sz="3025" b="0" dirty="0">
                <a:solidFill>
                  <a:srgbClr val="000000"/>
                </a:solidFill>
                <a:latin typeface="Arial" panose="020B0604020202020204" pitchFamily="34" charset="0"/>
                <a:ea typeface="微软雅黑" panose="020B0503020204020204" charset="-122"/>
              </a:rPr>
              <a:t>H</a:t>
            </a:r>
            <a:r>
              <a:rPr lang="zh-CN" altLang="en-US" sz="3025" b="0" baseline="-25000" dirty="0">
                <a:solidFill>
                  <a:srgbClr val="000000"/>
                </a:solidFill>
                <a:latin typeface="Arial" panose="020B0604020202020204" pitchFamily="34" charset="0"/>
                <a:ea typeface="微软雅黑" panose="020B0503020204020204" charset="-122"/>
              </a:rPr>
              <a:t>2</a:t>
            </a:r>
            <a:r>
              <a:rPr lang="zh-CN" altLang="en-US" sz="3025" b="0" dirty="0">
                <a:solidFill>
                  <a:srgbClr val="000000"/>
                </a:solidFill>
                <a:latin typeface="Arial" panose="020B0604020202020204" pitchFamily="34" charset="0"/>
                <a:ea typeface="微软雅黑" panose="020B0503020204020204" charset="-122"/>
              </a:rPr>
              <a:t>|Pt) = </a:t>
            </a:r>
            <a:r>
              <a:rPr lang="en-US" altLang="zh-CN" sz="3025" b="0" dirty="0">
                <a:solidFill>
                  <a:srgbClr val="000000"/>
                </a:solidFill>
                <a:latin typeface="Arial" panose="020B0604020202020204" pitchFamily="34" charset="0"/>
                <a:ea typeface="微软雅黑" panose="020B0503020204020204" charset="-122"/>
              </a:rPr>
              <a:t>-0.828</a:t>
            </a:r>
            <a:r>
              <a:rPr lang="zh-CN" altLang="en-US" sz="3025" b="0" dirty="0">
                <a:solidFill>
                  <a:srgbClr val="000000"/>
                </a:solidFill>
                <a:latin typeface="Arial" panose="020B0604020202020204" pitchFamily="34" charset="0"/>
                <a:ea typeface="微软雅黑" panose="020B0503020204020204" charset="-122"/>
              </a:rPr>
              <a:t> V.)</a:t>
            </a:r>
            <a:endParaRPr lang="zh-CN" altLang="en-US" sz="3025" b="0" dirty="0">
              <a:solidFill>
                <a:srgbClr val="000000"/>
              </a:solidFill>
              <a:latin typeface="Arial" panose="020B0604020202020204" pitchFamily="34" charset="0"/>
              <a:ea typeface="微软雅黑" panose="020B0503020204020204" charset="-122"/>
            </a:endParaRPr>
          </a:p>
        </p:txBody>
      </p:sp>
      <p:sp>
        <p:nvSpPr>
          <p:cNvPr id="18435" name="文本框 18434"/>
          <p:cNvSpPr txBox="1"/>
          <p:nvPr/>
        </p:nvSpPr>
        <p:spPr>
          <a:xfrm>
            <a:off x="81000" y="4381500"/>
            <a:ext cx="8893500" cy="1282500"/>
          </a:xfrm>
          <a:prstGeom prst="rect">
            <a:avLst/>
          </a:prstGeom>
          <a:noFill/>
          <a:ln w="9525">
            <a:noFill/>
          </a:ln>
        </p:spPr>
        <p:txBody>
          <a:bodyPr anchor="t" anchorCtr="0"/>
          <a:p>
            <a:pPr>
              <a:lnSpc>
                <a:spcPct val="130000"/>
              </a:lnSpc>
            </a:pPr>
            <a:r>
              <a:rPr lang="en-US" altLang="zh-CN" sz="2645" b="0">
                <a:solidFill>
                  <a:srgbClr val="000000"/>
                </a:solidFill>
                <a:latin typeface="Arial" panose="020B0604020202020204" pitchFamily="34" charset="0"/>
                <a:ea typeface="微软雅黑" panose="020B0503020204020204" charset="-122"/>
              </a:rPr>
              <a:t>(1)  </a:t>
            </a:r>
            <a:r>
              <a:rPr lang="zh-CN" altLang="en-US" sz="2645" b="0">
                <a:solidFill>
                  <a:srgbClr val="000000"/>
                </a:solidFill>
                <a:latin typeface="Arial" panose="020B0604020202020204" pitchFamily="34" charset="0"/>
                <a:ea typeface="微软雅黑" panose="020B0503020204020204" charset="-122"/>
              </a:rPr>
              <a:t>阴极反应</a:t>
            </a:r>
            <a:r>
              <a:rPr lang="en-US" altLang="zh-CN" sz="2645" b="0">
                <a:solidFill>
                  <a:srgbClr val="000000"/>
                </a:solidFill>
                <a:latin typeface="Arial" panose="020B0604020202020204" pitchFamily="34" charset="0"/>
                <a:ea typeface="微软雅黑" panose="020B0503020204020204" charset="-122"/>
              </a:rPr>
              <a:t>:  2H</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O</a:t>
            </a:r>
            <a:r>
              <a:rPr lang="zh-CN" altLang="en-US" sz="2645" b="0">
                <a:solidFill>
                  <a:srgbClr val="000000"/>
                </a:solidFill>
                <a:latin typeface="Arial" panose="020B0604020202020204" pitchFamily="34" charset="0"/>
                <a:ea typeface="微软雅黑" panose="020B0503020204020204" charset="-122"/>
              </a:rPr>
              <a:t>＋</a:t>
            </a:r>
            <a:r>
              <a:rPr lang="en-US" altLang="zh-CN" sz="2645" b="0">
                <a:solidFill>
                  <a:srgbClr val="000000"/>
                </a:solidFill>
                <a:latin typeface="Arial" panose="020B0604020202020204" pitchFamily="34" charset="0"/>
                <a:ea typeface="微软雅黑" panose="020B0503020204020204" charset="-122"/>
              </a:rPr>
              <a:t>2e</a:t>
            </a:r>
            <a:r>
              <a:rPr lang="zh-CN" altLang="en-US" sz="2645" b="0" baseline="30000">
                <a:solidFill>
                  <a:srgbClr val="000000"/>
                </a:solidFill>
                <a:latin typeface="Arial" panose="020B0604020202020204" pitchFamily="34" charset="0"/>
                <a:ea typeface="微软雅黑" panose="020B0503020204020204" charset="-122"/>
              </a:rPr>
              <a:t>－</a:t>
            </a:r>
            <a:r>
              <a:rPr lang="en-US" altLang="zh-CN" sz="2645" b="0">
                <a:solidFill>
                  <a:srgbClr val="000000"/>
                </a:solidFill>
                <a:latin typeface="Arial" panose="020B0604020202020204" pitchFamily="34" charset="0"/>
                <a:ea typeface="微软雅黑" panose="020B0503020204020204" charset="-122"/>
                <a:sym typeface="Symbol" panose="05050102010706020507" pitchFamily="18" charset="2"/>
              </a:rPr>
              <a:t> </a:t>
            </a:r>
            <a:r>
              <a:rPr lang="en-US" altLang="zh-CN" sz="2645" b="0">
                <a:solidFill>
                  <a:srgbClr val="000000"/>
                </a:solidFill>
                <a:latin typeface="Arial" panose="020B0604020202020204" pitchFamily="34" charset="0"/>
                <a:ea typeface="微软雅黑" panose="020B0503020204020204" charset="-122"/>
              </a:rPr>
              <a:t>H</a:t>
            </a:r>
            <a:r>
              <a:rPr lang="en-US" altLang="zh-CN" sz="2645" b="0" baseline="-25000">
                <a:solidFill>
                  <a:srgbClr val="000000"/>
                </a:solidFill>
                <a:latin typeface="Arial" panose="020B0604020202020204" pitchFamily="34" charset="0"/>
                <a:ea typeface="微软雅黑" panose="020B0503020204020204" charset="-122"/>
              </a:rPr>
              <a:t>2  </a:t>
            </a:r>
            <a:r>
              <a:rPr lang="en-US" altLang="zh-CN" sz="2645" b="0">
                <a:solidFill>
                  <a:srgbClr val="000000"/>
                </a:solidFill>
                <a:latin typeface="Arial" panose="020B0604020202020204" pitchFamily="34" charset="0"/>
                <a:ea typeface="微软雅黑" panose="020B0503020204020204" charset="-122"/>
              </a:rPr>
              <a:t>+ 2OH</a:t>
            </a:r>
            <a:r>
              <a:rPr lang="zh-CN" altLang="en-US" sz="2645" b="0" baseline="30000">
                <a:solidFill>
                  <a:srgbClr val="000000"/>
                </a:solidFill>
                <a:latin typeface="Arial" panose="020B0604020202020204" pitchFamily="34" charset="0"/>
                <a:ea typeface="微软雅黑" panose="020B0503020204020204" charset="-122"/>
              </a:rPr>
              <a:t>－</a:t>
            </a:r>
            <a:r>
              <a:rPr lang="zh-CN" altLang="en-US" sz="2645" b="0">
                <a:solidFill>
                  <a:srgbClr val="000000"/>
                </a:solidFill>
                <a:latin typeface="Arial" panose="020B0604020202020204" pitchFamily="34" charset="0"/>
                <a:ea typeface="微软雅黑" panose="020B0503020204020204" charset="-122"/>
              </a:rPr>
              <a:t>     </a:t>
            </a:r>
            <a:r>
              <a:rPr lang="zh-CN" altLang="en-US" sz="2645" b="0" baseline="-25000">
                <a:solidFill>
                  <a:srgbClr val="000000"/>
                </a:solidFill>
                <a:latin typeface="Arial" panose="020B0604020202020204" pitchFamily="34" charset="0"/>
                <a:ea typeface="微软雅黑" panose="020B0503020204020204" charset="-122"/>
              </a:rPr>
              <a:t> </a:t>
            </a:r>
            <a:r>
              <a:rPr lang="en-US" altLang="zh-CN" sz="2645" b="0">
                <a:solidFill>
                  <a:srgbClr val="000000"/>
                </a:solidFill>
                <a:latin typeface="Arial" panose="020B0604020202020204" pitchFamily="34" charset="0"/>
                <a:ea typeface="微软雅黑" panose="020B0503020204020204" charset="-122"/>
              </a:rPr>
              <a:t>(</a:t>
            </a:r>
            <a:r>
              <a:rPr lang="zh-CN" altLang="en-US" sz="2645" b="0">
                <a:solidFill>
                  <a:srgbClr val="000000"/>
                </a:solidFill>
                <a:latin typeface="Arial" panose="020B0604020202020204" pitchFamily="34" charset="0"/>
                <a:ea typeface="微软雅黑" panose="020B0503020204020204" charset="-122"/>
              </a:rPr>
              <a:t>产物</a:t>
            </a:r>
            <a:r>
              <a:rPr lang="en-US" altLang="zh-CN" sz="2645" b="0">
                <a:solidFill>
                  <a:srgbClr val="000000"/>
                </a:solidFill>
                <a:latin typeface="Arial" panose="020B0604020202020204" pitchFamily="34" charset="0"/>
                <a:ea typeface="微软雅黑" panose="020B0503020204020204" charset="-122"/>
              </a:rPr>
              <a:t>H</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a:t>
            </a:r>
            <a:endParaRPr lang="en-US" altLang="zh-CN" sz="2645" b="0">
              <a:solidFill>
                <a:srgbClr val="000000"/>
              </a:solidFill>
              <a:latin typeface="Arial" panose="020B0604020202020204" pitchFamily="34" charset="0"/>
              <a:ea typeface="微软雅黑" panose="020B0503020204020204" charset="-122"/>
            </a:endParaRPr>
          </a:p>
          <a:p>
            <a:pPr>
              <a:lnSpc>
                <a:spcPct val="130000"/>
              </a:lnSpc>
            </a:pPr>
            <a:r>
              <a:rPr lang="en-US" altLang="zh-CN" sz="2645" b="0">
                <a:solidFill>
                  <a:srgbClr val="000000"/>
                </a:solidFill>
                <a:latin typeface="Arial" panose="020B0604020202020204" pitchFamily="34" charset="0"/>
                <a:ea typeface="微软雅黑" panose="020B0503020204020204" charset="-122"/>
              </a:rPr>
              <a:t>       </a:t>
            </a:r>
            <a:r>
              <a:rPr lang="zh-CN" altLang="en-US" sz="2645" b="0">
                <a:solidFill>
                  <a:srgbClr val="000000"/>
                </a:solidFill>
                <a:latin typeface="Arial" panose="020B0604020202020204" pitchFamily="34" charset="0"/>
                <a:ea typeface="微软雅黑" panose="020B0503020204020204" charset="-122"/>
              </a:rPr>
              <a:t>阳极反应</a:t>
            </a:r>
            <a:r>
              <a:rPr lang="en-US" altLang="zh-CN" sz="2645" b="0">
                <a:solidFill>
                  <a:srgbClr val="000000"/>
                </a:solidFill>
                <a:latin typeface="Arial" panose="020B0604020202020204" pitchFamily="34" charset="0"/>
                <a:ea typeface="微软雅黑" panose="020B0503020204020204" charset="-122"/>
              </a:rPr>
              <a:t>:  2OH</a:t>
            </a:r>
            <a:r>
              <a:rPr lang="zh-CN" altLang="en-US" sz="2645" b="0" baseline="30000">
                <a:solidFill>
                  <a:srgbClr val="000000"/>
                </a:solidFill>
                <a:latin typeface="Arial" panose="020B0604020202020204" pitchFamily="34" charset="0"/>
                <a:ea typeface="微软雅黑" panose="020B0503020204020204" charset="-122"/>
              </a:rPr>
              <a:t>－</a:t>
            </a:r>
            <a:r>
              <a:rPr lang="en-US" altLang="zh-CN" sz="2645" b="0">
                <a:solidFill>
                  <a:srgbClr val="000000"/>
                </a:solidFill>
                <a:latin typeface="Arial" panose="020B0604020202020204" pitchFamily="34" charset="0"/>
                <a:ea typeface="微软雅黑" panose="020B0503020204020204" charset="-122"/>
                <a:sym typeface="Symbol" panose="05050102010706020507" pitchFamily="18" charset="2"/>
              </a:rPr>
              <a:t> (1/2)</a:t>
            </a:r>
            <a:r>
              <a:rPr lang="en-US" altLang="zh-CN" sz="2645" b="0">
                <a:solidFill>
                  <a:srgbClr val="000000"/>
                </a:solidFill>
                <a:latin typeface="Arial" panose="020B0604020202020204" pitchFamily="34" charset="0"/>
                <a:ea typeface="微软雅黑" panose="020B0503020204020204" charset="-122"/>
              </a:rPr>
              <a:t>O</a:t>
            </a:r>
            <a:r>
              <a:rPr lang="en-US" altLang="zh-CN" sz="2645" b="0" baseline="-25000">
                <a:solidFill>
                  <a:srgbClr val="000000"/>
                </a:solidFill>
                <a:latin typeface="Arial" panose="020B0604020202020204" pitchFamily="34" charset="0"/>
                <a:ea typeface="微软雅黑" panose="020B0503020204020204" charset="-122"/>
              </a:rPr>
              <a:t>2 </a:t>
            </a:r>
            <a:r>
              <a:rPr lang="en-US" altLang="zh-CN" sz="2645" b="0">
                <a:solidFill>
                  <a:srgbClr val="000000"/>
                </a:solidFill>
                <a:latin typeface="Arial" panose="020B0604020202020204" pitchFamily="34" charset="0"/>
                <a:ea typeface="微软雅黑" panose="020B0503020204020204" charset="-122"/>
              </a:rPr>
              <a:t>+ H</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O</a:t>
            </a:r>
            <a:r>
              <a:rPr lang="zh-CN" altLang="en-US" sz="2645" b="0">
                <a:solidFill>
                  <a:srgbClr val="000000"/>
                </a:solidFill>
                <a:latin typeface="Arial" panose="020B0604020202020204" pitchFamily="34" charset="0"/>
                <a:ea typeface="微软雅黑" panose="020B0503020204020204" charset="-122"/>
              </a:rPr>
              <a:t>＋</a:t>
            </a:r>
            <a:r>
              <a:rPr lang="en-US" altLang="zh-CN" sz="2645" b="0">
                <a:solidFill>
                  <a:srgbClr val="000000"/>
                </a:solidFill>
                <a:latin typeface="Arial" panose="020B0604020202020204" pitchFamily="34" charset="0"/>
                <a:ea typeface="微软雅黑" panose="020B0503020204020204" charset="-122"/>
              </a:rPr>
              <a:t>2e</a:t>
            </a:r>
            <a:r>
              <a:rPr lang="zh-CN" altLang="en-US" sz="2645" b="0" baseline="30000">
                <a:solidFill>
                  <a:srgbClr val="000000"/>
                </a:solidFill>
                <a:latin typeface="Arial" panose="020B0604020202020204" pitchFamily="34" charset="0"/>
                <a:ea typeface="微软雅黑" panose="020B0503020204020204" charset="-122"/>
              </a:rPr>
              <a:t>－</a:t>
            </a:r>
            <a:r>
              <a:rPr lang="zh-CN" altLang="en-US" sz="2645" b="0">
                <a:solidFill>
                  <a:srgbClr val="000000"/>
                </a:solidFill>
                <a:latin typeface="Arial" panose="020B0604020202020204" pitchFamily="34" charset="0"/>
                <a:ea typeface="微软雅黑" panose="020B0503020204020204" charset="-122"/>
              </a:rPr>
              <a:t>   </a:t>
            </a:r>
            <a:r>
              <a:rPr lang="en-US" altLang="zh-CN" sz="2645" b="0">
                <a:solidFill>
                  <a:srgbClr val="000000"/>
                </a:solidFill>
                <a:latin typeface="Arial" panose="020B0604020202020204" pitchFamily="34" charset="0"/>
                <a:ea typeface="微软雅黑" panose="020B0503020204020204" charset="-122"/>
              </a:rPr>
              <a:t>(</a:t>
            </a:r>
            <a:r>
              <a:rPr lang="zh-CN" altLang="en-US" sz="2645" b="0">
                <a:solidFill>
                  <a:srgbClr val="000000"/>
                </a:solidFill>
                <a:latin typeface="Arial" panose="020B0604020202020204" pitchFamily="34" charset="0"/>
                <a:ea typeface="微软雅黑" panose="020B0503020204020204" charset="-122"/>
              </a:rPr>
              <a:t>产物</a:t>
            </a:r>
            <a:r>
              <a:rPr lang="en-US" altLang="zh-CN" sz="2645" b="0">
                <a:solidFill>
                  <a:srgbClr val="000000"/>
                </a:solidFill>
                <a:latin typeface="Arial" panose="020B0604020202020204" pitchFamily="34" charset="0"/>
                <a:ea typeface="微软雅黑" panose="020B0503020204020204" charset="-122"/>
              </a:rPr>
              <a:t>O</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a:t>
            </a:r>
            <a:endParaRPr lang="en-US" altLang="zh-CN" sz="2645" b="0">
              <a:solidFill>
                <a:srgbClr val="000000"/>
              </a:solidFill>
              <a:latin typeface="Arial" panose="020B0604020202020204" pitchFamily="34" charset="0"/>
              <a:ea typeface="微软雅黑" panose="020B0503020204020204" charset="-122"/>
            </a:endParaRPr>
          </a:p>
          <a:p>
            <a:pPr>
              <a:lnSpc>
                <a:spcPct val="130000"/>
              </a:lnSpc>
            </a:pPr>
            <a:r>
              <a:rPr lang="en-US" altLang="zh-CN" sz="2645" b="0">
                <a:solidFill>
                  <a:srgbClr val="000000"/>
                </a:solidFill>
                <a:latin typeface="Arial" panose="020B0604020202020204" pitchFamily="34" charset="0"/>
                <a:ea typeface="微软雅黑" panose="020B0503020204020204" charset="-122"/>
              </a:rPr>
              <a:t>    </a:t>
            </a:r>
            <a:r>
              <a:rPr lang="zh-CN" altLang="en-US" sz="2645" b="0">
                <a:solidFill>
                  <a:srgbClr val="000000"/>
                </a:solidFill>
                <a:latin typeface="Arial" panose="020B0604020202020204" pitchFamily="34" charset="0"/>
                <a:ea typeface="微软雅黑" panose="020B0503020204020204" charset="-122"/>
              </a:rPr>
              <a:t>电解反应</a:t>
            </a:r>
            <a:r>
              <a:rPr lang="en-US" altLang="zh-CN" sz="2645" b="0">
                <a:solidFill>
                  <a:srgbClr val="000000"/>
                </a:solidFill>
                <a:latin typeface="Arial" panose="020B0604020202020204" pitchFamily="34" charset="0"/>
                <a:ea typeface="微软雅黑" panose="020B0503020204020204" charset="-122"/>
              </a:rPr>
              <a:t>: </a:t>
            </a:r>
            <a:r>
              <a:rPr lang="en-US" altLang="zh-CN" sz="2645" b="0">
                <a:solidFill>
                  <a:srgbClr val="000000"/>
                </a:solidFill>
                <a:latin typeface="Arial" panose="020B0604020202020204" pitchFamily="34" charset="0"/>
                <a:ea typeface="微软雅黑" panose="020B0503020204020204" charset="-122"/>
                <a:sym typeface="宋体" panose="02010600030101010101" pitchFamily="2" charset="-122"/>
              </a:rPr>
              <a:t>H</a:t>
            </a:r>
            <a:r>
              <a:rPr lang="en-US" altLang="zh-CN" sz="2645" b="0" baseline="-25000">
                <a:solidFill>
                  <a:srgbClr val="000000"/>
                </a:solidFill>
                <a:latin typeface="Arial" panose="020B0604020202020204" pitchFamily="34" charset="0"/>
                <a:ea typeface="微软雅黑" panose="020B0503020204020204" charset="-122"/>
                <a:sym typeface="宋体" panose="02010600030101010101" pitchFamily="2" charset="-122"/>
              </a:rPr>
              <a:t>2</a:t>
            </a:r>
            <a:r>
              <a:rPr lang="en-US" altLang="zh-CN" sz="2645" b="0">
                <a:solidFill>
                  <a:srgbClr val="000000"/>
                </a:solidFill>
                <a:latin typeface="Arial" panose="020B0604020202020204" pitchFamily="34" charset="0"/>
                <a:ea typeface="微软雅黑" panose="020B0503020204020204" charset="-122"/>
                <a:sym typeface="宋体" panose="02010600030101010101" pitchFamily="2" charset="-122"/>
              </a:rPr>
              <a:t>O</a:t>
            </a:r>
            <a:r>
              <a:rPr lang="en-US" altLang="zh-CN" sz="2645" b="0">
                <a:solidFill>
                  <a:srgbClr val="000000"/>
                </a:solidFill>
                <a:latin typeface="Arial" panose="020B0604020202020204" pitchFamily="34" charset="0"/>
                <a:ea typeface="微软雅黑" panose="020B0503020204020204" charset="-122"/>
                <a:sym typeface="Symbol" panose="05050102010706020507" pitchFamily="18" charset="2"/>
              </a:rPr>
              <a:t></a:t>
            </a:r>
            <a:r>
              <a:rPr lang="en-US" altLang="zh-CN" sz="2645" b="0">
                <a:solidFill>
                  <a:srgbClr val="000000"/>
                </a:solidFill>
                <a:latin typeface="Arial" panose="020B0604020202020204" pitchFamily="34" charset="0"/>
                <a:ea typeface="微软雅黑" panose="020B0503020204020204" charset="-122"/>
              </a:rPr>
              <a:t>H</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(100kPa) + (1/2) O</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(100kPa)      </a:t>
            </a:r>
            <a:endParaRPr lang="en-US" altLang="zh-CN" sz="2645" b="0">
              <a:solidFill>
                <a:srgbClr val="000000"/>
              </a:solidFill>
              <a:latin typeface="Arial" panose="020B0604020202020204" pitchFamily="34" charset="0"/>
              <a:ea typeface="微软雅黑" panose="020B0503020204020204" charset="-122"/>
            </a:endParaRPr>
          </a:p>
          <a:p>
            <a:pPr>
              <a:lnSpc>
                <a:spcPct val="130000"/>
              </a:lnSpc>
            </a:pPr>
            <a:r>
              <a:rPr lang="en-US" altLang="zh-CN" sz="2645" b="0">
                <a:solidFill>
                  <a:srgbClr val="000000"/>
                </a:solidFill>
                <a:latin typeface="Arial" panose="020B0604020202020204" pitchFamily="34" charset="0"/>
                <a:ea typeface="微软雅黑" panose="020B0503020204020204" charset="-122"/>
              </a:rPr>
              <a:t>      </a:t>
            </a:r>
            <a:endParaRPr lang="en-US" altLang="zh-CN" sz="2645" b="0">
              <a:solidFill>
                <a:srgbClr val="000000"/>
              </a:solidFill>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xEl>
                                              <p:charRg st="0" end="45"/>
                                            </p:txEl>
                                          </p:spTgt>
                                        </p:tgtEl>
                                        <p:attrNameLst>
                                          <p:attrName>style.visibility</p:attrName>
                                        </p:attrNameLst>
                                      </p:cBhvr>
                                      <p:to>
                                        <p:strVal val="visible"/>
                                      </p:to>
                                    </p:set>
                                    <p:animEffect transition="in" filter="wipe(left)">
                                      <p:cBhvr>
                                        <p:cTn id="7" dur="500"/>
                                        <p:tgtEl>
                                          <p:spTgt spid="18435">
                                            <p:txEl>
                                              <p:charRg st="0" end="4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charRg st="45" end="98"/>
                                            </p:txEl>
                                          </p:spTgt>
                                        </p:tgtEl>
                                        <p:attrNameLst>
                                          <p:attrName>style.visibility</p:attrName>
                                        </p:attrNameLst>
                                      </p:cBhvr>
                                      <p:to>
                                        <p:strVal val="visible"/>
                                      </p:to>
                                    </p:set>
                                    <p:animEffect transition="in" filter="wipe(left)">
                                      <p:cBhvr>
                                        <p:cTn id="12" dur="500"/>
                                        <p:tgtEl>
                                          <p:spTgt spid="18435">
                                            <p:txEl>
                                              <p:charRg st="45" end="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文本框 19457"/>
          <p:cNvSpPr txBox="1"/>
          <p:nvPr/>
        </p:nvSpPr>
        <p:spPr>
          <a:xfrm>
            <a:off x="130500" y="837000"/>
            <a:ext cx="8763000" cy="4328160"/>
          </a:xfrm>
          <a:prstGeom prst="rect">
            <a:avLst/>
          </a:prstGeom>
          <a:noFill/>
          <a:ln w="9525">
            <a:noFill/>
          </a:ln>
        </p:spPr>
        <p:txBody>
          <a:bodyPr anchor="t" anchorCtr="0">
            <a:spAutoFit/>
          </a:bodyPr>
          <a:p>
            <a:pPr>
              <a:lnSpc>
                <a:spcPct val="130000"/>
              </a:lnSpc>
            </a:pPr>
            <a:r>
              <a:rPr lang="en-US" altLang="zh-CN" sz="2645" b="0">
                <a:solidFill>
                  <a:srgbClr val="000000"/>
                </a:solidFill>
                <a:latin typeface="Arial" panose="020B0604020202020204" pitchFamily="34" charset="0"/>
                <a:ea typeface="微软雅黑" panose="020B0503020204020204" charset="-122"/>
              </a:rPr>
              <a:t>(2) </a:t>
            </a:r>
            <a:r>
              <a:rPr lang="zh-CN" altLang="en-US" sz="2645" b="0">
                <a:solidFill>
                  <a:srgbClr val="000000"/>
                </a:solidFill>
                <a:latin typeface="Arial" panose="020B0604020202020204" pitchFamily="34" charset="0"/>
                <a:ea typeface="微软雅黑" panose="020B0503020204020204" charset="-122"/>
              </a:rPr>
              <a:t>理论分解电压即为由</a:t>
            </a:r>
            <a:r>
              <a:rPr lang="en-US" altLang="zh-CN" sz="2645" b="0">
                <a:solidFill>
                  <a:srgbClr val="000000"/>
                </a:solidFill>
                <a:latin typeface="Arial" panose="020B0604020202020204" pitchFamily="34" charset="0"/>
                <a:ea typeface="微软雅黑" panose="020B0503020204020204" charset="-122"/>
              </a:rPr>
              <a:t>H</a:t>
            </a:r>
            <a:r>
              <a:rPr lang="en-US" altLang="zh-CN" sz="2645" b="0" baseline="-25000">
                <a:solidFill>
                  <a:srgbClr val="000000"/>
                </a:solidFill>
                <a:latin typeface="Arial" panose="020B0604020202020204" pitchFamily="34" charset="0"/>
                <a:ea typeface="微软雅黑" panose="020B0503020204020204" charset="-122"/>
              </a:rPr>
              <a:t>2</a:t>
            </a:r>
            <a:r>
              <a:rPr lang="zh-CN" altLang="en-US" sz="2645" b="0">
                <a:solidFill>
                  <a:srgbClr val="000000"/>
                </a:solidFill>
                <a:latin typeface="Arial" panose="020B0604020202020204" pitchFamily="34" charset="0"/>
                <a:ea typeface="微软雅黑" panose="020B0503020204020204" charset="-122"/>
              </a:rPr>
              <a:t>和</a:t>
            </a:r>
            <a:r>
              <a:rPr lang="en-US" altLang="zh-CN" sz="2645" b="0">
                <a:solidFill>
                  <a:srgbClr val="000000"/>
                </a:solidFill>
                <a:latin typeface="Arial" panose="020B0604020202020204" pitchFamily="34" charset="0"/>
                <a:ea typeface="微软雅黑" panose="020B0503020204020204" charset="-122"/>
              </a:rPr>
              <a:t>O</a:t>
            </a:r>
            <a:r>
              <a:rPr lang="en-US" altLang="zh-CN" sz="2645" b="0" baseline="-25000">
                <a:solidFill>
                  <a:srgbClr val="000000"/>
                </a:solidFill>
                <a:latin typeface="Arial" panose="020B0604020202020204" pitchFamily="34" charset="0"/>
                <a:ea typeface="微软雅黑" panose="020B0503020204020204" charset="-122"/>
              </a:rPr>
              <a:t>2</a:t>
            </a:r>
            <a:r>
              <a:rPr lang="zh-CN" altLang="en-US" sz="2645" b="0">
                <a:solidFill>
                  <a:srgbClr val="000000"/>
                </a:solidFill>
                <a:latin typeface="Arial" panose="020B0604020202020204" pitchFamily="34" charset="0"/>
                <a:ea typeface="微软雅黑" panose="020B0503020204020204" charset="-122"/>
              </a:rPr>
              <a:t>组成的化学电池的反电动势</a:t>
            </a:r>
            <a:r>
              <a:rPr lang="en-US" altLang="zh-CN" sz="2645" b="0">
                <a:solidFill>
                  <a:srgbClr val="000000"/>
                </a:solidFill>
                <a:latin typeface="Arial" panose="020B0604020202020204" pitchFamily="34" charset="0"/>
                <a:ea typeface="微软雅黑" panose="020B0503020204020204" charset="-122"/>
              </a:rPr>
              <a:t>, </a:t>
            </a:r>
            <a:r>
              <a:rPr lang="zh-CN" altLang="en-US" sz="2645" b="0">
                <a:solidFill>
                  <a:srgbClr val="000000"/>
                </a:solidFill>
                <a:latin typeface="Arial" panose="020B0604020202020204" pitchFamily="34" charset="0"/>
                <a:ea typeface="微软雅黑" panose="020B0503020204020204" charset="-122"/>
              </a:rPr>
              <a:t>即</a:t>
            </a:r>
            <a:r>
              <a:rPr lang="en-US" altLang="zh-CN" sz="2645" b="0">
                <a:solidFill>
                  <a:srgbClr val="000000"/>
                </a:solidFill>
                <a:latin typeface="Arial" panose="020B0604020202020204" pitchFamily="34" charset="0"/>
                <a:ea typeface="微软雅黑" panose="020B0503020204020204" charset="-122"/>
              </a:rPr>
              <a:t>: </a:t>
            </a:r>
            <a:endParaRPr lang="en-US" altLang="zh-CN" sz="2645" b="0">
              <a:solidFill>
                <a:srgbClr val="000000"/>
              </a:solidFill>
              <a:latin typeface="Arial" panose="020B0604020202020204" pitchFamily="34" charset="0"/>
              <a:ea typeface="微软雅黑" panose="020B0503020204020204" charset="-122"/>
            </a:endParaRPr>
          </a:p>
          <a:p>
            <a:pPr>
              <a:lnSpc>
                <a:spcPct val="130000"/>
              </a:lnSpc>
            </a:pPr>
            <a:r>
              <a:rPr lang="en-US" altLang="zh-CN" sz="2645" b="0">
                <a:solidFill>
                  <a:srgbClr val="000000"/>
                </a:solidFill>
                <a:latin typeface="Arial" panose="020B0604020202020204" pitchFamily="34" charset="0"/>
                <a:ea typeface="微软雅黑" panose="020B0503020204020204" charset="-122"/>
              </a:rPr>
              <a:t>    Pt | H</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(100kPa) | NaOH (1 mol·kg</a:t>
            </a:r>
            <a:r>
              <a:rPr lang="en-US" altLang="zh-CN" sz="2645" b="0" baseline="30000">
                <a:solidFill>
                  <a:srgbClr val="000000"/>
                </a:solidFill>
                <a:latin typeface="Arial" panose="020B0604020202020204" pitchFamily="34" charset="0"/>
                <a:ea typeface="微软雅黑" panose="020B0503020204020204" charset="-122"/>
                <a:sym typeface="Symbol" panose="05050102010706020507" pitchFamily="18" charset="2"/>
              </a:rPr>
              <a:t></a:t>
            </a:r>
            <a:r>
              <a:rPr lang="en-US" altLang="zh-CN" sz="2645" b="0" baseline="30000">
                <a:solidFill>
                  <a:srgbClr val="000000"/>
                </a:solidFill>
                <a:latin typeface="Arial" panose="020B0604020202020204" pitchFamily="34" charset="0"/>
                <a:ea typeface="微软雅黑" panose="020B0503020204020204" charset="-122"/>
              </a:rPr>
              <a:t>1</a:t>
            </a:r>
            <a:r>
              <a:rPr lang="en-US" altLang="zh-CN" sz="2645" b="0">
                <a:solidFill>
                  <a:srgbClr val="000000"/>
                </a:solidFill>
                <a:latin typeface="Arial" panose="020B0604020202020204" pitchFamily="34" charset="0"/>
                <a:ea typeface="微软雅黑" panose="020B0503020204020204" charset="-122"/>
              </a:rPr>
              <a:t>) | O</a:t>
            </a:r>
            <a:r>
              <a:rPr lang="en-US" altLang="zh-CN" sz="2645" b="0" baseline="-25000">
                <a:solidFill>
                  <a:srgbClr val="000000"/>
                </a:solidFill>
                <a:latin typeface="Arial" panose="020B0604020202020204" pitchFamily="34" charset="0"/>
                <a:ea typeface="微软雅黑" panose="020B0503020204020204" charset="-122"/>
              </a:rPr>
              <a:t>2 </a:t>
            </a:r>
            <a:r>
              <a:rPr lang="en-US" altLang="zh-CN" sz="2645" b="0">
                <a:solidFill>
                  <a:srgbClr val="000000"/>
                </a:solidFill>
                <a:latin typeface="Arial" panose="020B0604020202020204" pitchFamily="34" charset="0"/>
                <a:ea typeface="微软雅黑" panose="020B0503020204020204" charset="-122"/>
              </a:rPr>
              <a:t>(100kPa) | Pt</a:t>
            </a:r>
            <a:endParaRPr lang="en-US" altLang="zh-CN" sz="2645" b="0">
              <a:solidFill>
                <a:srgbClr val="000000"/>
              </a:solidFill>
              <a:latin typeface="Arial" panose="020B0604020202020204" pitchFamily="34" charset="0"/>
              <a:ea typeface="微软雅黑" panose="020B0503020204020204" charset="-122"/>
            </a:endParaRPr>
          </a:p>
          <a:p>
            <a:pPr>
              <a:lnSpc>
                <a:spcPct val="130000"/>
              </a:lnSpc>
            </a:pPr>
            <a:r>
              <a:rPr lang="en-US" altLang="zh-CN" sz="2645" b="0">
                <a:solidFill>
                  <a:srgbClr val="000000"/>
                </a:solidFill>
                <a:latin typeface="Arial" panose="020B0604020202020204" pitchFamily="34" charset="0"/>
                <a:ea typeface="微软雅黑" panose="020B0503020204020204" charset="-122"/>
              </a:rPr>
              <a:t>         </a:t>
            </a:r>
            <a:r>
              <a:rPr lang="zh-CN" altLang="en-US" sz="2645" b="0">
                <a:solidFill>
                  <a:srgbClr val="000000"/>
                </a:solidFill>
                <a:latin typeface="Arial" panose="020B0604020202020204" pitchFamily="34" charset="0"/>
                <a:ea typeface="微软雅黑" panose="020B0503020204020204" charset="-122"/>
              </a:rPr>
              <a:t>电池反应</a:t>
            </a:r>
            <a:r>
              <a:rPr lang="en-US" altLang="zh-CN" sz="2645" b="0">
                <a:solidFill>
                  <a:srgbClr val="000000"/>
                </a:solidFill>
                <a:latin typeface="Arial" panose="020B0604020202020204" pitchFamily="34" charset="0"/>
                <a:ea typeface="微软雅黑" panose="020B0503020204020204" charset="-122"/>
              </a:rPr>
              <a:t>: H</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(100kPa) + (1/2) O</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(100kPa) = H</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O    </a:t>
            </a:r>
            <a:endParaRPr lang="en-US" altLang="zh-CN" sz="2645" b="0">
              <a:solidFill>
                <a:srgbClr val="000000"/>
              </a:solidFill>
              <a:latin typeface="Arial" panose="020B0604020202020204" pitchFamily="34" charset="0"/>
              <a:ea typeface="微软雅黑" panose="020B0503020204020204" charset="-122"/>
            </a:endParaRPr>
          </a:p>
          <a:p>
            <a:pPr>
              <a:lnSpc>
                <a:spcPct val="130000"/>
              </a:lnSpc>
            </a:pPr>
            <a:r>
              <a:rPr lang="en-US" altLang="zh-CN" sz="2645" b="0" i="1">
                <a:solidFill>
                  <a:srgbClr val="000000"/>
                </a:solidFill>
                <a:latin typeface="Arial" panose="020B0604020202020204" pitchFamily="34" charset="0"/>
                <a:ea typeface="微软雅黑" panose="020B0503020204020204" charset="-122"/>
              </a:rPr>
              <a:t>E </a:t>
            </a:r>
            <a:r>
              <a:rPr lang="en-US" altLang="zh-CN" sz="2645" b="0">
                <a:solidFill>
                  <a:srgbClr val="000000"/>
                </a:solidFill>
                <a:latin typeface="Arial" panose="020B0604020202020204" pitchFamily="34" charset="0"/>
                <a:ea typeface="微软雅黑" panose="020B0503020204020204" charset="-122"/>
              </a:rPr>
              <a:t>= </a:t>
            </a:r>
            <a:r>
              <a:rPr lang="en-US" altLang="zh-CN" sz="2645" b="0" i="1">
                <a:solidFill>
                  <a:srgbClr val="000000"/>
                </a:solidFill>
                <a:latin typeface="Arial" panose="020B0604020202020204" pitchFamily="34" charset="0"/>
                <a:ea typeface="微软雅黑" panose="020B0503020204020204" charset="-122"/>
              </a:rPr>
              <a:t>E</a:t>
            </a:r>
            <a:r>
              <a:rPr lang="en-US" altLang="zh-CN" sz="2645" b="0" baseline="60000">
                <a:solidFill>
                  <a:srgbClr val="000000"/>
                </a:solidFill>
                <a:latin typeface="Arial" panose="020B0604020202020204" pitchFamily="34" charset="0"/>
                <a:ea typeface="微软雅黑" panose="020B0503020204020204" charset="-122"/>
                <a:sym typeface="Webdings" panose="05030102010509060703" pitchFamily="2" charset="2"/>
              </a:rPr>
              <a:t></a:t>
            </a:r>
            <a:r>
              <a:rPr lang="en-US" altLang="zh-CN" sz="2645" b="0">
                <a:solidFill>
                  <a:srgbClr val="000000"/>
                </a:solidFill>
                <a:latin typeface="Arial" panose="020B0604020202020204" pitchFamily="34" charset="0"/>
                <a:ea typeface="微软雅黑" panose="020B0503020204020204" charset="-122"/>
              </a:rPr>
              <a:t>(OH</a:t>
            </a:r>
            <a:r>
              <a:rPr lang="zh-CN" altLang="en-US" sz="2645" b="0" baseline="30000">
                <a:solidFill>
                  <a:srgbClr val="000000"/>
                </a:solidFill>
                <a:latin typeface="Arial" panose="020B0604020202020204" pitchFamily="34" charset="0"/>
                <a:ea typeface="微软雅黑" panose="020B0503020204020204" charset="-122"/>
              </a:rPr>
              <a:t>－</a:t>
            </a:r>
            <a:r>
              <a:rPr lang="en-US" altLang="zh-CN" sz="2645" b="0">
                <a:solidFill>
                  <a:srgbClr val="000000"/>
                </a:solidFill>
                <a:latin typeface="Arial" panose="020B0604020202020204" pitchFamily="34" charset="0"/>
                <a:ea typeface="微软雅黑" panose="020B0503020204020204" charset="-122"/>
              </a:rPr>
              <a:t>|O</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|Pt)</a:t>
            </a:r>
            <a:r>
              <a:rPr lang="en-US" altLang="zh-CN" sz="2645" b="0" baseline="30000">
                <a:solidFill>
                  <a:srgbClr val="000000"/>
                </a:solidFill>
                <a:latin typeface="Arial" panose="020B0604020202020204" pitchFamily="34" charset="0"/>
                <a:ea typeface="微软雅黑" panose="020B0503020204020204" charset="-122"/>
                <a:sym typeface="Webdings" panose="05030102010509060703" pitchFamily="2" charset="2"/>
              </a:rPr>
              <a:t> </a:t>
            </a:r>
            <a:r>
              <a:rPr lang="en-US" altLang="zh-CN" sz="2645" b="0">
                <a:solidFill>
                  <a:srgbClr val="000000"/>
                </a:solidFill>
                <a:latin typeface="Arial" panose="020B0604020202020204" pitchFamily="34" charset="0"/>
                <a:ea typeface="微软雅黑" panose="020B0503020204020204" charset="-122"/>
                <a:sym typeface="Symbol" panose="05050102010706020507" pitchFamily="18" charset="2"/>
              </a:rPr>
              <a:t></a:t>
            </a:r>
            <a:r>
              <a:rPr lang="zh-CN" altLang="en-US" sz="2645" b="0" i="1" dirty="0">
                <a:solidFill>
                  <a:srgbClr val="000000"/>
                </a:solidFill>
                <a:latin typeface="Arial" panose="020B0604020202020204" pitchFamily="34" charset="0"/>
                <a:ea typeface="微软雅黑" panose="020B0503020204020204" charset="-122"/>
                <a:sym typeface="宋体" panose="02010600030101010101" pitchFamily="2" charset="-122"/>
              </a:rPr>
              <a:t>E</a:t>
            </a:r>
            <a:r>
              <a:rPr lang="zh-CN" altLang="en-US" sz="2645" b="0" baseline="60000" dirty="0">
                <a:solidFill>
                  <a:srgbClr val="000000"/>
                </a:solidFill>
                <a:latin typeface="Arial" panose="020B0604020202020204" pitchFamily="34" charset="0"/>
                <a:ea typeface="微软雅黑" panose="020B0503020204020204" charset="-122"/>
                <a:sym typeface="Webdings" panose="05030102010509060703" pitchFamily="2" charset="2"/>
              </a:rPr>
              <a:t></a:t>
            </a:r>
            <a:r>
              <a:rPr lang="zh-CN" altLang="en-US" sz="2645" b="0" dirty="0">
                <a:solidFill>
                  <a:srgbClr val="000000"/>
                </a:solidFill>
                <a:latin typeface="Arial" panose="020B0604020202020204" pitchFamily="34" charset="0"/>
                <a:ea typeface="微软雅黑" panose="020B0503020204020204" charset="-122"/>
                <a:sym typeface="宋体" panose="02010600030101010101" pitchFamily="2" charset="-122"/>
              </a:rPr>
              <a:t>(</a:t>
            </a:r>
            <a:r>
              <a:rPr lang="en-US" altLang="zh-CN" sz="2645" b="0" dirty="0">
                <a:solidFill>
                  <a:srgbClr val="000000"/>
                </a:solidFill>
                <a:latin typeface="Arial" panose="020B0604020202020204" pitchFamily="34" charset="0"/>
                <a:ea typeface="微软雅黑" panose="020B0503020204020204" charset="-122"/>
                <a:sym typeface="宋体" panose="02010600030101010101" pitchFamily="2" charset="-122"/>
              </a:rPr>
              <a:t>H</a:t>
            </a:r>
            <a:r>
              <a:rPr lang="en-US" altLang="zh-CN" sz="2645" b="0" baseline="-25000" dirty="0">
                <a:solidFill>
                  <a:srgbClr val="000000"/>
                </a:solidFill>
                <a:latin typeface="Arial" panose="020B0604020202020204" pitchFamily="34" charset="0"/>
                <a:ea typeface="微软雅黑" panose="020B0503020204020204" charset="-122"/>
                <a:sym typeface="宋体" panose="02010600030101010101" pitchFamily="2" charset="-122"/>
              </a:rPr>
              <a:t>2</a:t>
            </a:r>
            <a:r>
              <a:rPr lang="en-US" altLang="zh-CN" sz="2645" b="0" dirty="0">
                <a:solidFill>
                  <a:srgbClr val="000000"/>
                </a:solidFill>
                <a:latin typeface="Arial" panose="020B0604020202020204" pitchFamily="34" charset="0"/>
                <a:ea typeface="微软雅黑" panose="020B0503020204020204" charset="-122"/>
                <a:sym typeface="宋体" panose="02010600030101010101" pitchFamily="2" charset="-122"/>
              </a:rPr>
              <a:t>O</a:t>
            </a:r>
            <a:r>
              <a:rPr lang="zh-CN" altLang="en-US" sz="2645" b="0" dirty="0">
                <a:solidFill>
                  <a:srgbClr val="000000"/>
                </a:solidFill>
                <a:latin typeface="Arial" panose="020B0604020202020204" pitchFamily="34" charset="0"/>
                <a:ea typeface="微软雅黑" panose="020B0503020204020204" charset="-122"/>
                <a:sym typeface="宋体" panose="02010600030101010101" pitchFamily="2" charset="-122"/>
              </a:rPr>
              <a:t>|</a:t>
            </a:r>
            <a:r>
              <a:rPr lang="en-US" altLang="zh-CN" sz="2645" b="0" dirty="0">
                <a:solidFill>
                  <a:srgbClr val="000000"/>
                </a:solidFill>
                <a:latin typeface="Arial" panose="020B0604020202020204" pitchFamily="34" charset="0"/>
                <a:ea typeface="微软雅黑" panose="020B0503020204020204" charset="-122"/>
                <a:sym typeface="宋体" panose="02010600030101010101" pitchFamily="2" charset="-122"/>
              </a:rPr>
              <a:t>H</a:t>
            </a:r>
            <a:r>
              <a:rPr lang="zh-CN" altLang="en-US" sz="2645" b="0" baseline="-25000" dirty="0">
                <a:solidFill>
                  <a:srgbClr val="000000"/>
                </a:solidFill>
                <a:latin typeface="Arial" panose="020B0604020202020204" pitchFamily="34" charset="0"/>
                <a:ea typeface="微软雅黑" panose="020B0503020204020204" charset="-122"/>
                <a:sym typeface="宋体" panose="02010600030101010101" pitchFamily="2" charset="-122"/>
              </a:rPr>
              <a:t>2</a:t>
            </a:r>
            <a:r>
              <a:rPr lang="zh-CN" altLang="en-US" sz="2645" b="0" dirty="0">
                <a:solidFill>
                  <a:srgbClr val="000000"/>
                </a:solidFill>
                <a:latin typeface="Arial" panose="020B0604020202020204" pitchFamily="34" charset="0"/>
                <a:ea typeface="微软雅黑" panose="020B0503020204020204" charset="-122"/>
                <a:sym typeface="宋体" panose="02010600030101010101" pitchFamily="2" charset="-122"/>
              </a:rPr>
              <a:t>|Pt)</a:t>
            </a:r>
            <a:r>
              <a:rPr lang="en-US" altLang="zh-CN" sz="2645" b="0">
                <a:solidFill>
                  <a:srgbClr val="000000"/>
                </a:solidFill>
                <a:latin typeface="Arial" panose="020B0604020202020204" pitchFamily="34" charset="0"/>
                <a:ea typeface="微软雅黑" panose="020B0503020204020204" charset="-122"/>
              </a:rPr>
              <a:t>) </a:t>
            </a:r>
            <a:endParaRPr lang="en-US" altLang="zh-CN" sz="2645" b="0">
              <a:solidFill>
                <a:srgbClr val="000000"/>
              </a:solidFill>
              <a:latin typeface="Arial" panose="020B0604020202020204" pitchFamily="34" charset="0"/>
              <a:ea typeface="微软雅黑" panose="020B0503020204020204" charset="-122"/>
            </a:endParaRPr>
          </a:p>
          <a:p>
            <a:pPr>
              <a:lnSpc>
                <a:spcPct val="130000"/>
              </a:lnSpc>
            </a:pPr>
            <a:r>
              <a:rPr lang="en-US" altLang="zh-CN" sz="2645" b="0">
                <a:solidFill>
                  <a:srgbClr val="000000"/>
                </a:solidFill>
                <a:latin typeface="Arial" panose="020B0604020202020204" pitchFamily="34" charset="0"/>
                <a:ea typeface="微软雅黑" panose="020B0503020204020204" charset="-122"/>
              </a:rPr>
              <a:t>         </a:t>
            </a:r>
            <a:r>
              <a:rPr lang="en-US" altLang="zh-CN" sz="2645" b="0">
                <a:solidFill>
                  <a:srgbClr val="000000"/>
                </a:solidFill>
                <a:latin typeface="Arial" panose="020B0604020202020204" pitchFamily="34" charset="0"/>
                <a:ea typeface="微软雅黑" panose="020B0503020204020204" charset="-122"/>
                <a:sym typeface="Symbol" panose="05050102010706020507" pitchFamily="18" charset="2"/>
              </a:rPr>
              <a:t>+(</a:t>
            </a:r>
            <a:r>
              <a:rPr lang="en-US" altLang="zh-CN" sz="2645" b="0" i="1">
                <a:solidFill>
                  <a:srgbClr val="000000"/>
                </a:solidFill>
                <a:latin typeface="Arial" panose="020B0604020202020204" pitchFamily="34" charset="0"/>
                <a:ea typeface="微软雅黑" panose="020B0503020204020204" charset="-122"/>
                <a:sym typeface="Symbol" panose="05050102010706020507" pitchFamily="18" charset="2"/>
              </a:rPr>
              <a:t>RT</a:t>
            </a:r>
            <a:r>
              <a:rPr lang="en-US" altLang="zh-CN" sz="2645" b="0">
                <a:solidFill>
                  <a:srgbClr val="000000"/>
                </a:solidFill>
                <a:latin typeface="Arial" panose="020B0604020202020204" pitchFamily="34" charset="0"/>
                <a:ea typeface="微软雅黑" panose="020B0503020204020204" charset="-122"/>
                <a:sym typeface="Symbol" panose="05050102010706020507" pitchFamily="18" charset="2"/>
              </a:rPr>
              <a:t>/</a:t>
            </a:r>
            <a:r>
              <a:rPr lang="en-US" altLang="zh-CN" sz="2645" b="0" i="1">
                <a:solidFill>
                  <a:srgbClr val="000000"/>
                </a:solidFill>
                <a:latin typeface="Arial" panose="020B0604020202020204" pitchFamily="34" charset="0"/>
                <a:ea typeface="微软雅黑" panose="020B0503020204020204" charset="-122"/>
                <a:sym typeface="Symbol" panose="05050102010706020507" pitchFamily="18" charset="2"/>
              </a:rPr>
              <a:t>F</a:t>
            </a:r>
            <a:r>
              <a:rPr lang="en-US" altLang="zh-CN" sz="2645" b="0">
                <a:solidFill>
                  <a:srgbClr val="000000"/>
                </a:solidFill>
                <a:latin typeface="Arial" panose="020B0604020202020204" pitchFamily="34" charset="0"/>
                <a:ea typeface="微软雅黑" panose="020B0503020204020204" charset="-122"/>
                <a:sym typeface="Symbol" panose="05050102010706020507" pitchFamily="18" charset="2"/>
              </a:rPr>
              <a:t>) </a:t>
            </a:r>
            <a:r>
              <a:rPr lang="en-US" altLang="zh-CN" sz="2645" b="0">
                <a:solidFill>
                  <a:srgbClr val="000000"/>
                </a:solidFill>
                <a:latin typeface="Arial" panose="020B0604020202020204" pitchFamily="34" charset="0"/>
                <a:ea typeface="微软雅黑" panose="020B0503020204020204" charset="-122"/>
              </a:rPr>
              <a:t>ln{</a:t>
            </a:r>
            <a:r>
              <a:rPr lang="en-US" altLang="zh-CN" sz="2645" b="0" i="1">
                <a:solidFill>
                  <a:srgbClr val="000000"/>
                </a:solidFill>
                <a:latin typeface="Arial" panose="020B0604020202020204" pitchFamily="34" charset="0"/>
                <a:ea typeface="微软雅黑" panose="020B0503020204020204" charset="-122"/>
              </a:rPr>
              <a:t>p</a:t>
            </a:r>
            <a:r>
              <a:rPr lang="en-US" altLang="zh-CN" sz="2645" b="0">
                <a:solidFill>
                  <a:srgbClr val="000000"/>
                </a:solidFill>
                <a:latin typeface="Arial" panose="020B0604020202020204" pitchFamily="34" charset="0"/>
                <a:ea typeface="微软雅黑" panose="020B0503020204020204" charset="-122"/>
              </a:rPr>
              <a:t>(H</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)p</a:t>
            </a:r>
            <a:r>
              <a:rPr lang="en-US" altLang="zh-CN" sz="2645" b="0" baseline="30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(O</a:t>
            </a:r>
            <a:r>
              <a:rPr lang="en-US" altLang="zh-CN" sz="2645" b="0" baseline="-25000">
                <a:solidFill>
                  <a:srgbClr val="000000"/>
                </a:solidFill>
                <a:latin typeface="Arial" panose="020B0604020202020204" pitchFamily="34" charset="0"/>
                <a:ea typeface="微软雅黑" panose="020B0503020204020204" charset="-122"/>
              </a:rPr>
              <a:t>2</a:t>
            </a:r>
            <a:r>
              <a:rPr lang="en-US" altLang="zh-CN" sz="2645" b="0">
                <a:solidFill>
                  <a:srgbClr val="000000"/>
                </a:solidFill>
                <a:latin typeface="Arial" panose="020B0604020202020204" pitchFamily="34" charset="0"/>
                <a:ea typeface="微软雅黑" panose="020B0503020204020204" charset="-122"/>
              </a:rPr>
              <a:t>)}= 1.2292 V</a:t>
            </a:r>
            <a:endParaRPr lang="en-US" altLang="zh-CN" sz="2645" b="0">
              <a:solidFill>
                <a:srgbClr val="000000"/>
              </a:solidFill>
              <a:latin typeface="Arial" panose="020B0604020202020204" pitchFamily="34" charset="0"/>
              <a:ea typeface="微软雅黑" panose="020B0503020204020204" charset="-122"/>
            </a:endParaRPr>
          </a:p>
          <a:p>
            <a:pPr>
              <a:lnSpc>
                <a:spcPct val="130000"/>
              </a:lnSpc>
            </a:pPr>
            <a:endParaRPr lang="en-US" altLang="zh-CN" sz="2645" b="0">
              <a:solidFill>
                <a:srgbClr val="000000"/>
              </a:solidFill>
              <a:latin typeface="Arial" panose="020B0604020202020204" pitchFamily="34" charset="0"/>
              <a:ea typeface="微软雅黑" panose="020B0503020204020204" charset="-122"/>
            </a:endParaRPr>
          </a:p>
          <a:p>
            <a:pPr>
              <a:lnSpc>
                <a:spcPct val="130000"/>
              </a:lnSpc>
            </a:pPr>
            <a:r>
              <a:rPr lang="en-US" altLang="zh-CN" sz="2645" b="0" i="1">
                <a:solidFill>
                  <a:srgbClr val="000000"/>
                </a:solidFill>
                <a:latin typeface="Arial" panose="020B0604020202020204" pitchFamily="34" charset="0"/>
                <a:ea typeface="微软雅黑" panose="020B0503020204020204" charset="-122"/>
              </a:rPr>
              <a:t>            E</a:t>
            </a:r>
            <a:r>
              <a:rPr lang="en-US" altLang="zh-CN" sz="2645" b="0">
                <a:solidFill>
                  <a:srgbClr val="000000"/>
                </a:solidFill>
                <a:latin typeface="Arial" panose="020B0604020202020204" pitchFamily="34" charset="0"/>
                <a:ea typeface="微软雅黑" panose="020B0503020204020204" charset="-122"/>
              </a:rPr>
              <a:t>(</a:t>
            </a:r>
            <a:r>
              <a:rPr lang="zh-CN" altLang="en-US" sz="2645" b="0">
                <a:solidFill>
                  <a:srgbClr val="000000"/>
                </a:solidFill>
                <a:latin typeface="Arial" panose="020B0604020202020204" pitchFamily="34" charset="0"/>
                <a:ea typeface="微软雅黑" panose="020B0503020204020204" charset="-122"/>
              </a:rPr>
              <a:t>分解</a:t>
            </a:r>
            <a:r>
              <a:rPr lang="en-US" altLang="zh-CN" sz="2645" b="0">
                <a:solidFill>
                  <a:srgbClr val="000000"/>
                </a:solidFill>
                <a:latin typeface="Arial" panose="020B0604020202020204" pitchFamily="34" charset="0"/>
                <a:ea typeface="微软雅黑" panose="020B0503020204020204" charset="-122"/>
              </a:rPr>
              <a:t>) = </a:t>
            </a:r>
            <a:r>
              <a:rPr lang="en-US" altLang="zh-CN" sz="2645" b="0" i="1">
                <a:solidFill>
                  <a:srgbClr val="000000"/>
                </a:solidFill>
                <a:latin typeface="Arial" panose="020B0604020202020204" pitchFamily="34" charset="0"/>
                <a:ea typeface="微软雅黑" panose="020B0503020204020204" charset="-122"/>
              </a:rPr>
              <a:t>E </a:t>
            </a:r>
            <a:r>
              <a:rPr lang="en-US" altLang="zh-CN" sz="2645" b="0">
                <a:solidFill>
                  <a:srgbClr val="000000"/>
                </a:solidFill>
                <a:latin typeface="Arial" panose="020B0604020202020204" pitchFamily="34" charset="0"/>
                <a:ea typeface="微软雅黑" panose="020B0503020204020204" charset="-122"/>
              </a:rPr>
              <a:t>= 1.229 V                    </a:t>
            </a:r>
            <a:endParaRPr lang="en-US" altLang="zh-CN" sz="2645" b="0">
              <a:solidFill>
                <a:srgbClr val="000000"/>
              </a:solidFill>
              <a:latin typeface="Arial" panose="020B0604020202020204" pitchFamily="34" charset="0"/>
              <a:ea typeface="微软雅黑" panose="020B0503020204020204" charset="-122"/>
            </a:endParaRPr>
          </a:p>
        </p:txBody>
      </p:sp>
      <p:sp>
        <p:nvSpPr>
          <p:cNvPr id="2" name="动作按钮: 前进或下一项 19458">
            <a:hlinkClick r:id="rId1" action="ppaction://hlinkpres?slideindex=1&amp;slidetitle="/>
          </p:cNvPr>
          <p:cNvSpPr/>
          <p:nvPr/>
        </p:nvSpPr>
        <p:spPr>
          <a:xfrm>
            <a:off x="8458500" y="5562000"/>
            <a:ext cx="381000" cy="229500"/>
          </a:xfrm>
          <a:prstGeom prst="actionButtonForwardNex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1890">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8">
                                            <p:txEl>
                                              <p:charRg st="0" end="36"/>
                                            </p:txEl>
                                          </p:spTgt>
                                        </p:tgtEl>
                                        <p:attrNameLst>
                                          <p:attrName>style.visibility</p:attrName>
                                        </p:attrNameLst>
                                      </p:cBhvr>
                                      <p:to>
                                        <p:strVal val="visible"/>
                                      </p:to>
                                    </p:set>
                                    <p:animEffect transition="in" filter="wipe(left)">
                                      <p:cBhvr>
                                        <p:cTn id="7" dur="500"/>
                                        <p:tgtEl>
                                          <p:spTgt spid="19458">
                                            <p:txEl>
                                              <p:charRg st="0" end="3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8">
                                            <p:txEl>
                                              <p:charRg st="36" end="95"/>
                                            </p:txEl>
                                          </p:spTgt>
                                        </p:tgtEl>
                                        <p:attrNameLst>
                                          <p:attrName>style.visibility</p:attrName>
                                        </p:attrNameLst>
                                      </p:cBhvr>
                                      <p:to>
                                        <p:strVal val="visible"/>
                                      </p:to>
                                    </p:set>
                                    <p:animEffect transition="in" filter="wipe(left)">
                                      <p:cBhvr>
                                        <p:cTn id="12" dur="500"/>
                                        <p:tgtEl>
                                          <p:spTgt spid="19458">
                                            <p:txEl>
                                              <p:charRg st="36" end="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58">
                                            <p:txEl>
                                              <p:charRg st="95" end="150"/>
                                            </p:txEl>
                                          </p:spTgt>
                                        </p:tgtEl>
                                        <p:attrNameLst>
                                          <p:attrName>style.visibility</p:attrName>
                                        </p:attrNameLst>
                                      </p:cBhvr>
                                      <p:to>
                                        <p:strVal val="visible"/>
                                      </p:to>
                                    </p:set>
                                    <p:animEffect transition="in" filter="wipe(left)">
                                      <p:cBhvr>
                                        <p:cTn id="17" dur="500"/>
                                        <p:tgtEl>
                                          <p:spTgt spid="19458">
                                            <p:txEl>
                                              <p:charRg st="95" end="15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58">
                                            <p:txEl>
                                              <p:charRg st="150" end="181"/>
                                            </p:txEl>
                                          </p:spTgt>
                                        </p:tgtEl>
                                        <p:attrNameLst>
                                          <p:attrName>style.visibility</p:attrName>
                                        </p:attrNameLst>
                                      </p:cBhvr>
                                      <p:to>
                                        <p:strVal val="visible"/>
                                      </p:to>
                                    </p:set>
                                    <p:animEffect transition="in" filter="wipe(left)">
                                      <p:cBhvr>
                                        <p:cTn id="22" dur="500"/>
                                        <p:tgtEl>
                                          <p:spTgt spid="19458">
                                            <p:txEl>
                                              <p:charRg st="150" end="18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58">
                                            <p:txEl>
                                              <p:charRg st="181" end="224"/>
                                            </p:txEl>
                                          </p:spTgt>
                                        </p:tgtEl>
                                        <p:attrNameLst>
                                          <p:attrName>style.visibility</p:attrName>
                                        </p:attrNameLst>
                                      </p:cBhvr>
                                      <p:to>
                                        <p:strVal val="visible"/>
                                      </p:to>
                                    </p:set>
                                    <p:animEffect transition="in" filter="wipe(left)">
                                      <p:cBhvr>
                                        <p:cTn id="27" dur="500"/>
                                        <p:tgtEl>
                                          <p:spTgt spid="19458">
                                            <p:txEl>
                                              <p:charRg st="181" end="2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2"/>
          <a:stretch>
            <a:fillRect/>
          </a:stretch>
        </p:blipFill>
        <p:spPr>
          <a:xfrm>
            <a:off x="612140" y="1557020"/>
            <a:ext cx="7994015" cy="3850640"/>
          </a:xfrm>
          <a:prstGeom prst="rect">
            <a:avLst/>
          </a:prstGeom>
        </p:spPr>
      </p:pic>
      <p:sp>
        <p:nvSpPr>
          <p:cNvPr id="9218" name="Rectangle 2"/>
          <p:cNvSpPr>
            <a:spLocks noGrp="1" noChangeArrowheads="1"/>
          </p:cNvSpPr>
          <p:nvPr>
            <p:ph type="title"/>
            <p:custDataLst>
              <p:tags r:id="rId3"/>
            </p:custDataLst>
          </p:nvPr>
        </p:nvSpPr>
        <p:spPr>
          <a:xfrm>
            <a:off x="2052320" y="332740"/>
            <a:ext cx="4572000" cy="685800"/>
          </a:xfrm>
        </p:spPr>
        <p:txBody>
          <a:bodyPr/>
          <a:lstStyle/>
          <a:p>
            <a:r>
              <a:rPr lang="en-US" altLang="zh-CN" sz="3600" b="1">
                <a:latin typeface="Arial" panose="020B0604020202020204" pitchFamily="34" charset="0"/>
                <a:ea typeface="微软雅黑" panose="020B0503020204020204" charset="-122"/>
              </a:rPr>
              <a:t>5.2 </a:t>
            </a:r>
            <a:r>
              <a:rPr lang="zh-CN" altLang="en-US" sz="3600" b="1">
                <a:latin typeface="Arial" panose="020B0604020202020204" pitchFamily="34" charset="0"/>
                <a:ea typeface="微软雅黑" panose="020B0503020204020204" charset="-122"/>
              </a:rPr>
              <a:t>氯碱工业</a:t>
            </a:r>
            <a:endParaRPr lang="zh-CN" altLang="en-US" sz="3600" b="1">
              <a:latin typeface="Arial" panose="020B0604020202020204" pitchFamily="34" charset="0"/>
              <a:ea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179705" y="548640"/>
            <a:ext cx="8382000" cy="5257800"/>
          </a:xfrm>
        </p:spPr>
        <p:txBody>
          <a:bodyPr/>
          <a:lstStyle/>
          <a:p>
            <a:pPr marL="0" indent="812800" algn="just" eaLnBrk="1" latinLnBrk="0" hangingPunct="1">
              <a:spcBef>
                <a:spcPts val="0"/>
              </a:spcBef>
              <a:buFontTx/>
              <a:buNone/>
              <a:extLst>
                <a:ext uri="{35155182-B16C-46BC-9424-99874614C6A1}">
                  <wpsdc:indentchars xmlns:wpsdc="http://www.wps.cn/officeDocument/2017/drawingmlCustomData" val="200" checksum="3877492575"/>
                </a:ext>
              </a:extLst>
            </a:pPr>
            <a:r>
              <a:rPr lang="en-US" altLang="zh-CN">
                <a:latin typeface="Arial" panose="020B0604020202020204" pitchFamily="34" charset="0"/>
                <a:ea typeface="微软雅黑" panose="020B0503020204020204" charset="-122"/>
              </a:rPr>
              <a:t>1885</a:t>
            </a:r>
            <a:r>
              <a:rPr lang="zh-CN" altLang="en-US">
                <a:latin typeface="Arial" panose="020B0604020202020204" pitchFamily="34" charset="0"/>
                <a:ea typeface="微软雅黑" panose="020B0503020204020204" charset="-122"/>
              </a:rPr>
              <a:t>年英国</a:t>
            </a:r>
            <a:r>
              <a:rPr lang="en-US" altLang="zh-CN">
                <a:latin typeface="Arial" panose="020B0604020202020204" pitchFamily="34" charset="0"/>
                <a:ea typeface="微软雅黑" panose="020B0503020204020204" charset="-122"/>
              </a:rPr>
              <a:t>Watt</a:t>
            </a:r>
            <a:r>
              <a:rPr lang="zh-CN" altLang="en-US">
                <a:latin typeface="Arial" panose="020B0604020202020204" pitchFamily="34" charset="0"/>
                <a:ea typeface="微软雅黑" panose="020B0503020204020204" charset="-122"/>
              </a:rPr>
              <a:t>首先提出电解食盐水溶液制取氯气的专利，</a:t>
            </a:r>
            <a:r>
              <a:rPr lang="en-US" altLang="zh-CN">
                <a:latin typeface="Arial" panose="020B0604020202020204" pitchFamily="34" charset="0"/>
                <a:ea typeface="微软雅黑" panose="020B0503020204020204" charset="-122"/>
              </a:rPr>
              <a:t>1890</a:t>
            </a:r>
            <a:r>
              <a:rPr lang="zh-CN" altLang="en-US">
                <a:latin typeface="Arial" panose="020B0604020202020204" pitchFamily="34" charset="0"/>
                <a:ea typeface="微软雅黑" panose="020B0503020204020204" charset="-122"/>
              </a:rPr>
              <a:t>年首家电解</a:t>
            </a:r>
            <a:r>
              <a:rPr lang="en-US" altLang="zh-CN">
                <a:latin typeface="Arial" panose="020B0604020202020204" pitchFamily="34" charset="0"/>
                <a:ea typeface="微软雅黑" panose="020B0503020204020204" charset="-122"/>
              </a:rPr>
              <a:t>KCl</a:t>
            </a:r>
            <a:r>
              <a:rPr lang="zh-CN" altLang="en-US">
                <a:latin typeface="Arial" panose="020B0604020202020204" pitchFamily="34" charset="0"/>
                <a:ea typeface="微软雅黑" panose="020B0503020204020204" charset="-122"/>
              </a:rPr>
              <a:t>的工厂在德国建立</a:t>
            </a:r>
            <a:r>
              <a:rPr lang="en-US" altLang="zh-CN">
                <a:latin typeface="Arial" panose="020B0604020202020204" pitchFamily="34" charset="0"/>
                <a:ea typeface="微软雅黑" panose="020B0503020204020204" charset="-122"/>
              </a:rPr>
              <a:t>,1893</a:t>
            </a:r>
            <a:r>
              <a:rPr lang="zh-CN" altLang="en-US">
                <a:latin typeface="Arial" panose="020B0604020202020204" pitchFamily="34" charset="0"/>
                <a:ea typeface="微软雅黑" panose="020B0503020204020204" charset="-122"/>
              </a:rPr>
              <a:t>年在美国建立了电解食盐水制取氯气的工厂。</a:t>
            </a:r>
            <a:r>
              <a:rPr lang="en-US" altLang="zh-CN" dirty="0">
                <a:latin typeface="Arial" panose="020B0604020202020204" pitchFamily="34" charset="0"/>
                <a:ea typeface="微软雅黑" panose="020B0503020204020204" charset="-122"/>
                <a:sym typeface="+mn-ea"/>
              </a:rPr>
              <a:t>20 </a:t>
            </a:r>
            <a:r>
              <a:rPr lang="zh-CN" altLang="en-US" dirty="0">
                <a:latin typeface="Arial" panose="020B0604020202020204" pitchFamily="34" charset="0"/>
                <a:ea typeface="微软雅黑" panose="020B0503020204020204" charset="-122"/>
                <a:sym typeface="+mn-ea"/>
              </a:rPr>
              <a:t>世纪</a:t>
            </a:r>
            <a:r>
              <a:rPr lang="en-US" altLang="zh-CN" dirty="0">
                <a:latin typeface="Arial" panose="020B0604020202020204" pitchFamily="34" charset="0"/>
                <a:ea typeface="微软雅黑" panose="020B0503020204020204" charset="-122"/>
                <a:sym typeface="+mn-ea"/>
              </a:rPr>
              <a:t>60</a:t>
            </a:r>
            <a:r>
              <a:rPr lang="zh-CN" altLang="en-US" dirty="0">
                <a:latin typeface="Arial" panose="020B0604020202020204" pitchFamily="34" charset="0"/>
                <a:ea typeface="微软雅黑" panose="020B0503020204020204" charset="-122"/>
                <a:sym typeface="+mn-ea"/>
              </a:rPr>
              <a:t>年代以后氯碱工业迅猛发展。</a:t>
            </a:r>
            <a:endParaRPr lang="zh-CN" altLang="en-US" dirty="0">
              <a:latin typeface="Arial" panose="020B0604020202020204" pitchFamily="34" charset="0"/>
              <a:ea typeface="微软雅黑" panose="020B0503020204020204" charset="-122"/>
              <a:sym typeface="+mn-ea"/>
            </a:endParaRPr>
          </a:p>
          <a:p>
            <a:pPr marL="0" indent="812800" algn="just" eaLnBrk="1" latinLnBrk="0" hangingPunct="1">
              <a:spcBef>
                <a:spcPts val="0"/>
              </a:spcBef>
              <a:buFontTx/>
              <a:buNone/>
              <a:extLst>
                <a:ext uri="{35155182-B16C-46BC-9424-99874614C6A1}">
                  <wpsdc:indentchars xmlns:wpsdc="http://www.wps.cn/officeDocument/2017/drawingmlCustomData" val="200" checksum="3877492575"/>
                </a:ext>
              </a:extLst>
            </a:pPr>
            <a:r>
              <a:rPr lang="zh-CN" altLang="en-US" dirty="0">
                <a:latin typeface="Arial" panose="020B0604020202020204" pitchFamily="34" charset="0"/>
                <a:ea typeface="微软雅黑" panose="020B0503020204020204" charset="-122"/>
                <a:sym typeface="+mn-ea"/>
              </a:rPr>
              <a:t>目前同时存在</a:t>
            </a:r>
            <a:r>
              <a:rPr lang="zh-CN" altLang="en-US" dirty="0">
                <a:solidFill>
                  <a:srgbClr val="FF3300"/>
                </a:solidFill>
                <a:latin typeface="Arial" panose="020B0604020202020204" pitchFamily="34" charset="0"/>
                <a:ea typeface="微软雅黑" panose="020B0503020204020204" charset="-122"/>
                <a:sym typeface="+mn-ea"/>
              </a:rPr>
              <a:t>隔膜槽</a:t>
            </a:r>
            <a:r>
              <a:rPr lang="zh-CN" altLang="en-US" dirty="0">
                <a:latin typeface="Arial" panose="020B0604020202020204" pitchFamily="34" charset="0"/>
                <a:ea typeface="微软雅黑" panose="020B0503020204020204" charset="-122"/>
                <a:sym typeface="+mn-ea"/>
              </a:rPr>
              <a:t>、</a:t>
            </a:r>
            <a:r>
              <a:rPr lang="zh-CN" altLang="en-US" dirty="0">
                <a:solidFill>
                  <a:srgbClr val="FF3300"/>
                </a:solidFill>
                <a:latin typeface="Arial" panose="020B0604020202020204" pitchFamily="34" charset="0"/>
                <a:ea typeface="微软雅黑" panose="020B0503020204020204" charset="-122"/>
                <a:sym typeface="+mn-ea"/>
              </a:rPr>
              <a:t>汞槽</a:t>
            </a:r>
            <a:r>
              <a:rPr lang="zh-CN" altLang="en-US" dirty="0">
                <a:latin typeface="Arial" panose="020B0604020202020204" pitchFamily="34" charset="0"/>
                <a:ea typeface="微软雅黑" panose="020B0503020204020204" charset="-122"/>
                <a:sym typeface="+mn-ea"/>
              </a:rPr>
              <a:t>和</a:t>
            </a:r>
            <a:r>
              <a:rPr lang="zh-CN" altLang="en-US" dirty="0">
                <a:solidFill>
                  <a:srgbClr val="FF3300"/>
                </a:solidFill>
                <a:latin typeface="Arial" panose="020B0604020202020204" pitchFamily="34" charset="0"/>
                <a:ea typeface="微软雅黑" panose="020B0503020204020204" charset="-122"/>
                <a:sym typeface="+mn-ea"/>
              </a:rPr>
              <a:t>离子膜槽</a:t>
            </a:r>
            <a:r>
              <a:rPr lang="zh-CN" altLang="en-US" dirty="0">
                <a:latin typeface="Arial" panose="020B0604020202020204" pitchFamily="34" charset="0"/>
                <a:ea typeface="微软雅黑" panose="020B0503020204020204" charset="-122"/>
                <a:sym typeface="+mn-ea"/>
              </a:rPr>
              <a:t>三种电解生产方法，彼此都在竞争中发展</a:t>
            </a:r>
            <a:r>
              <a:rPr lang="en-US" altLang="zh-CN" dirty="0">
                <a:latin typeface="Arial" panose="020B0604020202020204" pitchFamily="34" charset="0"/>
                <a:ea typeface="微软雅黑" panose="020B0503020204020204" charset="-122"/>
                <a:sym typeface="+mn-ea"/>
              </a:rPr>
              <a:t>,</a:t>
            </a:r>
            <a:r>
              <a:rPr lang="zh-CN" altLang="en-US" dirty="0">
                <a:latin typeface="Arial" panose="020B0604020202020204" pitchFamily="34" charset="0"/>
                <a:ea typeface="微软雅黑" panose="020B0503020204020204" charset="-122"/>
                <a:sym typeface="+mn-ea"/>
              </a:rPr>
              <a:t>都有自己的市场，三种方法在能量消耗方面的差别不大，但从槽的结构、性能、维护和投资等方面来看，它们各有特点，离子膜槽是最新的一种，从长远看，有取代另两种电解槽的趋势。</a:t>
            </a:r>
            <a:endParaRPr lang="zh-CN" altLang="en-US" dirty="0">
              <a:latin typeface="Arial" panose="020B0604020202020204" pitchFamily="34" charset="0"/>
              <a:ea typeface="微软雅黑" panose="020B0503020204020204" charset="-122"/>
            </a:endParaRPr>
          </a:p>
          <a:p>
            <a:pPr marL="0" indent="812800" algn="just" eaLnBrk="1" latinLnBrk="0" hangingPunct="1">
              <a:spcBef>
                <a:spcPts val="0"/>
              </a:spcBef>
              <a:buFontTx/>
              <a:buNone/>
              <a:extLst>
                <a:ext uri="{35155182-B16C-46BC-9424-99874614C6A1}">
                  <wpsdc:indentchars xmlns:wpsdc="http://www.wps.cn/officeDocument/2017/drawingmlCustomData" val="200" checksum="3877492575"/>
                </a:ext>
              </a:extLst>
            </a:pPr>
            <a:endParaRPr lang="zh-CN" altLang="en-US">
              <a:latin typeface="Arial" panose="020B0604020202020204" pitchFamily="34" charset="0"/>
              <a:ea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64030" y="5589270"/>
            <a:ext cx="6310630" cy="829945"/>
          </a:xfrm>
          <a:prstGeom prst="rect">
            <a:avLst/>
          </a:prstGeom>
          <a:noFill/>
        </p:spPr>
        <p:txBody>
          <a:bodyPr wrap="square" rtlCol="0" anchor="t">
            <a:spAutoFit/>
          </a:bodyPr>
          <a:lstStyle/>
          <a:p>
            <a:pPr algn="just">
              <a:buFontTx/>
              <a:buNone/>
            </a:pPr>
            <a:r>
              <a:rPr lang="zh-CN" altLang="en-US" sz="2400" b="1">
                <a:solidFill>
                  <a:srgbClr val="FF3300"/>
                </a:solidFill>
                <a:latin typeface="Arial" panose="020B0604020202020204" pitchFamily="34" charset="0"/>
                <a:ea typeface="微软雅黑" panose="020B0503020204020204" charset="-122"/>
                <a:sym typeface="+mn-ea"/>
              </a:rPr>
              <a:t>食盐水电解制取氯气和烧碱的技术关键之一是电化学反应器中两极产物的分隔</a:t>
            </a:r>
            <a:r>
              <a:rPr lang="zh-CN" altLang="en-US" sz="2400" b="1">
                <a:latin typeface="Arial" panose="020B0604020202020204" pitchFamily="34" charset="0"/>
                <a:ea typeface="微软雅黑" panose="020B0503020204020204" charset="-122"/>
                <a:sym typeface="+mn-ea"/>
              </a:rPr>
              <a:t>。</a:t>
            </a:r>
            <a:endParaRPr lang="zh-CN" altLang="en-US" sz="2400" b="1">
              <a:latin typeface="Arial" panose="020B0604020202020204" pitchFamily="34" charset="0"/>
              <a:ea typeface="微软雅黑" panose="020B0503020204020204" charset="-122"/>
              <a:sym typeface="+mn-ea"/>
            </a:endParaRPr>
          </a:p>
        </p:txBody>
      </p:sp>
      <p:pic>
        <p:nvPicPr>
          <p:cNvPr id="3" name="图片 2"/>
          <p:cNvPicPr>
            <a:picLocks noChangeAspect="1"/>
          </p:cNvPicPr>
          <p:nvPr>
            <p:custDataLst>
              <p:tags r:id="rId1"/>
            </p:custDataLst>
          </p:nvPr>
        </p:nvPicPr>
        <p:blipFill>
          <a:blip r:embed="rId2"/>
          <a:stretch>
            <a:fillRect/>
          </a:stretch>
        </p:blipFill>
        <p:spPr>
          <a:xfrm>
            <a:off x="828040" y="1340485"/>
            <a:ext cx="7611110" cy="3945890"/>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323850" y="332740"/>
            <a:ext cx="3975735" cy="63309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xfrm>
            <a:off x="609600" y="1219200"/>
            <a:ext cx="8425180" cy="5410200"/>
          </a:xfrm>
        </p:spPr>
        <p:txBody>
          <a:bodyPr/>
          <a:lstStyle/>
          <a:p>
            <a:pPr algn="just">
              <a:lnSpc>
                <a:spcPct val="90000"/>
              </a:lnSpc>
            </a:pPr>
            <a:r>
              <a:rPr lang="zh-CN" altLang="en-US" sz="2000"/>
              <a:t>项目                                  汞阴极法             隔膜法             离子膜法</a:t>
            </a:r>
            <a:endParaRPr lang="zh-CN" altLang="en-US" sz="2000"/>
          </a:p>
          <a:p>
            <a:pPr algn="just">
              <a:lnSpc>
                <a:spcPct val="90000"/>
              </a:lnSpc>
            </a:pPr>
            <a:r>
              <a:rPr lang="zh-CN" altLang="en-US" sz="2000"/>
              <a:t>槽压，</a:t>
            </a:r>
            <a:r>
              <a:rPr lang="en-US" altLang="zh-CN" sz="2000"/>
              <a:t>V                              4</a:t>
            </a:r>
            <a:r>
              <a:rPr lang="zh-CN" altLang="en-US" sz="2000"/>
              <a:t>．</a:t>
            </a:r>
            <a:r>
              <a:rPr lang="en-US" altLang="zh-CN" sz="2000"/>
              <a:t>4                   3</a:t>
            </a:r>
            <a:r>
              <a:rPr lang="zh-CN" altLang="en-US" sz="2000"/>
              <a:t>．</a:t>
            </a:r>
            <a:r>
              <a:rPr lang="en-US" altLang="zh-CN" sz="2000"/>
              <a:t>45                  2</a:t>
            </a:r>
            <a:r>
              <a:rPr lang="zh-CN" altLang="en-US" sz="2000"/>
              <a:t>．</a:t>
            </a:r>
            <a:r>
              <a:rPr lang="en-US" altLang="zh-CN" sz="2000"/>
              <a:t>95</a:t>
            </a:r>
            <a:endParaRPr lang="en-US" altLang="zh-CN" sz="2000"/>
          </a:p>
          <a:p>
            <a:pPr algn="just">
              <a:lnSpc>
                <a:spcPct val="90000"/>
              </a:lnSpc>
            </a:pPr>
            <a:r>
              <a:rPr lang="zh-CN" altLang="en-US" sz="2000"/>
              <a:t>电流密度，</a:t>
            </a:r>
            <a:r>
              <a:rPr lang="en-US" altLang="zh-CN" sz="2000"/>
              <a:t>A/m</a:t>
            </a:r>
            <a:r>
              <a:rPr lang="en-US" altLang="zh-CN" sz="2000" baseline="30000"/>
              <a:t>2                        </a:t>
            </a:r>
            <a:r>
              <a:rPr lang="en-US" altLang="zh-CN" sz="2000"/>
              <a:t>10000                  2000                   4000</a:t>
            </a:r>
            <a:endParaRPr lang="en-US" altLang="zh-CN" sz="2000"/>
          </a:p>
          <a:p>
            <a:pPr algn="just">
              <a:lnSpc>
                <a:spcPct val="90000"/>
              </a:lnSpc>
            </a:pPr>
            <a:r>
              <a:rPr lang="zh-CN" altLang="en-US" sz="2000"/>
              <a:t>电流效率</a:t>
            </a:r>
            <a:r>
              <a:rPr lang="en-US" altLang="zh-CN" sz="2000"/>
              <a:t>%                           97                       96                      98</a:t>
            </a:r>
            <a:r>
              <a:rPr lang="zh-CN" altLang="en-US" sz="2000"/>
              <a:t>．</a:t>
            </a:r>
            <a:r>
              <a:rPr lang="en-US" altLang="zh-CN" sz="2000"/>
              <a:t>5</a:t>
            </a:r>
            <a:endParaRPr lang="en-US" altLang="zh-CN" sz="2000"/>
          </a:p>
          <a:p>
            <a:pPr algn="just">
              <a:lnSpc>
                <a:spcPct val="90000"/>
              </a:lnSpc>
            </a:pPr>
            <a:r>
              <a:rPr lang="zh-CN" altLang="en-US" sz="2000"/>
              <a:t>直流电耗</a:t>
            </a:r>
            <a:r>
              <a:rPr lang="en-US" altLang="zh-CN" sz="2000"/>
              <a:t>KWH/t                  3150                    2550                   2400</a:t>
            </a:r>
            <a:endParaRPr lang="en-US" altLang="zh-CN" sz="2000"/>
          </a:p>
          <a:p>
            <a:pPr algn="just">
              <a:lnSpc>
                <a:spcPct val="90000"/>
              </a:lnSpc>
              <a:buFontTx/>
              <a:buNone/>
            </a:pPr>
            <a:r>
              <a:rPr lang="en-US" altLang="zh-CN" sz="2000"/>
              <a:t>      </a:t>
            </a:r>
            <a:r>
              <a:rPr lang="zh-CN" altLang="en-US" sz="2000"/>
              <a:t>直流电耗</a:t>
            </a:r>
            <a:r>
              <a:rPr lang="en-US" altLang="zh-CN" sz="2000"/>
              <a:t>+</a:t>
            </a:r>
            <a:r>
              <a:rPr lang="zh-CN" altLang="en-US" sz="2000"/>
              <a:t>蒸发到</a:t>
            </a:r>
            <a:endParaRPr lang="zh-CN" altLang="en-US" sz="2000"/>
          </a:p>
          <a:p>
            <a:pPr algn="just">
              <a:lnSpc>
                <a:spcPct val="90000"/>
              </a:lnSpc>
              <a:buFontTx/>
              <a:buNone/>
            </a:pPr>
            <a:r>
              <a:rPr lang="zh-CN" altLang="en-US" sz="2000"/>
              <a:t>       </a:t>
            </a:r>
            <a:r>
              <a:rPr lang="en-US" altLang="zh-CN" sz="2000"/>
              <a:t>50%</a:t>
            </a:r>
            <a:r>
              <a:rPr lang="zh-CN" altLang="en-US" sz="2000"/>
              <a:t>的</a:t>
            </a:r>
            <a:r>
              <a:rPr lang="en-US" altLang="zh-CN" sz="2000"/>
              <a:t>NaOH                       3150                    3260                  2520</a:t>
            </a:r>
            <a:endParaRPr lang="en-US" altLang="zh-CN" sz="2000"/>
          </a:p>
          <a:p>
            <a:pPr algn="just">
              <a:lnSpc>
                <a:spcPct val="90000"/>
              </a:lnSpc>
            </a:pPr>
            <a:r>
              <a:rPr lang="zh-CN" altLang="en-US" sz="2000"/>
              <a:t>氯气的纯度，</a:t>
            </a:r>
            <a:r>
              <a:rPr lang="en-US" altLang="zh-CN" sz="2000"/>
              <a:t>%                   99</a:t>
            </a:r>
            <a:r>
              <a:rPr lang="zh-CN" altLang="en-US" sz="2000"/>
              <a:t>．</a:t>
            </a:r>
            <a:r>
              <a:rPr lang="en-US" altLang="zh-CN" sz="2000"/>
              <a:t>2                  98</a:t>
            </a:r>
            <a:r>
              <a:rPr lang="zh-CN" altLang="en-US" sz="2000"/>
              <a:t>．</a:t>
            </a:r>
            <a:r>
              <a:rPr lang="en-US" altLang="zh-CN" sz="2000"/>
              <a:t>0                99</a:t>
            </a:r>
            <a:r>
              <a:rPr lang="zh-CN" altLang="en-US" sz="2000"/>
              <a:t>．</a:t>
            </a:r>
            <a:r>
              <a:rPr lang="en-US" altLang="zh-CN" sz="2000"/>
              <a:t>3</a:t>
            </a:r>
            <a:endParaRPr lang="en-US" altLang="zh-CN" sz="2000"/>
          </a:p>
          <a:p>
            <a:pPr algn="just">
              <a:lnSpc>
                <a:spcPct val="90000"/>
              </a:lnSpc>
            </a:pPr>
            <a:r>
              <a:rPr lang="zh-CN" altLang="en-US" sz="2000"/>
              <a:t>氯气中氧气的含量，</a:t>
            </a:r>
            <a:r>
              <a:rPr lang="en-US" altLang="zh-CN" sz="2000"/>
              <a:t>%        0</a:t>
            </a:r>
            <a:r>
              <a:rPr lang="zh-CN" altLang="en-US" sz="2000"/>
              <a:t>．</a:t>
            </a:r>
            <a:r>
              <a:rPr lang="en-US" altLang="zh-CN" sz="2000"/>
              <a:t>1                    1-2                     0</a:t>
            </a:r>
            <a:r>
              <a:rPr lang="zh-CN" altLang="en-US" sz="2000"/>
              <a:t>．</a:t>
            </a:r>
            <a:r>
              <a:rPr lang="en-US" altLang="zh-CN" sz="2000"/>
              <a:t>3</a:t>
            </a:r>
            <a:endParaRPr lang="en-US" altLang="zh-CN" sz="2000"/>
          </a:p>
          <a:p>
            <a:pPr algn="just">
              <a:lnSpc>
                <a:spcPct val="90000"/>
              </a:lnSpc>
              <a:buFontTx/>
              <a:buNone/>
            </a:pPr>
            <a:r>
              <a:rPr lang="en-US" altLang="zh-CN" sz="2000"/>
              <a:t> 50%NaOH</a:t>
            </a:r>
            <a:r>
              <a:rPr lang="zh-CN" altLang="en-US" sz="2000"/>
              <a:t>含盐量，</a:t>
            </a:r>
            <a:r>
              <a:rPr lang="en-US" altLang="zh-CN" sz="2000"/>
              <a:t>ppm       </a:t>
            </a:r>
            <a:r>
              <a:rPr lang="zh-CN" altLang="en-US" sz="2000"/>
              <a:t>约</a:t>
            </a:r>
            <a:r>
              <a:rPr lang="en-US" altLang="zh-CN" sz="2000"/>
              <a:t>30                  10000                  32-35</a:t>
            </a:r>
            <a:endParaRPr lang="en-US" altLang="zh-CN" sz="2000"/>
          </a:p>
          <a:p>
            <a:pPr algn="just">
              <a:lnSpc>
                <a:spcPct val="90000"/>
              </a:lnSpc>
              <a:buFontTx/>
              <a:buNone/>
            </a:pPr>
            <a:r>
              <a:rPr lang="en-US" altLang="zh-CN" sz="2000"/>
              <a:t> </a:t>
            </a:r>
            <a:r>
              <a:rPr lang="zh-CN" altLang="en-US" sz="2000"/>
              <a:t>蒸发前</a:t>
            </a:r>
            <a:r>
              <a:rPr lang="en-US" altLang="zh-CN" sz="2000"/>
              <a:t>NaOH</a:t>
            </a:r>
            <a:r>
              <a:rPr lang="zh-CN" altLang="en-US" sz="2000"/>
              <a:t>的浓度，</a:t>
            </a:r>
            <a:r>
              <a:rPr lang="en-US" altLang="zh-CN" sz="2000"/>
              <a:t>%        50                       12                        35</a:t>
            </a:r>
            <a:endParaRPr lang="en-US" altLang="zh-CN" sz="2000"/>
          </a:p>
          <a:p>
            <a:pPr algn="just">
              <a:lnSpc>
                <a:spcPct val="90000"/>
              </a:lnSpc>
            </a:pPr>
            <a:r>
              <a:rPr lang="zh-CN" altLang="en-US" sz="2000"/>
              <a:t>是否有污染                           有汞污染 </a:t>
            </a:r>
            <a:endParaRPr lang="zh-CN" altLang="en-US" sz="2000"/>
          </a:p>
          <a:p>
            <a:pPr algn="just">
              <a:lnSpc>
                <a:spcPct val="90000"/>
              </a:lnSpc>
            </a:pPr>
            <a:r>
              <a:rPr lang="zh-CN" altLang="en-US" sz="2000"/>
              <a:t>对盐水净化的要求                很严格              较严格            十分严格</a:t>
            </a:r>
            <a:endParaRPr lang="zh-CN" altLang="en-US" sz="2000"/>
          </a:p>
          <a:p>
            <a:pPr algn="just">
              <a:lnSpc>
                <a:spcPct val="90000"/>
              </a:lnSpc>
            </a:pPr>
            <a:r>
              <a:rPr lang="zh-CN" altLang="en-US" sz="2000"/>
              <a:t>投资，</a:t>
            </a:r>
            <a:r>
              <a:rPr lang="en-US" altLang="zh-CN" sz="2000"/>
              <a:t>%                                 100-90                 100                    85-75</a:t>
            </a:r>
            <a:endParaRPr lang="en-US" altLang="zh-CN" sz="2000"/>
          </a:p>
          <a:p>
            <a:pPr algn="just">
              <a:lnSpc>
                <a:spcPct val="90000"/>
              </a:lnSpc>
            </a:pPr>
            <a:r>
              <a:rPr lang="zh-CN" altLang="en-US" sz="2000"/>
              <a:t>运转费用，</a:t>
            </a:r>
            <a:r>
              <a:rPr lang="en-US" altLang="zh-CN" sz="2000"/>
              <a:t>%                           105                    100                   95-85</a:t>
            </a:r>
            <a:endParaRPr lang="en-US" altLang="zh-CN" sz="2000"/>
          </a:p>
          <a:p>
            <a:pPr>
              <a:lnSpc>
                <a:spcPct val="90000"/>
              </a:lnSpc>
            </a:pPr>
            <a:endParaRPr lang="en-US" altLang="zh-CN" sz="2000"/>
          </a:p>
        </p:txBody>
      </p:sp>
      <p:sp>
        <p:nvSpPr>
          <p:cNvPr id="11267" name="Rectangle 3"/>
          <p:cNvSpPr>
            <a:spLocks noChangeArrowheads="1"/>
          </p:cNvSpPr>
          <p:nvPr/>
        </p:nvSpPr>
        <p:spPr bwMode="auto">
          <a:xfrm>
            <a:off x="1548130" y="0"/>
            <a:ext cx="574198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2">
              <a:lnSpc>
                <a:spcPct val="90000"/>
              </a:lnSpc>
              <a:spcBef>
                <a:spcPct val="20000"/>
              </a:spcBef>
            </a:pPr>
            <a:r>
              <a:rPr lang="zh-CN" altLang="en-US" sz="2800" b="1"/>
              <a:t>三种氯碱生产方法的特点比较</a:t>
            </a:r>
            <a:endParaRPr lang="zh-CN" altLang="en-US" sz="2800" b="1"/>
          </a:p>
        </p:txBody>
      </p:sp>
      <p:sp>
        <p:nvSpPr>
          <p:cNvPr id="11268" name="Line 4"/>
          <p:cNvSpPr>
            <a:spLocks noChangeShapeType="1"/>
          </p:cNvSpPr>
          <p:nvPr/>
        </p:nvSpPr>
        <p:spPr bwMode="auto">
          <a:xfrm>
            <a:off x="914400" y="1524000"/>
            <a:ext cx="7391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269" name="Line 5"/>
          <p:cNvSpPr>
            <a:spLocks noChangeShapeType="1"/>
          </p:cNvSpPr>
          <p:nvPr/>
        </p:nvSpPr>
        <p:spPr bwMode="auto">
          <a:xfrm>
            <a:off x="3657600" y="1143000"/>
            <a:ext cx="0" cy="495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270" name="Line 6"/>
          <p:cNvSpPr>
            <a:spLocks noChangeShapeType="1"/>
          </p:cNvSpPr>
          <p:nvPr/>
        </p:nvSpPr>
        <p:spPr bwMode="auto">
          <a:xfrm>
            <a:off x="5257800" y="1143000"/>
            <a:ext cx="0" cy="5029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271" name="Line 7"/>
          <p:cNvSpPr>
            <a:spLocks noChangeShapeType="1"/>
          </p:cNvSpPr>
          <p:nvPr/>
        </p:nvSpPr>
        <p:spPr bwMode="auto">
          <a:xfrm>
            <a:off x="6858000" y="1143000"/>
            <a:ext cx="0" cy="5029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272" name="Line 8"/>
          <p:cNvSpPr>
            <a:spLocks noChangeShapeType="1"/>
          </p:cNvSpPr>
          <p:nvPr/>
        </p:nvSpPr>
        <p:spPr bwMode="auto">
          <a:xfrm>
            <a:off x="914400" y="1143000"/>
            <a:ext cx="7391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2"/>
          <a:stretch>
            <a:fillRect/>
          </a:stretch>
        </p:blipFill>
        <p:spPr>
          <a:xfrm>
            <a:off x="323850" y="404495"/>
            <a:ext cx="4126865" cy="542290"/>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755650" y="1557020"/>
            <a:ext cx="7947660" cy="42576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stretch>
            <a:fillRect/>
          </a:stretch>
        </p:blipFill>
        <p:spPr>
          <a:xfrm>
            <a:off x="828040" y="1268730"/>
            <a:ext cx="7626350" cy="474980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323850" y="404495"/>
            <a:ext cx="4126865" cy="54229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813" y="620713"/>
            <a:ext cx="5832475" cy="4375150"/>
          </a:xfrm>
          <a:prstGeom prst="rect">
            <a:avLst/>
          </a:prstGeom>
          <a:noFill/>
          <a:extLst>
            <a:ext uri="{909E8E84-426E-40DD-AFC4-6F175D3DCCD1}">
              <a14:hiddenFill xmlns:a14="http://schemas.microsoft.com/office/drawing/2010/main">
                <a:solidFill>
                  <a:srgbClr val="FFFFFF"/>
                </a:solidFill>
              </a14:hiddenFill>
            </a:ext>
          </a:extLst>
        </p:spPr>
      </p:pic>
      <p:sp>
        <p:nvSpPr>
          <p:cNvPr id="94213" name="Text Box 5"/>
          <p:cNvSpPr txBox="1">
            <a:spLocks noChangeArrowheads="1"/>
          </p:cNvSpPr>
          <p:nvPr/>
        </p:nvSpPr>
        <p:spPr bwMode="auto">
          <a:xfrm>
            <a:off x="3924300" y="5300663"/>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氯碱工业</a:t>
            </a:r>
            <a:endParaRPr lang="zh-CN" altLang="en-US"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692150"/>
            <a:ext cx="6048375" cy="4070350"/>
          </a:xfrm>
          <a:prstGeom prst="rect">
            <a:avLst/>
          </a:prstGeom>
          <a:noFill/>
          <a:extLst>
            <a:ext uri="{909E8E84-426E-40DD-AFC4-6F175D3DCCD1}">
              <a14:hiddenFill xmlns:a14="http://schemas.microsoft.com/office/drawing/2010/main">
                <a:solidFill>
                  <a:srgbClr val="FFFFFF"/>
                </a:solidFill>
              </a14:hiddenFill>
            </a:ext>
          </a:extLst>
        </p:spPr>
      </p:pic>
      <p:sp>
        <p:nvSpPr>
          <p:cNvPr id="95237" name="Text Box 5"/>
          <p:cNvSpPr txBox="1">
            <a:spLocks noChangeArrowheads="1"/>
          </p:cNvSpPr>
          <p:nvPr/>
        </p:nvSpPr>
        <p:spPr bwMode="auto">
          <a:xfrm>
            <a:off x="3419475" y="5229225"/>
            <a:ext cx="3024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齐鲁石化氯碱厂夜景</a:t>
            </a:r>
            <a:endParaRPr lang="zh-CN" altLang="en-US"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屏幕截图 2024-04-01 095808"/>
          <p:cNvPicPr>
            <a:picLocks noChangeAspect="1"/>
          </p:cNvPicPr>
          <p:nvPr/>
        </p:nvPicPr>
        <p:blipFill>
          <a:blip r:embed="rId1"/>
          <a:stretch>
            <a:fillRect/>
          </a:stretch>
        </p:blipFill>
        <p:spPr>
          <a:xfrm>
            <a:off x="0" y="2348865"/>
            <a:ext cx="9144000" cy="3319780"/>
          </a:xfrm>
          <a:prstGeom prst="rect">
            <a:avLst/>
          </a:prstGeom>
        </p:spPr>
      </p:pic>
      <p:sp>
        <p:nvSpPr>
          <p:cNvPr id="12290" name="Text Box 2"/>
          <p:cNvSpPr txBox="1">
            <a:spLocks noChangeArrowheads="1"/>
          </p:cNvSpPr>
          <p:nvPr/>
        </p:nvSpPr>
        <p:spPr bwMode="auto">
          <a:xfrm>
            <a:off x="467360" y="548640"/>
            <a:ext cx="6143625" cy="1189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spcBef>
                <a:spcPct val="50000"/>
              </a:spcBef>
            </a:pPr>
            <a:r>
              <a:rPr lang="en-US" altLang="zh-CN" sz="3600" b="1">
                <a:ea typeface="微软雅黑" panose="020B0503020204020204" charset="-122"/>
              </a:rPr>
              <a:t>5.2.1  </a:t>
            </a:r>
            <a:r>
              <a:rPr lang="zh-CN" altLang="en-US" sz="3600" b="1">
                <a:ea typeface="微软雅黑" panose="020B0503020204020204" charset="-122"/>
              </a:rPr>
              <a:t>隔膜槽电解法</a:t>
            </a:r>
            <a:endParaRPr lang="zh-CN" altLang="en-US" sz="3600" b="1">
              <a:ea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52095" y="638810"/>
            <a:ext cx="8594090" cy="5692775"/>
          </a:xfrm>
          <a:prstGeom prst="rect">
            <a:avLst/>
          </a:prstGeom>
          <a:noFill/>
        </p:spPr>
        <p:txBody>
          <a:bodyPr wrap="square" rtlCol="0" anchor="t">
            <a:spAutoFit/>
          </a:bodyPr>
          <a:p>
            <a:pPr marL="457200" indent="-457200">
              <a:buClr>
                <a:srgbClr val="3333CC"/>
              </a:buClr>
              <a:buFont typeface="Wingdings" panose="05000000000000000000" charset="0"/>
              <a:buChar char="l"/>
            </a:pPr>
            <a:r>
              <a:rPr lang="zh-CN" altLang="en-US" sz="2800">
                <a:latin typeface="Arial" panose="020B0604020202020204" pitchFamily="34" charset="0"/>
                <a:ea typeface="微软雅黑" panose="020B0503020204020204" charset="-122"/>
                <a:cs typeface="微软雅黑" panose="020B0503020204020204" charset="-122"/>
              </a:rPr>
              <a:t>电解体系基本单元</a:t>
            </a:r>
            <a:endParaRPr lang="zh-CN" altLang="en-US" sz="2800">
              <a:latin typeface="Arial" panose="020B0604020202020204" pitchFamily="34" charset="0"/>
              <a:ea typeface="微软雅黑" panose="020B0503020204020204" charset="-122"/>
              <a:cs typeface="微软雅黑" panose="020B0503020204020204" charset="-122"/>
            </a:endParaRPr>
          </a:p>
          <a:p>
            <a:r>
              <a:rPr lang="zh-CN" altLang="en-US" sz="2800">
                <a:latin typeface="Arial" panose="020B0604020202020204" pitchFamily="34" charset="0"/>
                <a:ea typeface="微软雅黑" panose="020B0503020204020204" charset="-122"/>
                <a:cs typeface="微软雅黑" panose="020B0503020204020204" charset="-122"/>
              </a:rPr>
              <a:t>电解槽方面</a:t>
            </a:r>
            <a:r>
              <a:rPr lang="en-US" altLang="zh-CN" sz="2800">
                <a:latin typeface="Arial" panose="020B0604020202020204" pitchFamily="34" charset="0"/>
                <a:ea typeface="微软雅黑" panose="020B0503020204020204" charset="-122"/>
                <a:cs typeface="微软雅黑" panose="020B0503020204020204" charset="-122"/>
              </a:rPr>
              <a:t>:</a:t>
            </a:r>
            <a:r>
              <a:rPr lang="zh-CN" altLang="en-US" sz="2800">
                <a:latin typeface="Arial" panose="020B0604020202020204" pitchFamily="34" charset="0"/>
                <a:ea typeface="微软雅黑" panose="020B0503020204020204" charset="-122"/>
                <a:cs typeface="微软雅黑" panose="020B0503020204020204" charset="-122"/>
              </a:rPr>
              <a:t>电极材料</a:t>
            </a:r>
            <a:r>
              <a:rPr lang="en-US" altLang="zh-CN" sz="2800">
                <a:latin typeface="Arial" panose="020B0604020202020204" pitchFamily="34" charset="0"/>
                <a:ea typeface="微软雅黑" panose="020B0503020204020204" charset="-122"/>
                <a:cs typeface="微软雅黑" panose="020B0503020204020204" charset="-122"/>
              </a:rPr>
              <a:t>(</a:t>
            </a:r>
            <a:r>
              <a:rPr lang="zh-CN" altLang="en-US" sz="2800">
                <a:latin typeface="Arial" panose="020B0604020202020204" pitchFamily="34" charset="0"/>
                <a:ea typeface="微软雅黑" panose="020B0503020204020204" charset="-122"/>
                <a:cs typeface="微软雅黑" panose="020B0503020204020204" charset="-122"/>
              </a:rPr>
              <a:t>阳极材料、阴极材料</a:t>
            </a:r>
            <a:r>
              <a:rPr lang="en-US" altLang="zh-CN" sz="2800">
                <a:latin typeface="Arial" panose="020B0604020202020204" pitchFamily="34" charset="0"/>
                <a:ea typeface="微软雅黑" panose="020B0503020204020204" charset="-122"/>
                <a:cs typeface="微软雅黑" panose="020B0503020204020204" charset="-122"/>
              </a:rPr>
              <a:t>)</a:t>
            </a:r>
            <a:r>
              <a:rPr lang="zh-CN" altLang="en-US" sz="2800">
                <a:latin typeface="Arial" panose="020B0604020202020204" pitchFamily="34" charset="0"/>
                <a:ea typeface="微软雅黑" panose="020B0503020204020204" charset="-122"/>
                <a:cs typeface="微软雅黑" panose="020B0503020204020204" charset="-122"/>
              </a:rPr>
              <a:t>、</a:t>
            </a:r>
            <a:endParaRPr lang="zh-CN" altLang="en-US" sz="2800">
              <a:latin typeface="Arial" panose="020B0604020202020204" pitchFamily="34" charset="0"/>
              <a:ea typeface="微软雅黑" panose="020B0503020204020204" charset="-122"/>
              <a:cs typeface="微软雅黑" panose="020B0503020204020204" charset="-122"/>
            </a:endParaRPr>
          </a:p>
          <a:p>
            <a:pPr marL="1828800" indent="0" eaLnBrk="1" latinLnBrk="0" hangingPunct="1">
              <a:extLst>
                <a:ext uri="{35155182-B16C-46BC-9424-99874614C6A1}">
                  <wpsdc:marlchars xmlns:wpsdc="http://www.wps.cn/officeDocument/2017/drawingmlCustomData" val="600" checksum="3297317225"/>
                </a:ext>
              </a:extLst>
            </a:pPr>
            <a:r>
              <a:rPr lang="zh-CN" altLang="en-US" sz="2800">
                <a:latin typeface="Arial" panose="020B0604020202020204" pitchFamily="34" charset="0"/>
                <a:ea typeface="微软雅黑" panose="020B0503020204020204" charset="-122"/>
                <a:cs typeface="微软雅黑" panose="020B0503020204020204" charset="-122"/>
              </a:rPr>
              <a:t>隔膜材料</a:t>
            </a:r>
            <a:endParaRPr lang="zh-CN" altLang="en-US" sz="2800">
              <a:latin typeface="Arial" panose="020B0604020202020204" pitchFamily="34" charset="0"/>
              <a:ea typeface="微软雅黑" panose="020B0503020204020204" charset="-122"/>
              <a:cs typeface="微软雅黑" panose="020B0503020204020204" charset="-122"/>
            </a:endParaRPr>
          </a:p>
          <a:p>
            <a:r>
              <a:rPr lang="en-US" altLang="zh-CN" sz="2800">
                <a:latin typeface="Arial" panose="020B0604020202020204" pitchFamily="34" charset="0"/>
                <a:ea typeface="微软雅黑" panose="020B0503020204020204" charset="-122"/>
                <a:cs typeface="微软雅黑" panose="020B0503020204020204" charset="-122"/>
              </a:rPr>
              <a:t>                 </a:t>
            </a:r>
            <a:r>
              <a:rPr lang="zh-CN" altLang="en-US" sz="2800">
                <a:latin typeface="Arial" panose="020B0604020202020204" pitchFamily="34" charset="0"/>
                <a:ea typeface="微软雅黑" panose="020B0503020204020204" charset="-122"/>
                <a:cs typeface="微软雅黑" panose="020B0503020204020204" charset="-122"/>
              </a:rPr>
              <a:t>电解液组成</a:t>
            </a:r>
            <a:r>
              <a:rPr lang="en-US" altLang="zh-CN" sz="2800">
                <a:latin typeface="Arial" panose="020B0604020202020204" pitchFamily="34" charset="0"/>
                <a:ea typeface="微软雅黑" panose="020B0503020204020204" charset="-122"/>
                <a:cs typeface="微软雅黑" panose="020B0503020204020204" charset="-122"/>
              </a:rPr>
              <a:t>(</a:t>
            </a:r>
            <a:r>
              <a:rPr lang="zh-CN" altLang="en-US" sz="2800">
                <a:latin typeface="Arial" panose="020B0604020202020204" pitchFamily="34" charset="0"/>
                <a:ea typeface="微软雅黑" panose="020B0503020204020204" charset="-122"/>
                <a:cs typeface="微软雅黑" panose="020B0503020204020204" charset="-122"/>
              </a:rPr>
              <a:t>阳极室电解液、阴极室电解液</a:t>
            </a:r>
            <a:r>
              <a:rPr lang="en-US" altLang="zh-CN" sz="2800">
                <a:latin typeface="Arial" panose="020B0604020202020204" pitchFamily="34" charset="0"/>
                <a:ea typeface="微软雅黑" panose="020B0503020204020204" charset="-122"/>
                <a:cs typeface="微软雅黑" panose="020B0503020204020204" charset="-122"/>
              </a:rPr>
              <a:t>)</a:t>
            </a:r>
            <a:endParaRPr lang="en-US" altLang="zh-CN" sz="2800">
              <a:latin typeface="Arial" panose="020B0604020202020204" pitchFamily="34" charset="0"/>
              <a:ea typeface="微软雅黑" panose="020B0503020204020204" charset="-122"/>
              <a:cs typeface="微软雅黑" panose="020B0503020204020204" charset="-122"/>
            </a:endParaRPr>
          </a:p>
          <a:p>
            <a:endParaRPr lang="en-US" altLang="zh-CN" sz="2800">
              <a:latin typeface="Arial" panose="020B0604020202020204" pitchFamily="34" charset="0"/>
              <a:ea typeface="微软雅黑" panose="020B0503020204020204" charset="-122"/>
              <a:cs typeface="微软雅黑" panose="020B0503020204020204" charset="-122"/>
            </a:endParaRPr>
          </a:p>
          <a:p>
            <a:pPr marL="457200" indent="-457200">
              <a:buClr>
                <a:srgbClr val="2D2DB9"/>
              </a:buClr>
              <a:buFont typeface="Wingdings" panose="05000000000000000000" charset="0"/>
              <a:buChar char="l"/>
            </a:pPr>
            <a:r>
              <a:rPr lang="zh-CN" altLang="en-US" sz="2800">
                <a:latin typeface="Arial" panose="020B0604020202020204" pitchFamily="34" charset="0"/>
                <a:ea typeface="微软雅黑" panose="020B0503020204020204" charset="-122"/>
                <a:cs typeface="微软雅黑" panose="020B0503020204020204" charset="-122"/>
                <a:sym typeface="+mn-ea"/>
              </a:rPr>
              <a:t>电极反应和电池反应</a:t>
            </a:r>
            <a:r>
              <a:rPr lang="en-US" altLang="zh-CN" sz="2800">
                <a:latin typeface="Arial" panose="020B0604020202020204" pitchFamily="34" charset="0"/>
                <a:ea typeface="微软雅黑" panose="020B0503020204020204" charset="-122"/>
                <a:cs typeface="微软雅黑" panose="020B0503020204020204" charset="-122"/>
                <a:sym typeface="+mn-ea"/>
              </a:rPr>
              <a:t>:</a:t>
            </a:r>
            <a:endParaRPr lang="en-US" altLang="zh-CN" sz="2800">
              <a:latin typeface="Arial" panose="020B0604020202020204" pitchFamily="34" charset="0"/>
              <a:ea typeface="微软雅黑" panose="020B0503020204020204" charset="-122"/>
              <a:cs typeface="微软雅黑" panose="020B0503020204020204" charset="-122"/>
            </a:endParaRPr>
          </a:p>
          <a:p>
            <a:pPr marL="1219200" indent="0" eaLnBrk="1" latinLnBrk="0" hangingPunct="1">
              <a:extLst>
                <a:ext uri="{35155182-B16C-46BC-9424-99874614C6A1}">
                  <wpsdc:marlchars xmlns:wpsdc="http://www.wps.cn/officeDocument/2017/drawingmlCustomData" val="400" checksum="2202870397"/>
                </a:ext>
              </a:extLst>
            </a:pPr>
            <a:r>
              <a:rPr lang="zh-CN" altLang="en-US" sz="2800">
                <a:latin typeface="Arial" panose="020B0604020202020204" pitchFamily="34" charset="0"/>
                <a:ea typeface="微软雅黑" panose="020B0503020204020204" charset="-122"/>
                <a:cs typeface="微软雅黑" panose="020B0503020204020204" charset="-122"/>
              </a:rPr>
              <a:t>主反应</a:t>
            </a:r>
            <a:r>
              <a:rPr lang="en-US" altLang="zh-CN" sz="2800">
                <a:latin typeface="Arial" panose="020B0604020202020204" pitchFamily="34" charset="0"/>
                <a:ea typeface="微软雅黑" panose="020B0503020204020204" charset="-122"/>
                <a:cs typeface="微软雅黑" panose="020B0503020204020204" charset="-122"/>
              </a:rPr>
              <a:t>  </a:t>
            </a:r>
            <a:r>
              <a:rPr lang="zh-CN" altLang="en-US" sz="2800">
                <a:latin typeface="Arial" panose="020B0604020202020204" pitchFamily="34" charset="0"/>
                <a:ea typeface="微软雅黑" panose="020B0503020204020204" charset="-122"/>
                <a:cs typeface="微软雅黑" panose="020B0503020204020204" charset="-122"/>
              </a:rPr>
              <a:t>阴极反应</a:t>
            </a:r>
            <a:r>
              <a:rPr lang="en-US" altLang="zh-CN" sz="2800">
                <a:latin typeface="Arial" panose="020B0604020202020204" pitchFamily="34" charset="0"/>
                <a:ea typeface="微软雅黑" panose="020B0503020204020204" charset="-122"/>
                <a:cs typeface="微软雅黑" panose="020B0503020204020204" charset="-122"/>
              </a:rPr>
              <a:t>         </a:t>
            </a:r>
            <a:r>
              <a:rPr lang="zh-CN" altLang="en-US" sz="2800">
                <a:latin typeface="Arial" panose="020B0604020202020204" pitchFamily="34" charset="0"/>
                <a:ea typeface="微软雅黑" panose="020B0503020204020204" charset="-122"/>
                <a:cs typeface="微软雅黑" panose="020B0503020204020204" charset="-122"/>
                <a:sym typeface="+mn-ea"/>
              </a:rPr>
              <a:t>副反应</a:t>
            </a:r>
            <a:endParaRPr lang="zh-CN" altLang="en-US" sz="2800">
              <a:latin typeface="Arial" panose="020B0604020202020204" pitchFamily="34" charset="0"/>
              <a:ea typeface="微软雅黑" panose="020B0503020204020204" charset="-122"/>
              <a:cs typeface="微软雅黑" panose="020B0503020204020204" charset="-122"/>
            </a:endParaRPr>
          </a:p>
          <a:p>
            <a:pPr marL="2438400" indent="0" eaLnBrk="1" latinLnBrk="0" hangingPunct="1">
              <a:extLst>
                <a:ext uri="{35155182-B16C-46BC-9424-99874614C6A1}">
                  <wpsdc:marlchars xmlns:wpsdc="http://www.wps.cn/officeDocument/2017/drawingmlCustomData" val="800" checksum="104136704"/>
                </a:ext>
              </a:extLst>
            </a:pPr>
            <a:r>
              <a:rPr lang="en-US" altLang="zh-CN" sz="2800">
                <a:latin typeface="Arial" panose="020B0604020202020204" pitchFamily="34" charset="0"/>
                <a:ea typeface="微软雅黑" panose="020B0503020204020204" charset="-122"/>
                <a:cs typeface="微软雅黑" panose="020B0503020204020204" charset="-122"/>
              </a:rPr>
              <a:t> </a:t>
            </a:r>
            <a:r>
              <a:rPr lang="zh-CN" altLang="en-US" sz="2800">
                <a:latin typeface="Arial" panose="020B0604020202020204" pitchFamily="34" charset="0"/>
                <a:ea typeface="微软雅黑" panose="020B0503020204020204" charset="-122"/>
                <a:cs typeface="微软雅黑" panose="020B0503020204020204" charset="-122"/>
              </a:rPr>
              <a:t>阳极反应</a:t>
            </a:r>
            <a:endParaRPr lang="zh-CN" altLang="en-US" sz="2800">
              <a:latin typeface="Arial" panose="020B0604020202020204" pitchFamily="34" charset="0"/>
              <a:ea typeface="微软雅黑" panose="020B0503020204020204" charset="-122"/>
              <a:cs typeface="微软雅黑" panose="020B0503020204020204" charset="-122"/>
            </a:endParaRPr>
          </a:p>
          <a:p>
            <a:pPr marL="2438400" indent="0" eaLnBrk="1" latinLnBrk="0" hangingPunct="1">
              <a:extLst>
                <a:ext uri="{35155182-B16C-46BC-9424-99874614C6A1}">
                  <wpsdc:marlchars xmlns:wpsdc="http://www.wps.cn/officeDocument/2017/drawingmlCustomData" val="800" checksum="104136704"/>
                </a:ext>
              </a:extLst>
            </a:pPr>
            <a:r>
              <a:rPr lang="en-US" altLang="zh-CN" sz="2800">
                <a:latin typeface="Arial" panose="020B0604020202020204" pitchFamily="34" charset="0"/>
                <a:ea typeface="微软雅黑" panose="020B0503020204020204" charset="-122"/>
                <a:cs typeface="微软雅黑" panose="020B0503020204020204" charset="-122"/>
              </a:rPr>
              <a:t> </a:t>
            </a:r>
            <a:r>
              <a:rPr lang="zh-CN" altLang="en-US" sz="2800">
                <a:latin typeface="Arial" panose="020B0604020202020204" pitchFamily="34" charset="0"/>
                <a:ea typeface="微软雅黑" panose="020B0503020204020204" charset="-122"/>
                <a:cs typeface="微软雅黑" panose="020B0503020204020204" charset="-122"/>
              </a:rPr>
              <a:t>电池反应</a:t>
            </a:r>
            <a:endParaRPr lang="zh-CN" altLang="en-US" sz="2800">
              <a:latin typeface="Arial" panose="020B0604020202020204" pitchFamily="34" charset="0"/>
              <a:ea typeface="微软雅黑" panose="020B0503020204020204" charset="-122"/>
              <a:cs typeface="微软雅黑" panose="020B0503020204020204" charset="-122"/>
            </a:endParaRPr>
          </a:p>
          <a:p>
            <a:pPr marL="457200" indent="-457200">
              <a:buClr>
                <a:srgbClr val="3333CC"/>
              </a:buClr>
              <a:buFont typeface="Wingdings" panose="05000000000000000000" charset="0"/>
              <a:buChar char="l"/>
            </a:pPr>
            <a:r>
              <a:rPr lang="zh-CN" altLang="en-US" sz="2800">
                <a:latin typeface="Arial" panose="020B0604020202020204" pitchFamily="34" charset="0"/>
                <a:ea typeface="微软雅黑" panose="020B0503020204020204" charset="-122"/>
                <a:cs typeface="微软雅黑" panose="020B0503020204020204" charset="-122"/>
                <a:sym typeface="+mn-ea"/>
              </a:rPr>
              <a:t>电解产物</a:t>
            </a:r>
            <a:endParaRPr lang="en-US" altLang="zh-CN" sz="2800">
              <a:latin typeface="Arial" panose="020B0604020202020204" pitchFamily="34" charset="0"/>
              <a:ea typeface="微软雅黑" panose="020B0503020204020204" charset="-122"/>
              <a:cs typeface="微软雅黑" panose="020B0503020204020204" charset="-122"/>
            </a:endParaRPr>
          </a:p>
          <a:p>
            <a:r>
              <a:rPr lang="zh-CN" altLang="en-US" sz="2800">
                <a:latin typeface="Arial" panose="020B0604020202020204" pitchFamily="34" charset="0"/>
                <a:ea typeface="微软雅黑" panose="020B0503020204020204" charset="-122"/>
                <a:cs typeface="微软雅黑" panose="020B0503020204020204" charset="-122"/>
              </a:rPr>
              <a:t>阳极区产物</a:t>
            </a:r>
            <a:r>
              <a:rPr lang="en-US" altLang="zh-CN" sz="2800">
                <a:latin typeface="Arial" panose="020B0604020202020204" pitchFamily="34" charset="0"/>
                <a:ea typeface="微软雅黑" panose="020B0503020204020204" charset="-122"/>
                <a:cs typeface="微软雅黑" panose="020B0503020204020204" charset="-122"/>
              </a:rPr>
              <a:t>,</a:t>
            </a:r>
            <a:r>
              <a:rPr lang="zh-CN" altLang="en-US" sz="2800">
                <a:latin typeface="Arial" panose="020B0604020202020204" pitchFamily="34" charset="0"/>
                <a:ea typeface="微软雅黑" panose="020B0503020204020204" charset="-122"/>
                <a:cs typeface="微软雅黑" panose="020B0503020204020204" charset="-122"/>
              </a:rPr>
              <a:t>阴极区产物</a:t>
            </a:r>
            <a:endParaRPr lang="zh-CN" altLang="en-US" sz="2800">
              <a:latin typeface="Arial" panose="020B0604020202020204" pitchFamily="34" charset="0"/>
              <a:ea typeface="微软雅黑" panose="020B0503020204020204" charset="-122"/>
              <a:cs typeface="微软雅黑" panose="020B0503020204020204" charset="-122"/>
            </a:endParaRPr>
          </a:p>
          <a:p>
            <a:endParaRPr lang="zh-CN" altLang="en-US" sz="2800">
              <a:latin typeface="Arial" panose="020B0604020202020204" pitchFamily="34" charset="0"/>
              <a:ea typeface="微软雅黑" panose="020B0503020204020204" charset="-122"/>
              <a:cs typeface="微软雅黑" panose="020B0503020204020204" charset="-122"/>
            </a:endParaRPr>
          </a:p>
          <a:p>
            <a:pPr marL="457200" indent="-457200">
              <a:buClr>
                <a:srgbClr val="3333CC"/>
              </a:buClr>
              <a:buFont typeface="Wingdings" panose="05000000000000000000" charset="0"/>
              <a:buChar char="l"/>
            </a:pPr>
            <a:r>
              <a:rPr lang="zh-CN" altLang="en-US" sz="2800">
                <a:latin typeface="Arial" panose="020B0604020202020204" pitchFamily="34" charset="0"/>
                <a:ea typeface="微软雅黑" panose="020B0503020204020204" charset="-122"/>
                <a:cs typeface="微软雅黑" panose="020B0503020204020204" charset="-122"/>
              </a:rPr>
              <a:t>理论能耗与实际能耗</a:t>
            </a:r>
            <a:endParaRPr lang="zh-CN" altLang="en-US" sz="2800">
              <a:latin typeface="Arial" panose="020B0604020202020204" pitchFamily="34" charset="0"/>
              <a:ea typeface="微软雅黑" panose="020B0503020204020204" charset="-122"/>
              <a:cs typeface="微软雅黑" panose="020B0503020204020204" charset="-122"/>
            </a:endParaRPr>
          </a:p>
        </p:txBody>
      </p:sp>
      <p:sp>
        <p:nvSpPr>
          <p:cNvPr id="12291" name="Text Box 3"/>
          <p:cNvSpPr txBox="1">
            <a:spLocks noChangeArrowheads="1"/>
          </p:cNvSpPr>
          <p:nvPr/>
        </p:nvSpPr>
        <p:spPr bwMode="auto">
          <a:xfrm>
            <a:off x="683260" y="116840"/>
            <a:ext cx="2743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ea typeface="微软雅黑" panose="020B0503020204020204" charset="-122"/>
              </a:rPr>
              <a:t>1.</a:t>
            </a:r>
            <a:r>
              <a:rPr lang="zh-CN" altLang="en-US" sz="2800" b="1">
                <a:ea typeface="微软雅黑" panose="020B0503020204020204" charset="-122"/>
              </a:rPr>
              <a:t>电解原理</a:t>
            </a:r>
            <a:endParaRPr lang="zh-CN" altLang="en-US" sz="2800" b="1">
              <a:ea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屏幕截图 2025-11-19 030051"/>
          <p:cNvPicPr>
            <a:picLocks noChangeAspect="1"/>
          </p:cNvPicPr>
          <p:nvPr/>
        </p:nvPicPr>
        <p:blipFill>
          <a:blip r:embed="rId1"/>
          <a:srcRect r="2547"/>
          <a:stretch>
            <a:fillRect/>
          </a:stretch>
        </p:blipFill>
        <p:spPr>
          <a:xfrm>
            <a:off x="4989830" y="2853055"/>
            <a:ext cx="4154170" cy="4010025"/>
          </a:xfrm>
          <a:prstGeom prst="rect">
            <a:avLst/>
          </a:prstGeom>
        </p:spPr>
      </p:pic>
      <p:sp>
        <p:nvSpPr>
          <p:cNvPr id="4" name="文本框 3" descr="7b0a202020202262756c6c6574223a20227b5c2263617465676f727949645c223a5c225c222c5c2274656d706c61746549645c223a32303233313731337d220a7d0a"/>
          <p:cNvSpPr txBox="1"/>
          <p:nvPr/>
        </p:nvSpPr>
        <p:spPr>
          <a:xfrm>
            <a:off x="107950" y="692785"/>
            <a:ext cx="8898255" cy="4831080"/>
          </a:xfrm>
          <a:prstGeom prst="rect">
            <a:avLst/>
          </a:prstGeom>
          <a:noFill/>
        </p:spPr>
        <p:txBody>
          <a:bodyPr wrap="square" rtlCol="0" anchor="t">
            <a:spAutoFit/>
          </a:bodyPr>
          <a:p>
            <a:pPr marL="457200" indent="-457200">
              <a:buClr>
                <a:srgbClr val="3333CC"/>
              </a:buClr>
              <a:buFont typeface="Wingdings" panose="05000000000000000000" charset="0"/>
              <a:buChar char="u"/>
            </a:pPr>
            <a:r>
              <a:rPr lang="zh-CN" altLang="en-US" sz="2800" b="1">
                <a:solidFill>
                  <a:schemeClr val="tx1"/>
                </a:solidFill>
                <a:uFillTx/>
                <a:latin typeface="Arial" panose="020B0604020202020204" pitchFamily="34" charset="0"/>
                <a:ea typeface="微软雅黑" panose="020B0503020204020204" charset="-122"/>
              </a:rPr>
              <a:t>电解体系基本单元</a:t>
            </a:r>
            <a:endParaRPr lang="zh-CN" altLang="en-US" sz="2800" b="1">
              <a:solidFill>
                <a:schemeClr val="tx1"/>
              </a:solidFill>
              <a:uFillTx/>
              <a:latin typeface="Arial" panose="020B0604020202020204" pitchFamily="34" charset="0"/>
              <a:ea typeface="微软雅黑" panose="020B0503020204020204" charset="-122"/>
            </a:endParaRPr>
          </a:p>
          <a:p>
            <a:pPr marL="457200" indent="-457200">
              <a:buClr>
                <a:srgbClr val="3333CC"/>
              </a:buClr>
              <a:buFont typeface="Wingdings" panose="05000000000000000000" charset="0"/>
              <a:buChar char="u"/>
            </a:pPr>
            <a:endParaRPr lang="zh-CN" altLang="en-US" sz="2800">
              <a:solidFill>
                <a:schemeClr val="tx1"/>
              </a:solidFill>
              <a:uFillTx/>
              <a:latin typeface="Arial" panose="020B0604020202020204" pitchFamily="34" charset="0"/>
              <a:ea typeface="微软雅黑" panose="020B0503020204020204" charset="-122"/>
            </a:endParaRPr>
          </a:p>
          <a:p>
            <a:pPr marL="457200" indent="-457200">
              <a:buClr>
                <a:srgbClr val="FF3300"/>
              </a:buClr>
              <a:buFont typeface="Wingdings" panose="05000000000000000000" charset="0"/>
              <a:buChar char="ü"/>
            </a:pPr>
            <a:r>
              <a:rPr lang="zh-CN" altLang="en-US" sz="2800">
                <a:solidFill>
                  <a:schemeClr val="tx1"/>
                </a:solidFill>
                <a:uFillTx/>
                <a:latin typeface="Arial" panose="020B0604020202020204" pitchFamily="34" charset="0"/>
                <a:ea typeface="微软雅黑" panose="020B0503020204020204" charset="-122"/>
              </a:rPr>
              <a:t>电解液组成</a:t>
            </a:r>
            <a:r>
              <a:rPr lang="en-US" altLang="zh-CN" sz="2800">
                <a:solidFill>
                  <a:schemeClr val="tx1"/>
                </a:solidFill>
                <a:uFillTx/>
                <a:latin typeface="Arial" panose="020B0604020202020204" pitchFamily="34" charset="0"/>
                <a:ea typeface="微软雅黑" panose="020B0503020204020204" charset="-122"/>
              </a:rPr>
              <a:t>:(</a:t>
            </a:r>
            <a:r>
              <a:rPr lang="zh-CN" altLang="en-US" sz="2800">
                <a:solidFill>
                  <a:schemeClr val="tx1"/>
                </a:solidFill>
                <a:uFillTx/>
                <a:latin typeface="Arial" panose="020B0604020202020204" pitchFamily="34" charset="0"/>
                <a:ea typeface="微软雅黑" panose="020B0503020204020204" charset="-122"/>
              </a:rPr>
              <a:t>电解液从阳极室以一定速度流向阴极室</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a:p>
            <a:r>
              <a:rPr lang="zh-CN" altLang="en-US" sz="2800">
                <a:solidFill>
                  <a:schemeClr val="tx1"/>
                </a:solidFill>
                <a:uFillTx/>
                <a:latin typeface="Arial" panose="020B0604020202020204" pitchFamily="34" charset="0"/>
                <a:ea typeface="微软雅黑" panose="020B0503020204020204" charset="-122"/>
              </a:rPr>
              <a:t>阳极室</a:t>
            </a:r>
            <a:r>
              <a:rPr lang="en-US" altLang="zh-CN" sz="2800">
                <a:solidFill>
                  <a:schemeClr val="tx1"/>
                </a:solidFill>
                <a:uFillTx/>
                <a:latin typeface="Arial" panose="020B0604020202020204" pitchFamily="34" charset="0"/>
                <a:ea typeface="微软雅黑" panose="020B0503020204020204" charset="-122"/>
              </a:rPr>
              <a:t>:</a:t>
            </a:r>
            <a:r>
              <a:rPr lang="zh-CN" altLang="en-US" sz="2800">
                <a:solidFill>
                  <a:schemeClr val="tx1"/>
                </a:solidFill>
                <a:uFillTx/>
                <a:latin typeface="Arial" panose="020B0604020202020204" pitchFamily="34" charset="0"/>
                <a:ea typeface="微软雅黑" panose="020B0503020204020204" charset="-122"/>
              </a:rPr>
              <a:t>饱和食盐水</a:t>
            </a:r>
            <a:r>
              <a:rPr lang="en-US" altLang="zh-CN" sz="2800">
                <a:solidFill>
                  <a:schemeClr val="tx1"/>
                </a:solidFill>
                <a:uFillTx/>
                <a:latin typeface="Arial" panose="020B0604020202020204" pitchFamily="34" charset="0"/>
                <a:ea typeface="微软雅黑" panose="020B0503020204020204" charset="-122"/>
              </a:rPr>
              <a:t>,</a:t>
            </a:r>
            <a:r>
              <a:rPr lang="zh-CN" altLang="en-US" sz="2800">
                <a:solidFill>
                  <a:schemeClr val="tx1"/>
                </a:solidFill>
                <a:uFillTx/>
                <a:latin typeface="Arial" panose="020B0604020202020204" pitchFamily="34" charset="0"/>
                <a:ea typeface="微软雅黑" panose="020B0503020204020204" charset="-122"/>
              </a:rPr>
              <a:t>约为</a:t>
            </a:r>
            <a:r>
              <a:rPr lang="en-US" altLang="zh-CN" sz="2800">
                <a:solidFill>
                  <a:schemeClr val="tx1"/>
                </a:solidFill>
                <a:uFillTx/>
                <a:latin typeface="Arial" panose="020B0604020202020204" pitchFamily="34" charset="0"/>
                <a:ea typeface="微软雅黑" panose="020B0503020204020204" charset="-122"/>
              </a:rPr>
              <a:t>315g</a:t>
            </a:r>
            <a:r>
              <a:rPr lang="en-US" altLang="zh-CN" sz="2800">
                <a:uFillTx/>
                <a:latin typeface="Arial" panose="020B0604020202020204" pitchFamily="34" charset="0"/>
                <a:ea typeface="微软雅黑" panose="020B0503020204020204" charset="-122"/>
                <a:sym typeface="+mn-ea"/>
              </a:rPr>
              <a:t>·L</a:t>
            </a:r>
            <a:r>
              <a:rPr lang="en-US" altLang="zh-CN" sz="2800" baseline="30000">
                <a:uFillTx/>
                <a:latin typeface="Arial" panose="020B0604020202020204" pitchFamily="34" charset="0"/>
                <a:ea typeface="微软雅黑" panose="020B0503020204020204" charset="-122"/>
                <a:sym typeface="+mn-ea"/>
              </a:rPr>
              <a:t>-1</a:t>
            </a:r>
            <a:endParaRPr lang="en-US" altLang="zh-CN" sz="2800">
              <a:solidFill>
                <a:schemeClr val="tx1"/>
              </a:solidFill>
              <a:uFillTx/>
              <a:latin typeface="Arial" panose="020B0604020202020204" pitchFamily="34" charset="0"/>
              <a:ea typeface="微软雅黑" panose="020B0503020204020204" charset="-122"/>
            </a:endParaRPr>
          </a:p>
          <a:p>
            <a:r>
              <a:rPr lang="zh-CN" altLang="en-US" sz="2800">
                <a:solidFill>
                  <a:schemeClr val="tx1"/>
                </a:solidFill>
                <a:uFillTx/>
                <a:latin typeface="Arial" panose="020B0604020202020204" pitchFamily="34" charset="0"/>
                <a:ea typeface="微软雅黑" panose="020B0503020204020204" charset="-122"/>
              </a:rPr>
              <a:t>阴极室</a:t>
            </a:r>
            <a:r>
              <a:rPr lang="en-US" altLang="zh-CN" sz="2800">
                <a:solidFill>
                  <a:schemeClr val="tx1"/>
                </a:solidFill>
                <a:uFillTx/>
                <a:latin typeface="Arial" panose="020B0604020202020204" pitchFamily="34" charset="0"/>
                <a:ea typeface="微软雅黑" panose="020B0503020204020204" charset="-122"/>
              </a:rPr>
              <a:t>:4.53mol/LNaCl+2.5mol·L</a:t>
            </a:r>
            <a:r>
              <a:rPr lang="en-US" altLang="zh-CN" sz="2800" baseline="30000">
                <a:solidFill>
                  <a:schemeClr val="tx1"/>
                </a:solidFill>
                <a:uFillTx/>
                <a:latin typeface="Arial" panose="020B0604020202020204" pitchFamily="34" charset="0"/>
                <a:ea typeface="微软雅黑" panose="020B0503020204020204" charset="-122"/>
              </a:rPr>
              <a:t>-1 </a:t>
            </a:r>
            <a:r>
              <a:rPr lang="en-US" altLang="zh-CN" sz="2800">
                <a:solidFill>
                  <a:schemeClr val="tx1"/>
                </a:solidFill>
                <a:uFillTx/>
                <a:latin typeface="Arial" panose="020B0604020202020204" pitchFamily="34" charset="0"/>
                <a:ea typeface="微软雅黑" panose="020B0503020204020204" charset="-122"/>
              </a:rPr>
              <a:t>NaOH(</a:t>
            </a:r>
            <a:r>
              <a:rPr lang="zh-CN" altLang="en-US" sz="2800">
                <a:solidFill>
                  <a:schemeClr val="tx1"/>
                </a:solidFill>
                <a:uFillTx/>
                <a:latin typeface="Arial" panose="020B0604020202020204" pitchFamily="34" charset="0"/>
                <a:ea typeface="微软雅黑" panose="020B0503020204020204" charset="-122"/>
              </a:rPr>
              <a:t>含电解产物</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a:p>
            <a:endParaRPr lang="en-US" altLang="zh-CN" sz="2800">
              <a:solidFill>
                <a:schemeClr val="tx1"/>
              </a:solidFill>
              <a:uFillTx/>
              <a:latin typeface="Arial" panose="020B0604020202020204" pitchFamily="34" charset="0"/>
              <a:ea typeface="微软雅黑" panose="020B0503020204020204" charset="-122"/>
            </a:endParaRPr>
          </a:p>
          <a:p>
            <a:pPr marL="457200" indent="-457200">
              <a:buClr>
                <a:srgbClr val="FF3300"/>
              </a:buClr>
              <a:buFont typeface="Wingdings" panose="05000000000000000000" charset="0"/>
              <a:buChar char="ü"/>
            </a:pPr>
            <a:r>
              <a:rPr lang="zh-CN" altLang="en-US" sz="2800">
                <a:solidFill>
                  <a:schemeClr val="tx1"/>
                </a:solidFill>
                <a:uFillTx/>
                <a:latin typeface="Arial" panose="020B0604020202020204" pitchFamily="34" charset="0"/>
                <a:ea typeface="微软雅黑" panose="020B0503020204020204" charset="-122"/>
              </a:rPr>
              <a:t>电极材料</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a:p>
            <a:r>
              <a:rPr lang="zh-CN" altLang="en-US" sz="2800">
                <a:solidFill>
                  <a:schemeClr val="tx1"/>
                </a:solidFill>
                <a:uFillTx/>
                <a:latin typeface="Arial" panose="020B0604020202020204" pitchFamily="34" charset="0"/>
                <a:ea typeface="微软雅黑" panose="020B0503020204020204" charset="-122"/>
              </a:rPr>
              <a:t>阳极</a:t>
            </a:r>
            <a:r>
              <a:rPr lang="en-US" altLang="zh-CN" sz="2800">
                <a:solidFill>
                  <a:schemeClr val="tx1"/>
                </a:solidFill>
                <a:uFillTx/>
                <a:latin typeface="Arial" panose="020B0604020202020204" pitchFamily="34" charset="0"/>
                <a:ea typeface="微软雅黑" panose="020B0503020204020204" charset="-122"/>
              </a:rPr>
              <a:t>:</a:t>
            </a:r>
            <a:r>
              <a:rPr lang="zh-CN" altLang="en-US" sz="2800">
                <a:solidFill>
                  <a:schemeClr val="tx1"/>
                </a:solidFill>
                <a:uFillTx/>
                <a:latin typeface="Arial" panose="020B0604020202020204" pitchFamily="34" charset="0"/>
                <a:ea typeface="微软雅黑" panose="020B0503020204020204" charset="-122"/>
              </a:rPr>
              <a:t>石墨</a:t>
            </a:r>
            <a:r>
              <a:rPr lang="en-US" altLang="zh-CN" sz="2800">
                <a:solidFill>
                  <a:schemeClr val="tx1"/>
                </a:solidFill>
                <a:uFillTx/>
                <a:latin typeface="Arial" panose="020B0604020202020204" pitchFamily="34" charset="0"/>
                <a:ea typeface="微软雅黑" panose="020B0503020204020204" charset="-122"/>
              </a:rPr>
              <a:t>(</a:t>
            </a:r>
            <a:r>
              <a:rPr lang="zh-CN" altLang="en-US" sz="2800">
                <a:solidFill>
                  <a:schemeClr val="tx1"/>
                </a:solidFill>
                <a:uFillTx/>
                <a:latin typeface="Arial" panose="020B0604020202020204" pitchFamily="34" charset="0"/>
                <a:ea typeface="微软雅黑" panose="020B0503020204020204" charset="-122"/>
              </a:rPr>
              <a:t>后有多种改进</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a:p>
            <a:r>
              <a:rPr lang="zh-CN" altLang="en-US" sz="2800">
                <a:solidFill>
                  <a:schemeClr val="tx1"/>
                </a:solidFill>
                <a:uFillTx/>
                <a:latin typeface="Arial" panose="020B0604020202020204" pitchFamily="34" charset="0"/>
                <a:ea typeface="微软雅黑" panose="020B0503020204020204" charset="-122"/>
              </a:rPr>
              <a:t>阴极</a:t>
            </a:r>
            <a:r>
              <a:rPr lang="en-US" altLang="zh-CN" sz="2800">
                <a:solidFill>
                  <a:schemeClr val="tx1"/>
                </a:solidFill>
                <a:uFillTx/>
                <a:latin typeface="Arial" panose="020B0604020202020204" pitchFamily="34" charset="0"/>
                <a:ea typeface="微软雅黑" panose="020B0503020204020204" charset="-122"/>
              </a:rPr>
              <a:t>:</a:t>
            </a:r>
            <a:r>
              <a:rPr lang="zh-CN" altLang="en-US" sz="2800">
                <a:solidFill>
                  <a:schemeClr val="tx1"/>
                </a:solidFill>
                <a:uFillTx/>
                <a:latin typeface="Arial" panose="020B0604020202020204" pitchFamily="34" charset="0"/>
                <a:ea typeface="微软雅黑" panose="020B0503020204020204" charset="-122"/>
              </a:rPr>
              <a:t>低碳钢</a:t>
            </a:r>
            <a:r>
              <a:rPr lang="en-US" altLang="zh-CN" sz="2800">
                <a:solidFill>
                  <a:schemeClr val="tx1"/>
                </a:solidFill>
                <a:uFillTx/>
                <a:latin typeface="Arial" panose="020B0604020202020204" pitchFamily="34" charset="0"/>
                <a:ea typeface="微软雅黑" panose="020B0503020204020204" charset="-122"/>
              </a:rPr>
              <a:t>(</a:t>
            </a:r>
            <a:r>
              <a:rPr lang="zh-CN" altLang="en-US" sz="2800">
                <a:solidFill>
                  <a:schemeClr val="tx1"/>
                </a:solidFill>
                <a:uFillTx/>
                <a:latin typeface="Arial" panose="020B0604020202020204" pitchFamily="34" charset="0"/>
                <a:ea typeface="微软雅黑" panose="020B0503020204020204" charset="-122"/>
              </a:rPr>
              <a:t>有多种改进</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a:p>
            <a:endParaRPr lang="en-US" altLang="zh-CN" sz="2800">
              <a:solidFill>
                <a:schemeClr val="tx1"/>
              </a:solidFill>
              <a:uFillTx/>
              <a:latin typeface="Arial" panose="020B0604020202020204" pitchFamily="34" charset="0"/>
              <a:ea typeface="微软雅黑" panose="020B0503020204020204" charset="-122"/>
            </a:endParaRPr>
          </a:p>
          <a:p>
            <a:pPr marL="457200" indent="-457200">
              <a:buClr>
                <a:srgbClr val="FF3300"/>
              </a:buClr>
              <a:buFont typeface="Wingdings" panose="05000000000000000000" charset="0"/>
              <a:buChar char="ü"/>
            </a:pPr>
            <a:r>
              <a:rPr lang="zh-CN" altLang="en-US" sz="2800">
                <a:solidFill>
                  <a:schemeClr val="tx1"/>
                </a:solidFill>
                <a:uFillTx/>
                <a:latin typeface="Arial" panose="020B0604020202020204" pitchFamily="34" charset="0"/>
                <a:ea typeface="微软雅黑" panose="020B0503020204020204" charset="-122"/>
              </a:rPr>
              <a:t>隔膜材料</a:t>
            </a:r>
            <a:r>
              <a:rPr lang="en-US" altLang="zh-CN" sz="2800">
                <a:solidFill>
                  <a:schemeClr val="tx1"/>
                </a:solidFill>
                <a:uFillTx/>
                <a:latin typeface="Arial" panose="020B0604020202020204" pitchFamily="34" charset="0"/>
                <a:ea typeface="微软雅黑" panose="020B0503020204020204" charset="-122"/>
              </a:rPr>
              <a:t>:</a:t>
            </a:r>
            <a:r>
              <a:rPr lang="zh-CN" altLang="en-US" sz="2800">
                <a:solidFill>
                  <a:schemeClr val="tx1"/>
                </a:solidFill>
                <a:uFillTx/>
                <a:latin typeface="Arial" panose="020B0604020202020204" pitchFamily="34" charset="0"/>
                <a:ea typeface="微软雅黑" panose="020B0503020204020204" charset="-122"/>
              </a:rPr>
              <a:t>石棉</a:t>
            </a:r>
            <a:r>
              <a:rPr lang="en-US" altLang="zh-CN" sz="2800">
                <a:solidFill>
                  <a:schemeClr val="tx1"/>
                </a:solidFill>
                <a:uFillTx/>
                <a:latin typeface="Arial" panose="020B0604020202020204" pitchFamily="34" charset="0"/>
                <a:ea typeface="微软雅黑" panose="020B0503020204020204" charset="-122"/>
              </a:rPr>
              <a:t>(</a:t>
            </a:r>
            <a:r>
              <a:rPr lang="zh-CN" altLang="en-US" sz="2800">
                <a:solidFill>
                  <a:schemeClr val="tx1"/>
                </a:solidFill>
                <a:uFillTx/>
                <a:latin typeface="Arial" panose="020B0604020202020204" pitchFamily="34" charset="0"/>
                <a:ea typeface="微软雅黑" panose="020B0503020204020204" charset="-122"/>
              </a:rPr>
              <a:t>后有多种改进</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p:txBody>
      </p:sp>
      <p:pic>
        <p:nvPicPr>
          <p:cNvPr id="6" name="图片 5"/>
          <p:cNvPicPr>
            <a:picLocks noChangeAspect="1"/>
          </p:cNvPicPr>
          <p:nvPr>
            <p:custDataLst>
              <p:tags r:id="rId2"/>
            </p:custDataLst>
          </p:nvPr>
        </p:nvPicPr>
        <p:blipFill>
          <a:blip r:embed="rId3"/>
          <a:stretch>
            <a:fillRect/>
          </a:stretch>
        </p:blipFill>
        <p:spPr>
          <a:xfrm>
            <a:off x="154305" y="0"/>
            <a:ext cx="2815590" cy="69024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2"/>
          <a:stretch>
            <a:fillRect/>
          </a:stretch>
        </p:blipFill>
        <p:spPr>
          <a:xfrm>
            <a:off x="154305" y="0"/>
            <a:ext cx="2815590" cy="690245"/>
          </a:xfrm>
          <a:prstGeom prst="rect">
            <a:avLst/>
          </a:prstGeom>
        </p:spPr>
      </p:pic>
      <p:pic>
        <p:nvPicPr>
          <p:cNvPr id="7" name="图片 6" descr="2.。。。"/>
          <p:cNvPicPr>
            <a:picLocks noChangeAspect="1"/>
          </p:cNvPicPr>
          <p:nvPr/>
        </p:nvPicPr>
        <p:blipFill>
          <a:blip r:embed="rId3"/>
          <a:stretch>
            <a:fillRect/>
          </a:stretch>
        </p:blipFill>
        <p:spPr>
          <a:xfrm>
            <a:off x="-8255" y="2637155"/>
            <a:ext cx="9144000" cy="3119755"/>
          </a:xfrm>
          <a:prstGeom prst="rect">
            <a:avLst/>
          </a:prstGeom>
        </p:spPr>
      </p:pic>
      <p:sp>
        <p:nvSpPr>
          <p:cNvPr id="8" name="文本框 7"/>
          <p:cNvSpPr txBox="1"/>
          <p:nvPr/>
        </p:nvSpPr>
        <p:spPr>
          <a:xfrm>
            <a:off x="323850" y="1196975"/>
            <a:ext cx="4572000" cy="521970"/>
          </a:xfrm>
          <a:prstGeom prst="rect">
            <a:avLst/>
          </a:prstGeom>
          <a:noFill/>
        </p:spPr>
        <p:txBody>
          <a:bodyPr wrap="square" rtlCol="0" anchor="t">
            <a:spAutoFit/>
          </a:bodyPr>
          <a:p>
            <a:pPr marL="457200" indent="-457200">
              <a:buClr>
                <a:srgbClr val="3333CC"/>
              </a:buClr>
              <a:buFont typeface="Wingdings" panose="05000000000000000000" charset="0"/>
              <a:buChar char="u"/>
            </a:pPr>
            <a:r>
              <a:rPr lang="zh-CN" altLang="en-US" sz="2800" b="1">
                <a:uFillTx/>
                <a:latin typeface="Arial" panose="020B0604020202020204" pitchFamily="34" charset="0"/>
                <a:ea typeface="微软雅黑" panose="020B0503020204020204" charset="-122"/>
                <a:sym typeface="+mn-ea"/>
              </a:rPr>
              <a:t>电极反应和电池反应</a:t>
            </a:r>
            <a:endParaRPr lang="zh-CN" altLang="en-US" sz="2800" b="1">
              <a:uFillTx/>
              <a:latin typeface="Arial" panose="020B0604020202020204" pitchFamily="34" charset="0"/>
              <a:ea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图片1(1)"/>
          <p:cNvPicPr>
            <a:picLocks noChangeAspect="1"/>
          </p:cNvPicPr>
          <p:nvPr/>
        </p:nvPicPr>
        <p:blipFill>
          <a:blip r:embed="rId1"/>
          <a:stretch>
            <a:fillRect/>
          </a:stretch>
        </p:blipFill>
        <p:spPr>
          <a:xfrm>
            <a:off x="4445" y="3159125"/>
            <a:ext cx="9144000" cy="3083560"/>
          </a:xfrm>
          <a:prstGeom prst="rect">
            <a:avLst/>
          </a:prstGeom>
        </p:spPr>
      </p:pic>
      <p:sp>
        <p:nvSpPr>
          <p:cNvPr id="4" name="文本框 3"/>
          <p:cNvSpPr txBox="1"/>
          <p:nvPr/>
        </p:nvSpPr>
        <p:spPr>
          <a:xfrm>
            <a:off x="539750" y="980440"/>
            <a:ext cx="7832725" cy="1938020"/>
          </a:xfrm>
          <a:prstGeom prst="rect">
            <a:avLst/>
          </a:prstGeom>
          <a:noFill/>
        </p:spPr>
        <p:txBody>
          <a:bodyPr wrap="square" rtlCol="0" anchor="t">
            <a:spAutoFit/>
          </a:bodyPr>
          <a:p>
            <a:r>
              <a:rPr lang="zh-CN" altLang="en-US" b="1">
                <a:solidFill>
                  <a:schemeClr val="accent2"/>
                </a:solidFill>
                <a:uFillTx/>
                <a:latin typeface="Arial" panose="020B0604020202020204" pitchFamily="34" charset="0"/>
                <a:ea typeface="微软雅黑" panose="020B0503020204020204" charset="-122"/>
              </a:rPr>
              <a:t>讨论</a:t>
            </a:r>
            <a:r>
              <a:rPr lang="en-US" altLang="zh-CN" b="1">
                <a:solidFill>
                  <a:schemeClr val="accent2"/>
                </a:solidFill>
                <a:uFillTx/>
                <a:latin typeface="Arial" panose="020B0604020202020204" pitchFamily="34" charset="0"/>
                <a:ea typeface="微软雅黑" panose="020B0503020204020204" charset="-122"/>
              </a:rPr>
              <a:t>1</a:t>
            </a:r>
            <a:r>
              <a:rPr lang="zh-CN" altLang="en-US" b="1">
                <a:solidFill>
                  <a:schemeClr val="accent2"/>
                </a:solidFill>
                <a:uFillTx/>
                <a:latin typeface="Arial" panose="020B0604020202020204" pitchFamily="34" charset="0"/>
                <a:ea typeface="微软雅黑" panose="020B0503020204020204" charset="-122"/>
              </a:rPr>
              <a:t>：可能的电极反应有哪些？从热力学判断，哪种离子先放电</a:t>
            </a:r>
            <a:r>
              <a:rPr lang="en-US" altLang="zh-CN" b="1">
                <a:solidFill>
                  <a:schemeClr val="accent2"/>
                </a:solidFill>
                <a:uFillTx/>
                <a:latin typeface="Arial" panose="020B0604020202020204" pitchFamily="34" charset="0"/>
                <a:ea typeface="微软雅黑" panose="020B0503020204020204" charset="-122"/>
              </a:rPr>
              <a:t>?</a:t>
            </a:r>
            <a:endParaRPr lang="zh-CN" altLang="en-US" b="1">
              <a:solidFill>
                <a:schemeClr val="accent2"/>
              </a:solidFill>
              <a:uFillTx/>
              <a:latin typeface="Arial" panose="020B0604020202020204" pitchFamily="34" charset="0"/>
              <a:ea typeface="微软雅黑" panose="020B0503020204020204" charset="-122"/>
            </a:endParaRPr>
          </a:p>
          <a:p>
            <a:r>
              <a:rPr lang="zh-CN" altLang="en-US">
                <a:solidFill>
                  <a:schemeClr val="tx1"/>
                </a:solidFill>
                <a:uFillTx/>
                <a:latin typeface="Arial" panose="020B0604020202020204" pitchFamily="34" charset="0"/>
                <a:ea typeface="微软雅黑" panose="020B0503020204020204" charset="-122"/>
              </a:rPr>
              <a:t>答：</a:t>
            </a:r>
            <a:r>
              <a:rPr lang="zh-CN" altLang="en-US" b="1">
                <a:solidFill>
                  <a:schemeClr val="tx1"/>
                </a:solidFill>
                <a:uFillTx/>
                <a:latin typeface="Arial" panose="020B0604020202020204" pitchFamily="34" charset="0"/>
                <a:ea typeface="微软雅黑" panose="020B0503020204020204" charset="-122"/>
              </a:rPr>
              <a:t>阳离子</a:t>
            </a:r>
            <a:r>
              <a:rPr lang="zh-CN" altLang="en-US">
                <a:solidFill>
                  <a:schemeClr val="tx1"/>
                </a:solidFill>
                <a:uFillTx/>
                <a:latin typeface="Arial" panose="020B0604020202020204" pitchFamily="34" charset="0"/>
                <a:ea typeface="微软雅黑" panose="020B0503020204020204" charset="-122"/>
              </a:rPr>
              <a:t>有</a:t>
            </a:r>
            <a:r>
              <a:rPr lang="en-US" altLang="zh-CN">
                <a:solidFill>
                  <a:schemeClr val="tx1"/>
                </a:solidFill>
                <a:uFillTx/>
                <a:latin typeface="Arial" panose="020B0604020202020204" pitchFamily="34" charset="0"/>
                <a:ea typeface="微软雅黑" panose="020B0503020204020204" charset="-122"/>
              </a:rPr>
              <a:t>Na</a:t>
            </a:r>
            <a:r>
              <a:rPr lang="en-US" altLang="zh-CN" baseline="30000">
                <a:solidFill>
                  <a:schemeClr val="tx1"/>
                </a:solidFill>
                <a:uFillTx/>
                <a:latin typeface="Arial" panose="020B0604020202020204" pitchFamily="34" charset="0"/>
                <a:ea typeface="微软雅黑" panose="020B0503020204020204" charset="-122"/>
              </a:rPr>
              <a:t>+</a:t>
            </a:r>
            <a:r>
              <a:rPr lang="zh-CN" altLang="en-US">
                <a:solidFill>
                  <a:schemeClr val="tx1"/>
                </a:solidFill>
                <a:uFillTx/>
                <a:latin typeface="Arial" panose="020B0604020202020204" pitchFamily="34" charset="0"/>
                <a:ea typeface="微软雅黑" panose="020B0503020204020204" charset="-122"/>
              </a:rPr>
              <a:t>和</a:t>
            </a:r>
            <a:r>
              <a:rPr lang="en-US" altLang="zh-CN">
                <a:solidFill>
                  <a:schemeClr val="tx1"/>
                </a:solidFill>
                <a:uFillTx/>
                <a:latin typeface="Arial" panose="020B0604020202020204" pitchFamily="34" charset="0"/>
                <a:ea typeface="微软雅黑" panose="020B0503020204020204" charset="-122"/>
              </a:rPr>
              <a:t>H</a:t>
            </a:r>
            <a:r>
              <a:rPr lang="en-US" altLang="zh-CN" baseline="30000">
                <a:solidFill>
                  <a:schemeClr val="tx1"/>
                </a:solidFill>
                <a:uFillTx/>
                <a:latin typeface="Arial" panose="020B0604020202020204" pitchFamily="34" charset="0"/>
                <a:ea typeface="微软雅黑" panose="020B0503020204020204" charset="-122"/>
              </a:rPr>
              <a:t>+</a:t>
            </a:r>
            <a:r>
              <a:rPr lang="zh-CN" altLang="en-US">
                <a:solidFill>
                  <a:schemeClr val="tx1"/>
                </a:solidFill>
                <a:uFillTx/>
                <a:latin typeface="Arial" panose="020B0604020202020204" pitchFamily="34" charset="0"/>
                <a:ea typeface="微软雅黑" panose="020B0503020204020204" charset="-122"/>
              </a:rPr>
              <a:t>，</a:t>
            </a:r>
            <a:r>
              <a:rPr lang="zh-CN" altLang="en-US" b="1">
                <a:solidFill>
                  <a:schemeClr val="tx1"/>
                </a:solidFill>
                <a:uFillTx/>
                <a:latin typeface="Arial" panose="020B0604020202020204" pitchFamily="34" charset="0"/>
                <a:ea typeface="微软雅黑" panose="020B0503020204020204" charset="-122"/>
              </a:rPr>
              <a:t>阴离子</a:t>
            </a:r>
            <a:r>
              <a:rPr lang="zh-CN" altLang="en-US">
                <a:solidFill>
                  <a:schemeClr val="tx1"/>
                </a:solidFill>
                <a:uFillTx/>
                <a:latin typeface="Arial" panose="020B0604020202020204" pitchFamily="34" charset="0"/>
                <a:ea typeface="微软雅黑" panose="020B0503020204020204" charset="-122"/>
              </a:rPr>
              <a:t>有</a:t>
            </a:r>
            <a:r>
              <a:rPr lang="en-US" altLang="zh-CN">
                <a:solidFill>
                  <a:schemeClr val="tx1"/>
                </a:solidFill>
                <a:uFillTx/>
                <a:latin typeface="Arial" panose="020B0604020202020204" pitchFamily="34" charset="0"/>
                <a:ea typeface="微软雅黑" panose="020B0503020204020204" charset="-122"/>
              </a:rPr>
              <a:t>Cl</a:t>
            </a:r>
            <a:r>
              <a:rPr lang="en-US" altLang="zh-CN" baseline="30000">
                <a:solidFill>
                  <a:schemeClr val="tx1"/>
                </a:solidFill>
                <a:uFillTx/>
                <a:latin typeface="Arial" panose="020B0604020202020204" pitchFamily="34" charset="0"/>
                <a:ea typeface="微软雅黑" panose="020B0503020204020204" charset="-122"/>
              </a:rPr>
              <a:t>-</a:t>
            </a:r>
            <a:r>
              <a:rPr lang="zh-CN" altLang="en-US">
                <a:solidFill>
                  <a:schemeClr val="tx1"/>
                </a:solidFill>
                <a:uFillTx/>
                <a:latin typeface="Arial" panose="020B0604020202020204" pitchFamily="34" charset="0"/>
                <a:ea typeface="微软雅黑" panose="020B0503020204020204" charset="-122"/>
              </a:rPr>
              <a:t>和</a:t>
            </a:r>
            <a:r>
              <a:rPr lang="en-US" altLang="zh-CN">
                <a:solidFill>
                  <a:schemeClr val="tx1"/>
                </a:solidFill>
                <a:uFillTx/>
                <a:latin typeface="Arial" panose="020B0604020202020204" pitchFamily="34" charset="0"/>
                <a:ea typeface="微软雅黑" panose="020B0503020204020204" charset="-122"/>
              </a:rPr>
              <a:t>OH</a:t>
            </a:r>
            <a:r>
              <a:rPr lang="en-US" altLang="zh-CN" baseline="30000">
                <a:solidFill>
                  <a:schemeClr val="tx1"/>
                </a:solidFill>
                <a:uFillTx/>
                <a:latin typeface="Arial" panose="020B0604020202020204" pitchFamily="34" charset="0"/>
                <a:ea typeface="微软雅黑" panose="020B0503020204020204" charset="-122"/>
              </a:rPr>
              <a:t>-</a:t>
            </a:r>
            <a:r>
              <a:rPr lang="zh-CN" altLang="en-US">
                <a:solidFill>
                  <a:schemeClr val="tx1"/>
                </a:solidFill>
                <a:uFillTx/>
                <a:latin typeface="Arial" panose="020B0604020202020204" pitchFamily="34" charset="0"/>
                <a:ea typeface="微软雅黑" panose="020B0503020204020204" charset="-122"/>
              </a:rPr>
              <a:t>，可能的电极反应如下</a:t>
            </a:r>
            <a:r>
              <a:rPr lang="en-US" altLang="zh-CN">
                <a:solidFill>
                  <a:schemeClr val="tx1"/>
                </a:solidFill>
                <a:uFillTx/>
                <a:latin typeface="Arial" panose="020B0604020202020204" pitchFamily="34" charset="0"/>
                <a:ea typeface="微软雅黑" panose="020B0503020204020204" charset="-122"/>
              </a:rPr>
              <a:t>:</a:t>
            </a:r>
            <a:endParaRPr lang="zh-CN" altLang="en-US">
              <a:solidFill>
                <a:schemeClr val="tx1"/>
              </a:solidFill>
              <a:uFillTx/>
              <a:latin typeface="Arial" panose="020B0604020202020204" pitchFamily="34" charset="0"/>
              <a:ea typeface="微软雅黑" panose="020B0503020204020204" charset="-122"/>
            </a:endParaRPr>
          </a:p>
          <a:p>
            <a:endParaRPr lang="zh-CN" altLang="en-US">
              <a:solidFill>
                <a:schemeClr val="tx1"/>
              </a:solidFill>
              <a:uFillTx/>
              <a:latin typeface="Arial" panose="020B0604020202020204" pitchFamily="34" charset="0"/>
              <a:ea typeface="微软雅黑" panose="020B0503020204020204" charset="-122"/>
            </a:endParaRPr>
          </a:p>
        </p:txBody>
      </p:sp>
      <p:sp>
        <p:nvSpPr>
          <p:cNvPr id="8" name="文本框 7"/>
          <p:cNvSpPr txBox="1"/>
          <p:nvPr/>
        </p:nvSpPr>
        <p:spPr>
          <a:xfrm>
            <a:off x="251460" y="217805"/>
            <a:ext cx="4572000" cy="521970"/>
          </a:xfrm>
          <a:prstGeom prst="rect">
            <a:avLst/>
          </a:prstGeom>
          <a:noFill/>
        </p:spPr>
        <p:txBody>
          <a:bodyPr wrap="square" rtlCol="0" anchor="t">
            <a:spAutoFit/>
          </a:bodyPr>
          <a:p>
            <a:pPr marL="457200" indent="-457200">
              <a:buClr>
                <a:srgbClr val="3333CC"/>
              </a:buClr>
              <a:buFont typeface="Wingdings" panose="05000000000000000000" charset="0"/>
              <a:buChar char="u"/>
            </a:pPr>
            <a:r>
              <a:rPr lang="zh-CN" altLang="en-US" sz="2800" b="1">
                <a:uFillTx/>
                <a:latin typeface="Arial" panose="020B0604020202020204" pitchFamily="34" charset="0"/>
                <a:ea typeface="微软雅黑" panose="020B0503020204020204" charset="-122"/>
                <a:sym typeface="+mn-ea"/>
              </a:rPr>
              <a:t>电极反应和电池反应</a:t>
            </a:r>
            <a:endParaRPr lang="zh-CN" altLang="en-US" sz="2800" b="1">
              <a:uFillTx/>
              <a:latin typeface="Arial" panose="020B0604020202020204" pitchFamily="34" charset="0"/>
              <a:ea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2842895" y="3235960"/>
            <a:ext cx="3120390" cy="2915920"/>
          </a:xfrm>
          <a:prstGeom prst="rect">
            <a:avLst/>
          </a:prstGeom>
        </p:spPr>
      </p:pic>
      <p:sp>
        <p:nvSpPr>
          <p:cNvPr id="8" name="文本框 7"/>
          <p:cNvSpPr txBox="1"/>
          <p:nvPr/>
        </p:nvSpPr>
        <p:spPr>
          <a:xfrm>
            <a:off x="251460" y="217805"/>
            <a:ext cx="4572000" cy="521970"/>
          </a:xfrm>
          <a:prstGeom prst="rect">
            <a:avLst/>
          </a:prstGeom>
          <a:noFill/>
        </p:spPr>
        <p:txBody>
          <a:bodyPr wrap="square" rtlCol="0" anchor="t">
            <a:spAutoFit/>
          </a:bodyPr>
          <a:p>
            <a:pPr marL="457200" indent="-457200">
              <a:buClr>
                <a:srgbClr val="3333CC"/>
              </a:buClr>
              <a:buFont typeface="Wingdings" panose="05000000000000000000" charset="0"/>
              <a:buChar char="u"/>
            </a:pPr>
            <a:r>
              <a:rPr lang="zh-CN" altLang="en-US" sz="2800" b="1">
                <a:uFillTx/>
                <a:latin typeface="Arial" panose="020B0604020202020204" pitchFamily="34" charset="0"/>
                <a:ea typeface="微软雅黑" panose="020B0503020204020204" charset="-122"/>
                <a:sym typeface="+mn-ea"/>
              </a:rPr>
              <a:t>电极反应和电池反应</a:t>
            </a:r>
            <a:endParaRPr lang="zh-CN" altLang="en-US" sz="2800" b="1">
              <a:uFillTx/>
              <a:latin typeface="Arial" panose="020B0604020202020204" pitchFamily="34" charset="0"/>
              <a:ea typeface="微软雅黑" panose="020B0503020204020204" charset="-122"/>
              <a:sym typeface="+mn-ea"/>
            </a:endParaRPr>
          </a:p>
        </p:txBody>
      </p:sp>
      <p:sp>
        <p:nvSpPr>
          <p:cNvPr id="4" name="文本框 3"/>
          <p:cNvSpPr txBox="1"/>
          <p:nvPr/>
        </p:nvSpPr>
        <p:spPr>
          <a:xfrm>
            <a:off x="467360" y="909320"/>
            <a:ext cx="8214995" cy="1383665"/>
          </a:xfrm>
          <a:prstGeom prst="rect">
            <a:avLst/>
          </a:prstGeom>
          <a:noFill/>
        </p:spPr>
        <p:txBody>
          <a:bodyPr wrap="square" rtlCol="0" anchor="t">
            <a:spAutoFit/>
          </a:bodyPr>
          <a:p>
            <a:r>
              <a:rPr lang="zh-CN" altLang="en-US" sz="2800" b="1">
                <a:solidFill>
                  <a:schemeClr val="accent2"/>
                </a:solidFill>
                <a:uFillTx/>
                <a:latin typeface="Arial" panose="020B0604020202020204" pitchFamily="34" charset="0"/>
                <a:ea typeface="微软雅黑" panose="020B0503020204020204" charset="-122"/>
              </a:rPr>
              <a:t>讨论2:考虑超电势,哪种离子先放电?</a:t>
            </a:r>
            <a:endParaRPr lang="zh-CN" altLang="en-US" sz="2800" b="1">
              <a:solidFill>
                <a:schemeClr val="accent2"/>
              </a:solidFill>
              <a:uFillTx/>
              <a:latin typeface="Arial" panose="020B0604020202020204" pitchFamily="34" charset="0"/>
              <a:ea typeface="微软雅黑" panose="020B0503020204020204" charset="-122"/>
            </a:endParaRPr>
          </a:p>
          <a:p>
            <a:r>
              <a:rPr lang="zh-CN" altLang="en-US" sz="2800">
                <a:uFillTx/>
                <a:latin typeface="Arial" panose="020B0604020202020204" pitchFamily="34" charset="0"/>
                <a:ea typeface="微软雅黑" panose="020B0503020204020204" charset="-122"/>
              </a:rPr>
              <a:t>以铁为阴极,石墨为阳极,当电流/=1000A/m</a:t>
            </a:r>
            <a:r>
              <a:rPr lang="zh-CN" altLang="en-US" sz="2800" baseline="30000">
                <a:uFillTx/>
                <a:latin typeface="Arial" panose="020B0604020202020204" pitchFamily="34" charset="0"/>
                <a:ea typeface="微软雅黑" panose="020B0503020204020204" charset="-122"/>
              </a:rPr>
              <a:t>2</a:t>
            </a:r>
            <a:r>
              <a:rPr lang="zh-CN" altLang="en-US" sz="2800">
                <a:uFillTx/>
                <a:latin typeface="Arial" panose="020B0604020202020204" pitchFamily="34" charset="0"/>
                <a:ea typeface="微软雅黑" panose="020B0503020204020204" charset="-122"/>
              </a:rPr>
              <a:t>时,</a:t>
            </a:r>
            <a:endParaRPr lang="zh-CN" altLang="en-US" sz="2800">
              <a:uFillTx/>
              <a:latin typeface="Arial" panose="020B0604020202020204" pitchFamily="34" charset="0"/>
              <a:ea typeface="微软雅黑" panose="020B0503020204020204" charset="-122"/>
            </a:endParaRPr>
          </a:p>
          <a:p>
            <a:r>
              <a:rPr lang="en-US" altLang="zh-CN" sz="2800">
                <a:uFillTx/>
                <a:latin typeface="Arial" panose="020B0604020202020204" pitchFamily="34" charset="0"/>
                <a:ea typeface="微软雅黑" panose="020B0503020204020204" charset="-122"/>
              </a:rPr>
              <a:t>η</a:t>
            </a:r>
            <a:r>
              <a:rPr lang="zh-CN" altLang="en-US" sz="2800" baseline="-25000">
                <a:uFillTx/>
                <a:latin typeface="Arial" panose="020B0604020202020204" pitchFamily="34" charset="0"/>
                <a:ea typeface="微软雅黑" panose="020B0503020204020204" charset="-122"/>
              </a:rPr>
              <a:t>H</a:t>
            </a:r>
            <a:r>
              <a:rPr lang="en-US" altLang="zh-CN" sz="2800" baseline="-25000">
                <a:uFillTx/>
                <a:latin typeface="Arial" panose="020B0604020202020204" pitchFamily="34" charset="0"/>
                <a:ea typeface="微软雅黑" panose="020B0503020204020204" charset="-122"/>
              </a:rPr>
              <a:t>2,</a:t>
            </a:r>
            <a:r>
              <a:rPr lang="zh-CN" altLang="en-US" sz="2800" baseline="-25000">
                <a:uFillTx/>
                <a:latin typeface="Arial" panose="020B0604020202020204" pitchFamily="34" charset="0"/>
                <a:ea typeface="微软雅黑" panose="020B0503020204020204" charset="-122"/>
              </a:rPr>
              <a:t>Fe</a:t>
            </a:r>
            <a:r>
              <a:rPr lang="zh-CN" altLang="en-US" sz="2800">
                <a:uFillTx/>
                <a:latin typeface="Arial" panose="020B0604020202020204" pitchFamily="34" charset="0"/>
                <a:ea typeface="微软雅黑" panose="020B0503020204020204" charset="-122"/>
              </a:rPr>
              <a:t> =0.39V </a:t>
            </a:r>
            <a:r>
              <a:rPr lang="en-US" altLang="zh-CN" sz="2800">
                <a:uFillTx/>
                <a:latin typeface="Arial" panose="020B0604020202020204" pitchFamily="34" charset="0"/>
                <a:ea typeface="微软雅黑" panose="020B0503020204020204" charset="-122"/>
                <a:sym typeface="+mn-ea"/>
              </a:rPr>
              <a:t>η</a:t>
            </a:r>
            <a:r>
              <a:rPr lang="en-US" altLang="zh-CN" sz="2800" baseline="-25000">
                <a:uFillTx/>
                <a:latin typeface="Arial" panose="020B0604020202020204" pitchFamily="34" charset="0"/>
                <a:ea typeface="微软雅黑" panose="020B0503020204020204" charset="-122"/>
                <a:sym typeface="+mn-ea"/>
              </a:rPr>
              <a:t>Cl2</a:t>
            </a:r>
            <a:r>
              <a:rPr lang="en-US" altLang="zh-CN" sz="2800" baseline="-25000">
                <a:uFillTx/>
                <a:latin typeface="Arial" panose="020B0604020202020204" pitchFamily="34" charset="0"/>
                <a:ea typeface="微软雅黑" panose="020B0503020204020204" charset="-122"/>
              </a:rPr>
              <a:t>,</a:t>
            </a:r>
            <a:r>
              <a:rPr lang="zh-CN" altLang="en-US" sz="2800" baseline="-25000">
                <a:uFillTx/>
                <a:latin typeface="Arial" panose="020B0604020202020204" pitchFamily="34" charset="0"/>
                <a:ea typeface="微软雅黑" panose="020B0503020204020204" charset="-122"/>
              </a:rPr>
              <a:t>石墨</a:t>
            </a:r>
            <a:r>
              <a:rPr lang="zh-CN" altLang="en-US" sz="2800">
                <a:uFillTx/>
                <a:latin typeface="Arial" panose="020B0604020202020204" pitchFamily="34" charset="0"/>
                <a:ea typeface="微软雅黑" panose="020B0503020204020204" charset="-122"/>
              </a:rPr>
              <a:t>=0.25V </a:t>
            </a:r>
            <a:r>
              <a:rPr lang="en-US" altLang="zh-CN" sz="2800">
                <a:uFillTx/>
                <a:latin typeface="Arial" panose="020B0604020202020204" pitchFamily="34" charset="0"/>
                <a:ea typeface="微软雅黑" panose="020B0503020204020204" charset="-122"/>
                <a:sym typeface="+mn-ea"/>
              </a:rPr>
              <a:t>η</a:t>
            </a:r>
            <a:r>
              <a:rPr lang="en-US" altLang="zh-CN" sz="2800" baseline="-25000">
                <a:uFillTx/>
                <a:latin typeface="Arial" panose="020B0604020202020204" pitchFamily="34" charset="0"/>
                <a:ea typeface="微软雅黑" panose="020B0503020204020204" charset="-122"/>
              </a:rPr>
              <a:t>O2,</a:t>
            </a:r>
            <a:r>
              <a:rPr lang="zh-CN" altLang="en-US" sz="2800" baseline="-25000">
                <a:uFillTx/>
                <a:latin typeface="Arial" panose="020B0604020202020204" pitchFamily="34" charset="0"/>
                <a:ea typeface="微软雅黑" panose="020B0503020204020204" charset="-122"/>
              </a:rPr>
              <a:t>石墨</a:t>
            </a:r>
            <a:r>
              <a:rPr lang="zh-CN" altLang="en-US" sz="2800">
                <a:uFillTx/>
                <a:latin typeface="Arial" panose="020B0604020202020204" pitchFamily="34" charset="0"/>
                <a:ea typeface="微软雅黑" panose="020B0503020204020204" charset="-122"/>
              </a:rPr>
              <a:t>=1.0V</a:t>
            </a:r>
            <a:endParaRPr lang="zh-CN" altLang="en-US" sz="2800">
              <a:uFillTx/>
              <a:latin typeface="Arial" panose="020B0604020202020204" pitchFamily="34" charset="0"/>
              <a:ea typeface="微软雅黑" panose="020B0503020204020204" charset="-122"/>
            </a:endParaRPr>
          </a:p>
        </p:txBody>
      </p:sp>
      <p:sp>
        <p:nvSpPr>
          <p:cNvPr id="9" name="文本框 8"/>
          <p:cNvSpPr txBox="1"/>
          <p:nvPr/>
        </p:nvSpPr>
        <p:spPr>
          <a:xfrm>
            <a:off x="35560" y="2709545"/>
            <a:ext cx="3098800" cy="3969385"/>
          </a:xfrm>
          <a:prstGeom prst="rect">
            <a:avLst/>
          </a:prstGeom>
          <a:noFill/>
        </p:spPr>
        <p:txBody>
          <a:bodyPr wrap="square" rtlCol="0" anchor="t">
            <a:spAutoFit/>
          </a:bodyPr>
          <a:p>
            <a:pPr algn="l">
              <a:buClrTx/>
              <a:buSzTx/>
              <a:buNone/>
            </a:pPr>
            <a:r>
              <a:rPr lang="zh-CN" altLang="en-US" sz="2800" b="1">
                <a:uFillTx/>
                <a:latin typeface="Arial" panose="020B0604020202020204" pitchFamily="34" charset="0"/>
                <a:ea typeface="微软雅黑" panose="020B0503020204020204" charset="-122"/>
              </a:rPr>
              <a:t>可能的阴极反应</a:t>
            </a:r>
            <a:endParaRPr lang="zh-CN" altLang="en-US" sz="2800" b="1">
              <a:uFillTx/>
              <a:latin typeface="Arial" panose="020B0604020202020204" pitchFamily="34" charset="0"/>
              <a:ea typeface="微软雅黑" panose="020B0503020204020204" charset="-122"/>
            </a:endParaRPr>
          </a:p>
          <a:p>
            <a:pPr algn="l">
              <a:buClrTx/>
              <a:buSzTx/>
              <a:buNone/>
            </a:pPr>
            <a:r>
              <a:rPr lang="en-US" altLang="en-US" sz="2800" b="1">
                <a:solidFill>
                  <a:schemeClr val="accent2"/>
                </a:solidFill>
                <a:uFillTx/>
                <a:latin typeface="Arial" panose="020B0604020202020204" pitchFamily="34" charset="0"/>
                <a:ea typeface="微软雅黑" panose="020B0503020204020204" charset="-122"/>
              </a:rPr>
              <a:t>①</a:t>
            </a:r>
            <a:r>
              <a:rPr lang="zh-CN" altLang="en-US" sz="2800" b="1">
                <a:solidFill>
                  <a:schemeClr val="accent2"/>
                </a:solidFill>
                <a:uFillTx/>
                <a:latin typeface="Arial" panose="020B0604020202020204" pitchFamily="34" charset="0"/>
                <a:ea typeface="微软雅黑" panose="020B0503020204020204" charset="-122"/>
              </a:rPr>
              <a:t>2H</a:t>
            </a:r>
            <a:r>
              <a:rPr lang="zh-CN" altLang="en-US" sz="2800" b="1" baseline="30000">
                <a:solidFill>
                  <a:schemeClr val="accent2"/>
                </a:solidFill>
                <a:uFillTx/>
                <a:latin typeface="Arial" panose="020B0604020202020204" pitchFamily="34" charset="0"/>
                <a:ea typeface="微软雅黑" panose="020B0503020204020204" charset="-122"/>
              </a:rPr>
              <a:t>+</a:t>
            </a:r>
            <a:r>
              <a:rPr lang="zh-CN" altLang="en-US" sz="2800" b="1">
                <a:solidFill>
                  <a:schemeClr val="accent2"/>
                </a:solidFill>
                <a:uFillTx/>
                <a:latin typeface="Arial" panose="020B0604020202020204" pitchFamily="34" charset="0"/>
                <a:ea typeface="微软雅黑" panose="020B0503020204020204" charset="-122"/>
              </a:rPr>
              <a:t>+2e</a:t>
            </a:r>
            <a:r>
              <a:rPr lang="en-US" altLang="zh-CN" sz="2800" b="1" baseline="30000">
                <a:solidFill>
                  <a:schemeClr val="accent2"/>
                </a:solidFill>
                <a:uFillTx/>
                <a:latin typeface="Arial" panose="020B0604020202020204" pitchFamily="34" charset="0"/>
                <a:ea typeface="微软雅黑" panose="020B0503020204020204" charset="-122"/>
              </a:rPr>
              <a:t>-</a:t>
            </a:r>
            <a:r>
              <a:rPr lang="zh-CN" altLang="en-US" sz="2800" b="1">
                <a:solidFill>
                  <a:schemeClr val="accent2"/>
                </a:solidFill>
                <a:uFillTx/>
                <a:latin typeface="Arial" panose="020B0604020202020204" pitchFamily="34" charset="0"/>
                <a:ea typeface="微软雅黑" panose="020B0503020204020204" charset="-122"/>
                <a:sym typeface="+mn-ea"/>
              </a:rPr>
              <a:t>→</a:t>
            </a:r>
            <a:r>
              <a:rPr lang="zh-CN" altLang="en-US" sz="2800" b="1">
                <a:solidFill>
                  <a:schemeClr val="accent2"/>
                </a:solidFill>
                <a:uFillTx/>
                <a:latin typeface="Arial" panose="020B0604020202020204" pitchFamily="34" charset="0"/>
                <a:ea typeface="微软雅黑" panose="020B0503020204020204" charset="-122"/>
              </a:rPr>
              <a:t>H</a:t>
            </a:r>
            <a:r>
              <a:rPr lang="en-US" altLang="zh-CN" sz="2800" b="1" baseline="-25000">
                <a:solidFill>
                  <a:schemeClr val="accent2"/>
                </a:solidFill>
                <a:uFillTx/>
                <a:latin typeface="Arial" panose="020B0604020202020204" pitchFamily="34" charset="0"/>
                <a:ea typeface="微软雅黑" panose="020B0503020204020204" charset="-122"/>
              </a:rPr>
              <a:t>2</a:t>
            </a:r>
            <a:endParaRPr lang="zh-CN" altLang="en-US" sz="2800" b="1">
              <a:solidFill>
                <a:schemeClr val="accent2"/>
              </a:solidFill>
              <a:uFillTx/>
              <a:latin typeface="Arial" panose="020B0604020202020204" pitchFamily="34" charset="0"/>
              <a:ea typeface="微软雅黑" panose="020B0503020204020204" charset="-122"/>
            </a:endParaRPr>
          </a:p>
          <a:p>
            <a:pPr algn="l">
              <a:buClrTx/>
              <a:buSzTx/>
              <a:buNone/>
            </a:pPr>
            <a:r>
              <a:rPr lang="en-US" altLang="en-US" sz="2800">
                <a:uFillTx/>
                <a:latin typeface="Arial" panose="020B0604020202020204" pitchFamily="34" charset="0"/>
                <a:ea typeface="微软雅黑" panose="020B0503020204020204" charset="-122"/>
              </a:rPr>
              <a:t>②</a:t>
            </a:r>
            <a:r>
              <a:rPr lang="zh-CN" altLang="en-US" sz="2800">
                <a:uFillTx/>
                <a:latin typeface="Arial" panose="020B0604020202020204" pitchFamily="34" charset="0"/>
                <a:ea typeface="微软雅黑" panose="020B0503020204020204" charset="-122"/>
              </a:rPr>
              <a:t>Na</a:t>
            </a:r>
            <a:r>
              <a:rPr lang="zh-CN" altLang="en-US" sz="2800" baseline="30000">
                <a:uFillTx/>
                <a:latin typeface="Arial" panose="020B0604020202020204" pitchFamily="34" charset="0"/>
                <a:ea typeface="微软雅黑" panose="020B0503020204020204" charset="-122"/>
              </a:rPr>
              <a:t>+</a:t>
            </a:r>
            <a:r>
              <a:rPr lang="zh-CN" altLang="en-US" sz="2800">
                <a:uFillTx/>
                <a:latin typeface="Arial" panose="020B0604020202020204" pitchFamily="34" charset="0"/>
                <a:ea typeface="微软雅黑" panose="020B0503020204020204" charset="-122"/>
              </a:rPr>
              <a:t>+e</a:t>
            </a:r>
            <a:r>
              <a:rPr lang="en-US" altLang="zh-CN" sz="2800" baseline="30000">
                <a:uFillTx/>
                <a:latin typeface="Arial" panose="020B0604020202020204" pitchFamily="34" charset="0"/>
                <a:ea typeface="微软雅黑" panose="020B0503020204020204" charset="-122"/>
              </a:rPr>
              <a:t>-</a:t>
            </a:r>
            <a:r>
              <a:rPr lang="zh-CN" altLang="en-US" sz="2800">
                <a:uFillTx/>
                <a:latin typeface="Arial" panose="020B0604020202020204" pitchFamily="34" charset="0"/>
                <a:ea typeface="微软雅黑" panose="020B0503020204020204" charset="-122"/>
              </a:rPr>
              <a:t>→Na</a:t>
            </a:r>
            <a:endParaRPr lang="zh-CN" altLang="en-US" sz="2800">
              <a:uFillTx/>
              <a:latin typeface="Arial" panose="020B0604020202020204" pitchFamily="34" charset="0"/>
              <a:ea typeface="微软雅黑" panose="020B0503020204020204" charset="-122"/>
            </a:endParaRPr>
          </a:p>
          <a:p>
            <a:pPr algn="l">
              <a:buClrTx/>
              <a:buSzTx/>
              <a:buNone/>
            </a:pPr>
            <a:endParaRPr lang="zh-CN" altLang="en-US" sz="2800" b="1">
              <a:uFillTx/>
              <a:latin typeface="Arial" panose="020B0604020202020204" pitchFamily="34" charset="0"/>
              <a:ea typeface="微软雅黑" panose="020B0503020204020204" charset="-122"/>
            </a:endParaRPr>
          </a:p>
          <a:p>
            <a:pPr algn="l">
              <a:buClrTx/>
              <a:buSzTx/>
              <a:buNone/>
            </a:pPr>
            <a:r>
              <a:rPr lang="zh-CN" altLang="en-US" sz="2800" b="1">
                <a:uFillTx/>
                <a:latin typeface="Arial" panose="020B0604020202020204" pitchFamily="34" charset="0"/>
                <a:ea typeface="微软雅黑" panose="020B0503020204020204" charset="-122"/>
              </a:rPr>
              <a:t>可能细的阳极反应</a:t>
            </a:r>
            <a:endParaRPr lang="zh-CN" altLang="en-US" sz="2800" b="1">
              <a:uFillTx/>
              <a:latin typeface="Arial" panose="020B0604020202020204" pitchFamily="34" charset="0"/>
              <a:ea typeface="微软雅黑" panose="020B0503020204020204" charset="-122"/>
            </a:endParaRPr>
          </a:p>
          <a:p>
            <a:pPr algn="l">
              <a:buClrTx/>
              <a:buSzTx/>
              <a:buNone/>
            </a:pPr>
            <a:r>
              <a:rPr lang="en-US" altLang="en-US" sz="2800" b="1">
                <a:solidFill>
                  <a:schemeClr val="accent2"/>
                </a:solidFill>
                <a:uFillTx/>
                <a:latin typeface="Arial" panose="020B0604020202020204" pitchFamily="34" charset="0"/>
                <a:ea typeface="微软雅黑" panose="020B0503020204020204" charset="-122"/>
              </a:rPr>
              <a:t>①</a:t>
            </a:r>
            <a:r>
              <a:rPr lang="zh-CN" altLang="en-US" sz="2800" b="1">
                <a:solidFill>
                  <a:schemeClr val="accent2"/>
                </a:solidFill>
                <a:uFillTx/>
                <a:latin typeface="Arial" panose="020B0604020202020204" pitchFamily="34" charset="0"/>
                <a:ea typeface="微软雅黑" panose="020B0503020204020204" charset="-122"/>
              </a:rPr>
              <a:t>2C</a:t>
            </a:r>
            <a:r>
              <a:rPr lang="en-US" altLang="zh-CN" sz="2800" b="1">
                <a:solidFill>
                  <a:schemeClr val="accent2"/>
                </a:solidFill>
                <a:uFillTx/>
                <a:latin typeface="Arial" panose="020B0604020202020204" pitchFamily="34" charset="0"/>
                <a:ea typeface="微软雅黑" panose="020B0503020204020204" charset="-122"/>
              </a:rPr>
              <a:t>l</a:t>
            </a:r>
            <a:r>
              <a:rPr lang="zh-CN" altLang="en-US" sz="2800" b="1" baseline="30000">
                <a:solidFill>
                  <a:schemeClr val="accent2"/>
                </a:solidFill>
                <a:uFillTx/>
                <a:latin typeface="Arial" panose="020B0604020202020204" pitchFamily="34" charset="0"/>
                <a:ea typeface="微软雅黑" panose="020B0503020204020204" charset="-122"/>
              </a:rPr>
              <a:t>-</a:t>
            </a:r>
            <a:r>
              <a:rPr lang="zh-CN" altLang="en-US" sz="2800" b="1">
                <a:solidFill>
                  <a:schemeClr val="accent2"/>
                </a:solidFill>
                <a:uFillTx/>
                <a:latin typeface="Arial" panose="020B0604020202020204" pitchFamily="34" charset="0"/>
                <a:ea typeface="微软雅黑" panose="020B0503020204020204" charset="-122"/>
              </a:rPr>
              <a:t>-2e</a:t>
            </a:r>
            <a:r>
              <a:rPr lang="zh-CN" altLang="en-US" sz="2800" b="1" baseline="30000">
                <a:solidFill>
                  <a:schemeClr val="accent2"/>
                </a:solidFill>
                <a:uFillTx/>
                <a:latin typeface="Arial" panose="020B0604020202020204" pitchFamily="34" charset="0"/>
                <a:ea typeface="微软雅黑" panose="020B0503020204020204" charset="-122"/>
              </a:rPr>
              <a:t>-</a:t>
            </a:r>
            <a:r>
              <a:rPr lang="zh-CN" altLang="en-US" sz="2800" b="1">
                <a:solidFill>
                  <a:schemeClr val="accent2"/>
                </a:solidFill>
                <a:uFillTx/>
                <a:latin typeface="Arial" panose="020B0604020202020204" pitchFamily="34" charset="0"/>
                <a:ea typeface="微软雅黑" panose="020B0503020204020204" charset="-122"/>
              </a:rPr>
              <a:t>→C</a:t>
            </a:r>
            <a:r>
              <a:rPr lang="en-US" altLang="zh-CN" sz="2800" b="1">
                <a:solidFill>
                  <a:schemeClr val="accent2"/>
                </a:solidFill>
                <a:uFillTx/>
                <a:latin typeface="Arial" panose="020B0604020202020204" pitchFamily="34" charset="0"/>
                <a:ea typeface="微软雅黑" panose="020B0503020204020204" charset="-122"/>
              </a:rPr>
              <a:t>l</a:t>
            </a:r>
            <a:r>
              <a:rPr lang="en-US" altLang="zh-CN" sz="2800" b="1" baseline="-25000">
                <a:solidFill>
                  <a:schemeClr val="accent2"/>
                </a:solidFill>
                <a:uFillTx/>
                <a:latin typeface="Arial" panose="020B0604020202020204" pitchFamily="34" charset="0"/>
                <a:ea typeface="微软雅黑" panose="020B0503020204020204" charset="-122"/>
              </a:rPr>
              <a:t>2</a:t>
            </a:r>
            <a:endParaRPr lang="en-US" altLang="zh-CN" sz="2800" b="1">
              <a:solidFill>
                <a:schemeClr val="accent2"/>
              </a:solidFill>
              <a:uFillTx/>
              <a:latin typeface="Arial" panose="020B0604020202020204" pitchFamily="34" charset="0"/>
              <a:ea typeface="微软雅黑" panose="020B0503020204020204" charset="-122"/>
            </a:endParaRPr>
          </a:p>
          <a:p>
            <a:pPr algn="l">
              <a:buClrTx/>
              <a:buSzTx/>
              <a:buNone/>
            </a:pPr>
            <a:r>
              <a:rPr lang="en-US" altLang="en-US" sz="2800">
                <a:uFillTx/>
                <a:latin typeface="Arial" panose="020B0604020202020204" pitchFamily="34" charset="0"/>
                <a:ea typeface="微软雅黑" panose="020B0503020204020204" charset="-122"/>
              </a:rPr>
              <a:t>②</a:t>
            </a:r>
            <a:r>
              <a:rPr lang="zh-CN" altLang="en-US" sz="2800">
                <a:uFillTx/>
                <a:latin typeface="Arial" panose="020B0604020202020204" pitchFamily="34" charset="0"/>
                <a:ea typeface="微软雅黑" panose="020B0503020204020204" charset="-122"/>
              </a:rPr>
              <a:t>2</a:t>
            </a:r>
            <a:r>
              <a:rPr lang="en-US" altLang="zh-CN" sz="2800">
                <a:uFillTx/>
                <a:latin typeface="Arial" panose="020B0604020202020204" pitchFamily="34" charset="0"/>
                <a:ea typeface="微软雅黑" panose="020B0503020204020204" charset="-122"/>
              </a:rPr>
              <a:t>OH</a:t>
            </a:r>
            <a:r>
              <a:rPr lang="zh-CN" altLang="en-US" sz="2800" baseline="30000">
                <a:uFillTx/>
                <a:latin typeface="Arial" panose="020B0604020202020204" pitchFamily="34" charset="0"/>
                <a:ea typeface="微软雅黑" panose="020B0503020204020204" charset="-122"/>
              </a:rPr>
              <a:t>-</a:t>
            </a:r>
            <a:r>
              <a:rPr lang="zh-CN" altLang="en-US" sz="2800">
                <a:uFillTx/>
                <a:latin typeface="Arial" panose="020B0604020202020204" pitchFamily="34" charset="0"/>
                <a:ea typeface="微软雅黑" panose="020B0503020204020204" charset="-122"/>
              </a:rPr>
              <a:t>-2e</a:t>
            </a:r>
            <a:r>
              <a:rPr lang="zh-CN" altLang="en-US" sz="2800" baseline="30000">
                <a:uFillTx/>
                <a:latin typeface="Arial" panose="020B0604020202020204" pitchFamily="34" charset="0"/>
                <a:ea typeface="微软雅黑" panose="020B0503020204020204" charset="-122"/>
              </a:rPr>
              <a:t>-</a:t>
            </a:r>
            <a:r>
              <a:rPr lang="zh-CN" altLang="en-US" sz="2800">
                <a:uFillTx/>
                <a:latin typeface="Arial" panose="020B0604020202020204" pitchFamily="34" charset="0"/>
                <a:ea typeface="微软雅黑" panose="020B0503020204020204" charset="-122"/>
              </a:rPr>
              <a:t>→1/2</a:t>
            </a:r>
            <a:r>
              <a:rPr lang="en-US" altLang="zh-CN" sz="2800">
                <a:uFillTx/>
                <a:latin typeface="Arial" panose="020B0604020202020204" pitchFamily="34" charset="0"/>
                <a:ea typeface="微软雅黑" panose="020B0503020204020204" charset="-122"/>
              </a:rPr>
              <a:t>O</a:t>
            </a:r>
            <a:r>
              <a:rPr lang="en-US" altLang="zh-CN" sz="2800" baseline="-25000">
                <a:uFillTx/>
                <a:latin typeface="Arial" panose="020B0604020202020204" pitchFamily="34" charset="0"/>
                <a:ea typeface="微软雅黑" panose="020B0503020204020204" charset="-122"/>
              </a:rPr>
              <a:t>2</a:t>
            </a:r>
            <a:r>
              <a:rPr lang="zh-CN" altLang="en-US" sz="2800">
                <a:uFillTx/>
                <a:latin typeface="Arial" panose="020B0604020202020204" pitchFamily="34" charset="0"/>
                <a:ea typeface="微软雅黑" panose="020B0503020204020204" charset="-122"/>
              </a:rPr>
              <a:t>+H</a:t>
            </a:r>
            <a:r>
              <a:rPr lang="en-US" altLang="zh-CN" sz="2800" baseline="-25000">
                <a:uFillTx/>
                <a:latin typeface="Arial" panose="020B0604020202020204" pitchFamily="34" charset="0"/>
                <a:ea typeface="微软雅黑" panose="020B0503020204020204" charset="-122"/>
              </a:rPr>
              <a:t>2</a:t>
            </a:r>
            <a:r>
              <a:rPr lang="en-US" altLang="zh-CN" sz="2800">
                <a:uFillTx/>
                <a:latin typeface="Arial" panose="020B0604020202020204" pitchFamily="34" charset="0"/>
                <a:ea typeface="微软雅黑" panose="020B0503020204020204" charset="-122"/>
              </a:rPr>
              <a:t>O</a:t>
            </a:r>
            <a:endParaRPr lang="zh-CN" altLang="en-US" sz="2800">
              <a:uFillTx/>
              <a:latin typeface="Arial" panose="020B0604020202020204" pitchFamily="34" charset="0"/>
              <a:ea typeface="微软雅黑" panose="020B0503020204020204" charset="-122"/>
            </a:endParaRPr>
          </a:p>
          <a:p>
            <a:pPr algn="l">
              <a:buClrTx/>
              <a:buSzTx/>
              <a:buNone/>
            </a:pPr>
            <a:endParaRPr lang="zh-CN" altLang="en-US" sz="2800">
              <a:uFillTx/>
              <a:latin typeface="Arial" panose="020B0604020202020204" pitchFamily="34" charset="0"/>
              <a:ea typeface="微软雅黑" panose="020B0503020204020204" charset="-122"/>
            </a:endParaRPr>
          </a:p>
        </p:txBody>
      </p:sp>
      <p:sp>
        <p:nvSpPr>
          <p:cNvPr id="10" name="文本框 9"/>
          <p:cNvSpPr txBox="1"/>
          <p:nvPr/>
        </p:nvSpPr>
        <p:spPr>
          <a:xfrm>
            <a:off x="6227445" y="2997835"/>
            <a:ext cx="3107055" cy="3415030"/>
          </a:xfrm>
          <a:prstGeom prst="rect">
            <a:avLst/>
          </a:prstGeom>
          <a:noFill/>
        </p:spPr>
        <p:txBody>
          <a:bodyPr wrap="square" rtlCol="0" anchor="t">
            <a:spAutoFit/>
          </a:bodyPr>
          <a:p>
            <a:r>
              <a:rPr lang="en-US" altLang="zh-CN" b="1">
                <a:solidFill>
                  <a:schemeClr val="accent2"/>
                </a:solidFill>
                <a:uFillTx/>
                <a:latin typeface="Arial" panose="020B0604020202020204" pitchFamily="34" charset="0"/>
                <a:ea typeface="微软雅黑" panose="020B0503020204020204" charset="-122"/>
              </a:rPr>
              <a:t>E(H</a:t>
            </a:r>
            <a:r>
              <a:rPr lang="en-US" altLang="zh-CN" b="1" baseline="30000">
                <a:solidFill>
                  <a:schemeClr val="accent2"/>
                </a:solidFill>
                <a:uFillTx/>
                <a:latin typeface="Arial" panose="020B0604020202020204" pitchFamily="34" charset="0"/>
                <a:ea typeface="微软雅黑" panose="020B0503020204020204" charset="-122"/>
              </a:rPr>
              <a:t>+</a:t>
            </a:r>
            <a:r>
              <a:rPr lang="en-US" altLang="zh-CN" b="1">
                <a:solidFill>
                  <a:schemeClr val="accent2"/>
                </a:solidFill>
                <a:uFillTx/>
                <a:latin typeface="Arial" panose="020B0604020202020204" pitchFamily="34" charset="0"/>
                <a:ea typeface="微软雅黑" panose="020B0503020204020204" charset="-122"/>
              </a:rPr>
              <a:t>/H</a:t>
            </a:r>
            <a:r>
              <a:rPr lang="en-US" altLang="zh-CN" b="1" baseline="-25000">
                <a:solidFill>
                  <a:schemeClr val="accent2"/>
                </a:solidFill>
                <a:uFillTx/>
                <a:latin typeface="Arial" panose="020B0604020202020204" pitchFamily="34" charset="0"/>
                <a:ea typeface="微软雅黑" panose="020B0503020204020204" charset="-122"/>
              </a:rPr>
              <a:t>2</a:t>
            </a:r>
            <a:r>
              <a:rPr lang="en-US" altLang="zh-CN" b="1">
                <a:solidFill>
                  <a:schemeClr val="accent2"/>
                </a:solidFill>
                <a:uFillTx/>
                <a:latin typeface="Arial" panose="020B0604020202020204" pitchFamily="34" charset="0"/>
                <a:ea typeface="微软雅黑" panose="020B0503020204020204" charset="-122"/>
              </a:rPr>
              <a:t>,Fe)=</a:t>
            </a:r>
            <a:endParaRPr lang="en-US" altLang="zh-CN" b="1">
              <a:solidFill>
                <a:schemeClr val="accent2"/>
              </a:solidFill>
              <a:uFillTx/>
              <a:latin typeface="Arial" panose="020B0604020202020204" pitchFamily="34" charset="0"/>
              <a:ea typeface="微软雅黑" panose="020B0503020204020204" charset="-122"/>
            </a:endParaRPr>
          </a:p>
          <a:p>
            <a:r>
              <a:rPr lang="en-US" altLang="zh-CN" b="1">
                <a:solidFill>
                  <a:schemeClr val="accent2"/>
                </a:solidFill>
                <a:uFillTx/>
                <a:latin typeface="Arial" panose="020B0604020202020204" pitchFamily="34" charset="0"/>
                <a:ea typeface="微软雅黑" panose="020B0503020204020204" charset="-122"/>
              </a:rPr>
              <a:t>-0.843-0.39=-1.233V</a:t>
            </a:r>
            <a:endParaRPr lang="en-US" altLang="zh-CN" b="1">
              <a:solidFill>
                <a:schemeClr val="accent2"/>
              </a:solidFill>
              <a:uFillTx/>
              <a:latin typeface="Arial" panose="020B0604020202020204" pitchFamily="34" charset="0"/>
              <a:ea typeface="微软雅黑" panose="020B0503020204020204" charset="-122"/>
            </a:endParaRPr>
          </a:p>
          <a:p>
            <a:r>
              <a:rPr lang="en-US" altLang="zh-CN">
                <a:solidFill>
                  <a:schemeClr val="tx1"/>
                </a:solidFill>
                <a:uFillTx/>
                <a:latin typeface="Arial" panose="020B0604020202020204" pitchFamily="34" charset="0"/>
                <a:ea typeface="微软雅黑" panose="020B0503020204020204" charset="-122"/>
              </a:rPr>
              <a:t>E(Na</a:t>
            </a:r>
            <a:r>
              <a:rPr lang="en-US" altLang="zh-CN" baseline="30000">
                <a:solidFill>
                  <a:schemeClr val="tx1"/>
                </a:solidFill>
                <a:uFillTx/>
                <a:latin typeface="Arial" panose="020B0604020202020204" pitchFamily="34" charset="0"/>
                <a:ea typeface="微软雅黑" panose="020B0503020204020204" charset="-122"/>
              </a:rPr>
              <a:t>+</a:t>
            </a:r>
            <a:r>
              <a:rPr lang="en-US" altLang="zh-CN">
                <a:solidFill>
                  <a:schemeClr val="tx1"/>
                </a:solidFill>
                <a:uFillTx/>
                <a:latin typeface="Arial" panose="020B0604020202020204" pitchFamily="34" charset="0"/>
                <a:ea typeface="微软雅黑" panose="020B0503020204020204" charset="-122"/>
              </a:rPr>
              <a:t>/Na)=-2.68V</a:t>
            </a:r>
            <a:endParaRPr lang="en-US" altLang="zh-CN">
              <a:solidFill>
                <a:schemeClr val="tx1"/>
              </a:solidFill>
              <a:uFillTx/>
              <a:latin typeface="Arial" panose="020B0604020202020204" pitchFamily="34" charset="0"/>
              <a:ea typeface="微软雅黑" panose="020B0503020204020204" charset="-122"/>
            </a:endParaRPr>
          </a:p>
          <a:p>
            <a:endParaRPr lang="en-US" altLang="zh-CN">
              <a:solidFill>
                <a:schemeClr val="tx1"/>
              </a:solidFill>
              <a:uFillTx/>
              <a:latin typeface="Arial" panose="020B0604020202020204" pitchFamily="34" charset="0"/>
              <a:ea typeface="微软雅黑" panose="020B0503020204020204" charset="-122"/>
            </a:endParaRPr>
          </a:p>
          <a:p>
            <a:endParaRPr lang="en-US" altLang="zh-CN">
              <a:solidFill>
                <a:schemeClr val="tx1"/>
              </a:solidFill>
              <a:uFillTx/>
              <a:latin typeface="Arial" panose="020B0604020202020204" pitchFamily="34" charset="0"/>
              <a:ea typeface="微软雅黑" panose="020B0503020204020204" charset="-122"/>
            </a:endParaRPr>
          </a:p>
          <a:p>
            <a:r>
              <a:rPr lang="en-US" altLang="zh-CN" b="1">
                <a:solidFill>
                  <a:schemeClr val="accent2"/>
                </a:solidFill>
                <a:uFillTx/>
                <a:latin typeface="Arial" panose="020B0604020202020204" pitchFamily="34" charset="0"/>
                <a:ea typeface="微软雅黑" panose="020B0503020204020204" charset="-122"/>
                <a:sym typeface="+mn-ea"/>
              </a:rPr>
              <a:t>E(Cl</a:t>
            </a:r>
            <a:r>
              <a:rPr lang="en-US" altLang="zh-CN" b="1" baseline="-25000">
                <a:solidFill>
                  <a:schemeClr val="accent2"/>
                </a:solidFill>
                <a:uFillTx/>
                <a:latin typeface="Arial" panose="020B0604020202020204" pitchFamily="34" charset="0"/>
                <a:ea typeface="微软雅黑" panose="020B0503020204020204" charset="-122"/>
                <a:sym typeface="+mn-ea"/>
              </a:rPr>
              <a:t>2</a:t>
            </a:r>
            <a:r>
              <a:rPr lang="en-US" altLang="zh-CN" b="1">
                <a:solidFill>
                  <a:schemeClr val="accent2"/>
                </a:solidFill>
                <a:uFillTx/>
                <a:latin typeface="Arial" panose="020B0604020202020204" pitchFamily="34" charset="0"/>
                <a:ea typeface="微软雅黑" panose="020B0503020204020204" charset="-122"/>
                <a:sym typeface="+mn-ea"/>
              </a:rPr>
              <a:t>/Cl</a:t>
            </a:r>
            <a:r>
              <a:rPr lang="en-US" altLang="zh-CN" b="1" baseline="30000">
                <a:solidFill>
                  <a:schemeClr val="accent2"/>
                </a:solidFill>
                <a:uFillTx/>
                <a:latin typeface="Arial" panose="020B0604020202020204" pitchFamily="34" charset="0"/>
                <a:ea typeface="微软雅黑" panose="020B0503020204020204" charset="-122"/>
                <a:sym typeface="+mn-ea"/>
              </a:rPr>
              <a:t>-</a:t>
            </a:r>
            <a:r>
              <a:rPr lang="en-US" altLang="zh-CN" b="1">
                <a:solidFill>
                  <a:schemeClr val="accent2"/>
                </a:solidFill>
                <a:uFillTx/>
                <a:latin typeface="Arial" panose="020B0604020202020204" pitchFamily="34" charset="0"/>
                <a:ea typeface="微软雅黑" panose="020B0503020204020204" charset="-122"/>
                <a:sym typeface="+mn-ea"/>
              </a:rPr>
              <a:t>,</a:t>
            </a:r>
            <a:r>
              <a:rPr lang="zh-CN" altLang="en-US" b="1">
                <a:solidFill>
                  <a:schemeClr val="accent2"/>
                </a:solidFill>
                <a:uFillTx/>
                <a:latin typeface="Arial" panose="020B0604020202020204" pitchFamily="34" charset="0"/>
                <a:ea typeface="微软雅黑" panose="020B0503020204020204" charset="-122"/>
                <a:sym typeface="+mn-ea"/>
              </a:rPr>
              <a:t>石墨</a:t>
            </a:r>
            <a:r>
              <a:rPr lang="en-US" altLang="zh-CN" b="1">
                <a:solidFill>
                  <a:schemeClr val="accent2"/>
                </a:solidFill>
                <a:uFillTx/>
                <a:latin typeface="Arial" panose="020B0604020202020204" pitchFamily="34" charset="0"/>
                <a:ea typeface="微软雅黑" panose="020B0503020204020204" charset="-122"/>
                <a:sym typeface="+mn-ea"/>
              </a:rPr>
              <a:t>)</a:t>
            </a:r>
            <a:r>
              <a:rPr lang="en-US" altLang="zh-CN" b="1">
                <a:solidFill>
                  <a:schemeClr val="accent2"/>
                </a:solidFill>
                <a:uFillTx/>
                <a:latin typeface="Arial" panose="020B0604020202020204" pitchFamily="34" charset="0"/>
                <a:ea typeface="微软雅黑" panose="020B0503020204020204" charset="-122"/>
              </a:rPr>
              <a:t>=</a:t>
            </a:r>
            <a:endParaRPr lang="en-US" altLang="zh-CN" b="1">
              <a:solidFill>
                <a:schemeClr val="accent2"/>
              </a:solidFill>
              <a:uFillTx/>
              <a:latin typeface="Arial" panose="020B0604020202020204" pitchFamily="34" charset="0"/>
              <a:ea typeface="微软雅黑" panose="020B0503020204020204" charset="-122"/>
            </a:endParaRPr>
          </a:p>
          <a:p>
            <a:r>
              <a:rPr lang="en-US" altLang="zh-CN" b="1">
                <a:solidFill>
                  <a:schemeClr val="accent2"/>
                </a:solidFill>
                <a:uFillTx/>
                <a:latin typeface="Arial" panose="020B0604020202020204" pitchFamily="34" charset="0"/>
                <a:ea typeface="微软雅黑" panose="020B0503020204020204" charset="-122"/>
              </a:rPr>
              <a:t>1.33</a:t>
            </a:r>
            <a:r>
              <a:rPr lang="en-US" altLang="en-US" b="1">
                <a:solidFill>
                  <a:schemeClr val="accent2"/>
                </a:solidFill>
                <a:uFillTx/>
                <a:latin typeface="Arial" panose="020B0604020202020204" pitchFamily="34" charset="0"/>
                <a:ea typeface="微软雅黑" panose="020B0503020204020204" charset="-122"/>
              </a:rPr>
              <a:t>+</a:t>
            </a:r>
            <a:r>
              <a:rPr lang="en-US" altLang="zh-CN" b="1">
                <a:solidFill>
                  <a:schemeClr val="accent2"/>
                </a:solidFill>
                <a:uFillTx/>
                <a:latin typeface="Arial" panose="020B0604020202020204" pitchFamily="34" charset="0"/>
                <a:ea typeface="微软雅黑" panose="020B0503020204020204" charset="-122"/>
              </a:rPr>
              <a:t>0.25=1.58V</a:t>
            </a:r>
            <a:endParaRPr lang="en-US" altLang="zh-CN" b="1">
              <a:solidFill>
                <a:schemeClr val="accent2"/>
              </a:solidFill>
              <a:uFillTx/>
              <a:latin typeface="Arial" panose="020B0604020202020204" pitchFamily="34" charset="0"/>
              <a:ea typeface="微软雅黑" panose="020B0503020204020204" charset="-122"/>
            </a:endParaRPr>
          </a:p>
          <a:p>
            <a:r>
              <a:rPr lang="en-US" altLang="zh-CN">
                <a:uFillTx/>
                <a:latin typeface="Arial" panose="020B0604020202020204" pitchFamily="34" charset="0"/>
                <a:ea typeface="微软雅黑" panose="020B0503020204020204" charset="-122"/>
                <a:sym typeface="+mn-ea"/>
              </a:rPr>
              <a:t>E</a:t>
            </a:r>
            <a:r>
              <a:rPr lang="en-US" altLang="zh-CN">
                <a:uFillTx/>
                <a:latin typeface="Arial" panose="020B0604020202020204" pitchFamily="34" charset="0"/>
                <a:ea typeface="微软雅黑" panose="020B0503020204020204" charset="-122"/>
                <a:sym typeface="+mn-ea"/>
              </a:rPr>
              <a:t>(O</a:t>
            </a:r>
            <a:r>
              <a:rPr lang="en-US" altLang="zh-CN" baseline="-25000">
                <a:uFillTx/>
                <a:latin typeface="Arial" panose="020B0604020202020204" pitchFamily="34" charset="0"/>
                <a:ea typeface="微软雅黑" panose="020B0503020204020204" charset="-122"/>
                <a:sym typeface="+mn-ea"/>
              </a:rPr>
              <a:t>2</a:t>
            </a:r>
            <a:r>
              <a:rPr lang="en-US" altLang="zh-CN">
                <a:uFillTx/>
                <a:latin typeface="Arial" panose="020B0604020202020204" pitchFamily="34" charset="0"/>
                <a:ea typeface="微软雅黑" panose="020B0503020204020204" charset="-122"/>
                <a:sym typeface="+mn-ea"/>
              </a:rPr>
              <a:t>/OH</a:t>
            </a:r>
            <a:r>
              <a:rPr lang="en-US" altLang="zh-CN" baseline="30000">
                <a:uFillTx/>
                <a:latin typeface="Arial" panose="020B0604020202020204" pitchFamily="34" charset="0"/>
                <a:ea typeface="微软雅黑" panose="020B0503020204020204" charset="-122"/>
                <a:sym typeface="+mn-ea"/>
              </a:rPr>
              <a:t>-</a:t>
            </a:r>
            <a:r>
              <a:rPr lang="en-US" altLang="zh-CN">
                <a:uFillTx/>
                <a:latin typeface="Arial" panose="020B0604020202020204" pitchFamily="34" charset="0"/>
                <a:ea typeface="微软雅黑" panose="020B0503020204020204" charset="-122"/>
                <a:sym typeface="+mn-ea"/>
              </a:rPr>
              <a:t>,</a:t>
            </a:r>
            <a:r>
              <a:rPr lang="zh-CN" altLang="en-US">
                <a:uFillTx/>
                <a:latin typeface="Arial" panose="020B0604020202020204" pitchFamily="34" charset="0"/>
                <a:ea typeface="微软雅黑" panose="020B0503020204020204" charset="-122"/>
                <a:sym typeface="+mn-ea"/>
              </a:rPr>
              <a:t>石墨</a:t>
            </a:r>
            <a:r>
              <a:rPr lang="en-US" altLang="zh-CN">
                <a:uFillTx/>
                <a:latin typeface="Arial" panose="020B0604020202020204" pitchFamily="34" charset="0"/>
                <a:ea typeface="微软雅黑" panose="020B0503020204020204" charset="-122"/>
                <a:sym typeface="+mn-ea"/>
              </a:rPr>
              <a:t>)</a:t>
            </a:r>
            <a:r>
              <a:rPr lang="en-US" altLang="zh-CN">
                <a:solidFill>
                  <a:schemeClr val="tx1"/>
                </a:solidFill>
                <a:uFillTx/>
                <a:latin typeface="Arial" panose="020B0604020202020204" pitchFamily="34" charset="0"/>
                <a:ea typeface="微软雅黑" panose="020B0503020204020204" charset="-122"/>
              </a:rPr>
              <a:t>=</a:t>
            </a:r>
            <a:endParaRPr lang="en-US" altLang="zh-CN">
              <a:solidFill>
                <a:schemeClr val="tx1"/>
              </a:solidFill>
              <a:uFillTx/>
              <a:latin typeface="Arial" panose="020B0604020202020204" pitchFamily="34" charset="0"/>
              <a:ea typeface="微软雅黑" panose="020B0503020204020204" charset="-122"/>
            </a:endParaRPr>
          </a:p>
          <a:p>
            <a:r>
              <a:rPr lang="en-US" altLang="zh-CN">
                <a:solidFill>
                  <a:schemeClr val="tx1"/>
                </a:solidFill>
                <a:uFillTx/>
                <a:latin typeface="Arial" panose="020B0604020202020204" pitchFamily="34" charset="0"/>
                <a:ea typeface="微软雅黑" panose="020B0503020204020204" charset="-122"/>
              </a:rPr>
              <a:t>0.82+1.0=1.82V</a:t>
            </a:r>
            <a:endParaRPr lang="zh-CN" altLang="en-US">
              <a:solidFill>
                <a:schemeClr val="tx1"/>
              </a:solidFill>
              <a:uFillTx/>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4"/>
          <p:cNvSpPr txBox="1">
            <a:spLocks noChangeArrowheads="1"/>
          </p:cNvSpPr>
          <p:nvPr/>
        </p:nvSpPr>
        <p:spPr bwMode="auto">
          <a:xfrm>
            <a:off x="611505" y="5157470"/>
            <a:ext cx="800100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2400">
                <a:latin typeface="Arial" panose="020B0604020202020204" pitchFamily="34" charset="0"/>
                <a:ea typeface="微软雅黑" panose="020B0503020204020204" charset="-122"/>
              </a:rPr>
              <a:t>副反应的结果是使</a:t>
            </a:r>
            <a:r>
              <a:rPr lang="en-US" altLang="zh-CN" sz="2400">
                <a:latin typeface="Arial" panose="020B0604020202020204" pitchFamily="34" charset="0"/>
                <a:ea typeface="微软雅黑" panose="020B0503020204020204" charset="-122"/>
              </a:rPr>
              <a:t>Cl</a:t>
            </a:r>
            <a:r>
              <a:rPr lang="en-US" altLang="zh-CN" sz="2400" baseline="-25000">
                <a:latin typeface="Arial" panose="020B0604020202020204" pitchFamily="34" charset="0"/>
                <a:ea typeface="微软雅黑" panose="020B0503020204020204" charset="-122"/>
              </a:rPr>
              <a:t>2</a:t>
            </a:r>
            <a:r>
              <a:rPr lang="zh-CN" altLang="en-US" sz="2400">
                <a:latin typeface="Arial" panose="020B0604020202020204" pitchFamily="34" charset="0"/>
                <a:ea typeface="微软雅黑" panose="020B0503020204020204" charset="-122"/>
              </a:rPr>
              <a:t>和</a:t>
            </a:r>
            <a:r>
              <a:rPr lang="en-US" altLang="zh-CN" sz="2400">
                <a:latin typeface="Arial" panose="020B0604020202020204" pitchFamily="34" charset="0"/>
                <a:ea typeface="微软雅黑" panose="020B0503020204020204" charset="-122"/>
              </a:rPr>
              <a:t>NaOH</a:t>
            </a:r>
            <a:r>
              <a:rPr lang="zh-CN" altLang="en-US" sz="2400">
                <a:latin typeface="Arial" panose="020B0604020202020204" pitchFamily="34" charset="0"/>
                <a:ea typeface="微软雅黑" panose="020B0503020204020204" charset="-122"/>
              </a:rPr>
              <a:t>两种主要产品白白地消耗，既费电又降低电流效率，还使产品纯度下降，故在生产中要尽可能地抑制副反应发生。 </a:t>
            </a:r>
            <a:endParaRPr lang="zh-CN" altLang="en-US" sz="2400">
              <a:latin typeface="Arial" panose="020B0604020202020204" pitchFamily="34" charset="0"/>
              <a:ea typeface="微软雅黑" panose="020B0503020204020204" charset="-122"/>
            </a:endParaRPr>
          </a:p>
        </p:txBody>
      </p:sp>
      <p:sp>
        <p:nvSpPr>
          <p:cNvPr id="5" name="文本框 4"/>
          <p:cNvSpPr txBox="1"/>
          <p:nvPr/>
        </p:nvSpPr>
        <p:spPr>
          <a:xfrm>
            <a:off x="179705" y="260985"/>
            <a:ext cx="4572000" cy="460375"/>
          </a:xfrm>
          <a:prstGeom prst="rect">
            <a:avLst/>
          </a:prstGeom>
          <a:noFill/>
        </p:spPr>
        <p:txBody>
          <a:bodyPr wrap="square" rtlCol="0" anchor="t">
            <a:spAutoFit/>
          </a:bodyPr>
          <a:p>
            <a:pPr algn="l">
              <a:buClrTx/>
              <a:buSzTx/>
              <a:buFontTx/>
            </a:pPr>
            <a:r>
              <a:rPr lang="zh-CN" altLang="en-US" b="1">
                <a:solidFill>
                  <a:schemeClr val="accent2"/>
                </a:solidFill>
                <a:uFillTx/>
                <a:latin typeface="Arial" panose="020B0604020202020204" pitchFamily="34" charset="0"/>
                <a:ea typeface="微软雅黑" panose="020B0503020204020204" charset="-122"/>
              </a:rPr>
              <a:t>讨论3:可能的主要副反应是什么?</a:t>
            </a:r>
            <a:endParaRPr lang="zh-CN" altLang="en-US" b="1">
              <a:solidFill>
                <a:schemeClr val="accent2"/>
              </a:solidFill>
              <a:uFillTx/>
              <a:latin typeface="Arial" panose="020B0604020202020204" pitchFamily="34" charset="0"/>
              <a:ea typeface="微软雅黑" panose="020B0503020204020204" charset="-122"/>
            </a:endParaRPr>
          </a:p>
        </p:txBody>
      </p:sp>
      <p:pic>
        <p:nvPicPr>
          <p:cNvPr id="6" name="图片 5" descr="2.。。。"/>
          <p:cNvPicPr>
            <a:picLocks noChangeAspect="1"/>
          </p:cNvPicPr>
          <p:nvPr/>
        </p:nvPicPr>
        <p:blipFill>
          <a:blip r:embed="rId1"/>
          <a:stretch>
            <a:fillRect/>
          </a:stretch>
        </p:blipFill>
        <p:spPr>
          <a:xfrm>
            <a:off x="0" y="1196975"/>
            <a:ext cx="9144000" cy="36068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251460" y="217805"/>
            <a:ext cx="4572000" cy="521970"/>
          </a:xfrm>
          <a:prstGeom prst="rect">
            <a:avLst/>
          </a:prstGeom>
          <a:noFill/>
        </p:spPr>
        <p:txBody>
          <a:bodyPr wrap="square" rtlCol="0" anchor="t">
            <a:spAutoFit/>
          </a:bodyPr>
          <a:p>
            <a:pPr marL="457200" indent="-457200">
              <a:buClr>
                <a:srgbClr val="3333CC"/>
              </a:buClr>
              <a:buFont typeface="Wingdings" panose="05000000000000000000" charset="0"/>
              <a:buChar char="u"/>
            </a:pPr>
            <a:r>
              <a:rPr lang="zh-CN" altLang="en-US" sz="2800" b="1">
                <a:uFillTx/>
                <a:latin typeface="Arial" panose="020B0604020202020204" pitchFamily="34" charset="0"/>
                <a:ea typeface="微软雅黑" panose="020B0503020204020204" charset="-122"/>
                <a:sym typeface="+mn-ea"/>
              </a:rPr>
              <a:t>理论能耗与实际能耗</a:t>
            </a:r>
            <a:endParaRPr lang="zh-CN" altLang="en-US" sz="2800" b="1">
              <a:uFillTx/>
              <a:latin typeface="Arial" panose="020B0604020202020204" pitchFamily="34" charset="0"/>
              <a:ea typeface="微软雅黑" panose="020B0503020204020204" charset="-122"/>
              <a:sym typeface="+mn-ea"/>
            </a:endParaRPr>
          </a:p>
        </p:txBody>
      </p:sp>
      <p:pic>
        <p:nvPicPr>
          <p:cNvPr id="2" name="图片 1"/>
          <p:cNvPicPr>
            <a:picLocks noChangeAspect="1"/>
          </p:cNvPicPr>
          <p:nvPr/>
        </p:nvPicPr>
        <p:blipFill>
          <a:blip r:embed="rId1"/>
          <a:stretch>
            <a:fillRect/>
          </a:stretch>
        </p:blipFill>
        <p:spPr>
          <a:xfrm>
            <a:off x="0" y="1052830"/>
            <a:ext cx="9126855" cy="1768475"/>
          </a:xfrm>
          <a:prstGeom prst="rect">
            <a:avLst/>
          </a:prstGeom>
        </p:spPr>
      </p:pic>
      <p:sp>
        <p:nvSpPr>
          <p:cNvPr id="3" name="文本框 2"/>
          <p:cNvSpPr txBox="1"/>
          <p:nvPr/>
        </p:nvSpPr>
        <p:spPr>
          <a:xfrm>
            <a:off x="539750" y="3155950"/>
            <a:ext cx="6586855" cy="627380"/>
          </a:xfrm>
          <a:prstGeom prst="rect">
            <a:avLst/>
          </a:prstGeom>
          <a:noFill/>
        </p:spPr>
        <p:txBody>
          <a:bodyPr wrap="square" rtlCol="0" anchor="t">
            <a:noAutofit/>
          </a:bodyPr>
          <a:p>
            <a:pPr lvl="0" algn="l">
              <a:buClrTx/>
              <a:buSzTx/>
              <a:buFontTx/>
            </a:pPr>
            <a:r>
              <a:rPr lang="zh-CN" altLang="en-US" sz="2800" b="1">
                <a:solidFill>
                  <a:schemeClr val="accent2"/>
                </a:solidFill>
                <a:uFillTx/>
                <a:latin typeface="Arial" panose="020B0604020202020204" pitchFamily="34" charset="0"/>
                <a:ea typeface="微软雅黑" panose="020B0503020204020204" charset="-122"/>
                <a:sym typeface="+mn-ea"/>
              </a:rPr>
              <a:t>讨论4:理论分解电压和实际分解电压</a:t>
            </a:r>
            <a:r>
              <a:rPr lang="en-US" altLang="zh-CN" sz="2800" b="1">
                <a:solidFill>
                  <a:schemeClr val="accent2"/>
                </a:solidFill>
                <a:uFillTx/>
                <a:latin typeface="Arial" panose="020B0604020202020204" pitchFamily="34" charset="0"/>
                <a:ea typeface="微软雅黑" panose="020B0503020204020204" charset="-122"/>
                <a:sym typeface="+mn-ea"/>
              </a:rPr>
              <a:t> </a:t>
            </a:r>
            <a:endParaRPr lang="en-US" altLang="zh-CN" sz="2800" b="1">
              <a:solidFill>
                <a:schemeClr val="accent2"/>
              </a:solidFill>
              <a:uFillTx/>
              <a:latin typeface="Arial" panose="020B0604020202020204" pitchFamily="34" charset="0"/>
              <a:ea typeface="微软雅黑" panose="020B0503020204020204" charset="-122"/>
              <a:sym typeface="+mn-ea"/>
            </a:endParaRPr>
          </a:p>
        </p:txBody>
      </p:sp>
      <p:pic>
        <p:nvPicPr>
          <p:cNvPr id="4" name="图片 3"/>
          <p:cNvPicPr>
            <a:picLocks noChangeAspect="1"/>
          </p:cNvPicPr>
          <p:nvPr/>
        </p:nvPicPr>
        <p:blipFill>
          <a:blip r:embed="rId2"/>
          <a:stretch>
            <a:fillRect/>
          </a:stretch>
        </p:blipFill>
        <p:spPr>
          <a:xfrm>
            <a:off x="611505" y="4077335"/>
            <a:ext cx="8234045" cy="235458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838200" y="1143000"/>
            <a:ext cx="7772400" cy="4215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800" b="1">
                <a:latin typeface="Arial" panose="020B0604020202020204" pitchFamily="34" charset="0"/>
                <a:ea typeface="微软雅黑" panose="020B0503020204020204" charset="-122"/>
              </a:rPr>
              <a:t>         </a:t>
            </a:r>
            <a:r>
              <a:rPr lang="zh-CN" altLang="en-US" sz="2400" b="1">
                <a:latin typeface="Arial" panose="020B0604020202020204" pitchFamily="34" charset="0"/>
                <a:ea typeface="微软雅黑" panose="020B0503020204020204" charset="-122"/>
              </a:rPr>
              <a:t>阳极材料的选择，由于阴极室有氯气、次氯酸等存在，故要求阳极材料具有很高的耐腐蚀性，同时要有较低的氯超电势、较高的氧超电势及良好的导电性和机械加工性能。铂是理想的阳极材料，但价格昂贵，损耗大。也曾使用过磁铁矿电极，其耐腐蚀性好，但导电率低，性跪，不易加工。石墨电极用得最长，无论是导电件、机械加工性能都好，缺点是氯超电势高，而且有</a:t>
            </a:r>
            <a:r>
              <a:rPr lang="en-US" altLang="zh-CN" sz="2400" b="1">
                <a:latin typeface="Arial" panose="020B0604020202020204" pitchFamily="34" charset="0"/>
                <a:ea typeface="微软雅黑" panose="020B0503020204020204" charset="-122"/>
              </a:rPr>
              <a:t>OH</a:t>
            </a:r>
            <a:r>
              <a:rPr lang="en-US" altLang="zh-CN" sz="2400" b="1" baseline="30000">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放电析出氧，从而使石墨电极本身受氧化而损失</a:t>
            </a:r>
            <a:r>
              <a:rPr lang="en-US" altLang="zh-CN" sz="2400" b="1">
                <a:latin typeface="Arial" panose="020B0604020202020204" pitchFamily="34" charset="0"/>
                <a:ea typeface="微软雅黑" panose="020B0503020204020204" charset="-122"/>
              </a:rPr>
              <a:t>.20</a:t>
            </a:r>
            <a:r>
              <a:rPr lang="zh-CN" altLang="en-US" sz="2400" b="1">
                <a:latin typeface="Arial" panose="020B0604020202020204" pitchFamily="34" charset="0"/>
                <a:ea typeface="微软雅黑" panose="020B0503020204020204" charset="-122"/>
              </a:rPr>
              <a:t>世纪</a:t>
            </a:r>
            <a:r>
              <a:rPr lang="en-US" altLang="zh-CN" sz="2400" b="1">
                <a:latin typeface="Arial" panose="020B0604020202020204" pitchFamily="34" charset="0"/>
                <a:ea typeface="微软雅黑" panose="020B0503020204020204" charset="-122"/>
              </a:rPr>
              <a:t>60</a:t>
            </a:r>
            <a:r>
              <a:rPr lang="zh-CN" altLang="en-US" sz="2400" b="1">
                <a:latin typeface="Arial" panose="020B0604020202020204" pitchFamily="34" charset="0"/>
                <a:ea typeface="微软雅黑" panose="020B0503020204020204" charset="-122"/>
              </a:rPr>
              <a:t>年代后，研制出一种形稳阳极</a:t>
            </a:r>
            <a:r>
              <a:rPr lang="en-US" altLang="zh-CN" sz="2400" b="1">
                <a:latin typeface="Arial" panose="020B0604020202020204" pitchFamily="34" charset="0"/>
                <a:ea typeface="微软雅黑" panose="020B0503020204020204" charset="-122"/>
              </a:rPr>
              <a:t>(</a:t>
            </a:r>
            <a:r>
              <a:rPr lang="en-US" altLang="zh-CN" sz="2400" b="1">
                <a:solidFill>
                  <a:srgbClr val="FF3300"/>
                </a:solidFill>
                <a:latin typeface="Arial" panose="020B0604020202020204" pitchFamily="34" charset="0"/>
                <a:ea typeface="微软雅黑" panose="020B0503020204020204" charset="-122"/>
              </a:rPr>
              <a:t>DSA</a:t>
            </a:r>
            <a:r>
              <a:rPr lang="en-US" altLang="zh-CN" sz="2400" b="1">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，它</a:t>
            </a:r>
            <a:r>
              <a:rPr lang="zh-CN" altLang="en-US" sz="2400" b="1">
                <a:solidFill>
                  <a:srgbClr val="FF3300"/>
                </a:solidFill>
                <a:latin typeface="Arial" panose="020B0604020202020204" pitchFamily="34" charset="0"/>
                <a:ea typeface="微软雅黑" panose="020B0503020204020204" charset="-122"/>
              </a:rPr>
              <a:t>以钛为基底</a:t>
            </a:r>
            <a:r>
              <a:rPr lang="en-US" altLang="zh-CN" sz="2400" b="1">
                <a:solidFill>
                  <a:srgbClr val="FF3300"/>
                </a:solidFill>
                <a:latin typeface="Arial" panose="020B0604020202020204" pitchFamily="34" charset="0"/>
                <a:ea typeface="微软雅黑" panose="020B0503020204020204" charset="-122"/>
              </a:rPr>
              <a:t>.</a:t>
            </a:r>
            <a:r>
              <a:rPr lang="zh-CN" altLang="en-US" sz="2400" b="1">
                <a:solidFill>
                  <a:srgbClr val="FF3300"/>
                </a:solidFill>
                <a:latin typeface="Arial" panose="020B0604020202020204" pitchFamily="34" charset="0"/>
                <a:ea typeface="微软雅黑" panose="020B0503020204020204" charset="-122"/>
              </a:rPr>
              <a:t>涂镀</a:t>
            </a:r>
            <a:r>
              <a:rPr lang="en-US" altLang="zh-CN" sz="2400" b="1">
                <a:solidFill>
                  <a:srgbClr val="FF3300"/>
                </a:solidFill>
                <a:latin typeface="Arial" panose="020B0604020202020204" pitchFamily="34" charset="0"/>
                <a:ea typeface="微软雅黑" panose="020B0503020204020204" charset="-122"/>
              </a:rPr>
              <a:t>TlO</a:t>
            </a:r>
            <a:r>
              <a:rPr lang="en-US" altLang="zh-CN" sz="2400" b="1" baseline="-25000">
                <a:solidFill>
                  <a:srgbClr val="FF3300"/>
                </a:solidFill>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a:t>
            </a:r>
            <a:r>
              <a:rPr lang="en-US" altLang="zh-CN" sz="2400" b="1">
                <a:solidFill>
                  <a:srgbClr val="FF3300"/>
                </a:solidFill>
                <a:latin typeface="Arial" panose="020B0604020202020204" pitchFamily="34" charset="0"/>
                <a:ea typeface="微软雅黑" panose="020B0503020204020204" charset="-122"/>
              </a:rPr>
              <a:t>RuO</a:t>
            </a:r>
            <a:r>
              <a:rPr lang="en-US" altLang="zh-CN" sz="2400" b="1" baseline="-25000">
                <a:solidFill>
                  <a:srgbClr val="FF3300"/>
                </a:solidFill>
                <a:latin typeface="Arial" panose="020B0604020202020204" pitchFamily="34" charset="0"/>
                <a:ea typeface="微软雅黑" panose="020B0503020204020204" charset="-122"/>
              </a:rPr>
              <a:t>2</a:t>
            </a:r>
            <a:r>
              <a:rPr lang="zh-CN" altLang="en-US" sz="2400" b="1">
                <a:solidFill>
                  <a:srgbClr val="FF3300"/>
                </a:solidFill>
                <a:latin typeface="Arial" panose="020B0604020202020204" pitchFamily="34" charset="0"/>
                <a:ea typeface="微软雅黑" panose="020B0503020204020204" charset="-122"/>
              </a:rPr>
              <a:t>加催化剂</a:t>
            </a:r>
            <a:r>
              <a:rPr lang="en-US" altLang="zh-CN" sz="2400" b="1">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其最大特点是</a:t>
            </a:r>
            <a:r>
              <a:rPr lang="zh-CN" altLang="en-US" sz="2400" b="1">
                <a:solidFill>
                  <a:srgbClr val="FF3300"/>
                </a:solidFill>
                <a:latin typeface="Arial" panose="020B0604020202020204" pitchFamily="34" charset="0"/>
                <a:ea typeface="微软雅黑" panose="020B0503020204020204" charset="-122"/>
              </a:rPr>
              <a:t>耐腐蚀</a:t>
            </a:r>
            <a:r>
              <a:rPr lang="zh-CN" altLang="en-US" sz="2400" b="1">
                <a:latin typeface="Arial" panose="020B0604020202020204" pitchFamily="34" charset="0"/>
                <a:ea typeface="微软雅黑" panose="020B0503020204020204" charset="-122"/>
              </a:rPr>
              <a:t>，</a:t>
            </a:r>
            <a:r>
              <a:rPr lang="zh-CN" altLang="en-US" sz="2400" b="1">
                <a:solidFill>
                  <a:srgbClr val="FF3300"/>
                </a:solidFill>
                <a:latin typeface="Arial" panose="020B0604020202020204" pitchFamily="34" charset="0"/>
                <a:ea typeface="微软雅黑" panose="020B0503020204020204" charset="-122"/>
              </a:rPr>
              <a:t>尺寸稳定</a:t>
            </a:r>
            <a:r>
              <a:rPr lang="zh-CN" altLang="en-US" sz="2400" b="1">
                <a:latin typeface="Arial" panose="020B0604020202020204" pitchFamily="34" charset="0"/>
                <a:ea typeface="微软雅黑" panose="020B0503020204020204" charset="-122"/>
              </a:rPr>
              <a:t>，</a:t>
            </a:r>
            <a:r>
              <a:rPr lang="zh-CN" altLang="en-US" sz="2400" b="1">
                <a:solidFill>
                  <a:srgbClr val="FF3300"/>
                </a:solidFill>
                <a:latin typeface="Arial" panose="020B0604020202020204" pitchFamily="34" charset="0"/>
                <a:ea typeface="微软雅黑" panose="020B0503020204020204" charset="-122"/>
              </a:rPr>
              <a:t>寿命长</a:t>
            </a:r>
            <a:r>
              <a:rPr lang="zh-CN" altLang="en-US" sz="2400" b="1">
                <a:latin typeface="Arial" panose="020B0604020202020204" pitchFamily="34" charset="0"/>
                <a:ea typeface="微软雅黑" panose="020B0503020204020204" charset="-122"/>
              </a:rPr>
              <a:t>，</a:t>
            </a:r>
            <a:r>
              <a:rPr lang="zh-CN" altLang="en-US" sz="2400" b="1">
                <a:solidFill>
                  <a:srgbClr val="FF3300"/>
                </a:solidFill>
                <a:latin typeface="Arial" panose="020B0604020202020204" pitchFamily="34" charset="0"/>
                <a:ea typeface="微软雅黑" panose="020B0503020204020204" charset="-122"/>
              </a:rPr>
              <a:t>氯超电势很低</a:t>
            </a:r>
            <a:r>
              <a:rPr lang="zh-CN" altLang="en-US" sz="2400" b="1">
                <a:latin typeface="Arial" panose="020B0604020202020204" pitchFamily="34" charset="0"/>
                <a:ea typeface="微软雅黑" panose="020B0503020204020204" charset="-122"/>
              </a:rPr>
              <a:t>，而氧超电势却高．</a:t>
            </a:r>
            <a:endParaRPr lang="zh-CN" altLang="en-US" sz="2400" b="1">
              <a:latin typeface="Arial" panose="020B0604020202020204" pitchFamily="34" charset="0"/>
              <a:ea typeface="微软雅黑" panose="020B0503020204020204" charset="-122"/>
            </a:endParaRPr>
          </a:p>
        </p:txBody>
      </p:sp>
      <p:sp>
        <p:nvSpPr>
          <p:cNvPr id="16387" name="Text Box 3"/>
          <p:cNvSpPr txBox="1">
            <a:spLocks noChangeArrowheads="1"/>
          </p:cNvSpPr>
          <p:nvPr/>
        </p:nvSpPr>
        <p:spPr bwMode="auto">
          <a:xfrm>
            <a:off x="685800" y="457200"/>
            <a:ext cx="3581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ea typeface="微软雅黑" panose="020B0503020204020204" charset="-122"/>
              </a:rPr>
              <a:t>2.</a:t>
            </a:r>
            <a:r>
              <a:rPr lang="zh-CN" altLang="en-US" sz="2800" b="1">
                <a:ea typeface="微软雅黑" panose="020B0503020204020204" charset="-122"/>
              </a:rPr>
              <a:t>电极材料</a:t>
            </a:r>
            <a:endParaRPr lang="zh-CN" altLang="en-US" sz="2800" b="1">
              <a:ea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762000" y="990600"/>
            <a:ext cx="7696200" cy="4154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2400" b="1">
                <a:latin typeface="Arial" panose="020B0604020202020204" pitchFamily="34" charset="0"/>
                <a:ea typeface="微软雅黑" panose="020B0503020204020204" charset="-122"/>
              </a:rPr>
              <a:t>因而所得</a:t>
            </a:r>
            <a:r>
              <a:rPr lang="en-US" altLang="zh-CN" sz="2400" b="1">
                <a:latin typeface="Arial" panose="020B0604020202020204" pitchFamily="34" charset="0"/>
                <a:ea typeface="微软雅黑" panose="020B0503020204020204" charset="-122"/>
              </a:rPr>
              <a:t>C1</a:t>
            </a:r>
            <a:r>
              <a:rPr lang="en-US" altLang="zh-CN" sz="2400" b="1" baseline="-25000">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很纯，而且槽电压也较低，降低电能消耗达</a:t>
            </a:r>
            <a:r>
              <a:rPr lang="en-US" altLang="zh-CN" sz="2400" b="1">
                <a:latin typeface="Arial" panose="020B0604020202020204" pitchFamily="34" charset="0"/>
                <a:ea typeface="微软雅黑" panose="020B0503020204020204" charset="-122"/>
              </a:rPr>
              <a:t>10</a:t>
            </a:r>
            <a:r>
              <a:rPr lang="zh-CN" altLang="en-US" sz="2400" b="1">
                <a:latin typeface="Arial" panose="020B0604020202020204" pitchFamily="34" charset="0"/>
                <a:ea typeface="微软雅黑" panose="020B0503020204020204" charset="-122"/>
              </a:rPr>
              <a:t>％，提高设备生产能力达</a:t>
            </a:r>
            <a:r>
              <a:rPr lang="en-US" altLang="zh-CN" sz="2400" b="1">
                <a:latin typeface="Arial" panose="020B0604020202020204" pitchFamily="34" charset="0"/>
                <a:ea typeface="微软雅黑" panose="020B0503020204020204" charset="-122"/>
              </a:rPr>
              <a:t>50</a:t>
            </a:r>
            <a:r>
              <a:rPr lang="zh-CN" altLang="en-US" sz="2400" b="1">
                <a:latin typeface="Arial" panose="020B0604020202020204" pitchFamily="34" charset="0"/>
                <a:ea typeface="微软雅黑" panose="020B0503020204020204" charset="-122"/>
              </a:rPr>
              <a:t>％。 </a:t>
            </a:r>
            <a:endParaRPr lang="zh-CN" altLang="en-US" sz="2400" b="1">
              <a:latin typeface="Arial" panose="020B0604020202020204" pitchFamily="34" charset="0"/>
              <a:ea typeface="微软雅黑" panose="020B0503020204020204" charset="-122"/>
            </a:endParaRPr>
          </a:p>
          <a:p>
            <a:pPr algn="just">
              <a:spcBef>
                <a:spcPct val="50000"/>
              </a:spcBef>
            </a:pPr>
            <a:r>
              <a:rPr lang="zh-CN" altLang="en-US" sz="2400" b="1">
                <a:latin typeface="Arial" panose="020B0604020202020204" pitchFamily="34" charset="0"/>
                <a:ea typeface="微软雅黑" panose="020B0503020204020204" charset="-122"/>
              </a:rPr>
              <a:t>       </a:t>
            </a:r>
            <a:r>
              <a:rPr lang="zh-CN" altLang="en-US" sz="2400" b="1">
                <a:solidFill>
                  <a:srgbClr val="FF3300"/>
                </a:solidFill>
                <a:latin typeface="Arial" panose="020B0604020202020204" pitchFamily="34" charset="0"/>
                <a:ea typeface="微软雅黑" panose="020B0503020204020204" charset="-122"/>
              </a:rPr>
              <a:t>阴极材料一般部采用软钢</a:t>
            </a:r>
            <a:r>
              <a:rPr lang="zh-CN" altLang="en-US" sz="2400" b="1">
                <a:latin typeface="Arial" panose="020B0604020202020204" pitchFamily="34" charset="0"/>
                <a:ea typeface="微软雅黑" panose="020B0503020204020204" charset="-122"/>
              </a:rPr>
              <a:t>，上面穿孔或采用钢网阴极。如使用得当，寿命可超过两年。喷砂处理软钢使其表面粗糙，可降低超电势</a:t>
            </a:r>
            <a:r>
              <a:rPr lang="en-US" altLang="zh-CN" sz="2400" b="1">
                <a:latin typeface="Arial" panose="020B0604020202020204" pitchFamily="34" charset="0"/>
                <a:ea typeface="微软雅黑" panose="020B0503020204020204" charset="-122"/>
              </a:rPr>
              <a:t>100mv</a:t>
            </a:r>
            <a:r>
              <a:rPr lang="zh-CN" altLang="en-US" sz="2400" b="1">
                <a:latin typeface="Arial" panose="020B0604020202020204" pitchFamily="34" charset="0"/>
                <a:ea typeface="微软雅黑" panose="020B0503020204020204" charset="-122"/>
              </a:rPr>
              <a:t>。用各种方法在电极表面涂上活性镍合金，可使氢超电势降低到</a:t>
            </a:r>
            <a:r>
              <a:rPr lang="en-US" altLang="zh-CN" sz="2400" b="1">
                <a:latin typeface="Arial" panose="020B0604020202020204" pitchFamily="34" charset="0"/>
                <a:ea typeface="微软雅黑" panose="020B0503020204020204" charset="-122"/>
              </a:rPr>
              <a:t>150mv</a:t>
            </a:r>
            <a:r>
              <a:rPr lang="zh-CN" altLang="en-US" sz="2400" b="1">
                <a:latin typeface="Arial" panose="020B0604020202020204" pitchFamily="34" charset="0"/>
                <a:ea typeface="微软雅黑" panose="020B0503020204020204" charset="-122"/>
              </a:rPr>
              <a:t>左右</a:t>
            </a:r>
            <a:r>
              <a:rPr lang="en-US" altLang="zh-CN" sz="2400" b="1">
                <a:latin typeface="Arial" panose="020B0604020202020204" pitchFamily="34" charset="0"/>
                <a:ea typeface="微软雅黑" panose="020B0503020204020204" charset="-122"/>
              </a:rPr>
              <a:t>.</a:t>
            </a:r>
            <a:endParaRPr lang="en-US" altLang="zh-CN" sz="2400" b="1">
              <a:latin typeface="Arial" panose="020B0604020202020204" pitchFamily="34" charset="0"/>
              <a:ea typeface="微软雅黑" panose="020B0503020204020204" charset="-122"/>
            </a:endParaRPr>
          </a:p>
          <a:p>
            <a:pPr algn="just">
              <a:spcBef>
                <a:spcPct val="50000"/>
              </a:spcBef>
            </a:pPr>
            <a:r>
              <a:rPr lang="en-US" altLang="zh-CN" sz="2400" b="1">
                <a:latin typeface="Arial" panose="020B0604020202020204" pitchFamily="34" charset="0"/>
                <a:ea typeface="微软雅黑" panose="020B0503020204020204" charset="-122"/>
              </a:rPr>
              <a:t>       </a:t>
            </a:r>
            <a:r>
              <a:rPr lang="zh-CN" altLang="en-US" sz="2400" b="1">
                <a:latin typeface="Arial" panose="020B0604020202020204" pitchFamily="34" charset="0"/>
                <a:ea typeface="微软雅黑" panose="020B0503020204020204" charset="-122"/>
              </a:rPr>
              <a:t>电极的物理结构也很重要，常应用</a:t>
            </a:r>
            <a:r>
              <a:rPr lang="zh-CN" altLang="en-US" sz="2400" b="1">
                <a:solidFill>
                  <a:srgbClr val="FF3300"/>
                </a:solidFill>
                <a:latin typeface="Arial" panose="020B0604020202020204" pitchFamily="34" charset="0"/>
                <a:ea typeface="微软雅黑" panose="020B0503020204020204" charset="-122"/>
              </a:rPr>
              <a:t>扩张的金属网电极</a:t>
            </a:r>
            <a:r>
              <a:rPr lang="zh-CN" altLang="en-US" sz="2400" b="1">
                <a:latin typeface="Arial" panose="020B0604020202020204" pitchFamily="34" charset="0"/>
                <a:ea typeface="微软雅黑" panose="020B0503020204020204" charset="-122"/>
              </a:rPr>
              <a:t>或在</a:t>
            </a:r>
            <a:r>
              <a:rPr lang="zh-CN" altLang="en-US" sz="2400" b="1">
                <a:solidFill>
                  <a:srgbClr val="FF3300"/>
                </a:solidFill>
                <a:latin typeface="Arial" panose="020B0604020202020204" pitchFamily="34" charset="0"/>
                <a:ea typeface="微软雅黑" panose="020B0503020204020204" charset="-122"/>
              </a:rPr>
              <a:t>金属板上开通气缝</a:t>
            </a:r>
            <a:r>
              <a:rPr lang="zh-CN" altLang="en-US" sz="2400" b="1">
                <a:latin typeface="Arial" panose="020B0604020202020204" pitchFamily="34" charset="0"/>
                <a:ea typeface="微软雅黑" panose="020B0503020204020204" charset="-122"/>
              </a:rPr>
              <a:t>。使气体按规定方向迅速逸出。气流在溶液中的大量积聚，会减少导电溶液的体积，增加溶液的欧姆电位降损耗。 </a:t>
            </a:r>
            <a:endParaRPr lang="zh-CN" altLang="en-US" sz="2400" b="1">
              <a:latin typeface="Arial" panose="020B0604020202020204" pitchFamily="34" charset="0"/>
              <a:ea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屏幕截图 2025-11-19 030051"/>
          <p:cNvPicPr>
            <a:picLocks noChangeAspect="1"/>
          </p:cNvPicPr>
          <p:nvPr/>
        </p:nvPicPr>
        <p:blipFill>
          <a:blip r:embed="rId1"/>
          <a:stretch>
            <a:fillRect/>
          </a:stretch>
        </p:blipFill>
        <p:spPr>
          <a:xfrm>
            <a:off x="927100" y="0"/>
            <a:ext cx="72898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838200" y="457200"/>
            <a:ext cx="1905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ea typeface="微软雅黑" panose="020B0503020204020204" charset="-122"/>
              </a:rPr>
              <a:t>3.</a:t>
            </a:r>
            <a:r>
              <a:rPr lang="zh-CN" altLang="en-US" sz="2800" b="1">
                <a:ea typeface="微软雅黑" panose="020B0503020204020204" charset="-122"/>
              </a:rPr>
              <a:t>隔膜</a:t>
            </a:r>
            <a:endParaRPr lang="zh-CN" altLang="en-US" sz="2800" b="1">
              <a:ea typeface="微软雅黑" panose="020B0503020204020204" charset="-122"/>
            </a:endParaRPr>
          </a:p>
        </p:txBody>
      </p:sp>
      <p:sp>
        <p:nvSpPr>
          <p:cNvPr id="18435" name="Text Box 3"/>
          <p:cNvSpPr txBox="1">
            <a:spLocks noChangeArrowheads="1"/>
          </p:cNvSpPr>
          <p:nvPr/>
        </p:nvSpPr>
        <p:spPr bwMode="auto">
          <a:xfrm>
            <a:off x="990600" y="1219200"/>
            <a:ext cx="7543800" cy="489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400">
                <a:latin typeface="Arial" panose="020B0604020202020204" pitchFamily="34" charset="0"/>
                <a:ea typeface="微软雅黑" panose="020B0503020204020204" charset="-122"/>
              </a:rPr>
              <a:t>        </a:t>
            </a:r>
            <a:r>
              <a:rPr lang="zh-CN" altLang="en-US" sz="2400">
                <a:latin typeface="Arial" panose="020B0604020202020204" pitchFamily="34" charset="0"/>
                <a:ea typeface="微软雅黑" panose="020B0503020204020204" charset="-122"/>
              </a:rPr>
              <a:t>为防止</a:t>
            </a:r>
            <a:r>
              <a:rPr lang="en-US" altLang="zh-CN" sz="2400">
                <a:latin typeface="Arial" panose="020B0604020202020204" pitchFamily="34" charset="0"/>
                <a:ea typeface="微软雅黑" panose="020B0503020204020204" charset="-122"/>
              </a:rPr>
              <a:t>OH</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进入阳极室</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减少副反应</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通常在阳极和阴极之间设置隔膜</a:t>
            </a:r>
            <a:r>
              <a:rPr lang="en-US" altLang="zh-CN" sz="2400">
                <a:latin typeface="Arial" panose="020B0604020202020204" pitchFamily="34" charset="0"/>
                <a:ea typeface="微软雅黑" panose="020B0503020204020204" charset="-122"/>
              </a:rPr>
              <a:t>,</a:t>
            </a:r>
            <a:r>
              <a:rPr lang="zh-CN" altLang="en-US" sz="2400">
                <a:solidFill>
                  <a:srgbClr val="FF3300"/>
                </a:solidFill>
                <a:latin typeface="Arial" panose="020B0604020202020204" pitchFamily="34" charset="0"/>
                <a:ea typeface="微软雅黑" panose="020B0503020204020204" charset="-122"/>
              </a:rPr>
              <a:t>一般采用几毫米厚的石棉隔膜</a:t>
            </a:r>
            <a:r>
              <a:rPr lang="zh-CN" altLang="en-US" sz="2400">
                <a:latin typeface="Arial" panose="020B0604020202020204" pitchFamily="34" charset="0"/>
                <a:ea typeface="微软雅黑" panose="020B0503020204020204" charset="-122"/>
              </a:rPr>
              <a:t>、以减小电阻率、阻止两极的电解产物混合</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但离子可以通过</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食盐水从阳极室注入并以一定流速通过隔膜进入阴极室，以控制</a:t>
            </a:r>
            <a:r>
              <a:rPr lang="en-US" altLang="zh-CN" sz="2400">
                <a:latin typeface="Arial" panose="020B0604020202020204" pitchFamily="34" charset="0"/>
                <a:ea typeface="微软雅黑" panose="020B0503020204020204" charset="-122"/>
              </a:rPr>
              <a:t>OH</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进入阳极室。垂直隔膜式电解槽示意图见图</a:t>
            </a:r>
            <a:r>
              <a:rPr lang="en-US" altLang="zh-CN" sz="2400">
                <a:latin typeface="Arial" panose="020B0604020202020204" pitchFamily="34" charset="0"/>
                <a:ea typeface="微软雅黑" panose="020B0503020204020204" charset="-122"/>
              </a:rPr>
              <a:t>5.1</a:t>
            </a:r>
            <a:r>
              <a:rPr lang="zh-CN" altLang="en-US" sz="2400">
                <a:latin typeface="Arial" panose="020B0604020202020204" pitchFamily="34" charset="0"/>
                <a:ea typeface="微软雅黑" panose="020B0503020204020204" charset="-122"/>
              </a:rPr>
              <a:t>，隔膜法生产流程图见图</a:t>
            </a:r>
            <a:r>
              <a:rPr lang="en-US" altLang="zh-CN" sz="2400">
                <a:latin typeface="Arial" panose="020B0604020202020204" pitchFamily="34" charset="0"/>
                <a:ea typeface="微软雅黑" panose="020B0503020204020204" charset="-122"/>
              </a:rPr>
              <a:t>5.2.</a:t>
            </a:r>
            <a:endParaRPr lang="en-US" altLang="zh-CN" sz="2400">
              <a:latin typeface="Arial" panose="020B0604020202020204" pitchFamily="34" charset="0"/>
              <a:ea typeface="微软雅黑" panose="020B0503020204020204" charset="-122"/>
            </a:endParaRPr>
          </a:p>
          <a:p>
            <a:pPr algn="just">
              <a:spcBef>
                <a:spcPct val="50000"/>
              </a:spcBef>
            </a:pPr>
            <a:r>
              <a:rPr lang="zh-CN" altLang="en-US" sz="2400">
                <a:latin typeface="Arial" panose="020B0604020202020204" pitchFamily="34" charset="0"/>
                <a:ea typeface="微软雅黑" panose="020B0503020204020204" charset="-122"/>
              </a:rPr>
              <a:t>隔膜糟电解法是最早应用的食盐水电解法，成本低。</a:t>
            </a:r>
            <a:endParaRPr lang="zh-CN" altLang="en-US" sz="2400">
              <a:latin typeface="Arial" panose="020B0604020202020204" pitchFamily="34" charset="0"/>
              <a:ea typeface="微软雅黑" panose="020B0503020204020204" charset="-122"/>
            </a:endParaRPr>
          </a:p>
          <a:p>
            <a:pPr algn="just">
              <a:spcBef>
                <a:spcPct val="50000"/>
              </a:spcBef>
            </a:pPr>
            <a:r>
              <a:rPr lang="zh-CN" altLang="en-US" sz="2400">
                <a:latin typeface="Arial" panose="020B0604020202020204" pitchFamily="34" charset="0"/>
                <a:ea typeface="微软雅黑" panose="020B0503020204020204" charset="-122"/>
              </a:rPr>
              <a:t>隔膜糟电解法的缺点主要表现在：</a:t>
            </a:r>
            <a:r>
              <a:rPr lang="en-US" altLang="zh-CN" sz="2400">
                <a:latin typeface="Arial" panose="020B0604020202020204" pitchFamily="34" charset="0"/>
                <a:ea typeface="微软雅黑" panose="020B0503020204020204" charset="-122"/>
              </a:rPr>
              <a:t>(1)</a:t>
            </a:r>
            <a:r>
              <a:rPr lang="zh-CN" altLang="en-US" sz="2400">
                <a:latin typeface="Arial" panose="020B0604020202020204" pitchFamily="34" charset="0"/>
                <a:ea typeface="微软雅黑" panose="020B0503020204020204" charset="-122"/>
              </a:rPr>
              <a:t>所得碱液稀，约</a:t>
            </a:r>
            <a:r>
              <a:rPr lang="en-US" altLang="zh-CN" sz="2400">
                <a:latin typeface="Arial" panose="020B0604020202020204" pitchFamily="34" charset="0"/>
                <a:ea typeface="微软雅黑" panose="020B0503020204020204" charset="-122"/>
              </a:rPr>
              <a:t>10</a:t>
            </a:r>
            <a:r>
              <a:rPr lang="zh-CN" altLang="en-US" sz="2400">
                <a:latin typeface="Arial" panose="020B0604020202020204" pitchFamily="34" charset="0"/>
                <a:ea typeface="微软雅黑" panose="020B0503020204020204" charset="-122"/>
              </a:rPr>
              <a:t>％左右，需浓缩至 </a:t>
            </a:r>
            <a:r>
              <a:rPr lang="en-US" altLang="zh-CN" sz="2400">
                <a:latin typeface="Arial" panose="020B0604020202020204" pitchFamily="34" charset="0"/>
                <a:ea typeface="微软雅黑" panose="020B0503020204020204" charset="-122"/>
              </a:rPr>
              <a:t>50</a:t>
            </a:r>
            <a:r>
              <a:rPr lang="zh-CN" altLang="en-US" sz="2400">
                <a:latin typeface="Arial" panose="020B0604020202020204" pitchFamily="34" charset="0"/>
                <a:ea typeface="微软雅黑" panose="020B0503020204020204" charset="-122"/>
              </a:rPr>
              <a:t>％才就出售；</a:t>
            </a:r>
            <a:r>
              <a:rPr lang="en-US" altLang="zh-CN" sz="2400">
                <a:latin typeface="Arial" panose="020B0604020202020204" pitchFamily="34" charset="0"/>
                <a:ea typeface="微软雅黑" panose="020B0503020204020204" charset="-122"/>
              </a:rPr>
              <a:t>(2)</a:t>
            </a:r>
            <a:r>
              <a:rPr lang="zh-CN" altLang="en-US" sz="2400">
                <a:latin typeface="Arial" panose="020B0604020202020204" pitchFamily="34" charset="0"/>
                <a:ea typeface="微软雅黑" panose="020B0503020204020204" charset="-122"/>
              </a:rPr>
              <a:t>碱液含杂质</a:t>
            </a:r>
            <a:r>
              <a:rPr lang="en-US" altLang="zh-CN" sz="2400">
                <a:latin typeface="Arial" panose="020B0604020202020204" pitchFamily="34" charset="0"/>
                <a:ea typeface="微软雅黑" panose="020B0503020204020204" charset="-122"/>
              </a:rPr>
              <a:t>Cl</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高，经浓缩后约至</a:t>
            </a:r>
            <a:r>
              <a:rPr lang="en-US" altLang="zh-CN" sz="2400">
                <a:latin typeface="Arial" panose="020B0604020202020204" pitchFamily="34" charset="0"/>
                <a:ea typeface="微软雅黑" panose="020B0503020204020204" charset="-122"/>
              </a:rPr>
              <a:t>1</a:t>
            </a:r>
            <a:r>
              <a:rPr lang="zh-CN" altLang="en-US" sz="2400">
                <a:latin typeface="Arial" panose="020B0604020202020204" pitchFamily="34" charset="0"/>
                <a:ea typeface="微软雅黑" panose="020B0503020204020204" charset="-122"/>
              </a:rPr>
              <a:t>％左右；</a:t>
            </a:r>
            <a:r>
              <a:rPr lang="en-US" altLang="zh-CN" sz="2400">
                <a:latin typeface="Arial" panose="020B0604020202020204" pitchFamily="34" charset="0"/>
                <a:ea typeface="微软雅黑" panose="020B0503020204020204" charset="-122"/>
              </a:rPr>
              <a:t>(3)</a:t>
            </a:r>
            <a:r>
              <a:rPr lang="zh-CN" altLang="en-US" sz="2400">
                <a:latin typeface="Arial" panose="020B0604020202020204" pitchFamily="34" charset="0"/>
                <a:ea typeface="微软雅黑" panose="020B0503020204020204" charset="-122"/>
              </a:rPr>
              <a:t>电解槽电阻高，电 流密度低，约</a:t>
            </a:r>
            <a:r>
              <a:rPr lang="en-US" altLang="zh-CN" sz="2400">
                <a:latin typeface="Arial" panose="020B0604020202020204" pitchFamily="34" charset="0"/>
                <a:ea typeface="微软雅黑" panose="020B0503020204020204" charset="-122"/>
              </a:rPr>
              <a:t>0.2A·cm</a:t>
            </a:r>
            <a:r>
              <a:rPr lang="en-US" altLang="zh-CN" sz="2400" baseline="30000">
                <a:latin typeface="Arial" panose="020B0604020202020204" pitchFamily="34" charset="0"/>
                <a:ea typeface="微软雅黑" panose="020B0503020204020204" charset="-122"/>
              </a:rPr>
              <a:t>-2</a:t>
            </a:r>
            <a:r>
              <a:rPr lang="zh-CN" altLang="en-US" sz="2400">
                <a:latin typeface="Arial" panose="020B0604020202020204" pitchFamily="34" charset="0"/>
                <a:ea typeface="微软雅黑" panose="020B0503020204020204" charset="-122"/>
              </a:rPr>
              <a:t>；</a:t>
            </a:r>
            <a:r>
              <a:rPr lang="en-US" altLang="zh-CN" sz="2400">
                <a:latin typeface="Arial" panose="020B0604020202020204" pitchFamily="34" charset="0"/>
                <a:ea typeface="微软雅黑" panose="020B0503020204020204" charset="-122"/>
              </a:rPr>
              <a:t>(4)</a:t>
            </a:r>
            <a:r>
              <a:rPr lang="zh-CN" altLang="en-US" sz="2400">
                <a:latin typeface="Arial" panose="020B0604020202020204" pitchFamily="34" charset="0"/>
                <a:ea typeface="微软雅黑" panose="020B0503020204020204" charset="-122"/>
              </a:rPr>
              <a:t>石棉隔膜寿命短，常只有几个月至一年左右，因此常需更换。 </a:t>
            </a:r>
            <a:endParaRPr lang="zh-CN" altLang="en-US" sz="2400">
              <a:latin typeface="Arial" panose="020B0604020202020204" pitchFamily="34" charset="0"/>
              <a:ea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2095" y="1484630"/>
            <a:ext cx="796290" cy="2676525"/>
          </a:xfrm>
          <a:prstGeom prst="rect">
            <a:avLst/>
          </a:prstGeom>
          <a:noFill/>
        </p:spPr>
        <p:txBody>
          <a:bodyPr wrap="square" rtlCol="0" anchor="t">
            <a:spAutoFit/>
          </a:bodyPr>
          <a:p>
            <a:r>
              <a:rPr lang="zh-CN" altLang="en-US" sz="2400">
                <a:latin typeface="Arial" panose="020B0604020202020204" pitchFamily="34" charset="0"/>
                <a:ea typeface="微软雅黑" panose="020B0503020204020204" charset="-122"/>
                <a:cs typeface="微软雅黑" panose="020B0503020204020204" charset="-122"/>
              </a:rPr>
              <a:t>图</a:t>
            </a:r>
            <a:r>
              <a:rPr lang="en-US" altLang="zh-CN" sz="2400">
                <a:latin typeface="Arial" panose="020B0604020202020204" pitchFamily="34" charset="0"/>
                <a:ea typeface="微软雅黑" panose="020B0503020204020204" charset="-122"/>
                <a:cs typeface="微软雅黑" panose="020B0503020204020204" charset="-122"/>
              </a:rPr>
              <a:t>5-2 </a:t>
            </a:r>
            <a:r>
              <a:rPr lang="zh-CN" altLang="en-US" sz="2400">
                <a:latin typeface="Arial" panose="020B0604020202020204" pitchFamily="34" charset="0"/>
                <a:ea typeface="微软雅黑" panose="020B0503020204020204" charset="-122"/>
                <a:cs typeface="微软雅黑" panose="020B0503020204020204" charset="-122"/>
              </a:rPr>
              <a:t>隔膜法生产的工艺流程图</a:t>
            </a:r>
            <a:endParaRPr lang="zh-CN" altLang="en-US" sz="2400">
              <a:latin typeface="Arial" panose="020B0604020202020204" pitchFamily="34" charset="0"/>
              <a:ea typeface="微软雅黑" panose="020B0503020204020204" charset="-122"/>
              <a:cs typeface="微软雅黑" panose="020B0503020204020204" charset="-122"/>
            </a:endParaRPr>
          </a:p>
        </p:txBody>
      </p:sp>
      <p:pic>
        <p:nvPicPr>
          <p:cNvPr id="3" name="图片 2" descr="屏幕截图 2025-11-19 030231"/>
          <p:cNvPicPr>
            <a:picLocks noChangeAspect="1"/>
          </p:cNvPicPr>
          <p:nvPr/>
        </p:nvPicPr>
        <p:blipFill>
          <a:blip r:embed="rId1"/>
          <a:stretch>
            <a:fillRect/>
          </a:stretch>
        </p:blipFill>
        <p:spPr>
          <a:xfrm>
            <a:off x="1475740" y="0"/>
            <a:ext cx="725487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39115" y="1484630"/>
            <a:ext cx="8227060" cy="381762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600200" y="381000"/>
            <a:ext cx="5181600" cy="609600"/>
          </a:xfrm>
        </p:spPr>
        <p:txBody>
          <a:bodyPr/>
          <a:lstStyle/>
          <a:p>
            <a:r>
              <a:rPr lang="en-US" altLang="zh-CN" sz="3200" b="1">
                <a:latin typeface="Arial Unicode MS"/>
              </a:rPr>
              <a:t>5.2.2     </a:t>
            </a:r>
            <a:r>
              <a:rPr lang="zh-CN" altLang="en-US" sz="3200" b="1">
                <a:latin typeface="Arial Unicode MS"/>
              </a:rPr>
              <a:t>汞槽电解法</a:t>
            </a:r>
            <a:endParaRPr lang="zh-CN" altLang="en-US" sz="3200" b="1">
              <a:latin typeface="Arial Unicode MS"/>
            </a:endParaRPr>
          </a:p>
        </p:txBody>
      </p:sp>
      <p:sp>
        <p:nvSpPr>
          <p:cNvPr id="21507" name="Text Box 3"/>
          <p:cNvSpPr txBox="1">
            <a:spLocks noChangeArrowheads="1"/>
          </p:cNvSpPr>
          <p:nvPr/>
        </p:nvSpPr>
        <p:spPr bwMode="auto">
          <a:xfrm>
            <a:off x="1066800" y="1219200"/>
            <a:ext cx="4953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汞槽阳极用石墨或</a:t>
            </a:r>
            <a:r>
              <a:rPr lang="en-US" altLang="zh-CN" sz="2400" b="1">
                <a:latin typeface="Arial" panose="020B0604020202020204" pitchFamily="34" charset="0"/>
                <a:ea typeface="微软雅黑" panose="020B0503020204020204" charset="-122"/>
              </a:rPr>
              <a:t>DSA</a:t>
            </a:r>
            <a:r>
              <a:rPr lang="zh-CN" altLang="en-US" sz="2400" b="1">
                <a:latin typeface="Arial" panose="020B0604020202020204" pitchFamily="34" charset="0"/>
                <a:ea typeface="微软雅黑" panose="020B0503020204020204" charset="-122"/>
              </a:rPr>
              <a:t>，故反应为</a:t>
            </a:r>
            <a:endParaRPr lang="zh-CN" altLang="en-US" sz="2400" b="1">
              <a:latin typeface="Arial" panose="020B0604020202020204" pitchFamily="34" charset="0"/>
              <a:ea typeface="微软雅黑" panose="020B0503020204020204" charset="-122"/>
            </a:endParaRPr>
          </a:p>
        </p:txBody>
      </p:sp>
      <p:sp>
        <p:nvSpPr>
          <p:cNvPr id="21508" name="Text Box 4"/>
          <p:cNvSpPr txBox="1">
            <a:spLocks noChangeArrowheads="1"/>
          </p:cNvSpPr>
          <p:nvPr/>
        </p:nvSpPr>
        <p:spPr bwMode="auto">
          <a:xfrm>
            <a:off x="762000" y="2514600"/>
            <a:ext cx="769620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2400" b="1">
                <a:latin typeface="Arial" panose="020B0604020202020204" pitchFamily="34" charset="0"/>
                <a:ea typeface="微软雅黑" panose="020B0503020204020204" charset="-122"/>
              </a:rPr>
              <a:t>阴极用汞，由于氢在汞上有很高的超电势，放</a:t>
            </a:r>
            <a:r>
              <a:rPr lang="en-US" altLang="zh-CN" sz="2400" b="1">
                <a:latin typeface="Arial" panose="020B0604020202020204" pitchFamily="34" charset="0"/>
                <a:ea typeface="微软雅黑" panose="020B0503020204020204" charset="-122"/>
              </a:rPr>
              <a:t>H</a:t>
            </a:r>
            <a:r>
              <a:rPr lang="en-US" altLang="zh-CN" sz="2400" b="1" baseline="30000">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不易在阴极上放电，</a:t>
            </a:r>
            <a:r>
              <a:rPr lang="zh-CN" altLang="en-US" sz="2400" b="1">
                <a:solidFill>
                  <a:srgbClr val="FF3300"/>
                </a:solidFill>
                <a:latin typeface="Arial" panose="020B0604020202020204" pitchFamily="34" charset="0"/>
                <a:ea typeface="微软雅黑" panose="020B0503020204020204" charset="-122"/>
              </a:rPr>
              <a:t>而</a:t>
            </a:r>
            <a:r>
              <a:rPr lang="en-US" altLang="zh-CN" sz="2400" b="1">
                <a:solidFill>
                  <a:srgbClr val="FF3300"/>
                </a:solidFill>
                <a:latin typeface="Arial" panose="020B0604020202020204" pitchFamily="34" charset="0"/>
                <a:ea typeface="微软雅黑" panose="020B0503020204020204" charset="-122"/>
              </a:rPr>
              <a:t>Na</a:t>
            </a:r>
            <a:r>
              <a:rPr lang="zh-CN" altLang="en-US" sz="2400" b="1">
                <a:solidFill>
                  <a:srgbClr val="FF3300"/>
                </a:solidFill>
                <a:latin typeface="Arial" panose="020B0604020202020204" pitchFamily="34" charset="0"/>
                <a:ea typeface="微软雅黑" panose="020B0503020204020204" charset="-122"/>
              </a:rPr>
              <a:t>可与汞生成汞齐</a:t>
            </a:r>
            <a:r>
              <a:rPr lang="zh-CN" altLang="en-US" sz="2400" b="1">
                <a:latin typeface="Arial" panose="020B0604020202020204" pitchFamily="34" charset="0"/>
                <a:ea typeface="微软雅黑" panose="020B0503020204020204" charset="-122"/>
              </a:rPr>
              <a:t>，因而降低了</a:t>
            </a:r>
            <a:r>
              <a:rPr lang="en-US" altLang="zh-CN" sz="2400" b="1">
                <a:latin typeface="Arial" panose="020B0604020202020204" pitchFamily="34" charset="0"/>
                <a:ea typeface="微软雅黑" panose="020B0503020204020204" charset="-122"/>
              </a:rPr>
              <a:t>Na</a:t>
            </a:r>
            <a:r>
              <a:rPr lang="en-US" altLang="zh-CN" sz="2400" b="1" baseline="30000">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的析出电位，使其可以在汞阴极上析出，反应为：</a:t>
            </a:r>
            <a:endParaRPr lang="zh-CN" altLang="en-US" sz="2400" b="1">
              <a:latin typeface="Arial" panose="020B0604020202020204" pitchFamily="34" charset="0"/>
              <a:ea typeface="微软雅黑" panose="020B0503020204020204" charset="-122"/>
            </a:endParaRPr>
          </a:p>
        </p:txBody>
      </p:sp>
      <p:sp>
        <p:nvSpPr>
          <p:cNvPr id="21509" name="Text Box 5"/>
          <p:cNvSpPr txBox="1">
            <a:spLocks noChangeArrowheads="1"/>
          </p:cNvSpPr>
          <p:nvPr/>
        </p:nvSpPr>
        <p:spPr bwMode="auto">
          <a:xfrm>
            <a:off x="838200" y="4800600"/>
            <a:ext cx="57912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电解槽的总反应为：</a:t>
            </a:r>
            <a:endParaRPr lang="zh-CN" altLang="en-US" sz="2400" b="1">
              <a:latin typeface="Arial" panose="020B0604020202020204" pitchFamily="34" charset="0"/>
              <a:ea typeface="微软雅黑" panose="020B0503020204020204" charset="-122"/>
            </a:endParaRPr>
          </a:p>
        </p:txBody>
      </p:sp>
      <p:graphicFrame>
        <p:nvGraphicFramePr>
          <p:cNvPr id="21510" name="Object 6"/>
          <p:cNvGraphicFramePr>
            <a:graphicFrameLocks noChangeAspect="1"/>
          </p:cNvGraphicFramePr>
          <p:nvPr/>
        </p:nvGraphicFramePr>
        <p:xfrm>
          <a:off x="2209800" y="1600200"/>
          <a:ext cx="4038600" cy="893763"/>
        </p:xfrm>
        <a:graphic>
          <a:graphicData uri="http://schemas.openxmlformats.org/presentationml/2006/ole">
            <mc:AlternateContent xmlns:mc="http://schemas.openxmlformats.org/markup-compatibility/2006">
              <mc:Choice xmlns:v="urn:schemas-microsoft-com:vml" Requires="v">
                <p:oleObj spid="_x0000_s2" name="Equation" r:id="rId1" imgW="1320165" imgH="292100" progId="Equation.3">
                  <p:embed/>
                </p:oleObj>
              </mc:Choice>
              <mc:Fallback>
                <p:oleObj name="Equation" r:id="rId1" imgW="1320165" imgH="2921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00200"/>
                        <a:ext cx="4038600" cy="893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1" name="Object 7"/>
          <p:cNvGraphicFramePr>
            <a:graphicFrameLocks noChangeAspect="1"/>
          </p:cNvGraphicFramePr>
          <p:nvPr/>
        </p:nvGraphicFramePr>
        <p:xfrm>
          <a:off x="1447800" y="3886200"/>
          <a:ext cx="6629400" cy="687388"/>
        </p:xfrm>
        <a:graphic>
          <a:graphicData uri="http://schemas.openxmlformats.org/presentationml/2006/ole">
            <mc:AlternateContent xmlns:mc="http://schemas.openxmlformats.org/markup-compatibility/2006">
              <mc:Choice xmlns:v="urn:schemas-microsoft-com:vml" Requires="v">
                <p:oleObj spid="_x0000_s3" name="Equation" r:id="rId3" imgW="1955800" imgH="203200" progId="Equation.3">
                  <p:embed/>
                </p:oleObj>
              </mc:Choice>
              <mc:Fallback>
                <p:oleObj name="Equation" r:id="rId3" imgW="1955800" imgH="2032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3886200"/>
                        <a:ext cx="6629400"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2" name="Object 8"/>
          <p:cNvGraphicFramePr>
            <a:graphicFrameLocks noChangeAspect="1"/>
          </p:cNvGraphicFramePr>
          <p:nvPr/>
        </p:nvGraphicFramePr>
        <p:xfrm>
          <a:off x="1524000" y="5334000"/>
          <a:ext cx="5410200" cy="857250"/>
        </p:xfrm>
        <a:graphic>
          <a:graphicData uri="http://schemas.openxmlformats.org/presentationml/2006/ole">
            <mc:AlternateContent xmlns:mc="http://schemas.openxmlformats.org/markup-compatibility/2006">
              <mc:Choice xmlns:v="urn:schemas-microsoft-com:vml" Requires="v">
                <p:oleObj spid="_x0000_s4" name="Equation" r:id="rId5" imgW="1841500" imgH="292100" progId="Equation.3">
                  <p:embed/>
                </p:oleObj>
              </mc:Choice>
              <mc:Fallback>
                <p:oleObj name="Equation" r:id="rId5" imgW="1841500" imgH="2921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5334000"/>
                        <a:ext cx="5410200"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609600" y="381000"/>
            <a:ext cx="800100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汞齐的浓度约为</a:t>
            </a:r>
            <a:r>
              <a:rPr lang="en-US" altLang="zh-CN" sz="2400" b="1">
                <a:latin typeface="Arial" panose="020B0604020202020204" pitchFamily="34" charset="0"/>
                <a:ea typeface="微软雅黑" panose="020B0503020204020204" charset="-122"/>
              </a:rPr>
              <a:t>0.25</a:t>
            </a:r>
            <a:r>
              <a:rPr lang="zh-CN" altLang="en-US" sz="2400" b="1">
                <a:latin typeface="Arial" panose="020B0604020202020204" pitchFamily="34" charset="0"/>
                <a:ea typeface="微软雅黑" panose="020B0503020204020204" charset="-122"/>
              </a:rPr>
              <a:t>％一</a:t>
            </a:r>
            <a:r>
              <a:rPr lang="en-US" altLang="zh-CN" sz="2400" b="1">
                <a:latin typeface="Arial" panose="020B0604020202020204" pitchFamily="34" charset="0"/>
                <a:ea typeface="微软雅黑" panose="020B0503020204020204" charset="-122"/>
              </a:rPr>
              <a:t>0.5</a:t>
            </a: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不能大于</a:t>
            </a:r>
            <a:r>
              <a:rPr lang="en-US" altLang="zh-CN" sz="2400" b="1">
                <a:latin typeface="Arial" panose="020B0604020202020204" pitchFamily="34" charset="0"/>
                <a:ea typeface="微软雅黑" panose="020B0503020204020204" charset="-122"/>
              </a:rPr>
              <a:t>0.7</a:t>
            </a:r>
            <a:r>
              <a:rPr lang="zh-CN" altLang="en-US" sz="2400" b="1">
                <a:latin typeface="Arial" panose="020B0604020202020204" pitchFamily="34" charset="0"/>
                <a:ea typeface="微软雅黑" panose="020B0503020204020204" charset="-122"/>
              </a:rPr>
              <a:t>％，否则形成固相，不利于电解操 作。生成的钠汞齐靠重力自动进入解汞器，加水分解，温度控制在</a:t>
            </a:r>
            <a:r>
              <a:rPr lang="en-US" altLang="zh-CN" sz="2400" b="1">
                <a:latin typeface="Arial" panose="020B0604020202020204" pitchFamily="34" charset="0"/>
                <a:ea typeface="微软雅黑" panose="020B0503020204020204" charset="-122"/>
              </a:rPr>
              <a:t>80</a:t>
            </a:r>
            <a:r>
              <a:rPr lang="zh-CN" altLang="en-US" sz="2400" b="1">
                <a:latin typeface="Arial" panose="020B0604020202020204" pitchFamily="34" charset="0"/>
                <a:ea typeface="微软雅黑" panose="020B0503020204020204" charset="-122"/>
              </a:rPr>
              <a:t>一</a:t>
            </a:r>
            <a:r>
              <a:rPr lang="en-US" altLang="zh-CN" sz="2400" b="1">
                <a:latin typeface="Arial" panose="020B0604020202020204" pitchFamily="34" charset="0"/>
                <a:ea typeface="微软雅黑" panose="020B0503020204020204" charset="-122"/>
              </a:rPr>
              <a:t>90℃. </a:t>
            </a:r>
            <a:endParaRPr lang="en-US" altLang="zh-CN" sz="2400" b="1">
              <a:latin typeface="Arial" panose="020B0604020202020204" pitchFamily="34" charset="0"/>
              <a:ea typeface="微软雅黑" panose="020B0503020204020204" charset="-122"/>
            </a:endParaRPr>
          </a:p>
        </p:txBody>
      </p:sp>
      <p:sp>
        <p:nvSpPr>
          <p:cNvPr id="22531" name="Text Box 3"/>
          <p:cNvSpPr txBox="1">
            <a:spLocks noChangeArrowheads="1"/>
          </p:cNvSpPr>
          <p:nvPr/>
        </p:nvSpPr>
        <p:spPr bwMode="auto">
          <a:xfrm>
            <a:off x="762000" y="4343400"/>
            <a:ext cx="784860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它们是腐蚀性电化学反应，大量放热</a:t>
            </a:r>
            <a:r>
              <a:rPr lang="en-US" altLang="zh-CN" sz="2400" b="1">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其电能也未加以利用。</a:t>
            </a:r>
            <a:r>
              <a:rPr lang="zh-CN" altLang="en-US" sz="2400" b="1">
                <a:solidFill>
                  <a:srgbClr val="FF3300"/>
                </a:solidFill>
                <a:latin typeface="Arial" panose="020B0604020202020204" pitchFamily="34" charset="0"/>
                <a:ea typeface="微软雅黑" panose="020B0503020204020204" charset="-122"/>
              </a:rPr>
              <a:t>汞槽法电解的最终产物还是</a:t>
            </a:r>
            <a:r>
              <a:rPr lang="en-US" altLang="zh-CN" sz="2400" b="1">
                <a:solidFill>
                  <a:srgbClr val="FF3300"/>
                </a:solidFill>
                <a:latin typeface="Arial" panose="020B0604020202020204" pitchFamily="34" charset="0"/>
                <a:ea typeface="微软雅黑" panose="020B0503020204020204" charset="-122"/>
              </a:rPr>
              <a:t>Cl</a:t>
            </a:r>
            <a:r>
              <a:rPr lang="en-US" altLang="zh-CN" sz="2400" b="1" baseline="-25000">
                <a:solidFill>
                  <a:srgbClr val="FF3300"/>
                </a:solidFill>
                <a:latin typeface="Arial" panose="020B0604020202020204" pitchFamily="34" charset="0"/>
                <a:ea typeface="微软雅黑" panose="020B0503020204020204" charset="-122"/>
              </a:rPr>
              <a:t>2</a:t>
            </a:r>
            <a:r>
              <a:rPr lang="zh-CN" altLang="en-US" sz="2400" b="1">
                <a:solidFill>
                  <a:srgbClr val="FF3300"/>
                </a:solidFill>
                <a:latin typeface="Arial" panose="020B0604020202020204" pitchFamily="34" charset="0"/>
                <a:ea typeface="微软雅黑" panose="020B0503020204020204" charset="-122"/>
              </a:rPr>
              <a:t>、</a:t>
            </a:r>
            <a:r>
              <a:rPr lang="en-US" altLang="zh-CN" sz="2400" b="1">
                <a:solidFill>
                  <a:srgbClr val="FF3300"/>
                </a:solidFill>
                <a:latin typeface="Arial" panose="020B0604020202020204" pitchFamily="34" charset="0"/>
                <a:ea typeface="微软雅黑" panose="020B0503020204020204" charset="-122"/>
              </a:rPr>
              <a:t>H</a:t>
            </a:r>
            <a:r>
              <a:rPr lang="en-US" altLang="zh-CN" sz="2400" b="1" baseline="-25000">
                <a:solidFill>
                  <a:srgbClr val="FF3300"/>
                </a:solidFill>
                <a:latin typeface="Arial" panose="020B0604020202020204" pitchFamily="34" charset="0"/>
                <a:ea typeface="微软雅黑" panose="020B0503020204020204" charset="-122"/>
              </a:rPr>
              <a:t>2</a:t>
            </a:r>
            <a:r>
              <a:rPr lang="zh-CN" altLang="en-US" sz="2400" b="1">
                <a:solidFill>
                  <a:srgbClr val="FF3300"/>
                </a:solidFill>
                <a:latin typeface="Arial" panose="020B0604020202020204" pitchFamily="34" charset="0"/>
                <a:ea typeface="微软雅黑" panose="020B0503020204020204" charset="-122"/>
              </a:rPr>
              <a:t>、</a:t>
            </a:r>
            <a:r>
              <a:rPr lang="en-US" altLang="zh-CN" sz="2400" b="1">
                <a:solidFill>
                  <a:srgbClr val="FF3300"/>
                </a:solidFill>
                <a:latin typeface="Arial" panose="020B0604020202020204" pitchFamily="34" charset="0"/>
                <a:ea typeface="微软雅黑" panose="020B0503020204020204" charset="-122"/>
              </a:rPr>
              <a:t>NaOH,</a:t>
            </a:r>
            <a:r>
              <a:rPr lang="zh-CN" altLang="en-US" sz="2400" b="1">
                <a:solidFill>
                  <a:srgbClr val="FF3300"/>
                </a:solidFill>
                <a:latin typeface="Arial" panose="020B0604020202020204" pitchFamily="34" charset="0"/>
                <a:ea typeface="微软雅黑" panose="020B0503020204020204" charset="-122"/>
              </a:rPr>
              <a:t>但纯度大大提高。 </a:t>
            </a:r>
            <a:endParaRPr lang="zh-CN" altLang="en-US" sz="2400" b="1">
              <a:solidFill>
                <a:srgbClr val="FF3300"/>
              </a:solidFill>
              <a:latin typeface="Arial" panose="020B0604020202020204" pitchFamily="34" charset="0"/>
              <a:ea typeface="微软雅黑" panose="020B0503020204020204" charset="-122"/>
            </a:endParaRPr>
          </a:p>
        </p:txBody>
      </p:sp>
      <p:graphicFrame>
        <p:nvGraphicFramePr>
          <p:cNvPr id="22532" name="Object 4"/>
          <p:cNvGraphicFramePr>
            <a:graphicFrameLocks noChangeAspect="1"/>
          </p:cNvGraphicFramePr>
          <p:nvPr/>
        </p:nvGraphicFramePr>
        <p:xfrm>
          <a:off x="2209800" y="1447800"/>
          <a:ext cx="5029200" cy="869950"/>
        </p:xfrm>
        <a:graphic>
          <a:graphicData uri="http://schemas.openxmlformats.org/presentationml/2006/ole">
            <mc:AlternateContent xmlns:mc="http://schemas.openxmlformats.org/markup-compatibility/2006">
              <mc:Choice xmlns:v="urn:schemas-microsoft-com:vml" Requires="v">
                <p:oleObj spid="_x0000_s2" name="Equation" r:id="rId1" imgW="1688465" imgH="292100" progId="Equation.3">
                  <p:embed/>
                </p:oleObj>
              </mc:Choice>
              <mc:Fallback>
                <p:oleObj name="Equation" r:id="rId1" imgW="1688465" imgH="2921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447800"/>
                        <a:ext cx="5029200"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33" name="Text Box 5"/>
          <p:cNvSpPr txBox="1">
            <a:spLocks noChangeArrowheads="1"/>
          </p:cNvSpPr>
          <p:nvPr/>
        </p:nvSpPr>
        <p:spPr bwMode="auto">
          <a:xfrm>
            <a:off x="685800" y="2209800"/>
            <a:ext cx="79248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在解汞器中加入</a:t>
            </a:r>
            <a:r>
              <a:rPr lang="en-US" altLang="zh-CN" sz="2400" b="1">
                <a:latin typeface="Arial" panose="020B0604020202020204" pitchFamily="34" charset="0"/>
                <a:ea typeface="微软雅黑" panose="020B0503020204020204" charset="-122"/>
              </a:rPr>
              <a:t>Nl</a:t>
            </a: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Fe</a:t>
            </a:r>
            <a:r>
              <a:rPr lang="zh-CN" altLang="en-US" sz="2400" b="1">
                <a:latin typeface="Arial" panose="020B0604020202020204" pitchFamily="34" charset="0"/>
                <a:ea typeface="微软雅黑" panose="020B0503020204020204" charset="-122"/>
              </a:rPr>
              <a:t>等石墨小球作为催化剂能加速汞齐分解，实际是电化学 机理分解； </a:t>
            </a:r>
            <a:endParaRPr lang="zh-CN" altLang="en-US" sz="2400" b="1">
              <a:latin typeface="Arial" panose="020B0604020202020204" pitchFamily="34" charset="0"/>
              <a:ea typeface="微软雅黑" panose="020B0503020204020204" charset="-122"/>
            </a:endParaRPr>
          </a:p>
        </p:txBody>
      </p:sp>
      <p:graphicFrame>
        <p:nvGraphicFramePr>
          <p:cNvPr id="22534" name="Object 6"/>
          <p:cNvGraphicFramePr>
            <a:graphicFrameLocks noChangeAspect="1"/>
          </p:cNvGraphicFramePr>
          <p:nvPr/>
        </p:nvGraphicFramePr>
        <p:xfrm>
          <a:off x="2362200" y="2895600"/>
          <a:ext cx="3733800" cy="1493838"/>
        </p:xfrm>
        <a:graphic>
          <a:graphicData uri="http://schemas.openxmlformats.org/presentationml/2006/ole">
            <mc:AlternateContent xmlns:mc="http://schemas.openxmlformats.org/markup-compatibility/2006">
              <mc:Choice xmlns:v="urn:schemas-microsoft-com:vml" Requires="v">
                <p:oleObj spid="_x0000_s3" name="Equation" r:id="rId3" imgW="1206500" imgH="482600" progId="Equation.3">
                  <p:embed/>
                </p:oleObj>
              </mc:Choice>
              <mc:Fallback>
                <p:oleObj name="Equation" r:id="rId3" imgW="1206500" imgH="482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895600"/>
                        <a:ext cx="3733800" cy="1493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609600" y="457200"/>
            <a:ext cx="3733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理论分解电压：阳极反应</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graphicFrame>
        <p:nvGraphicFramePr>
          <p:cNvPr id="23555" name="Object 3"/>
          <p:cNvGraphicFramePr>
            <a:graphicFrameLocks noChangeAspect="1"/>
          </p:cNvGraphicFramePr>
          <p:nvPr/>
        </p:nvGraphicFramePr>
        <p:xfrm>
          <a:off x="4419600" y="381000"/>
          <a:ext cx="3733800" cy="1903413"/>
        </p:xfrm>
        <a:graphic>
          <a:graphicData uri="http://schemas.openxmlformats.org/presentationml/2006/ole">
            <mc:AlternateContent xmlns:mc="http://schemas.openxmlformats.org/markup-compatibility/2006">
              <mc:Choice xmlns:v="urn:schemas-microsoft-com:vml" Requires="v">
                <p:oleObj spid="_x0000_s2" name="Equation" r:id="rId1" imgW="1295400" imgH="660400" progId="Equation.3">
                  <p:embed/>
                </p:oleObj>
              </mc:Choice>
              <mc:Fallback>
                <p:oleObj name="Equation" r:id="rId1" imgW="1295400" imgH="6604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381000"/>
                        <a:ext cx="3733800" cy="190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6" name="Text Box 4"/>
          <p:cNvSpPr txBox="1">
            <a:spLocks noChangeArrowheads="1"/>
          </p:cNvSpPr>
          <p:nvPr/>
        </p:nvSpPr>
        <p:spPr bwMode="auto">
          <a:xfrm>
            <a:off x="1905000" y="2286000"/>
            <a:ext cx="19812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阴极反应：</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graphicFrame>
        <p:nvGraphicFramePr>
          <p:cNvPr id="23557" name="Object 5"/>
          <p:cNvGraphicFramePr>
            <a:graphicFrameLocks noChangeAspect="1"/>
          </p:cNvGraphicFramePr>
          <p:nvPr/>
        </p:nvGraphicFramePr>
        <p:xfrm>
          <a:off x="3657600" y="2133600"/>
          <a:ext cx="3624263" cy="1536700"/>
        </p:xfrm>
        <a:graphic>
          <a:graphicData uri="http://schemas.openxmlformats.org/presentationml/2006/ole">
            <mc:AlternateContent xmlns:mc="http://schemas.openxmlformats.org/markup-compatibility/2006">
              <mc:Choice xmlns:v="urn:schemas-microsoft-com:vml" Requires="v">
                <p:oleObj spid="_x0000_s3" name="Equation" r:id="rId3" imgW="1256665" imgH="533400" progId="Equation.3">
                  <p:embed/>
                </p:oleObj>
              </mc:Choice>
              <mc:Fallback>
                <p:oleObj name="Equation" r:id="rId3" imgW="1256665" imgH="5334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133600"/>
                        <a:ext cx="3624263"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8" name="Text Box 6"/>
          <p:cNvSpPr txBox="1">
            <a:spLocks noChangeArrowheads="1"/>
          </p:cNvSpPr>
          <p:nvPr/>
        </p:nvSpPr>
        <p:spPr bwMode="auto">
          <a:xfrm>
            <a:off x="762000" y="3429000"/>
            <a:ext cx="472440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式中</a:t>
            </a:r>
            <a:r>
              <a:rPr lang="zh-CN" altLang="en-US" sz="2400" b="1">
                <a:latin typeface="Arial" panose="020B0604020202020204" pitchFamily="34" charset="0"/>
                <a:ea typeface="微软雅黑" panose="020B0503020204020204" charset="-122"/>
                <a:sym typeface="Symbol" panose="05050102010706020507" pitchFamily="18" charset="2"/>
              </a:rPr>
              <a:t></a:t>
            </a:r>
            <a:r>
              <a:rPr lang="en-US" altLang="zh-CN" sz="2400" b="1" baseline="-25000">
                <a:latin typeface="Arial" panose="020B0604020202020204" pitchFamily="34" charset="0"/>
                <a:ea typeface="微软雅黑" panose="020B0503020204020204" charset="-122"/>
              </a:rPr>
              <a:t>Na</a:t>
            </a:r>
            <a:r>
              <a:rPr lang="zh-CN" altLang="en-US" sz="2400" b="1">
                <a:latin typeface="Arial" panose="020B0604020202020204" pitchFamily="34" charset="0"/>
                <a:ea typeface="微软雅黑" panose="020B0503020204020204" charset="-122"/>
              </a:rPr>
              <a:t>为汞齐中钠的活度。 </a:t>
            </a:r>
            <a:endParaRPr lang="zh-CN" altLang="en-US" sz="2400" b="1">
              <a:latin typeface="Arial" panose="020B0604020202020204" pitchFamily="34" charset="0"/>
              <a:ea typeface="微软雅黑" panose="020B0503020204020204" charset="-122"/>
            </a:endParaRPr>
          </a:p>
          <a:p>
            <a:pPr>
              <a:spcBef>
                <a:spcPct val="50000"/>
              </a:spcBef>
            </a:pPr>
            <a:r>
              <a:rPr lang="zh-CN" altLang="en-US" sz="2400" b="1">
                <a:latin typeface="Arial" panose="020B0604020202020204" pitchFamily="34" charset="0"/>
                <a:ea typeface="微软雅黑" panose="020B0503020204020204" charset="-122"/>
              </a:rPr>
              <a:t>故理论分解电压：</a:t>
            </a:r>
            <a:endParaRPr lang="zh-CN" altLang="en-US" sz="2400" b="1">
              <a:latin typeface="Arial" panose="020B0604020202020204" pitchFamily="34" charset="0"/>
              <a:ea typeface="微软雅黑" panose="020B0503020204020204" charset="-122"/>
            </a:endParaRPr>
          </a:p>
        </p:txBody>
      </p:sp>
      <p:graphicFrame>
        <p:nvGraphicFramePr>
          <p:cNvPr id="23559" name="Object 7"/>
          <p:cNvGraphicFramePr>
            <a:graphicFrameLocks noChangeAspect="1"/>
          </p:cNvGraphicFramePr>
          <p:nvPr/>
        </p:nvGraphicFramePr>
        <p:xfrm>
          <a:off x="1828800" y="4343400"/>
          <a:ext cx="6405563" cy="1611313"/>
        </p:xfrm>
        <a:graphic>
          <a:graphicData uri="http://schemas.openxmlformats.org/presentationml/2006/ole">
            <mc:AlternateContent xmlns:mc="http://schemas.openxmlformats.org/markup-compatibility/2006">
              <mc:Choice xmlns:v="urn:schemas-microsoft-com:vml" Requires="v">
                <p:oleObj spid="_x0000_s4" name="Equation" r:id="rId5" imgW="2222500" imgH="558800" progId="Equation.3">
                  <p:embed/>
                </p:oleObj>
              </mc:Choice>
              <mc:Fallback>
                <p:oleObj name="Equation" r:id="rId5" imgW="2222500" imgH="558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4343400"/>
                        <a:ext cx="6405563" cy="161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81000" y="457200"/>
            <a:ext cx="42672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在</a:t>
            </a:r>
            <a:r>
              <a:rPr lang="en-US" altLang="zh-CN" sz="2400" b="1">
                <a:latin typeface="Arial" panose="020B0604020202020204" pitchFamily="34" charset="0"/>
                <a:ea typeface="微软雅黑" panose="020B0503020204020204" charset="-122"/>
              </a:rPr>
              <a:t>p</a:t>
            </a: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101.325kPa</a:t>
            </a: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298K</a:t>
            </a:r>
            <a:r>
              <a:rPr lang="zh-CN" altLang="en-US" sz="2400" b="1">
                <a:latin typeface="Arial" panose="020B0604020202020204" pitchFamily="34" charset="0"/>
                <a:ea typeface="微软雅黑" panose="020B0503020204020204" charset="-122"/>
              </a:rPr>
              <a:t>时</a:t>
            </a:r>
            <a:endParaRPr lang="zh-CN" altLang="en-US" sz="2400" b="1">
              <a:latin typeface="Arial" panose="020B0604020202020204" pitchFamily="34" charset="0"/>
              <a:ea typeface="微软雅黑" panose="020B0503020204020204" charset="-122"/>
            </a:endParaRPr>
          </a:p>
        </p:txBody>
      </p:sp>
      <p:graphicFrame>
        <p:nvGraphicFramePr>
          <p:cNvPr id="24579" name="Object 3"/>
          <p:cNvGraphicFramePr>
            <a:graphicFrameLocks noChangeAspect="1"/>
          </p:cNvGraphicFramePr>
          <p:nvPr/>
        </p:nvGraphicFramePr>
        <p:xfrm>
          <a:off x="304800" y="1219200"/>
          <a:ext cx="7878763" cy="2347913"/>
        </p:xfrm>
        <a:graphic>
          <a:graphicData uri="http://schemas.openxmlformats.org/presentationml/2006/ole">
            <mc:AlternateContent xmlns:mc="http://schemas.openxmlformats.org/markup-compatibility/2006">
              <mc:Choice xmlns:v="urn:schemas-microsoft-com:vml" Requires="v">
                <p:oleObj spid="_x0000_s2" name="Equation" r:id="rId1" imgW="2514600" imgH="749300" progId="Equation.3">
                  <p:embed/>
                </p:oleObj>
              </mc:Choice>
              <mc:Fallback>
                <p:oleObj name="Equation" r:id="rId1" imgW="2514600" imgH="7493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7878763" cy="2347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0" name="Text Box 4"/>
          <p:cNvSpPr txBox="1">
            <a:spLocks noChangeArrowheads="1"/>
          </p:cNvSpPr>
          <p:nvPr/>
        </p:nvSpPr>
        <p:spPr bwMode="auto">
          <a:xfrm>
            <a:off x="381000" y="3810000"/>
            <a:ext cx="8305800" cy="181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FF3300"/>
                </a:solidFill>
                <a:latin typeface="Arial" panose="020B0604020202020204" pitchFamily="34" charset="0"/>
                <a:ea typeface="微软雅黑" panose="020B0503020204020204" charset="-122"/>
              </a:rPr>
              <a:t>可知，汞糟的理论分解电压与温度、压力、食盐水的活度、汞齐中钠的活度有关。计 算表明，汞槽法的理论分解电压要比隔膜槽法高出</a:t>
            </a:r>
            <a:r>
              <a:rPr lang="en-US" altLang="zh-CN" sz="2800" b="1">
                <a:solidFill>
                  <a:srgbClr val="FF3300"/>
                </a:solidFill>
                <a:latin typeface="Arial" panose="020B0604020202020204" pitchFamily="34" charset="0"/>
                <a:ea typeface="微软雅黑" panose="020B0503020204020204" charset="-122"/>
              </a:rPr>
              <a:t>l</a:t>
            </a:r>
            <a:r>
              <a:rPr lang="zh-CN" altLang="en-US" sz="2800" b="1">
                <a:solidFill>
                  <a:srgbClr val="FF3300"/>
                </a:solidFill>
                <a:latin typeface="Arial" panose="020B0604020202020204" pitchFamily="34" charset="0"/>
                <a:ea typeface="微软雅黑" panose="020B0503020204020204" charset="-122"/>
              </a:rPr>
              <a:t>伏左右，故此法能耗高。 </a:t>
            </a:r>
            <a:endParaRPr lang="zh-CN" altLang="en-US" sz="2800" b="1">
              <a:solidFill>
                <a:srgbClr val="FF3300"/>
              </a:solidFill>
              <a:latin typeface="Arial" panose="020B0604020202020204" pitchFamily="34" charset="0"/>
              <a:ea typeface="微软雅黑" panose="020B050302020402020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228600" y="609600"/>
            <a:ext cx="8610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latin typeface="Arial" panose="020B0604020202020204" pitchFamily="34" charset="0"/>
                <a:ea typeface="微软雅黑" panose="020B0503020204020204" charset="-122"/>
              </a:rPr>
              <a:t>     </a:t>
            </a:r>
            <a:r>
              <a:rPr lang="zh-CN" altLang="en-US" sz="2400" b="1">
                <a:latin typeface="Arial" panose="020B0604020202020204" pitchFamily="34" charset="0"/>
                <a:ea typeface="微软雅黑" panose="020B0503020204020204" charset="-122"/>
              </a:rPr>
              <a:t>汞电解槽的结构原理如图</a:t>
            </a:r>
            <a:r>
              <a:rPr lang="en-US" altLang="zh-CN" sz="2400" b="1">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所示，</a:t>
            </a:r>
            <a:endParaRPr lang="zh-CN" altLang="en-US" sz="2400" b="1">
              <a:latin typeface="Arial" panose="020B0604020202020204" pitchFamily="34" charset="0"/>
              <a:ea typeface="微软雅黑" panose="020B0503020204020204" charset="-122"/>
            </a:endParaRPr>
          </a:p>
        </p:txBody>
      </p:sp>
      <p:sp>
        <p:nvSpPr>
          <p:cNvPr id="25603" name="Rectangle 3"/>
          <p:cNvSpPr>
            <a:spLocks noChangeArrowheads="1"/>
          </p:cNvSpPr>
          <p:nvPr/>
        </p:nvSpPr>
        <p:spPr bwMode="auto">
          <a:xfrm>
            <a:off x="0" y="0"/>
            <a:ext cx="3810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latin typeface="Arial" panose="020B0604020202020204" pitchFamily="34" charset="0"/>
                <a:ea typeface="微软雅黑" panose="020B0503020204020204" charset="-122"/>
              </a:rPr>
              <a:t>2</a:t>
            </a:r>
            <a:r>
              <a:rPr lang="zh-CN" altLang="en-US" sz="2800" b="1">
                <a:latin typeface="Arial" panose="020B0604020202020204" pitchFamily="34" charset="0"/>
                <a:ea typeface="微软雅黑" panose="020B0503020204020204" charset="-122"/>
              </a:rPr>
              <a:t>、电解槽 </a:t>
            </a:r>
            <a:endParaRPr lang="zh-CN" altLang="en-US" sz="2800" b="1">
              <a:latin typeface="Arial" panose="020B0604020202020204" pitchFamily="34" charset="0"/>
              <a:ea typeface="微软雅黑" panose="020B0503020204020204" charset="-122"/>
            </a:endParaRPr>
          </a:p>
        </p:txBody>
      </p:sp>
      <p:pic>
        <p:nvPicPr>
          <p:cNvPr id="2560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450" y="1557338"/>
            <a:ext cx="6913563" cy="4216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692150"/>
            <a:ext cx="7416800" cy="51704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304800" y="990600"/>
            <a:ext cx="8534400" cy="4154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i="1" u="sng">
                <a:solidFill>
                  <a:srgbClr val="FF0000"/>
                </a:solidFill>
                <a:latin typeface="Arial" panose="020B0604020202020204" pitchFamily="34" charset="0"/>
                <a:ea typeface="微软雅黑" panose="020B0503020204020204" charset="-122"/>
              </a:rPr>
              <a:t>汞槽法的主要优点</a:t>
            </a:r>
            <a:r>
              <a:rPr lang="zh-CN" altLang="en-US" sz="2400">
                <a:latin typeface="Arial" panose="020B0604020202020204" pitchFamily="34" charset="0"/>
                <a:ea typeface="微软雅黑" panose="020B0503020204020204" charset="-122"/>
              </a:rPr>
              <a:t>是所得碱液的浓度高，接近</a:t>
            </a:r>
            <a:r>
              <a:rPr lang="en-US" altLang="zh-CN" sz="2400">
                <a:latin typeface="Arial" panose="020B0604020202020204" pitchFamily="34" charset="0"/>
                <a:ea typeface="微软雅黑" panose="020B0503020204020204" charset="-122"/>
              </a:rPr>
              <a:t>50</a:t>
            </a:r>
            <a:r>
              <a:rPr lang="zh-CN" altLang="en-US" sz="2400">
                <a:latin typeface="Arial" panose="020B0604020202020204" pitchFamily="34" charset="0"/>
                <a:ea typeface="微软雅黑" panose="020B0503020204020204" charset="-122"/>
              </a:rPr>
              <a:t>％，可直接作为商品出售，而 且纯度高，几乎不含</a:t>
            </a:r>
            <a:r>
              <a:rPr lang="en-US" altLang="zh-CN" sz="2400">
                <a:latin typeface="Arial" panose="020B0604020202020204" pitchFamily="34" charset="0"/>
                <a:ea typeface="微软雅黑" panose="020B0503020204020204" charset="-122"/>
              </a:rPr>
              <a:t>Cl</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其直流电能消耗虽高，但它不需要蒸发浓缩碱液的后处理，故每吨碱的总能耗仍和其他二法相仿，而且对盐水的净化要求不像隔膜槽那样高。从生产能力上看，汞槽的优越性是所用电流密度大，而且可大幅度的变化，可避开城市用电高峰，随时调整电流密度。</a:t>
            </a:r>
            <a:endParaRPr lang="zh-CN" altLang="en-US" sz="2400">
              <a:latin typeface="Arial" panose="020B0604020202020204" pitchFamily="34" charset="0"/>
              <a:ea typeface="微软雅黑" panose="020B0503020204020204" charset="-122"/>
            </a:endParaRPr>
          </a:p>
          <a:p>
            <a:pPr>
              <a:spcBef>
                <a:spcPct val="50000"/>
              </a:spcBef>
            </a:pPr>
            <a:endParaRPr lang="zh-CN" altLang="en-US" sz="2400">
              <a:latin typeface="Arial" panose="020B0604020202020204" pitchFamily="34" charset="0"/>
              <a:ea typeface="微软雅黑" panose="020B0503020204020204" charset="-122"/>
            </a:endParaRPr>
          </a:p>
          <a:p>
            <a:pPr>
              <a:spcBef>
                <a:spcPct val="50000"/>
              </a:spcBef>
            </a:pPr>
            <a:r>
              <a:rPr lang="zh-CN" altLang="en-US" sz="2400" i="1" u="sng">
                <a:solidFill>
                  <a:srgbClr val="FF0000"/>
                </a:solidFill>
                <a:latin typeface="Arial" panose="020B0604020202020204" pitchFamily="34" charset="0"/>
                <a:ea typeface="微软雅黑" panose="020B0503020204020204" charset="-122"/>
              </a:rPr>
              <a:t>汞槽的主要缺点</a:t>
            </a:r>
            <a:r>
              <a:rPr lang="zh-CN" altLang="en-US" sz="2400">
                <a:latin typeface="Arial" panose="020B0604020202020204" pitchFamily="34" charset="0"/>
                <a:ea typeface="微软雅黑" panose="020B0503020204020204" charset="-122"/>
              </a:rPr>
              <a:t>是：有汞毒污染环境，必须必须严格控制排放污水中汞的含量，按时检查操作工人健康状况，加强劳动保护措施。汞的价格贵，投资大是它的另一缺点。 </a:t>
            </a:r>
            <a:endParaRPr lang="zh-CN" altLang="en-US" sz="2400">
              <a:latin typeface="Arial" panose="020B0604020202020204" pitchFamily="34" charset="0"/>
              <a:ea typeface="微软雅黑" panose="020B050302020402020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362200" y="457200"/>
            <a:ext cx="44196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solidFill>
                  <a:schemeClr val="tx2"/>
                </a:solidFill>
                <a:latin typeface="Arial" panose="020B0604020202020204" pitchFamily="34" charset="0"/>
                <a:ea typeface="微软雅黑" panose="020B0503020204020204" charset="-122"/>
              </a:rPr>
              <a:t>5.2.3   </a:t>
            </a:r>
            <a:r>
              <a:rPr lang="zh-CN" altLang="en-US" sz="3200" b="1">
                <a:latin typeface="Arial" panose="020B0604020202020204" pitchFamily="34" charset="0"/>
                <a:ea typeface="微软雅黑" panose="020B0503020204020204" charset="-122"/>
              </a:rPr>
              <a:t>离子膜槽电解法 </a:t>
            </a:r>
            <a:endParaRPr lang="zh-CN" altLang="en-US" sz="3200" b="1">
              <a:latin typeface="Arial" panose="020B0604020202020204" pitchFamily="34" charset="0"/>
              <a:ea typeface="微软雅黑" panose="020B0503020204020204" charset="-122"/>
            </a:endParaRPr>
          </a:p>
        </p:txBody>
      </p:sp>
      <p:sp>
        <p:nvSpPr>
          <p:cNvPr id="28675" name="Rectangle 3"/>
          <p:cNvSpPr>
            <a:spLocks noChangeArrowheads="1"/>
          </p:cNvSpPr>
          <p:nvPr/>
        </p:nvSpPr>
        <p:spPr bwMode="auto">
          <a:xfrm>
            <a:off x="457200" y="1219200"/>
            <a:ext cx="868680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latin typeface="Arial" panose="020B0604020202020204" pitchFamily="34" charset="0"/>
                <a:ea typeface="微软雅黑" panose="020B0503020204020204" charset="-122"/>
              </a:rPr>
              <a:t>    </a:t>
            </a:r>
            <a:r>
              <a:rPr lang="zh-CN" altLang="en-US" sz="2400">
                <a:solidFill>
                  <a:srgbClr val="FF3300"/>
                </a:solidFill>
                <a:latin typeface="Arial" panose="020B0604020202020204" pitchFamily="34" charset="0"/>
                <a:ea typeface="微软雅黑" panose="020B0503020204020204" charset="-122"/>
              </a:rPr>
              <a:t>原理和电极材料等皆和隔膜相同，所不同的是以离子交换膜</a:t>
            </a:r>
            <a:r>
              <a:rPr lang="en-US" altLang="zh-CN" sz="2400">
                <a:solidFill>
                  <a:srgbClr val="FF3300"/>
                </a:solidFill>
                <a:latin typeface="Arial" panose="020B0604020202020204" pitchFamily="34" charset="0"/>
                <a:ea typeface="微软雅黑" panose="020B0503020204020204" charset="-122"/>
              </a:rPr>
              <a:t>(</a:t>
            </a:r>
            <a:r>
              <a:rPr lang="zh-CN" altLang="en-US" sz="2400">
                <a:solidFill>
                  <a:srgbClr val="FF3300"/>
                </a:solidFill>
                <a:latin typeface="Arial" panose="020B0604020202020204" pitchFamily="34" charset="0"/>
                <a:ea typeface="微软雅黑" panose="020B0503020204020204" charset="-122"/>
              </a:rPr>
              <a:t>或称离子选择性透过膜</a:t>
            </a:r>
            <a:r>
              <a:rPr lang="en-US" altLang="zh-CN" sz="2400">
                <a:solidFill>
                  <a:srgbClr val="FF3300"/>
                </a:solidFill>
                <a:latin typeface="Arial" panose="020B0604020202020204" pitchFamily="34" charset="0"/>
                <a:ea typeface="微软雅黑" panose="020B0503020204020204" charset="-122"/>
              </a:rPr>
              <a:t>)</a:t>
            </a:r>
            <a:r>
              <a:rPr lang="zh-CN" altLang="en-US" sz="2400">
                <a:solidFill>
                  <a:srgbClr val="FF3300"/>
                </a:solidFill>
                <a:latin typeface="Arial" panose="020B0604020202020204" pitchFamily="34" charset="0"/>
                <a:ea typeface="微软雅黑" panose="020B0503020204020204" charset="-122"/>
              </a:rPr>
              <a:t>代替隔膜</a:t>
            </a:r>
            <a:r>
              <a:rPr lang="zh-CN" altLang="en-US" sz="2400">
                <a:latin typeface="Arial" panose="020B0604020202020204" pitchFamily="34" charset="0"/>
                <a:ea typeface="微软雅黑" panose="020B0503020204020204" charset="-122"/>
              </a:rPr>
              <a:t>。石棉隔膜只是一种机械的隔离膜．可防止液体的自由对流和电解产物混和，但不能阻止离子的相互扩散和迁移。离子交换膜由离子交换树脂压制成，国外已生产出能适应于氯碱电解槽的全氟化高聚物离子交换膜，此类膜的特点是只许</a:t>
            </a:r>
            <a:r>
              <a:rPr lang="en-US" altLang="zh-CN" sz="2400">
                <a:latin typeface="Arial" panose="020B0604020202020204" pitchFamily="34" charset="0"/>
                <a:ea typeface="微软雅黑" panose="020B0503020204020204" charset="-122"/>
              </a:rPr>
              <a:t>Na</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透过，而</a:t>
            </a:r>
            <a:r>
              <a:rPr lang="en-US" altLang="zh-CN" sz="2400">
                <a:latin typeface="Arial" panose="020B0604020202020204" pitchFamily="34" charset="0"/>
                <a:ea typeface="微软雅黑" panose="020B0503020204020204" charset="-122"/>
              </a:rPr>
              <a:t>Cl</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a:t>
            </a:r>
            <a:r>
              <a:rPr lang="en-US" altLang="zh-CN" sz="2400">
                <a:latin typeface="Arial" panose="020B0604020202020204" pitchFamily="34" charset="0"/>
                <a:ea typeface="微软雅黑" panose="020B0503020204020204" charset="-122"/>
              </a:rPr>
              <a:t>H</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a:t>
            </a:r>
            <a:r>
              <a:rPr lang="en-US" altLang="zh-CN" sz="2400">
                <a:latin typeface="Arial" panose="020B0604020202020204" pitchFamily="34" charset="0"/>
                <a:ea typeface="微软雅黑" panose="020B0503020204020204" charset="-122"/>
              </a:rPr>
              <a:t>OH</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不能透过。</a:t>
            </a:r>
            <a:endParaRPr lang="zh-CN" altLang="en-US" sz="2400">
              <a:latin typeface="Arial" panose="020B0604020202020204" pitchFamily="34" charset="0"/>
              <a:ea typeface="微软雅黑" panose="020B0503020204020204" charset="-122"/>
            </a:endParaRPr>
          </a:p>
          <a:p>
            <a:r>
              <a:rPr lang="zh-CN" altLang="en-US" sz="2400">
                <a:latin typeface="Arial" panose="020B0604020202020204" pitchFamily="34" charset="0"/>
                <a:ea typeface="微软雅黑" panose="020B0503020204020204" charset="-122"/>
              </a:rPr>
              <a:t>    例如：</a:t>
            </a:r>
            <a:r>
              <a:rPr lang="en-US" altLang="zh-CN" sz="2400">
                <a:latin typeface="Arial" panose="020B0604020202020204" pitchFamily="34" charset="0"/>
                <a:ea typeface="微软雅黑" panose="020B0503020204020204" charset="-122"/>
              </a:rPr>
              <a:t>Naflon</a:t>
            </a:r>
            <a:r>
              <a:rPr lang="zh-CN" altLang="en-US" sz="2400">
                <a:latin typeface="Arial" panose="020B0604020202020204" pitchFamily="34" charset="0"/>
                <a:ea typeface="微软雅黑" panose="020B0503020204020204" charset="-122"/>
              </a:rPr>
              <a:t>膜</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全氟磺酸膜</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的分子结构含强酸根： </a:t>
            </a:r>
            <a:endParaRPr lang="zh-CN" altLang="en-US" sz="2400">
              <a:latin typeface="Arial" panose="020B0604020202020204" pitchFamily="34" charset="0"/>
              <a:ea typeface="微软雅黑" panose="020B0503020204020204" charset="-122"/>
            </a:endParaRPr>
          </a:p>
        </p:txBody>
      </p:sp>
      <p:grpSp>
        <p:nvGrpSpPr>
          <p:cNvPr id="28676" name="Group 4"/>
          <p:cNvGrpSpPr/>
          <p:nvPr/>
        </p:nvGrpSpPr>
        <p:grpSpPr bwMode="auto">
          <a:xfrm>
            <a:off x="838200" y="3886200"/>
            <a:ext cx="7469188" cy="2433638"/>
            <a:chOff x="528" y="2448"/>
            <a:chExt cx="4705" cy="1533"/>
          </a:xfrm>
        </p:grpSpPr>
        <p:graphicFrame>
          <p:nvGraphicFramePr>
            <p:cNvPr id="28677" name="Object 5"/>
            <p:cNvGraphicFramePr>
              <a:graphicFrameLocks noChangeAspect="1"/>
            </p:cNvGraphicFramePr>
            <p:nvPr/>
          </p:nvGraphicFramePr>
          <p:xfrm>
            <a:off x="528" y="2448"/>
            <a:ext cx="2496" cy="416"/>
          </p:xfrm>
          <a:graphic>
            <a:graphicData uri="http://schemas.openxmlformats.org/presentationml/2006/ole">
              <mc:AlternateContent xmlns:mc="http://schemas.openxmlformats.org/markup-compatibility/2006">
                <mc:Choice xmlns:v="urn:schemas-microsoft-com:vml" Requires="v">
                  <p:oleObj spid="_x0000_s2" name="Equation" r:id="rId1" imgW="1066165" imgH="177800" progId="Equation.3">
                    <p:embed/>
                  </p:oleObj>
                </mc:Choice>
                <mc:Fallback>
                  <p:oleObj name="Equation" r:id="rId1" imgW="1066165" imgH="177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2448"/>
                          <a:ext cx="2496" cy="4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8" name="Line 6"/>
            <p:cNvSpPr>
              <a:spLocks noChangeShapeType="1"/>
            </p:cNvSpPr>
            <p:nvPr/>
          </p:nvSpPr>
          <p:spPr bwMode="auto">
            <a:xfrm>
              <a:off x="2064" y="278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aphicFrame>
          <p:nvGraphicFramePr>
            <p:cNvPr id="28679" name="Object 7"/>
            <p:cNvGraphicFramePr>
              <a:graphicFrameLocks noChangeAspect="1"/>
            </p:cNvGraphicFramePr>
            <p:nvPr/>
          </p:nvGraphicFramePr>
          <p:xfrm>
            <a:off x="1824" y="3072"/>
            <a:ext cx="3409" cy="409"/>
          </p:xfrm>
          <a:graphic>
            <a:graphicData uri="http://schemas.openxmlformats.org/presentationml/2006/ole">
              <mc:AlternateContent xmlns:mc="http://schemas.openxmlformats.org/markup-compatibility/2006">
                <mc:Choice xmlns:v="urn:schemas-microsoft-com:vml" Requires="v">
                  <p:oleObj spid="_x0000_s3" name="Equation" r:id="rId3" imgW="1587500" imgH="190500" progId="Equation.3">
                    <p:embed/>
                  </p:oleObj>
                </mc:Choice>
                <mc:Fallback>
                  <p:oleObj name="Equation" r:id="rId3" imgW="1587500" imgH="1905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4" y="3072"/>
                          <a:ext cx="3409" cy="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0" name="Line 8"/>
            <p:cNvSpPr>
              <a:spLocks noChangeShapeType="1"/>
            </p:cNvSpPr>
            <p:nvPr/>
          </p:nvSpPr>
          <p:spPr bwMode="auto">
            <a:xfrm>
              <a:off x="2832" y="3360"/>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aphicFrame>
          <p:nvGraphicFramePr>
            <p:cNvPr id="28681" name="Object 9"/>
            <p:cNvGraphicFramePr>
              <a:graphicFrameLocks noChangeAspect="1"/>
            </p:cNvGraphicFramePr>
            <p:nvPr/>
          </p:nvGraphicFramePr>
          <p:xfrm>
            <a:off x="2736" y="3648"/>
            <a:ext cx="404" cy="333"/>
          </p:xfrm>
          <a:graphic>
            <a:graphicData uri="http://schemas.openxmlformats.org/presentationml/2006/ole">
              <mc:AlternateContent xmlns:mc="http://schemas.openxmlformats.org/markup-compatibility/2006">
                <mc:Choice xmlns:v="urn:schemas-microsoft-com:vml" Requires="v">
                  <p:oleObj spid="_x0000_s4" name="Equation" r:id="rId5" imgW="215900" imgH="177800" progId="Equation.3">
                    <p:embed/>
                  </p:oleObj>
                </mc:Choice>
                <mc:Fallback>
                  <p:oleObj name="Equation" r:id="rId5" imgW="215900" imgH="1778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36" y="3648"/>
                          <a:ext cx="404"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457200" y="381000"/>
            <a:ext cx="643064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latin typeface="Arial" panose="020B0604020202020204" pitchFamily="34" charset="0"/>
                <a:ea typeface="微软雅黑" panose="020B0503020204020204" charset="-122"/>
              </a:rPr>
              <a:t>Flemlon</a:t>
            </a:r>
            <a:r>
              <a:rPr lang="zh-CN" altLang="en-US" sz="2400" b="1">
                <a:latin typeface="Arial" panose="020B0604020202020204" pitchFamily="34" charset="0"/>
                <a:ea typeface="微软雅黑" panose="020B0503020204020204" charset="-122"/>
              </a:rPr>
              <a:t>膜</a:t>
            </a:r>
            <a:r>
              <a:rPr lang="en-US" altLang="zh-CN" sz="2400" b="1">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全氟羧酸膜</a:t>
            </a:r>
            <a:r>
              <a:rPr lang="en-US" altLang="zh-CN" sz="2400" b="1">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的分子结构含弱酸根：</a:t>
            </a:r>
            <a:endParaRPr lang="zh-CN" altLang="en-US" sz="2400" b="1">
              <a:latin typeface="Arial" panose="020B0604020202020204" pitchFamily="34" charset="0"/>
              <a:ea typeface="微软雅黑" panose="020B0503020204020204" charset="-122"/>
            </a:endParaRPr>
          </a:p>
        </p:txBody>
      </p:sp>
      <p:grpSp>
        <p:nvGrpSpPr>
          <p:cNvPr id="29699" name="Group 3"/>
          <p:cNvGrpSpPr/>
          <p:nvPr/>
        </p:nvGrpSpPr>
        <p:grpSpPr bwMode="auto">
          <a:xfrm>
            <a:off x="381000" y="914400"/>
            <a:ext cx="7712075" cy="2457450"/>
            <a:chOff x="224" y="801"/>
            <a:chExt cx="4858" cy="1548"/>
          </a:xfrm>
        </p:grpSpPr>
        <p:graphicFrame>
          <p:nvGraphicFramePr>
            <p:cNvPr id="29700" name="Object 4"/>
            <p:cNvGraphicFramePr>
              <a:graphicFrameLocks noChangeAspect="1"/>
            </p:cNvGraphicFramePr>
            <p:nvPr/>
          </p:nvGraphicFramePr>
          <p:xfrm>
            <a:off x="224" y="801"/>
            <a:ext cx="2912" cy="446"/>
          </p:xfrm>
          <a:graphic>
            <a:graphicData uri="http://schemas.openxmlformats.org/presentationml/2006/ole">
              <mc:AlternateContent xmlns:mc="http://schemas.openxmlformats.org/markup-compatibility/2006">
                <mc:Choice xmlns:v="urn:schemas-microsoft-com:vml" Requires="v">
                  <p:oleObj spid="_x0000_s2" name="Equation" r:id="rId1" imgW="1244600" imgH="190500" progId="Equation.3">
                    <p:embed/>
                  </p:oleObj>
                </mc:Choice>
                <mc:Fallback>
                  <p:oleObj name="Equation" r:id="rId1" imgW="1244600" imgH="1905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 y="801"/>
                          <a:ext cx="2912" cy="4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1" name="Line 5"/>
            <p:cNvSpPr>
              <a:spLocks noChangeShapeType="1"/>
            </p:cNvSpPr>
            <p:nvPr/>
          </p:nvSpPr>
          <p:spPr bwMode="auto">
            <a:xfrm>
              <a:off x="1968" y="1152"/>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aphicFrame>
          <p:nvGraphicFramePr>
            <p:cNvPr id="29702" name="Object 6"/>
            <p:cNvGraphicFramePr>
              <a:graphicFrameLocks noChangeAspect="1"/>
            </p:cNvGraphicFramePr>
            <p:nvPr/>
          </p:nvGraphicFramePr>
          <p:xfrm>
            <a:off x="1782" y="1453"/>
            <a:ext cx="3300" cy="382"/>
          </p:xfrm>
          <a:graphic>
            <a:graphicData uri="http://schemas.openxmlformats.org/presentationml/2006/ole">
              <mc:AlternateContent xmlns:mc="http://schemas.openxmlformats.org/markup-compatibility/2006">
                <mc:Choice xmlns:v="urn:schemas-microsoft-com:vml" Requires="v">
                  <p:oleObj spid="_x0000_s3" name="Equation" r:id="rId3" imgW="1536065" imgH="177800" progId="Equation.3">
                    <p:embed/>
                  </p:oleObj>
                </mc:Choice>
                <mc:Fallback>
                  <p:oleObj name="Equation" r:id="rId3" imgW="1536065" imgH="177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2" y="1453"/>
                          <a:ext cx="3300" cy="3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3" name="Line 7"/>
            <p:cNvSpPr>
              <a:spLocks noChangeShapeType="1"/>
            </p:cNvSpPr>
            <p:nvPr/>
          </p:nvSpPr>
          <p:spPr bwMode="auto">
            <a:xfrm>
              <a:off x="2736" y="1728"/>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aphicFrame>
          <p:nvGraphicFramePr>
            <p:cNvPr id="29704" name="Object 8"/>
            <p:cNvGraphicFramePr>
              <a:graphicFrameLocks noChangeAspect="1"/>
            </p:cNvGraphicFramePr>
            <p:nvPr/>
          </p:nvGraphicFramePr>
          <p:xfrm>
            <a:off x="2592" y="2016"/>
            <a:ext cx="404" cy="333"/>
          </p:xfrm>
          <a:graphic>
            <a:graphicData uri="http://schemas.openxmlformats.org/presentationml/2006/ole">
              <mc:AlternateContent xmlns:mc="http://schemas.openxmlformats.org/markup-compatibility/2006">
                <mc:Choice xmlns:v="urn:schemas-microsoft-com:vml" Requires="v">
                  <p:oleObj spid="_x0000_s4" name="Equation" r:id="rId5" imgW="215900" imgH="177800" progId="Equation.3">
                    <p:embed/>
                  </p:oleObj>
                </mc:Choice>
                <mc:Fallback>
                  <p:oleObj name="Equation" r:id="rId5" imgW="215900" imgH="177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2" y="2016"/>
                          <a:ext cx="404"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9705" name="Rectangle 9"/>
          <p:cNvSpPr>
            <a:spLocks noChangeArrowheads="1"/>
          </p:cNvSpPr>
          <p:nvPr/>
        </p:nvSpPr>
        <p:spPr bwMode="auto">
          <a:xfrm>
            <a:off x="457200" y="3200400"/>
            <a:ext cx="421386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latin typeface="Arial" panose="020B0604020202020204" pitchFamily="34" charset="0"/>
                <a:ea typeface="微软雅黑" panose="020B0503020204020204" charset="-122"/>
              </a:rPr>
              <a:t>式中，一般</a:t>
            </a:r>
            <a:r>
              <a:rPr lang="en-US" altLang="zh-CN" sz="2400" b="1">
                <a:latin typeface="Arial" panose="020B0604020202020204" pitchFamily="34" charset="0"/>
                <a:ea typeface="微软雅黑" panose="020B0503020204020204" charset="-122"/>
              </a:rPr>
              <a:t>m=0</a:t>
            </a:r>
            <a:r>
              <a:rPr lang="zh-CN" altLang="en-US" sz="2400" b="1">
                <a:latin typeface="Arial" panose="020B0604020202020204" pitchFamily="34" charset="0"/>
                <a:ea typeface="微软雅黑" panose="020B0503020204020204" charset="-122"/>
              </a:rPr>
              <a:t>或</a:t>
            </a:r>
            <a:r>
              <a:rPr lang="en-US" altLang="zh-CN" sz="2400" b="1">
                <a:latin typeface="Arial" panose="020B0604020202020204" pitchFamily="34" charset="0"/>
                <a:ea typeface="微软雅黑" panose="020B0503020204020204" charset="-122"/>
              </a:rPr>
              <a:t>1</a:t>
            </a: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n=1-5</a:t>
            </a:r>
            <a:r>
              <a:rPr lang="zh-CN" altLang="en-US" sz="2400" b="1">
                <a:latin typeface="Arial" panose="020B0604020202020204" pitchFamily="34" charset="0"/>
                <a:ea typeface="微软雅黑" panose="020B0503020204020204" charset="-122"/>
              </a:rPr>
              <a:t>。</a:t>
            </a:r>
            <a:endParaRPr lang="zh-CN" altLang="en-US" sz="2400" b="1">
              <a:latin typeface="Arial" panose="020B0604020202020204" pitchFamily="34" charset="0"/>
              <a:ea typeface="微软雅黑" panose="020B0503020204020204" charset="-122"/>
            </a:endParaRPr>
          </a:p>
        </p:txBody>
      </p:sp>
      <p:sp>
        <p:nvSpPr>
          <p:cNvPr id="29706" name="Rectangle 10"/>
          <p:cNvSpPr>
            <a:spLocks noChangeArrowheads="1"/>
          </p:cNvSpPr>
          <p:nvPr/>
        </p:nvSpPr>
        <p:spPr bwMode="auto">
          <a:xfrm>
            <a:off x="0" y="3657600"/>
            <a:ext cx="9144000" cy="304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latin typeface="Arial" panose="020B0604020202020204" pitchFamily="34" charset="0"/>
                <a:ea typeface="微软雅黑" panose="020B0503020204020204" charset="-122"/>
              </a:rPr>
              <a:t>    </a:t>
            </a:r>
            <a:r>
              <a:rPr lang="zh-CN" altLang="en-US" sz="2400">
                <a:latin typeface="Arial" panose="020B0604020202020204" pitchFamily="34" charset="0"/>
                <a:ea typeface="微软雅黑" panose="020B0503020204020204" charset="-122"/>
              </a:rPr>
              <a:t>此两种膜均用聚四氟乙烯基的离子交换树脂，故既能耐强碱又能耐酸．耐有机物侵蚀，但价格昂贵。用强酸膜时，阳极室</a:t>
            </a:r>
            <a:r>
              <a:rPr lang="en-US" altLang="zh-CN" sz="2400">
                <a:latin typeface="Arial" panose="020B0604020202020204" pitchFamily="34" charset="0"/>
                <a:ea typeface="微软雅黑" panose="020B0503020204020204" charset="-122"/>
              </a:rPr>
              <a:t>NaOH</a:t>
            </a:r>
            <a:r>
              <a:rPr lang="zh-CN" altLang="en-US" sz="2400">
                <a:latin typeface="Arial" panose="020B0604020202020204" pitchFamily="34" charset="0"/>
                <a:ea typeface="微软雅黑" panose="020B0503020204020204" charset="-122"/>
              </a:rPr>
              <a:t>浓度限于</a:t>
            </a:r>
            <a:r>
              <a:rPr lang="en-US" altLang="zh-CN" sz="2400">
                <a:latin typeface="Arial" panose="020B0604020202020204" pitchFamily="34" charset="0"/>
                <a:ea typeface="微软雅黑" panose="020B0503020204020204" charset="-122"/>
              </a:rPr>
              <a:t>20</a:t>
            </a:r>
            <a:r>
              <a:rPr lang="zh-CN" altLang="en-US" sz="2400">
                <a:latin typeface="Arial" panose="020B0604020202020204" pitchFamily="34" charset="0"/>
                <a:ea typeface="微软雅黑" panose="020B0503020204020204" charset="-122"/>
              </a:rPr>
              <a:t>％以下；用弱酸膜时，</a:t>
            </a:r>
            <a:r>
              <a:rPr lang="en-US" altLang="zh-CN" sz="2400">
                <a:latin typeface="Arial" panose="020B0604020202020204" pitchFamily="34" charset="0"/>
                <a:ea typeface="微软雅黑" panose="020B0503020204020204" charset="-122"/>
              </a:rPr>
              <a:t>NaOH</a:t>
            </a:r>
            <a:r>
              <a:rPr lang="zh-CN" altLang="en-US" sz="2400">
                <a:latin typeface="Arial" panose="020B0604020202020204" pitchFamily="34" charset="0"/>
                <a:ea typeface="微软雅黑" panose="020B0503020204020204" charset="-122"/>
              </a:rPr>
              <a:t>浓度可达</a:t>
            </a:r>
            <a:r>
              <a:rPr lang="en-US" altLang="zh-CN" sz="2400">
                <a:latin typeface="Arial" panose="020B0604020202020204" pitchFamily="34" charset="0"/>
                <a:ea typeface="微软雅黑" panose="020B0503020204020204" charset="-122"/>
              </a:rPr>
              <a:t>40</a:t>
            </a:r>
            <a:r>
              <a:rPr lang="zh-CN" altLang="en-US" sz="2400">
                <a:latin typeface="Arial" panose="020B0604020202020204" pitchFamily="34" charset="0"/>
                <a:ea typeface="微软雅黑" panose="020B0503020204020204" charset="-122"/>
              </a:rPr>
              <a:t>％，最大电流密度可达</a:t>
            </a:r>
            <a:r>
              <a:rPr lang="en-US" altLang="zh-CN" sz="2400">
                <a:latin typeface="Arial" panose="020B0604020202020204" pitchFamily="34" charset="0"/>
                <a:ea typeface="微软雅黑" panose="020B0503020204020204" charset="-122"/>
              </a:rPr>
              <a:t>6kA</a:t>
            </a:r>
            <a:r>
              <a:rPr lang="en-US" altLang="zh-CN" sz="2400">
                <a:latin typeface="Arial" panose="020B0604020202020204" pitchFamily="34" charset="0"/>
                <a:ea typeface="微软雅黑" panose="020B0503020204020204" charset="-122"/>
                <a:sym typeface="Symbol" panose="05050102010706020507" pitchFamily="18" charset="2"/>
              </a:rPr>
              <a:t></a:t>
            </a:r>
            <a:r>
              <a:rPr lang="en-US" altLang="zh-CN" sz="2400">
                <a:latin typeface="Arial" panose="020B0604020202020204" pitchFamily="34" charset="0"/>
                <a:ea typeface="微软雅黑" panose="020B0503020204020204" charset="-122"/>
              </a:rPr>
              <a:t>m</a:t>
            </a:r>
            <a:r>
              <a:rPr lang="en-US" altLang="zh-CN" sz="2400" baseline="30000">
                <a:latin typeface="Arial" panose="020B0604020202020204" pitchFamily="34" charset="0"/>
                <a:ea typeface="微软雅黑" panose="020B0503020204020204" charset="-122"/>
              </a:rPr>
              <a:t>-2</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a:p>
            <a:r>
              <a:rPr lang="zh-CN" altLang="en-US" sz="2400">
                <a:latin typeface="Arial" panose="020B0604020202020204" pitchFamily="34" charset="0"/>
                <a:ea typeface="微软雅黑" panose="020B0503020204020204" charset="-122"/>
              </a:rPr>
              <a:t>    还有磺化聚苯乙烯膜</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例如</a:t>
            </a:r>
            <a:r>
              <a:rPr lang="en-US" altLang="zh-CN" sz="2400">
                <a:latin typeface="Arial" panose="020B0604020202020204" pitchFamily="34" charset="0"/>
                <a:ea typeface="微软雅黑" panose="020B0503020204020204" charset="-122"/>
              </a:rPr>
              <a:t>lonlcs</a:t>
            </a:r>
            <a:r>
              <a:rPr lang="zh-CN" altLang="en-US" sz="2400">
                <a:latin typeface="Arial" panose="020B0604020202020204" pitchFamily="34" charset="0"/>
                <a:ea typeface="微软雅黑" panose="020B0503020204020204" charset="-122"/>
              </a:rPr>
              <a:t>系列</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，价格低廉，但在有机介质中易老化，必要时两层膜迭合使用可延长其使用寿命，我国巳能少量生产以上各种膜，但在性能和尺寸上尚有差距。离子交换膜法电解的原理如图</a:t>
            </a:r>
            <a:r>
              <a:rPr lang="en-US" altLang="zh-CN" sz="2400">
                <a:latin typeface="Arial" panose="020B0604020202020204" pitchFamily="34" charset="0"/>
                <a:ea typeface="微软雅黑" panose="020B0503020204020204" charset="-122"/>
              </a:rPr>
              <a:t>5.4</a:t>
            </a:r>
            <a:r>
              <a:rPr lang="zh-CN" altLang="en-US" sz="2400">
                <a:latin typeface="Arial" panose="020B0604020202020204" pitchFamily="34" charset="0"/>
                <a:ea typeface="微软雅黑" panose="020B0503020204020204" charset="-122"/>
              </a:rPr>
              <a:t>。表</a:t>
            </a:r>
            <a:r>
              <a:rPr lang="en-US" altLang="zh-CN" sz="2400">
                <a:latin typeface="Arial" panose="020B0604020202020204" pitchFamily="34" charset="0"/>
                <a:ea typeface="微软雅黑" panose="020B0503020204020204" charset="-122"/>
              </a:rPr>
              <a:t>5.2</a:t>
            </a:r>
            <a:r>
              <a:rPr lang="zh-CN" altLang="en-US" sz="2400">
                <a:latin typeface="Arial" panose="020B0604020202020204" pitchFamily="34" charset="0"/>
                <a:ea typeface="微软雅黑" panose="020B0503020204020204" charset="-122"/>
              </a:rPr>
              <a:t>给出几种离子膜槽电解法的操作参数。 </a:t>
            </a:r>
            <a:endParaRPr lang="zh-CN" altLang="en-US" sz="2400">
              <a:latin typeface="Arial" panose="020B0604020202020204" pitchFamily="34" charset="0"/>
              <a:ea typeface="微软雅黑" panose="020B050302020402020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8" name="Text Box 8"/>
          <p:cNvSpPr txBox="1">
            <a:spLocks noChangeArrowheads="1"/>
          </p:cNvSpPr>
          <p:nvPr/>
        </p:nvSpPr>
        <p:spPr bwMode="auto">
          <a:xfrm>
            <a:off x="1763395" y="6093143"/>
            <a:ext cx="611981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Arial" panose="020B0604020202020204" pitchFamily="34" charset="0"/>
                <a:ea typeface="微软雅黑" panose="020B0503020204020204" charset="-122"/>
                <a:cs typeface="微软雅黑" panose="020B0503020204020204" charset="-122"/>
              </a:rPr>
              <a:t>5.4 </a:t>
            </a:r>
            <a:r>
              <a:rPr lang="zh-CN" altLang="en-US" sz="2400">
                <a:latin typeface="Arial" panose="020B0604020202020204" pitchFamily="34" charset="0"/>
                <a:ea typeface="微软雅黑" panose="020B0503020204020204" charset="-122"/>
                <a:cs typeface="微软雅黑" panose="020B0503020204020204" charset="-122"/>
              </a:rPr>
              <a:t>离子膜法电解槽的结构及其工作原理</a:t>
            </a:r>
            <a:endParaRPr lang="zh-CN" altLang="en-US" sz="2400">
              <a:latin typeface="Arial" panose="020B0604020202020204" pitchFamily="34" charset="0"/>
              <a:ea typeface="微软雅黑" panose="020B0503020204020204" charset="-122"/>
              <a:cs typeface="微软雅黑" panose="020B0503020204020204" charset="-122"/>
            </a:endParaRPr>
          </a:p>
        </p:txBody>
      </p:sp>
      <p:pic>
        <p:nvPicPr>
          <p:cNvPr id="3" name="图片 2" descr="图片1"/>
          <p:cNvPicPr>
            <a:picLocks noChangeAspect="1"/>
          </p:cNvPicPr>
          <p:nvPr/>
        </p:nvPicPr>
        <p:blipFill>
          <a:blip r:embed="rId1"/>
          <a:stretch>
            <a:fillRect/>
          </a:stretch>
        </p:blipFill>
        <p:spPr>
          <a:xfrm>
            <a:off x="0" y="84455"/>
            <a:ext cx="9144000" cy="600900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07540" y="764540"/>
            <a:ext cx="6351905" cy="460375"/>
          </a:xfrm>
          <a:prstGeom prst="rect">
            <a:avLst/>
          </a:prstGeom>
          <a:noFill/>
        </p:spPr>
        <p:txBody>
          <a:bodyPr wrap="square" rtlCol="0" anchor="t">
            <a:spAutoFit/>
          </a:bodyPr>
          <a:p>
            <a:r>
              <a:rPr lang="zh-CN" altLang="en-US" sz="2400">
                <a:latin typeface="Arial" panose="020B0604020202020204" pitchFamily="34" charset="0"/>
                <a:ea typeface="微软雅黑" panose="020B0503020204020204" charset="-122"/>
                <a:cs typeface="微软雅黑" panose="020B0503020204020204" charset="-122"/>
              </a:rPr>
              <a:t>表</a:t>
            </a:r>
            <a:r>
              <a:rPr lang="en-US" altLang="zh-CN" sz="2400">
                <a:latin typeface="Arial" panose="020B0604020202020204" pitchFamily="34" charset="0"/>
                <a:ea typeface="微软雅黑" panose="020B0503020204020204" charset="-122"/>
                <a:cs typeface="微软雅黑" panose="020B0503020204020204" charset="-122"/>
              </a:rPr>
              <a:t>5-2 </a:t>
            </a:r>
            <a:r>
              <a:rPr lang="zh-CN" altLang="en-US" sz="2400">
                <a:latin typeface="Arial" panose="020B0604020202020204" pitchFamily="34" charset="0"/>
                <a:ea typeface="微软雅黑" panose="020B0503020204020204" charset="-122"/>
                <a:cs typeface="微软雅黑" panose="020B0503020204020204" charset="-122"/>
              </a:rPr>
              <a:t>几种离子交换膜的操作参数</a:t>
            </a:r>
            <a:endParaRPr lang="zh-CN" altLang="en-US" sz="2400">
              <a:latin typeface="Arial" panose="020B0604020202020204" pitchFamily="34" charset="0"/>
              <a:ea typeface="微软雅黑" panose="020B0503020204020204" charset="-122"/>
              <a:cs typeface="微软雅黑" panose="020B0503020204020204" charset="-122"/>
            </a:endParaRPr>
          </a:p>
        </p:txBody>
      </p:sp>
      <p:pic>
        <p:nvPicPr>
          <p:cNvPr id="4" name="图片 3" descr="图片2"/>
          <p:cNvPicPr>
            <a:picLocks noChangeAspect="1"/>
          </p:cNvPicPr>
          <p:nvPr/>
        </p:nvPicPr>
        <p:blipFill>
          <a:blip r:embed="rId1"/>
          <a:stretch>
            <a:fillRect/>
          </a:stretch>
        </p:blipFill>
        <p:spPr>
          <a:xfrm>
            <a:off x="0" y="1361440"/>
            <a:ext cx="9144000" cy="413448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0" y="685800"/>
            <a:ext cx="9144000" cy="4215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latin typeface="Arial" panose="020B0604020202020204" pitchFamily="34" charset="0"/>
                <a:ea typeface="微软雅黑" panose="020B0503020204020204" charset="-122"/>
              </a:rPr>
              <a:t>    </a:t>
            </a:r>
            <a:r>
              <a:rPr lang="zh-CN" altLang="en-US" sz="2800" i="1" u="sng">
                <a:solidFill>
                  <a:srgbClr val="FF0000"/>
                </a:solidFill>
                <a:latin typeface="Arial" panose="020B0604020202020204" pitchFamily="34" charset="0"/>
                <a:ea typeface="微软雅黑" panose="020B0503020204020204" charset="-122"/>
              </a:rPr>
              <a:t>此法的优点</a:t>
            </a:r>
            <a:r>
              <a:rPr lang="zh-CN" altLang="en-US" sz="2400">
                <a:latin typeface="Arial" panose="020B0604020202020204" pitchFamily="34" charset="0"/>
                <a:ea typeface="微软雅黑" panose="020B0503020204020204" charset="-122"/>
              </a:rPr>
              <a:t>是没有汞和石棉的公害；所得</a:t>
            </a:r>
            <a:r>
              <a:rPr lang="en-US" altLang="zh-CN" sz="2400">
                <a:latin typeface="Arial" panose="020B0604020202020204" pitchFamily="34" charset="0"/>
                <a:ea typeface="微软雅黑" panose="020B0503020204020204" charset="-122"/>
              </a:rPr>
              <a:t>NaOH</a:t>
            </a:r>
            <a:r>
              <a:rPr lang="zh-CN" altLang="en-US" sz="2400">
                <a:latin typeface="Arial" panose="020B0604020202020204" pitchFamily="34" charset="0"/>
                <a:ea typeface="微软雅黑" panose="020B0503020204020204" charset="-122"/>
              </a:rPr>
              <a:t>不含</a:t>
            </a:r>
            <a:r>
              <a:rPr lang="en-US" altLang="zh-CN" sz="2400">
                <a:latin typeface="Arial" panose="020B0604020202020204" pitchFamily="34" charset="0"/>
                <a:ea typeface="微软雅黑" panose="020B0503020204020204" charset="-122"/>
              </a:rPr>
              <a:t>C1</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，很纯，其浓度可达</a:t>
            </a:r>
            <a:r>
              <a:rPr lang="en-US" altLang="zh-CN" sz="2400">
                <a:latin typeface="Arial" panose="020B0604020202020204" pitchFamily="34" charset="0"/>
                <a:ea typeface="微软雅黑" panose="020B0503020204020204" charset="-122"/>
              </a:rPr>
              <a:t>20</a:t>
            </a:r>
            <a:r>
              <a:rPr lang="zh-CN" altLang="en-US" sz="2400">
                <a:latin typeface="Arial" panose="020B0604020202020204" pitchFamily="34" charset="0"/>
                <a:ea typeface="微软雅黑" panose="020B0503020204020204" charset="-122"/>
              </a:rPr>
              <a:t>％</a:t>
            </a:r>
            <a:r>
              <a:rPr lang="en-US" altLang="zh-CN" sz="2400">
                <a:latin typeface="Arial" panose="020B0604020202020204" pitchFamily="34" charset="0"/>
                <a:ea typeface="微软雅黑" panose="020B0503020204020204" charset="-122"/>
              </a:rPr>
              <a:t>—40</a:t>
            </a:r>
            <a:r>
              <a:rPr lang="zh-CN" altLang="en-US" sz="2400">
                <a:latin typeface="Arial" panose="020B0604020202020204" pitchFamily="34" charset="0"/>
                <a:ea typeface="微软雅黑" panose="020B0503020204020204" charset="-122"/>
              </a:rPr>
              <a:t>％，故蒸发浓缩的后处理费用要少得多；电流密度可比隔膜槽所使用的大一倍而仍保持</a:t>
            </a:r>
            <a:r>
              <a:rPr lang="en-US" altLang="zh-CN" sz="2400">
                <a:latin typeface="Arial" panose="020B0604020202020204" pitchFamily="34" charset="0"/>
                <a:ea typeface="微软雅黑" panose="020B0503020204020204" charset="-122"/>
              </a:rPr>
              <a:t>3.1-3.8V</a:t>
            </a:r>
            <a:r>
              <a:rPr lang="zh-CN" altLang="en-US" sz="2400">
                <a:latin typeface="Arial" panose="020B0604020202020204" pitchFamily="34" charset="0"/>
                <a:ea typeface="微软雅黑" panose="020B0503020204020204" charset="-122"/>
              </a:rPr>
              <a:t>的槽电压，“总能耗”</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包括电解用电、动力用电和蒸气消耗</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相对较低，一般较隔膜法和汞法低</a:t>
            </a:r>
            <a:r>
              <a:rPr lang="en-US" altLang="zh-CN" sz="2400">
                <a:latin typeface="Arial" panose="020B0604020202020204" pitchFamily="34" charset="0"/>
                <a:ea typeface="微软雅黑" panose="020B0503020204020204" charset="-122"/>
              </a:rPr>
              <a:t>25</a:t>
            </a:r>
            <a:r>
              <a:rPr lang="zh-CN" altLang="en-US" sz="2400">
                <a:latin typeface="Arial" panose="020B0604020202020204" pitchFamily="34" charset="0"/>
                <a:ea typeface="微软雅黑" panose="020B0503020204020204" charset="-122"/>
              </a:rPr>
              <a:t>％以上，每生产一吨烧碱可省接近</a:t>
            </a:r>
            <a:r>
              <a:rPr lang="en-US" altLang="zh-CN" sz="2400">
                <a:latin typeface="Arial" panose="020B0604020202020204" pitchFamily="34" charset="0"/>
                <a:ea typeface="微软雅黑" panose="020B0503020204020204" charset="-122"/>
              </a:rPr>
              <a:t>1000kw/h</a:t>
            </a:r>
            <a:r>
              <a:rPr lang="zh-CN" altLang="en-US" sz="2400">
                <a:latin typeface="Arial" panose="020B0604020202020204" pitchFamily="34" charset="0"/>
                <a:ea typeface="微软雅黑" panose="020B0503020204020204" charset="-122"/>
              </a:rPr>
              <a:t>电。常把多只电解池汇集组装成压滤机式的电解槽，单槽产率可达</a:t>
            </a:r>
            <a:r>
              <a:rPr lang="en-US" altLang="zh-CN" sz="2400">
                <a:latin typeface="Arial" panose="020B0604020202020204" pitchFamily="34" charset="0"/>
                <a:ea typeface="微软雅黑" panose="020B0503020204020204" charset="-122"/>
              </a:rPr>
              <a:t>100 </a:t>
            </a:r>
            <a:r>
              <a:rPr lang="zh-CN" altLang="en-US" sz="2400">
                <a:latin typeface="Arial" panose="020B0604020202020204" pitchFamily="34" charset="0"/>
                <a:ea typeface="微软雅黑" panose="020B0503020204020204" charset="-122"/>
              </a:rPr>
              <a:t>吨</a:t>
            </a:r>
            <a:r>
              <a:rPr lang="en-US" altLang="zh-CN" sz="2400">
                <a:latin typeface="Arial" panose="020B0604020202020204" pitchFamily="34" charset="0"/>
                <a:ea typeface="微软雅黑" panose="020B0503020204020204" charset="-122"/>
              </a:rPr>
              <a:t>NaOH/</a:t>
            </a:r>
            <a:r>
              <a:rPr lang="zh-CN" altLang="en-US" sz="2400">
                <a:latin typeface="Arial" panose="020B0604020202020204" pitchFamily="34" charset="0"/>
                <a:ea typeface="微软雅黑" panose="020B0503020204020204" charset="-122"/>
              </a:rPr>
              <a:t>年，而槽体积比前两法的电解槽小得多，特别适宜于小规模生产，产量可按市场需要调节。为了延长离子膜的使用寿命。要求把盐水中的钙、镁离子含量降低到</a:t>
            </a:r>
            <a:r>
              <a:rPr lang="en-US" altLang="zh-CN" sz="2400">
                <a:latin typeface="Arial" panose="020B0604020202020204" pitchFamily="34" charset="0"/>
                <a:ea typeface="微软雅黑" panose="020B0503020204020204" charset="-122"/>
              </a:rPr>
              <a:t>10</a:t>
            </a:r>
            <a:r>
              <a:rPr lang="en-US" altLang="zh-CN" sz="2400" baseline="30000">
                <a:latin typeface="Arial" panose="020B0604020202020204" pitchFamily="34" charset="0"/>
                <a:ea typeface="微软雅黑" panose="020B0503020204020204" charset="-122"/>
              </a:rPr>
              <a:t>-6</a:t>
            </a:r>
            <a:r>
              <a:rPr lang="zh-CN" altLang="en-US" sz="2400">
                <a:latin typeface="Arial" panose="020B0604020202020204" pitchFamily="34" charset="0"/>
                <a:ea typeface="微软雅黑" panose="020B0503020204020204" charset="-122"/>
              </a:rPr>
              <a:t>数量级</a:t>
            </a:r>
            <a:endParaRPr lang="zh-CN" altLang="en-US" sz="2400">
              <a:latin typeface="Arial" panose="020B0604020202020204" pitchFamily="34" charset="0"/>
              <a:ea typeface="微软雅黑" panose="020B0503020204020204" charset="-122"/>
            </a:endParaRPr>
          </a:p>
          <a:p>
            <a:r>
              <a:rPr lang="zh-CN" altLang="en-US" sz="2400">
                <a:latin typeface="Arial" panose="020B0604020202020204" pitchFamily="34" charset="0"/>
                <a:ea typeface="微软雅黑" panose="020B0503020204020204" charset="-122"/>
              </a:rPr>
              <a:t>    目前，离子膜的性能还在不断改进，从发展趋势看，离子膜槽最有生命力，预计再过若干年将全部取代其他的电解槽。</a:t>
            </a:r>
            <a:endParaRPr lang="zh-CN" altLang="en-US" sz="2400">
              <a:latin typeface="Arial" panose="020B0604020202020204" pitchFamily="34" charset="0"/>
              <a:ea typeface="微软雅黑" panose="020B050302020402020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350" y="692150"/>
            <a:ext cx="7129463" cy="4021138"/>
          </a:xfrm>
          <a:prstGeom prst="rect">
            <a:avLst/>
          </a:prstGeom>
          <a:noFill/>
          <a:extLst>
            <a:ext uri="{909E8E84-426E-40DD-AFC4-6F175D3DCCD1}">
              <a14:hiddenFill xmlns:a14="http://schemas.microsoft.com/office/drawing/2010/main">
                <a:solidFill>
                  <a:srgbClr val="FFFFFF"/>
                </a:solidFill>
              </a14:hiddenFill>
            </a:ext>
          </a:extLst>
        </p:spPr>
      </p:pic>
      <p:sp>
        <p:nvSpPr>
          <p:cNvPr id="33796" name="Text Box 4"/>
          <p:cNvSpPr txBox="1">
            <a:spLocks noChangeArrowheads="1"/>
          </p:cNvSpPr>
          <p:nvPr/>
        </p:nvSpPr>
        <p:spPr bwMode="auto">
          <a:xfrm>
            <a:off x="2411413" y="5229225"/>
            <a:ext cx="5329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江西蓝恒达集团离子膜电解装置</a:t>
            </a:r>
            <a:endParaRPr lang="zh-CN" altLang="en-US" sz="2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476250"/>
            <a:ext cx="7345362" cy="4141788"/>
          </a:xfrm>
          <a:prstGeom prst="rect">
            <a:avLst/>
          </a:prstGeom>
          <a:noFill/>
          <a:extLst>
            <a:ext uri="{909E8E84-426E-40DD-AFC4-6F175D3DCCD1}">
              <a14:hiddenFill xmlns:a14="http://schemas.microsoft.com/office/drawing/2010/main">
                <a:solidFill>
                  <a:srgbClr val="FFFFFF"/>
                </a:solidFill>
              </a14:hiddenFill>
            </a:ext>
          </a:extLst>
        </p:spPr>
      </p:pic>
      <p:sp>
        <p:nvSpPr>
          <p:cNvPr id="34820" name="Text Box 4"/>
          <p:cNvSpPr txBox="1">
            <a:spLocks noChangeArrowheads="1"/>
          </p:cNvSpPr>
          <p:nvPr/>
        </p:nvSpPr>
        <p:spPr bwMode="auto">
          <a:xfrm>
            <a:off x="2268538" y="5013325"/>
            <a:ext cx="5113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江西蓝恒达集团离子膜电解装置</a:t>
            </a:r>
            <a:endParaRPr lang="zh-CN" altLang="en-US" sz="2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350" y="476250"/>
            <a:ext cx="6551613" cy="4386263"/>
          </a:xfrm>
          <a:prstGeom prst="rect">
            <a:avLst/>
          </a:prstGeom>
          <a:noFill/>
          <a:extLst>
            <a:ext uri="{909E8E84-426E-40DD-AFC4-6F175D3DCCD1}">
              <a14:hiddenFill xmlns:a14="http://schemas.microsoft.com/office/drawing/2010/main">
                <a:solidFill>
                  <a:srgbClr val="FFFFFF"/>
                </a:solidFill>
              </a14:hiddenFill>
            </a:ext>
          </a:extLst>
        </p:spPr>
      </p:pic>
      <p:sp>
        <p:nvSpPr>
          <p:cNvPr id="98309" name="Text Box 5"/>
          <p:cNvSpPr txBox="1">
            <a:spLocks noChangeArrowheads="1"/>
          </p:cNvSpPr>
          <p:nvPr/>
        </p:nvSpPr>
        <p:spPr bwMode="auto">
          <a:xfrm>
            <a:off x="2555875" y="5300663"/>
            <a:ext cx="482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江西蓝恒达集团离子膜电解装置</a:t>
            </a:r>
            <a:endParaRPr lang="zh-CN" altLang="en-US" sz="24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Grp="1" noChangeArrowheads="1"/>
          </p:cNvSpPr>
          <p:nvPr>
            <p:ph type="title"/>
          </p:nvPr>
        </p:nvSpPr>
        <p:spPr>
          <a:xfrm>
            <a:off x="685800" y="609600"/>
            <a:ext cx="7239000" cy="762000"/>
          </a:xfrm>
        </p:spPr>
        <p:txBody>
          <a:bodyPr/>
          <a:lstStyle/>
          <a:p>
            <a:r>
              <a:rPr lang="en-US" altLang="zh-CN" sz="3200" b="1">
                <a:latin typeface="Arial" panose="020B0604020202020204" pitchFamily="34" charset="0"/>
                <a:ea typeface="微软雅黑" panose="020B0503020204020204" charset="-122"/>
              </a:rPr>
              <a:t>5.2.4   </a:t>
            </a:r>
            <a:r>
              <a:rPr lang="zh-CN" altLang="en-US" sz="3200" b="1">
                <a:solidFill>
                  <a:schemeClr val="tx1"/>
                </a:solidFill>
                <a:latin typeface="Arial" panose="020B0604020202020204" pitchFamily="34" charset="0"/>
                <a:ea typeface="微软雅黑" panose="020B0503020204020204" charset="-122"/>
              </a:rPr>
              <a:t>氯碱工业未来发展的展望</a:t>
            </a:r>
            <a:endParaRPr lang="zh-CN" altLang="en-US" sz="3200" b="1">
              <a:solidFill>
                <a:schemeClr val="tx1"/>
              </a:solidFill>
              <a:latin typeface="Arial" panose="020B0604020202020204" pitchFamily="34" charset="0"/>
              <a:ea typeface="微软雅黑" panose="020B0503020204020204" charset="-122"/>
            </a:endParaRPr>
          </a:p>
        </p:txBody>
      </p:sp>
      <p:sp>
        <p:nvSpPr>
          <p:cNvPr id="73732" name="Rectangle 1028"/>
          <p:cNvSpPr>
            <a:spLocks noGrp="1" noChangeArrowheads="1"/>
          </p:cNvSpPr>
          <p:nvPr>
            <p:ph type="body" idx="1"/>
          </p:nvPr>
        </p:nvSpPr>
        <p:spPr>
          <a:xfrm>
            <a:off x="685800" y="1981200"/>
            <a:ext cx="8001000" cy="4191000"/>
          </a:xfrm>
        </p:spPr>
        <p:txBody>
          <a:bodyPr/>
          <a:lstStyle/>
          <a:p>
            <a:pPr algn="just">
              <a:lnSpc>
                <a:spcPct val="90000"/>
              </a:lnSpc>
              <a:buFontTx/>
              <a:buNone/>
            </a:pPr>
            <a:r>
              <a:rPr lang="en-US" altLang="zh-CN" sz="2800">
                <a:latin typeface="Arial" panose="020B0604020202020204" pitchFamily="34" charset="0"/>
                <a:ea typeface="微软雅黑" panose="020B0503020204020204" charset="-122"/>
              </a:rPr>
              <a:t>           </a:t>
            </a:r>
            <a:r>
              <a:rPr lang="zh-CN" altLang="en-US" sz="2800" b="1">
                <a:latin typeface="Arial" panose="020B0604020202020204" pitchFamily="34" charset="0"/>
                <a:ea typeface="微软雅黑" panose="020B0503020204020204" charset="-122"/>
              </a:rPr>
              <a:t>当前世界氯碱工业技术正朝着以节能降耗为重点、以保护环境为时代要求的先进化、高新化方向发展，新技术、新工艺、新设备、新材料、新产品大量开发使用。如离子膜法电解制烧碱先进技术、离子膜制造高新技术、先进的 </a:t>
            </a:r>
            <a:r>
              <a:rPr lang="en-US" altLang="zh-CN" sz="2800" b="1">
                <a:latin typeface="Arial" panose="020B0604020202020204" pitchFamily="34" charset="0"/>
                <a:ea typeface="微软雅黑" panose="020B0503020204020204" charset="-122"/>
              </a:rPr>
              <a:t>DSA</a:t>
            </a:r>
            <a:r>
              <a:rPr lang="zh-CN" altLang="en-US" sz="2800" b="1">
                <a:latin typeface="Arial" panose="020B0604020202020204" pitchFamily="34" charset="0"/>
                <a:ea typeface="微软雅黑" panose="020B0503020204020204" charset="-122"/>
              </a:rPr>
              <a:t>法大容量现代隔膜电解槽技术、节能显著的三效逆流和四效逆流烧碱蒸发工艺技术、乙烯氧氯化法，氯乙烯制造技术以及以石油化工、天然气化工产品为原料发展大量有机氯产品的先进适用技术</a:t>
            </a:r>
            <a:r>
              <a:rPr lang="en-US" altLang="zh-CN" sz="2800" b="1">
                <a:latin typeface="Arial" panose="020B0604020202020204" pitchFamily="34" charset="0"/>
                <a:ea typeface="微软雅黑" panose="020B0503020204020204" charset="-122"/>
              </a:rPr>
              <a:t>.</a:t>
            </a:r>
            <a:endParaRPr lang="en-US" altLang="zh-CN" sz="2800" b="1">
              <a:latin typeface="Arial" panose="020B0604020202020204" pitchFamily="34" charset="0"/>
              <a:ea typeface="微软雅黑" panose="020B050302020402020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Grp="1" noChangeArrowheads="1"/>
          </p:cNvSpPr>
          <p:nvPr>
            <p:ph type="title"/>
          </p:nvPr>
        </p:nvSpPr>
        <p:spPr>
          <a:xfrm>
            <a:off x="755650" y="476885"/>
            <a:ext cx="8086090" cy="762000"/>
          </a:xfrm>
        </p:spPr>
        <p:txBody>
          <a:bodyPr/>
          <a:lstStyle/>
          <a:p>
            <a:r>
              <a:rPr lang="zh-CN" altLang="en-US" sz="3200" b="1">
                <a:solidFill>
                  <a:schemeClr val="tx1"/>
                </a:solidFill>
                <a:latin typeface="Arial" panose="020B0604020202020204" pitchFamily="34" charset="0"/>
                <a:ea typeface="微软雅黑" panose="020B0503020204020204" charset="-122"/>
              </a:rPr>
              <a:t>氯碱工业节能措施</a:t>
            </a:r>
            <a:r>
              <a:rPr lang="en-US" altLang="zh-CN" sz="3200" b="1">
                <a:solidFill>
                  <a:schemeClr val="tx1"/>
                </a:solidFill>
                <a:latin typeface="Arial" panose="020B0604020202020204" pitchFamily="34" charset="0"/>
                <a:ea typeface="微软雅黑" panose="020B0503020204020204" charset="-122"/>
              </a:rPr>
              <a:t>——</a:t>
            </a:r>
            <a:r>
              <a:rPr lang="zh-CN" altLang="en-US" sz="3200" b="1">
                <a:solidFill>
                  <a:schemeClr val="tx1"/>
                </a:solidFill>
                <a:latin typeface="Arial" panose="020B0604020202020204" pitchFamily="34" charset="0"/>
                <a:ea typeface="微软雅黑" panose="020B0503020204020204" charset="-122"/>
              </a:rPr>
              <a:t>氧还原替代氢析出</a:t>
            </a:r>
            <a:endParaRPr lang="zh-CN" altLang="en-US" sz="3200" b="1">
              <a:solidFill>
                <a:schemeClr val="tx1"/>
              </a:solidFill>
              <a:latin typeface="Arial" panose="020B0604020202020204" pitchFamily="34" charset="0"/>
              <a:ea typeface="微软雅黑" panose="020B0503020204020204" charset="-122"/>
            </a:endParaRPr>
          </a:p>
        </p:txBody>
      </p:sp>
      <p:pic>
        <p:nvPicPr>
          <p:cNvPr id="4" name="图片 3"/>
          <p:cNvPicPr>
            <a:picLocks noChangeAspect="1"/>
          </p:cNvPicPr>
          <p:nvPr/>
        </p:nvPicPr>
        <p:blipFill>
          <a:blip r:embed="rId1"/>
          <a:stretch>
            <a:fillRect/>
          </a:stretch>
        </p:blipFill>
        <p:spPr>
          <a:xfrm>
            <a:off x="539115" y="1844675"/>
            <a:ext cx="8195945" cy="381444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908685"/>
            <a:ext cx="9118600" cy="487489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836295"/>
            <a:ext cx="9140190" cy="482917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35560" y="1052830"/>
            <a:ext cx="9138285" cy="447421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Text Box 4"/>
          <p:cNvSpPr txBox="1">
            <a:spLocks noChangeArrowheads="1"/>
          </p:cNvSpPr>
          <p:nvPr/>
        </p:nvSpPr>
        <p:spPr bwMode="auto">
          <a:xfrm>
            <a:off x="1259840" y="1052830"/>
            <a:ext cx="320040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sz="4000" b="1">
                <a:solidFill>
                  <a:schemeClr val="tx2"/>
                </a:solidFill>
                <a:latin typeface="Arial" panose="020B0604020202020204" pitchFamily="34" charset="0"/>
                <a:ea typeface="微软雅黑" panose="020B0503020204020204" charset="-122"/>
              </a:rPr>
              <a:t>讨论</a:t>
            </a:r>
            <a:endParaRPr lang="zh-CN" sz="4000" b="1">
              <a:solidFill>
                <a:schemeClr val="tx2"/>
              </a:solidFill>
              <a:latin typeface="Arial" panose="020B0604020202020204" pitchFamily="34" charset="0"/>
              <a:ea typeface="微软雅黑" panose="020B0503020204020204" charset="-122"/>
            </a:endParaRPr>
          </a:p>
        </p:txBody>
      </p:sp>
      <p:sp>
        <p:nvSpPr>
          <p:cNvPr id="4" name="Text Box 4"/>
          <p:cNvSpPr txBox="1">
            <a:spLocks noChangeArrowheads="1"/>
          </p:cNvSpPr>
          <p:nvPr/>
        </p:nvSpPr>
        <p:spPr bwMode="auto">
          <a:xfrm>
            <a:off x="1835785" y="2781300"/>
            <a:ext cx="5537835"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sz="2800" b="1">
                <a:solidFill>
                  <a:schemeClr val="tx2"/>
                </a:solidFill>
                <a:latin typeface="Arial" panose="020B0604020202020204" pitchFamily="34" charset="0"/>
                <a:ea typeface="微软雅黑" panose="020B0503020204020204" charset="-122"/>
              </a:rPr>
              <a:t>氯碱工业中节约电能的措施主要有哪些？其中哪些措施最有效？</a:t>
            </a:r>
            <a:endParaRPr lang="zh-CN" sz="2800" b="1">
              <a:solidFill>
                <a:schemeClr val="tx2"/>
              </a:solidFill>
              <a:latin typeface="Arial" panose="020B0604020202020204" pitchFamily="34" charset="0"/>
              <a:ea typeface="微软雅黑" panose="020B050302020402020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23215" y="1124585"/>
            <a:ext cx="4572000" cy="645160"/>
          </a:xfrm>
          <a:prstGeom prst="rect">
            <a:avLst/>
          </a:prstGeom>
          <a:noFill/>
        </p:spPr>
        <p:txBody>
          <a:bodyPr wrap="square" rtlCol="0" anchor="t">
            <a:spAutoFit/>
          </a:bodyPr>
          <a:p>
            <a:r>
              <a:rPr lang="zh-CN" altLang="en-US" sz="3600" b="1">
                <a:latin typeface="Arial" panose="020B0604020202020204" pitchFamily="34" charset="0"/>
                <a:ea typeface="微软雅黑" panose="020B0503020204020204" charset="-122"/>
                <a:sym typeface="+mn-ea"/>
              </a:rPr>
              <a:t>电解食盐水的反应：</a:t>
            </a:r>
            <a:endParaRPr lang="zh-CN" altLang="en-US" sz="3600" b="1">
              <a:latin typeface="Arial" panose="020B0604020202020204" pitchFamily="34" charset="0"/>
              <a:ea typeface="微软雅黑" panose="020B0503020204020204" charset="-122"/>
              <a:sym typeface="+mn-ea"/>
            </a:endParaRPr>
          </a:p>
        </p:txBody>
      </p:sp>
      <p:pic>
        <p:nvPicPr>
          <p:cNvPr id="6" name="图片 5" descr="2.。。。"/>
          <p:cNvPicPr>
            <a:picLocks noChangeAspect="1"/>
          </p:cNvPicPr>
          <p:nvPr/>
        </p:nvPicPr>
        <p:blipFill>
          <a:blip r:embed="rId1"/>
          <a:stretch>
            <a:fillRect/>
          </a:stretch>
        </p:blipFill>
        <p:spPr>
          <a:xfrm>
            <a:off x="0" y="3140710"/>
            <a:ext cx="9144000" cy="3606800"/>
          </a:xfrm>
          <a:prstGeom prst="rect">
            <a:avLst/>
          </a:prstGeom>
        </p:spPr>
      </p:pic>
      <p:pic>
        <p:nvPicPr>
          <p:cNvPr id="2" name="图片 1" descr="屏幕截图 2025-11-19 030051"/>
          <p:cNvPicPr>
            <a:picLocks noChangeAspect="1"/>
          </p:cNvPicPr>
          <p:nvPr/>
        </p:nvPicPr>
        <p:blipFill>
          <a:blip r:embed="rId2"/>
          <a:srcRect r="2547"/>
          <a:stretch>
            <a:fillRect/>
          </a:stretch>
        </p:blipFill>
        <p:spPr>
          <a:xfrm>
            <a:off x="5507990" y="0"/>
            <a:ext cx="3604895" cy="348043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1409700" y="44450"/>
            <a:ext cx="6324600" cy="5835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latin typeface="微软雅黑" panose="020B0503020204020204" charset="-122"/>
                <a:ea typeface="微软雅黑" panose="020B0503020204020204" charset="-122"/>
                <a:cs typeface="微软雅黑" panose="020B0503020204020204" charset="-122"/>
              </a:rPr>
              <a:t>5.3   </a:t>
            </a:r>
            <a:r>
              <a:rPr lang="zh-CN" altLang="en-US" sz="3200" b="1">
                <a:latin typeface="微软雅黑" panose="020B0503020204020204" charset="-122"/>
                <a:ea typeface="微软雅黑" panose="020B0503020204020204" charset="-122"/>
                <a:cs typeface="微软雅黑" panose="020B0503020204020204" charset="-122"/>
              </a:rPr>
              <a:t>氯酸盐和高氯酸盐的电合成 </a:t>
            </a:r>
            <a:endParaRPr lang="zh-CN" altLang="en-US" sz="3200" b="1">
              <a:latin typeface="微软雅黑" panose="020B0503020204020204" charset="-122"/>
              <a:ea typeface="微软雅黑" panose="020B0503020204020204" charset="-122"/>
              <a:cs typeface="微软雅黑" panose="020B0503020204020204" charset="-122"/>
            </a:endParaRPr>
          </a:p>
        </p:txBody>
      </p:sp>
      <p:sp>
        <p:nvSpPr>
          <p:cNvPr id="37891" name="Rectangle 3"/>
          <p:cNvSpPr>
            <a:spLocks noChangeArrowheads="1"/>
          </p:cNvSpPr>
          <p:nvPr/>
        </p:nvSpPr>
        <p:spPr bwMode="auto">
          <a:xfrm>
            <a:off x="0" y="1414145"/>
            <a:ext cx="914400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latin typeface="Arial" panose="020B0604020202020204" pitchFamily="34" charset="0"/>
                <a:ea typeface="微软雅黑" panose="020B0503020204020204" charset="-122"/>
              </a:rPr>
              <a:t>    </a:t>
            </a:r>
            <a:r>
              <a:rPr lang="zh-CN" altLang="en-US" sz="2400">
                <a:solidFill>
                  <a:srgbClr val="FF3300"/>
                </a:solidFill>
                <a:latin typeface="Arial" panose="020B0604020202020204" pitchFamily="34" charset="0"/>
                <a:ea typeface="微软雅黑" panose="020B0503020204020204" charset="-122"/>
              </a:rPr>
              <a:t>工业上氯酸钠主要用于造纸工业的纸浆漂白</a:t>
            </a:r>
            <a:r>
              <a:rPr lang="zh-CN" altLang="en-US" sz="2400">
                <a:latin typeface="Arial" panose="020B0604020202020204" pitchFamily="34" charset="0"/>
                <a:ea typeface="微软雅黑" panose="020B0503020204020204" charset="-122"/>
              </a:rPr>
              <a:t>。例如美国在</a:t>
            </a:r>
            <a:r>
              <a:rPr lang="en-US" altLang="zh-CN" sz="2400">
                <a:latin typeface="Arial" panose="020B0604020202020204" pitchFamily="34" charset="0"/>
                <a:ea typeface="微软雅黑" panose="020B0503020204020204" charset="-122"/>
              </a:rPr>
              <a:t>1978</a:t>
            </a:r>
            <a:r>
              <a:rPr lang="zh-CN" altLang="en-US" sz="2400">
                <a:latin typeface="Arial" panose="020B0604020202020204" pitchFamily="34" charset="0"/>
                <a:ea typeface="微软雅黑" panose="020B0503020204020204" charset="-122"/>
              </a:rPr>
              <a:t>年氯酸钠的年产量为</a:t>
            </a:r>
            <a:r>
              <a:rPr lang="en-US" altLang="zh-CN" sz="2400">
                <a:latin typeface="Arial" panose="020B0604020202020204" pitchFamily="34" charset="0"/>
                <a:ea typeface="微软雅黑" panose="020B0503020204020204" charset="-122"/>
              </a:rPr>
              <a:t>20</a:t>
            </a:r>
            <a:r>
              <a:rPr lang="zh-CN" altLang="en-US" sz="2400">
                <a:latin typeface="Arial" panose="020B0604020202020204" pitchFamily="34" charset="0"/>
                <a:ea typeface="微软雅黑" panose="020B0503020204020204" charset="-122"/>
              </a:rPr>
              <a:t>多万吨，其中</a:t>
            </a:r>
            <a:r>
              <a:rPr lang="en-US" altLang="zh-CN" sz="2400">
                <a:latin typeface="Arial" panose="020B0604020202020204" pitchFamily="34" charset="0"/>
                <a:ea typeface="微软雅黑" panose="020B0503020204020204" charset="-122"/>
              </a:rPr>
              <a:t>78</a:t>
            </a:r>
            <a:r>
              <a:rPr lang="zh-CN" altLang="en-US" sz="2400">
                <a:latin typeface="Arial" panose="020B0604020202020204" pitchFamily="34" charset="0"/>
                <a:ea typeface="微软雅黑" panose="020B0503020204020204" charset="-122"/>
              </a:rPr>
              <a:t>％用于漂白，目前全世界年产量超过</a:t>
            </a:r>
            <a:r>
              <a:rPr lang="en-US" altLang="zh-CN" sz="2400">
                <a:latin typeface="Arial" panose="020B0604020202020204" pitchFamily="34" charset="0"/>
                <a:ea typeface="微软雅黑" panose="020B0503020204020204" charset="-122"/>
              </a:rPr>
              <a:t>110</a:t>
            </a:r>
            <a:r>
              <a:rPr lang="zh-CN" altLang="en-US" sz="2400">
                <a:latin typeface="Arial" panose="020B0604020202020204" pitchFamily="34" charset="0"/>
                <a:ea typeface="微软雅黑" panose="020B0503020204020204" charset="-122"/>
              </a:rPr>
              <a:t>万吨。</a:t>
            </a:r>
            <a:endParaRPr lang="zh-CN" altLang="en-US" sz="2400">
              <a:latin typeface="Arial" panose="020B0604020202020204" pitchFamily="34" charset="0"/>
              <a:ea typeface="微软雅黑" panose="020B0503020204020204" charset="-122"/>
            </a:endParaRPr>
          </a:p>
          <a:p>
            <a:r>
              <a:rPr lang="zh-CN" altLang="en-US" sz="2400">
                <a:solidFill>
                  <a:srgbClr val="FF3300"/>
                </a:solidFill>
                <a:latin typeface="Arial" panose="020B0604020202020204" pitchFamily="34" charset="0"/>
                <a:ea typeface="微软雅黑" panose="020B0503020204020204" charset="-122"/>
              </a:rPr>
              <a:t>氯酸钠主要用电合成法生产。</a:t>
            </a:r>
            <a:endParaRPr lang="zh-CN" altLang="en-US" sz="2400" b="1">
              <a:latin typeface="Arial" panose="020B0604020202020204" pitchFamily="34" charset="0"/>
              <a:ea typeface="微软雅黑" panose="020B0503020204020204" charset="-122"/>
            </a:endParaRPr>
          </a:p>
        </p:txBody>
      </p:sp>
      <p:sp>
        <p:nvSpPr>
          <p:cNvPr id="37892" name="Text Box 4"/>
          <p:cNvSpPr txBox="1">
            <a:spLocks noChangeArrowheads="1"/>
          </p:cNvSpPr>
          <p:nvPr/>
        </p:nvSpPr>
        <p:spPr bwMode="auto">
          <a:xfrm>
            <a:off x="0" y="855980"/>
            <a:ext cx="3200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solidFill>
                  <a:schemeClr val="tx2"/>
                </a:solidFill>
                <a:latin typeface="Arial" panose="020B0604020202020204" pitchFamily="34" charset="0"/>
                <a:ea typeface="微软雅黑" panose="020B0503020204020204" charset="-122"/>
              </a:rPr>
              <a:t>5.3.1  </a:t>
            </a:r>
            <a:r>
              <a:rPr lang="zh-CN" altLang="en-US" sz="2800" b="1">
                <a:latin typeface="Arial" panose="020B0604020202020204" pitchFamily="34" charset="0"/>
                <a:ea typeface="微软雅黑" panose="020B0503020204020204" charset="-122"/>
              </a:rPr>
              <a:t>氯酸钠</a:t>
            </a:r>
            <a:endParaRPr lang="zh-CN" altLang="en-US" sz="2800" b="1">
              <a:latin typeface="Arial" panose="020B0604020202020204" pitchFamily="34" charset="0"/>
              <a:ea typeface="微软雅黑" panose="020B0503020204020204" charset="-122"/>
            </a:endParaRPr>
          </a:p>
        </p:txBody>
      </p:sp>
      <p:sp>
        <p:nvSpPr>
          <p:cNvPr id="37894" name="Text Box 6"/>
          <p:cNvSpPr txBox="1">
            <a:spLocks noChangeArrowheads="1"/>
          </p:cNvSpPr>
          <p:nvPr/>
        </p:nvSpPr>
        <p:spPr bwMode="auto">
          <a:xfrm>
            <a:off x="31115" y="6073775"/>
            <a:ext cx="19812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阴极反应：</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sp>
        <p:nvSpPr>
          <p:cNvPr id="37895" name="Text Box 7"/>
          <p:cNvSpPr txBox="1">
            <a:spLocks noChangeArrowheads="1"/>
          </p:cNvSpPr>
          <p:nvPr/>
        </p:nvSpPr>
        <p:spPr bwMode="auto">
          <a:xfrm>
            <a:off x="31115" y="5450840"/>
            <a:ext cx="1752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阳极反应：</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graphicFrame>
        <p:nvGraphicFramePr>
          <p:cNvPr id="37896" name="Object 8"/>
          <p:cNvGraphicFramePr>
            <a:graphicFrameLocks noChangeAspect="1"/>
          </p:cNvGraphicFramePr>
          <p:nvPr/>
        </p:nvGraphicFramePr>
        <p:xfrm>
          <a:off x="1936115" y="5222240"/>
          <a:ext cx="2590800" cy="1025525"/>
        </p:xfrm>
        <a:graphic>
          <a:graphicData uri="http://schemas.openxmlformats.org/presentationml/2006/ole">
            <mc:AlternateContent xmlns:mc="http://schemas.openxmlformats.org/markup-compatibility/2006">
              <mc:Choice xmlns:v="urn:schemas-microsoft-com:vml" Requires="v">
                <p:oleObj spid="_x0000_s2" name="Equation" r:id="rId1" imgW="736600" imgH="292100" progId="Equation.3">
                  <p:embed/>
                </p:oleObj>
              </mc:Choice>
              <mc:Fallback>
                <p:oleObj name="Equation" r:id="rId1" imgW="736600" imgH="2921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6115" y="5222240"/>
                        <a:ext cx="2590800"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7" name="Object 9"/>
          <p:cNvGraphicFramePr>
            <a:graphicFrameLocks noChangeAspect="1"/>
          </p:cNvGraphicFramePr>
          <p:nvPr/>
        </p:nvGraphicFramePr>
        <p:xfrm>
          <a:off x="1936115" y="5921375"/>
          <a:ext cx="3733800" cy="1020763"/>
        </p:xfrm>
        <a:graphic>
          <a:graphicData uri="http://schemas.openxmlformats.org/presentationml/2006/ole">
            <mc:AlternateContent xmlns:mc="http://schemas.openxmlformats.org/markup-compatibility/2006">
              <mc:Choice xmlns:v="urn:schemas-microsoft-com:vml" Requires="v">
                <p:oleObj spid="_x0000_s3" name="Equation" r:id="rId3" imgW="1066800" imgH="292100" progId="Equation.3">
                  <p:embed/>
                </p:oleObj>
              </mc:Choice>
              <mc:Fallback>
                <p:oleObj name="Equation" r:id="rId3" imgW="1066800" imgH="2921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6115" y="5921375"/>
                        <a:ext cx="3733800" cy="1020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3" name="Rectangle 5"/>
          <p:cNvSpPr>
            <a:spLocks noChangeArrowheads="1"/>
          </p:cNvSpPr>
          <p:nvPr/>
        </p:nvSpPr>
        <p:spPr bwMode="auto">
          <a:xfrm>
            <a:off x="-1905" y="3962400"/>
            <a:ext cx="487426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a:latin typeface="Arial" panose="020B0604020202020204" pitchFamily="34" charset="0"/>
                <a:ea typeface="微软雅黑" panose="020B0503020204020204" charset="-122"/>
              </a:rPr>
              <a:t>1</a:t>
            </a:r>
            <a:r>
              <a:rPr lang="zh-CN" altLang="en-US" sz="2400" b="1">
                <a:latin typeface="Arial" panose="020B0604020202020204" pitchFamily="34" charset="0"/>
                <a:ea typeface="微软雅黑" panose="020B0503020204020204" charset="-122"/>
              </a:rPr>
              <a:t>、原理 </a:t>
            </a:r>
            <a:endParaRPr lang="zh-CN" altLang="en-US" sz="2400" b="1">
              <a:latin typeface="Arial" panose="020B0604020202020204" pitchFamily="34" charset="0"/>
              <a:ea typeface="微软雅黑" panose="020B0503020204020204" charset="-122"/>
            </a:endParaRPr>
          </a:p>
          <a:p>
            <a:r>
              <a:rPr lang="zh-CN" altLang="en-US" sz="2400" b="1">
                <a:latin typeface="Arial" panose="020B0604020202020204" pitchFamily="34" charset="0"/>
                <a:ea typeface="微软雅黑" panose="020B0503020204020204" charset="-122"/>
              </a:rPr>
              <a:t>   已知电解食盐水时，两个电极上的主要反应为： </a:t>
            </a:r>
            <a:endParaRPr lang="zh-CN" altLang="en-US" sz="2400" b="1">
              <a:latin typeface="Arial" panose="020B0604020202020204" pitchFamily="34" charset="0"/>
              <a:ea typeface="微软雅黑" panose="020B0503020204020204" charset="-122"/>
            </a:endParaRPr>
          </a:p>
        </p:txBody>
      </p:sp>
      <p:pic>
        <p:nvPicPr>
          <p:cNvPr id="5" name="图片 4" descr="屏幕截图 2025-11-19 030051"/>
          <p:cNvPicPr>
            <a:picLocks noChangeAspect="1"/>
          </p:cNvPicPr>
          <p:nvPr/>
        </p:nvPicPr>
        <p:blipFill>
          <a:blip r:embed="rId5"/>
          <a:srcRect r="2547"/>
          <a:stretch>
            <a:fillRect/>
          </a:stretch>
        </p:blipFill>
        <p:spPr>
          <a:xfrm>
            <a:off x="5539105" y="3213100"/>
            <a:ext cx="3604895" cy="348043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467995" y="260350"/>
            <a:ext cx="757682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zh-CN" altLang="en-US" sz="2400" b="1">
                <a:latin typeface="Arial" panose="020B0604020202020204" pitchFamily="34" charset="0"/>
                <a:ea typeface="微软雅黑" panose="020B0503020204020204" charset="-122"/>
              </a:rPr>
              <a:t>若两极间无隔膜，则溶解氯的水解作用将为</a:t>
            </a:r>
            <a:r>
              <a:rPr lang="en-US" altLang="zh-CN" sz="2400" b="1">
                <a:latin typeface="Arial" panose="020B0604020202020204" pitchFamily="34" charset="0"/>
                <a:ea typeface="微软雅黑" panose="020B0503020204020204" charset="-122"/>
              </a:rPr>
              <a:t>OH</a:t>
            </a:r>
            <a:r>
              <a:rPr lang="en-US" altLang="zh-CN" sz="2400" b="1" baseline="30000">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所促进，</a:t>
            </a:r>
            <a:r>
              <a:rPr lang="zh-CN" altLang="en-US" sz="2400">
                <a:latin typeface="Arial" panose="020B0604020202020204" pitchFamily="34" charset="0"/>
                <a:ea typeface="微软雅黑" panose="020B0503020204020204" charset="-122"/>
              </a:rPr>
              <a:t>生成</a:t>
            </a:r>
            <a:r>
              <a:rPr lang="zh-CN" altLang="en-US" sz="2800" b="1">
                <a:latin typeface="Arial" panose="020B0604020202020204" pitchFamily="34" charset="0"/>
                <a:ea typeface="微软雅黑" panose="020B0503020204020204" charset="-122"/>
              </a:rPr>
              <a:t>次氯酸盐，</a:t>
            </a:r>
            <a:r>
              <a:rPr lang="zh-CN" altLang="en-US" sz="2800">
                <a:latin typeface="Arial" panose="020B0604020202020204" pitchFamily="34" charset="0"/>
                <a:ea typeface="微软雅黑" panose="020B0503020204020204" charset="-122"/>
              </a:rPr>
              <a:t>次氯酸盐可进一步生成</a:t>
            </a:r>
            <a:r>
              <a:rPr lang="zh-CN" altLang="en-US" sz="2800" b="1">
                <a:latin typeface="Arial" panose="020B0604020202020204" pitchFamily="34" charset="0"/>
                <a:ea typeface="微软雅黑" panose="020B0503020204020204" charset="-122"/>
              </a:rPr>
              <a:t>氯酸盐</a:t>
            </a:r>
            <a:r>
              <a:rPr lang="zh-CN" altLang="en-US" sz="2400" b="1">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溶液中的主要反应有： </a:t>
            </a:r>
            <a:endParaRPr lang="zh-CN" altLang="en-US" sz="2400">
              <a:latin typeface="Arial" panose="020B0604020202020204" pitchFamily="34" charset="0"/>
              <a:ea typeface="微软雅黑" panose="020B0503020204020204" charset="-122"/>
            </a:endParaRPr>
          </a:p>
        </p:txBody>
      </p:sp>
      <p:graphicFrame>
        <p:nvGraphicFramePr>
          <p:cNvPr id="38915" name="Object 3"/>
          <p:cNvGraphicFramePr>
            <a:graphicFrameLocks noChangeAspect="1"/>
          </p:cNvGraphicFramePr>
          <p:nvPr/>
        </p:nvGraphicFramePr>
        <p:xfrm>
          <a:off x="1524000" y="1524000"/>
          <a:ext cx="4868863" cy="668338"/>
        </p:xfrm>
        <a:graphic>
          <a:graphicData uri="http://schemas.openxmlformats.org/presentationml/2006/ole">
            <mc:AlternateContent xmlns:mc="http://schemas.openxmlformats.org/markup-compatibility/2006">
              <mc:Choice xmlns:v="urn:schemas-microsoft-com:vml" Requires="v">
                <p:oleObj spid="_x0000_s2" name="Equation" r:id="rId1" imgW="1384300" imgH="190500" progId="Equation.3">
                  <p:embed/>
                </p:oleObj>
              </mc:Choice>
              <mc:Fallback>
                <p:oleObj name="Equation" r:id="rId1" imgW="1384300" imgH="1905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0"/>
                        <a:ext cx="4868863" cy="668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6" name="Object 4"/>
          <p:cNvGraphicFramePr>
            <a:graphicFrameLocks noChangeAspect="1"/>
          </p:cNvGraphicFramePr>
          <p:nvPr/>
        </p:nvGraphicFramePr>
        <p:xfrm>
          <a:off x="1403350" y="2192655"/>
          <a:ext cx="5050155" cy="554355"/>
        </p:xfrm>
        <a:graphic>
          <a:graphicData uri="http://schemas.openxmlformats.org/presentationml/2006/ole">
            <mc:AlternateContent xmlns:mc="http://schemas.openxmlformats.org/markup-compatibility/2006">
              <mc:Choice xmlns:v="urn:schemas-microsoft-com:vml" Requires="v">
                <p:oleObj spid="_x0000_s3" name="Equation" r:id="rId3" imgW="2082800" imgH="228600" progId="Equation.3">
                  <p:embed/>
                </p:oleObj>
              </mc:Choice>
              <mc:Fallback>
                <p:oleObj name="Equation" r:id="rId3" imgW="2082800" imgH="228600" progId="Equation.3">
                  <p:embed/>
                  <p:pic>
                    <p:nvPicPr>
                      <p:cNvPr id="0" name="Object 4"/>
                      <p:cNvPicPr>
                        <a:picLocks noChangeAspect="1" noChangeArrowheads="1"/>
                      </p:cNvPicPr>
                      <p:nvPr/>
                    </p:nvPicPr>
                    <p:blipFill>
                      <a:blip r:embed="rId4"/>
                      <a:srcRect/>
                      <a:stretch>
                        <a:fillRect/>
                      </a:stretch>
                    </p:blipFill>
                    <p:spPr bwMode="auto">
                      <a:xfrm>
                        <a:off x="1403350" y="2192655"/>
                        <a:ext cx="5050155" cy="5543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7" name="Rectangle 5"/>
          <p:cNvSpPr>
            <a:spLocks noChangeArrowheads="1"/>
          </p:cNvSpPr>
          <p:nvPr/>
        </p:nvSpPr>
        <p:spPr bwMode="auto">
          <a:xfrm>
            <a:off x="683895" y="3037840"/>
            <a:ext cx="5562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latin typeface="Arial" panose="020B0604020202020204" pitchFamily="34" charset="0"/>
                <a:ea typeface="微软雅黑" panose="020B0503020204020204" charset="-122"/>
              </a:rPr>
              <a:t>随后完成一慢反应步骤：</a:t>
            </a:r>
            <a:endParaRPr lang="zh-CN" altLang="en-US" sz="2400" b="1">
              <a:latin typeface="Arial" panose="020B0604020202020204" pitchFamily="34" charset="0"/>
              <a:ea typeface="微软雅黑" panose="020B0503020204020204" charset="-122"/>
            </a:endParaRPr>
          </a:p>
        </p:txBody>
      </p:sp>
      <p:graphicFrame>
        <p:nvGraphicFramePr>
          <p:cNvPr id="38918" name="Object 6"/>
          <p:cNvGraphicFramePr>
            <a:graphicFrameLocks noChangeAspect="1"/>
          </p:cNvGraphicFramePr>
          <p:nvPr/>
        </p:nvGraphicFramePr>
        <p:xfrm>
          <a:off x="755650" y="3644900"/>
          <a:ext cx="7832090" cy="833755"/>
        </p:xfrm>
        <a:graphic>
          <a:graphicData uri="http://schemas.openxmlformats.org/presentationml/2006/ole">
            <mc:AlternateContent xmlns:mc="http://schemas.openxmlformats.org/markup-compatibility/2006">
              <mc:Choice xmlns:v="urn:schemas-microsoft-com:vml" Requires="v">
                <p:oleObj spid="_x0000_s4" name="Equation" r:id="rId5" imgW="2387600" imgH="254000" progId="Equation.3">
                  <p:embed/>
                </p:oleObj>
              </mc:Choice>
              <mc:Fallback>
                <p:oleObj name="Equation" r:id="rId5" imgW="2387600" imgH="254000" progId="Equation.3">
                  <p:embed/>
                  <p:pic>
                    <p:nvPicPr>
                      <p:cNvPr id="0" name="Object 6"/>
                      <p:cNvPicPr>
                        <a:picLocks noChangeAspect="1" noChangeArrowheads="1"/>
                      </p:cNvPicPr>
                      <p:nvPr/>
                    </p:nvPicPr>
                    <p:blipFill>
                      <a:blip r:embed="rId6"/>
                      <a:srcRect/>
                      <a:stretch>
                        <a:fillRect/>
                      </a:stretch>
                    </p:blipFill>
                    <p:spPr bwMode="auto">
                      <a:xfrm>
                        <a:off x="755650" y="3644900"/>
                        <a:ext cx="7832090" cy="8337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9" name="Text Box 7"/>
          <p:cNvSpPr txBox="1">
            <a:spLocks noChangeArrowheads="1"/>
          </p:cNvSpPr>
          <p:nvPr/>
        </p:nvSpPr>
        <p:spPr bwMode="auto">
          <a:xfrm>
            <a:off x="611505" y="4652645"/>
            <a:ext cx="777240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FF3300"/>
                </a:solidFill>
                <a:latin typeface="Arial" panose="020B0604020202020204" pitchFamily="34" charset="0"/>
                <a:ea typeface="微软雅黑" panose="020B0503020204020204" charset="-122"/>
              </a:rPr>
              <a:t>此反应宜在低的温度和微酸性的溶液中进行</a:t>
            </a:r>
            <a:r>
              <a:rPr lang="zh-CN" altLang="en-US" sz="2800" b="1">
                <a:latin typeface="Arial" panose="020B0604020202020204" pitchFamily="34" charset="0"/>
                <a:ea typeface="微软雅黑" panose="020B0503020204020204" charset="-122"/>
              </a:rPr>
              <a:t>。总反应为</a:t>
            </a:r>
            <a:r>
              <a:rPr lang="zh-CN" altLang="en-US" sz="2800">
                <a:latin typeface="Arial" panose="020B0604020202020204" pitchFamily="34" charset="0"/>
                <a:ea typeface="微软雅黑" panose="020B0503020204020204" charset="-122"/>
              </a:rPr>
              <a:t> </a:t>
            </a:r>
            <a:endParaRPr lang="zh-CN" altLang="en-US" sz="2800">
              <a:latin typeface="Arial" panose="020B0604020202020204" pitchFamily="34" charset="0"/>
              <a:ea typeface="微软雅黑" panose="020B0503020204020204" charset="-122"/>
            </a:endParaRPr>
          </a:p>
        </p:txBody>
      </p:sp>
      <p:graphicFrame>
        <p:nvGraphicFramePr>
          <p:cNvPr id="38920" name="Object 8"/>
          <p:cNvGraphicFramePr>
            <a:graphicFrameLocks noChangeAspect="1"/>
          </p:cNvGraphicFramePr>
          <p:nvPr/>
        </p:nvGraphicFramePr>
        <p:xfrm>
          <a:off x="1043940" y="5724525"/>
          <a:ext cx="6597650" cy="765810"/>
        </p:xfrm>
        <a:graphic>
          <a:graphicData uri="http://schemas.openxmlformats.org/presentationml/2006/ole">
            <mc:AlternateContent xmlns:mc="http://schemas.openxmlformats.org/markup-compatibility/2006">
              <mc:Choice xmlns:v="urn:schemas-microsoft-com:vml" Requires="v">
                <p:oleObj spid="_x0000_s5" name="Equation" r:id="rId7" imgW="1968500" imgH="228600" progId="Equation.3">
                  <p:embed/>
                </p:oleObj>
              </mc:Choice>
              <mc:Fallback>
                <p:oleObj name="Equation" r:id="rId7" imgW="1968500" imgH="228600" progId="Equation.3">
                  <p:embed/>
                  <p:pic>
                    <p:nvPicPr>
                      <p:cNvPr id="0" name="Object 8"/>
                      <p:cNvPicPr>
                        <a:picLocks noChangeAspect="1" noChangeArrowheads="1"/>
                      </p:cNvPicPr>
                      <p:nvPr/>
                    </p:nvPicPr>
                    <p:blipFill>
                      <a:blip r:embed="rId8"/>
                      <a:srcRect/>
                      <a:stretch>
                        <a:fillRect/>
                      </a:stretch>
                    </p:blipFill>
                    <p:spPr bwMode="auto">
                      <a:xfrm>
                        <a:off x="1043940" y="5724525"/>
                        <a:ext cx="6597650" cy="765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828040" y="1024890"/>
            <a:ext cx="7315200"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600" b="1">
                <a:latin typeface="Arial" panose="020B0604020202020204" pitchFamily="34" charset="0"/>
                <a:ea typeface="微软雅黑" panose="020B0503020204020204" charset="-122"/>
              </a:rPr>
              <a:t>此外，</a:t>
            </a:r>
            <a:r>
              <a:rPr lang="en-US" altLang="zh-CN" sz="2600" b="1">
                <a:latin typeface="Arial" panose="020B0604020202020204" pitchFamily="34" charset="0"/>
                <a:ea typeface="微软雅黑" panose="020B0503020204020204" charset="-122"/>
              </a:rPr>
              <a:t>ClO</a:t>
            </a:r>
            <a:r>
              <a:rPr lang="en-US" altLang="zh-CN" sz="2600" b="1" baseline="30000">
                <a:latin typeface="Arial" panose="020B0604020202020204" pitchFamily="34" charset="0"/>
                <a:ea typeface="微软雅黑" panose="020B0503020204020204" charset="-122"/>
              </a:rPr>
              <a:t>-</a:t>
            </a:r>
            <a:r>
              <a:rPr lang="zh-CN" altLang="en-US" sz="2600" b="1">
                <a:latin typeface="Arial" panose="020B0604020202020204" pitchFamily="34" charset="0"/>
                <a:ea typeface="微软雅黑" panose="020B0503020204020204" charset="-122"/>
              </a:rPr>
              <a:t>在阳极还会发生氧化反应 </a:t>
            </a:r>
            <a:endParaRPr lang="zh-CN" altLang="en-US" sz="2600" b="1">
              <a:latin typeface="Arial" panose="020B0604020202020204" pitchFamily="34" charset="0"/>
              <a:ea typeface="微软雅黑" panose="020B0503020204020204" charset="-122"/>
            </a:endParaRPr>
          </a:p>
        </p:txBody>
      </p:sp>
      <p:graphicFrame>
        <p:nvGraphicFramePr>
          <p:cNvPr id="39939" name="Object 3"/>
          <p:cNvGraphicFramePr>
            <a:graphicFrameLocks noChangeAspect="1"/>
          </p:cNvGraphicFramePr>
          <p:nvPr/>
        </p:nvGraphicFramePr>
        <p:xfrm>
          <a:off x="251460" y="1412875"/>
          <a:ext cx="8699500" cy="1082675"/>
        </p:xfrm>
        <a:graphic>
          <a:graphicData uri="http://schemas.openxmlformats.org/presentationml/2006/ole">
            <mc:AlternateContent xmlns:mc="http://schemas.openxmlformats.org/markup-compatibility/2006">
              <mc:Choice xmlns:v="urn:schemas-microsoft-com:vml" Requires="v">
                <p:oleObj spid="_x0000_s2" name="Equation" r:id="rId1" imgW="3162300" imgH="393700" progId="Equation.3">
                  <p:embed/>
                </p:oleObj>
              </mc:Choice>
              <mc:Fallback>
                <p:oleObj name="Equation" r:id="rId1" imgW="3162300" imgH="393700" progId="Equation.3">
                  <p:embed/>
                  <p:pic>
                    <p:nvPicPr>
                      <p:cNvPr id="0" name="Object 3"/>
                      <p:cNvPicPr>
                        <a:picLocks noChangeAspect="1" noChangeArrowheads="1"/>
                      </p:cNvPicPr>
                      <p:nvPr/>
                    </p:nvPicPr>
                    <p:blipFill>
                      <a:blip r:embed="rId2"/>
                      <a:srcRect/>
                      <a:stretch>
                        <a:fillRect/>
                      </a:stretch>
                    </p:blipFill>
                    <p:spPr bwMode="auto">
                      <a:xfrm>
                        <a:off x="251460" y="1412875"/>
                        <a:ext cx="8699500"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0" name="Text Box 4"/>
          <p:cNvSpPr txBox="1">
            <a:spLocks noChangeArrowheads="1"/>
          </p:cNvSpPr>
          <p:nvPr/>
        </p:nvSpPr>
        <p:spPr bwMode="auto">
          <a:xfrm>
            <a:off x="828040" y="2495550"/>
            <a:ext cx="7543800" cy="891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600">
                <a:latin typeface="Arial" panose="020B0604020202020204" pitchFamily="34" charset="0"/>
                <a:ea typeface="微软雅黑" panose="020B0503020204020204" charset="-122"/>
              </a:rPr>
              <a:t>从而引起电能浪费，故</a:t>
            </a:r>
            <a:r>
              <a:rPr lang="zh-CN" altLang="en-US" sz="2600" b="1">
                <a:solidFill>
                  <a:srgbClr val="FF0000"/>
                </a:solidFill>
                <a:latin typeface="Arial" panose="020B0604020202020204" pitchFamily="34" charset="0"/>
                <a:ea typeface="微软雅黑" panose="020B0503020204020204" charset="-122"/>
              </a:rPr>
              <a:t>一般维持电解液中</a:t>
            </a:r>
            <a:r>
              <a:rPr lang="en-US" altLang="zh-CN" sz="2600" b="1">
                <a:solidFill>
                  <a:srgbClr val="FF0000"/>
                </a:solidFill>
                <a:latin typeface="Arial" panose="020B0604020202020204" pitchFamily="34" charset="0"/>
                <a:ea typeface="微软雅黑" panose="020B0503020204020204" charset="-122"/>
              </a:rPr>
              <a:t>ClO</a:t>
            </a:r>
            <a:r>
              <a:rPr lang="en-US" altLang="zh-CN" sz="2600" b="1" baseline="30000">
                <a:solidFill>
                  <a:srgbClr val="FF0000"/>
                </a:solidFill>
                <a:latin typeface="Arial" panose="020B0604020202020204" pitchFamily="34" charset="0"/>
                <a:ea typeface="微软雅黑" panose="020B0503020204020204" charset="-122"/>
              </a:rPr>
              <a:t>-</a:t>
            </a:r>
            <a:r>
              <a:rPr lang="zh-CN" altLang="en-US" sz="2600" b="1">
                <a:solidFill>
                  <a:srgbClr val="FF0000"/>
                </a:solidFill>
                <a:latin typeface="Arial" panose="020B0604020202020204" pitchFamily="34" charset="0"/>
                <a:ea typeface="微软雅黑" panose="020B0503020204020204" charset="-122"/>
              </a:rPr>
              <a:t>浓度不能太高</a:t>
            </a:r>
            <a:r>
              <a:rPr lang="zh-CN" altLang="en-US" sz="2600">
                <a:latin typeface="Arial" panose="020B0604020202020204" pitchFamily="34" charset="0"/>
                <a:ea typeface="微软雅黑" panose="020B0503020204020204" charset="-122"/>
              </a:rPr>
              <a:t>，以减少此反应的进行 。</a:t>
            </a:r>
            <a:endParaRPr lang="zh-CN" altLang="en-US" sz="2600">
              <a:latin typeface="Arial" panose="020B0604020202020204" pitchFamily="34" charset="0"/>
              <a:ea typeface="微软雅黑" panose="020B0503020204020204" charset="-122"/>
            </a:endParaRPr>
          </a:p>
        </p:txBody>
      </p:sp>
      <p:sp>
        <p:nvSpPr>
          <p:cNvPr id="3" name="文本框 2"/>
          <p:cNvSpPr txBox="1"/>
          <p:nvPr/>
        </p:nvSpPr>
        <p:spPr>
          <a:xfrm>
            <a:off x="581025" y="4292600"/>
            <a:ext cx="7790815" cy="1196340"/>
          </a:xfrm>
          <a:prstGeom prst="rect">
            <a:avLst/>
          </a:prstGeom>
          <a:noFill/>
        </p:spPr>
        <p:txBody>
          <a:bodyPr wrap="square" rtlCol="0" anchor="t">
            <a:noAutofit/>
          </a:bodyPr>
          <a:p>
            <a:r>
              <a:rPr lang="zh-CN" altLang="en-US" sz="2800">
                <a:latin typeface="Arial" panose="020B0604020202020204" pitchFamily="34" charset="0"/>
                <a:ea typeface="微软雅黑" panose="020B0503020204020204" charset="-122"/>
                <a:sym typeface="+mn-ea"/>
              </a:rPr>
              <a:t>近</a:t>
            </a:r>
            <a:r>
              <a:rPr lang="en-US" altLang="zh-CN" sz="2800">
                <a:latin typeface="Arial" panose="020B0604020202020204" pitchFamily="34" charset="0"/>
                <a:ea typeface="微软雅黑" panose="020B0503020204020204" charset="-122"/>
                <a:sym typeface="+mn-ea"/>
              </a:rPr>
              <a:t>20</a:t>
            </a:r>
            <a:r>
              <a:rPr lang="zh-CN" altLang="en-US" sz="2800">
                <a:latin typeface="Arial" panose="020B0604020202020204" pitchFamily="34" charset="0"/>
                <a:ea typeface="微软雅黑" panose="020B0503020204020204" charset="-122"/>
                <a:sym typeface="+mn-ea"/>
              </a:rPr>
              <a:t>年来，电合成氯酸钠，在</a:t>
            </a:r>
            <a:r>
              <a:rPr lang="zh-CN" altLang="en-US" sz="2800" b="1">
                <a:latin typeface="Arial" panose="020B0604020202020204" pitchFamily="34" charset="0"/>
                <a:ea typeface="微软雅黑" panose="020B0503020204020204" charset="-122"/>
                <a:sym typeface="+mn-ea"/>
              </a:rPr>
              <a:t>电极材料的改进、</a:t>
            </a:r>
            <a:r>
              <a:rPr lang="zh-CN" altLang="en-US" sz="2800" b="1">
                <a:latin typeface="Arial" panose="020B0604020202020204" pitchFamily="34" charset="0"/>
                <a:ea typeface="微软雅黑" panose="020B0503020204020204" charset="-122"/>
                <a:sym typeface="+mn-ea"/>
              </a:rPr>
              <a:t>缩小电极间隙、加速电解液流动、增加一个分开的化学反应器</a:t>
            </a:r>
            <a:r>
              <a:rPr lang="zh-CN" altLang="en-US" sz="2800">
                <a:latin typeface="Arial" panose="020B0604020202020204" pitchFamily="34" charset="0"/>
                <a:ea typeface="微软雅黑" panose="020B0503020204020204" charset="-122"/>
                <a:sym typeface="+mn-ea"/>
              </a:rPr>
              <a:t>等方面均取得显著成果。</a:t>
            </a:r>
            <a:r>
              <a:rPr lang="zh-CN" altLang="en-US" sz="2800" b="1">
                <a:latin typeface="Arial" panose="020B0604020202020204" pitchFamily="34" charset="0"/>
                <a:ea typeface="微软雅黑" panose="020B0503020204020204" charset="-122"/>
                <a:sym typeface="+mn-ea"/>
              </a:rPr>
              <a:t> </a:t>
            </a:r>
            <a:endParaRPr lang="zh-CN" altLang="en-US" sz="2800" b="1">
              <a:latin typeface="Arial" panose="020B0604020202020204" pitchFamily="34" charset="0"/>
              <a:ea typeface="微软雅黑" panose="020B0503020204020204" charset="-122"/>
              <a:sym typeface="+mn-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1" name="Text Box 5"/>
          <p:cNvSpPr txBox="1">
            <a:spLocks noChangeArrowheads="1"/>
          </p:cNvSpPr>
          <p:nvPr/>
        </p:nvSpPr>
        <p:spPr bwMode="auto">
          <a:xfrm>
            <a:off x="609600" y="44450"/>
            <a:ext cx="32004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ea typeface="微软雅黑" panose="020B0503020204020204" charset="-122"/>
              </a:rPr>
              <a:t>2.</a:t>
            </a:r>
            <a:r>
              <a:rPr lang="zh-CN" altLang="en-US" sz="3200" b="1">
                <a:ea typeface="微软雅黑" panose="020B0503020204020204" charset="-122"/>
              </a:rPr>
              <a:t>工业电解槽</a:t>
            </a:r>
            <a:endParaRPr lang="zh-CN" altLang="en-US" sz="3200" b="1">
              <a:ea typeface="微软雅黑" panose="020B0503020204020204" charset="-122"/>
            </a:endParaRPr>
          </a:p>
        </p:txBody>
      </p:sp>
      <p:sp>
        <p:nvSpPr>
          <p:cNvPr id="39942" name="Text Box 6"/>
          <p:cNvSpPr txBox="1">
            <a:spLocks noChangeArrowheads="1"/>
          </p:cNvSpPr>
          <p:nvPr/>
        </p:nvSpPr>
        <p:spPr bwMode="auto">
          <a:xfrm>
            <a:off x="323850" y="692785"/>
            <a:ext cx="65443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a:latin typeface="Arial" panose="020B0604020202020204" pitchFamily="34" charset="0"/>
                <a:ea typeface="微软雅黑" panose="020B0503020204020204" charset="-122"/>
              </a:rPr>
              <a:t>目前，氯酸钠电解槽工业进展的特点是：</a:t>
            </a:r>
            <a:endParaRPr lang="zh-CN" altLang="en-US" sz="2400" b="1">
              <a:latin typeface="Arial" panose="020B0604020202020204" pitchFamily="34" charset="0"/>
              <a:ea typeface="微软雅黑" panose="020B0503020204020204" charset="-122"/>
            </a:endParaRPr>
          </a:p>
        </p:txBody>
      </p:sp>
      <p:sp>
        <p:nvSpPr>
          <p:cNvPr id="144388" name="Text Box 4"/>
          <p:cNvSpPr txBox="1">
            <a:spLocks noChangeArrowheads="1"/>
          </p:cNvSpPr>
          <p:nvPr/>
        </p:nvSpPr>
        <p:spPr bwMode="auto">
          <a:xfrm>
            <a:off x="323850" y="2492375"/>
            <a:ext cx="4365625" cy="249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en-US" altLang="zh-CN" sz="2400">
                <a:latin typeface="Arial" panose="020B0604020202020204" pitchFamily="34" charset="0"/>
                <a:ea typeface="微软雅黑" panose="020B0503020204020204" charset="-122"/>
              </a:rPr>
              <a:t>1</a:t>
            </a:r>
            <a:r>
              <a:rPr lang="en-US" altLang="zh-CN" sz="2400">
                <a:solidFill>
                  <a:srgbClr val="FF3300"/>
                </a:solidFill>
                <a:latin typeface="Arial" panose="020B0604020202020204" pitchFamily="34" charset="0"/>
                <a:ea typeface="微软雅黑" panose="020B0503020204020204" charset="-122"/>
              </a:rPr>
              <a:t>.</a:t>
            </a:r>
            <a:r>
              <a:rPr lang="zh-CN" altLang="en-US" sz="2400">
                <a:solidFill>
                  <a:srgbClr val="FF3300"/>
                </a:solidFill>
                <a:latin typeface="Arial" panose="020B0604020202020204" pitchFamily="34" charset="0"/>
                <a:ea typeface="微软雅黑" panose="020B0503020204020204" charset="-122"/>
              </a:rPr>
              <a:t>阳极由钛基材上涂贵金属或其氧化物制成（ </a:t>
            </a:r>
            <a:r>
              <a:rPr lang="en-US" altLang="zh-CN" sz="2400">
                <a:solidFill>
                  <a:srgbClr val="FF3300"/>
                </a:solidFill>
                <a:latin typeface="Arial" panose="020B0604020202020204" pitchFamily="34" charset="0"/>
                <a:ea typeface="微软雅黑" panose="020B0503020204020204" charset="-122"/>
              </a:rPr>
              <a:t>DSA</a:t>
            </a:r>
            <a:r>
              <a:rPr lang="zh-CN" altLang="en-US" sz="2400">
                <a:solidFill>
                  <a:srgbClr val="FF3300"/>
                </a:solidFill>
                <a:latin typeface="Arial" panose="020B0604020202020204" pitchFamily="34" charset="0"/>
                <a:ea typeface="微软雅黑" panose="020B0503020204020204" charset="-122"/>
              </a:rPr>
              <a:t>阳极）</a:t>
            </a:r>
            <a:r>
              <a:rPr lang="zh-CN" altLang="en-US" sz="2400">
                <a:latin typeface="Arial" panose="020B0604020202020204" pitchFamily="34" charset="0"/>
                <a:ea typeface="微软雅黑" panose="020B0503020204020204" charset="-122"/>
              </a:rPr>
              <a:t>。</a:t>
            </a:r>
            <a:endParaRPr lang="zh-CN" altLang="en-US" sz="2400">
              <a:latin typeface="Arial" panose="020B0604020202020204" pitchFamily="34" charset="0"/>
              <a:ea typeface="微软雅黑" panose="020B0503020204020204" charset="-122"/>
            </a:endParaRPr>
          </a:p>
          <a:p>
            <a:pPr algn="just">
              <a:spcBef>
                <a:spcPct val="50000"/>
              </a:spcBef>
            </a:pPr>
            <a:r>
              <a:rPr lang="en-US" altLang="zh-CN" sz="2400">
                <a:latin typeface="Arial" panose="020B0604020202020204" pitchFamily="34" charset="0"/>
                <a:ea typeface="微软雅黑" panose="020B0503020204020204" charset="-122"/>
              </a:rPr>
              <a:t>DSA</a:t>
            </a:r>
            <a:r>
              <a:rPr lang="zh-CN" altLang="en-US" sz="2400">
                <a:latin typeface="Arial" panose="020B0604020202020204" pitchFamily="34" charset="0"/>
                <a:ea typeface="微软雅黑" panose="020B0503020204020204" charset="-122"/>
              </a:rPr>
              <a:t>的最大优点 是</a:t>
            </a:r>
            <a:r>
              <a:rPr lang="zh-CN" altLang="en-US" sz="2400" b="1">
                <a:solidFill>
                  <a:srgbClr val="FF0000"/>
                </a:solidFill>
                <a:latin typeface="Arial" panose="020B0604020202020204" pitchFamily="34" charset="0"/>
                <a:ea typeface="微软雅黑" panose="020B0503020204020204" charset="-122"/>
              </a:rPr>
              <a:t>释氯超电势低</a:t>
            </a:r>
            <a:r>
              <a:rPr lang="zh-CN" altLang="en-US" sz="2400">
                <a:latin typeface="Arial" panose="020B0604020202020204" pitchFamily="34" charset="0"/>
                <a:ea typeface="微软雅黑" panose="020B0503020204020204" charset="-122"/>
              </a:rPr>
              <a:t>，并可在较高温度下操作。高温有利于化学反应合成</a:t>
            </a:r>
            <a:r>
              <a:rPr lang="en-US" altLang="zh-CN" sz="2400">
                <a:latin typeface="Arial" panose="020B0604020202020204" pitchFamily="34" charset="0"/>
                <a:ea typeface="微软雅黑" panose="020B0503020204020204" charset="-122"/>
              </a:rPr>
              <a:t>NaClO</a:t>
            </a:r>
            <a:r>
              <a:rPr lang="en-US" altLang="zh-CN" sz="2400" baseline="-25000">
                <a:latin typeface="Arial" panose="020B0604020202020204" pitchFamily="34" charset="0"/>
                <a:ea typeface="微软雅黑" panose="020B0503020204020204" charset="-122"/>
              </a:rPr>
              <a:t>3</a:t>
            </a:r>
            <a:r>
              <a:rPr lang="zh-CN" altLang="en-US" sz="2400">
                <a:latin typeface="Arial" panose="020B0604020202020204" pitchFamily="34" charset="0"/>
                <a:ea typeface="微软雅黑" panose="020B0503020204020204" charset="-122"/>
              </a:rPr>
              <a:t>，并随后把它结晶析出。 </a:t>
            </a:r>
            <a:endParaRPr lang="zh-CN" altLang="en-US" sz="2400">
              <a:latin typeface="Arial" panose="020B0604020202020204" pitchFamily="34" charset="0"/>
              <a:ea typeface="微软雅黑" panose="020B0503020204020204" charset="-122"/>
            </a:endParaRPr>
          </a:p>
        </p:txBody>
      </p:sp>
      <p:pic>
        <p:nvPicPr>
          <p:cNvPr id="101381" name="Picture 5"/>
          <p:cNvPicPr>
            <a:picLocks noChangeAspect="1" noChangeArrowheads="1"/>
          </p:cNvPicPr>
          <p:nvPr/>
        </p:nvPicPr>
        <p:blipFill>
          <a:blip r:embed="rId1"/>
          <a:srcRect l="25511" r="23468" b="2059"/>
          <a:stretch>
            <a:fillRect/>
          </a:stretch>
        </p:blipFill>
        <p:spPr bwMode="auto">
          <a:xfrm>
            <a:off x="5147945" y="1269365"/>
            <a:ext cx="3600450" cy="4319270"/>
          </a:xfrm>
          <a:prstGeom prst="rect">
            <a:avLst/>
          </a:prstGeom>
          <a:noFill/>
          <a:extLst>
            <a:ext uri="{909E8E84-426E-40DD-AFC4-6F175D3DCCD1}">
              <a14:hiddenFill xmlns:a14="http://schemas.microsoft.com/office/drawing/2010/main">
                <a:solidFill>
                  <a:srgbClr val="FFFFFF"/>
                </a:solidFill>
              </a14:hiddenFill>
            </a:ext>
          </a:extLst>
        </p:spPr>
      </p:pic>
      <p:sp>
        <p:nvSpPr>
          <p:cNvPr id="101382" name="Text Box 6"/>
          <p:cNvSpPr txBox="1">
            <a:spLocks noChangeArrowheads="1"/>
          </p:cNvSpPr>
          <p:nvPr/>
        </p:nvSpPr>
        <p:spPr bwMode="auto">
          <a:xfrm>
            <a:off x="3708083" y="5876608"/>
            <a:ext cx="5327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           </a:t>
            </a:r>
            <a:r>
              <a:rPr lang="zh-CN" altLang="en-US" sz="2400"/>
              <a:t>氯酸盐电解槽阳极（ </a:t>
            </a:r>
            <a:r>
              <a:rPr lang="en-US" altLang="zh-CN" sz="2400" b="1">
                <a:solidFill>
                  <a:srgbClr val="FF3300"/>
                </a:solidFill>
              </a:rPr>
              <a:t>DSA</a:t>
            </a:r>
            <a:r>
              <a:rPr lang="zh-CN" altLang="en-US" sz="2400" b="1">
                <a:solidFill>
                  <a:srgbClr val="FF3300"/>
                </a:solidFill>
              </a:rPr>
              <a:t>阳极</a:t>
            </a:r>
            <a:r>
              <a:rPr lang="zh-CN" altLang="en-US" sz="2400"/>
              <a:t>）</a:t>
            </a:r>
            <a:endParaRPr lang="zh-CN" altLang="en-US" sz="24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90" name="Text Box 6"/>
          <p:cNvSpPr txBox="1">
            <a:spLocks noChangeArrowheads="1"/>
          </p:cNvSpPr>
          <p:nvPr/>
        </p:nvSpPr>
        <p:spPr bwMode="auto">
          <a:xfrm>
            <a:off x="539750" y="1844675"/>
            <a:ext cx="4126865" cy="329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600">
                <a:latin typeface="Arial" panose="020B0604020202020204" pitchFamily="34" charset="0"/>
                <a:ea typeface="微软雅黑" panose="020B0503020204020204" charset="-122"/>
              </a:rPr>
              <a:t>2.</a:t>
            </a:r>
            <a:r>
              <a:rPr lang="zh-CN" altLang="en-US" sz="2600">
                <a:solidFill>
                  <a:srgbClr val="FF3300"/>
                </a:solidFill>
                <a:latin typeface="Arial" panose="020B0604020202020204" pitchFamily="34" charset="0"/>
                <a:ea typeface="微软雅黑" panose="020B0503020204020204" charset="-122"/>
              </a:rPr>
              <a:t>阴极常用软钢制成，因它的</a:t>
            </a:r>
            <a:r>
              <a:rPr lang="zh-CN" altLang="en-US" sz="2600" b="1">
                <a:solidFill>
                  <a:srgbClr val="FF3300"/>
                </a:solidFill>
                <a:latin typeface="Arial" panose="020B0604020202020204" pitchFamily="34" charset="0"/>
                <a:ea typeface="微软雅黑" panose="020B0503020204020204" charset="-122"/>
              </a:rPr>
              <a:t>氢超电势较低。</a:t>
            </a:r>
            <a:endParaRPr lang="zh-CN" altLang="en-US" sz="2600" b="1">
              <a:solidFill>
                <a:srgbClr val="FF3300"/>
              </a:solidFill>
              <a:latin typeface="Arial" panose="020B0604020202020204" pitchFamily="34" charset="0"/>
              <a:ea typeface="微软雅黑" panose="020B0503020204020204" charset="-122"/>
            </a:endParaRPr>
          </a:p>
          <a:p>
            <a:pPr>
              <a:spcBef>
                <a:spcPct val="50000"/>
              </a:spcBef>
            </a:pPr>
            <a:r>
              <a:rPr lang="zh-CN" altLang="en-US" sz="2600">
                <a:latin typeface="Arial" panose="020B0604020202020204" pitchFamily="34" charset="0"/>
                <a:ea typeface="微软雅黑" panose="020B0503020204020204" charset="-122"/>
              </a:rPr>
              <a:t>若采用铬或镀铬的钢阴极，可防止</a:t>
            </a:r>
            <a:r>
              <a:rPr lang="en-US" altLang="zh-CN" sz="2600">
                <a:latin typeface="Arial" panose="020B0604020202020204" pitchFamily="34" charset="0"/>
                <a:ea typeface="微软雅黑" panose="020B0503020204020204" charset="-122"/>
              </a:rPr>
              <a:t>ClO</a:t>
            </a:r>
            <a:r>
              <a:rPr lang="en-US" altLang="zh-CN" sz="2600" baseline="30000">
                <a:latin typeface="Arial" panose="020B0604020202020204" pitchFamily="34" charset="0"/>
                <a:ea typeface="微软雅黑" panose="020B0503020204020204" charset="-122"/>
              </a:rPr>
              <a:t>-</a:t>
            </a:r>
            <a:r>
              <a:rPr lang="zh-CN" altLang="en-US" sz="2600">
                <a:latin typeface="Arial" panose="020B0604020202020204" pitchFamily="34" charset="0"/>
                <a:ea typeface="微软雅黑" panose="020B0503020204020204" charset="-122"/>
              </a:rPr>
              <a:t>在阴极还原。</a:t>
            </a:r>
            <a:endParaRPr lang="zh-CN" altLang="en-US" sz="2600">
              <a:latin typeface="Arial" panose="020B0604020202020204" pitchFamily="34" charset="0"/>
              <a:ea typeface="微软雅黑" panose="020B0503020204020204" charset="-122"/>
            </a:endParaRPr>
          </a:p>
          <a:p>
            <a:pPr>
              <a:spcBef>
                <a:spcPct val="50000"/>
              </a:spcBef>
            </a:pPr>
            <a:r>
              <a:rPr lang="zh-CN" altLang="en-US" sz="2600">
                <a:latin typeface="Arial" panose="020B0604020202020204" pitchFamily="34" charset="0"/>
                <a:ea typeface="微软雅黑" panose="020B0503020204020204" charset="-122"/>
              </a:rPr>
              <a:t>复极式钛电极在工业上得到应用，但涂层的损失仍比较大。 </a:t>
            </a:r>
            <a:endParaRPr lang="zh-CN" altLang="en-US" sz="2600">
              <a:latin typeface="Arial" panose="020B0604020202020204" pitchFamily="34" charset="0"/>
              <a:ea typeface="微软雅黑" panose="020B0503020204020204" charset="-122"/>
            </a:endParaRPr>
          </a:p>
        </p:txBody>
      </p:sp>
      <p:pic>
        <p:nvPicPr>
          <p:cNvPr id="14643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07990" y="692785"/>
            <a:ext cx="3300413" cy="4392613"/>
          </a:xfrm>
          <a:prstGeom prst="rect">
            <a:avLst/>
          </a:prstGeom>
          <a:noFill/>
          <a:extLst>
            <a:ext uri="{909E8E84-426E-40DD-AFC4-6F175D3DCCD1}">
              <a14:hiddenFill xmlns:a14="http://schemas.microsoft.com/office/drawing/2010/main">
                <a:solidFill>
                  <a:srgbClr val="FFFFFF"/>
                </a:solidFill>
              </a14:hiddenFill>
            </a:ext>
          </a:extLst>
        </p:spPr>
      </p:pic>
      <p:sp>
        <p:nvSpPr>
          <p:cNvPr id="146437" name="Text Box 5"/>
          <p:cNvSpPr txBox="1">
            <a:spLocks noChangeArrowheads="1"/>
          </p:cNvSpPr>
          <p:nvPr/>
        </p:nvSpPr>
        <p:spPr bwMode="auto">
          <a:xfrm>
            <a:off x="5363528" y="5372735"/>
            <a:ext cx="4321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电解槽阴极      钢条 </a:t>
            </a:r>
            <a:endParaRPr lang="zh-CN" altLang="en-US" sz="24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2" name="Text Box 4"/>
          <p:cNvSpPr txBox="1">
            <a:spLocks noChangeArrowheads="1"/>
          </p:cNvSpPr>
          <p:nvPr/>
        </p:nvSpPr>
        <p:spPr bwMode="auto">
          <a:xfrm>
            <a:off x="3059430" y="3500755"/>
            <a:ext cx="5331460" cy="249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en-US" altLang="zh-CN" sz="2400">
                <a:latin typeface="Arial" panose="020B0604020202020204" pitchFamily="34" charset="0"/>
                <a:ea typeface="微软雅黑" panose="020B0503020204020204" charset="-122"/>
              </a:rPr>
              <a:t>4. </a:t>
            </a:r>
            <a:r>
              <a:rPr lang="en-US" altLang="zh-CN" sz="2400">
                <a:solidFill>
                  <a:srgbClr val="FF3300"/>
                </a:solidFill>
                <a:latin typeface="Arial" panose="020B0604020202020204" pitchFamily="34" charset="0"/>
                <a:ea typeface="微软雅黑" panose="020B0503020204020204" charset="-122"/>
              </a:rPr>
              <a:t>ClO</a:t>
            </a:r>
            <a:r>
              <a:rPr lang="en-US" altLang="zh-CN" sz="2400" baseline="30000">
                <a:solidFill>
                  <a:srgbClr val="FF3300"/>
                </a:solidFill>
                <a:latin typeface="Arial" panose="020B0604020202020204" pitchFamily="34" charset="0"/>
                <a:ea typeface="微软雅黑" panose="020B0503020204020204" charset="-122"/>
              </a:rPr>
              <a:t>-</a:t>
            </a:r>
            <a:r>
              <a:rPr lang="zh-CN" altLang="en-US" sz="2400">
                <a:solidFill>
                  <a:srgbClr val="FF3300"/>
                </a:solidFill>
                <a:latin typeface="Arial" panose="020B0604020202020204" pitchFamily="34" charset="0"/>
                <a:ea typeface="微软雅黑" panose="020B0503020204020204" charset="-122"/>
              </a:rPr>
              <a:t>转化为</a:t>
            </a:r>
            <a:r>
              <a:rPr lang="en-US" altLang="zh-CN" sz="2400">
                <a:solidFill>
                  <a:srgbClr val="FF3300"/>
                </a:solidFill>
                <a:latin typeface="Arial" panose="020B0604020202020204" pitchFamily="34" charset="0"/>
                <a:ea typeface="微软雅黑" panose="020B0503020204020204" charset="-122"/>
              </a:rPr>
              <a:t>ClO</a:t>
            </a:r>
            <a:r>
              <a:rPr lang="en-US" altLang="zh-CN" sz="2400" baseline="-25000">
                <a:solidFill>
                  <a:srgbClr val="FF3300"/>
                </a:solidFill>
                <a:latin typeface="Arial" panose="020B0604020202020204" pitchFamily="34" charset="0"/>
                <a:ea typeface="微软雅黑" panose="020B0503020204020204" charset="-122"/>
              </a:rPr>
              <a:t>3</a:t>
            </a:r>
            <a:r>
              <a:rPr lang="en-US" altLang="zh-CN" sz="2400" baseline="30000">
                <a:solidFill>
                  <a:srgbClr val="FF3300"/>
                </a:solidFill>
                <a:latin typeface="Arial" panose="020B0604020202020204" pitchFamily="34" charset="0"/>
                <a:ea typeface="微软雅黑" panose="020B0503020204020204" charset="-122"/>
              </a:rPr>
              <a:t>-</a:t>
            </a:r>
            <a:r>
              <a:rPr lang="zh-CN" altLang="en-US" sz="2400">
                <a:solidFill>
                  <a:srgbClr val="FF3300"/>
                </a:solidFill>
                <a:latin typeface="Arial" panose="020B0604020202020204" pitchFamily="34" charset="0"/>
                <a:ea typeface="微软雅黑" panose="020B0503020204020204" charset="-122"/>
              </a:rPr>
              <a:t>的反应在电解槽外进行</a:t>
            </a:r>
            <a:r>
              <a:rPr lang="zh-CN" altLang="en-US" sz="2400">
                <a:latin typeface="Arial" panose="020B0604020202020204" pitchFamily="34" charset="0"/>
                <a:ea typeface="微软雅黑" panose="020B0503020204020204" charset="-122"/>
              </a:rPr>
              <a:t>，转化率高；氯酸钠基本上是在连接电解池至化学反应器的管道中生成的，这样的循环允许</a:t>
            </a:r>
            <a:r>
              <a:rPr lang="en-US" altLang="zh-CN" sz="2400">
                <a:latin typeface="Arial" panose="020B0604020202020204" pitchFamily="34" charset="0"/>
                <a:ea typeface="微软雅黑" panose="020B0503020204020204" charset="-122"/>
              </a:rPr>
              <a:t>ClO</a:t>
            </a:r>
            <a:r>
              <a:rPr lang="en-US" altLang="zh-CN" sz="2400" baseline="-25000">
                <a:latin typeface="Arial" panose="020B0604020202020204" pitchFamily="34" charset="0"/>
                <a:ea typeface="微软雅黑" panose="020B0503020204020204" charset="-122"/>
              </a:rPr>
              <a:t>3</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a:t>
            </a:r>
            <a:r>
              <a:rPr lang="en-US" altLang="zh-CN" sz="2400">
                <a:latin typeface="Arial" panose="020B0604020202020204" pitchFamily="34" charset="0"/>
                <a:ea typeface="微软雅黑" panose="020B0503020204020204" charset="-122"/>
              </a:rPr>
              <a:t>Cl</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的位为</a:t>
            </a:r>
            <a:r>
              <a:rPr lang="en-US" altLang="zh-CN" sz="2400">
                <a:latin typeface="Arial" panose="020B0604020202020204" pitchFamily="34" charset="0"/>
                <a:ea typeface="微软雅黑" panose="020B0503020204020204" charset="-122"/>
              </a:rPr>
              <a:t>2</a:t>
            </a:r>
            <a:r>
              <a:rPr lang="zh-CN" altLang="en-US" sz="2400">
                <a:latin typeface="Arial" panose="020B0604020202020204" pitchFamily="34" charset="0"/>
                <a:ea typeface="微软雅黑" panose="020B0503020204020204" charset="-122"/>
              </a:rPr>
              <a:t>：</a:t>
            </a:r>
            <a:r>
              <a:rPr lang="en-US" altLang="zh-CN" sz="2400">
                <a:latin typeface="Arial" panose="020B0604020202020204" pitchFamily="34" charset="0"/>
                <a:ea typeface="微软雅黑" panose="020B0503020204020204" charset="-122"/>
              </a:rPr>
              <a:t>5</a:t>
            </a:r>
            <a:r>
              <a:rPr lang="zh-CN" altLang="en-US" sz="2400">
                <a:latin typeface="Arial" panose="020B0604020202020204" pitchFamily="34" charset="0"/>
                <a:ea typeface="微软雅黑" panose="020B0503020204020204" charset="-122"/>
              </a:rPr>
              <a:t>，而没有循环时此值为</a:t>
            </a:r>
            <a:r>
              <a:rPr lang="en-US" altLang="zh-CN" sz="2400">
                <a:latin typeface="Arial" panose="020B0604020202020204" pitchFamily="34" charset="0"/>
                <a:ea typeface="微软雅黑" panose="020B0503020204020204" charset="-122"/>
              </a:rPr>
              <a:t>0.2</a:t>
            </a:r>
            <a:r>
              <a:rPr lang="zh-CN" altLang="en-US" sz="2400">
                <a:latin typeface="Arial" panose="020B0604020202020204" pitchFamily="34" charset="0"/>
                <a:ea typeface="微软雅黑" panose="020B0503020204020204" charset="-122"/>
              </a:rPr>
              <a:t>。</a:t>
            </a:r>
            <a:endParaRPr lang="zh-CN" altLang="en-US" sz="2400">
              <a:latin typeface="Arial" panose="020B0604020202020204" pitchFamily="34" charset="0"/>
              <a:ea typeface="微软雅黑" panose="020B0503020204020204" charset="-122"/>
            </a:endParaRPr>
          </a:p>
          <a:p>
            <a:pPr algn="just">
              <a:spcBef>
                <a:spcPct val="50000"/>
              </a:spcBef>
            </a:pPr>
            <a:r>
              <a:rPr lang="zh-CN" altLang="en-US">
                <a:latin typeface="Arial" panose="020B0604020202020204" pitchFamily="34" charset="0"/>
                <a:ea typeface="微软雅黑" panose="020B0503020204020204" charset="-122"/>
                <a:sym typeface="+mn-ea"/>
              </a:rPr>
              <a:t>在化学反应器中生成的</a:t>
            </a:r>
            <a:r>
              <a:rPr lang="en-US" altLang="zh-CN">
                <a:latin typeface="Arial" panose="020B0604020202020204" pitchFamily="34" charset="0"/>
                <a:ea typeface="微软雅黑" panose="020B0503020204020204" charset="-122"/>
                <a:sym typeface="+mn-ea"/>
              </a:rPr>
              <a:t>Cl</a:t>
            </a:r>
            <a:r>
              <a:rPr lang="en-US" altLang="zh-CN" baseline="30000">
                <a:latin typeface="Arial" panose="020B0604020202020204" pitchFamily="34" charset="0"/>
                <a:ea typeface="微软雅黑" panose="020B0503020204020204" charset="-122"/>
                <a:sym typeface="+mn-ea"/>
              </a:rPr>
              <a:t>-</a:t>
            </a:r>
            <a:r>
              <a:rPr lang="zh-CN" altLang="en-US">
                <a:latin typeface="Arial" panose="020B0604020202020204" pitchFamily="34" charset="0"/>
                <a:ea typeface="微软雅黑" panose="020B0503020204020204" charset="-122"/>
                <a:sym typeface="+mn-ea"/>
              </a:rPr>
              <a:t>可循环使用。</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sp>
        <p:nvSpPr>
          <p:cNvPr id="2" name="Rectangle 5"/>
          <p:cNvSpPr>
            <a:spLocks noChangeArrowheads="1"/>
          </p:cNvSpPr>
          <p:nvPr/>
        </p:nvSpPr>
        <p:spPr bwMode="auto">
          <a:xfrm>
            <a:off x="2988310" y="476250"/>
            <a:ext cx="5918835"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lang="en-US" altLang="zh-CN" sz="2400">
                <a:latin typeface="Arial" panose="020B0604020202020204" pitchFamily="34" charset="0"/>
                <a:ea typeface="微软雅黑" panose="020B0503020204020204" charset="-122"/>
              </a:rPr>
              <a:t>3.</a:t>
            </a:r>
            <a:r>
              <a:rPr lang="zh-CN" altLang="en-US" sz="2400">
                <a:solidFill>
                  <a:srgbClr val="FF3300"/>
                </a:solidFill>
                <a:latin typeface="Arial" panose="020B0604020202020204" pitchFamily="34" charset="0"/>
                <a:ea typeface="微软雅黑" panose="020B0503020204020204" charset="-122"/>
              </a:rPr>
              <a:t>电解槽产生的气体</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主要为氢气</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把电解液向上提升，进入化学反应器。分离掉气体后，电解液再流回电解槽，</a:t>
            </a:r>
            <a:r>
              <a:rPr lang="zh-CN" altLang="en-US" sz="2400">
                <a:solidFill>
                  <a:srgbClr val="FF3300"/>
                </a:solidFill>
                <a:latin typeface="Arial" panose="020B0604020202020204" pitchFamily="34" charset="0"/>
                <a:ea typeface="微软雅黑" panose="020B0503020204020204" charset="-122"/>
              </a:rPr>
              <a:t>起到液体循环泵作用</a:t>
            </a:r>
            <a:r>
              <a:rPr lang="zh-CN" altLang="en-US" sz="2400">
                <a:latin typeface="Arial" panose="020B0604020202020204" pitchFamily="34" charset="0"/>
                <a:ea typeface="微软雅黑" panose="020B0503020204020204" charset="-122"/>
              </a:rPr>
              <a:t>。</a:t>
            </a:r>
            <a:endParaRPr lang="zh-CN" altLang="en-US" sz="2400">
              <a:latin typeface="Arial" panose="020B0604020202020204" pitchFamily="34" charset="0"/>
              <a:ea typeface="微软雅黑" panose="020B0503020204020204" charset="-122"/>
            </a:endParaRPr>
          </a:p>
          <a:p>
            <a:r>
              <a:rPr lang="zh-CN" altLang="en-US" sz="2400">
                <a:latin typeface="Arial" panose="020B0604020202020204" pitchFamily="34" charset="0"/>
                <a:ea typeface="微软雅黑" panose="020B0503020204020204" charset="-122"/>
              </a:rPr>
              <a:t>电极为平板式，冷却器用来除去稳定操作条件下系统所产生的热量。</a:t>
            </a:r>
            <a:endParaRPr lang="zh-CN" altLang="en-US" sz="2400">
              <a:latin typeface="Arial" panose="020B0604020202020204" pitchFamily="34" charset="0"/>
              <a:ea typeface="微软雅黑" panose="020B0503020204020204" charset="-122"/>
            </a:endParaRPr>
          </a:p>
        </p:txBody>
      </p:sp>
      <p:pic>
        <p:nvPicPr>
          <p:cNvPr id="3" name="图片 2"/>
          <p:cNvPicPr>
            <a:picLocks noChangeAspect="1"/>
          </p:cNvPicPr>
          <p:nvPr/>
        </p:nvPicPr>
        <p:blipFill>
          <a:blip r:embed="rId1"/>
          <a:stretch>
            <a:fillRect/>
          </a:stretch>
        </p:blipFill>
        <p:spPr>
          <a:xfrm>
            <a:off x="-36830" y="116205"/>
            <a:ext cx="2964180" cy="539242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333375"/>
            <a:ext cx="8128000" cy="5080000"/>
          </a:xfrm>
          <a:prstGeom prst="rect">
            <a:avLst/>
          </a:prstGeom>
          <a:noFill/>
          <a:extLst>
            <a:ext uri="{909E8E84-426E-40DD-AFC4-6F175D3DCCD1}">
              <a14:hiddenFill xmlns:a14="http://schemas.microsoft.com/office/drawing/2010/main">
                <a:solidFill>
                  <a:srgbClr val="FFFFFF"/>
                </a:solidFill>
              </a14:hiddenFill>
            </a:ext>
          </a:extLst>
        </p:spPr>
      </p:pic>
      <p:sp>
        <p:nvSpPr>
          <p:cNvPr id="102405" name="Text Box 5"/>
          <p:cNvSpPr txBox="1">
            <a:spLocks noChangeArrowheads="1"/>
          </p:cNvSpPr>
          <p:nvPr/>
        </p:nvSpPr>
        <p:spPr bwMode="auto">
          <a:xfrm>
            <a:off x="2627313" y="5876925"/>
            <a:ext cx="3024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高氯酸盐电解装置</a:t>
            </a:r>
            <a:endParaRPr lang="zh-CN" altLang="en-US" sz="24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450" y="476250"/>
            <a:ext cx="6911975" cy="4319588"/>
          </a:xfrm>
          <a:prstGeom prst="rect">
            <a:avLst/>
          </a:prstGeom>
          <a:noFill/>
          <a:extLst>
            <a:ext uri="{909E8E84-426E-40DD-AFC4-6F175D3DCCD1}">
              <a14:hiddenFill xmlns:a14="http://schemas.microsoft.com/office/drawing/2010/main">
                <a:solidFill>
                  <a:srgbClr val="FFFFFF"/>
                </a:solidFill>
              </a14:hiddenFill>
            </a:ext>
          </a:extLst>
        </p:spPr>
      </p:pic>
      <p:sp>
        <p:nvSpPr>
          <p:cNvPr id="103429" name="Text Box 5"/>
          <p:cNvSpPr txBox="1">
            <a:spLocks noChangeArrowheads="1"/>
          </p:cNvSpPr>
          <p:nvPr/>
        </p:nvSpPr>
        <p:spPr bwMode="auto">
          <a:xfrm>
            <a:off x="3203575" y="5229225"/>
            <a:ext cx="2665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氯酸钠电解装置</a:t>
            </a:r>
            <a:endParaRPr lang="zh-CN" altLang="en-US" sz="24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Text Box 4"/>
          <p:cNvSpPr txBox="1">
            <a:spLocks noChangeArrowheads="1"/>
          </p:cNvSpPr>
          <p:nvPr/>
        </p:nvSpPr>
        <p:spPr bwMode="auto">
          <a:xfrm>
            <a:off x="323850" y="404813"/>
            <a:ext cx="8316913" cy="5908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chemeClr val="tx1"/>
                </a:solidFill>
                <a:uFillTx/>
                <a:latin typeface="Arial" panose="020B0604020202020204" pitchFamily="34" charset="0"/>
                <a:ea typeface="微软雅黑" panose="020B0503020204020204" charset="-122"/>
              </a:rPr>
              <a:t>        </a:t>
            </a:r>
            <a:r>
              <a:rPr lang="zh-CN" altLang="en-US" sz="2800" b="1">
                <a:solidFill>
                  <a:schemeClr val="tx1"/>
                </a:solidFill>
                <a:uFillTx/>
                <a:latin typeface="Arial" panose="020B0604020202020204" pitchFamily="34" charset="0"/>
                <a:ea typeface="微软雅黑" panose="020B0503020204020204" charset="-122"/>
              </a:rPr>
              <a:t>次氯酸钠发生器</a:t>
            </a:r>
            <a:r>
              <a:rPr lang="zh-CN" altLang="en-US" sz="2800">
                <a:solidFill>
                  <a:schemeClr val="tx1"/>
                </a:solidFill>
                <a:uFillTx/>
                <a:latin typeface="Arial" panose="020B0604020202020204" pitchFamily="34" charset="0"/>
                <a:ea typeface="微软雅黑" panose="020B0503020204020204" charset="-122"/>
              </a:rPr>
              <a:t>是通过电解</a:t>
            </a:r>
            <a:r>
              <a:rPr lang="en-US" altLang="zh-CN" sz="2800">
                <a:solidFill>
                  <a:schemeClr val="tx1"/>
                </a:solidFill>
                <a:uFillTx/>
                <a:latin typeface="Arial" panose="020B0604020202020204" pitchFamily="34" charset="0"/>
                <a:ea typeface="微软雅黑" panose="020B0503020204020204" charset="-122"/>
              </a:rPr>
              <a:t>3%</a:t>
            </a:r>
            <a:r>
              <a:rPr lang="zh-CN" altLang="en-US" sz="2800">
                <a:solidFill>
                  <a:schemeClr val="tx1"/>
                </a:solidFill>
                <a:uFillTx/>
                <a:latin typeface="Arial" panose="020B0604020202020204" pitchFamily="34" charset="0"/>
                <a:ea typeface="微软雅黑" panose="020B0503020204020204" charset="-122"/>
              </a:rPr>
              <a:t>的稀盐水（条件具备可用海水）产生次氯酸钠溶液</a:t>
            </a:r>
            <a:r>
              <a:rPr lang="en-US" altLang="zh-CN" sz="2800">
                <a:solidFill>
                  <a:schemeClr val="tx1"/>
                </a:solidFill>
                <a:uFillTx/>
                <a:latin typeface="Arial" panose="020B0604020202020204" pitchFamily="34" charset="0"/>
                <a:ea typeface="微软雅黑" panose="020B0503020204020204" charset="-122"/>
              </a:rPr>
              <a:t>(</a:t>
            </a:r>
            <a:r>
              <a:rPr lang="zh-CN" altLang="en-US" sz="2800">
                <a:solidFill>
                  <a:schemeClr val="tx1"/>
                </a:solidFill>
                <a:uFillTx/>
                <a:latin typeface="Arial" panose="020B0604020202020204" pitchFamily="34" charset="0"/>
                <a:ea typeface="微软雅黑" panose="020B0503020204020204" charset="-122"/>
              </a:rPr>
              <a:t>有效氯含量</a:t>
            </a:r>
            <a:r>
              <a:rPr lang="en-US" altLang="zh-CN" sz="2800">
                <a:solidFill>
                  <a:schemeClr val="tx1"/>
                </a:solidFill>
                <a:uFillTx/>
                <a:latin typeface="Arial" panose="020B0604020202020204" pitchFamily="34" charset="0"/>
                <a:ea typeface="微软雅黑" panose="020B0503020204020204" charset="-122"/>
              </a:rPr>
              <a:t>&gt;8000ppm)</a:t>
            </a:r>
            <a:r>
              <a:rPr lang="zh-CN" altLang="en-US" sz="2800">
                <a:solidFill>
                  <a:schemeClr val="tx1"/>
                </a:solidFill>
                <a:uFillTx/>
                <a:latin typeface="Arial" panose="020B0604020202020204" pitchFamily="34" charset="0"/>
                <a:ea typeface="微软雅黑" panose="020B0503020204020204" charset="-122"/>
              </a:rPr>
              <a:t>的装置，是由电解电极、整流电源、自动控制系统等部分组成</a:t>
            </a:r>
            <a:r>
              <a:rPr lang="en-US" altLang="zh-CN" sz="2800">
                <a:solidFill>
                  <a:schemeClr val="tx1"/>
                </a:solidFill>
                <a:uFillTx/>
                <a:latin typeface="Arial" panose="020B0604020202020204" pitchFamily="34" charset="0"/>
                <a:ea typeface="微软雅黑" panose="020B0503020204020204" charset="-122"/>
              </a:rPr>
              <a:t>.</a:t>
            </a:r>
            <a:endParaRPr lang="en-US" altLang="zh-CN" sz="2800">
              <a:solidFill>
                <a:schemeClr val="tx1"/>
              </a:solidFill>
              <a:uFillTx/>
              <a:latin typeface="Arial" panose="020B0604020202020204" pitchFamily="34" charset="0"/>
              <a:ea typeface="微软雅黑" panose="020B0503020204020204" charset="-122"/>
            </a:endParaRPr>
          </a:p>
          <a:p>
            <a:pPr>
              <a:spcBef>
                <a:spcPct val="50000"/>
              </a:spcBef>
            </a:pPr>
            <a:r>
              <a:rPr lang="zh-CN" altLang="en-US" sz="2800">
                <a:solidFill>
                  <a:schemeClr val="tx1"/>
                </a:solidFill>
                <a:uFillTx/>
                <a:latin typeface="Arial" panose="020B0604020202020204" pitchFamily="34" charset="0"/>
                <a:ea typeface="微软雅黑" panose="020B0503020204020204" charset="-122"/>
              </a:rPr>
              <a:t>发生器采用稀盐水进行电解而产生次氯酸钠消毒溶液，因此制成液具有十分纯净、</a:t>
            </a:r>
            <a:r>
              <a:rPr lang="en-US" altLang="zh-CN" sz="2800">
                <a:solidFill>
                  <a:schemeClr val="tx1"/>
                </a:solidFill>
                <a:uFillTx/>
                <a:latin typeface="Arial" panose="020B0604020202020204" pitchFamily="34" charset="0"/>
                <a:ea typeface="微软雅黑" panose="020B0503020204020204" charset="-122"/>
              </a:rPr>
              <a:t>PH</a:t>
            </a:r>
            <a:r>
              <a:rPr lang="zh-CN" altLang="en-US" sz="2800">
                <a:solidFill>
                  <a:schemeClr val="tx1"/>
                </a:solidFill>
                <a:uFillTx/>
                <a:latin typeface="Arial" panose="020B0604020202020204" pitchFamily="34" charset="0"/>
                <a:ea typeface="微软雅黑" panose="020B0503020204020204" charset="-122"/>
              </a:rPr>
              <a:t>值与自来水相当、没有任何其他杂质残留、不含游离碱、杀菌能力强、杀菌完成后迅速分解而不会有余氯残留、低成本等特点，具有很强的杀菌、漂白效果，是目前应用最广泛的一种杀菌剂与漂白剂；</a:t>
            </a:r>
            <a:br>
              <a:rPr lang="zh-CN" altLang="en-US" sz="2800">
                <a:solidFill>
                  <a:schemeClr val="tx1"/>
                </a:solidFill>
                <a:uFillTx/>
                <a:latin typeface="Arial" panose="020B0604020202020204" pitchFamily="34" charset="0"/>
                <a:ea typeface="微软雅黑" panose="020B0503020204020204" charset="-122"/>
              </a:rPr>
            </a:br>
            <a:r>
              <a:rPr lang="zh-CN" altLang="en-US" sz="2800">
                <a:solidFill>
                  <a:schemeClr val="tx1"/>
                </a:solidFill>
                <a:uFillTx/>
                <a:latin typeface="Arial" panose="020B0604020202020204" pitchFamily="34" charset="0"/>
                <a:ea typeface="微软雅黑" panose="020B0503020204020204" charset="-122"/>
              </a:rPr>
              <a:t>        应用于食品加工、自来水厂、禽畜养殖与屠宰、石油石化企业中水利用、电厂循环水利用、印染厂漂白、公共场合消毒等等 </a:t>
            </a:r>
            <a:endParaRPr lang="zh-CN" altLang="en-US" sz="2800">
              <a:solidFill>
                <a:schemeClr val="tx1"/>
              </a:solidFill>
              <a:uFillTx/>
              <a:latin typeface="Arial" panose="020B0604020202020204" pitchFamily="34" charset="0"/>
              <a:ea typeface="微软雅黑" panose="020B0503020204020204"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692150"/>
            <a:ext cx="5545138"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3" name="Text Box 5"/>
          <p:cNvSpPr txBox="1">
            <a:spLocks noChangeArrowheads="1"/>
          </p:cNvSpPr>
          <p:nvPr/>
        </p:nvSpPr>
        <p:spPr bwMode="auto">
          <a:xfrm>
            <a:off x="1476375" y="5229225"/>
            <a:ext cx="6480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次氯酸钠发生器（福州浩达智能科技有限公司）</a:t>
            </a:r>
            <a:endParaRPr lang="zh-CN" altLang="en-US" sz="24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609600" y="228600"/>
            <a:ext cx="44958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ea typeface="微软雅黑" panose="020B0503020204020204" charset="-122"/>
              </a:rPr>
              <a:t>5.3.2    </a:t>
            </a:r>
            <a:r>
              <a:rPr lang="zh-CN" altLang="en-US" sz="3200" b="1">
                <a:ea typeface="微软雅黑" panose="020B0503020204020204" charset="-122"/>
              </a:rPr>
              <a:t>高氯酸盐</a:t>
            </a:r>
            <a:endParaRPr lang="zh-CN" altLang="en-US" sz="3200" b="1">
              <a:ea typeface="微软雅黑" panose="020B0503020204020204" charset="-122"/>
            </a:endParaRPr>
          </a:p>
        </p:txBody>
      </p:sp>
      <p:sp>
        <p:nvSpPr>
          <p:cNvPr id="43011" name="Text Box 3"/>
          <p:cNvSpPr txBox="1">
            <a:spLocks noChangeArrowheads="1"/>
          </p:cNvSpPr>
          <p:nvPr/>
        </p:nvSpPr>
        <p:spPr bwMode="auto">
          <a:xfrm>
            <a:off x="683260" y="836295"/>
            <a:ext cx="731520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原理：一般均采用氯酸盐溶液进行电解</a:t>
            </a:r>
            <a:r>
              <a:rPr lang="zh-CN" altLang="en-US" sz="2400">
                <a:latin typeface="Arial" panose="020B0604020202020204" pitchFamily="34" charset="0"/>
                <a:ea typeface="微软雅黑" panose="020B0503020204020204" charset="-122"/>
              </a:rPr>
              <a:t>．</a:t>
            </a:r>
            <a:endParaRPr lang="zh-CN" altLang="en-US" sz="2400">
              <a:latin typeface="Arial" panose="020B0604020202020204" pitchFamily="34" charset="0"/>
              <a:ea typeface="微软雅黑" panose="020B0503020204020204" charset="-122"/>
            </a:endParaRPr>
          </a:p>
          <a:p>
            <a:pPr>
              <a:spcBef>
                <a:spcPct val="50000"/>
              </a:spcBef>
            </a:pPr>
            <a:r>
              <a:rPr lang="zh-CN" altLang="en-US" sz="2400" b="1">
                <a:latin typeface="Arial" panose="020B0604020202020204" pitchFamily="34" charset="0"/>
                <a:ea typeface="微软雅黑" panose="020B0503020204020204" charset="-122"/>
              </a:rPr>
              <a:t>阳极反应</a:t>
            </a:r>
            <a:r>
              <a:rPr lang="zh-CN" altLang="en-US" sz="2400">
                <a:latin typeface="Arial" panose="020B0604020202020204" pitchFamily="34" charset="0"/>
                <a:ea typeface="微软雅黑" panose="020B0503020204020204" charset="-122"/>
              </a:rPr>
              <a:t>是： </a:t>
            </a:r>
            <a:endParaRPr lang="zh-CN" altLang="en-US" sz="2400">
              <a:latin typeface="Arial" panose="020B0604020202020204" pitchFamily="34" charset="0"/>
              <a:ea typeface="微软雅黑" panose="020B0503020204020204" charset="-122"/>
            </a:endParaRPr>
          </a:p>
        </p:txBody>
      </p:sp>
      <p:sp>
        <p:nvSpPr>
          <p:cNvPr id="43012" name="Text Box 4"/>
          <p:cNvSpPr txBox="1">
            <a:spLocks noChangeArrowheads="1"/>
          </p:cNvSpPr>
          <p:nvPr/>
        </p:nvSpPr>
        <p:spPr bwMode="auto">
          <a:xfrm>
            <a:off x="539115" y="2493010"/>
            <a:ext cx="754380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Arial" panose="020B0604020202020204" pitchFamily="34" charset="0"/>
                <a:ea typeface="微软雅黑" panose="020B0503020204020204" charset="-122"/>
              </a:rPr>
              <a:t>此反应的机理曾有两种看法：</a:t>
            </a:r>
            <a:endParaRPr lang="zh-CN" altLang="en-US" sz="2400">
              <a:latin typeface="Arial" panose="020B0604020202020204" pitchFamily="34" charset="0"/>
              <a:ea typeface="微软雅黑" panose="020B0503020204020204" charset="-122"/>
            </a:endParaRPr>
          </a:p>
          <a:p>
            <a:pPr>
              <a:spcBef>
                <a:spcPct val="50000"/>
              </a:spcBef>
            </a:pPr>
            <a:r>
              <a:rPr lang="zh-CN" altLang="en-US" sz="2400" b="1">
                <a:latin typeface="Arial" panose="020B0604020202020204" pitchFamily="34" charset="0"/>
                <a:ea typeface="微软雅黑" panose="020B0503020204020204" charset="-122"/>
              </a:rPr>
              <a:t>一种认为是</a:t>
            </a:r>
            <a:r>
              <a:rPr lang="en-US" altLang="zh-CN" sz="2400" b="1">
                <a:latin typeface="Arial" panose="020B0604020202020204" pitchFamily="34" charset="0"/>
                <a:ea typeface="微软雅黑" panose="020B0503020204020204" charset="-122"/>
              </a:rPr>
              <a:t>ClO</a:t>
            </a:r>
            <a:r>
              <a:rPr lang="en-US" altLang="zh-CN" sz="2400" b="1" baseline="-25000">
                <a:latin typeface="Arial" panose="020B0604020202020204" pitchFamily="34" charset="0"/>
                <a:ea typeface="微软雅黑" panose="020B0503020204020204" charset="-122"/>
              </a:rPr>
              <a:t>3</a:t>
            </a:r>
            <a:r>
              <a:rPr lang="en-US" altLang="zh-CN" sz="2400" b="1" baseline="30000">
                <a:latin typeface="Arial" panose="020B0604020202020204" pitchFamily="34" charset="0"/>
                <a:ea typeface="微软雅黑" panose="020B0503020204020204" charset="-122"/>
              </a:rPr>
              <a:t>-</a:t>
            </a:r>
            <a:r>
              <a:rPr lang="zh-CN" altLang="en-US" sz="2400" b="1">
                <a:latin typeface="Arial" panose="020B0604020202020204" pitchFamily="34" charset="0"/>
                <a:ea typeface="微软雅黑" panose="020B0503020204020204" charset="-122"/>
              </a:rPr>
              <a:t>在阳极先放电： </a:t>
            </a:r>
            <a:endParaRPr lang="zh-CN" altLang="en-US" sz="2400" b="1">
              <a:latin typeface="Arial" panose="020B0604020202020204" pitchFamily="34" charset="0"/>
              <a:ea typeface="微软雅黑" panose="020B0503020204020204" charset="-122"/>
            </a:endParaRPr>
          </a:p>
        </p:txBody>
      </p:sp>
      <p:graphicFrame>
        <p:nvGraphicFramePr>
          <p:cNvPr id="43013" name="Object 5"/>
          <p:cNvGraphicFramePr>
            <a:graphicFrameLocks noChangeAspect="1"/>
          </p:cNvGraphicFramePr>
          <p:nvPr/>
        </p:nvGraphicFramePr>
        <p:xfrm>
          <a:off x="467360" y="1772920"/>
          <a:ext cx="7844155" cy="729615"/>
        </p:xfrm>
        <a:graphic>
          <a:graphicData uri="http://schemas.openxmlformats.org/presentationml/2006/ole">
            <mc:AlternateContent xmlns:mc="http://schemas.openxmlformats.org/markup-compatibility/2006">
              <mc:Choice xmlns:v="urn:schemas-microsoft-com:vml" Requires="v">
                <p:oleObj spid="_x0000_s2" name="Equation" r:id="rId1" imgW="2730500" imgH="254000" progId="Equation.3">
                  <p:embed/>
                </p:oleObj>
              </mc:Choice>
              <mc:Fallback>
                <p:oleObj name="Equation" r:id="rId1" imgW="2730500" imgH="254000" progId="Equation.3">
                  <p:embed/>
                  <p:pic>
                    <p:nvPicPr>
                      <p:cNvPr id="0" name="Object 5"/>
                      <p:cNvPicPr>
                        <a:picLocks noChangeAspect="1" noChangeArrowheads="1"/>
                      </p:cNvPicPr>
                      <p:nvPr/>
                    </p:nvPicPr>
                    <p:blipFill>
                      <a:blip r:embed="rId2"/>
                      <a:srcRect/>
                      <a:stretch>
                        <a:fillRect/>
                      </a:stretch>
                    </p:blipFill>
                    <p:spPr bwMode="auto">
                      <a:xfrm>
                        <a:off x="467360" y="1772920"/>
                        <a:ext cx="7844155" cy="7296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4" name="Object 6"/>
          <p:cNvGraphicFramePr>
            <a:graphicFrameLocks noChangeAspect="1"/>
          </p:cNvGraphicFramePr>
          <p:nvPr/>
        </p:nvGraphicFramePr>
        <p:xfrm>
          <a:off x="611505" y="3429000"/>
          <a:ext cx="8154670" cy="2298065"/>
        </p:xfrm>
        <a:graphic>
          <a:graphicData uri="http://schemas.openxmlformats.org/presentationml/2006/ole">
            <mc:AlternateContent xmlns:mc="http://schemas.openxmlformats.org/markup-compatibility/2006">
              <mc:Choice xmlns:v="urn:schemas-microsoft-com:vml" Requires="v">
                <p:oleObj spid="_x0000_s3" name="Equation" r:id="rId3" imgW="3606165" imgH="1016000" progId="Equation.3">
                  <p:embed/>
                </p:oleObj>
              </mc:Choice>
              <mc:Fallback>
                <p:oleObj name="Equation" r:id="rId3" imgW="3606165" imgH="1016000" progId="Equation.3">
                  <p:embed/>
                  <p:pic>
                    <p:nvPicPr>
                      <p:cNvPr id="0" name="Object 6"/>
                      <p:cNvPicPr>
                        <a:picLocks noChangeAspect="1" noChangeArrowheads="1"/>
                      </p:cNvPicPr>
                      <p:nvPr/>
                    </p:nvPicPr>
                    <p:blipFill>
                      <a:blip r:embed="rId4"/>
                      <a:srcRect/>
                      <a:stretch>
                        <a:fillRect/>
                      </a:stretch>
                    </p:blipFill>
                    <p:spPr bwMode="auto">
                      <a:xfrm>
                        <a:off x="611505" y="3429000"/>
                        <a:ext cx="8154670" cy="2298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4" name="Text Box 2"/>
          <p:cNvSpPr txBox="1">
            <a:spLocks noChangeArrowheads="1"/>
          </p:cNvSpPr>
          <p:nvPr/>
        </p:nvSpPr>
        <p:spPr bwMode="auto">
          <a:xfrm>
            <a:off x="467995" y="5836285"/>
            <a:ext cx="5257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第二种认为水首先在阳极被氧化：</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sp>
        <p:nvSpPr>
          <p:cNvPr id="44035" name="Text Box 3"/>
          <p:cNvSpPr txBox="1">
            <a:spLocks noChangeArrowheads="1"/>
          </p:cNvSpPr>
          <p:nvPr/>
        </p:nvSpPr>
        <p:spPr bwMode="auto">
          <a:xfrm>
            <a:off x="696595" y="6445885"/>
            <a:ext cx="4800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Arial" panose="020B0604020202020204" pitchFamily="34" charset="0"/>
                <a:ea typeface="微软雅黑" panose="020B0503020204020204" charset="-122"/>
              </a:rPr>
              <a:t>生成的吸附氧将</a:t>
            </a:r>
            <a:r>
              <a:rPr lang="en-US" altLang="zh-CN" sz="2400">
                <a:latin typeface="Arial" panose="020B0604020202020204" pitchFamily="34" charset="0"/>
                <a:ea typeface="微软雅黑" panose="020B0503020204020204" charset="-122"/>
              </a:rPr>
              <a:t>ClO</a:t>
            </a:r>
            <a:r>
              <a:rPr lang="en-US" altLang="zh-CN" sz="2400" baseline="-25000">
                <a:latin typeface="Arial" panose="020B0604020202020204" pitchFamily="34" charset="0"/>
                <a:ea typeface="微软雅黑" panose="020B0503020204020204" charset="-122"/>
              </a:rPr>
              <a:t>3</a:t>
            </a:r>
            <a:r>
              <a:rPr lang="en-US" altLang="zh-CN" sz="2400" baseline="300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氧化 </a:t>
            </a:r>
            <a:endParaRPr lang="zh-CN" altLang="en-US" sz="2400">
              <a:latin typeface="Arial" panose="020B0604020202020204" pitchFamily="34" charset="0"/>
              <a:ea typeface="微软雅黑" panose="020B0503020204020204" charset="-122"/>
            </a:endParaRPr>
          </a:p>
        </p:txBody>
      </p:sp>
      <p:graphicFrame>
        <p:nvGraphicFramePr>
          <p:cNvPr id="44039" name="Object 7"/>
          <p:cNvGraphicFramePr>
            <a:graphicFrameLocks noChangeAspect="1"/>
          </p:cNvGraphicFramePr>
          <p:nvPr/>
        </p:nvGraphicFramePr>
        <p:xfrm>
          <a:off x="5116195" y="5683885"/>
          <a:ext cx="3124200" cy="615950"/>
        </p:xfrm>
        <a:graphic>
          <a:graphicData uri="http://schemas.openxmlformats.org/presentationml/2006/ole">
            <mc:AlternateContent xmlns:mc="http://schemas.openxmlformats.org/markup-compatibility/2006">
              <mc:Choice xmlns:v="urn:schemas-microsoft-com:vml" Requires="v">
                <p:oleObj spid="_x0000_s6" name="Equation" r:id="rId5" imgW="965200" imgH="190500" progId="Equation.3">
                  <p:embed/>
                </p:oleObj>
              </mc:Choice>
              <mc:Fallback>
                <p:oleObj name="Equation" r:id="rId5" imgW="965200" imgH="1905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6195" y="5683885"/>
                        <a:ext cx="3124200"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0" name="Object 8"/>
          <p:cNvGraphicFramePr>
            <a:graphicFrameLocks noChangeAspect="1"/>
          </p:cNvGraphicFramePr>
          <p:nvPr/>
        </p:nvGraphicFramePr>
        <p:xfrm>
          <a:off x="4582795" y="6293485"/>
          <a:ext cx="2895600" cy="652463"/>
        </p:xfrm>
        <a:graphic>
          <a:graphicData uri="http://schemas.openxmlformats.org/presentationml/2006/ole">
            <mc:AlternateContent xmlns:mc="http://schemas.openxmlformats.org/markup-compatibility/2006">
              <mc:Choice xmlns:v="urn:schemas-microsoft-com:vml" Requires="v">
                <p:oleObj spid="_x0000_s7" name="Equation" r:id="rId7" imgW="901065" imgH="203200" progId="Equation.3">
                  <p:embed/>
                </p:oleObj>
              </mc:Choice>
              <mc:Fallback>
                <p:oleObj name="Equation" r:id="rId7" imgW="901065" imgH="2032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2795" y="6293485"/>
                        <a:ext cx="2895600" cy="652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Text Box 4"/>
          <p:cNvSpPr txBox="1">
            <a:spLocks noChangeArrowheads="1"/>
          </p:cNvSpPr>
          <p:nvPr/>
        </p:nvSpPr>
        <p:spPr bwMode="auto">
          <a:xfrm>
            <a:off x="914400" y="591820"/>
            <a:ext cx="2286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阴极反应：</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sp>
        <p:nvSpPr>
          <p:cNvPr id="44037" name="Text Box 5"/>
          <p:cNvSpPr txBox="1">
            <a:spLocks noChangeArrowheads="1"/>
          </p:cNvSpPr>
          <p:nvPr/>
        </p:nvSpPr>
        <p:spPr bwMode="auto">
          <a:xfrm>
            <a:off x="1066800" y="1201420"/>
            <a:ext cx="3733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电解槽的总反应可写成：</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sp>
        <p:nvSpPr>
          <p:cNvPr id="44038" name="Text Box 6"/>
          <p:cNvSpPr txBox="1">
            <a:spLocks noChangeArrowheads="1"/>
          </p:cNvSpPr>
          <p:nvPr/>
        </p:nvSpPr>
        <p:spPr bwMode="auto">
          <a:xfrm>
            <a:off x="539750" y="3038475"/>
            <a:ext cx="7162800" cy="304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2400">
                <a:solidFill>
                  <a:srgbClr val="FF3300"/>
                </a:solidFill>
                <a:latin typeface="Arial" panose="020B0604020202020204" pitchFamily="34" charset="0"/>
                <a:ea typeface="微软雅黑" panose="020B0503020204020204" charset="-122"/>
              </a:rPr>
              <a:t>电解槽设计简单，因为不存在像氯酸盐生产中有副反应的问题，因而电解液的 流速不必太快</a:t>
            </a:r>
            <a:r>
              <a:rPr lang="zh-CN" altLang="en-US" sz="2400">
                <a:latin typeface="Arial" panose="020B0604020202020204" pitchFamily="34" charset="0"/>
                <a:ea typeface="微软雅黑" panose="020B0503020204020204" charset="-122"/>
              </a:rPr>
              <a:t>。为了防止产物在阴极还原．电解液中加入少量</a:t>
            </a:r>
            <a:r>
              <a:rPr lang="en-US" altLang="zh-CN" sz="2400">
                <a:latin typeface="Arial" panose="020B0604020202020204" pitchFamily="34" charset="0"/>
                <a:ea typeface="微软雅黑" panose="020B0503020204020204" charset="-122"/>
              </a:rPr>
              <a:t>Na</a:t>
            </a:r>
            <a:r>
              <a:rPr lang="en-US" altLang="zh-CN" sz="2400" baseline="-25000">
                <a:latin typeface="Arial" panose="020B0604020202020204" pitchFamily="34" charset="0"/>
                <a:ea typeface="微软雅黑" panose="020B0503020204020204" charset="-122"/>
              </a:rPr>
              <a:t>2</a:t>
            </a:r>
            <a:r>
              <a:rPr lang="en-US" altLang="zh-CN" sz="2400">
                <a:latin typeface="Arial" panose="020B0604020202020204" pitchFamily="34" charset="0"/>
                <a:ea typeface="微软雅黑" panose="020B0503020204020204" charset="-122"/>
              </a:rPr>
              <a:t>Cr</a:t>
            </a:r>
            <a:r>
              <a:rPr lang="en-US" altLang="zh-CN" sz="2400" baseline="-25000">
                <a:latin typeface="Arial" panose="020B0604020202020204" pitchFamily="34" charset="0"/>
                <a:ea typeface="微软雅黑" panose="020B0503020204020204" charset="-122"/>
              </a:rPr>
              <a:t>2</a:t>
            </a:r>
            <a:r>
              <a:rPr lang="en-US" altLang="zh-CN" sz="2400">
                <a:latin typeface="Arial" panose="020B0604020202020204" pitchFamily="34" charset="0"/>
                <a:ea typeface="微软雅黑" panose="020B0503020204020204" charset="-122"/>
              </a:rPr>
              <a:t>O</a:t>
            </a:r>
            <a:r>
              <a:rPr lang="en-US" altLang="zh-CN" sz="2400" baseline="-25000">
                <a:latin typeface="Arial" panose="020B0604020202020204" pitchFamily="34" charset="0"/>
                <a:ea typeface="微软雅黑" panose="020B0503020204020204" charset="-122"/>
              </a:rPr>
              <a:t>7</a:t>
            </a:r>
            <a:r>
              <a:rPr lang="zh-CN" altLang="en-US" sz="2400">
                <a:latin typeface="Arial" panose="020B0604020202020204" pitchFamily="34" charset="0"/>
                <a:ea typeface="微软雅黑" panose="020B0503020204020204" charset="-122"/>
              </a:rPr>
              <a:t>可使阴极表面生成一层保护膜，减少产物还原所造成的损失。 </a:t>
            </a:r>
            <a:endParaRPr lang="zh-CN" altLang="en-US" sz="2400">
              <a:latin typeface="Arial" panose="020B0604020202020204" pitchFamily="34" charset="0"/>
              <a:ea typeface="微软雅黑" panose="020B0503020204020204" charset="-122"/>
            </a:endParaRPr>
          </a:p>
          <a:p>
            <a:pPr algn="just">
              <a:spcBef>
                <a:spcPct val="50000"/>
              </a:spcBef>
            </a:pPr>
            <a:r>
              <a:rPr lang="zh-CN" altLang="en-US" sz="2400">
                <a:latin typeface="Arial" panose="020B0604020202020204" pitchFamily="34" charset="0"/>
                <a:ea typeface="微软雅黑" panose="020B0503020204020204" charset="-122"/>
              </a:rPr>
              <a:t>阳极材料有</a:t>
            </a:r>
            <a:r>
              <a:rPr lang="en-US" altLang="zh-CN" sz="2400">
                <a:latin typeface="Arial" panose="020B0604020202020204" pitchFamily="34" charset="0"/>
                <a:ea typeface="微软雅黑" panose="020B0503020204020204" charset="-122"/>
              </a:rPr>
              <a:t>Pt</a:t>
            </a:r>
            <a:r>
              <a:rPr lang="zh-CN" altLang="en-US" sz="2400">
                <a:latin typeface="Arial" panose="020B0604020202020204" pitchFamily="34" charset="0"/>
                <a:ea typeface="微软雅黑" panose="020B0503020204020204" charset="-122"/>
              </a:rPr>
              <a:t>、镀贵金属的</a:t>
            </a:r>
            <a:r>
              <a:rPr lang="en-US" altLang="zh-CN" sz="2400">
                <a:latin typeface="Arial" panose="020B0604020202020204" pitchFamily="34" charset="0"/>
                <a:ea typeface="微软雅黑" panose="020B0503020204020204" charset="-122"/>
              </a:rPr>
              <a:t>Co</a:t>
            </a:r>
            <a:r>
              <a:rPr lang="zh-CN" altLang="en-US" sz="2400">
                <a:latin typeface="Arial" panose="020B0604020202020204" pitchFamily="34" charset="0"/>
                <a:ea typeface="微软雅黑" panose="020B0503020204020204" charset="-122"/>
              </a:rPr>
              <a:t>，</a:t>
            </a:r>
            <a:r>
              <a:rPr lang="en-US" altLang="zh-CN" sz="2400">
                <a:latin typeface="Arial" panose="020B0604020202020204" pitchFamily="34" charset="0"/>
                <a:ea typeface="微软雅黑" panose="020B0503020204020204" charset="-122"/>
              </a:rPr>
              <a:t>PbO</a:t>
            </a:r>
            <a:r>
              <a:rPr lang="en-US" altLang="zh-CN" sz="2400" baseline="-25000">
                <a:latin typeface="Arial" panose="020B0604020202020204" pitchFamily="34" charset="0"/>
                <a:ea typeface="微软雅黑" panose="020B0503020204020204" charset="-122"/>
              </a:rPr>
              <a:t>2</a:t>
            </a:r>
            <a:r>
              <a:rPr lang="zh-CN" altLang="en-US" sz="2400" baseline="-25000">
                <a:latin typeface="Arial" panose="020B0604020202020204" pitchFamily="34" charset="0"/>
                <a:ea typeface="微软雅黑" panose="020B0503020204020204" charset="-122"/>
              </a:rPr>
              <a:t>。</a:t>
            </a:r>
            <a:endParaRPr lang="en-US" altLang="zh-CN" sz="2400" baseline="-25000">
              <a:latin typeface="Arial" panose="020B0604020202020204" pitchFamily="34" charset="0"/>
              <a:ea typeface="微软雅黑" panose="020B0503020204020204" charset="-122"/>
            </a:endParaRPr>
          </a:p>
          <a:p>
            <a:pPr algn="just">
              <a:spcBef>
                <a:spcPct val="50000"/>
              </a:spcBef>
            </a:pPr>
            <a:r>
              <a:rPr lang="zh-CN" altLang="en-US" sz="2400">
                <a:latin typeface="Arial" panose="020B0604020202020204" pitchFamily="34" charset="0"/>
                <a:ea typeface="微软雅黑" panose="020B0503020204020204" charset="-122"/>
              </a:rPr>
              <a:t>阴极材料有青铜、碳钢、</a:t>
            </a:r>
            <a:r>
              <a:rPr lang="en-US" altLang="zh-CN" sz="2400">
                <a:latin typeface="Arial" panose="020B0604020202020204" pitchFamily="34" charset="0"/>
                <a:ea typeface="微软雅黑" panose="020B0503020204020204" charset="-122"/>
              </a:rPr>
              <a:t>CrNl</a:t>
            </a:r>
            <a:r>
              <a:rPr lang="zh-CN" altLang="en-US" sz="2400">
                <a:latin typeface="Arial" panose="020B0604020202020204" pitchFamily="34" charset="0"/>
                <a:ea typeface="微软雅黑" panose="020B0503020204020204" charset="-122"/>
              </a:rPr>
              <a:t>钢或</a:t>
            </a:r>
            <a:r>
              <a:rPr lang="en-US" altLang="zh-CN" sz="2400">
                <a:latin typeface="Arial" panose="020B0604020202020204" pitchFamily="34" charset="0"/>
                <a:ea typeface="微软雅黑" panose="020B0503020204020204" charset="-122"/>
              </a:rPr>
              <a:t>Nl</a:t>
            </a:r>
            <a:r>
              <a:rPr lang="zh-CN" altLang="en-US" sz="2400">
                <a:latin typeface="Arial" panose="020B0604020202020204" pitchFamily="34" charset="0"/>
                <a:ea typeface="微软雅黑" panose="020B0503020204020204" charset="-122"/>
              </a:rPr>
              <a:t>。</a:t>
            </a:r>
            <a:endParaRPr lang="zh-CN" altLang="en-US" sz="2400">
              <a:latin typeface="Arial" panose="020B0604020202020204" pitchFamily="34" charset="0"/>
              <a:ea typeface="微软雅黑" panose="020B0503020204020204" charset="-122"/>
            </a:endParaRPr>
          </a:p>
        </p:txBody>
      </p:sp>
      <p:graphicFrame>
        <p:nvGraphicFramePr>
          <p:cNvPr id="44041" name="Object 9"/>
          <p:cNvGraphicFramePr>
            <a:graphicFrameLocks noChangeAspect="1"/>
          </p:cNvGraphicFramePr>
          <p:nvPr/>
        </p:nvGraphicFramePr>
        <p:xfrm>
          <a:off x="2771775" y="476250"/>
          <a:ext cx="2590800" cy="681038"/>
        </p:xfrm>
        <a:graphic>
          <a:graphicData uri="http://schemas.openxmlformats.org/presentationml/2006/ole">
            <mc:AlternateContent xmlns:mc="http://schemas.openxmlformats.org/markup-compatibility/2006">
              <mc:Choice xmlns:v="urn:schemas-microsoft-com:vml" Requires="v">
                <p:oleObj spid="_x0000_s4" name="Equation" r:id="rId1" imgW="723900" imgH="190500" progId="Equation.3">
                  <p:embed/>
                </p:oleObj>
              </mc:Choice>
              <mc:Fallback>
                <p:oleObj name="Equation" r:id="rId1" imgW="723900" imgH="190500"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476250"/>
                        <a:ext cx="2590800" cy="68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2" name="Object 10"/>
          <p:cNvGraphicFramePr>
            <a:graphicFrameLocks noChangeAspect="1"/>
          </p:cNvGraphicFramePr>
          <p:nvPr/>
        </p:nvGraphicFramePr>
        <p:xfrm>
          <a:off x="1547495" y="1742440"/>
          <a:ext cx="4305935" cy="605790"/>
        </p:xfrm>
        <a:graphic>
          <a:graphicData uri="http://schemas.openxmlformats.org/presentationml/2006/ole">
            <mc:AlternateContent xmlns:mc="http://schemas.openxmlformats.org/markup-compatibility/2006">
              <mc:Choice xmlns:v="urn:schemas-microsoft-com:vml" Requires="v">
                <p:oleObj spid="_x0000_s5" name="Equation" r:id="rId3" imgW="1803400" imgH="254000" progId="Equation.3">
                  <p:embed/>
                </p:oleObj>
              </mc:Choice>
              <mc:Fallback>
                <p:oleObj name="Equation" r:id="rId3" imgW="1803400" imgH="254000" progId="Equation.3">
                  <p:embed/>
                  <p:pic>
                    <p:nvPicPr>
                      <p:cNvPr id="0" name="Object 10"/>
                      <p:cNvPicPr>
                        <a:picLocks noChangeAspect="1" noChangeArrowheads="1"/>
                      </p:cNvPicPr>
                      <p:nvPr/>
                    </p:nvPicPr>
                    <p:blipFill>
                      <a:blip r:embed="rId4"/>
                      <a:srcRect/>
                      <a:stretch>
                        <a:fillRect/>
                      </a:stretch>
                    </p:blipFill>
                    <p:spPr bwMode="auto">
                      <a:xfrm>
                        <a:off x="1547495" y="1742440"/>
                        <a:ext cx="4305935" cy="6057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143000" y="304800"/>
            <a:ext cx="6858000" cy="457200"/>
          </a:xfrm>
        </p:spPr>
        <p:txBody>
          <a:bodyPr/>
          <a:lstStyle/>
          <a:p>
            <a:r>
              <a:rPr lang="en-US" altLang="zh-CN" sz="3600" b="1"/>
              <a:t>5.4  </a:t>
            </a:r>
            <a:r>
              <a:rPr lang="zh-CN" altLang="en-US" sz="3600" b="1"/>
              <a:t>锰化合物的电解合成</a:t>
            </a:r>
            <a:endParaRPr lang="zh-CN" altLang="en-US" sz="3600" b="1"/>
          </a:p>
        </p:txBody>
      </p:sp>
      <p:sp>
        <p:nvSpPr>
          <p:cNvPr id="45059" name="Rectangle 3"/>
          <p:cNvSpPr>
            <a:spLocks noGrp="1" noChangeArrowheads="1"/>
          </p:cNvSpPr>
          <p:nvPr>
            <p:ph type="body" idx="1"/>
          </p:nvPr>
        </p:nvSpPr>
        <p:spPr>
          <a:xfrm>
            <a:off x="685800" y="1600200"/>
            <a:ext cx="7848600" cy="4724400"/>
          </a:xfrm>
        </p:spPr>
        <p:txBody>
          <a:bodyPr/>
          <a:lstStyle/>
          <a:p>
            <a:pPr algn="just">
              <a:buFontTx/>
              <a:buNone/>
            </a:pPr>
            <a:r>
              <a:rPr lang="en-US" altLang="zh-CN" sz="2800">
                <a:latin typeface="Arial Unicode MS"/>
              </a:rPr>
              <a:t>            </a:t>
            </a:r>
            <a:r>
              <a:rPr lang="en-US" altLang="zh-CN" sz="2800" b="1">
                <a:latin typeface="Arial Unicode MS"/>
              </a:rPr>
              <a:t>MnO</a:t>
            </a:r>
            <a:r>
              <a:rPr lang="en-US" altLang="zh-CN" sz="2800" b="1" baseline="-30000">
                <a:latin typeface="Arial Unicode MS"/>
              </a:rPr>
              <a:t>2</a:t>
            </a:r>
            <a:r>
              <a:rPr lang="zh-CN" altLang="en-US" sz="2800" b="1">
                <a:latin typeface="宋体" panose="02010600030101010101" pitchFamily="2" charset="-122"/>
              </a:rPr>
              <a:t>可分为天然二氧化锰</a:t>
            </a:r>
            <a:r>
              <a:rPr lang="en-US" altLang="zh-CN" sz="2800" b="1">
                <a:latin typeface="Arial Unicode MS"/>
              </a:rPr>
              <a:t>(NMD)</a:t>
            </a:r>
            <a:r>
              <a:rPr lang="zh-CN" altLang="en-US" sz="2800" b="1">
                <a:latin typeface="宋体" panose="02010600030101010101" pitchFamily="2" charset="-122"/>
              </a:rPr>
              <a:t>、电解二氧化锰</a:t>
            </a:r>
            <a:r>
              <a:rPr lang="en-US" altLang="zh-CN" sz="2800" b="1">
                <a:latin typeface="Arial Unicode MS"/>
              </a:rPr>
              <a:t>(EMD)</a:t>
            </a:r>
            <a:r>
              <a:rPr lang="zh-CN" altLang="en-US" sz="2800" b="1">
                <a:latin typeface="宋体" panose="02010600030101010101" pitchFamily="2" charset="-122"/>
              </a:rPr>
              <a:t>、化学二氧化锰</a:t>
            </a:r>
            <a:r>
              <a:rPr lang="en-US" altLang="zh-CN" sz="2800" b="1">
                <a:latin typeface="Arial Unicode MS"/>
              </a:rPr>
              <a:t>(CMD)</a:t>
            </a:r>
            <a:r>
              <a:rPr lang="zh-CN" altLang="en-US" sz="2800" b="1">
                <a:latin typeface="宋体" panose="02010600030101010101" pitchFamily="2" charset="-122"/>
              </a:rPr>
              <a:t>，电解二氧化锰纯度高、晶型好</a:t>
            </a:r>
            <a:r>
              <a:rPr lang="en-US" altLang="zh-CN" sz="2800" b="1">
                <a:latin typeface="Arial Unicode MS"/>
              </a:rPr>
              <a:t>(Y</a:t>
            </a:r>
            <a:r>
              <a:rPr lang="zh-CN" altLang="en-US" sz="2800" b="1">
                <a:latin typeface="宋体" panose="02010600030101010101" pitchFamily="2" charset="-122"/>
              </a:rPr>
              <a:t>型</a:t>
            </a:r>
            <a:r>
              <a:rPr lang="en-US" altLang="zh-CN" sz="2800" b="1">
                <a:latin typeface="Arial Unicode MS"/>
              </a:rPr>
              <a:t>)</a:t>
            </a:r>
            <a:r>
              <a:rPr lang="zh-CN" altLang="en-US" sz="2800" b="1">
                <a:latin typeface="宋体" panose="02010600030101010101" pitchFamily="2" charset="-122"/>
              </a:rPr>
              <a:t>、电化学性能好，但生产成本稍高，是目前高性能碱锰电池的主要原料之一。</a:t>
            </a:r>
            <a:r>
              <a:rPr lang="en-US" altLang="zh-CN" sz="2800" b="1">
                <a:latin typeface="Arial Unicode MS"/>
              </a:rPr>
              <a:t>2001</a:t>
            </a:r>
            <a:r>
              <a:rPr lang="zh-CN" altLang="en-US" sz="2800" b="1">
                <a:latin typeface="宋体" panose="02010600030101010101" pitchFamily="2" charset="-122"/>
              </a:rPr>
              <a:t>年我国电解二氧化锰行业有近</a:t>
            </a:r>
            <a:r>
              <a:rPr lang="en-US" altLang="zh-CN" sz="2800" b="1">
                <a:latin typeface="Arial Unicode MS"/>
              </a:rPr>
              <a:t>20</a:t>
            </a:r>
            <a:r>
              <a:rPr lang="zh-CN" altLang="en-US" sz="2800" b="1">
                <a:latin typeface="宋体" panose="02010600030101010101" pitchFamily="2" charset="-122"/>
              </a:rPr>
              <a:t>家生产厂，尽管有些厂的规模达到</a:t>
            </a:r>
            <a:r>
              <a:rPr lang="en-US" altLang="zh-CN" sz="2800" b="1">
                <a:latin typeface="Arial Unicode MS"/>
              </a:rPr>
              <a:t>4-5</a:t>
            </a:r>
            <a:r>
              <a:rPr lang="zh-CN" altLang="en-US" sz="2800" b="1">
                <a:latin typeface="宋体" panose="02010600030101010101" pitchFamily="2" charset="-122"/>
              </a:rPr>
              <a:t>万</a:t>
            </a:r>
            <a:r>
              <a:rPr lang="en-US" altLang="zh-CN" sz="2800" b="1">
                <a:latin typeface="Arial Unicode MS"/>
              </a:rPr>
              <a:t>t/a</a:t>
            </a:r>
            <a:r>
              <a:rPr lang="zh-CN" altLang="en-US" sz="2800" b="1">
                <a:latin typeface="宋体" panose="02010600030101010101" pitchFamily="2" charset="-122"/>
              </a:rPr>
              <a:t>，但大多数厂家生产规模小，产品质量参差不齐，制约了我国电池工业的发展，因而改进</a:t>
            </a:r>
            <a:r>
              <a:rPr lang="en-US" altLang="zh-CN" sz="2800" b="1">
                <a:latin typeface="Arial Unicode MS"/>
              </a:rPr>
              <a:t>EMD</a:t>
            </a:r>
            <a:r>
              <a:rPr lang="zh-CN" altLang="en-US" sz="2800" b="1">
                <a:latin typeface="宋体" panose="02010600030101010101" pitchFamily="2" charset="-122"/>
              </a:rPr>
              <a:t>的生产技术及加大生产规模，是未来电解二氧化锰工业发展的必由之路</a:t>
            </a:r>
            <a:r>
              <a:rPr lang="en-US" altLang="zh-CN" sz="2800" b="1">
                <a:latin typeface="宋体" panose="02010600030101010101" pitchFamily="2" charset="-122"/>
              </a:rPr>
              <a:t>.</a:t>
            </a:r>
            <a:r>
              <a:rPr lang="en-US" altLang="zh-CN" sz="2800" b="1">
                <a:latin typeface="Arial Unicode MS"/>
              </a:rPr>
              <a:t> </a:t>
            </a:r>
            <a:endParaRPr lang="en-US" altLang="zh-CN" sz="2800" b="1">
              <a:latin typeface="Arial Unicode MS"/>
            </a:endParaRPr>
          </a:p>
        </p:txBody>
      </p:sp>
      <p:sp>
        <p:nvSpPr>
          <p:cNvPr id="45060" name="Text Box 4"/>
          <p:cNvSpPr txBox="1">
            <a:spLocks noChangeArrowheads="1"/>
          </p:cNvSpPr>
          <p:nvPr/>
        </p:nvSpPr>
        <p:spPr bwMode="auto">
          <a:xfrm>
            <a:off x="914400" y="1066800"/>
            <a:ext cx="5638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latin typeface="Arial" panose="020B0604020202020204" pitchFamily="34" charset="0"/>
                <a:ea typeface="微软雅黑" panose="020B0503020204020204" charset="-122"/>
              </a:rPr>
              <a:t>1</a:t>
            </a:r>
            <a:r>
              <a:rPr lang="zh-CN" altLang="en-US" sz="2800" b="1">
                <a:latin typeface="Arial" panose="020B0604020202020204" pitchFamily="34" charset="0"/>
                <a:ea typeface="微软雅黑" panose="020B0503020204020204" charset="-122"/>
              </a:rPr>
              <a:t>．电解二氧化锰的优点和用途</a:t>
            </a:r>
            <a:endParaRPr lang="zh-CN" altLang="en-US" sz="2800" b="1">
              <a:latin typeface="Arial" panose="020B0604020202020204" pitchFamily="34" charset="0"/>
              <a:ea typeface="微软雅黑" panose="020B0503020204020204"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813" y="333375"/>
            <a:ext cx="2305050" cy="1728788"/>
          </a:xfrm>
          <a:prstGeom prst="rect">
            <a:avLst/>
          </a:prstGeom>
          <a:noFill/>
          <a:extLst>
            <a:ext uri="{909E8E84-426E-40DD-AFC4-6F175D3DCCD1}">
              <a14:hiddenFill xmlns:a14="http://schemas.microsoft.com/office/drawing/2010/main">
                <a:solidFill>
                  <a:srgbClr val="FFFFFF"/>
                </a:solidFill>
              </a14:hiddenFill>
            </a:ext>
          </a:extLst>
        </p:spPr>
      </p:pic>
      <p:pic>
        <p:nvPicPr>
          <p:cNvPr id="11469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625" y="260350"/>
            <a:ext cx="2813050" cy="3673475"/>
          </a:xfrm>
          <a:prstGeom prst="rect">
            <a:avLst/>
          </a:prstGeom>
          <a:noFill/>
          <a:extLst>
            <a:ext uri="{909E8E84-426E-40DD-AFC4-6F175D3DCCD1}">
              <a14:hiddenFill xmlns:a14="http://schemas.microsoft.com/office/drawing/2010/main">
                <a:solidFill>
                  <a:srgbClr val="FFFFFF"/>
                </a:solidFill>
              </a14:hiddenFill>
            </a:ext>
          </a:extLst>
        </p:spPr>
      </p:pic>
      <p:pic>
        <p:nvPicPr>
          <p:cNvPr id="114695"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450" y="3284538"/>
            <a:ext cx="3240088" cy="2205037"/>
          </a:xfrm>
          <a:prstGeom prst="rect">
            <a:avLst/>
          </a:prstGeom>
          <a:noFill/>
          <a:extLst>
            <a:ext uri="{909E8E84-426E-40DD-AFC4-6F175D3DCCD1}">
              <a14:hiddenFill xmlns:a14="http://schemas.microsoft.com/office/drawing/2010/main">
                <a:solidFill>
                  <a:srgbClr val="FFFFFF"/>
                </a:solidFill>
              </a14:hiddenFill>
            </a:ext>
          </a:extLst>
        </p:spPr>
      </p:pic>
      <p:sp>
        <p:nvSpPr>
          <p:cNvPr id="114696" name="Text Box 8"/>
          <p:cNvSpPr txBox="1">
            <a:spLocks noChangeArrowheads="1"/>
          </p:cNvSpPr>
          <p:nvPr/>
        </p:nvSpPr>
        <p:spPr bwMode="auto">
          <a:xfrm>
            <a:off x="1979613" y="2349500"/>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电解二氧化锰</a:t>
            </a:r>
            <a:endParaRPr lang="zh-CN" altLang="en-US" sz="2400"/>
          </a:p>
        </p:txBody>
      </p:sp>
      <p:sp>
        <p:nvSpPr>
          <p:cNvPr id="114697" name="Rectangle 9"/>
          <p:cNvSpPr>
            <a:spLocks noChangeArrowheads="1"/>
          </p:cNvSpPr>
          <p:nvPr/>
        </p:nvSpPr>
        <p:spPr bwMode="auto">
          <a:xfrm>
            <a:off x="1979613" y="5661025"/>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t>天然二氧化锰</a:t>
            </a:r>
            <a:endParaRPr lang="zh-CN" altLang="en-US" sz="24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60" name="imgb">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333375"/>
            <a:ext cx="3843338" cy="511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1" name="Text Box 5"/>
          <p:cNvSpPr txBox="1">
            <a:spLocks noChangeArrowheads="1"/>
          </p:cNvSpPr>
          <p:nvPr/>
        </p:nvSpPr>
        <p:spPr bwMode="auto">
          <a:xfrm>
            <a:off x="3924300" y="5805488"/>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碳酸锰矿</a:t>
            </a:r>
            <a:endParaRPr lang="zh-CN" altLang="en-US" sz="24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4" name="Picture 4">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476250"/>
            <a:ext cx="4248150" cy="279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5" name="Picture 5">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549275"/>
            <a:ext cx="3529012" cy="277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6" name="Text Box 6"/>
          <p:cNvSpPr txBox="1">
            <a:spLocks noChangeArrowheads="1"/>
          </p:cNvSpPr>
          <p:nvPr/>
        </p:nvSpPr>
        <p:spPr bwMode="auto">
          <a:xfrm>
            <a:off x="323850" y="3573463"/>
            <a:ext cx="8208963"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软锰矿的成分叫二氧化锰，是一种常见的锰矿物。软锰矿含锰为</a:t>
            </a:r>
            <a:r>
              <a:rPr lang="en-US" altLang="zh-CN" sz="2400"/>
              <a:t>63.19</a:t>
            </a:r>
            <a:r>
              <a:rPr lang="zh-CN" altLang="en-US" sz="2400"/>
              <a:t>％，是重要的锰矿石。软锰矿非常软，还不及人的指甲硬。它的颜色为浅灰到黑，具有金属光泽。如果用手去摸，它会像煤一样弄黑你的手。软锰矿一般为块状或肾状或土状，有时具有放射纤维状形态。有趣的是有些软锰矿还呈现出一种树枝状附于岩石面上，人称假化石。软锰矿是其他锰矿石变成的，在沼泽、湖海等形成的沉积物中也可以形成软锰矿。</a:t>
            </a:r>
            <a:endParaRPr lang="zh-CN" altLang="en-US" sz="24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8" name="Picture 4">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620713"/>
            <a:ext cx="4176712"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09" name="Picture 5">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549275"/>
            <a:ext cx="2376488"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0" name="Text Box 6"/>
          <p:cNvSpPr txBox="1">
            <a:spLocks noChangeArrowheads="1"/>
          </p:cNvSpPr>
          <p:nvPr/>
        </p:nvSpPr>
        <p:spPr bwMode="auto">
          <a:xfrm>
            <a:off x="611188" y="3356293"/>
            <a:ext cx="80645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硬锰矿是钡和锰的氧化物，它是提炼锰的重要矿石。与很多在地下形成的矿物不同，硬锰矿是在地表条件下形成的次生矿物，也就是说它原来是另外一种矿物，后来在某种条件下又变成了现在这种东西。它们原来一般是锰的碳酸盐或硅酸盐矿物。硬锰矿深灰到黑色，表面光滑，葡萄或钟乳状块体。至于硬锰矿的化学式目前尚未能最后确定下来 。</a:t>
            </a:r>
            <a:endParaRPr lang="zh-CN" altLang="en-US" sz="24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2" name="imgb">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260350"/>
            <a:ext cx="523875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3" name="Text Box 5"/>
          <p:cNvSpPr txBox="1">
            <a:spLocks noChangeArrowheads="1"/>
          </p:cNvSpPr>
          <p:nvPr/>
        </p:nvSpPr>
        <p:spPr bwMode="auto">
          <a:xfrm>
            <a:off x="611188" y="4508500"/>
            <a:ext cx="80645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水锰矿 单斜晶系，晶体呈柱状，柱面具纵纹。在某些含锰热液矿脉的晶洞中常呈晶簇产出，在沉积锰矿床中多呈隐晶块体，或呈鲕状、钟乳状集合体等。矿物颜色为黑色，条痕呈褐色。半金属光泽。硬度</a:t>
            </a:r>
            <a:r>
              <a:rPr lang="en-US" altLang="zh-CN" sz="2400"/>
              <a:t>3</a:t>
            </a:r>
            <a:r>
              <a:rPr lang="zh-CN" altLang="en-US" sz="2400"/>
              <a:t>～</a:t>
            </a:r>
            <a:r>
              <a:rPr lang="en-US" altLang="zh-CN" sz="2400"/>
              <a:t>4</a:t>
            </a:r>
            <a:r>
              <a:rPr lang="zh-CN" altLang="en-US" sz="2400"/>
              <a:t>，比重</a:t>
            </a:r>
            <a:r>
              <a:rPr lang="en-US" altLang="zh-CN" sz="2400"/>
              <a:t>4.2</a:t>
            </a:r>
            <a:r>
              <a:rPr lang="zh-CN" altLang="en-US" sz="2400"/>
              <a:t>～</a:t>
            </a:r>
            <a:r>
              <a:rPr lang="en-US" altLang="zh-CN" sz="2400"/>
              <a:t>4.3</a:t>
            </a:r>
            <a:r>
              <a:rPr lang="zh-CN" altLang="en-US" sz="2400"/>
              <a:t>。水锰矿既见于内生成因的某些热液矿床，也见于外生成因的沉积锰矿床，是炼锰的矿物原料之一。</a:t>
            </a:r>
            <a:endParaRPr lang="zh-CN" altLang="en-US" sz="240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6" name="imgb">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260350"/>
            <a:ext cx="4537075" cy="421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7" name="Text Box 5"/>
          <p:cNvSpPr txBox="1">
            <a:spLocks noChangeArrowheads="1"/>
          </p:cNvSpPr>
          <p:nvPr/>
        </p:nvSpPr>
        <p:spPr bwMode="auto">
          <a:xfrm>
            <a:off x="755650" y="4581525"/>
            <a:ext cx="7777163"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黑锰矿    四方晶系，晶体呈四方双锥，通常为粒状集合体。颜色为黑色，条痕呈棕橙或红褐。半金属光泽。硬度</a:t>
            </a:r>
            <a:r>
              <a:rPr lang="en-US" altLang="zh-CN" sz="2400"/>
              <a:t>5.5</a:t>
            </a:r>
            <a:r>
              <a:rPr lang="zh-CN" altLang="en-US" sz="2400"/>
              <a:t>，比重</a:t>
            </a:r>
            <a:r>
              <a:rPr lang="en-US" altLang="zh-CN" sz="2400"/>
              <a:t>4.84</a:t>
            </a:r>
            <a:r>
              <a:rPr lang="zh-CN" altLang="en-US" sz="2400"/>
              <a:t>。黑锰矿由内生作用或变质作用而形成，见于某些接触交代矿床、热液矿床和沉积变质锰矿床中，与褐锰矿等共生，亦是炼锰的矿物原料之一。</a:t>
            </a:r>
            <a:endParaRPr lang="zh-CN" altLang="en-US" sz="24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80" name="Picture 4">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333375"/>
            <a:ext cx="3816350"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1" name="Text Box 5"/>
          <p:cNvSpPr txBox="1">
            <a:spLocks noChangeArrowheads="1"/>
          </p:cNvSpPr>
          <p:nvPr/>
        </p:nvSpPr>
        <p:spPr bwMode="auto">
          <a:xfrm>
            <a:off x="1331913" y="4292600"/>
            <a:ext cx="72009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褐锰矿    四方晶系，晶体呈双锥状，也呈粒状和块状集合体产出。矿物呈黑色，条痕为褐黑色。半金属光泽。硬度</a:t>
            </a:r>
            <a:r>
              <a:rPr lang="en-US" altLang="zh-CN" sz="2400"/>
              <a:t>6</a:t>
            </a:r>
            <a:r>
              <a:rPr lang="zh-CN" altLang="en-US" sz="2400"/>
              <a:t>，比重</a:t>
            </a:r>
            <a:r>
              <a:rPr lang="en-US" altLang="zh-CN" sz="2400"/>
              <a:t>4.7</a:t>
            </a:r>
            <a:r>
              <a:rPr lang="zh-CN" altLang="en-US" sz="2400"/>
              <a:t>～</a:t>
            </a:r>
            <a:r>
              <a:rPr lang="en-US" altLang="zh-CN" sz="2400"/>
              <a:t>5.0</a:t>
            </a:r>
            <a:r>
              <a:rPr lang="zh-CN" altLang="en-US" sz="2400"/>
              <a:t>。其他特征与黑锰矿相同。</a:t>
            </a:r>
            <a:endParaRPr lang="zh-CN" altLang="en-US" sz="24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4" name="imgb">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404813"/>
            <a:ext cx="4537075"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5" name="Text Box 5"/>
          <p:cNvSpPr txBox="1">
            <a:spLocks noChangeArrowheads="1"/>
          </p:cNvSpPr>
          <p:nvPr/>
        </p:nvSpPr>
        <p:spPr bwMode="auto">
          <a:xfrm>
            <a:off x="755650" y="4437063"/>
            <a:ext cx="813752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菱锰矿  三方晶系，晶体呈菱面体，通常为粒状、块状或结核状。矿物呈玫瑰色，容易氧化而转变成褐黑色。玻璃光泽。硬度</a:t>
            </a:r>
            <a:r>
              <a:rPr lang="en-US" altLang="zh-CN" sz="2400"/>
              <a:t>3.5</a:t>
            </a:r>
            <a:r>
              <a:rPr lang="zh-CN" altLang="en-US" sz="2400"/>
              <a:t>～</a:t>
            </a:r>
            <a:r>
              <a:rPr lang="en-US" altLang="zh-CN" sz="2400"/>
              <a:t>4.5</a:t>
            </a:r>
            <a:r>
              <a:rPr lang="zh-CN" altLang="en-US" sz="2400"/>
              <a:t>，比重</a:t>
            </a:r>
            <a:r>
              <a:rPr lang="en-US" altLang="zh-CN" sz="2400"/>
              <a:t>3.6</a:t>
            </a:r>
            <a:r>
              <a:rPr lang="zh-CN" altLang="en-US" sz="2400"/>
              <a:t>～</a:t>
            </a:r>
            <a:r>
              <a:rPr lang="en-US" altLang="zh-CN" sz="2400"/>
              <a:t>3.7</a:t>
            </a:r>
            <a:r>
              <a:rPr lang="zh-CN" altLang="en-US" sz="2400"/>
              <a:t>。由内生作用形成的菱锰矿多见于某些热液矿床和接触交代矿床；由外生作用形成的菱锰矿大量分布于沉积锰矿床中。菱锰矿是炼锰的重要矿物原料。</a:t>
            </a:r>
            <a:endParaRPr lang="zh-CN" altLang="en-US" sz="24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609600" y="609600"/>
            <a:ext cx="8001000" cy="543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2800" b="1"/>
              <a:t>湖南湘潭电化集团公司投资</a:t>
            </a:r>
            <a:r>
              <a:rPr lang="en-US" altLang="zh-CN" sz="2800" b="1"/>
              <a:t>4600</a:t>
            </a:r>
            <a:r>
              <a:rPr lang="zh-CN" altLang="en-US" sz="2800" b="1"/>
              <a:t>万元扩建的</a:t>
            </a:r>
            <a:r>
              <a:rPr lang="en-US" altLang="zh-CN" sz="2800" b="1"/>
              <a:t>958</a:t>
            </a:r>
            <a:r>
              <a:rPr lang="zh-CN" altLang="en-US" sz="2800" b="1"/>
              <a:t>电解二氧化锰生产线顺利建成投产，湘潭电化集团在新生产线投产后，电解二氧化锰产量将由目前的</a:t>
            </a:r>
            <a:r>
              <a:rPr lang="en-US" altLang="zh-CN" sz="2800" b="1"/>
              <a:t>2.5</a:t>
            </a:r>
            <a:r>
              <a:rPr lang="zh-CN" altLang="en-US" sz="2800" b="1"/>
              <a:t>万吨提升到</a:t>
            </a:r>
            <a:r>
              <a:rPr lang="en-US" altLang="zh-CN" sz="2800" b="1"/>
              <a:t>5</a:t>
            </a:r>
            <a:r>
              <a:rPr lang="zh-CN" altLang="en-US" sz="2800" b="1"/>
              <a:t>万吨，成为世界上最大的电解二氧化锰生产企业。</a:t>
            </a:r>
            <a:endParaRPr lang="zh-CN" altLang="en-US" sz="2800" b="1"/>
          </a:p>
          <a:p>
            <a:pPr algn="just">
              <a:spcBef>
                <a:spcPct val="50000"/>
              </a:spcBef>
            </a:pPr>
            <a:r>
              <a:rPr lang="zh-CN" altLang="en-US" sz="2800" b="1"/>
              <a:t>   湖南是锰矿的富集区，湘中和湘西地区锰矿资源十分丰富。依托这一资源建立的湘潭电化集团生产电解二氧化锰已有</a:t>
            </a:r>
            <a:r>
              <a:rPr lang="en-US" altLang="zh-CN" sz="2800" b="1"/>
              <a:t>30</a:t>
            </a:r>
            <a:r>
              <a:rPr lang="zh-CN" altLang="en-US" sz="2800" b="1"/>
              <a:t>多年的历史，产量占全国总产量的</a:t>
            </a:r>
            <a:r>
              <a:rPr lang="en-US" altLang="zh-CN" sz="2800" b="1"/>
              <a:t>40</a:t>
            </a:r>
            <a:r>
              <a:rPr lang="zh-CN" altLang="en-US" sz="2800" b="1"/>
              <a:t>％以上。此次</a:t>
            </a:r>
            <a:r>
              <a:rPr lang="en-US" altLang="zh-CN" sz="2800" b="1"/>
              <a:t>958</a:t>
            </a:r>
            <a:r>
              <a:rPr lang="zh-CN" altLang="en-US" sz="2800" b="1"/>
              <a:t>电解二氧化锰生产线建成投产后，不仅湘潭电化成为世界上最大的电解二氧化锰生产企业，湘潭市也成为全国最大的电解锰生产基地。</a:t>
            </a:r>
            <a:endParaRPr lang="zh-CN" altLang="en-US" sz="2800" b="1"/>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6013" y="1268413"/>
            <a:ext cx="1714500"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475" y="1268413"/>
            <a:ext cx="5113338"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8" name="Text Box 6"/>
          <p:cNvSpPr txBox="1">
            <a:spLocks noChangeArrowheads="1"/>
          </p:cNvSpPr>
          <p:nvPr/>
        </p:nvSpPr>
        <p:spPr bwMode="auto">
          <a:xfrm>
            <a:off x="3635375" y="5445125"/>
            <a:ext cx="2160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湘潭电化集团</a:t>
            </a:r>
            <a:endParaRPr lang="zh-CN" altLang="en-US" sz="24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50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350" y="260350"/>
            <a:ext cx="6553200"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2781300"/>
            <a:ext cx="6481763" cy="3816350"/>
          </a:xfrm>
          <a:prstGeom prst="rect">
            <a:avLst/>
          </a:prstGeom>
          <a:noFill/>
          <a:extLst>
            <a:ext uri="{909E8E84-426E-40DD-AFC4-6F175D3DCCD1}">
              <a14:hiddenFill xmlns:a14="http://schemas.microsoft.com/office/drawing/2010/main">
                <a:solidFill>
                  <a:srgbClr val="FFFFFF"/>
                </a:solidFill>
              </a14:hiddenFill>
            </a:ext>
          </a:extLst>
        </p:spPr>
      </p:pic>
      <p:sp>
        <p:nvSpPr>
          <p:cNvPr id="106503" name="Rectangle 7"/>
          <p:cNvSpPr>
            <a:spLocks noChangeArrowheads="1"/>
          </p:cNvSpPr>
          <p:nvPr/>
        </p:nvSpPr>
        <p:spPr bwMode="auto">
          <a:xfrm>
            <a:off x="0" y="4724400"/>
            <a:ext cx="10985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t>湘潭电</a:t>
            </a:r>
            <a:endParaRPr lang="zh-CN" altLang="en-US" sz="2400"/>
          </a:p>
          <a:p>
            <a:r>
              <a:rPr lang="zh-CN" altLang="en-US" sz="2400"/>
              <a:t>化集团</a:t>
            </a:r>
            <a:endParaRPr lang="zh-CN" altLang="en-US" sz="24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00338" y="620713"/>
            <a:ext cx="3675062" cy="4751387"/>
          </a:xfrm>
          <a:prstGeom prst="rect">
            <a:avLst/>
          </a:prstGeom>
          <a:noFill/>
          <a:extLst>
            <a:ext uri="{909E8E84-426E-40DD-AFC4-6F175D3DCCD1}">
              <a14:hiddenFill xmlns:a14="http://schemas.microsoft.com/office/drawing/2010/main">
                <a:solidFill>
                  <a:srgbClr val="FFFFFF"/>
                </a:solidFill>
              </a14:hiddenFill>
            </a:ext>
          </a:extLst>
        </p:spPr>
      </p:pic>
      <p:sp>
        <p:nvSpPr>
          <p:cNvPr id="129029" name="Text Box 5"/>
          <p:cNvSpPr txBox="1">
            <a:spLocks noChangeArrowheads="1"/>
          </p:cNvSpPr>
          <p:nvPr/>
        </p:nvSpPr>
        <p:spPr bwMode="auto">
          <a:xfrm>
            <a:off x="3132138" y="5734050"/>
            <a:ext cx="3529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电解二氧化锰钛波纹板</a:t>
            </a:r>
            <a:endParaRPr lang="zh-CN" altLang="en-US" sz="24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1691640" y="1628775"/>
          <a:ext cx="5376545" cy="4365625"/>
        </p:xfrm>
        <a:graphic>
          <a:graphicData uri="http://schemas.openxmlformats.org/presentationml/2006/ole">
            <mc:AlternateContent xmlns:mc="http://schemas.openxmlformats.org/markup-compatibility/2006">
              <mc:Choice xmlns:v="urn:schemas-microsoft-com:vml" Requires="v">
                <p:oleObj spid="_x0000_s3" name="" r:id="rId1" imgW="5372100" imgH="4362450" progId="Paint.Picture">
                  <p:embed/>
                </p:oleObj>
              </mc:Choice>
              <mc:Fallback>
                <p:oleObj name="" r:id="rId1" imgW="5372100" imgH="4362450" progId="Paint.Picture">
                  <p:embed/>
                  <p:pic>
                    <p:nvPicPr>
                      <p:cNvPr id="0" name="图片 2"/>
                      <p:cNvPicPr/>
                      <p:nvPr/>
                    </p:nvPicPr>
                    <p:blipFill>
                      <a:blip r:embed="rId2"/>
                      <a:stretch>
                        <a:fillRect/>
                      </a:stretch>
                    </p:blipFill>
                    <p:spPr>
                      <a:xfrm>
                        <a:off x="1691640" y="1628775"/>
                        <a:ext cx="5376545" cy="4365625"/>
                      </a:xfrm>
                      <a:prstGeom prst="rect">
                        <a:avLst/>
                      </a:prstGeom>
                    </p:spPr>
                  </p:pic>
                </p:oleObj>
              </mc:Fallback>
            </mc:AlternateContent>
          </a:graphicData>
        </a:graphic>
      </p:graphicFrame>
      <p:sp>
        <p:nvSpPr>
          <p:cNvPr id="75778" name="Text Box 2"/>
          <p:cNvSpPr txBox="1">
            <a:spLocks noChangeArrowheads="1"/>
          </p:cNvSpPr>
          <p:nvPr/>
        </p:nvSpPr>
        <p:spPr bwMode="auto">
          <a:xfrm>
            <a:off x="495300" y="0"/>
            <a:ext cx="8153400" cy="13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400">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电解法制二氧化锰的原理</a:t>
            </a:r>
            <a:endParaRPr lang="zh-CN" altLang="en-US" sz="2400">
              <a:latin typeface="Arial" panose="020B0604020202020204" pitchFamily="34" charset="0"/>
              <a:ea typeface="微软雅黑" panose="020B0503020204020204" charset="-122"/>
            </a:endParaRPr>
          </a:p>
          <a:p>
            <a:pPr algn="just">
              <a:spcBef>
                <a:spcPct val="50000"/>
              </a:spcBef>
            </a:pPr>
            <a:r>
              <a:rPr lang="zh-CN" altLang="en-US" sz="2400">
                <a:latin typeface="Arial" panose="020B0604020202020204" pitchFamily="34" charset="0"/>
                <a:ea typeface="微软雅黑" panose="020B0503020204020204" charset="-122"/>
              </a:rPr>
              <a:t>以</a:t>
            </a:r>
            <a:r>
              <a:rPr lang="en-US" altLang="zh-CN" sz="2400">
                <a:latin typeface="Arial" panose="020B0604020202020204" pitchFamily="34" charset="0"/>
                <a:ea typeface="微软雅黑" panose="020B0503020204020204" charset="-122"/>
              </a:rPr>
              <a:t>H</a:t>
            </a:r>
            <a:r>
              <a:rPr lang="en-US" altLang="zh-CN" sz="2400" baseline="-30000">
                <a:latin typeface="Arial" panose="020B0604020202020204" pitchFamily="34" charset="0"/>
                <a:ea typeface="微软雅黑" panose="020B0503020204020204" charset="-122"/>
              </a:rPr>
              <a:t>2</a:t>
            </a:r>
            <a:r>
              <a:rPr lang="en-US" altLang="zh-CN" sz="2400">
                <a:latin typeface="Arial" panose="020B0604020202020204" pitchFamily="34" charset="0"/>
                <a:ea typeface="微软雅黑" panose="020B0503020204020204" charset="-122"/>
              </a:rPr>
              <a:t>SO</a:t>
            </a:r>
            <a:r>
              <a:rPr lang="en-US" altLang="zh-CN" sz="2400" baseline="-30000">
                <a:latin typeface="Arial" panose="020B0604020202020204" pitchFamily="34" charset="0"/>
                <a:ea typeface="微软雅黑" panose="020B0503020204020204" charset="-122"/>
              </a:rPr>
              <a:t>4</a:t>
            </a:r>
            <a:r>
              <a:rPr lang="en-US" altLang="zh-CN" sz="2400">
                <a:latin typeface="Arial" panose="020B0604020202020204" pitchFamily="34" charset="0"/>
                <a:ea typeface="微软雅黑" panose="020B0503020204020204" charset="-122"/>
              </a:rPr>
              <a:t>—MnSO</a:t>
            </a:r>
            <a:r>
              <a:rPr lang="en-US" altLang="zh-CN" sz="2400" baseline="-30000">
                <a:latin typeface="Arial" panose="020B0604020202020204" pitchFamily="34" charset="0"/>
                <a:ea typeface="微软雅黑" panose="020B0503020204020204" charset="-122"/>
              </a:rPr>
              <a:t>4</a:t>
            </a:r>
            <a:r>
              <a:rPr lang="en-US" altLang="zh-CN" sz="2400">
                <a:latin typeface="Arial" panose="020B0604020202020204" pitchFamily="34" charset="0"/>
                <a:ea typeface="微软雅黑" panose="020B0503020204020204" charset="-122"/>
              </a:rPr>
              <a:t>—H</a:t>
            </a:r>
            <a:r>
              <a:rPr lang="en-US" altLang="zh-CN" sz="2400" baseline="-25000">
                <a:latin typeface="Arial" panose="020B0604020202020204" pitchFamily="34" charset="0"/>
                <a:ea typeface="微软雅黑" panose="020B0503020204020204" charset="-122"/>
              </a:rPr>
              <a:t>2</a:t>
            </a:r>
            <a:r>
              <a:rPr lang="en-US" altLang="zh-CN" sz="2400">
                <a:latin typeface="Arial" panose="020B0604020202020204" pitchFamily="34" charset="0"/>
                <a:ea typeface="微软雅黑" panose="020B0503020204020204" charset="-122"/>
              </a:rPr>
              <a:t>O</a:t>
            </a:r>
            <a:r>
              <a:rPr lang="zh-CN" altLang="en-US" sz="2400">
                <a:latin typeface="Arial" panose="020B0604020202020204" pitchFamily="34" charset="0"/>
                <a:ea typeface="微软雅黑" panose="020B0503020204020204" charset="-122"/>
              </a:rPr>
              <a:t>体系为电解液，通以大电流和低电压直流电进行电解，阳极上可能发生如下反应：</a:t>
            </a:r>
            <a:endParaRPr lang="zh-CN" altLang="en-US" sz="2400">
              <a:latin typeface="Arial" panose="020B0604020202020204" pitchFamily="34" charset="0"/>
              <a:ea typeface="微软雅黑" panose="020B0503020204020204" charset="-122"/>
            </a:endParaRPr>
          </a:p>
        </p:txBody>
      </p:sp>
      <p:sp>
        <p:nvSpPr>
          <p:cNvPr id="75780" name="Rectangle 4"/>
          <p:cNvSpPr>
            <a:spLocks noChangeArrowheads="1"/>
          </p:cNvSpPr>
          <p:nvPr/>
        </p:nvSpPr>
        <p:spPr bwMode="auto">
          <a:xfrm>
            <a:off x="2652713" y="3181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2400"/>
          </a:p>
        </p:txBody>
      </p:sp>
      <p:pic>
        <p:nvPicPr>
          <p:cNvPr id="757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447800"/>
            <a:ext cx="4724400" cy="609600"/>
          </a:xfrm>
          <a:prstGeom prst="rect">
            <a:avLst/>
          </a:prstGeom>
          <a:noFill/>
          <a:extLst>
            <a:ext uri="{909E8E84-426E-40DD-AFC4-6F175D3DCCD1}">
              <a14:hiddenFill xmlns:a14="http://schemas.microsoft.com/office/drawing/2010/main">
                <a:solidFill>
                  <a:srgbClr val="FFFFFF"/>
                </a:solidFill>
              </a14:hiddenFill>
            </a:ext>
          </a:extLst>
        </p:spPr>
      </p:pic>
      <p:sp>
        <p:nvSpPr>
          <p:cNvPr id="75782" name="Rectangle 6"/>
          <p:cNvSpPr>
            <a:spLocks noChangeArrowheads="1"/>
          </p:cNvSpPr>
          <p:nvPr/>
        </p:nvSpPr>
        <p:spPr bwMode="auto">
          <a:xfrm>
            <a:off x="2652713"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240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755650" y="333375"/>
            <a:ext cx="7821613"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latin typeface="宋体" panose="02010600030101010101" pitchFamily="2" charset="-122"/>
              </a:rPr>
              <a:t>根据标难电极电位和热力学计算结果，可知反应</a:t>
            </a:r>
            <a:r>
              <a:rPr lang="en-US" altLang="zh-CN" sz="2800" b="1"/>
              <a:t>(1)</a:t>
            </a:r>
            <a:r>
              <a:rPr lang="zh-CN" altLang="en-US" sz="2800" b="1">
                <a:latin typeface="宋体" panose="02010600030101010101" pitchFamily="2" charset="-122"/>
              </a:rPr>
              <a:t>、</a:t>
            </a:r>
            <a:r>
              <a:rPr lang="en-US" altLang="zh-CN" sz="2800" b="1"/>
              <a:t>(5)</a:t>
            </a:r>
            <a:r>
              <a:rPr lang="zh-CN" altLang="en-US" sz="2800" b="1">
                <a:latin typeface="宋体" panose="02010600030101010101" pitchFamily="2" charset="-122"/>
              </a:rPr>
              <a:t>较易发生，然而通过电解液组成的选择及工艺参数的调整，阳极上主要发生反应</a:t>
            </a:r>
            <a:r>
              <a:rPr lang="en-US" altLang="zh-CN" sz="2800" b="1"/>
              <a:t>(1)</a:t>
            </a:r>
            <a:r>
              <a:rPr lang="zh-CN" altLang="en-US" sz="2800" b="1">
                <a:latin typeface="宋体" panose="02010600030101010101" pitchFamily="2" charset="-122"/>
              </a:rPr>
              <a:t>，阴极则为析氢反应：</a:t>
            </a:r>
            <a:r>
              <a:rPr lang="zh-CN" altLang="en-US" sz="2800" b="1"/>
              <a:t> </a:t>
            </a:r>
            <a:endParaRPr lang="zh-CN" altLang="en-US" sz="2800" b="1"/>
          </a:p>
        </p:txBody>
      </p:sp>
      <p:sp>
        <p:nvSpPr>
          <p:cNvPr id="76804" name="Rectangle 4"/>
          <p:cNvSpPr>
            <a:spLocks noChangeArrowheads="1"/>
          </p:cNvSpPr>
          <p:nvPr/>
        </p:nvSpPr>
        <p:spPr bwMode="auto">
          <a:xfrm>
            <a:off x="2943225"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2400"/>
          </a:p>
        </p:txBody>
      </p:sp>
      <p:pic>
        <p:nvPicPr>
          <p:cNvPr id="7680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2209800"/>
            <a:ext cx="6019800" cy="492125"/>
          </a:xfrm>
          <a:prstGeom prst="rect">
            <a:avLst/>
          </a:prstGeom>
          <a:noFill/>
          <a:extLst>
            <a:ext uri="{909E8E84-426E-40DD-AFC4-6F175D3DCCD1}">
              <a14:hiddenFill xmlns:a14="http://schemas.microsoft.com/office/drawing/2010/main">
                <a:solidFill>
                  <a:srgbClr val="FFFFFF"/>
                </a:solidFill>
              </a14:hiddenFill>
            </a:ext>
          </a:extLst>
        </p:spPr>
      </p:pic>
      <p:sp>
        <p:nvSpPr>
          <p:cNvPr id="76806" name="Rectangle 6"/>
          <p:cNvSpPr>
            <a:spLocks noChangeArrowheads="1"/>
          </p:cNvSpPr>
          <p:nvPr/>
        </p:nvSpPr>
        <p:spPr bwMode="auto">
          <a:xfrm>
            <a:off x="2314575" y="29622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2400"/>
          </a:p>
        </p:txBody>
      </p:sp>
      <p:pic>
        <p:nvPicPr>
          <p:cNvPr id="7680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962275"/>
            <a:ext cx="6629400" cy="13700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684213" y="692150"/>
            <a:ext cx="8191500" cy="286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800" b="1"/>
              <a:t>3. </a:t>
            </a:r>
            <a:r>
              <a:rPr lang="zh-CN" altLang="en-US" sz="2800" b="1"/>
              <a:t>工艺</a:t>
            </a:r>
            <a:r>
              <a:rPr lang="en-US" altLang="zh-CN" sz="2800" b="1"/>
              <a:t>:  </a:t>
            </a:r>
            <a:r>
              <a:rPr lang="zh-CN" altLang="en-US" sz="2800" b="1"/>
              <a:t>传统的电解二氧化锰生产方法</a:t>
            </a:r>
            <a:endParaRPr lang="zh-CN" altLang="en-US" sz="2800" b="1"/>
          </a:p>
          <a:p>
            <a:pPr algn="just">
              <a:spcBef>
                <a:spcPct val="50000"/>
              </a:spcBef>
            </a:pPr>
            <a:r>
              <a:rPr lang="zh-CN" altLang="en-US" sz="2800" b="1"/>
              <a:t>        是利用硫酸锰溶液作为电解液，使用铅、铅基合金、石墨或纯钛、贵金属氧化物涂层做阳极进行电解，影响电极过程与产品质量的主要工艺因素有电解温度、电极材料、电流密度、硫酸浓度和杂质离子浓度等。</a:t>
            </a:r>
            <a:endParaRPr lang="zh-CN" altLang="en-US" sz="2800" b="1"/>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Text Box 4"/>
          <p:cNvSpPr txBox="1">
            <a:spLocks noChangeArrowheads="1"/>
          </p:cNvSpPr>
          <p:nvPr/>
        </p:nvSpPr>
        <p:spPr bwMode="auto">
          <a:xfrm>
            <a:off x="755650" y="404813"/>
            <a:ext cx="7704138"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a:t>工业上ＥＭＤ产品都是采用高温硫酸锰溶液电解法生产的，其生产工艺流程分为以下几个步骤：</a:t>
            </a:r>
            <a:endParaRPr lang="zh-CN" altLang="en-US" sz="2800"/>
          </a:p>
          <a:p>
            <a:r>
              <a:rPr lang="zh-CN" altLang="en-US" sz="2800"/>
              <a:t>（１）二氧化锰矿还原成酸溶性的一氧化锰，以碳酸锰矿为原料的则可用酸直接浸出；</a:t>
            </a:r>
            <a:endParaRPr lang="zh-CN" altLang="en-US" sz="2800"/>
          </a:p>
          <a:p>
            <a:r>
              <a:rPr lang="zh-CN" altLang="en-US" sz="2800"/>
              <a:t>（２）用硫酸浸取锰矿制备硫酸锰溶液；</a:t>
            </a:r>
            <a:endParaRPr lang="zh-CN" altLang="en-US" sz="2800"/>
          </a:p>
          <a:p>
            <a:r>
              <a:rPr lang="zh-CN" altLang="en-US" sz="2800"/>
              <a:t>（３） 净化硫酸锰溶液中的各种杂质，即得电解液；</a:t>
            </a:r>
            <a:endParaRPr lang="zh-CN" altLang="en-US" sz="2800"/>
          </a:p>
          <a:p>
            <a:r>
              <a:rPr lang="zh-CN" altLang="en-US" sz="2800"/>
              <a:t>（４）电解９５℃左右的酸性硫酸锰电解液（ </a:t>
            </a:r>
            <a:r>
              <a:rPr lang="en-US" altLang="zh-CN" sz="2400"/>
              <a:t>MnSO</a:t>
            </a:r>
            <a:r>
              <a:rPr lang="en-US" altLang="zh-CN" sz="2400" baseline="-25000"/>
              <a:t>4</a:t>
            </a:r>
            <a:r>
              <a:rPr lang="en-US" altLang="zh-CN" sz="2400"/>
              <a:t>  0.15-1.5mol/L, H</a:t>
            </a:r>
            <a:r>
              <a:rPr lang="en-US" altLang="zh-CN" sz="2400" baseline="-25000"/>
              <a:t>2</a:t>
            </a:r>
            <a:r>
              <a:rPr lang="en-US" altLang="zh-CN" sz="2400"/>
              <a:t>SO</a:t>
            </a:r>
            <a:r>
              <a:rPr lang="en-US" altLang="zh-CN" sz="2400" baseline="-25000"/>
              <a:t>4</a:t>
            </a:r>
            <a:r>
              <a:rPr lang="en-US" altLang="zh-CN" sz="2400"/>
              <a:t> 0.2-0.5mol/L</a:t>
            </a:r>
            <a:r>
              <a:rPr lang="zh-CN" altLang="en-US" sz="2400"/>
              <a:t>， </a:t>
            </a:r>
            <a:r>
              <a:rPr lang="en-US" altLang="zh-CN" sz="2400"/>
              <a:t>50-250A/m</a:t>
            </a:r>
            <a:r>
              <a:rPr lang="en-US" altLang="zh-CN" sz="2400" baseline="30000"/>
              <a:t>2</a:t>
            </a:r>
            <a:r>
              <a:rPr lang="en-US" altLang="zh-CN" sz="2400"/>
              <a:t> </a:t>
            </a:r>
            <a:r>
              <a:rPr lang="zh-CN" altLang="en-US" sz="2800"/>
              <a:t>），在阳极得到二氧化锰沉积物；</a:t>
            </a:r>
            <a:endParaRPr lang="zh-CN" altLang="en-US" sz="2800"/>
          </a:p>
          <a:p>
            <a:r>
              <a:rPr lang="zh-CN" altLang="en-US" sz="2800"/>
              <a:t>（５）将电解所得粗产品破碎、中和、漂洗、干燥、粉磨、混匀即得ＥＭＤ成品。</a:t>
            </a:r>
            <a:endParaRPr lang="zh-CN" altLang="en-US" sz="280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8175" y="1052513"/>
            <a:ext cx="4321175" cy="3241675"/>
          </a:xfrm>
          <a:prstGeom prst="rect">
            <a:avLst/>
          </a:prstGeom>
          <a:noFill/>
          <a:extLst>
            <a:ext uri="{909E8E84-426E-40DD-AFC4-6F175D3DCCD1}">
              <a14:hiddenFill xmlns:a14="http://schemas.microsoft.com/office/drawing/2010/main">
                <a:solidFill>
                  <a:srgbClr val="FFFFFF"/>
                </a:solidFill>
              </a14:hiddenFill>
            </a:ext>
          </a:extLst>
        </p:spPr>
      </p:pic>
      <p:sp>
        <p:nvSpPr>
          <p:cNvPr id="117766" name="Text Box 6"/>
          <p:cNvSpPr txBox="1">
            <a:spLocks noChangeArrowheads="1"/>
          </p:cNvSpPr>
          <p:nvPr/>
        </p:nvSpPr>
        <p:spPr bwMode="auto">
          <a:xfrm>
            <a:off x="3635375" y="4652963"/>
            <a:ext cx="187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碳酸锰矿</a:t>
            </a:r>
            <a:endParaRPr lang="zh-CN" altLang="en-US" sz="240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549275"/>
            <a:ext cx="7416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647700" y="392113"/>
            <a:ext cx="8191500" cy="569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400">
                <a:latin typeface="Arial" panose="020B0604020202020204" pitchFamily="34" charset="0"/>
                <a:ea typeface="微软雅黑" panose="020B0503020204020204" charset="-122"/>
              </a:rPr>
              <a:t> </a:t>
            </a:r>
            <a:r>
              <a:rPr lang="en-US" altLang="zh-CN" sz="2800" b="1">
                <a:latin typeface="Arial" panose="020B0604020202020204" pitchFamily="34" charset="0"/>
                <a:ea typeface="微软雅黑" panose="020B0503020204020204" charset="-122"/>
              </a:rPr>
              <a:t>4.</a:t>
            </a:r>
            <a:r>
              <a:rPr lang="zh-CN" altLang="en-US" sz="2800" b="1">
                <a:latin typeface="Arial" panose="020B0604020202020204" pitchFamily="34" charset="0"/>
                <a:ea typeface="微软雅黑" panose="020B0503020204020204" charset="-122"/>
              </a:rPr>
              <a:t>电解二氧化锰生产工艺展望</a:t>
            </a:r>
            <a:endParaRPr lang="zh-CN" altLang="en-US" sz="2800" b="1">
              <a:latin typeface="Arial" panose="020B0604020202020204" pitchFamily="34" charset="0"/>
              <a:ea typeface="微软雅黑" panose="020B0503020204020204" charset="-122"/>
            </a:endParaRPr>
          </a:p>
          <a:p>
            <a:pPr algn="just">
              <a:spcBef>
                <a:spcPct val="50000"/>
              </a:spcBef>
            </a:pPr>
            <a:r>
              <a:rPr lang="zh-CN" altLang="en-US" sz="2800" b="1">
                <a:latin typeface="Arial" panose="020B0604020202020204" pitchFamily="34" charset="0"/>
                <a:ea typeface="微软雅黑" panose="020B0503020204020204" charset="-122"/>
              </a:rPr>
              <a:t>   </a:t>
            </a:r>
            <a:r>
              <a:rPr lang="en-US" altLang="zh-CN" sz="2800" b="1">
                <a:latin typeface="Arial" panose="020B0604020202020204" pitchFamily="34" charset="0"/>
                <a:ea typeface="微软雅黑" panose="020B0503020204020204" charset="-122"/>
              </a:rPr>
              <a:t>(1)</a:t>
            </a:r>
            <a:r>
              <a:rPr lang="zh-CN" altLang="en-US" sz="2800" b="1">
                <a:solidFill>
                  <a:srgbClr val="FF3300"/>
                </a:solidFill>
                <a:latin typeface="Arial" panose="020B0604020202020204" pitchFamily="34" charset="0"/>
                <a:ea typeface="微软雅黑" panose="020B0503020204020204" charset="-122"/>
              </a:rPr>
              <a:t>进一步优化生产工艺，提高产品的技术含量</a:t>
            </a:r>
            <a:endParaRPr lang="zh-CN" altLang="en-US" sz="2800" b="1">
              <a:solidFill>
                <a:srgbClr val="FF3300"/>
              </a:solidFill>
              <a:latin typeface="Arial" panose="020B0604020202020204" pitchFamily="34" charset="0"/>
              <a:ea typeface="微软雅黑" panose="020B0503020204020204" charset="-122"/>
            </a:endParaRPr>
          </a:p>
          <a:p>
            <a:pPr algn="just">
              <a:spcBef>
                <a:spcPct val="50000"/>
              </a:spcBef>
            </a:pPr>
            <a:r>
              <a:rPr lang="zh-CN" altLang="en-US" sz="2800" b="1">
                <a:latin typeface="Arial" panose="020B0604020202020204" pitchFamily="34" charset="0"/>
                <a:ea typeface="微软雅黑" panose="020B0503020204020204" charset="-122"/>
              </a:rPr>
              <a:t>国内外电解二氧化锰产品对比分折数据和电池厂家使用情况表明，国产</a:t>
            </a:r>
            <a:r>
              <a:rPr lang="en-US" altLang="zh-CN" sz="2800" b="1">
                <a:latin typeface="Arial" panose="020B0604020202020204" pitchFamily="34" charset="0"/>
                <a:ea typeface="微软雅黑" panose="020B0503020204020204" charset="-122"/>
              </a:rPr>
              <a:t>EDM</a:t>
            </a:r>
            <a:r>
              <a:rPr lang="zh-CN" altLang="en-US" sz="2800" b="1">
                <a:latin typeface="Arial" panose="020B0604020202020204" pitchFamily="34" charset="0"/>
                <a:ea typeface="微软雅黑" panose="020B0503020204020204" charset="-122"/>
              </a:rPr>
              <a:t>质量方面仍然存在一些不足之处，如产品含铁量高、放电性能和稳定性差等。因此，应加大影响电解过程的工艺因素的研究力度，结合电解过程的机理探讨和放电过程的微观本质，开发符合资源与环境发展要求的电解二氧化锰洁净生产工艺，从氧化还原性能、放电性能等方面入手，对产品进行改性或超细化，提高电解二氧化锰产品的质量和干电池的性能，致力于发展更高质量的碱锰电池级电解二氧化锰</a:t>
            </a:r>
            <a:r>
              <a:rPr lang="en-US" altLang="zh-CN" sz="2800" b="1">
                <a:latin typeface="Arial" panose="020B0604020202020204" pitchFamily="34" charset="0"/>
                <a:ea typeface="微软雅黑" panose="020B0503020204020204" charset="-122"/>
              </a:rPr>
              <a:t>.</a:t>
            </a:r>
            <a:endParaRPr lang="en-US" altLang="zh-CN" sz="2800" b="1">
              <a:latin typeface="Arial" panose="020B0604020202020204" pitchFamily="34" charset="0"/>
              <a:ea typeface="微软雅黑" panose="020B0503020204020204"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1066800" y="609600"/>
            <a:ext cx="7620000" cy="5262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400" b="1">
                <a:latin typeface="Arial" panose="020B0604020202020204" pitchFamily="34" charset="0"/>
                <a:ea typeface="微软雅黑" panose="020B0503020204020204" charset="-122"/>
              </a:rPr>
              <a:t>(2)</a:t>
            </a:r>
            <a:r>
              <a:rPr lang="zh-CN" altLang="en-US" sz="2400" b="1">
                <a:solidFill>
                  <a:srgbClr val="FF3300"/>
                </a:solidFill>
                <a:latin typeface="Arial" panose="020B0604020202020204" pitchFamily="34" charset="0"/>
                <a:ea typeface="微软雅黑" panose="020B0503020204020204" charset="-122"/>
              </a:rPr>
              <a:t>扩大生产规模，增强竞争优势</a:t>
            </a:r>
            <a:endParaRPr lang="zh-CN" altLang="en-US" sz="2400" b="1">
              <a:solidFill>
                <a:srgbClr val="FF3300"/>
              </a:solidFill>
              <a:latin typeface="Arial" panose="020B0604020202020204" pitchFamily="34" charset="0"/>
              <a:ea typeface="微软雅黑" panose="020B0503020204020204" charset="-122"/>
            </a:endParaRPr>
          </a:p>
          <a:p>
            <a:pPr algn="just">
              <a:spcBef>
                <a:spcPct val="50000"/>
              </a:spcBef>
            </a:pPr>
            <a:r>
              <a:rPr lang="zh-CN" altLang="en-US" sz="2400" b="1">
                <a:latin typeface="Arial" panose="020B0604020202020204" pitchFamily="34" charset="0"/>
                <a:ea typeface="微软雅黑" panose="020B0503020204020204" charset="-122"/>
              </a:rPr>
              <a:t>    我国电解二氧化锰的产品出口数量约</a:t>
            </a:r>
            <a:r>
              <a:rPr lang="en-US" altLang="zh-CN" sz="2400" b="1">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万</a:t>
            </a:r>
            <a:r>
              <a:rPr lang="en-US" altLang="zh-CN" sz="2400" b="1">
                <a:latin typeface="Arial" panose="020B0604020202020204" pitchFamily="34" charset="0"/>
                <a:ea typeface="微软雅黑" panose="020B0503020204020204" charset="-122"/>
              </a:rPr>
              <a:t>t</a:t>
            </a: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a</a:t>
            </a:r>
            <a:r>
              <a:rPr lang="zh-CN" altLang="en-US" sz="2400" b="1">
                <a:latin typeface="Arial" panose="020B0604020202020204" pitchFamily="34" charset="0"/>
                <a:ea typeface="微软雅黑" panose="020B0503020204020204" charset="-122"/>
              </a:rPr>
              <a:t>，占国际市场的</a:t>
            </a:r>
            <a:r>
              <a:rPr lang="en-US" altLang="zh-CN" sz="2400" b="1">
                <a:latin typeface="Arial" panose="020B0604020202020204" pitchFamily="34" charset="0"/>
                <a:ea typeface="微软雅黑" panose="020B0503020204020204" charset="-122"/>
              </a:rPr>
              <a:t>10</a:t>
            </a:r>
            <a:r>
              <a:rPr lang="zh-CN" altLang="en-US" sz="2400" b="1">
                <a:latin typeface="Arial" panose="020B0604020202020204" pitchFamily="34" charset="0"/>
                <a:ea typeface="微软雅黑" panose="020B0503020204020204" charset="-122"/>
              </a:rPr>
              <a:t>％左右。中国是全球最大的干电池生产国和消费大国，电池工业在中国具有旺盛的生命力。</a:t>
            </a:r>
            <a:endParaRPr lang="zh-CN" altLang="en-US" sz="2400" b="1">
              <a:latin typeface="Arial" panose="020B0604020202020204" pitchFamily="34" charset="0"/>
              <a:ea typeface="微软雅黑" panose="020B0503020204020204" charset="-122"/>
            </a:endParaRPr>
          </a:p>
          <a:p>
            <a:pPr>
              <a:spcBef>
                <a:spcPct val="50000"/>
              </a:spcBef>
            </a:pPr>
            <a:r>
              <a:rPr lang="zh-CN" altLang="en-US" sz="2400" b="1">
                <a:latin typeface="Arial" panose="020B0604020202020204" pitchFamily="34" charset="0"/>
                <a:ea typeface="微软雅黑" panose="020B0503020204020204" charset="-122"/>
              </a:rPr>
              <a:t>    电解二氧化锰行业对电池行业具有很强的依赖性，我国电池行业不断地进行产品升级换代，导致碱锰电池近几年来发展迅速，国内市场对无汞碱锰电池级电解二氧化锰的需求量正在迅速增加，可望不久就会成为最具重要意义的品种。因而应发挥规模效应，合理调整行业内部产能结构，力争成为世界先进技术的领导者、维持有竞争力的市场价格，达到技术革新与规模效益的良性循环。使用的材料，拓宽其发展空间，最终达到增加产品的技术含量和降低生产成本的双重效应。 </a:t>
            </a:r>
            <a:endParaRPr lang="zh-CN" altLang="en-US" sz="2400" b="1">
              <a:latin typeface="Arial" panose="020B0604020202020204" pitchFamily="34" charset="0"/>
              <a:ea typeface="微软雅黑" panose="020B0503020204020204"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76200" y="762000"/>
            <a:ext cx="9144000" cy="600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latin typeface="Arial" panose="020B0604020202020204" pitchFamily="34" charset="0"/>
                <a:ea typeface="微软雅黑" panose="020B0503020204020204" charset="-122"/>
              </a:rPr>
              <a:t>    </a:t>
            </a:r>
            <a:r>
              <a:rPr lang="zh-CN" altLang="en-US" sz="2400" b="1">
                <a:latin typeface="Arial" panose="020B0604020202020204" pitchFamily="34" charset="0"/>
                <a:ea typeface="微软雅黑" panose="020B0503020204020204" charset="-122"/>
              </a:rPr>
              <a:t>电解水可以制取高纯度的</a:t>
            </a:r>
            <a:r>
              <a:rPr lang="en-US" altLang="zh-CN" sz="2400" b="1" i="1" u="sng">
                <a:solidFill>
                  <a:srgbClr val="FF0000"/>
                </a:solidFill>
                <a:latin typeface="Arial" panose="020B0604020202020204" pitchFamily="34" charset="0"/>
                <a:ea typeface="微软雅黑" panose="020B0503020204020204" charset="-122"/>
              </a:rPr>
              <a:t>H</a:t>
            </a:r>
            <a:r>
              <a:rPr lang="en-US" altLang="zh-CN" sz="2400" b="1" i="1" u="sng" baseline="-25000">
                <a:solidFill>
                  <a:srgbClr val="FF0000"/>
                </a:solidFill>
                <a:latin typeface="Arial" panose="020B0604020202020204" pitchFamily="34" charset="0"/>
                <a:ea typeface="微软雅黑" panose="020B0503020204020204" charset="-122"/>
              </a:rPr>
              <a:t>2</a:t>
            </a:r>
            <a:r>
              <a:rPr lang="zh-CN" altLang="en-US" sz="2400" b="1" i="1" u="sng">
                <a:solidFill>
                  <a:srgbClr val="FF0000"/>
                </a:solidFill>
                <a:latin typeface="Arial" panose="020B0604020202020204" pitchFamily="34" charset="0"/>
                <a:ea typeface="微软雅黑" panose="020B0503020204020204" charset="-122"/>
              </a:rPr>
              <a:t>和</a:t>
            </a:r>
            <a:r>
              <a:rPr lang="en-US" altLang="zh-CN" sz="2400" b="1" i="1" u="sng">
                <a:solidFill>
                  <a:srgbClr val="FF0000"/>
                </a:solidFill>
                <a:latin typeface="Arial" panose="020B0604020202020204" pitchFamily="34" charset="0"/>
                <a:ea typeface="微软雅黑" panose="020B0503020204020204" charset="-122"/>
              </a:rPr>
              <a:t>O</a:t>
            </a:r>
            <a:r>
              <a:rPr lang="en-US" altLang="zh-CN" sz="2400" b="1" i="1" u="sng" baseline="-25000">
                <a:solidFill>
                  <a:srgbClr val="FF0000"/>
                </a:solidFill>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．在原子能工业中则是为了制造重水。</a:t>
            </a:r>
            <a:r>
              <a:rPr lang="zh-CN" altLang="en-US" sz="2400" b="1" i="1" u="sng">
                <a:solidFill>
                  <a:srgbClr val="FF0000"/>
                </a:solidFill>
                <a:latin typeface="Arial" panose="020B0604020202020204" pitchFamily="34" charset="0"/>
                <a:ea typeface="微软雅黑" panose="020B0503020204020204" charset="-122"/>
              </a:rPr>
              <a:t>氢气的主要用途</a:t>
            </a:r>
            <a:r>
              <a:rPr lang="zh-CN" altLang="en-US" sz="2400" b="1">
                <a:latin typeface="Arial" panose="020B0604020202020204" pitchFamily="34" charset="0"/>
                <a:ea typeface="微软雅黑" panose="020B0503020204020204" charset="-122"/>
              </a:rPr>
              <a:t>有：</a:t>
            </a:r>
            <a:endParaRPr lang="zh-CN" altLang="en-US" sz="2400" b="1">
              <a:latin typeface="Arial" panose="020B0604020202020204" pitchFamily="34" charset="0"/>
              <a:ea typeface="微软雅黑" panose="020B0503020204020204" charset="-122"/>
            </a:endParaRPr>
          </a:p>
          <a:p>
            <a:r>
              <a:rPr lang="zh-CN" altLang="en-US" sz="2400" b="1">
                <a:latin typeface="Arial" panose="020B0604020202020204" pitchFamily="34" charset="0"/>
                <a:ea typeface="微软雅黑" panose="020B0503020204020204" charset="-122"/>
              </a:rPr>
              <a:t>合成</a:t>
            </a:r>
            <a:r>
              <a:rPr lang="en-US" altLang="zh-CN" sz="2400" b="1">
                <a:latin typeface="Arial" panose="020B0604020202020204" pitchFamily="34" charset="0"/>
                <a:ea typeface="微软雅黑" panose="020B0503020204020204" charset="-122"/>
              </a:rPr>
              <a:t>NH</a:t>
            </a:r>
            <a:r>
              <a:rPr lang="en-US" altLang="zh-CN" sz="2400" b="1" baseline="-25000">
                <a:latin typeface="Arial" panose="020B0604020202020204" pitchFamily="34" charset="0"/>
                <a:ea typeface="微软雅黑" panose="020B0503020204020204" charset="-122"/>
              </a:rPr>
              <a:t>3</a:t>
            </a: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HC1</a:t>
            </a:r>
            <a:r>
              <a:rPr lang="zh-CN" altLang="en-US" sz="2400" b="1">
                <a:latin typeface="Arial" panose="020B0604020202020204" pitchFamily="34" charset="0"/>
                <a:ea typeface="微软雅黑" panose="020B0503020204020204" charset="-122"/>
              </a:rPr>
              <a:t>等含氢化合物；在冶金工业、半导体工业、电灯制 造中提供保护性的或还原性的气氛；食用油生产中的催化氢化；硬脂酸和脂肪酸的制造；发电站中发电机的冷却；气象气球的充气；金属焊接和切割；乙醇、乙酸等化合物的合成；高温过程，例如人造宝石的制造中用作燃烧气体；不锈钢等特种材料的热处理以获得高度洁净的表面；燃料电他的燃料；火箭燃料等等。</a:t>
            </a:r>
            <a:endParaRPr lang="zh-CN" altLang="en-US" sz="2400" b="1">
              <a:latin typeface="Arial" panose="020B0604020202020204" pitchFamily="34" charset="0"/>
              <a:ea typeface="微软雅黑" panose="020B0503020204020204" charset="-122"/>
            </a:endParaRPr>
          </a:p>
          <a:p>
            <a:r>
              <a:rPr lang="zh-CN" altLang="en-US" sz="2400" b="1">
                <a:latin typeface="Arial" panose="020B0604020202020204" pitchFamily="34" charset="0"/>
                <a:ea typeface="微软雅黑" panose="020B0503020204020204" charset="-122"/>
              </a:rPr>
              <a:t>    </a:t>
            </a:r>
            <a:r>
              <a:rPr lang="zh-CN" altLang="en-US" sz="2400" b="1" i="1" u="sng">
                <a:solidFill>
                  <a:srgbClr val="FF0000"/>
                </a:solidFill>
                <a:latin typeface="Arial" panose="020B0604020202020204" pitchFamily="34" charset="0"/>
                <a:ea typeface="微软雅黑" panose="020B0503020204020204" charset="-122"/>
              </a:rPr>
              <a:t>获得氢气的工艺路线</a:t>
            </a:r>
            <a:r>
              <a:rPr lang="zh-CN" altLang="en-US" sz="2400" b="1">
                <a:latin typeface="Arial" panose="020B0604020202020204" pitchFamily="34" charset="0"/>
                <a:ea typeface="微软雅黑" panose="020B0503020204020204" charset="-122"/>
              </a:rPr>
              <a:t>有多种，例如：从煤气化产生的合成气体中分离得到</a:t>
            </a:r>
            <a:r>
              <a:rPr lang="en-US" altLang="zh-CN" sz="2400" b="1">
                <a:latin typeface="Arial" panose="020B0604020202020204" pitchFamily="34" charset="0"/>
                <a:ea typeface="微软雅黑" panose="020B0503020204020204" charset="-122"/>
              </a:rPr>
              <a:t>H</a:t>
            </a:r>
            <a:r>
              <a:rPr lang="en-US" altLang="zh-CN" sz="2400" b="1" baseline="-25000">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；轻油或天然气的裂解也可制得</a:t>
            </a:r>
            <a:r>
              <a:rPr lang="en-US" altLang="zh-CN" sz="2400" b="1">
                <a:latin typeface="Arial" panose="020B0604020202020204" pitchFamily="34" charset="0"/>
                <a:ea typeface="微软雅黑" panose="020B0503020204020204" charset="-122"/>
              </a:rPr>
              <a:t>H</a:t>
            </a:r>
            <a:r>
              <a:rPr lang="en-US" altLang="zh-CN" sz="2400" b="1" baseline="-25000">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。在氯碱工业中，</a:t>
            </a:r>
            <a:r>
              <a:rPr lang="en-US" altLang="zh-CN" sz="2400" b="1">
                <a:latin typeface="Arial" panose="020B0604020202020204" pitchFamily="34" charset="0"/>
                <a:ea typeface="微软雅黑" panose="020B0503020204020204" charset="-122"/>
              </a:rPr>
              <a:t>H</a:t>
            </a:r>
            <a:r>
              <a:rPr lang="en-US" altLang="zh-CN" sz="2400" b="1" baseline="-25000">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是重要的副产品。就制造成本而言，电解水制氢要比上述方法高得多，故它仅适用于需制备高纯</a:t>
            </a:r>
            <a:r>
              <a:rPr lang="en-US" altLang="zh-CN" sz="2400" b="1">
                <a:latin typeface="Arial" panose="020B0604020202020204" pitchFamily="34" charset="0"/>
                <a:ea typeface="微软雅黑" panose="020B0503020204020204" charset="-122"/>
              </a:rPr>
              <a:t>H</a:t>
            </a:r>
            <a:r>
              <a:rPr lang="en-US" altLang="zh-CN" sz="2400" b="1" baseline="-25000">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的场合，例如食品行业、氢气纯度不够会使催化剂中毒的场合等等，或者在电能很便宜的地方．可大大降低电解水成本，此法也可采用，譬如在水电站附近建电解水厂．在埃及的</a:t>
            </a:r>
            <a:r>
              <a:rPr lang="en-US" altLang="zh-CN" sz="2400" b="1">
                <a:latin typeface="Arial" panose="020B0604020202020204" pitchFamily="34" charset="0"/>
                <a:ea typeface="微软雅黑" panose="020B0503020204020204" charset="-122"/>
              </a:rPr>
              <a:t>Aewan</a:t>
            </a:r>
            <a:r>
              <a:rPr lang="zh-CN" altLang="en-US" sz="2400" b="1">
                <a:latin typeface="Arial" panose="020B0604020202020204" pitchFamily="34" charset="0"/>
                <a:ea typeface="微软雅黑" panose="020B0503020204020204" charset="-122"/>
              </a:rPr>
              <a:t>水坝附近就有生产能力尚达</a:t>
            </a:r>
            <a:r>
              <a:rPr lang="en-US" altLang="zh-CN" sz="2400" b="1">
                <a:latin typeface="Arial" panose="020B0604020202020204" pitchFamily="34" charset="0"/>
                <a:ea typeface="微软雅黑" panose="020B0503020204020204" charset="-122"/>
              </a:rPr>
              <a:t>40000m</a:t>
            </a:r>
            <a:r>
              <a:rPr lang="en-US" altLang="zh-CN" sz="2400" b="1" baseline="30000">
                <a:latin typeface="Arial" panose="020B0604020202020204" pitchFamily="34" charset="0"/>
                <a:ea typeface="微软雅黑" panose="020B0503020204020204" charset="-122"/>
              </a:rPr>
              <a:t>3</a:t>
            </a:r>
            <a:r>
              <a:rPr lang="en-US" altLang="zh-CN" sz="2400" b="1">
                <a:latin typeface="Arial" panose="020B0604020202020204" pitchFamily="34" charset="0"/>
                <a:ea typeface="微软雅黑" panose="020B0503020204020204" charset="-122"/>
              </a:rPr>
              <a:t>.h</a:t>
            </a:r>
            <a:r>
              <a:rPr lang="en-US" altLang="zh-CN" sz="2400" b="1" baseline="30000">
                <a:latin typeface="Arial" panose="020B0604020202020204" pitchFamily="34" charset="0"/>
                <a:ea typeface="微软雅黑" panose="020B0503020204020204" charset="-122"/>
              </a:rPr>
              <a:t>-l</a:t>
            </a:r>
            <a:r>
              <a:rPr lang="zh-CN" altLang="en-US" sz="2400" b="1">
                <a:latin typeface="Arial" panose="020B0604020202020204" pitchFamily="34" charset="0"/>
                <a:ea typeface="微软雅黑" panose="020B0503020204020204" charset="-122"/>
              </a:rPr>
              <a:t>的大厂。</a:t>
            </a:r>
            <a:endParaRPr lang="zh-CN" altLang="en-US" sz="2400" b="1">
              <a:latin typeface="Arial" panose="020B0604020202020204" pitchFamily="34" charset="0"/>
              <a:ea typeface="微软雅黑" panose="020B0503020204020204" charset="-122"/>
            </a:endParaRPr>
          </a:p>
        </p:txBody>
      </p:sp>
      <p:sp>
        <p:nvSpPr>
          <p:cNvPr id="56323" name="Rectangle 3"/>
          <p:cNvSpPr>
            <a:spLocks noChangeArrowheads="1"/>
          </p:cNvSpPr>
          <p:nvPr/>
        </p:nvSpPr>
        <p:spPr bwMode="auto">
          <a:xfrm>
            <a:off x="2362200" y="152400"/>
            <a:ext cx="4800600" cy="609600"/>
          </a:xfrm>
          <a:prstGeom prst="rect">
            <a:avLst/>
          </a:prstGeom>
          <a:gradFill rotWithShape="0">
            <a:gsLst>
              <a:gs pos="0">
                <a:srgbClr val="FF33CC"/>
              </a:gs>
              <a:gs pos="50000">
                <a:schemeClr val="bg1"/>
              </a:gs>
              <a:gs pos="100000">
                <a:srgbClr val="FF33CC"/>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600" b="1">
                <a:solidFill>
                  <a:schemeClr val="tx2"/>
                </a:solidFill>
                <a:latin typeface="Arial" panose="020B0604020202020204" pitchFamily="34" charset="0"/>
                <a:ea typeface="微软雅黑" panose="020B0503020204020204" charset="-122"/>
              </a:rPr>
              <a:t>5.6    </a:t>
            </a:r>
            <a:r>
              <a:rPr lang="zh-CN" altLang="en-US" sz="3600" b="1">
                <a:solidFill>
                  <a:schemeClr val="tx2"/>
                </a:solidFill>
                <a:latin typeface="Arial" panose="020B0604020202020204" pitchFamily="34" charset="0"/>
                <a:ea typeface="微软雅黑" panose="020B0503020204020204" charset="-122"/>
              </a:rPr>
              <a:t>水的电解</a:t>
            </a:r>
            <a:endParaRPr lang="zh-CN" altLang="en-US" sz="3600" b="1">
              <a:solidFill>
                <a:schemeClr val="tx2"/>
              </a:solidFill>
              <a:latin typeface="Arial" panose="020B0604020202020204" pitchFamily="34" charset="0"/>
              <a:ea typeface="微软雅黑" panose="020B0503020204020204"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60" name="Rectangle 4"/>
          <p:cNvSpPr>
            <a:spLocks noChangeArrowheads="1"/>
          </p:cNvSpPr>
          <p:nvPr/>
        </p:nvSpPr>
        <p:spPr bwMode="auto">
          <a:xfrm>
            <a:off x="228600" y="457200"/>
            <a:ext cx="9022080" cy="1938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latin typeface="Arial" panose="020B0604020202020204" pitchFamily="34" charset="0"/>
                <a:ea typeface="微软雅黑" panose="020B0503020204020204" charset="-122"/>
              </a:rPr>
              <a:t>有人预言未来将会出现“氢经济”时代，在这样一个社会里，能用</a:t>
            </a:r>
            <a:endParaRPr lang="zh-CN" altLang="en-US" sz="2400" b="1">
              <a:latin typeface="Arial" panose="020B0604020202020204" pitchFamily="34" charset="0"/>
              <a:ea typeface="微软雅黑" panose="020B0503020204020204" charset="-122"/>
            </a:endParaRPr>
          </a:p>
          <a:p>
            <a:r>
              <a:rPr lang="zh-CN" altLang="en-US" sz="2400" b="1">
                <a:latin typeface="Arial" panose="020B0604020202020204" pitchFamily="34" charset="0"/>
                <a:ea typeface="微软雅黑" panose="020B0503020204020204" charset="-122"/>
              </a:rPr>
              <a:t>来自核电站或太阳能集电器的便宜的电能电解制氢，并将其作为</a:t>
            </a:r>
            <a:endParaRPr lang="zh-CN" altLang="en-US" sz="2400" b="1">
              <a:latin typeface="Arial" panose="020B0604020202020204" pitchFamily="34" charset="0"/>
              <a:ea typeface="微软雅黑" panose="020B0503020204020204" charset="-122"/>
            </a:endParaRPr>
          </a:p>
          <a:p>
            <a:r>
              <a:rPr lang="zh-CN" altLang="en-US" sz="2400" b="1">
                <a:latin typeface="Arial" panose="020B0604020202020204" pitchFamily="34" charset="0"/>
                <a:ea typeface="微软雅黑" panose="020B0503020204020204" charset="-122"/>
              </a:rPr>
              <a:t>一种贮存和传输能量的方法；在城市，用燃料电池再把氢转化为</a:t>
            </a:r>
            <a:endParaRPr lang="zh-CN" altLang="en-US" sz="2400" b="1">
              <a:latin typeface="Arial" panose="020B0604020202020204" pitchFamily="34" charset="0"/>
              <a:ea typeface="微软雅黑" panose="020B0503020204020204" charset="-122"/>
            </a:endParaRPr>
          </a:p>
          <a:p>
            <a:r>
              <a:rPr lang="zh-CN" altLang="en-US" sz="2400" b="1">
                <a:latin typeface="Arial" panose="020B0604020202020204" pitchFamily="34" charset="0"/>
                <a:ea typeface="微软雅黑" panose="020B0503020204020204" charset="-122"/>
              </a:rPr>
              <a:t>电。但现在我们还不能得到廉价的电能，水电解装置和燃料电池</a:t>
            </a:r>
            <a:endParaRPr lang="zh-CN" altLang="en-US" sz="2400" b="1">
              <a:latin typeface="Arial" panose="020B0604020202020204" pitchFamily="34" charset="0"/>
              <a:ea typeface="微软雅黑" panose="020B0503020204020204" charset="-122"/>
            </a:endParaRPr>
          </a:p>
          <a:p>
            <a:r>
              <a:rPr lang="zh-CN" altLang="en-US" sz="2400" b="1">
                <a:latin typeface="Arial" panose="020B0604020202020204" pitchFamily="34" charset="0"/>
                <a:ea typeface="微软雅黑" panose="020B0503020204020204" charset="-122"/>
              </a:rPr>
              <a:t>的能量效率还不够高。  </a:t>
            </a:r>
            <a:endParaRPr lang="zh-CN" altLang="en-US" sz="2400" b="1">
              <a:latin typeface="Arial" panose="020B0604020202020204" pitchFamily="34" charset="0"/>
              <a:ea typeface="微软雅黑" panose="020B0503020204020204" charset="-122"/>
            </a:endParaRPr>
          </a:p>
        </p:txBody>
      </p:sp>
      <p:sp>
        <p:nvSpPr>
          <p:cNvPr id="147461" name="Rectangle 5"/>
          <p:cNvSpPr>
            <a:spLocks noChangeArrowheads="1"/>
          </p:cNvSpPr>
          <p:nvPr/>
        </p:nvSpPr>
        <p:spPr bwMode="auto">
          <a:xfrm>
            <a:off x="304800" y="2362200"/>
            <a:ext cx="251396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u="sng">
                <a:solidFill>
                  <a:srgbClr val="FF0000"/>
                </a:solidFill>
                <a:latin typeface="Arial" panose="020B0604020202020204" pitchFamily="34" charset="0"/>
                <a:ea typeface="微软雅黑" panose="020B0503020204020204" charset="-122"/>
              </a:rPr>
              <a:t>1</a:t>
            </a:r>
            <a:r>
              <a:rPr lang="zh-CN" altLang="en-US" sz="2800" b="1" i="1" u="sng">
                <a:solidFill>
                  <a:srgbClr val="FF0000"/>
                </a:solidFill>
                <a:latin typeface="Arial" panose="020B0604020202020204" pitchFamily="34" charset="0"/>
                <a:ea typeface="微软雅黑" panose="020B0503020204020204" charset="-122"/>
              </a:rPr>
              <a:t>、反应原理：</a:t>
            </a:r>
            <a:endParaRPr lang="zh-CN" altLang="en-US" sz="2800" b="1" i="1" u="sng">
              <a:solidFill>
                <a:srgbClr val="FF0000"/>
              </a:solidFill>
              <a:latin typeface="Arial" panose="020B0604020202020204" pitchFamily="34" charset="0"/>
              <a:ea typeface="微软雅黑" panose="020B0503020204020204" charset="-122"/>
            </a:endParaRPr>
          </a:p>
        </p:txBody>
      </p:sp>
      <p:sp>
        <p:nvSpPr>
          <p:cNvPr id="147462" name="Rectangle 6"/>
          <p:cNvSpPr>
            <a:spLocks noChangeArrowheads="1"/>
          </p:cNvSpPr>
          <p:nvPr/>
        </p:nvSpPr>
        <p:spPr bwMode="auto">
          <a:xfrm>
            <a:off x="381000" y="2971800"/>
            <a:ext cx="37388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latin typeface="Arial" panose="020B0604020202020204" pitchFamily="34" charset="0"/>
                <a:ea typeface="微软雅黑" panose="020B0503020204020204" charset="-122"/>
              </a:rPr>
              <a:t>在酸性溶液中电解时：</a:t>
            </a:r>
            <a:endParaRPr lang="zh-CN" altLang="en-US" sz="2800" b="1">
              <a:latin typeface="Arial" panose="020B0604020202020204" pitchFamily="34" charset="0"/>
              <a:ea typeface="微软雅黑" panose="020B0503020204020204" charset="-122"/>
            </a:endParaRPr>
          </a:p>
        </p:txBody>
      </p:sp>
      <p:sp>
        <p:nvSpPr>
          <p:cNvPr id="147463" name="Text Box 7"/>
          <p:cNvSpPr txBox="1">
            <a:spLocks noChangeArrowheads="1"/>
          </p:cNvSpPr>
          <p:nvPr/>
        </p:nvSpPr>
        <p:spPr bwMode="auto">
          <a:xfrm>
            <a:off x="533400" y="3733800"/>
            <a:ext cx="19812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阴极反应：</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sp>
        <p:nvSpPr>
          <p:cNvPr id="147464" name="Text Box 8"/>
          <p:cNvSpPr txBox="1">
            <a:spLocks noChangeArrowheads="1"/>
          </p:cNvSpPr>
          <p:nvPr/>
        </p:nvSpPr>
        <p:spPr bwMode="auto">
          <a:xfrm>
            <a:off x="533400" y="4191000"/>
            <a:ext cx="1752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阳极反应：</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sp>
        <p:nvSpPr>
          <p:cNvPr id="147465" name="Text Box 9"/>
          <p:cNvSpPr txBox="1">
            <a:spLocks noChangeArrowheads="1"/>
          </p:cNvSpPr>
          <p:nvPr/>
        </p:nvSpPr>
        <p:spPr bwMode="auto">
          <a:xfrm>
            <a:off x="533400" y="4800600"/>
            <a:ext cx="3352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在碱性溶液中电解时：</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graphicFrame>
        <p:nvGraphicFramePr>
          <p:cNvPr id="147466" name="Object 10"/>
          <p:cNvGraphicFramePr>
            <a:graphicFrameLocks noChangeAspect="1"/>
          </p:cNvGraphicFramePr>
          <p:nvPr/>
        </p:nvGraphicFramePr>
        <p:xfrm>
          <a:off x="2819400" y="3429000"/>
          <a:ext cx="2647950" cy="696913"/>
        </p:xfrm>
        <a:graphic>
          <a:graphicData uri="http://schemas.openxmlformats.org/presentationml/2006/ole">
            <mc:AlternateContent xmlns:mc="http://schemas.openxmlformats.org/markup-compatibility/2006">
              <mc:Choice xmlns:v="urn:schemas-microsoft-com:vml" Requires="v">
                <p:oleObj spid="_x0000_s2" name="Equation" r:id="rId1" imgW="723900" imgH="190500" progId="Equation.3">
                  <p:embed/>
                </p:oleObj>
              </mc:Choice>
              <mc:Fallback>
                <p:oleObj name="Equation" r:id="rId1" imgW="723900" imgH="190500" progId="Equation.3">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429000"/>
                        <a:ext cx="2647950" cy="69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67" name="Object 11"/>
          <p:cNvGraphicFramePr>
            <a:graphicFrameLocks noChangeAspect="1"/>
          </p:cNvGraphicFramePr>
          <p:nvPr/>
        </p:nvGraphicFramePr>
        <p:xfrm>
          <a:off x="2895600" y="3962400"/>
          <a:ext cx="3429000" cy="906463"/>
        </p:xfrm>
        <a:graphic>
          <a:graphicData uri="http://schemas.openxmlformats.org/presentationml/2006/ole">
            <mc:AlternateContent xmlns:mc="http://schemas.openxmlformats.org/markup-compatibility/2006">
              <mc:Choice xmlns:v="urn:schemas-microsoft-com:vml" Requires="v">
                <p:oleObj spid="_x0000_s3" name="Equation" r:id="rId3" imgW="1104900" imgH="292100" progId="Equation.3">
                  <p:embed/>
                </p:oleObj>
              </mc:Choice>
              <mc:Fallback>
                <p:oleObj name="Equation" r:id="rId3" imgW="1104900" imgH="2921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962400"/>
                        <a:ext cx="3429000"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68" name="Text Box 12"/>
          <p:cNvSpPr txBox="1">
            <a:spLocks noChangeArrowheads="1"/>
          </p:cNvSpPr>
          <p:nvPr/>
        </p:nvSpPr>
        <p:spPr bwMode="auto">
          <a:xfrm>
            <a:off x="609600" y="5410200"/>
            <a:ext cx="19812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阴极反应：</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sp>
        <p:nvSpPr>
          <p:cNvPr id="147469" name="Text Box 13"/>
          <p:cNvSpPr txBox="1">
            <a:spLocks noChangeArrowheads="1"/>
          </p:cNvSpPr>
          <p:nvPr/>
        </p:nvSpPr>
        <p:spPr bwMode="auto">
          <a:xfrm>
            <a:off x="609600" y="5867400"/>
            <a:ext cx="1752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微软雅黑" panose="020B0503020204020204" charset="-122"/>
              </a:rPr>
              <a:t>阳极反应：</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graphicFrame>
        <p:nvGraphicFramePr>
          <p:cNvPr id="147470" name="Object 14"/>
          <p:cNvGraphicFramePr>
            <a:graphicFrameLocks noChangeAspect="1"/>
          </p:cNvGraphicFramePr>
          <p:nvPr/>
        </p:nvGraphicFramePr>
        <p:xfrm>
          <a:off x="2819400" y="5715000"/>
          <a:ext cx="4273550" cy="1068388"/>
        </p:xfrm>
        <a:graphic>
          <a:graphicData uri="http://schemas.openxmlformats.org/presentationml/2006/ole">
            <mc:AlternateContent xmlns:mc="http://schemas.openxmlformats.org/markup-compatibility/2006">
              <mc:Choice xmlns:v="urn:schemas-microsoft-com:vml" Requires="v">
                <p:oleObj spid="_x0000_s4" name="Equation" r:id="rId5" imgW="1167765" imgH="292100" progId="Equation.3">
                  <p:embed/>
                </p:oleObj>
              </mc:Choice>
              <mc:Fallback>
                <p:oleObj name="Equation" r:id="rId5" imgW="1167765" imgH="2921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5715000"/>
                        <a:ext cx="4273550" cy="1068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71" name="Object 15"/>
          <p:cNvGraphicFramePr>
            <a:graphicFrameLocks noChangeAspect="1"/>
          </p:cNvGraphicFramePr>
          <p:nvPr/>
        </p:nvGraphicFramePr>
        <p:xfrm>
          <a:off x="2895600" y="5257800"/>
          <a:ext cx="3546475" cy="592138"/>
        </p:xfrm>
        <a:graphic>
          <a:graphicData uri="http://schemas.openxmlformats.org/presentationml/2006/ole">
            <mc:AlternateContent xmlns:mc="http://schemas.openxmlformats.org/markup-compatibility/2006">
              <mc:Choice xmlns:v="urn:schemas-microsoft-com:vml" Requires="v">
                <p:oleObj spid="_x0000_s5" name="Equation" r:id="rId7" imgW="1143000" imgH="190500" progId="Equation.3">
                  <p:embed/>
                </p:oleObj>
              </mc:Choice>
              <mc:Fallback>
                <p:oleObj name="Equation" r:id="rId7" imgW="1143000" imgH="1905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5600" y="5257800"/>
                        <a:ext cx="3546475" cy="592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3" name="Picture 5" descr="重水">
            <a:hlinkClick r:id="rId1" tooltip="点击查看原图"/>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692150"/>
            <a:ext cx="4392612" cy="3001963"/>
          </a:xfrm>
          <a:prstGeom prst="rect">
            <a:avLst/>
          </a:prstGeom>
          <a:noFill/>
          <a:extLst>
            <a:ext uri="{909E8E84-426E-40DD-AFC4-6F175D3DCCD1}">
              <a14:hiddenFill xmlns:a14="http://schemas.microsoft.com/office/drawing/2010/main">
                <a:solidFill>
                  <a:srgbClr val="FFFFFF"/>
                </a:solidFill>
              </a14:hiddenFill>
            </a:ext>
          </a:extLst>
        </p:spPr>
      </p:pic>
      <p:pic>
        <p:nvPicPr>
          <p:cNvPr id="130055" name="Picture 7" descr="重水">
            <a:hlinkClick r:id="rId3" tooltip="点击查看原图"/>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908050"/>
            <a:ext cx="2857500" cy="2847975"/>
          </a:xfrm>
          <a:prstGeom prst="rect">
            <a:avLst/>
          </a:prstGeom>
          <a:noFill/>
          <a:extLst>
            <a:ext uri="{909E8E84-426E-40DD-AFC4-6F175D3DCCD1}">
              <a14:hiddenFill xmlns:a14="http://schemas.microsoft.com/office/drawing/2010/main">
                <a:solidFill>
                  <a:srgbClr val="FFFFFF"/>
                </a:solidFill>
              </a14:hiddenFill>
            </a:ext>
          </a:extLst>
        </p:spPr>
      </p:pic>
      <p:sp>
        <p:nvSpPr>
          <p:cNvPr id="130056" name="Text Box 8"/>
          <p:cNvSpPr txBox="1">
            <a:spLocks noChangeArrowheads="1"/>
          </p:cNvSpPr>
          <p:nvPr/>
        </p:nvSpPr>
        <p:spPr bwMode="auto">
          <a:xfrm>
            <a:off x="4427538" y="4437063"/>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电解水得重水</a:t>
            </a:r>
            <a:endParaRPr lang="zh-CN" altLang="en-US" sz="2400"/>
          </a:p>
        </p:txBody>
      </p:sp>
      <p:sp>
        <p:nvSpPr>
          <p:cNvPr id="130057" name="Text Box 9"/>
          <p:cNvSpPr txBox="1">
            <a:spLocks noChangeArrowheads="1"/>
          </p:cNvSpPr>
          <p:nvPr/>
        </p:nvSpPr>
        <p:spPr bwMode="auto">
          <a:xfrm>
            <a:off x="2124075" y="5300663"/>
            <a:ext cx="5832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重水主要用作核反应堆的慢化剂和冷却剂</a:t>
            </a:r>
            <a:endParaRPr lang="zh-CN" altLang="en-US" sz="240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5" name="Picture 5" descr="1940年挪威的Vemork重水工厂"/>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313" y="692150"/>
            <a:ext cx="3886200" cy="3121025"/>
          </a:xfrm>
          <a:prstGeom prst="rect">
            <a:avLst/>
          </a:prstGeom>
          <a:noFill/>
          <a:extLst>
            <a:ext uri="{909E8E84-426E-40DD-AFC4-6F175D3DCCD1}">
              <a14:hiddenFill xmlns:a14="http://schemas.microsoft.com/office/drawing/2010/main">
                <a:solidFill>
                  <a:srgbClr val="FFFFFF"/>
                </a:solidFill>
              </a14:hiddenFill>
            </a:ext>
          </a:extLst>
        </p:spPr>
      </p:pic>
      <p:sp>
        <p:nvSpPr>
          <p:cNvPr id="133126" name="Text Box 6"/>
          <p:cNvSpPr txBox="1">
            <a:spLocks noChangeArrowheads="1"/>
          </p:cNvSpPr>
          <p:nvPr/>
        </p:nvSpPr>
        <p:spPr bwMode="auto">
          <a:xfrm>
            <a:off x="2339975" y="5445125"/>
            <a:ext cx="4681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1940</a:t>
            </a:r>
            <a:r>
              <a:rPr lang="zh-CN" altLang="en-US" sz="2400"/>
              <a:t>年挪威的</a:t>
            </a:r>
            <a:r>
              <a:rPr lang="en-US" altLang="zh-CN" sz="2400"/>
              <a:t>Vemork</a:t>
            </a:r>
            <a:r>
              <a:rPr lang="zh-CN" altLang="en-US" sz="2400"/>
              <a:t>重水工厂 </a:t>
            </a:r>
            <a:endParaRPr lang="zh-CN" altLang="en-US" sz="2400"/>
          </a:p>
        </p:txBody>
      </p:sp>
      <p:pic>
        <p:nvPicPr>
          <p:cNvPr id="13312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538" y="765175"/>
            <a:ext cx="4465637" cy="30241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6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713" y="333375"/>
            <a:ext cx="3943350" cy="5688013"/>
          </a:xfrm>
          <a:prstGeom prst="rect">
            <a:avLst/>
          </a:prstGeom>
          <a:noFill/>
          <a:extLst>
            <a:ext uri="{909E8E84-426E-40DD-AFC4-6F175D3DCCD1}">
              <a14:hiddenFill xmlns:a14="http://schemas.microsoft.com/office/drawing/2010/main">
                <a:solidFill>
                  <a:srgbClr val="FFFFFF"/>
                </a:solidFill>
              </a14:hiddenFill>
            </a:ext>
          </a:extLst>
        </p:spPr>
      </p:pic>
      <p:sp>
        <p:nvSpPr>
          <p:cNvPr id="143366" name="Text Box 6"/>
          <p:cNvSpPr txBox="1">
            <a:spLocks noChangeArrowheads="1"/>
          </p:cNvSpPr>
          <p:nvPr/>
        </p:nvSpPr>
        <p:spPr bwMode="auto">
          <a:xfrm>
            <a:off x="5940425" y="908050"/>
            <a:ext cx="259238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伊朗中部城市阿拉克附近的</a:t>
            </a:r>
            <a:r>
              <a:rPr lang="zh-CN" altLang="en-US" sz="2400" b="1" u="sng"/>
              <a:t>重水工厂</a:t>
            </a:r>
            <a:endParaRPr lang="zh-CN" altLang="en-US" sz="2400" b="1" u="sng"/>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476250"/>
            <a:ext cx="3735387" cy="5113338"/>
          </a:xfrm>
          <a:prstGeom prst="rect">
            <a:avLst/>
          </a:prstGeom>
          <a:noFill/>
          <a:extLst>
            <a:ext uri="{909E8E84-426E-40DD-AFC4-6F175D3DCCD1}">
              <a14:hiddenFill xmlns:a14="http://schemas.microsoft.com/office/drawing/2010/main">
                <a:solidFill>
                  <a:srgbClr val="FFFFFF"/>
                </a:solidFill>
              </a14:hiddenFill>
            </a:ext>
          </a:extLst>
        </p:spPr>
      </p:pic>
      <p:sp>
        <p:nvSpPr>
          <p:cNvPr id="131078" name="Text Box 6"/>
          <p:cNvSpPr txBox="1">
            <a:spLocks noChangeArrowheads="1"/>
          </p:cNvSpPr>
          <p:nvPr/>
        </p:nvSpPr>
        <p:spPr bwMode="auto">
          <a:xfrm>
            <a:off x="3635375" y="6092825"/>
            <a:ext cx="295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电解水制氢气装置</a:t>
            </a:r>
            <a:endParaRPr lang="zh-CN" altLang="en-US" sz="2400"/>
          </a:p>
        </p:txBody>
      </p:sp>
      <p:pic>
        <p:nvPicPr>
          <p:cNvPr id="13108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463" y="692150"/>
            <a:ext cx="4068762" cy="4146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5536" y="332656"/>
            <a:ext cx="8352928" cy="1198880"/>
          </a:xfrm>
          <a:prstGeom prst="rect">
            <a:avLst/>
          </a:prstGeom>
          <a:noFill/>
        </p:spPr>
        <p:txBody>
          <a:bodyPr wrap="square">
            <a:spAutoFit/>
          </a:bodyPr>
          <a:lstStyle/>
          <a:p>
            <a:r>
              <a:rPr lang="zh-CN" altLang="en-US" sz="2400" b="1" dirty="0">
                <a:solidFill>
                  <a:srgbClr val="FF0000"/>
                </a:solidFill>
                <a:effectLst/>
                <a:latin typeface="Arial" panose="020B0604020202020204" pitchFamily="34" charset="0"/>
                <a:ea typeface="微软雅黑" panose="020B0503020204020204" charset="-122"/>
                <a:cs typeface="Times New Roman" panose="02020603050405020304" pitchFamily="18" charset="0"/>
              </a:rPr>
              <a:t>例题</a:t>
            </a:r>
            <a:r>
              <a:rPr lang="en-US" altLang="zh-CN" sz="2400" b="1" dirty="0">
                <a:solidFill>
                  <a:srgbClr val="FF0000"/>
                </a:solidFill>
                <a:effectLst/>
                <a:latin typeface="Arial" panose="020B0604020202020204" pitchFamily="34" charset="0"/>
                <a:ea typeface="微软雅黑" panose="020B0503020204020204" charset="-122"/>
                <a:cs typeface="Times New Roman" panose="02020603050405020304" pitchFamily="18" charset="0"/>
              </a:rPr>
              <a:t>1</a:t>
            </a:r>
            <a:r>
              <a:rPr lang="zh-CN" altLang="en-US" sz="2400" b="1" dirty="0">
                <a:solidFill>
                  <a:srgbClr val="FF0000"/>
                </a:solidFill>
                <a:effectLst/>
                <a:latin typeface="Arial" panose="020B0604020202020204" pitchFamily="34" charset="0"/>
                <a:ea typeface="微软雅黑" panose="020B0503020204020204" charset="-122"/>
                <a:cs typeface="Times New Roman" panose="02020603050405020304" pitchFamily="18" charset="0"/>
              </a:rPr>
              <a:t>：</a:t>
            </a:r>
            <a:r>
              <a:rPr lang="zh-CN" altLang="zh-CN" sz="2400" dirty="0">
                <a:effectLst/>
                <a:latin typeface="Arial" panose="020B0604020202020204" pitchFamily="34" charset="0"/>
                <a:ea typeface="微软雅黑" panose="020B0503020204020204" charset="-122"/>
                <a:cs typeface="Times New Roman" panose="02020603050405020304" pitchFamily="18" charset="0"/>
              </a:rPr>
              <a:t>某氯碱厂用水银槽电解食盐水，通过电解槽的电流为</a:t>
            </a:r>
            <a:r>
              <a:rPr lang="en-US" altLang="zh-CN" sz="2400" dirty="0">
                <a:effectLst/>
                <a:latin typeface="Arial" panose="020B0604020202020204" pitchFamily="34" charset="0"/>
                <a:ea typeface="微软雅黑" panose="020B0503020204020204" charset="-122"/>
              </a:rPr>
              <a:t>100kA</a:t>
            </a:r>
            <a:r>
              <a:rPr lang="zh-CN" altLang="zh-CN" sz="2400" dirty="0">
                <a:effectLst/>
                <a:latin typeface="Arial" panose="020B0604020202020204" pitchFamily="34" charset="0"/>
                <a:ea typeface="微软雅黑" panose="020B0503020204020204" charset="-122"/>
                <a:cs typeface="Times New Roman" panose="02020603050405020304" pitchFamily="18" charset="0"/>
              </a:rPr>
              <a:t>。问理论上每天生产多少</a:t>
            </a:r>
            <a:r>
              <a:rPr lang="en-US" altLang="zh-CN" sz="2400" dirty="0">
                <a:effectLst/>
                <a:latin typeface="Arial" panose="020B0604020202020204" pitchFamily="34" charset="0"/>
                <a:ea typeface="微软雅黑" panose="020B0503020204020204" charset="-122"/>
              </a:rPr>
              <a:t>Cl</a:t>
            </a:r>
            <a:r>
              <a:rPr lang="en-US" altLang="zh-CN" sz="2400" baseline="-25000" dirty="0">
                <a:effectLst/>
                <a:latin typeface="Arial" panose="020B0604020202020204" pitchFamily="34" charset="0"/>
                <a:ea typeface="微软雅黑" panose="020B0503020204020204" charset="-122"/>
              </a:rPr>
              <a:t>2</a:t>
            </a:r>
            <a:r>
              <a:rPr lang="zh-CN" altLang="zh-CN" sz="2400" dirty="0">
                <a:effectLst/>
                <a:latin typeface="Arial" panose="020B0604020202020204" pitchFamily="34" charset="0"/>
                <a:ea typeface="微软雅黑" panose="020B0503020204020204" charset="-122"/>
                <a:cs typeface="Times New Roman" panose="02020603050405020304" pitchFamily="18" charset="0"/>
              </a:rPr>
              <a:t>，</a:t>
            </a:r>
            <a:r>
              <a:rPr lang="en-US" altLang="zh-CN" sz="2400" dirty="0">
                <a:effectLst/>
                <a:latin typeface="Arial" panose="020B0604020202020204" pitchFamily="34" charset="0"/>
                <a:ea typeface="微软雅黑" panose="020B0503020204020204" charset="-122"/>
              </a:rPr>
              <a:t>H</a:t>
            </a:r>
            <a:r>
              <a:rPr lang="en-US" altLang="zh-CN" sz="2400" baseline="-25000" dirty="0">
                <a:effectLst/>
                <a:latin typeface="Arial" panose="020B0604020202020204" pitchFamily="34" charset="0"/>
                <a:ea typeface="微软雅黑" panose="020B0503020204020204" charset="-122"/>
              </a:rPr>
              <a:t>2</a:t>
            </a:r>
            <a:r>
              <a:rPr lang="zh-CN" altLang="zh-CN" sz="2400" dirty="0">
                <a:effectLst/>
                <a:latin typeface="Arial" panose="020B0604020202020204" pitchFamily="34" charset="0"/>
                <a:ea typeface="微软雅黑" panose="020B0503020204020204" charset="-122"/>
                <a:cs typeface="Times New Roman" panose="02020603050405020304" pitchFamily="18" charset="0"/>
              </a:rPr>
              <a:t>和</a:t>
            </a:r>
            <a:r>
              <a:rPr lang="en-US" altLang="zh-CN" sz="2400" dirty="0">
                <a:effectLst/>
                <a:latin typeface="Arial" panose="020B0604020202020204" pitchFamily="34" charset="0"/>
                <a:ea typeface="微软雅黑" panose="020B0503020204020204" charset="-122"/>
              </a:rPr>
              <a:t>NaOH? </a:t>
            </a:r>
            <a:r>
              <a:rPr lang="zh-CN" altLang="zh-CN" sz="2400" dirty="0">
                <a:effectLst/>
                <a:latin typeface="Arial" panose="020B0604020202020204" pitchFamily="34" charset="0"/>
                <a:ea typeface="微软雅黑" panose="020B0503020204020204" charset="-122"/>
                <a:cs typeface="Times New Roman" panose="02020603050405020304" pitchFamily="18" charset="0"/>
              </a:rPr>
              <a:t>设阳极的电流效率为</a:t>
            </a:r>
            <a:r>
              <a:rPr lang="en-US" altLang="zh-CN" sz="2400" dirty="0">
                <a:effectLst/>
                <a:latin typeface="Arial" panose="020B0604020202020204" pitchFamily="34" charset="0"/>
                <a:ea typeface="微软雅黑" panose="020B0503020204020204" charset="-122"/>
              </a:rPr>
              <a:t>97%</a:t>
            </a:r>
            <a:r>
              <a:rPr lang="zh-CN" altLang="zh-CN" sz="2400" dirty="0">
                <a:effectLst/>
                <a:latin typeface="Arial" panose="020B0604020202020204" pitchFamily="34" charset="0"/>
                <a:ea typeface="微软雅黑" panose="020B0503020204020204" charset="-122"/>
                <a:cs typeface="Times New Roman" panose="02020603050405020304" pitchFamily="18" charset="0"/>
              </a:rPr>
              <a:t>，问实际上每天生产多少</a:t>
            </a:r>
            <a:r>
              <a:rPr lang="en-US" altLang="zh-CN" sz="2400" dirty="0">
                <a:effectLst/>
                <a:latin typeface="Arial" panose="020B0604020202020204" pitchFamily="34" charset="0"/>
                <a:ea typeface="微软雅黑" panose="020B0503020204020204" charset="-122"/>
              </a:rPr>
              <a:t> Cl</a:t>
            </a:r>
            <a:r>
              <a:rPr lang="en-US" altLang="zh-CN" sz="2400" baseline="-25000" dirty="0">
                <a:effectLst/>
                <a:latin typeface="Arial" panose="020B0604020202020204" pitchFamily="34" charset="0"/>
                <a:ea typeface="微软雅黑" panose="020B0503020204020204" charset="-122"/>
              </a:rPr>
              <a:t>2</a:t>
            </a:r>
            <a:r>
              <a:rPr lang="en-US" altLang="zh-CN" sz="2400" dirty="0">
                <a:effectLst/>
                <a:latin typeface="Arial" panose="020B0604020202020204" pitchFamily="34" charset="0"/>
                <a:ea typeface="微软雅黑" panose="020B0503020204020204" charset="-122"/>
              </a:rPr>
              <a:t>?(</a:t>
            </a:r>
            <a:r>
              <a:rPr lang="zh-CN" altLang="zh-CN" sz="2400" dirty="0">
                <a:effectLst/>
                <a:latin typeface="Arial" panose="020B0604020202020204" pitchFamily="34" charset="0"/>
                <a:ea typeface="微软雅黑" panose="020B0503020204020204" charset="-122"/>
                <a:cs typeface="Times New Roman" panose="02020603050405020304" pitchFamily="18" charset="0"/>
              </a:rPr>
              <a:t>以每天</a:t>
            </a:r>
            <a:r>
              <a:rPr lang="en-US" altLang="zh-CN" sz="2400" dirty="0">
                <a:effectLst/>
                <a:latin typeface="Arial" panose="020B0604020202020204" pitchFamily="34" charset="0"/>
                <a:ea typeface="微软雅黑" panose="020B0503020204020204" charset="-122"/>
              </a:rPr>
              <a:t>24h</a:t>
            </a:r>
            <a:r>
              <a:rPr lang="zh-CN" altLang="zh-CN" sz="2400" dirty="0">
                <a:effectLst/>
                <a:latin typeface="Arial" panose="020B0604020202020204" pitchFamily="34" charset="0"/>
                <a:ea typeface="微软雅黑" panose="020B0503020204020204" charset="-122"/>
                <a:cs typeface="Times New Roman" panose="02020603050405020304" pitchFamily="18" charset="0"/>
              </a:rPr>
              <a:t>计</a:t>
            </a:r>
            <a:r>
              <a:rPr lang="en-US" altLang="zh-CN" sz="2400" dirty="0">
                <a:effectLst/>
                <a:latin typeface="Arial" panose="020B0604020202020204" pitchFamily="34" charset="0"/>
                <a:ea typeface="微软雅黑" panose="020B0503020204020204" charset="-122"/>
              </a:rPr>
              <a:t>)</a:t>
            </a:r>
            <a:endParaRPr lang="zh-CN" altLang="en-US" sz="2400" dirty="0">
              <a:latin typeface="Arial" panose="020B0604020202020204" pitchFamily="34" charset="0"/>
              <a:ea typeface="微软雅黑" panose="020B0503020204020204" charset="-122"/>
            </a:endParaRPr>
          </a:p>
        </p:txBody>
      </p:sp>
      <p:sp>
        <p:nvSpPr>
          <p:cNvPr id="7" name="Rectangle 5"/>
          <p:cNvSpPr>
            <a:spLocks noChangeArrowheads="1"/>
          </p:cNvSpPr>
          <p:nvPr/>
        </p:nvSpPr>
        <p:spPr bwMode="auto">
          <a:xfrm>
            <a:off x="-252536" y="1839833"/>
            <a:ext cx="691388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9652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965200" algn="l" defTabSz="914400" rtl="0" eaLnBrk="0" fontAlgn="base" latinLnBrk="0" hangingPunct="0">
              <a:lnSpc>
                <a:spcPct val="100000"/>
              </a:lnSpc>
              <a:spcBef>
                <a:spcPct val="0"/>
              </a:spcBef>
              <a:spcAft>
                <a:spcPct val="0"/>
              </a:spcAft>
              <a:buClrTx/>
              <a:buSzTx/>
              <a:buFontTx/>
              <a:buNone/>
            </a:pPr>
            <a:r>
              <a:rPr kumimoji="0" lang="zh-CN" altLang="zh-CN" b="0" i="0" u="none" strike="noStrike" cap="none" normalizeH="0" baseline="0" dirty="0">
                <a:ln>
                  <a:noFill/>
                </a:ln>
                <a:solidFill>
                  <a:schemeClr val="tx1"/>
                </a:solidFill>
                <a:effectLst/>
                <a:ea typeface="微软雅黑" panose="020B0503020204020204" charset="-122"/>
                <a:cs typeface="Times New Roman" panose="02020603050405020304" pitchFamily="18" charset="0"/>
              </a:rPr>
              <a:t>解：</a:t>
            </a:r>
            <a:r>
              <a:rPr kumimoji="0" lang="zh-CN" altLang="zh-CN" b="0" i="0" u="none" strike="noStrike" cap="none" normalizeH="0" baseline="0" dirty="0">
                <a:ln>
                  <a:noFill/>
                </a:ln>
                <a:solidFill>
                  <a:schemeClr val="tx1"/>
                </a:solidFill>
                <a:effectLst/>
                <a:ea typeface="微软雅黑" panose="020B0503020204020204" charset="-122"/>
                <a:cs typeface="宋体" panose="02010600030101010101" pitchFamily="2" charset="-122"/>
              </a:rPr>
              <a:t>（</a:t>
            </a:r>
            <a:r>
              <a:rPr kumimoji="0" lang="en-US" altLang="zh-CN" b="0" i="0" u="none" strike="noStrike" cap="none" normalizeH="0" baseline="0" dirty="0">
                <a:ln>
                  <a:noFill/>
                </a:ln>
                <a:solidFill>
                  <a:schemeClr val="tx1"/>
                </a:solidFill>
                <a:effectLst/>
                <a:ea typeface="微软雅黑" panose="020B0503020204020204" charset="-122"/>
                <a:cs typeface="宋体" panose="02010600030101010101" pitchFamily="2" charset="-122"/>
              </a:rPr>
              <a:t>1</a:t>
            </a:r>
            <a:r>
              <a:rPr kumimoji="0" lang="zh-CN" altLang="en-US" b="0" i="0" u="none" strike="noStrike" cap="none" normalizeH="0" baseline="0" dirty="0">
                <a:ln>
                  <a:noFill/>
                </a:ln>
                <a:solidFill>
                  <a:schemeClr val="tx1"/>
                </a:solidFill>
                <a:effectLst/>
                <a:ea typeface="微软雅黑" panose="020B0503020204020204" charset="-122"/>
                <a:cs typeface="宋体" panose="02010600030101010101" pitchFamily="2" charset="-122"/>
              </a:rPr>
              <a:t>）设电流效率为</a:t>
            </a:r>
            <a:r>
              <a:rPr kumimoji="0" lang="en-US" altLang="zh-CN" b="0" i="0" u="none" strike="noStrike" cap="none" normalizeH="0" baseline="0" dirty="0">
                <a:ln>
                  <a:noFill/>
                </a:ln>
                <a:solidFill>
                  <a:schemeClr val="tx1"/>
                </a:solidFill>
                <a:effectLst/>
                <a:ea typeface="微软雅黑" panose="020B0503020204020204" charset="-122"/>
                <a:cs typeface="宋体" panose="02010600030101010101" pitchFamily="2" charset="-122"/>
              </a:rPr>
              <a:t>100</a:t>
            </a:r>
            <a:r>
              <a:rPr kumimoji="0" lang="zh-CN" altLang="en-US" b="0" i="0" u="none" strike="noStrike" cap="none" normalizeH="0" baseline="0" dirty="0">
                <a:ln>
                  <a:noFill/>
                </a:ln>
                <a:solidFill>
                  <a:schemeClr val="tx1"/>
                </a:solidFill>
                <a:effectLst/>
                <a:ea typeface="微软雅黑" panose="020B0503020204020204" charset="-122"/>
                <a:cs typeface="宋体" panose="02010600030101010101" pitchFamily="2" charset="-122"/>
              </a:rPr>
              <a:t>％，氯气按下式反应式计算：</a:t>
            </a:r>
            <a:endParaRPr kumimoji="0" lang="zh-CN" altLang="en-US" b="0" i="0" u="none" strike="noStrike" cap="none" normalizeH="0" baseline="0" dirty="0">
              <a:ln>
                <a:noFill/>
              </a:ln>
              <a:solidFill>
                <a:schemeClr val="tx1"/>
              </a:solidFill>
              <a:effectLst/>
              <a:ea typeface="微软雅黑" panose="020B0503020204020204" charset="-122"/>
            </a:endParaRPr>
          </a:p>
          <a:p>
            <a:pPr marL="0" marR="0" lvl="0" indent="96520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ea typeface="微软雅黑" panose="020B0503020204020204" charset="-122"/>
            </a:endParaRPr>
          </a:p>
        </p:txBody>
      </p:sp>
      <p:graphicFrame>
        <p:nvGraphicFramePr>
          <p:cNvPr id="8" name="对象 7"/>
          <p:cNvGraphicFramePr>
            <a:graphicFrameLocks noChangeAspect="1"/>
          </p:cNvGraphicFramePr>
          <p:nvPr/>
        </p:nvGraphicFramePr>
        <p:xfrm>
          <a:off x="1907704" y="2332120"/>
          <a:ext cx="2559044" cy="457199"/>
        </p:xfrm>
        <a:graphic>
          <a:graphicData uri="http://schemas.openxmlformats.org/presentationml/2006/ole">
            <mc:AlternateContent xmlns:mc="http://schemas.openxmlformats.org/markup-compatibility/2006">
              <mc:Choice xmlns:v="urn:schemas-microsoft-com:vml" Requires="v">
                <p:oleObj spid="_x0000_s2" name="Equation" r:id="rId1" imgW="1283970" imgH="228600" progId="Equation.DSMT4">
                  <p:embed/>
                </p:oleObj>
              </mc:Choice>
              <mc:Fallback>
                <p:oleObj name="Equation" r:id="rId1" imgW="1283970" imgH="2286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2332120"/>
                        <a:ext cx="2559044" cy="457199"/>
                      </a:xfrm>
                      <a:prstGeom prst="rect">
                        <a:avLst/>
                      </a:prstGeom>
                      <a:noFill/>
                    </p:spPr>
                  </p:pic>
                </p:oleObj>
              </mc:Fallback>
            </mc:AlternateContent>
          </a:graphicData>
        </a:graphic>
      </p:graphicFrame>
      <p:sp>
        <p:nvSpPr>
          <p:cNvPr id="9" name="Rectangle 6"/>
          <p:cNvSpPr>
            <a:spLocks noChangeArrowheads="1"/>
          </p:cNvSpPr>
          <p:nvPr/>
        </p:nvSpPr>
        <p:spPr bwMode="auto">
          <a:xfrm>
            <a:off x="391143" y="2913385"/>
            <a:ext cx="903986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每天电量</a:t>
            </a: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Q=lt=100000×24×60×60</a:t>
            </a:r>
            <a:r>
              <a:rPr kumimoji="0" lang="zh-CN" altLang="en-US"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a:t>
            </a: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8640000000 C</a:t>
            </a:r>
            <a:endPar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pitchFamily="18" charset="0"/>
              </a:rPr>
              <a:t>每天生产的</a:t>
            </a: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pitchFamily="18" charset="0"/>
              </a:rPr>
              <a:t>C1</a:t>
            </a:r>
            <a:r>
              <a:rPr kumimoji="0" lang="en-US" altLang="zh-CN" sz="2400" b="0" i="0" u="none" strike="noStrike" cap="none" normalizeH="0" baseline="-30000" dirty="0">
                <a:ln>
                  <a:noFill/>
                </a:ln>
                <a:solidFill>
                  <a:schemeClr val="tx1"/>
                </a:solidFill>
                <a:effectLst/>
                <a:latin typeface="Arial" panose="020B0604020202020204" pitchFamily="34" charset="0"/>
                <a:ea typeface="微软雅黑" panose="020B0503020204020204"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pitchFamily="18" charset="0"/>
              </a:rPr>
              <a:t>n</a:t>
            </a: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a:t>
            </a:r>
            <a:r>
              <a:rPr kumimoji="0" lang="zh-CN" altLang="en-US"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氯气</a:t>
            </a:r>
            <a:r>
              <a:rPr kumimoji="0" lang="zh-CN" altLang="en-US" sz="2400" dirty="0">
                <a:latin typeface="Arial" panose="020B0604020202020204" pitchFamily="34" charset="0"/>
                <a:ea typeface="微软雅黑" panose="020B0503020204020204" charset="-122"/>
                <a:cs typeface="宋体" panose="02010600030101010101" pitchFamily="2" charset="-122"/>
              </a:rPr>
              <a:t>摩尔数</a:t>
            </a: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a:t>
            </a:r>
            <a:r>
              <a:rPr kumimoji="0" lang="zh-CN" altLang="en-US"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a:t>
            </a: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Q/</a:t>
            </a:r>
            <a:r>
              <a:rPr kumimoji="0" lang="zh-CN" altLang="en-US"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a:t>
            </a: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2×96485</a:t>
            </a:r>
            <a:r>
              <a:rPr kumimoji="0" lang="zh-CN" altLang="en-US"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a:t>
            </a: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rPr>
              <a:t>44773.80 mol</a:t>
            </a:r>
            <a:endPar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宋体" panose="02010600030101010101" pitchFamily="2" charset="-122"/>
            </a:endParaRPr>
          </a:p>
        </p:txBody>
      </p:sp>
      <p:sp>
        <p:nvSpPr>
          <p:cNvPr id="11" name="文本框 10"/>
          <p:cNvSpPr txBox="1"/>
          <p:nvPr/>
        </p:nvSpPr>
        <p:spPr>
          <a:xfrm>
            <a:off x="501908" y="3911619"/>
            <a:ext cx="8318563" cy="1938020"/>
          </a:xfrm>
          <a:prstGeom prst="rect">
            <a:avLst/>
          </a:prstGeom>
          <a:noFill/>
        </p:spPr>
        <p:txBody>
          <a:bodyPr wrap="square">
            <a:spAutoFit/>
          </a:bodyPr>
          <a:lstStyle/>
          <a:p>
            <a:pPr algn="just"/>
            <a:r>
              <a:rPr lang="zh-CN" altLang="zh-CN" sz="2400" kern="100" dirty="0">
                <a:effectLst/>
                <a:latin typeface="Arial" panose="020B0604020202020204" pitchFamily="34" charset="0"/>
                <a:ea typeface="微软雅黑" panose="020B0503020204020204" charset="-122"/>
              </a:rPr>
              <a:t>每天生产的</a:t>
            </a:r>
            <a:r>
              <a:rPr lang="en-US" altLang="zh-CN" sz="2400" kern="0" dirty="0">
                <a:effectLst/>
                <a:latin typeface="Arial" panose="020B0604020202020204" pitchFamily="34" charset="0"/>
                <a:ea typeface="微软雅黑" panose="020B0503020204020204" charset="-122"/>
                <a:cs typeface="宋体" panose="02010600030101010101" pitchFamily="2" charset="-122"/>
              </a:rPr>
              <a:t>NaOH</a:t>
            </a:r>
            <a:r>
              <a:rPr lang="zh-CN" altLang="en-US" sz="2400" kern="0" dirty="0">
                <a:effectLst/>
                <a:latin typeface="Arial" panose="020B0604020202020204" pitchFamily="34" charset="0"/>
                <a:ea typeface="微软雅黑" panose="020B0503020204020204" charset="-122"/>
                <a:cs typeface="宋体" panose="02010600030101010101" pitchFamily="2" charset="-122"/>
              </a:rPr>
              <a:t>物质的量</a:t>
            </a:r>
            <a:r>
              <a:rPr lang="zh-CN" altLang="zh-CN" sz="2400" kern="100" dirty="0">
                <a:effectLst/>
                <a:latin typeface="Arial" panose="020B0604020202020204" pitchFamily="34" charset="0"/>
                <a:ea typeface="微软雅黑" panose="020B0503020204020204" charset="-122"/>
              </a:rPr>
              <a:t>：</a:t>
            </a:r>
            <a:endParaRPr lang="en-US" altLang="zh-CN" sz="2400" kern="100" dirty="0">
              <a:effectLst/>
              <a:latin typeface="Arial" panose="020B0604020202020204" pitchFamily="34" charset="0"/>
              <a:ea typeface="微软雅黑" panose="020B0503020204020204" charset="-122"/>
            </a:endParaRPr>
          </a:p>
          <a:p>
            <a:pPr algn="just"/>
            <a:r>
              <a:rPr lang="en-US" altLang="zh-CN" sz="2400" kern="0" dirty="0">
                <a:latin typeface="Arial" panose="020B0604020202020204" pitchFamily="34" charset="0"/>
                <a:ea typeface="微软雅黑" panose="020B0503020204020204" charset="-122"/>
              </a:rPr>
              <a:t>n</a:t>
            </a:r>
            <a:r>
              <a:rPr lang="en-US"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err="1">
                <a:effectLst/>
                <a:latin typeface="Arial" panose="020B0604020202020204" pitchFamily="34" charset="0"/>
                <a:ea typeface="微软雅黑" panose="020B0503020204020204" charset="-122"/>
                <a:cs typeface="宋体" panose="02010600030101010101" pitchFamily="2" charset="-122"/>
              </a:rPr>
              <a:t>NaHg</a:t>
            </a:r>
            <a:r>
              <a:rPr lang="en-US" altLang="zh-CN" sz="2400" kern="0" baseline="-25000" dirty="0" err="1">
                <a:effectLst/>
                <a:latin typeface="Arial" panose="020B0604020202020204" pitchFamily="34" charset="0"/>
                <a:ea typeface="微软雅黑" panose="020B0503020204020204" charset="-122"/>
                <a:cs typeface="宋体" panose="02010600030101010101" pitchFamily="2" charset="-122"/>
              </a:rPr>
              <a:t>m</a:t>
            </a:r>
            <a:r>
              <a:rPr lang="en-US" altLang="zh-CN" sz="2400" kern="0" dirty="0">
                <a:effectLst/>
                <a:latin typeface="Arial" panose="020B0604020202020204" pitchFamily="34" charset="0"/>
                <a:ea typeface="微软雅黑" panose="020B0503020204020204" charset="-122"/>
                <a:cs typeface="宋体" panose="02010600030101010101" pitchFamily="2" charset="-122"/>
              </a:rPr>
              <a:t>)= Q/</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a:effectLst/>
                <a:latin typeface="Arial" panose="020B0604020202020204" pitchFamily="34" charset="0"/>
                <a:ea typeface="微软雅黑" panose="020B0503020204020204" charset="-122"/>
                <a:cs typeface="宋体" panose="02010600030101010101" pitchFamily="2" charset="-122"/>
              </a:rPr>
              <a:t>2</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a:effectLst/>
                <a:latin typeface="Arial" panose="020B0604020202020204" pitchFamily="34" charset="0"/>
                <a:ea typeface="微软雅黑" panose="020B0503020204020204" charset="-122"/>
                <a:cs typeface="宋体" panose="02010600030101010101" pitchFamily="2" charset="-122"/>
              </a:rPr>
              <a:t>96485</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a:effectLst/>
                <a:latin typeface="Arial" panose="020B0604020202020204" pitchFamily="34" charset="0"/>
                <a:ea typeface="微软雅黑" panose="020B0503020204020204" charset="-122"/>
                <a:cs typeface="宋体" panose="02010600030101010101" pitchFamily="2" charset="-122"/>
              </a:rPr>
              <a:t>=89547.60 mol</a:t>
            </a:r>
            <a:endParaRPr lang="en-US" altLang="zh-CN" sz="2400" kern="0" dirty="0">
              <a:effectLst/>
              <a:latin typeface="Arial" panose="020B0604020202020204" pitchFamily="34" charset="0"/>
              <a:ea typeface="微软雅黑" panose="020B0503020204020204" charset="-122"/>
              <a:cs typeface="宋体" panose="02010600030101010101" pitchFamily="2" charset="-122"/>
            </a:endParaRPr>
          </a:p>
          <a:p>
            <a:pPr algn="just"/>
            <a:r>
              <a:rPr lang="en-US" altLang="zh-CN" sz="2400" kern="0" dirty="0">
                <a:effectLst/>
                <a:latin typeface="Arial" panose="020B0604020202020204" pitchFamily="34" charset="0"/>
                <a:ea typeface="微软雅黑" panose="020B0503020204020204" charset="-122"/>
                <a:cs typeface="宋体" panose="02010600030101010101" pitchFamily="2" charset="-122"/>
              </a:rPr>
              <a:t> </a:t>
            </a:r>
            <a:r>
              <a:rPr lang="zh-CN" altLang="en-US" sz="2400" kern="0" dirty="0">
                <a:latin typeface="Arial" panose="020B0604020202020204" pitchFamily="34" charset="0"/>
                <a:ea typeface="微软雅黑" panose="020B0503020204020204" charset="-122"/>
                <a:cs typeface="宋体" panose="02010600030101010101" pitchFamily="2" charset="-122"/>
              </a:rPr>
              <a:t>所以</a:t>
            </a:r>
            <a:r>
              <a:rPr lang="en-US" altLang="zh-CN" sz="2400" kern="0" dirty="0">
                <a:latin typeface="Arial" panose="020B0604020202020204" pitchFamily="34" charset="0"/>
                <a:ea typeface="微软雅黑" panose="020B0503020204020204" charset="-122"/>
                <a:cs typeface="宋体" panose="02010600030101010101" pitchFamily="2" charset="-122"/>
              </a:rPr>
              <a:t>n</a:t>
            </a:r>
            <a:r>
              <a:rPr lang="en-US" altLang="zh-CN" sz="2400" kern="0" dirty="0">
                <a:effectLst/>
                <a:latin typeface="Arial" panose="020B0604020202020204" pitchFamily="34" charset="0"/>
                <a:ea typeface="微软雅黑" panose="020B0503020204020204" charset="-122"/>
                <a:cs typeface="宋体" panose="02010600030101010101" pitchFamily="2" charset="-122"/>
              </a:rPr>
              <a:t>(NaOH</a:t>
            </a:r>
            <a:r>
              <a:rPr lang="zh-CN" altLang="en-US" sz="2400" kern="0" dirty="0">
                <a:effectLst/>
                <a:latin typeface="Arial" panose="020B0604020202020204" pitchFamily="34" charset="0"/>
                <a:ea typeface="微软雅黑" panose="020B0503020204020204" charset="-122"/>
                <a:cs typeface="宋体" panose="02010600030101010101" pitchFamily="2" charset="-122"/>
              </a:rPr>
              <a:t>摩尔数</a:t>
            </a:r>
            <a:r>
              <a:rPr lang="en-US" altLang="zh-CN" sz="2400" kern="0" dirty="0">
                <a:effectLst/>
                <a:latin typeface="Arial" panose="020B0604020202020204" pitchFamily="34" charset="0"/>
                <a:ea typeface="微软雅黑" panose="020B0503020204020204" charset="-122"/>
                <a:cs typeface="宋体" panose="02010600030101010101" pitchFamily="2" charset="-122"/>
              </a:rPr>
              <a:t>) =89547.60 mol</a:t>
            </a:r>
            <a:endParaRPr lang="zh-CN" altLang="zh-CN" sz="2400" kern="100" dirty="0">
              <a:effectLst/>
              <a:latin typeface="Arial" panose="020B0604020202020204" pitchFamily="34" charset="0"/>
              <a:ea typeface="微软雅黑" panose="020B0503020204020204" charset="-122"/>
            </a:endParaRPr>
          </a:p>
          <a:p>
            <a:pPr algn="just"/>
            <a:r>
              <a:rPr lang="zh-CN" altLang="zh-CN" sz="2400" kern="100" dirty="0">
                <a:effectLst/>
                <a:latin typeface="Arial" panose="020B0604020202020204" pitchFamily="34" charset="0"/>
                <a:ea typeface="微软雅黑" panose="020B0503020204020204" charset="-122"/>
              </a:rPr>
              <a:t>每天生产的</a:t>
            </a:r>
            <a:r>
              <a:rPr lang="en-US" altLang="zh-CN" sz="2400" kern="0" dirty="0">
                <a:effectLst/>
                <a:latin typeface="Arial" panose="020B0604020202020204" pitchFamily="34" charset="0"/>
                <a:ea typeface="微软雅黑" panose="020B0503020204020204" charset="-122"/>
                <a:cs typeface="宋体" panose="02010600030101010101" pitchFamily="2" charset="-122"/>
              </a:rPr>
              <a:t>H</a:t>
            </a:r>
            <a:r>
              <a:rPr lang="en-US" altLang="zh-CN" sz="2400" kern="0" baseline="-25000" dirty="0">
                <a:effectLst/>
                <a:latin typeface="Arial" panose="020B0604020202020204" pitchFamily="34" charset="0"/>
                <a:ea typeface="微软雅黑" panose="020B0503020204020204" charset="-122"/>
                <a:cs typeface="宋体" panose="02010600030101010101" pitchFamily="2" charset="-122"/>
              </a:rPr>
              <a:t>2</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zh-CN" altLang="en-US" sz="2400" kern="0" dirty="0">
                <a:effectLst/>
                <a:latin typeface="Arial" panose="020B0604020202020204" pitchFamily="34" charset="0"/>
                <a:ea typeface="微软雅黑" panose="020B0503020204020204" charset="-122"/>
                <a:cs typeface="宋体" panose="02010600030101010101" pitchFamily="2" charset="-122"/>
              </a:rPr>
              <a:t>氢</a:t>
            </a:r>
            <a:r>
              <a:rPr lang="zh-CN" altLang="zh-CN" sz="2400" kern="0" dirty="0">
                <a:effectLst/>
                <a:latin typeface="Arial" panose="020B0604020202020204" pitchFamily="34" charset="0"/>
                <a:ea typeface="微软雅黑" panose="020B0503020204020204" charset="-122"/>
                <a:cs typeface="宋体" panose="02010600030101010101" pitchFamily="2" charset="-122"/>
              </a:rPr>
              <a:t>气）</a:t>
            </a:r>
            <a:r>
              <a:rPr lang="zh-CN" altLang="en-US" sz="2400" kern="0" dirty="0">
                <a:effectLst/>
                <a:latin typeface="Arial" panose="020B0604020202020204" pitchFamily="34" charset="0"/>
                <a:ea typeface="微软雅黑" panose="020B0503020204020204" charset="-122"/>
                <a:cs typeface="宋体" panose="02010600030101010101" pitchFamily="2" charset="-122"/>
              </a:rPr>
              <a:t>物质的量</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endParaRPr lang="en-US" altLang="zh-CN" sz="2400" kern="0" dirty="0">
              <a:effectLst/>
              <a:latin typeface="Arial" panose="020B0604020202020204" pitchFamily="34" charset="0"/>
              <a:ea typeface="微软雅黑" panose="020B0503020204020204" charset="-122"/>
              <a:cs typeface="宋体" panose="02010600030101010101" pitchFamily="2" charset="-122"/>
            </a:endParaRPr>
          </a:p>
          <a:p>
            <a:pPr algn="just"/>
            <a:r>
              <a:rPr lang="en-US" altLang="zh-CN" sz="2400" kern="0" dirty="0">
                <a:latin typeface="Arial" panose="020B0604020202020204" pitchFamily="34" charset="0"/>
                <a:ea typeface="微软雅黑" panose="020B0503020204020204" charset="-122"/>
                <a:cs typeface="宋体" panose="02010600030101010101" pitchFamily="2" charset="-122"/>
              </a:rPr>
              <a:t>n</a:t>
            </a:r>
            <a:r>
              <a:rPr lang="zh-CN" altLang="zh-CN" sz="2400" kern="0" dirty="0">
                <a:effectLst/>
                <a:latin typeface="Arial" panose="020B0604020202020204" pitchFamily="34" charset="0"/>
                <a:ea typeface="微软雅黑" panose="020B0503020204020204" charset="-122"/>
                <a:cs typeface="宋体" panose="02010600030101010101" pitchFamily="2" charset="-122"/>
              </a:rPr>
              <a:t>（氢气</a:t>
            </a:r>
            <a:r>
              <a:rPr lang="zh-CN" altLang="en-US" sz="2400" kern="0" dirty="0">
                <a:effectLst/>
                <a:latin typeface="Arial" panose="020B0604020202020204" pitchFamily="34" charset="0"/>
                <a:ea typeface="微软雅黑" panose="020B0503020204020204" charset="-122"/>
                <a:cs typeface="宋体" panose="02010600030101010101" pitchFamily="2" charset="-122"/>
              </a:rPr>
              <a:t>摩尔数</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a:effectLst/>
                <a:latin typeface="Arial" panose="020B0604020202020204" pitchFamily="34" charset="0"/>
                <a:ea typeface="微软雅黑" panose="020B0503020204020204" charset="-122"/>
                <a:cs typeface="宋体" panose="02010600030101010101" pitchFamily="2" charset="-122"/>
              </a:rPr>
              <a:t>= N(</a:t>
            </a:r>
            <a:r>
              <a:rPr lang="en-US" altLang="zh-CN" sz="2400" kern="0" dirty="0" err="1">
                <a:effectLst/>
                <a:latin typeface="Arial" panose="020B0604020202020204" pitchFamily="34" charset="0"/>
                <a:ea typeface="微软雅黑" panose="020B0503020204020204" charset="-122"/>
                <a:cs typeface="宋体" panose="02010600030101010101" pitchFamily="2" charset="-122"/>
              </a:rPr>
              <a:t>NaHg</a:t>
            </a:r>
            <a:r>
              <a:rPr lang="en-US" altLang="zh-CN" sz="2400" kern="0" baseline="-25000" dirty="0" err="1">
                <a:effectLst/>
                <a:latin typeface="Arial" panose="020B0604020202020204" pitchFamily="34" charset="0"/>
                <a:ea typeface="微软雅黑" panose="020B0503020204020204" charset="-122"/>
                <a:cs typeface="宋体" panose="02010600030101010101" pitchFamily="2" charset="-122"/>
              </a:rPr>
              <a:t>m</a:t>
            </a:r>
            <a:r>
              <a:rPr lang="en-US" altLang="zh-CN" sz="2400" kern="0" dirty="0">
                <a:effectLst/>
                <a:latin typeface="Arial" panose="020B0604020202020204" pitchFamily="34" charset="0"/>
                <a:ea typeface="微软雅黑" panose="020B0503020204020204" charset="-122"/>
                <a:cs typeface="宋体" panose="02010600030101010101" pitchFamily="2" charset="-122"/>
              </a:rPr>
              <a:t>)/2=44773.80 mol</a:t>
            </a:r>
            <a:endParaRPr lang="en-US" altLang="zh-CN" sz="2400" kern="0" dirty="0">
              <a:effectLst/>
              <a:latin typeface="Arial" panose="020B0604020202020204" pitchFamily="34" charset="0"/>
              <a:ea typeface="微软雅黑" panose="020B0503020204020204" charset="-122"/>
              <a:cs typeface="宋体" panose="02010600030101010101"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5536" y="620688"/>
            <a:ext cx="7920880" cy="1198880"/>
          </a:xfrm>
          <a:prstGeom prst="rect">
            <a:avLst/>
          </a:prstGeom>
          <a:noFill/>
        </p:spPr>
        <p:txBody>
          <a:bodyPr wrap="square">
            <a:spAutoFit/>
          </a:bodyPr>
          <a:lstStyle/>
          <a:p>
            <a:pPr algn="just"/>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a:effectLst/>
                <a:latin typeface="Arial" panose="020B0604020202020204" pitchFamily="34" charset="0"/>
                <a:ea typeface="微软雅黑" panose="020B0503020204020204" charset="-122"/>
                <a:cs typeface="宋体" panose="02010600030101010101" pitchFamily="2" charset="-122"/>
              </a:rPr>
              <a:t>2</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zh-CN" altLang="zh-CN" sz="2400" kern="100" dirty="0">
                <a:effectLst/>
                <a:latin typeface="Arial" panose="020B0604020202020204" pitchFamily="34" charset="0"/>
                <a:ea typeface="微软雅黑" panose="020B0503020204020204" charset="-122"/>
              </a:rPr>
              <a:t>设阳极的电流效率为</a:t>
            </a:r>
            <a:r>
              <a:rPr lang="en-US" altLang="zh-CN" sz="2400" kern="100" dirty="0">
                <a:effectLst/>
                <a:latin typeface="Arial" panose="020B0604020202020204" pitchFamily="34" charset="0"/>
                <a:ea typeface="微软雅黑" panose="020B0503020204020204" charset="-122"/>
              </a:rPr>
              <a:t>97</a:t>
            </a:r>
            <a:r>
              <a:rPr lang="zh-CN" altLang="zh-CN" sz="2400" kern="100" dirty="0">
                <a:effectLst/>
                <a:latin typeface="Arial" panose="020B0604020202020204" pitchFamily="34" charset="0"/>
                <a:ea typeface="微软雅黑" panose="020B0503020204020204" charset="-122"/>
              </a:rPr>
              <a:t>％，每天生产的</a:t>
            </a:r>
            <a:r>
              <a:rPr lang="en-US" altLang="zh-CN" sz="2400" kern="100" dirty="0">
                <a:effectLst/>
                <a:latin typeface="Arial" panose="020B0604020202020204" pitchFamily="34" charset="0"/>
                <a:ea typeface="微软雅黑" panose="020B0503020204020204" charset="-122"/>
              </a:rPr>
              <a:t>C1</a:t>
            </a:r>
            <a:r>
              <a:rPr lang="en-US" altLang="zh-CN" sz="2400" kern="100" baseline="-25000" dirty="0">
                <a:effectLst/>
                <a:latin typeface="Arial" panose="020B0604020202020204" pitchFamily="34" charset="0"/>
                <a:ea typeface="微软雅黑" panose="020B0503020204020204" charset="-122"/>
              </a:rPr>
              <a:t>2</a:t>
            </a:r>
            <a:r>
              <a:rPr lang="zh-CN" altLang="zh-CN" sz="2400" kern="100" dirty="0">
                <a:effectLst/>
                <a:latin typeface="Arial" panose="020B0604020202020204" pitchFamily="34" charset="0"/>
                <a:ea typeface="微软雅黑" panose="020B0503020204020204" charset="-122"/>
              </a:rPr>
              <a:t>：</a:t>
            </a:r>
            <a:endParaRPr lang="zh-CN" altLang="zh-CN" sz="2400" kern="100" dirty="0">
              <a:effectLst/>
              <a:latin typeface="Arial" panose="020B0604020202020204" pitchFamily="34" charset="0"/>
              <a:ea typeface="微软雅黑" panose="020B0503020204020204" charset="-122"/>
            </a:endParaRPr>
          </a:p>
          <a:p>
            <a:pPr algn="just"/>
            <a:r>
              <a:rPr lang="en-US" altLang="zh-CN" sz="2400" kern="0" dirty="0">
                <a:latin typeface="Arial" panose="020B0604020202020204" pitchFamily="34" charset="0"/>
                <a:ea typeface="微软雅黑" panose="020B0503020204020204" charset="-122"/>
                <a:cs typeface="宋体" panose="02010600030101010101" pitchFamily="2" charset="-122"/>
              </a:rPr>
              <a:t>n</a:t>
            </a:r>
            <a:r>
              <a:rPr lang="en-US" altLang="zh-CN" sz="2400" kern="0" dirty="0">
                <a:effectLst/>
                <a:latin typeface="Arial" panose="020B0604020202020204" pitchFamily="34" charset="0"/>
                <a:ea typeface="微软雅黑" panose="020B0503020204020204" charset="-122"/>
                <a:cs typeface="宋体" panose="02010600030101010101" pitchFamily="2" charset="-122"/>
              </a:rPr>
              <a:t>(</a:t>
            </a:r>
            <a:r>
              <a:rPr lang="zh-CN" altLang="zh-CN" sz="2400" kern="0" dirty="0">
                <a:effectLst/>
                <a:latin typeface="Arial" panose="020B0604020202020204" pitchFamily="34" charset="0"/>
                <a:ea typeface="微软雅黑" panose="020B0503020204020204" charset="-122"/>
                <a:cs typeface="宋体" panose="02010600030101010101" pitchFamily="2" charset="-122"/>
              </a:rPr>
              <a:t>氯气</a:t>
            </a:r>
            <a:r>
              <a:rPr lang="en-US" altLang="zh-CN" sz="2400" kern="0" dirty="0">
                <a:effectLst/>
                <a:latin typeface="Arial" panose="020B0604020202020204" pitchFamily="34" charset="0"/>
                <a:ea typeface="微软雅黑" panose="020B0503020204020204" charset="-122"/>
                <a:cs typeface="宋体" panose="02010600030101010101" pitchFamily="2" charset="-122"/>
              </a:rPr>
              <a:t>)</a:t>
            </a:r>
            <a:r>
              <a:rPr lang="zh-CN" altLang="zh-CN" sz="2400" kern="0" dirty="0">
                <a:effectLst/>
                <a:latin typeface="Arial" panose="020B0604020202020204" pitchFamily="34" charset="0"/>
                <a:ea typeface="微软雅黑" panose="020B0503020204020204" charset="-122"/>
                <a:cs typeface="宋体" panose="02010600030101010101" pitchFamily="2" charset="-122"/>
              </a:rPr>
              <a:t>＝η</a:t>
            </a:r>
            <a:r>
              <a:rPr lang="en-US" altLang="zh-CN" sz="2400" kern="0" dirty="0">
                <a:effectLst/>
                <a:latin typeface="Arial" panose="020B0604020202020204" pitchFamily="34" charset="0"/>
                <a:ea typeface="微软雅黑" panose="020B0503020204020204" charset="-122"/>
                <a:cs typeface="宋体" panose="02010600030101010101" pitchFamily="2" charset="-122"/>
              </a:rPr>
              <a:t>Q/</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a:effectLst/>
                <a:latin typeface="Arial" panose="020B0604020202020204" pitchFamily="34" charset="0"/>
                <a:ea typeface="微软雅黑" panose="020B0503020204020204" charset="-122"/>
                <a:cs typeface="宋体" panose="02010600030101010101" pitchFamily="2" charset="-122"/>
              </a:rPr>
              <a:t>2</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a:effectLst/>
                <a:latin typeface="Arial" panose="020B0604020202020204" pitchFamily="34" charset="0"/>
                <a:ea typeface="微软雅黑" panose="020B0503020204020204" charset="-122"/>
                <a:cs typeface="宋体" panose="02010600030101010101" pitchFamily="2" charset="-122"/>
              </a:rPr>
              <a:t>96485</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a:effectLst/>
                <a:latin typeface="Arial" panose="020B0604020202020204" pitchFamily="34" charset="0"/>
                <a:ea typeface="微软雅黑" panose="020B0503020204020204" charset="-122"/>
                <a:cs typeface="宋体" panose="02010600030101010101" pitchFamily="2" charset="-122"/>
              </a:rPr>
              <a:t>0.97</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a:effectLst/>
                <a:latin typeface="Arial" panose="020B0604020202020204" pitchFamily="34" charset="0"/>
                <a:ea typeface="微软雅黑" panose="020B0503020204020204" charset="-122"/>
                <a:cs typeface="宋体" panose="02010600030101010101" pitchFamily="2" charset="-122"/>
              </a:rPr>
              <a:t>44773.80 mol</a:t>
            </a:r>
            <a:r>
              <a:rPr lang="zh-CN" altLang="zh-CN" sz="2400" kern="0" dirty="0">
                <a:effectLst/>
                <a:latin typeface="Arial" panose="020B0604020202020204" pitchFamily="34" charset="0"/>
                <a:ea typeface="微软雅黑" panose="020B0503020204020204" charset="-122"/>
                <a:cs typeface="宋体" panose="02010600030101010101" pitchFamily="2" charset="-122"/>
              </a:rPr>
              <a:t>＝</a:t>
            </a:r>
            <a:r>
              <a:rPr lang="en-US" altLang="zh-CN" sz="2400" kern="0" dirty="0">
                <a:effectLst/>
                <a:latin typeface="Arial" panose="020B0604020202020204" pitchFamily="34" charset="0"/>
                <a:ea typeface="微软雅黑" panose="020B0503020204020204" charset="-122"/>
                <a:cs typeface="宋体" panose="02010600030101010101" pitchFamily="2" charset="-122"/>
              </a:rPr>
              <a:t>43430.59 mol</a:t>
            </a:r>
            <a:endParaRPr lang="en-US" altLang="zh-CN" sz="2400" kern="0" dirty="0">
              <a:effectLst/>
              <a:latin typeface="Arial" panose="020B0604020202020204" pitchFamily="34" charset="0"/>
              <a:ea typeface="微软雅黑" panose="020B0503020204020204" charset="-122"/>
              <a:cs typeface="宋体" panose="0201060003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395536" y="797564"/>
                <a:ext cx="8352928" cy="3651250"/>
              </a:xfrm>
              <a:prstGeom prst="rect">
                <a:avLst/>
              </a:prstGeom>
              <a:noFill/>
            </p:spPr>
            <p:txBody>
              <a:bodyPr wrap="square">
                <a:spAutoFit/>
              </a:bodyPr>
              <a:lstStyle/>
              <a:p>
                <a:pPr algn="just">
                  <a:lnSpc>
                    <a:spcPct val="150000"/>
                  </a:lnSpc>
                </a:pPr>
                <a:r>
                  <a:rPr lang="zh-CN" altLang="en-US" sz="2400" b="1" kern="100" dirty="0">
                    <a:solidFill>
                      <a:srgbClr val="FF0000"/>
                    </a:solidFill>
                    <a:latin typeface="Arial" panose="020B0604020202020204" pitchFamily="34" charset="0"/>
                    <a:ea typeface="微软雅黑" panose="020B0503020204020204" charset="-122"/>
                    <a:cs typeface="Times New Roman" panose="02020603050405020304" pitchFamily="18" charset="0"/>
                  </a:rPr>
                  <a:t>例题</a:t>
                </a:r>
                <a:r>
                  <a:rPr lang="en-US" altLang="zh-CN" sz="2400" b="1" kern="100" dirty="0">
                    <a:solidFill>
                      <a:srgbClr val="FF0000"/>
                    </a:solidFill>
                    <a:latin typeface="Arial" panose="020B0604020202020204" pitchFamily="34" charset="0"/>
                    <a:ea typeface="微软雅黑" panose="020B0503020204020204" charset="-122"/>
                    <a:cs typeface="Times New Roman" panose="02020603050405020304" pitchFamily="18" charset="0"/>
                  </a:rPr>
                  <a:t>2</a:t>
                </a:r>
                <a:r>
                  <a:rPr lang="en-US" altLang="zh-CN" sz="2400" kern="100" dirty="0">
                    <a:latin typeface="Arial" panose="020B0604020202020204" pitchFamily="34" charset="0"/>
                    <a:ea typeface="微软雅黑" panose="020B0503020204020204" charset="-122"/>
                    <a:cs typeface="Times New Roman" panose="02020603050405020304" pitchFamily="18" charset="0"/>
                  </a:rPr>
                  <a:t>.</a:t>
                </a: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氯碱工业中在阴极的改进方面，人们试用氧还原反应代替</a:t>
                </a:r>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H</a:t>
                </a:r>
                <a:r>
                  <a:rPr lang="en-US" altLang="zh-CN" sz="2400" kern="100" baseline="30000" dirty="0">
                    <a:effectLst/>
                    <a:latin typeface="Arial" panose="020B0604020202020204" pitchFamily="34" charset="0"/>
                    <a:ea typeface="微软雅黑" panose="020B0503020204020204" charset="-122"/>
                    <a:cs typeface="Times New Roman" panose="02020603050405020304" pitchFamily="18" charset="0"/>
                  </a:rPr>
                  <a:t>+</a:t>
                </a: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的析出反应，即</a:t>
                </a:r>
                <a:endParaRPr lang="zh-CN" altLang="zh-CN" sz="1800" kern="100" dirty="0">
                  <a:effectLst/>
                  <a:latin typeface="Arial" panose="020B0604020202020204" pitchFamily="34" charset="0"/>
                  <a:ea typeface="微软雅黑" panose="020B0503020204020204" charset="-122"/>
                  <a:cs typeface="Times New Roman" panose="02020603050405020304" pitchFamily="18" charset="0"/>
                </a:endParaRPr>
              </a:p>
              <a:p>
                <a:pPr algn="just">
                  <a:lnSpc>
                    <a:spcPct val="150000"/>
                  </a:lnSpc>
                </a:pP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用阴极反应</a:t>
                </a:r>
                <a14:m>
                  <m:oMath xmlns:m="http://schemas.openxmlformats.org/officeDocument/2006/math">
                    <m:f>
                      <m:fPr>
                        <m:ctrlPr>
                          <a:rPr lang="zh-CN" altLang="zh-CN" sz="2400" i="1" kern="100">
                            <a:effectLst/>
                            <a:latin typeface="Cambria Math" panose="02040503050406030204" pitchFamily="18" charset="0"/>
                            <a:ea typeface="微软雅黑" panose="020B0503020204020204" charset="-122"/>
                            <a:cs typeface="Cambria Math" panose="02040503050406030204" pitchFamily="18" charset="0"/>
                          </a:rPr>
                        </m:ctrlPr>
                      </m:fPr>
                      <m:num>
                        <m:r>
                          <a:rPr lang="en-US" altLang="zh-CN" sz="2400" i="1" kern="100">
                            <a:effectLst/>
                            <a:latin typeface="Cambria Math" panose="02040503050406030204" pitchFamily="18" charset="0"/>
                            <a:ea typeface="MS Mincho" charset="0"/>
                            <a:cs typeface="Cambria Math" panose="02040503050406030204" pitchFamily="18" charset="0"/>
                          </a:rPr>
                          <m:t>1</m:t>
                        </m:r>
                      </m:num>
                      <m:den>
                        <m:r>
                          <a:rPr lang="en-US" altLang="zh-CN" sz="2400" i="1" kern="100">
                            <a:effectLst/>
                            <a:latin typeface="Cambria Math" panose="02040503050406030204" pitchFamily="18" charset="0"/>
                            <a:ea typeface="MS Mincho" charset="0"/>
                            <a:cs typeface="Cambria Math" panose="02040503050406030204" pitchFamily="18" charset="0"/>
                          </a:rPr>
                          <m:t>2</m:t>
                        </m:r>
                      </m:den>
                    </m:f>
                  </m:oMath>
                </a14:m>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O</a:t>
                </a:r>
                <a:r>
                  <a:rPr lang="en-US" altLang="zh-CN" sz="2400" kern="100" baseline="-25000" dirty="0">
                    <a:effectLst/>
                    <a:latin typeface="Arial" panose="020B0604020202020204" pitchFamily="34" charset="0"/>
                    <a:ea typeface="微软雅黑" panose="020B0503020204020204" charset="-122"/>
                    <a:cs typeface="Times New Roman" panose="02020603050405020304" pitchFamily="18" charset="0"/>
                  </a:rPr>
                  <a:t>2</a:t>
                </a:r>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+H</a:t>
                </a:r>
                <a:r>
                  <a:rPr lang="en-US" altLang="zh-CN" sz="2400" kern="100" baseline="-25000" dirty="0">
                    <a:effectLst/>
                    <a:latin typeface="Arial" panose="020B0604020202020204" pitchFamily="34" charset="0"/>
                    <a:ea typeface="微软雅黑" panose="020B0503020204020204" charset="-122"/>
                    <a:cs typeface="Times New Roman" panose="02020603050405020304" pitchFamily="18" charset="0"/>
                  </a:rPr>
                  <a:t>2</a:t>
                </a:r>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O+2e</a:t>
                </a:r>
                <a:r>
                  <a:rPr lang="zh-CN" altLang="en-US" sz="2400" kern="100" dirty="0">
                    <a:effectLst/>
                    <a:latin typeface="Arial" panose="020B0604020202020204" pitchFamily="34" charset="0"/>
                    <a:ea typeface="微软雅黑" panose="020B0503020204020204" charset="-122"/>
                    <a:cs typeface="Times New Roman" panose="02020603050405020304" pitchFamily="18" charset="0"/>
                  </a:rPr>
                  <a:t>＝</a:t>
                </a:r>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20H</a:t>
                </a:r>
                <a:r>
                  <a:rPr lang="en-US" altLang="zh-CN" sz="2400" kern="100" baseline="30000" dirty="0">
                    <a:effectLst/>
                    <a:latin typeface="Arial" panose="020B0604020202020204" pitchFamily="34" charset="0"/>
                    <a:ea typeface="微软雅黑" panose="020B0503020204020204" charset="-122"/>
                    <a:cs typeface="Times New Roman" panose="02020603050405020304" pitchFamily="18" charset="0"/>
                  </a:rPr>
                  <a:t>-</a:t>
                </a: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a:t>
                </a:r>
                <a14:m>
                  <m:oMath xmlns:m="http://schemas.openxmlformats.org/officeDocument/2006/math">
                    <m:sSup>
                      <m:sSupPr>
                        <m:ctrlPr>
                          <a:rPr lang="zh-CN" altLang="zh-CN" sz="2400" i="1" kern="100">
                            <a:effectLst/>
                            <a:latin typeface="Cambria Math" panose="02040503050406030204" pitchFamily="18" charset="0"/>
                            <a:ea typeface="微软雅黑" panose="020B0503020204020204" charset="-122"/>
                            <a:cs typeface="Cambria Math" panose="02040503050406030204" pitchFamily="18" charset="0"/>
                          </a:rPr>
                        </m:ctrlPr>
                      </m:sSupPr>
                      <m:e>
                        <m:r>
                          <a:rPr lang="en-US" altLang="zh-CN" sz="2400" i="1" kern="100">
                            <a:effectLst/>
                            <a:latin typeface="Cambria Math" panose="02040503050406030204" pitchFamily="18" charset="0"/>
                            <a:ea typeface="MS Mincho" charset="0"/>
                            <a:cs typeface="Cambria Math" panose="02040503050406030204" pitchFamily="18" charset="0"/>
                          </a:rPr>
                          <m:t>𝜑</m:t>
                        </m:r>
                      </m:e>
                      <m:sup>
                        <m:r>
                          <m:rPr>
                            <m:sty m:val="p"/>
                          </m:rPr>
                          <a:rPr lang="en-US" altLang="zh-CN" sz="2400" kern="100">
                            <a:effectLst/>
                            <a:latin typeface="Cambria Math" panose="02040503050406030204" pitchFamily="18" charset="0"/>
                            <a:ea typeface="微软雅黑" panose="020B0503020204020204" charset="-122"/>
                            <a:cs typeface="Cambria Math" panose="02040503050406030204" pitchFamily="18" charset="0"/>
                          </a:rPr>
                          <m:t>θ</m:t>
                        </m:r>
                      </m:sup>
                    </m:sSup>
                  </m:oMath>
                </a14:m>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=0.401V</a:t>
                </a: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，代替析氢反应。</a:t>
                </a:r>
                <a:endParaRPr lang="zh-CN" altLang="zh-CN" sz="1800" kern="100" dirty="0">
                  <a:effectLst/>
                  <a:latin typeface="Arial" panose="020B0604020202020204" pitchFamily="34" charset="0"/>
                  <a:ea typeface="微软雅黑" panose="020B0503020204020204" charset="-122"/>
                  <a:cs typeface="Times New Roman" panose="02020603050405020304" pitchFamily="18" charset="0"/>
                </a:endParaRPr>
              </a:p>
              <a:p>
                <a:pPr algn="just">
                  <a:lnSpc>
                    <a:spcPct val="150000"/>
                  </a:lnSpc>
                </a:pPr>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(1)</a:t>
                </a: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试写出改进前的电极反应和总反应</a:t>
                </a:r>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(2)</a:t>
                </a: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阴极反应改进后理论分解电压降低多少</a:t>
                </a:r>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?(3)</a:t>
                </a: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理论上，每生产</a:t>
                </a:r>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1</a:t>
                </a: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吨</a:t>
                </a:r>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NaOH</a:t>
                </a: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将节约多少电能</a:t>
                </a:r>
                <a:r>
                  <a:rPr lang="en-US" altLang="zh-CN" sz="2400" kern="100" dirty="0">
                    <a:effectLst/>
                    <a:latin typeface="Arial" panose="020B0604020202020204" pitchFamily="34" charset="0"/>
                    <a:ea typeface="微软雅黑" panose="020B0503020204020204" charset="-122"/>
                    <a:cs typeface="Times New Roman" panose="02020603050405020304" pitchFamily="18" charset="0"/>
                  </a:rPr>
                  <a:t>?</a:t>
                </a:r>
                <a:endParaRPr lang="zh-CN" altLang="zh-CN" sz="1800" kern="100" dirty="0">
                  <a:effectLst/>
                  <a:latin typeface="Arial" panose="020B0604020202020204" pitchFamily="34" charset="0"/>
                  <a:ea typeface="微软雅黑" panose="020B0503020204020204"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395536" y="797564"/>
                <a:ext cx="8352928" cy="3651250"/>
              </a:xfrm>
              <a:prstGeom prst="rect">
                <a:avLst/>
              </a:prstGeom>
              <a:blipFill rotWithShape="1">
                <a:blip r:embed="rId1"/>
                <a:stretch>
                  <a:fillRect l="-7" r="-1999"/>
                </a:stretch>
              </a:blipFill>
            </p:spPr>
            <p:txBody>
              <a:bodyPr/>
              <a:lstStyle/>
              <a:p>
                <a:r>
                  <a:rPr lang="zh-CN" altLang="en-US">
                    <a:noFill/>
                  </a:rPr>
                  <a:t> </a:t>
                </a:r>
              </a:p>
            </p:txBody>
          </p:sp>
        </mc:Fallback>
      </mc:AlternateContent>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p:cNvPicPr>
            <a:picLocks noChangeAspect="1"/>
          </p:cNvPicPr>
          <p:nvPr/>
        </p:nvPicPr>
        <p:blipFill>
          <a:blip r:embed="rId1"/>
          <a:stretch>
            <a:fillRect/>
          </a:stretch>
        </p:blipFill>
        <p:spPr>
          <a:xfrm>
            <a:off x="107504" y="332656"/>
            <a:ext cx="9036496" cy="2232248"/>
          </a:xfrm>
          <a:prstGeom prst="rect">
            <a:avLst/>
          </a:prstGeom>
        </p:spPr>
      </p:pic>
      <p:pic>
        <p:nvPicPr>
          <p:cNvPr id="30" name="图片 29"/>
          <p:cNvPicPr>
            <a:picLocks noChangeAspect="1"/>
          </p:cNvPicPr>
          <p:nvPr/>
        </p:nvPicPr>
        <p:blipFill>
          <a:blip r:embed="rId2"/>
          <a:stretch>
            <a:fillRect/>
          </a:stretch>
        </p:blipFill>
        <p:spPr>
          <a:xfrm>
            <a:off x="120804" y="2924944"/>
            <a:ext cx="8593712" cy="2232248"/>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79513" y="980728"/>
            <a:ext cx="10225136" cy="2232248"/>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55576" y="116632"/>
            <a:ext cx="7056784" cy="829945"/>
          </a:xfrm>
          <a:prstGeom prst="rect">
            <a:avLst/>
          </a:prstGeom>
          <a:noFill/>
        </p:spPr>
        <p:txBody>
          <a:bodyPr wrap="square">
            <a:spAutoFit/>
          </a:bodyPr>
          <a:lstStyle/>
          <a:p>
            <a:r>
              <a:rPr lang="zh-CN" altLang="en-US" sz="2400" kern="100" dirty="0">
                <a:solidFill>
                  <a:srgbClr val="FF0000"/>
                </a:solidFill>
                <a:effectLst/>
                <a:latin typeface="Arial" panose="020B0604020202020204" pitchFamily="34" charset="0"/>
                <a:ea typeface="微软雅黑" panose="020B0503020204020204" charset="-122"/>
                <a:cs typeface="Times New Roman" panose="02020603050405020304" pitchFamily="18" charset="0"/>
              </a:rPr>
              <a:t>思考题：</a:t>
            </a:r>
            <a:r>
              <a:rPr lang="zh-CN" altLang="zh-CN" sz="2400" kern="100" dirty="0">
                <a:effectLst/>
                <a:latin typeface="Arial" panose="020B0604020202020204" pitchFamily="34" charset="0"/>
                <a:ea typeface="微软雅黑" panose="020B0503020204020204" charset="-122"/>
                <a:cs typeface="Times New Roman" panose="02020603050405020304" pitchFamily="18" charset="0"/>
              </a:rPr>
              <a:t>电流效率、电能消耗、电能效率如何定义和计算的？</a:t>
            </a:r>
            <a:endParaRPr lang="zh-CN" altLang="en-US" sz="2400" dirty="0">
              <a:latin typeface="Arial" panose="020B0604020202020204" pitchFamily="34" charset="0"/>
              <a:ea typeface="微软雅黑" panose="020B0503020204020204" charset="-122"/>
            </a:endParaRPr>
          </a:p>
        </p:txBody>
      </p:sp>
      <p:pic>
        <p:nvPicPr>
          <p:cNvPr id="4" name="图片 3"/>
          <p:cNvPicPr>
            <a:picLocks noChangeAspect="1"/>
          </p:cNvPicPr>
          <p:nvPr/>
        </p:nvPicPr>
        <p:blipFill>
          <a:blip r:embed="rId1"/>
          <a:stretch>
            <a:fillRect/>
          </a:stretch>
        </p:blipFill>
        <p:spPr>
          <a:xfrm>
            <a:off x="494531" y="1340768"/>
            <a:ext cx="8154937" cy="3816424"/>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71600" y="404664"/>
            <a:ext cx="6408712" cy="460375"/>
          </a:xfrm>
          <a:prstGeom prst="rect">
            <a:avLst/>
          </a:prstGeom>
          <a:noFill/>
        </p:spPr>
        <p:txBody>
          <a:bodyPr wrap="square">
            <a:spAutoFit/>
          </a:bodyPr>
          <a:lstStyle/>
          <a:p>
            <a:r>
              <a:rPr lang="zh-CN" altLang="en-US" sz="2400" kern="100" dirty="0">
                <a:solidFill>
                  <a:srgbClr val="FF0000"/>
                </a:solidFill>
                <a:effectLst/>
                <a:ea typeface="微软雅黑" panose="020B0503020204020204" charset="-122"/>
                <a:cs typeface="Times New Roman" panose="02020603050405020304" pitchFamily="18" charset="0"/>
              </a:rPr>
              <a:t>思考题：</a:t>
            </a:r>
            <a:r>
              <a:rPr lang="zh-CN" altLang="zh-CN" sz="2400" kern="100" dirty="0">
                <a:effectLst/>
                <a:ea typeface="微软雅黑" panose="020B0503020204020204" charset="-122"/>
                <a:cs typeface="Times New Roman" panose="02020603050405020304" pitchFamily="18" charset="0"/>
              </a:rPr>
              <a:t>槽电压由那几部分组成？如何计算？</a:t>
            </a:r>
            <a:endParaRPr lang="zh-CN" altLang="en-US" sz="2400" dirty="0">
              <a:ea typeface="微软雅黑" panose="020B0503020204020204" charset="-122"/>
            </a:endParaRPr>
          </a:p>
        </p:txBody>
      </p:sp>
      <p:pic>
        <p:nvPicPr>
          <p:cNvPr id="4" name="图片 3"/>
          <p:cNvPicPr>
            <a:picLocks noChangeAspect="1"/>
          </p:cNvPicPr>
          <p:nvPr/>
        </p:nvPicPr>
        <p:blipFill>
          <a:blip r:embed="rId1"/>
          <a:stretch>
            <a:fillRect/>
          </a:stretch>
        </p:blipFill>
        <p:spPr>
          <a:xfrm>
            <a:off x="467544" y="1340768"/>
            <a:ext cx="8424937" cy="1728192"/>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PP_MARK_KEY" val="5824ae01-f9be-41d6-9c80-12b5a68bde41"/>
  <p:tag name="COMMONDATA" val="eyJoZGlkIjoiODIyZGQ3MzI3NDI1MDU1N2YyZWRhMDJkZThkMjhmMDYifQ=="/>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13820</Words>
  <Application>WPS 演示</Application>
  <PresentationFormat>全屏显示(4:3)</PresentationFormat>
  <Paragraphs>617</Paragraphs>
  <Slides>116</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47</vt:i4>
      </vt:variant>
      <vt:variant>
        <vt:lpstr>幻灯片标题</vt:lpstr>
      </vt:variant>
      <vt:variant>
        <vt:i4>116</vt:i4>
      </vt:variant>
    </vt:vector>
  </HeadingPairs>
  <TitlesOfParts>
    <vt:vector size="180" baseType="lpstr">
      <vt:lpstr>Arial</vt:lpstr>
      <vt:lpstr>宋体</vt:lpstr>
      <vt:lpstr>Wingdings</vt:lpstr>
      <vt:lpstr>Times New Roman</vt:lpstr>
      <vt:lpstr>微软雅黑</vt:lpstr>
      <vt:lpstr>Arial Unicode MS</vt:lpstr>
      <vt:lpstr>Calibri</vt:lpstr>
      <vt:lpstr>Symbol</vt:lpstr>
      <vt:lpstr>楷体_GB2312</vt:lpstr>
      <vt:lpstr>新宋体</vt:lpstr>
      <vt:lpstr>Webdings</vt:lpstr>
      <vt:lpstr>Wingdings</vt:lpstr>
      <vt:lpstr>Arial Unicode MS</vt:lpstr>
      <vt:lpstr>Cambria Math</vt:lpstr>
      <vt:lpstr>MS Mincho</vt:lpstr>
      <vt:lpstr>Segoe Print</vt:lpstr>
      <vt:lpstr>默认设计模板</vt:lpstr>
      <vt:lpstr>Equation.3</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Equation.DSMT4</vt:lpstr>
      <vt:lpstr>Equation.3</vt:lpstr>
      <vt:lpstr>Equation.3</vt:lpstr>
      <vt:lpstr>Equation.3</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理论分解电压</vt:lpstr>
      <vt:lpstr>PowerPoint 演示文稿</vt:lpstr>
      <vt:lpstr>PowerPoint 演示文稿</vt:lpstr>
      <vt:lpstr>PowerPoint 演示文稿</vt:lpstr>
      <vt:lpstr>PowerPoint 演示文稿</vt:lpstr>
      <vt:lpstr>PowerPoint 演示文稿</vt:lpstr>
      <vt:lpstr>PowerPoint 演示文稿</vt:lpstr>
      <vt:lpstr>5.2 氯碱工业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5.2.2     汞槽电解法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5.2.4   氯碱工业未来发展的展望</vt:lpstr>
      <vt:lpstr>氯碱工业节能措施——氧还原替代氢析出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  锰化合物的电解合成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ys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ys</dc:creator>
  <cp:lastModifiedBy>无际</cp:lastModifiedBy>
  <cp:revision>149</cp:revision>
  <dcterms:created xsi:type="dcterms:W3CDTF">2004-09-02T00:30:00Z</dcterms:created>
  <dcterms:modified xsi:type="dcterms:W3CDTF">2025-12-16T10:45:59Z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1D18540BF45C4DD4BD14339C715378E7</vt:lpwstr>
  </property>
  <property fmtid="{D5CDD505-2E9C-101B-9397-08002B2CF9AE}" pid="3" name="KSOProductBuildVer">
    <vt:lpwstr>2052-12.1.0.24034</vt:lpwstr>
  </property>
</Properties>
</file>
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1" r:id="rId4"/>
  </p:sldMasterIdLst>
  <p:notesMasterIdLst>
    <p:notesMasterId r:id="rId13"/>
  </p:notesMasterIdLst>
  <p:sldIdLst>
    <p:sldId id="400" r:id="rId5"/>
    <p:sldId id="401" r:id="rId6"/>
    <p:sldId id="402" r:id="rId7"/>
    <p:sldId id="403" r:id="rId8"/>
    <p:sldId id="404" r:id="rId9"/>
    <p:sldId id="405" r:id="rId10"/>
    <p:sldId id="406" r:id="rId11"/>
    <p:sldId id="407" r:id="rId12"/>
    <p:sldId id="408" r:id="rId14"/>
    <p:sldId id="409" r:id="rId15"/>
    <p:sldId id="411" r:id="rId16"/>
    <p:sldId id="412" r:id="rId17"/>
    <p:sldId id="413" r:id="rId18"/>
    <p:sldId id="414" r:id="rId19"/>
    <p:sldId id="415" r:id="rId20"/>
    <p:sldId id="416" r:id="rId21"/>
    <p:sldId id="417" r:id="rId22"/>
    <p:sldId id="418" r:id="rId23"/>
    <p:sldId id="419" r:id="rId24"/>
    <p:sldId id="420" r:id="rId25"/>
    <p:sldId id="421" r:id="rId26"/>
    <p:sldId id="422" r:id="rId27"/>
    <p:sldId id="423" r:id="rId28"/>
    <p:sldId id="424" r:id="rId29"/>
    <p:sldId id="449" r:id="rId30"/>
    <p:sldId id="425" r:id="rId31"/>
    <p:sldId id="426" r:id="rId32"/>
    <p:sldId id="427" r:id="rId33"/>
    <p:sldId id="428" r:id="rId34"/>
    <p:sldId id="429" r:id="rId35"/>
    <p:sldId id="430" r:id="rId36"/>
    <p:sldId id="431" r:id="rId37"/>
    <p:sldId id="432" r:id="rId38"/>
    <p:sldId id="433" r:id="rId39"/>
    <p:sldId id="434" r:id="rId40"/>
    <p:sldId id="435" r:id="rId41"/>
    <p:sldId id="436" r:id="rId42"/>
    <p:sldId id="437" r:id="rId43"/>
    <p:sldId id="438" r:id="rId44"/>
    <p:sldId id="439" r:id="rId45"/>
    <p:sldId id="440" r:id="rId46"/>
    <p:sldId id="441" r:id="rId47"/>
    <p:sldId id="442" r:id="rId48"/>
    <p:sldId id="443" r:id="rId49"/>
    <p:sldId id="444" r:id="rId50"/>
    <p:sldId id="445" r:id="rId51"/>
    <p:sldId id="446" r:id="rId52"/>
    <p:sldId id="447" r:id="rId53"/>
    <p:sldId id="448" r:id="rId54"/>
  </p:sldIdLst>
  <p:sldSz cx="9144000" cy="6858000" type="screen4x3"/>
  <p:notesSz cx="6858000" cy="9144000"/>
  <p:custDataLst>
    <p:tags r:id="rId58"/>
  </p:custDataLst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howGuides="1">
      <p:cViewPr varScale="1">
        <p:scale>
          <a:sx n="86" d="100"/>
          <a:sy n="86" d="100"/>
        </p:scale>
        <p:origin x="100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8" Type="http://schemas.openxmlformats.org/officeDocument/2006/relationships/tags" Target="tags/tag4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2.vml.rels><?xml version="1.0" encoding="UTF-8" standalone="yes"?>
<Relationships xmlns="http://schemas.openxmlformats.org/package/2006/relationships"><Relationship Id="rId5" Type="http://schemas.openxmlformats.org/officeDocument/2006/relationships/image" Target="../media/image29.wmf"/><Relationship Id="rId4" Type="http://schemas.openxmlformats.org/officeDocument/2006/relationships/image" Target="../media/image28.wmf"/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7" Type="http://schemas.openxmlformats.org/officeDocument/2006/relationships/image" Target="../media/image53.wmf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image" Target="../media/image5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r>
              <a:rPr lang="zh-CN" altLang="en-US">
                <a:latin typeface="宋体" panose="02010600030101010101" pitchFamily="2" charset="-122"/>
                <a:sym typeface="+mn-ea"/>
              </a:rPr>
              <a:t>储备电池，储备期间活性物质不与电解质直接接触，使用时注入电解液或将电解质融化，从而使电池处于待放电状态。海水激活的</a:t>
            </a:r>
            <a:r>
              <a:rPr lang="en-US" altLang="zh-CN">
                <a:latin typeface="宋体" panose="02010600030101010101" pitchFamily="2" charset="-122"/>
                <a:sym typeface="+mn-ea"/>
              </a:rPr>
              <a:t>Mg-Agcl</a:t>
            </a:r>
            <a:r>
              <a:rPr lang="zh-CN" altLang="en-US">
                <a:latin typeface="宋体" panose="02010600030101010101" pitchFamily="2" charset="-122"/>
                <a:sym typeface="+mn-ea"/>
              </a:rPr>
              <a:t>电池，电解液激活的</a:t>
            </a:r>
            <a:r>
              <a:rPr lang="en-US" altLang="zh-CN">
                <a:latin typeface="宋体" panose="02010600030101010101" pitchFamily="2" charset="-122"/>
                <a:sym typeface="+mn-ea"/>
              </a:rPr>
              <a:t>Zn-AgO</a:t>
            </a:r>
            <a:r>
              <a:rPr lang="zh-CN" altLang="en-US">
                <a:latin typeface="宋体" panose="02010600030101010101" pitchFamily="2" charset="-122"/>
                <a:sym typeface="+mn-ea"/>
              </a:rPr>
              <a:t>储备电池，随时激活随时使用，储存时间长</a:t>
            </a:r>
            <a:endParaRPr lang="zh-CN" altLang="en-US"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open circuit voltage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93D1E3-BC8B-459A-91D8-C9C9D76C810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470407-AF80-42EE-9E88-096AED7EDE6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773238"/>
            <a:ext cx="4194175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0425" y="1773238"/>
            <a:ext cx="4194175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536604-16F5-4F2E-B2C1-D315E85778F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A95823-63E7-4D39-BEAE-D36D7F9D0EF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2D8770-DC68-4CDE-80BE-822D3F37CAE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BB8EB0-C484-4988-B5B9-DAAF3FACE38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A547E9-9E2F-47E1-898F-576B3C395FE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EAE90E-9424-4417-A975-B125D1974EE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9A4FD4-0D3F-421F-8F6C-24ED616F281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381000"/>
            <a:ext cx="2139950" cy="56626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381000"/>
            <a:ext cx="6270625" cy="56626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27B672-4883-4B2F-9D8F-570AA4EFAAB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21709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752600"/>
            <a:ext cx="4194175" cy="4270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194175" cy="4270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381000"/>
            <a:ext cx="2135187" cy="5641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381000"/>
            <a:ext cx="6253163" cy="5641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zzuli-蓝字-英文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6237288"/>
            <a:ext cx="48672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 descr="zzuli_x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3" y="0"/>
            <a:ext cx="1322387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709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709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3BCCF4D-A3A1-4A62-8A3A-1EA907E5A15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752600"/>
            <a:ext cx="4194175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194175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381000"/>
            <a:ext cx="2135187" cy="5641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381000"/>
            <a:ext cx="6253163" cy="5641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3" Type="http://schemas.openxmlformats.org/officeDocument/2006/relationships/theme" Target="../theme/theme3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1">
            <a:biLevel thresh="25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3810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4339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23850" y="1773238"/>
            <a:ext cx="8540750" cy="427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172200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172200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E812606-264D-404D-95EA-FC494B19EC9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>
        <p:tmplLst>
          <p:tmpl lvl="1">
            <p:tnLst>
              <p:par>
                <p:cTn presetID="14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3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4339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4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3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4339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4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3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4339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4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3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4339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4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3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433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楷体_GB2312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楷体_GB2312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楷体_GB2312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楷体_GB2312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5000"/>
        <a:buChar char="•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>
            <a:biLevel thresh="25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381000"/>
            <a:ext cx="85407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6067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752600"/>
            <a:ext cx="8540750" cy="427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15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>
            <a:biLevel thresh="25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3810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752600"/>
            <a:ext cx="8540750" cy="427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500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5.png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9.jpeg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image" Target="../media/image2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2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1.wmf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.bin"/><Relationship Id="rId8" Type="http://schemas.openxmlformats.org/officeDocument/2006/relationships/image" Target="../media/image28.w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2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25.wmf"/><Relationship Id="rId12" Type="http://schemas.openxmlformats.org/officeDocument/2006/relationships/vmlDrawing" Target="../drawings/vmlDrawing2.vml"/><Relationship Id="rId11" Type="http://schemas.openxmlformats.org/officeDocument/2006/relationships/slideLayout" Target="../slideLayouts/slideLayout25.xml"/><Relationship Id="rId10" Type="http://schemas.openxmlformats.org/officeDocument/2006/relationships/image" Target="../media/image29.wmf"/><Relationship Id="rId1" Type="http://schemas.openxmlformats.org/officeDocument/2006/relationships/oleObject" Target="../embeddings/oleObject5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31.png"/><Relationship Id="rId1" Type="http://schemas.openxmlformats.org/officeDocument/2006/relationships/tags" Target="../tags/tag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33.jpeg"/><Relationship Id="rId1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34.wmf"/><Relationship Id="rId1" Type="http://schemas.openxmlformats.org/officeDocument/2006/relationships/oleObject" Target="../embeddings/oleObject10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35.wmf"/><Relationship Id="rId1" Type="http://schemas.openxmlformats.org/officeDocument/2006/relationships/oleObject" Target="../embeddings/oleObject11.bin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3.xml"/><Relationship Id="rId4" Type="http://schemas.openxmlformats.org/officeDocument/2006/relationships/image" Target="../media/image37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36.wmf"/><Relationship Id="rId1" Type="http://schemas.openxmlformats.org/officeDocument/2006/relationships/oleObject" Target="../embeddings/oleObject12.bin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38.wmf"/><Relationship Id="rId1" Type="http://schemas.openxmlformats.org/officeDocument/2006/relationships/oleObject" Target="../embeddings/oleObject14.bin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39.wmf"/><Relationship Id="rId1" Type="http://schemas.openxmlformats.org/officeDocument/2006/relationships/oleObject" Target="../embeddings/oleObject15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40.wmf"/><Relationship Id="rId1" Type="http://schemas.openxmlformats.org/officeDocument/2006/relationships/oleObject" Target="../embeddings/oleObject16.bin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23.xml"/><Relationship Id="rId4" Type="http://schemas.openxmlformats.org/officeDocument/2006/relationships/image" Target="../media/image42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41.wmf"/><Relationship Id="rId1" Type="http://schemas.openxmlformats.org/officeDocument/2006/relationships/oleObject" Target="../embeddings/oleObject17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23.x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44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43.wmf"/><Relationship Id="rId1" Type="http://schemas.openxmlformats.org/officeDocument/2006/relationships/oleObject" Target="../embeddings/oleObject19.bin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46.wmf"/><Relationship Id="rId1" Type="http://schemas.openxmlformats.org/officeDocument/2006/relationships/oleObject" Target="../embeddings/oleObject22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wmf"/><Relationship Id="rId8" Type="http://schemas.openxmlformats.org/officeDocument/2006/relationships/oleObject" Target="../embeddings/oleObject26.bin"/><Relationship Id="rId7" Type="http://schemas.openxmlformats.org/officeDocument/2006/relationships/image" Target="../media/image49.wmf"/><Relationship Id="rId6" Type="http://schemas.openxmlformats.org/officeDocument/2006/relationships/oleObject" Target="../embeddings/oleObject25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24.bin"/><Relationship Id="rId3" Type="http://schemas.openxmlformats.org/officeDocument/2006/relationships/image" Target="../media/image47.wmf"/><Relationship Id="rId2" Type="http://schemas.openxmlformats.org/officeDocument/2006/relationships/oleObject" Target="../embeddings/oleObject23.bin"/><Relationship Id="rId19" Type="http://schemas.openxmlformats.org/officeDocument/2006/relationships/vmlDrawing" Target="../drawings/vmlDrawing12.vml"/><Relationship Id="rId18" Type="http://schemas.openxmlformats.org/officeDocument/2006/relationships/slideLayout" Target="../slideLayouts/slideLayout23.xml"/><Relationship Id="rId17" Type="http://schemas.openxmlformats.org/officeDocument/2006/relationships/image" Target="../media/image54.wmf"/><Relationship Id="rId16" Type="http://schemas.openxmlformats.org/officeDocument/2006/relationships/oleObject" Target="../embeddings/oleObject30.bin"/><Relationship Id="rId15" Type="http://schemas.openxmlformats.org/officeDocument/2006/relationships/image" Target="../media/image53.wmf"/><Relationship Id="rId14" Type="http://schemas.openxmlformats.org/officeDocument/2006/relationships/oleObject" Target="../embeddings/oleObject29.bin"/><Relationship Id="rId13" Type="http://schemas.openxmlformats.org/officeDocument/2006/relationships/image" Target="../media/image52.wmf"/><Relationship Id="rId12" Type="http://schemas.openxmlformats.org/officeDocument/2006/relationships/oleObject" Target="../embeddings/oleObject28.bin"/><Relationship Id="rId11" Type="http://schemas.openxmlformats.org/officeDocument/2006/relationships/image" Target="../media/image51.wmf"/><Relationship Id="rId10" Type="http://schemas.openxmlformats.org/officeDocument/2006/relationships/oleObject" Target="../embeddings/oleObject27.bin"/><Relationship Id="rId1" Type="http://schemas.openxmlformats.org/officeDocument/2006/relationships/tags" Target="../tags/tag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3.vml"/><Relationship Id="rId7" Type="http://schemas.openxmlformats.org/officeDocument/2006/relationships/slideLayout" Target="../slideLayouts/slideLayout23.xml"/><Relationship Id="rId6" Type="http://schemas.openxmlformats.org/officeDocument/2006/relationships/image" Target="../media/image57.e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56.e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55.emf"/><Relationship Id="rId1" Type="http://schemas.openxmlformats.org/officeDocument/2006/relationships/oleObject" Target="../embeddings/oleObject31.bin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685800" y="1125538"/>
            <a:ext cx="7772400" cy="2474912"/>
          </a:xfrm>
          <a:noFill/>
        </p:spPr>
        <p:txBody>
          <a:bodyPr/>
          <a:lstStyle/>
          <a:p>
            <a:r>
              <a:rPr lang="zh-CN" altLang="en-US" sz="7000" b="1">
                <a:solidFill>
                  <a:srgbClr val="0000FF"/>
                </a:solidFill>
                <a:ea typeface="微软雅黑" panose="020B0503020204020204" charset="-122"/>
              </a:rPr>
              <a:t>第三章</a:t>
            </a:r>
            <a:r>
              <a:rPr lang="en-US" altLang="zh-CN" sz="7000" b="1">
                <a:solidFill>
                  <a:srgbClr val="0000FF"/>
                </a:solidFill>
                <a:ea typeface="微软雅黑" panose="020B0503020204020204" charset="-122"/>
              </a:rPr>
              <a:t> </a:t>
            </a:r>
            <a:br>
              <a:rPr lang="en-US" altLang="zh-CN" sz="7000" b="1">
                <a:solidFill>
                  <a:srgbClr val="0000FF"/>
                </a:solidFill>
                <a:ea typeface="微软雅黑" panose="020B0503020204020204" charset="-122"/>
              </a:rPr>
            </a:br>
            <a:r>
              <a:rPr lang="zh-CN" altLang="en-US" sz="7000" b="1">
                <a:solidFill>
                  <a:srgbClr val="0000FF"/>
                </a:solidFill>
                <a:ea typeface="微软雅黑" panose="020B0503020204020204" charset="-122"/>
              </a:rPr>
              <a:t>化  学  电  源</a:t>
            </a:r>
            <a:endParaRPr lang="zh-CN" altLang="en-US" sz="7000" b="1">
              <a:solidFill>
                <a:srgbClr val="0000F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7300" b="1">
                <a:solidFill>
                  <a:srgbClr val="0000FF"/>
                </a:solidFill>
                <a:ea typeface="微软雅黑" panose="020B0503020204020204" charset="-122"/>
              </a:rPr>
              <a:t>3.1.1 </a:t>
            </a:r>
            <a:r>
              <a:rPr lang="zh-CN" altLang="en-US" sz="7300" b="1">
                <a:solidFill>
                  <a:srgbClr val="0000FF"/>
                </a:solidFill>
                <a:ea typeface="微软雅黑" panose="020B0503020204020204" charset="-122"/>
              </a:rPr>
              <a:t>绪    论</a:t>
            </a:r>
            <a:endParaRPr lang="zh-CN" altLang="en-US" sz="7300" b="1">
              <a:solidFill>
                <a:srgbClr val="0000FF"/>
              </a:solidFill>
              <a:ea typeface="微软雅黑" panose="020B0503020204020204" charset="-122"/>
            </a:endParaRPr>
          </a:p>
        </p:txBody>
      </p:sp>
      <p:sp>
        <p:nvSpPr>
          <p:cNvPr id="1741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95605" y="1988503"/>
            <a:ext cx="8229600" cy="4789487"/>
          </a:xfrm>
        </p:spPr>
        <p:txBody>
          <a:bodyPr/>
          <a:lstStyle/>
          <a:p>
            <a:pPr marL="812800" indent="-812800">
              <a:lnSpc>
                <a:spcPct val="90000"/>
              </a:lnSpc>
            </a:pPr>
            <a:r>
              <a:rPr lang="zh-CN" altLang="en-US" sz="3600" b="1"/>
              <a:t>主要内容：</a:t>
            </a:r>
            <a:endParaRPr lang="zh-CN" altLang="en-US" sz="3600"/>
          </a:p>
          <a:p>
            <a:pPr marL="1143000" lvl="1" indent="-685800">
              <a:lnSpc>
                <a:spcPct val="90000"/>
              </a:lnSpc>
            </a:pPr>
            <a:r>
              <a:rPr lang="zh-CN" altLang="en-US" sz="2900"/>
              <a:t>化学电源的严格定义</a:t>
            </a:r>
            <a:endParaRPr lang="zh-CN" altLang="en-US" sz="2900"/>
          </a:p>
          <a:p>
            <a:pPr marL="1143000" lvl="1" indent="-685800">
              <a:lnSpc>
                <a:spcPct val="90000"/>
              </a:lnSpc>
            </a:pPr>
            <a:r>
              <a:rPr lang="zh-CN" altLang="en-US" sz="2900">
                <a:sym typeface="+mn-ea"/>
              </a:rPr>
              <a:t>化学电源发展简史</a:t>
            </a:r>
            <a:endParaRPr lang="zh-CN" altLang="en-US" sz="2900"/>
          </a:p>
          <a:p>
            <a:pPr marL="1143000" lvl="1" indent="-685800">
              <a:lnSpc>
                <a:spcPct val="90000"/>
              </a:lnSpc>
            </a:pPr>
            <a:r>
              <a:rPr lang="zh-CN" altLang="en-US" sz="2900"/>
              <a:t>化学电源的组成</a:t>
            </a:r>
            <a:endParaRPr lang="zh-CN" altLang="en-US" sz="2900"/>
          </a:p>
          <a:p>
            <a:pPr marL="1143000" lvl="1" indent="-685800">
              <a:lnSpc>
                <a:spcPct val="90000"/>
              </a:lnSpc>
            </a:pPr>
            <a:r>
              <a:rPr lang="zh-CN" altLang="en-US" sz="2900"/>
              <a:t>化学电源的特点和应用</a:t>
            </a:r>
            <a:endParaRPr lang="zh-CN" altLang="en-US" sz="2900"/>
          </a:p>
          <a:p>
            <a:pPr marL="1143000" lvl="1" indent="-685800">
              <a:lnSpc>
                <a:spcPct val="90000"/>
              </a:lnSpc>
            </a:pPr>
            <a:r>
              <a:rPr lang="zh-CN" altLang="en-US" sz="2900"/>
              <a:t>化学电源的发展方向</a:t>
            </a:r>
            <a:endParaRPr lang="zh-CN" altLang="en-US" sz="2900"/>
          </a:p>
          <a:p>
            <a:pPr marL="1143000" lvl="1" indent="-685800">
              <a:lnSpc>
                <a:spcPct val="90000"/>
              </a:lnSpc>
            </a:pPr>
            <a:endParaRPr lang="zh-CN" altLang="en-US" sz="2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755650" y="1125538"/>
            <a:ext cx="7772400" cy="3608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zh-CN" altLang="en-US" sz="4000" b="1">
                <a:solidFill>
                  <a:srgbClr val="660033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一、化学电源</a:t>
            </a:r>
            <a:endParaRPr lang="zh-CN" altLang="en-US" sz="4000" b="1">
              <a:solidFill>
                <a:srgbClr val="660033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sz="2000" b="1">
              <a:ea typeface="微软雅黑" panose="020B0503020204020204" charset="-122"/>
              <a:cs typeface="Times New Roman" panose="02020603050405020304" pitchFamily="18" charset="0"/>
            </a:endParaRPr>
          </a:p>
          <a:p>
            <a:r>
              <a:rPr lang="zh-CN" altLang="en-US" sz="4000" b="1">
                <a:ea typeface="微软雅黑" panose="020B0503020204020204" charset="-122"/>
                <a:cs typeface="Times New Roman" panose="02020603050405020304" pitchFamily="18" charset="0"/>
              </a:rPr>
              <a:t>化学能        转换为电能的装置。</a:t>
            </a:r>
            <a:endParaRPr lang="zh-CN" altLang="en-US" sz="4000" b="1"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>
                <a:ea typeface="微软雅黑" panose="020B0503020204020204" charset="-122"/>
                <a:cs typeface="Times New Roman" panose="02020603050405020304" pitchFamily="18" charset="0"/>
              </a:rPr>
              <a:t>   </a:t>
            </a:r>
            <a:r>
              <a:rPr lang="zh-CN" altLang="en-US">
                <a:ea typeface="微软雅黑" panose="020B0503020204020204" charset="-122"/>
                <a:cs typeface="Times New Roman" panose="02020603050405020304" pitchFamily="18" charset="0"/>
              </a:rPr>
              <a:t>通常也称为电池。</a:t>
            </a:r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2667000" y="289560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/>
            <a:endParaRPr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2700338" y="2205038"/>
            <a:ext cx="12350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/>
            <a:r>
              <a:rPr lang="zh-CN" altLang="en-US" sz="3600" b="1" u="sng">
                <a:solidFill>
                  <a:srgbClr val="660033"/>
                </a:solidFill>
                <a:latin typeface="Times New Roman" panose="02020603050405020304" pitchFamily="18" charset="0"/>
              </a:rPr>
              <a:t>直接</a:t>
            </a:r>
            <a:endParaRPr lang="zh-CN" altLang="en-US" sz="3600" b="1" u="sng">
              <a:solidFill>
                <a:srgbClr val="660033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40" dur="1500" autoRev="1" fill="hold"/>
                                        <p:tgtEl>
                                          <p:spTgt spid="30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1" dur="1500" autoRev="1" fill="hold"/>
                                        <p:tgtEl>
                                          <p:spTgt spid="30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" dur="1500" autoRev="1" fill="hold"/>
                                        <p:tgtEl>
                                          <p:spTgt spid="30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1500" autoRev="1" fill="hold"/>
                                        <p:tgtEl>
                                          <p:spTgt spid="30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47" dur="1500" autoRev="1" fill="hold"/>
                                        <p:tgtEl>
                                          <p:spTgt spid="30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8" dur="1500" autoRev="1" fill="hold"/>
                                        <p:tgtEl>
                                          <p:spTgt spid="30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1500" autoRev="1" fill="hold"/>
                                        <p:tgtEl>
                                          <p:spTgt spid="30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1500" autoRev="1" fill="hold"/>
                                        <p:tgtEl>
                                          <p:spTgt spid="30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54" dur="1500" autoRev="1" fill="hold"/>
                                        <p:tgtEl>
                                          <p:spTgt spid="3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5" dur="1500" autoRev="1" fill="hold"/>
                                        <p:tgtEl>
                                          <p:spTgt spid="3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" dur="1500" autoRev="1" fill="hold"/>
                                        <p:tgtEl>
                                          <p:spTgt spid="3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1500" autoRev="1" fill="hold"/>
                                        <p:tgtEl>
                                          <p:spTgt spid="3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" grpId="0" build="p"/>
      <p:bldP spid="3079" grpId="0" build="allAtOnce"/>
      <p:bldP spid="3079" grpId="1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8134350" cy="1143000"/>
          </a:xfrm>
          <a:noFill/>
        </p:spPr>
        <p:txBody>
          <a:bodyPr/>
          <a:lstStyle/>
          <a:p>
            <a:r>
              <a:rPr lang="zh-CN" altLang="en-US" b="1">
                <a:solidFill>
                  <a:srgbClr val="660033"/>
                </a:solidFill>
                <a:latin typeface="Arial" panose="020B060402020202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二、化学电源的发展简史</a:t>
            </a:r>
            <a:endParaRPr lang="zh-CN" altLang="en-US" b="1">
              <a:solidFill>
                <a:srgbClr val="660033"/>
              </a:solidFill>
              <a:latin typeface="Arial" panose="020B0604020202020204" pitchFamily="34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2293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327150"/>
            <a:ext cx="8207375" cy="5029200"/>
          </a:xfrm>
          <a:noFill/>
        </p:spPr>
        <p:txBody>
          <a:bodyPr/>
          <a:lstStyle/>
          <a:p>
            <a:r>
              <a:rPr lang="en-US" altLang="zh-CN" sz="2800"/>
              <a:t> 1789</a:t>
            </a:r>
            <a:r>
              <a:rPr lang="zh-CN" altLang="en-US" sz="2800"/>
              <a:t>年，意大利生物学家</a:t>
            </a:r>
            <a:r>
              <a:rPr lang="en-US" altLang="zh-CN" sz="2800"/>
              <a:t>Galvani</a:t>
            </a:r>
            <a:r>
              <a:rPr lang="zh-CN" altLang="en-US" sz="2800"/>
              <a:t>首先发现了所谓的生物电</a:t>
            </a:r>
            <a:endParaRPr lang="zh-CN" altLang="en-US" sz="2800"/>
          </a:p>
          <a:p>
            <a:r>
              <a:rPr lang="zh-CN" altLang="en-US" sz="2800"/>
              <a:t> </a:t>
            </a:r>
            <a:r>
              <a:rPr lang="en-US" altLang="zh-CN" sz="2800"/>
              <a:t>1800</a:t>
            </a:r>
            <a:r>
              <a:rPr lang="zh-CN" altLang="en-US" sz="2800"/>
              <a:t>年，意大利的伏特（</a:t>
            </a:r>
            <a:r>
              <a:rPr lang="en-US" altLang="zh-CN" sz="2800"/>
              <a:t>Volta</a:t>
            </a:r>
            <a:r>
              <a:rPr lang="zh-CN" altLang="en-US" sz="2800"/>
              <a:t>）制造出了世界上第一个真正的化学电源，也称伏打电堆。</a:t>
            </a:r>
            <a:endParaRPr lang="zh-CN" altLang="en-US" sz="2800"/>
          </a:p>
          <a:p>
            <a:r>
              <a:rPr lang="zh-CN" altLang="en-US" sz="2800"/>
              <a:t> </a:t>
            </a:r>
            <a:r>
              <a:rPr lang="en-US" altLang="zh-CN" sz="2800"/>
              <a:t>1859</a:t>
            </a:r>
            <a:r>
              <a:rPr lang="zh-CN" altLang="en-US" sz="2800"/>
              <a:t>年，法国的普兰特（</a:t>
            </a:r>
            <a:r>
              <a:rPr lang="en-US" altLang="zh-CN" sz="2800"/>
              <a:t>plante</a:t>
            </a:r>
            <a:r>
              <a:rPr lang="zh-CN" altLang="en-US" sz="2800"/>
              <a:t>）发明的铅酸蓄电池</a:t>
            </a:r>
            <a:endParaRPr lang="zh-CN" altLang="en-US" sz="2800"/>
          </a:p>
          <a:p>
            <a:r>
              <a:rPr lang="en-US" altLang="zh-CN" sz="2800"/>
              <a:t>1868</a:t>
            </a:r>
            <a:r>
              <a:rPr lang="zh-CN" altLang="en-US" sz="2800"/>
              <a:t>年法国的勒克朗谢发明的锌</a:t>
            </a:r>
            <a:r>
              <a:rPr lang="en-US" altLang="zh-CN" sz="2800"/>
              <a:t>—</a:t>
            </a:r>
            <a:r>
              <a:rPr lang="zh-CN" altLang="en-US" sz="2800"/>
              <a:t>二氧化锰电池；</a:t>
            </a:r>
            <a:endParaRPr lang="zh-CN" altLang="en-US" sz="2800"/>
          </a:p>
          <a:p>
            <a:r>
              <a:rPr lang="en-US" altLang="zh-CN" sz="2800"/>
              <a:t>1899</a:t>
            </a:r>
            <a:r>
              <a:rPr lang="zh-CN" altLang="en-US" sz="2800"/>
              <a:t>年杨格尔（</a:t>
            </a:r>
            <a:r>
              <a:rPr lang="en-US" altLang="zh-CN" sz="2800"/>
              <a:t>Junguer</a:t>
            </a:r>
            <a:r>
              <a:rPr lang="zh-CN" altLang="en-US" sz="2800"/>
              <a:t>）发明的镉镍电池；</a:t>
            </a:r>
            <a:endParaRPr lang="zh-CN" altLang="en-US" sz="2800"/>
          </a:p>
          <a:p>
            <a:r>
              <a:rPr lang="en-US" altLang="zh-CN" sz="2800"/>
              <a:t>1901</a:t>
            </a:r>
            <a:r>
              <a:rPr lang="zh-CN" altLang="en-US" sz="2800"/>
              <a:t>年爱迪生（</a:t>
            </a:r>
            <a:r>
              <a:rPr lang="en-US" altLang="zh-CN" sz="2800"/>
              <a:t>Edison</a:t>
            </a:r>
            <a:r>
              <a:rPr lang="zh-CN" altLang="en-US" sz="2800"/>
              <a:t>）发明的铁镍电池</a:t>
            </a:r>
            <a:endParaRPr lang="zh-CN" altLang="en-US" sz="2800"/>
          </a:p>
          <a:p>
            <a:pPr>
              <a:lnSpc>
                <a:spcPct val="90000"/>
              </a:lnSpc>
            </a:pPr>
            <a:endParaRPr lang="en-US" altLang="zh-CN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188" y="979488"/>
            <a:ext cx="8281987" cy="4897437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/>
              <a:t>二次世界大战期间出现了</a:t>
            </a:r>
            <a:r>
              <a:rPr lang="en-US" altLang="zh-CN"/>
              <a:t>Zn</a:t>
            </a:r>
            <a:r>
              <a:rPr lang="zh-CN" altLang="en-US"/>
              <a:t>－</a:t>
            </a:r>
            <a:r>
              <a:rPr lang="en-US" altLang="zh-CN"/>
              <a:t>HgO</a:t>
            </a:r>
            <a:r>
              <a:rPr lang="zh-CN" altLang="en-US"/>
              <a:t>电池</a:t>
            </a:r>
            <a:endParaRPr lang="zh-CN" altLang="en-US"/>
          </a:p>
          <a:p>
            <a:pPr>
              <a:lnSpc>
                <a:spcPct val="90000"/>
              </a:lnSpc>
            </a:pPr>
            <a:r>
              <a:rPr lang="zh-CN" altLang="en-US"/>
              <a:t>烧结式</a:t>
            </a:r>
            <a:r>
              <a:rPr lang="en-US" altLang="zh-CN"/>
              <a:t>Cd</a:t>
            </a:r>
            <a:r>
              <a:rPr lang="zh-CN" altLang="en-US"/>
              <a:t>－</a:t>
            </a:r>
            <a:r>
              <a:rPr lang="en-US" altLang="zh-CN"/>
              <a:t>Ni</a:t>
            </a:r>
            <a:r>
              <a:rPr lang="zh-CN" altLang="en-US"/>
              <a:t>电池</a:t>
            </a:r>
            <a:endParaRPr lang="zh-CN" altLang="en-US"/>
          </a:p>
          <a:p>
            <a:pPr>
              <a:lnSpc>
                <a:spcPct val="90000"/>
              </a:lnSpc>
            </a:pPr>
            <a:r>
              <a:rPr lang="en-US" altLang="zh-CN"/>
              <a:t>Zn</a:t>
            </a:r>
            <a:r>
              <a:rPr lang="zh-CN" altLang="en-US"/>
              <a:t>－</a:t>
            </a:r>
            <a:r>
              <a:rPr lang="en-US" altLang="zh-CN"/>
              <a:t>AgO</a:t>
            </a:r>
            <a:r>
              <a:rPr lang="zh-CN" altLang="en-US"/>
              <a:t>电池，</a:t>
            </a:r>
            <a:r>
              <a:rPr lang="en-US" altLang="zh-CN"/>
              <a:t>1943</a:t>
            </a:r>
            <a:r>
              <a:rPr lang="zh-CN" altLang="en-US"/>
              <a:t>年法国的安德烈使之实用</a:t>
            </a:r>
            <a:endParaRPr lang="zh-CN" altLang="en-US"/>
          </a:p>
          <a:p>
            <a:pPr>
              <a:lnSpc>
                <a:spcPct val="90000"/>
              </a:lnSpc>
            </a:pPr>
            <a:r>
              <a:rPr lang="en-US" altLang="zh-CN"/>
              <a:t>50</a:t>
            </a:r>
            <a:r>
              <a:rPr lang="zh-CN" altLang="en-US"/>
              <a:t>－</a:t>
            </a:r>
            <a:r>
              <a:rPr lang="en-US" altLang="zh-CN"/>
              <a:t>60</a:t>
            </a:r>
            <a:r>
              <a:rPr lang="zh-CN" altLang="en-US"/>
              <a:t>年代又研制出了燃料电池、</a:t>
            </a:r>
            <a:r>
              <a:rPr lang="en-US" altLang="zh-CN"/>
              <a:t>Na</a:t>
            </a:r>
            <a:r>
              <a:rPr lang="zh-CN" altLang="en-US"/>
              <a:t>－</a:t>
            </a:r>
            <a:r>
              <a:rPr lang="en-US" altLang="zh-CN"/>
              <a:t>S</a:t>
            </a:r>
            <a:r>
              <a:rPr lang="zh-CN" altLang="en-US"/>
              <a:t>电池、大功率的金属空气电池等等。</a:t>
            </a:r>
            <a:endParaRPr lang="zh-CN" altLang="en-US"/>
          </a:p>
          <a:p>
            <a:pPr>
              <a:lnSpc>
                <a:spcPct val="90000"/>
              </a:lnSpc>
            </a:pPr>
            <a:r>
              <a:rPr lang="en-US" altLang="zh-CN"/>
              <a:t>70</a:t>
            </a:r>
            <a:r>
              <a:rPr lang="zh-CN" altLang="en-US"/>
              <a:t>年代非水溶液的锂电池，</a:t>
            </a:r>
            <a:endParaRPr lang="zh-CN" altLang="en-US"/>
          </a:p>
          <a:p>
            <a:pPr>
              <a:lnSpc>
                <a:spcPct val="90000"/>
              </a:lnSpc>
            </a:pPr>
            <a:r>
              <a:rPr lang="en-US" altLang="zh-CN"/>
              <a:t>76</a:t>
            </a:r>
            <a:r>
              <a:rPr lang="zh-CN" altLang="en-US"/>
              <a:t>年氢镍电池</a:t>
            </a:r>
            <a:endParaRPr lang="zh-CN" altLang="en-US"/>
          </a:p>
          <a:p>
            <a:pPr>
              <a:lnSpc>
                <a:spcPct val="90000"/>
              </a:lnSpc>
            </a:pPr>
            <a:r>
              <a:rPr lang="en-US" altLang="zh-CN"/>
              <a:t>90</a:t>
            </a:r>
            <a:r>
              <a:rPr lang="zh-CN" altLang="en-US"/>
              <a:t>年代的锂离子电池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/>
          <p:cNvSpPr>
            <a:spLocks noGrp="1" noChangeArrowheads="1"/>
          </p:cNvSpPr>
          <p:nvPr>
            <p:ph type="title"/>
          </p:nvPr>
        </p:nvSpPr>
        <p:spPr>
          <a:xfrm>
            <a:off x="312738" y="511175"/>
            <a:ext cx="8520112" cy="914400"/>
          </a:xfrm>
          <a:noFill/>
        </p:spPr>
        <p:txBody>
          <a:bodyPr/>
          <a:lstStyle/>
          <a:p>
            <a:pPr eaLnBrk="1" hangingPunct="1"/>
            <a:r>
              <a:rPr lang="zh-CN" altLang="en-US" sz="4500" b="1">
                <a:solidFill>
                  <a:srgbClr val="660033"/>
                </a:solidFill>
                <a:latin typeface="Arial" panose="020B0604020202020204" pitchFamily="34" charset="0"/>
                <a:ea typeface="微软雅黑" panose="020B0503020204020204" charset="-122"/>
              </a:rPr>
              <a:t>三、化学电源的组成</a:t>
            </a:r>
            <a:endParaRPr lang="zh-CN" altLang="en-US" sz="4500" b="1">
              <a:solidFill>
                <a:srgbClr val="660033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23850" y="1484313"/>
            <a:ext cx="8064500" cy="3313112"/>
          </a:xfrm>
          <a:noFill/>
        </p:spPr>
        <p:txBody>
          <a:bodyPr/>
          <a:lstStyle/>
          <a:p>
            <a:pPr marL="812800" indent="-812800" eaLnBrk="1" hangingPunct="1"/>
            <a:r>
              <a:rPr lang="zh-CN" altLang="en-US" b="1"/>
              <a:t>构成电池的必要条件：</a:t>
            </a:r>
            <a:endParaRPr lang="zh-CN" altLang="en-US" b="1"/>
          </a:p>
          <a:p>
            <a:pPr marL="1143000" lvl="1" indent="-685800" eaLnBrk="1" hangingPunct="1">
              <a:lnSpc>
                <a:spcPct val="120000"/>
              </a:lnSpc>
            </a:pPr>
            <a:r>
              <a:rPr lang="zh-CN" altLang="en-US">
                <a:latin typeface="宋体" panose="02010600030101010101" pitchFamily="2" charset="-122"/>
              </a:rPr>
              <a:t>化学反应中的两个过程必须分隔在两个区域进行。（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区别于一般的化学反应</a:t>
            </a:r>
            <a:r>
              <a:rPr lang="zh-CN" altLang="en-US">
                <a:latin typeface="宋体" panose="02010600030101010101" pitchFamily="2" charset="-122"/>
              </a:rPr>
              <a:t>）</a:t>
            </a:r>
            <a:endParaRPr lang="zh-CN" altLang="en-US">
              <a:latin typeface="宋体" panose="02010600030101010101" pitchFamily="2" charset="-122"/>
            </a:endParaRPr>
          </a:p>
          <a:p>
            <a:pPr marL="1143000" lvl="1" indent="-685800" eaLnBrk="1" hangingPunct="1">
              <a:lnSpc>
                <a:spcPct val="120000"/>
              </a:lnSpc>
            </a:pPr>
            <a:r>
              <a:rPr lang="zh-CN" altLang="en-US">
                <a:latin typeface="宋体" panose="02010600030101010101" pitchFamily="2" charset="-122"/>
              </a:rPr>
              <a:t>物质在发生氧化还原反应时，电子必须经过外电路。（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区别于腐蚀电池</a:t>
            </a:r>
            <a:r>
              <a:rPr lang="zh-CN" altLang="en-US">
                <a:latin typeface="宋体" panose="02010600030101010101" pitchFamily="2" charset="-122"/>
              </a:rPr>
              <a:t> ）</a:t>
            </a:r>
            <a:endParaRPr lang="zh-CN" altLang="en-US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68313" y="1412875"/>
            <a:ext cx="8229600" cy="45307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Arial" panose="020B0604020202020204" pitchFamily="34" charset="0"/>
                <a:ea typeface="微软雅黑" panose="020B0503020204020204" charset="-122"/>
              </a:rPr>
              <a:t>化学电源的基本组成部分及其作用：</a:t>
            </a:r>
            <a:endParaRPr lang="zh-CN" altLang="en-US" b="1">
              <a:latin typeface="Arial" panose="020B0604020202020204" pitchFamily="34" charset="0"/>
              <a:ea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</a:rPr>
              <a:t>电极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（正极、负极）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</a:rPr>
              <a:t>电解质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</a:rPr>
              <a:t>隔膜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</a:rPr>
              <a:t>外壳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左大括号 2"/>
          <p:cNvSpPr/>
          <p:nvPr/>
        </p:nvSpPr>
        <p:spPr>
          <a:xfrm>
            <a:off x="4067810" y="2564765"/>
            <a:ext cx="360045" cy="935990"/>
          </a:xfrm>
          <a:prstGeom prst="leftBrace">
            <a:avLst/>
          </a:prstGeom>
          <a:ln w="31750">
            <a:solidFill>
              <a:schemeClr val="tx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43755" y="2348865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</a:rPr>
              <a:t>活性物质，或电活性物质</a:t>
            </a:r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4643755" y="3229610"/>
            <a:ext cx="38525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</a:rPr>
              <a:t>集流器（集电器），含惰性电极</a:t>
            </a:r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Rot="1" noChangeArrowheads="1"/>
          </p:cNvSpPr>
          <p:nvPr/>
        </p:nvSpPr>
        <p:spPr bwMode="auto">
          <a:xfrm>
            <a:off x="179070" y="692468"/>
            <a:ext cx="8591550" cy="4764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1</a:t>
            </a:r>
            <a:r>
              <a:rPr lang="zh-CN" altLang="en-US" sz="2800" b="1" kern="0" dirty="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、正极和负极</a:t>
            </a:r>
            <a:r>
              <a:rPr lang="zh-CN" altLang="en-US" sz="2800" b="1" kern="0" dirty="0">
                <a:latin typeface="Arial" panose="020B0604020202020204" pitchFamily="34" charset="0"/>
                <a:ea typeface="微软雅黑" panose="020B0503020204020204" charset="-122"/>
              </a:rPr>
              <a:t>：由活性物质和导电材料以及添加剂等组成，其主要作用是参与电极反应和导电，决定电池的电性能。</a:t>
            </a:r>
            <a:endParaRPr lang="zh-CN" altLang="en-US" sz="2800" b="1" kern="0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</a:t>
            </a:r>
            <a:r>
              <a:rPr lang="zh-CN" altLang="en-US" sz="2800" b="1" kern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活性物质：</a:t>
            </a:r>
            <a:r>
              <a:rPr lang="zh-CN" altLang="en-US" sz="2800" b="1" kern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在电极上发生电子得失的物质。</a:t>
            </a:r>
            <a:endParaRPr lang="zh-CN" altLang="en-US" sz="2800" b="1" kern="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 </a:t>
            </a:r>
            <a:r>
              <a:rPr lang="zh-CN" altLang="en-US" sz="2800" b="1" kern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集流器（集电器）：</a:t>
            </a:r>
            <a:r>
              <a:rPr lang="zh-CN" altLang="en-US" sz="2800" kern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作为电极支持体，且提供传导电子的路线</a:t>
            </a:r>
            <a:endParaRPr lang="zh-CN" altLang="en-US" sz="2800" kern="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b="1" kern="0" dirty="0">
                <a:latin typeface="Arial" panose="020B0604020202020204" pitchFamily="34" charset="0"/>
                <a:ea typeface="微软雅黑" panose="020B0503020204020204" charset="-122"/>
              </a:rPr>
              <a:t>      </a:t>
            </a:r>
            <a:r>
              <a:rPr lang="zh-CN" altLang="en-US" sz="2000" b="1" kern="0" dirty="0">
                <a:latin typeface="Arial" panose="020B0604020202020204" pitchFamily="34" charset="0"/>
                <a:ea typeface="微软雅黑" panose="020B0503020204020204" charset="-122"/>
              </a:rPr>
              <a:t>     原则上正极和负极的电位相差越大越好，参加反应的物质的电化当量越小越好，（用很少的活性物质可得到更多的电量）。除考虑电极电位和电化当量外，</a:t>
            </a:r>
            <a:r>
              <a:rPr lang="zh-CN" altLang="en-US" sz="2000" b="1" u="sng" kern="0" dirty="0">
                <a:latin typeface="Arial" panose="020B0604020202020204" pitchFamily="34" charset="0"/>
                <a:ea typeface="微软雅黑" panose="020B0503020204020204" charset="-122"/>
              </a:rPr>
              <a:t>还要考虑活性物质的稳定性及材料来源</a:t>
            </a:r>
            <a:r>
              <a:rPr lang="zh-CN" altLang="en-US" sz="2000" b="1" kern="0" dirty="0"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lang="zh-CN" altLang="en-US" sz="2000" b="1" kern="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51"/>
          <p:cNvSpPr txBox="1">
            <a:spLocks noRot="1" noChangeArrowheads="1"/>
          </p:cNvSpPr>
          <p:nvPr/>
        </p:nvSpPr>
        <p:spPr bwMode="auto">
          <a:xfrm>
            <a:off x="214313" y="1214438"/>
            <a:ext cx="8540750" cy="34559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2</a:t>
            </a:r>
            <a:r>
              <a:rPr lang="zh-CN" altLang="en-US" sz="2800" b="1" kern="0" dirty="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、电解质</a:t>
            </a:r>
            <a:r>
              <a:rPr lang="zh-CN" altLang="en-US" sz="2800" b="1" kern="0" dirty="0">
                <a:latin typeface="Arial" panose="020B0604020202020204" pitchFamily="34" charset="0"/>
                <a:ea typeface="微软雅黑" panose="020B0503020204020204" charset="-122"/>
              </a:rPr>
              <a:t>：保证正负极之间离子导电作用，有的参与成流反应或二次反应，有的只起导电作用。</a:t>
            </a:r>
            <a:endParaRPr lang="zh-CN" altLang="en-US" sz="2800" b="1" kern="0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b="1" kern="0" dirty="0">
                <a:latin typeface="Arial" panose="020B0604020202020204" pitchFamily="34" charset="0"/>
                <a:ea typeface="微软雅黑" panose="020B0503020204020204" charset="-122"/>
              </a:rPr>
              <a:t>            电解质通常是水溶液，也有用有机溶剂、熔融盐和固体电解质。</a:t>
            </a:r>
            <a:r>
              <a:rPr lang="zh-CN" altLang="en-US" sz="2800" b="1" u="sng" kern="0" dirty="0">
                <a:latin typeface="Arial" panose="020B0604020202020204" pitchFamily="34" charset="0"/>
                <a:ea typeface="微软雅黑" panose="020B0503020204020204" charset="-122"/>
              </a:rPr>
              <a:t>要求电解质的化学性质稳定和电导率高。</a:t>
            </a:r>
            <a:endParaRPr lang="zh-CN" altLang="en-US" sz="2800" b="1" u="sng" kern="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Rot="1" noChangeArrowheads="1"/>
          </p:cNvSpPr>
          <p:nvPr/>
        </p:nvSpPr>
        <p:spPr bwMode="auto">
          <a:xfrm>
            <a:off x="250825" y="1196975"/>
            <a:ext cx="8664575" cy="4060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3、</a:t>
            </a:r>
            <a:r>
              <a:rPr lang="zh-CN" altLang="en-US" sz="2800" b="1" kern="0" dirty="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隔膜</a:t>
            </a:r>
            <a:r>
              <a:rPr lang="zh-CN" altLang="en-US" sz="2800" b="1" kern="0" dirty="0">
                <a:latin typeface="Arial" panose="020B0604020202020204" pitchFamily="34" charset="0"/>
                <a:ea typeface="微软雅黑" panose="020B0503020204020204" charset="-122"/>
              </a:rPr>
              <a:t>：又叫</a:t>
            </a:r>
            <a:r>
              <a:rPr lang="zh-CN" altLang="en-US" sz="2800" b="1" kern="0" dirty="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隔离物</a:t>
            </a:r>
            <a:r>
              <a:rPr lang="zh-CN" altLang="en-US" sz="2800" b="1" kern="0" dirty="0">
                <a:latin typeface="Arial" panose="020B0604020202020204" pitchFamily="34" charset="0"/>
                <a:ea typeface="微软雅黑" panose="020B0503020204020204" charset="-122"/>
              </a:rPr>
              <a:t>，防止正、负极短路，但允许离子顺利通过。例如，石棉纸、微孔橡胶、微孔塑料、尼龙、玻璃纤维。</a:t>
            </a:r>
            <a:endParaRPr lang="zh-CN" altLang="en-US" sz="2800" b="1" kern="0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4、</a:t>
            </a:r>
            <a:r>
              <a:rPr lang="zh-CN" altLang="en-US" sz="2800" b="1" kern="0" dirty="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外壳</a:t>
            </a:r>
            <a:r>
              <a:rPr lang="zh-CN" altLang="en-US" sz="2800" b="1" kern="0" dirty="0">
                <a:latin typeface="Arial" panose="020B0604020202020204" pitchFamily="34" charset="0"/>
                <a:ea typeface="微软雅黑" panose="020B0503020204020204" charset="-122"/>
              </a:rPr>
              <a:t>：起保护作用。除干电池由锌极兼做容器外，其他均不用活性物质做容器。</a:t>
            </a:r>
            <a:r>
              <a:rPr lang="zh-CN" altLang="en-US" sz="2800" b="1" u="sng" kern="0" dirty="0">
                <a:latin typeface="Arial" panose="020B0604020202020204" pitchFamily="34" charset="0"/>
                <a:ea typeface="微软雅黑" panose="020B0503020204020204" charset="-122"/>
              </a:rPr>
              <a:t>要求外壳具有良好的机械强度、耐腐蚀、耐振动、抗冲击强度</a:t>
            </a:r>
            <a:r>
              <a:rPr lang="zh-CN" altLang="en-US" sz="2800" b="1" kern="0" dirty="0"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lang="zh-CN" altLang="en-US" sz="2800" b="1" kern="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67995" y="2421255"/>
            <a:ext cx="8151813" cy="4876800"/>
          </a:xfrm>
          <a:noFill/>
        </p:spPr>
        <p:txBody>
          <a:bodyPr/>
          <a:lstStyle/>
          <a:p>
            <a:pPr marL="609600" indent="-609600">
              <a:lnSpc>
                <a:spcPct val="120000"/>
              </a:lnSpc>
            </a:pPr>
            <a:r>
              <a:rPr lang="zh-CN" altLang="en-US" sz="2800"/>
              <a:t>便于携带、使用简单。 </a:t>
            </a:r>
            <a:endParaRPr lang="zh-CN" altLang="en-US" sz="2800"/>
          </a:p>
          <a:p>
            <a:pPr marL="609600" indent="-609600">
              <a:lnSpc>
                <a:spcPct val="120000"/>
              </a:lnSpc>
            </a:pPr>
            <a:r>
              <a:rPr lang="zh-CN" altLang="en-US" sz="2800"/>
              <a:t>工作参数可在相当大的范围内人为地改变。</a:t>
            </a:r>
            <a:endParaRPr lang="zh-CN" altLang="en-US" sz="2800"/>
          </a:p>
          <a:p>
            <a:pPr marL="609600" indent="-609600">
              <a:lnSpc>
                <a:spcPct val="120000"/>
              </a:lnSpc>
            </a:pPr>
            <a:r>
              <a:rPr lang="zh-CN" altLang="en-US" sz="2800"/>
              <a:t>工作范围广、对环境适应性强。 </a:t>
            </a:r>
            <a:endParaRPr lang="zh-CN" altLang="en-US" sz="2800"/>
          </a:p>
          <a:p>
            <a:pPr marL="609600" indent="-609600">
              <a:lnSpc>
                <a:spcPct val="120000"/>
              </a:lnSpc>
            </a:pPr>
            <a:r>
              <a:rPr lang="zh-CN" altLang="en-US" sz="2800"/>
              <a:t>能量转换效率高，工作时无噪音。 </a:t>
            </a:r>
            <a:endParaRPr lang="zh-CN" altLang="en-US" sz="2800"/>
          </a:p>
          <a:p>
            <a:pPr marL="609600" indent="-609600">
              <a:lnSpc>
                <a:spcPct val="120000"/>
              </a:lnSpc>
            </a:pPr>
            <a:r>
              <a:rPr lang="zh-CN" altLang="en-US" sz="2800"/>
              <a:t>蓄电池可贮存能量。 </a:t>
            </a:r>
            <a:endParaRPr lang="zh-CN" altLang="en-US" sz="2800"/>
          </a:p>
          <a:p>
            <a:pPr marL="609600" indent="-609600">
              <a:lnSpc>
                <a:spcPct val="120000"/>
              </a:lnSpc>
            </a:pPr>
            <a:r>
              <a:rPr lang="zh-CN" altLang="en-US" sz="2800"/>
              <a:t>减少环境污染。</a:t>
            </a:r>
            <a:endParaRPr lang="zh-CN" altLang="en-US" sz="2800"/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1676400" y="304800"/>
            <a:ext cx="617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endParaRPr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544513" y="639763"/>
            <a:ext cx="777240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4000" b="1">
                <a:solidFill>
                  <a:srgbClr val="660033"/>
                </a:solidFill>
                <a:latin typeface="Arial" panose="020B060402020202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四、化学电源的特点和</a:t>
            </a:r>
            <a:r>
              <a:rPr lang="zh-CN" altLang="en-US" sz="4000" b="1">
                <a:solidFill>
                  <a:srgbClr val="660033"/>
                </a:solidFill>
                <a:latin typeface="Arial" panose="020B060402020202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应用</a:t>
            </a:r>
            <a:endParaRPr lang="zh-CN" altLang="en-US" sz="4000" b="1">
              <a:solidFill>
                <a:srgbClr val="660033"/>
              </a:solidFill>
              <a:latin typeface="Arial" panose="020B0604020202020204" pitchFamily="34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750" y="1565275"/>
            <a:ext cx="457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000" b="1">
                <a:solidFill>
                  <a:srgbClr val="660033"/>
                </a:solidFill>
                <a:latin typeface="Arial" panose="020B060402020202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化学电源的特点</a:t>
            </a:r>
            <a:endParaRPr lang="zh-CN" altLang="en-US" sz="4000" b="1">
              <a:solidFill>
                <a:srgbClr val="660033"/>
              </a:solidFill>
              <a:latin typeface="Arial" panose="020B0604020202020204" pitchFamily="34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/>
          <p:cNvSpPr>
            <a:spLocks noGrp="1" noChangeArrowheads="1"/>
          </p:cNvSpPr>
          <p:nvPr>
            <p:ph type="title"/>
          </p:nvPr>
        </p:nvSpPr>
        <p:spPr>
          <a:xfrm>
            <a:off x="301625" y="376238"/>
            <a:ext cx="8540750" cy="1143000"/>
          </a:xfrm>
          <a:noFill/>
        </p:spPr>
        <p:txBody>
          <a:bodyPr/>
          <a:lstStyle/>
          <a:p>
            <a:r>
              <a:rPr lang="zh-CN" altLang="en-US" sz="4500" b="1">
                <a:solidFill>
                  <a:srgbClr val="660033"/>
                </a:solidFill>
                <a:latin typeface="Arial" panose="020B060402020202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化学电源的应用</a:t>
            </a:r>
            <a:endParaRPr lang="zh-CN" altLang="en-US" sz="4500" b="1">
              <a:solidFill>
                <a:srgbClr val="660033"/>
              </a:solidFill>
              <a:latin typeface="Arial" panose="020B0604020202020204" pitchFamily="34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1431925"/>
            <a:ext cx="7772400" cy="1349375"/>
          </a:xfrm>
          <a:noFill/>
        </p:spPr>
        <p:txBody>
          <a:bodyPr/>
          <a:lstStyle/>
          <a:p>
            <a:r>
              <a:rPr lang="zh-CN" altLang="en-US"/>
              <a:t>日常生活     工农业生产    通讯</a:t>
            </a:r>
            <a:endParaRPr lang="zh-CN" altLang="en-US"/>
          </a:p>
          <a:p>
            <a:r>
              <a:rPr lang="zh-CN" altLang="en-US"/>
              <a:t>煤矿    交通运输   军事     宇航</a:t>
            </a:r>
            <a:endParaRPr lang="zh-CN" altLang="en-US"/>
          </a:p>
        </p:txBody>
      </p:sp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971800"/>
            <a:ext cx="8893175" cy="300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33375"/>
            <a:ext cx="3384550" cy="2312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404813"/>
            <a:ext cx="4483100" cy="369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3068638"/>
            <a:ext cx="4286250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/>
          <p:cNvSpPr>
            <a:spLocks noGrp="1" noChangeArrowheads="1"/>
          </p:cNvSpPr>
          <p:nvPr>
            <p:ph type="title" sz="quarter"/>
          </p:nvPr>
        </p:nvSpPr>
        <p:spPr>
          <a:xfrm>
            <a:off x="228600" y="0"/>
            <a:ext cx="7772400" cy="1143000"/>
          </a:xfrm>
          <a:noFill/>
        </p:spPr>
        <p:txBody>
          <a:bodyPr/>
          <a:lstStyle/>
          <a:p>
            <a:r>
              <a:rPr lang="zh-CN" altLang="en-US" sz="3800" b="1"/>
              <a:t>各种形状的电池</a:t>
            </a:r>
            <a:endParaRPr lang="zh-CN" altLang="en-US" sz="3800" b="1"/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6800"/>
            <a:ext cx="3048000" cy="2684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4006850"/>
            <a:ext cx="2220912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258888"/>
            <a:ext cx="3276600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4508500"/>
            <a:ext cx="2819400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052513"/>
            <a:ext cx="3184525" cy="2732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36988"/>
            <a:ext cx="39624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3" name="Picture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810000"/>
            <a:ext cx="3567113" cy="88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350838" y="393700"/>
            <a:ext cx="3960812" cy="576263"/>
          </a:xfrm>
          <a:noFill/>
        </p:spPr>
        <p:txBody>
          <a:bodyPr/>
          <a:lstStyle/>
          <a:p>
            <a:r>
              <a:rPr lang="zh-CN" altLang="en-US" sz="3800" b="1"/>
              <a:t>电池的组合</a:t>
            </a:r>
            <a:endParaRPr lang="zh-CN" altLang="en-US" sz="3800" b="1"/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974725"/>
            <a:ext cx="3962400" cy="295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976313"/>
            <a:ext cx="4572000" cy="2957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84613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5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350" y="3905250"/>
            <a:ext cx="4114800" cy="283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46050" y="1327150"/>
            <a:ext cx="8655050" cy="522605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            为了确保不同厂家的电池产品在电器上与物理上的可互换性，以及确定质量标准，有必要定出一套有关电池的标准。国际电工委员会制定的原电池的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IEC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标准已为许多国家所采用。</a:t>
            </a:r>
            <a:endParaRPr lang="zh-CN" altLang="en-US" sz="2800"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            我国推行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IEC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标准。用字母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R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、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S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、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F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分别表示为圆形、方形、扁平形电池，迭层电池也用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F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表示，字母后跟着的数字表示电池的大小。例如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R20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（即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1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号电池）。</a:t>
            </a:r>
            <a:endParaRPr lang="zh-CN" altLang="en-US" sz="2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3315" name="Rectangle 2"/>
          <p:cNvSpPr>
            <a:spLocks noRot="1" noChangeArrowheads="1"/>
          </p:cNvSpPr>
          <p:nvPr/>
        </p:nvSpPr>
        <p:spPr bwMode="auto">
          <a:xfrm>
            <a:off x="400050" y="304800"/>
            <a:ext cx="8540750" cy="838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4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电池的命名与型号</a:t>
            </a:r>
            <a:endParaRPr lang="zh-CN" altLang="en-US" sz="4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029"/>
          <p:cNvSpPr txBox="1">
            <a:spLocks noChangeArrowheads="1"/>
          </p:cNvSpPr>
          <p:nvPr/>
        </p:nvSpPr>
        <p:spPr bwMode="auto">
          <a:xfrm>
            <a:off x="381000" y="457200"/>
            <a:ext cx="8534400" cy="6120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根据我国颁布标准，铅酸蓄电池的产品型号分三段：</a:t>
            </a:r>
            <a:r>
              <a:rPr lang="en-US" altLang="zh-CN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1、</a:t>
            </a:r>
            <a:r>
              <a:rPr lang="zh-CN" altLang="en-US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串联单个电池数；</a:t>
            </a:r>
            <a:r>
              <a:rPr lang="en-US" altLang="zh-CN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2、</a:t>
            </a:r>
            <a:r>
              <a:rPr lang="zh-CN" altLang="en-US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电池的类型和特征；    </a:t>
            </a:r>
            <a:r>
              <a:rPr lang="en-US" altLang="zh-CN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3、</a:t>
            </a:r>
            <a:r>
              <a:rPr lang="zh-CN" altLang="en-US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额定容量。</a:t>
            </a:r>
            <a:endParaRPr lang="zh-CN" altLang="en-US" sz="2800">
              <a:solidFill>
                <a:srgbClr val="0033CC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电池类型根据其主要用途划分，主要代号如下：</a:t>
            </a: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Q-</a:t>
            </a:r>
            <a:r>
              <a:rPr lang="zh-CN" altLang="en-US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启动用；</a:t>
            </a:r>
            <a:r>
              <a:rPr lang="en-US" altLang="zh-CN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G-</a:t>
            </a:r>
            <a:r>
              <a:rPr lang="zh-CN" altLang="en-US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固定用；</a:t>
            </a:r>
            <a:r>
              <a:rPr lang="en-US" altLang="zh-CN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D-</a:t>
            </a:r>
            <a:r>
              <a:rPr lang="zh-CN" altLang="en-US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蓄电池车用；</a:t>
            </a:r>
            <a:endParaRPr lang="zh-CN" altLang="en-US" sz="2800">
              <a:solidFill>
                <a:srgbClr val="0033CC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N-</a:t>
            </a:r>
            <a:r>
              <a:rPr lang="zh-CN" altLang="en-US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内燃机车用；</a:t>
            </a:r>
            <a:r>
              <a:rPr lang="en-US" altLang="zh-CN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T-</a:t>
            </a:r>
            <a:r>
              <a:rPr lang="zh-CN" altLang="en-US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铁路客用；</a:t>
            </a:r>
            <a:r>
              <a:rPr lang="en-US" altLang="zh-CN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M-</a:t>
            </a:r>
            <a:r>
              <a:rPr lang="zh-CN" altLang="en-US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摩托车用。</a:t>
            </a:r>
            <a:endParaRPr lang="zh-CN" altLang="en-US" sz="2800">
              <a:solidFill>
                <a:srgbClr val="0033CC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电池特征代号为：</a:t>
            </a: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A-</a:t>
            </a:r>
            <a:r>
              <a:rPr lang="zh-CN" altLang="en-US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干荷电式；</a:t>
            </a:r>
            <a:r>
              <a:rPr lang="en-US" altLang="zh-CN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F-</a:t>
            </a:r>
            <a:r>
              <a:rPr lang="zh-CN" altLang="en-US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防酸式；</a:t>
            </a:r>
            <a:r>
              <a:rPr lang="en-US" altLang="zh-CN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M-</a:t>
            </a:r>
            <a:r>
              <a:rPr lang="zh-CN" altLang="en-US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密闭式。</a:t>
            </a:r>
            <a:endParaRPr lang="zh-CN" altLang="en-US" sz="2800">
              <a:solidFill>
                <a:srgbClr val="0033CC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例如</a:t>
            </a:r>
            <a:r>
              <a:rPr lang="en-US" altLang="zh-CN" sz="280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6- QA-20</a:t>
            </a:r>
            <a:r>
              <a:rPr lang="zh-CN" altLang="en-US"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en-US" altLang="zh-CN"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6</a:t>
            </a:r>
            <a:r>
              <a:rPr lang="zh-CN" altLang="en-US"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个单体电池；启动用，装有干式荷电极板；</a:t>
            </a:r>
            <a:r>
              <a:rPr lang="en-US" altLang="zh-CN"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20</a:t>
            </a:r>
            <a:r>
              <a:rPr lang="zh-CN" altLang="en-US"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小时额定容量为</a:t>
            </a:r>
            <a:r>
              <a:rPr lang="en-US" altLang="zh-CN"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120 Ah。</a:t>
            </a: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539750" y="755650"/>
            <a:ext cx="7848600" cy="478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sz="3200" b="1"/>
              <a:t>五、化学电源的发展方向</a:t>
            </a:r>
            <a:r>
              <a:rPr lang="zh-CN" altLang="en-US" sz="3200"/>
              <a:t>：</a:t>
            </a:r>
            <a:endParaRPr lang="zh-CN" altLang="en-US" sz="3200"/>
          </a:p>
          <a:p>
            <a:pPr algn="l"/>
            <a:r>
              <a:rPr lang="zh-CN" altLang="en-US" sz="2800"/>
              <a:t>       </a:t>
            </a:r>
            <a:endParaRPr lang="zh-CN" altLang="en-US" sz="2800"/>
          </a:p>
          <a:p>
            <a:pPr lvl="1" algn="l">
              <a:lnSpc>
                <a:spcPct val="125000"/>
              </a:lnSpc>
              <a:buClr>
                <a:schemeClr val="accent1"/>
              </a:buClr>
              <a:buSzPct val="105000"/>
              <a:buFont typeface="Wingdings" panose="05000000000000000000" pitchFamily="2" charset="2"/>
              <a:buChar char="¡"/>
            </a:pPr>
            <a:r>
              <a:rPr lang="zh-CN" altLang="en-US" sz="2800"/>
              <a:t> </a:t>
            </a:r>
            <a:r>
              <a:rPr lang="zh-CN" altLang="en-US" sz="2800">
                <a:solidFill>
                  <a:srgbClr val="0000FF"/>
                </a:solidFill>
              </a:rPr>
              <a:t>老产品要进一步提高其性能、延长使用寿命、降低成本和降低原材料的消耗</a:t>
            </a:r>
            <a:endParaRPr lang="zh-CN" altLang="en-US" sz="2800">
              <a:solidFill>
                <a:srgbClr val="0000FF"/>
              </a:solidFill>
            </a:endParaRPr>
          </a:p>
          <a:p>
            <a:pPr lvl="1" algn="l">
              <a:lnSpc>
                <a:spcPct val="125000"/>
              </a:lnSpc>
              <a:buClr>
                <a:schemeClr val="accent1"/>
              </a:buClr>
              <a:buSzPct val="105000"/>
              <a:buFont typeface="Wingdings" panose="05000000000000000000" pitchFamily="2" charset="2"/>
              <a:buChar char="¡"/>
            </a:pPr>
            <a:r>
              <a:rPr lang="zh-CN" altLang="en-US" sz="2800">
                <a:solidFill>
                  <a:srgbClr val="0000FF"/>
                </a:solidFill>
              </a:rPr>
              <a:t> 研制出更多新系列产品</a:t>
            </a:r>
            <a:endParaRPr lang="zh-CN" altLang="en-US" sz="2800">
              <a:solidFill>
                <a:srgbClr val="0000FF"/>
              </a:solidFill>
            </a:endParaRPr>
          </a:p>
          <a:p>
            <a:pPr lvl="1" algn="l">
              <a:lnSpc>
                <a:spcPct val="125000"/>
              </a:lnSpc>
              <a:buClr>
                <a:schemeClr val="accent1"/>
              </a:buClr>
              <a:buSzPct val="105000"/>
              <a:buFont typeface="Wingdings" panose="05000000000000000000" pitchFamily="2" charset="2"/>
              <a:buChar char="¡"/>
            </a:pPr>
            <a:r>
              <a:rPr lang="zh-CN" altLang="en-US" sz="2800"/>
              <a:t>不同应用场景需要不同的特点：体积小、重量轻、容量大、使用寿命长、成本低、便于使用维护、无污染。</a:t>
            </a:r>
            <a:endParaRPr lang="zh-CN" altLang="en-US" sz="2800"/>
          </a:p>
          <a:p>
            <a:pPr lvl="1" algn="l">
              <a:lnSpc>
                <a:spcPct val="125000"/>
              </a:lnSpc>
              <a:buClr>
                <a:schemeClr val="accent1"/>
              </a:buClr>
              <a:buSzPct val="105000"/>
              <a:buFont typeface="Wingdings" panose="05000000000000000000" pitchFamily="2" charset="2"/>
              <a:buChar char="¡"/>
            </a:pPr>
            <a:r>
              <a:rPr lang="zh-CN" altLang="en-US" sz="280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节约资源、环保</a:t>
            </a:r>
            <a:endParaRPr lang="zh-CN" altLang="en-US" sz="2800">
              <a:solidFill>
                <a:srgbClr val="660033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  <a:noFill/>
        </p:spPr>
        <p:txBody>
          <a:bodyPr/>
          <a:lstStyle/>
          <a:p>
            <a:r>
              <a:rPr lang="zh-CN" altLang="en-US" sz="4500" b="1" dirty="0">
                <a:solidFill>
                  <a:srgbClr val="660033"/>
                </a:solidFill>
                <a:latin typeface="Arial" panose="020B060402020202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六、本部分的主要内容</a:t>
            </a:r>
            <a:endParaRPr lang="zh-CN" altLang="en-US" sz="4500" b="1" dirty="0">
              <a:solidFill>
                <a:srgbClr val="660033"/>
              </a:solidFill>
              <a:latin typeface="Arial" panose="020B0604020202020204" pitchFamily="34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38200" y="1447800"/>
            <a:ext cx="7772400" cy="4800600"/>
          </a:xfrm>
          <a:noFill/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dirty="0"/>
              <a:t>主要研究各类化学电源的基本工作原理和制造工艺。</a:t>
            </a:r>
            <a:endParaRPr lang="zh-CN" altLang="en-US" sz="2800" dirty="0"/>
          </a:p>
          <a:p>
            <a:pPr>
              <a:lnSpc>
                <a:spcPct val="120000"/>
              </a:lnSpc>
            </a:pPr>
            <a:r>
              <a:rPr lang="zh-CN" altLang="en-US" sz="2800" dirty="0"/>
              <a:t>内容包括电池中的反应机理、电极的特性、电解质溶液的性质、电池的电性能等等。</a:t>
            </a:r>
            <a:endParaRPr lang="zh-CN" altLang="en-US" sz="2800" dirty="0"/>
          </a:p>
          <a:p>
            <a:pPr>
              <a:lnSpc>
                <a:spcPct val="120000"/>
              </a:lnSpc>
            </a:pPr>
            <a:r>
              <a:rPr lang="zh-CN" altLang="en-US" sz="2800" dirty="0"/>
              <a:t>主要介绍目前大规模生产的几种系列：</a:t>
            </a:r>
            <a:endParaRPr lang="zh-CN" altLang="en-US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 </a:t>
            </a:r>
            <a:r>
              <a:rPr lang="en-US" altLang="zh-CN" sz="2800" dirty="0"/>
              <a:t>Zn-MnO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电池、</a:t>
            </a:r>
            <a:r>
              <a:rPr lang="en-US" altLang="zh-CN" sz="2800" dirty="0"/>
              <a:t>Pb</a:t>
            </a:r>
            <a:r>
              <a:rPr lang="zh-CN" altLang="en-US" sz="2800" dirty="0"/>
              <a:t>酸电池、 </a:t>
            </a:r>
            <a:r>
              <a:rPr lang="en-US" altLang="zh-CN" sz="2800" dirty="0"/>
              <a:t>Cd-</a:t>
            </a:r>
            <a:r>
              <a:rPr lang="en-US" altLang="zh-CN" sz="2800" dirty="0" err="1"/>
              <a:t>NiOOH</a:t>
            </a:r>
            <a:r>
              <a:rPr lang="zh-CN" altLang="en-US" sz="2800" dirty="0"/>
              <a:t>电池、</a:t>
            </a:r>
            <a:r>
              <a:rPr lang="en-US" altLang="zh-CN" sz="2800" dirty="0"/>
              <a:t>MH-</a:t>
            </a:r>
            <a:r>
              <a:rPr lang="en-US" altLang="zh-CN" sz="2800" dirty="0" err="1"/>
              <a:t>NiOOH</a:t>
            </a:r>
            <a:r>
              <a:rPr lang="zh-CN" altLang="en-US" sz="2800" dirty="0"/>
              <a:t>电池、锂离子电池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23850" y="1058863"/>
            <a:ext cx="8229600" cy="5178425"/>
          </a:xfrm>
          <a:noFill/>
        </p:spPr>
        <p:txBody>
          <a:bodyPr/>
          <a:lstStyle/>
          <a:p>
            <a:pPr marL="812800" indent="-812800" eaLnBrk="1" hangingPunct="1"/>
            <a:r>
              <a:rPr lang="zh-CN" altLang="en-US" b="1" dirty="0"/>
              <a:t>本节重点：</a:t>
            </a:r>
            <a:endParaRPr lang="zh-CN" altLang="en-US" dirty="0"/>
          </a:p>
          <a:p>
            <a:pPr marL="1143000" lvl="1" indent="-685800" eaLnBrk="1" hangingPunct="1">
              <a:lnSpc>
                <a:spcPct val="120000"/>
              </a:lnSpc>
            </a:pPr>
            <a:r>
              <a:rPr lang="zh-CN" altLang="en-US" b="1" dirty="0"/>
              <a:t>化学电源的组成和工作原理</a:t>
            </a:r>
            <a:r>
              <a:rPr lang="zh-CN" altLang="en-US" dirty="0"/>
              <a:t>：构成电池的必要条件；化学电源的基本组成部分及其作用。</a:t>
            </a:r>
            <a:endParaRPr lang="zh-CN" altLang="en-US" dirty="0"/>
          </a:p>
          <a:p>
            <a:pPr marL="1143000" lvl="1" indent="-685800" eaLnBrk="1" hangingPunct="1">
              <a:lnSpc>
                <a:spcPct val="120000"/>
              </a:lnSpc>
            </a:pPr>
            <a:r>
              <a:rPr lang="zh-CN" altLang="en-US" b="1" dirty="0"/>
              <a:t>化学电源的主要性能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rgbClr val="FF0000"/>
                </a:solidFill>
              </a:rPr>
              <a:t>开路电压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电动势</a:t>
            </a:r>
            <a:r>
              <a:rPr lang="zh-CN" altLang="en-US" dirty="0"/>
              <a:t>的意义及区别；内阻及其对电池性能的影响；工作电压及放电曲线的意义；</a:t>
            </a:r>
            <a:r>
              <a:rPr lang="zh-CN" altLang="en-US" dirty="0">
                <a:solidFill>
                  <a:srgbClr val="FF0000"/>
                </a:solidFill>
              </a:rPr>
              <a:t>容量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比容量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放电时率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FF0000"/>
                </a:solidFill>
              </a:rPr>
              <a:t>放电倍率</a:t>
            </a:r>
            <a:r>
              <a:rPr lang="zh-CN" altLang="en-US" dirty="0"/>
              <a:t>，利用率及其影响因素；</a:t>
            </a:r>
            <a:r>
              <a:rPr lang="zh-CN" altLang="en-US" dirty="0">
                <a:solidFill>
                  <a:srgbClr val="FF0000"/>
                </a:solidFill>
              </a:rPr>
              <a:t>能量</a:t>
            </a:r>
            <a:r>
              <a:rPr lang="zh-CN" altLang="en-US" dirty="0"/>
              <a:t>，高</a:t>
            </a:r>
            <a:r>
              <a:rPr lang="zh-CN" altLang="en-US" dirty="0">
                <a:solidFill>
                  <a:srgbClr val="FF0000"/>
                </a:solidFill>
              </a:rPr>
              <a:t>比能量</a:t>
            </a:r>
            <a:r>
              <a:rPr lang="zh-CN" altLang="en-US" dirty="0"/>
              <a:t>电池的条件；</a:t>
            </a:r>
            <a:r>
              <a:rPr lang="zh-CN" altLang="en-US" dirty="0">
                <a:solidFill>
                  <a:srgbClr val="FF0000"/>
                </a:solidFill>
              </a:rPr>
              <a:t>功率</a:t>
            </a:r>
            <a:r>
              <a:rPr lang="zh-CN" altLang="en-US" dirty="0"/>
              <a:t>及其影响因素；自放电及其影响因素。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500" b="1">
                <a:solidFill>
                  <a:srgbClr val="660033"/>
                </a:solidFill>
                <a:latin typeface="Arial" panose="020B0604020202020204" pitchFamily="34" charset="0"/>
                <a:ea typeface="微软雅黑" panose="020B0503020204020204" charset="-122"/>
              </a:rPr>
              <a:t>3.1.2</a:t>
            </a:r>
            <a:r>
              <a:rPr lang="zh-CN" altLang="en-US" sz="4500" b="1">
                <a:solidFill>
                  <a:srgbClr val="660033"/>
                </a:solidFill>
                <a:latin typeface="Arial" panose="020B0604020202020204" pitchFamily="34" charset="0"/>
                <a:ea typeface="微软雅黑" panose="020B0503020204020204" charset="-122"/>
              </a:rPr>
              <a:t> 化学电源的分类</a:t>
            </a:r>
            <a:endParaRPr lang="zh-CN" altLang="en-US" sz="4500" b="1">
              <a:solidFill>
                <a:srgbClr val="660033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19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79705" y="1988820"/>
            <a:ext cx="8515985" cy="4789170"/>
          </a:xfrm>
        </p:spPr>
        <p:txBody>
          <a:bodyPr/>
          <a:lstStyle/>
          <a:p>
            <a:pPr marL="609600" indent="-609600" eaLnBrk="1" hangingPunct="1"/>
            <a:r>
              <a:rPr lang="zh-CN" altLang="en-US" sz="2400" b="1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按工作性质分：</a:t>
            </a:r>
            <a:endParaRPr lang="zh-CN" altLang="en-US" sz="2400" b="1"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  <a:p>
            <a:pPr marL="971550" lvl="1" indent="-514350" eaLnBrk="1" hangingPunct="1">
              <a:lnSpc>
                <a:spcPct val="120000"/>
              </a:lnSpc>
            </a:pP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原电池，又称一次电池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    </a:t>
            </a:r>
            <a:endParaRPr lang="zh-CN" altLang="en-US" sz="2400"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  <a:p>
            <a:pPr marL="971550" lvl="1" indent="-514350" eaLnBrk="1" hangingPunct="1">
              <a:lnSpc>
                <a:spcPct val="120000"/>
              </a:lnSpc>
            </a:pP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蓄电池，又称二次电池，可充电电池</a:t>
            </a:r>
            <a:endParaRPr lang="zh-CN" altLang="en-US" sz="2400"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  <a:p>
            <a:pPr marL="971550" lvl="1" indent="-514350" eaLnBrk="1" hangingPunct="1">
              <a:lnSpc>
                <a:spcPct val="120000"/>
              </a:lnSpc>
            </a:pP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储备电池，又称激活式电池</a:t>
            </a:r>
            <a:endParaRPr lang="zh-CN" altLang="en-US" sz="2400"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eaLnBrk="1" hangingPunct="1">
              <a:lnSpc>
                <a:spcPct val="120000"/>
              </a:lnSpc>
              <a:buNone/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储备期间活性物质不与电解质直接接触，使用时注入电解液或电解质融化，如：海水激活的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Mg/AgCl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电池，储存寿命长</a:t>
            </a:r>
            <a:endParaRPr lang="zh-CN" altLang="en-US" sz="2000"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  <a:p>
            <a:pPr marL="971550" lvl="1" indent="-514350" eaLnBrk="1" hangingPunct="1">
              <a:lnSpc>
                <a:spcPct val="120000"/>
              </a:lnSpc>
            </a:pP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燃料电池，又称连续电池</a:t>
            </a:r>
            <a:endParaRPr lang="zh-CN" altLang="en-US" sz="2400"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  <a:p>
            <a:pPr marL="971550" lvl="1" indent="-514350" eaLnBrk="1" hangingPunct="1">
              <a:lnSpc>
                <a:spcPct val="120000"/>
              </a:lnSpc>
            </a:pP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电化学电容器：超大容量或者超级电容器</a:t>
            </a:r>
            <a:endParaRPr lang="zh-CN" altLang="en-US" sz="2400"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eaLnBrk="1" hangingPunct="1">
              <a:lnSpc>
                <a:spcPct val="120000"/>
              </a:lnSpc>
              <a:buNone/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介于传统电容器和电池之间的新型电源；分为双电层电容器和赝电容器</a:t>
            </a:r>
            <a:endParaRPr lang="en-US" altLang="zh-CN" sz="2000" b="1">
              <a:solidFill>
                <a:srgbClr val="660033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1550" y="1484630"/>
            <a:ext cx="507047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400" b="1"/>
              <a:t>单电池（cell）</a:t>
            </a:r>
            <a:r>
              <a:rPr lang="en-US" altLang="zh-CN" sz="2400" b="1"/>
              <a:t>      </a:t>
            </a:r>
            <a:r>
              <a:rPr lang="zh-CN" altLang="en-US" sz="2400" b="1"/>
              <a:t>电池组（</a:t>
            </a:r>
            <a:r>
              <a:rPr lang="en-US" altLang="zh-CN" sz="2400" b="1"/>
              <a:t>battery)</a:t>
            </a:r>
            <a:endParaRPr lang="en-US" altLang="zh-CN" sz="2400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68313" y="1052513"/>
            <a:ext cx="8229600" cy="45307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/>
              <a:t>按电解质的性质分：</a:t>
            </a:r>
            <a:endParaRPr lang="zh-CN" altLang="en-US" b="1"/>
          </a:p>
          <a:p>
            <a:pPr lvl="1" eaLnBrk="1" hangingPunct="1">
              <a:lnSpc>
                <a:spcPct val="120000"/>
              </a:lnSpc>
            </a:pPr>
            <a:r>
              <a:rPr lang="zh-CN" altLang="en-US">
                <a:solidFill>
                  <a:srgbClr val="070501"/>
                </a:solidFill>
              </a:rPr>
              <a:t>电解质为碱性水溶液</a:t>
            </a:r>
            <a:r>
              <a:rPr lang="en-US" altLang="zh-CN">
                <a:solidFill>
                  <a:srgbClr val="070501"/>
                </a:solidFill>
              </a:rPr>
              <a:t>—</a:t>
            </a:r>
            <a:r>
              <a:rPr lang="zh-CN" altLang="en-US">
                <a:solidFill>
                  <a:srgbClr val="660033"/>
                </a:solidFill>
              </a:rPr>
              <a:t>碱性电池</a:t>
            </a:r>
            <a:endParaRPr lang="zh-CN" altLang="en-US">
              <a:solidFill>
                <a:srgbClr val="660033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>
                <a:solidFill>
                  <a:srgbClr val="070501"/>
                </a:solidFill>
              </a:rPr>
              <a:t>电解质为中性水溶液</a:t>
            </a:r>
            <a:r>
              <a:rPr lang="en-US" altLang="zh-CN">
                <a:solidFill>
                  <a:srgbClr val="070501"/>
                </a:solidFill>
              </a:rPr>
              <a:t>—</a:t>
            </a:r>
            <a:r>
              <a:rPr lang="zh-CN" altLang="en-US">
                <a:solidFill>
                  <a:srgbClr val="660033"/>
                </a:solidFill>
              </a:rPr>
              <a:t>中性电池</a:t>
            </a:r>
            <a:endParaRPr lang="zh-CN" altLang="en-US">
              <a:solidFill>
                <a:srgbClr val="660033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>
                <a:solidFill>
                  <a:srgbClr val="070501"/>
                </a:solidFill>
              </a:rPr>
              <a:t> 电解质为酸性水溶液</a:t>
            </a:r>
            <a:r>
              <a:rPr lang="en-US" altLang="zh-CN">
                <a:solidFill>
                  <a:srgbClr val="070501"/>
                </a:solidFill>
              </a:rPr>
              <a:t>—</a:t>
            </a:r>
            <a:r>
              <a:rPr lang="zh-CN" altLang="en-US">
                <a:solidFill>
                  <a:srgbClr val="660033"/>
                </a:solidFill>
              </a:rPr>
              <a:t>酸性电池</a:t>
            </a:r>
            <a:endParaRPr lang="zh-CN" altLang="en-US">
              <a:solidFill>
                <a:srgbClr val="660033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>
                <a:solidFill>
                  <a:srgbClr val="070501"/>
                </a:solidFill>
              </a:rPr>
              <a:t>电解质为有机电解质溶液</a:t>
            </a:r>
            <a:r>
              <a:rPr lang="en-US" altLang="zh-CN">
                <a:solidFill>
                  <a:srgbClr val="660033"/>
                </a:solidFill>
              </a:rPr>
              <a:t>—</a:t>
            </a:r>
            <a:r>
              <a:rPr lang="zh-CN" altLang="en-US">
                <a:solidFill>
                  <a:srgbClr val="660033"/>
                </a:solidFill>
              </a:rPr>
              <a:t>有机电解质电池</a:t>
            </a:r>
            <a:endParaRPr lang="zh-CN" altLang="en-US">
              <a:solidFill>
                <a:srgbClr val="660033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>
                <a:solidFill>
                  <a:srgbClr val="070501"/>
                </a:solidFill>
              </a:rPr>
              <a:t> 电解质为固体电解质</a:t>
            </a:r>
            <a:r>
              <a:rPr lang="en-US" altLang="zh-CN">
                <a:solidFill>
                  <a:srgbClr val="070501"/>
                </a:solidFill>
              </a:rPr>
              <a:t>—</a:t>
            </a:r>
            <a:r>
              <a:rPr lang="zh-CN" altLang="en-US">
                <a:solidFill>
                  <a:srgbClr val="660033"/>
                </a:solidFill>
              </a:rPr>
              <a:t>固体电解质电池，固态电池</a:t>
            </a:r>
            <a:endParaRPr lang="zh-CN" altLang="en-US">
              <a:solidFill>
                <a:srgbClr val="66003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1125538"/>
            <a:ext cx="8229600" cy="5111750"/>
          </a:xfrm>
        </p:spPr>
        <p:txBody>
          <a:bodyPr/>
          <a:lstStyle/>
          <a:p>
            <a:pPr eaLnBrk="1" hangingPunct="1"/>
            <a:r>
              <a:rPr lang="zh-CN" altLang="en-US" b="1"/>
              <a:t>按正负极活性物质的材料分：</a:t>
            </a:r>
            <a:endParaRPr lang="zh-CN" altLang="en-US" b="1"/>
          </a:p>
          <a:p>
            <a:pPr lvl="1" eaLnBrk="1" hangingPunct="1">
              <a:lnSpc>
                <a:spcPct val="125000"/>
              </a:lnSpc>
            </a:pPr>
            <a:r>
              <a:rPr lang="en-US" altLang="zh-CN">
                <a:latin typeface="宋体" panose="02010600030101010101" pitchFamily="2" charset="-122"/>
              </a:rPr>
              <a:t>Zn-MnO</a:t>
            </a:r>
            <a:r>
              <a:rPr lang="en-US" altLang="zh-CN" baseline="-25000">
                <a:latin typeface="宋体" panose="02010600030101010101" pitchFamily="2" charset="-122"/>
              </a:rPr>
              <a:t>2</a:t>
            </a:r>
            <a:r>
              <a:rPr lang="zh-CN" altLang="en-US">
                <a:latin typeface="宋体" panose="02010600030101010101" pitchFamily="2" charset="-122"/>
              </a:rPr>
              <a:t>系列电池。</a:t>
            </a:r>
            <a:endParaRPr lang="zh-CN" altLang="en-US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5000"/>
              </a:lnSpc>
            </a:pPr>
            <a:r>
              <a:rPr lang="en-US" altLang="zh-CN">
                <a:latin typeface="宋体" panose="02010600030101010101" pitchFamily="2" charset="-122"/>
              </a:rPr>
              <a:t>Zn</a:t>
            </a:r>
            <a:r>
              <a:rPr lang="zh-CN" altLang="en-US">
                <a:latin typeface="宋体" panose="02010600030101010101" pitchFamily="2" charset="-122"/>
              </a:rPr>
              <a:t>－</a:t>
            </a:r>
            <a:r>
              <a:rPr lang="en-US" altLang="zh-CN">
                <a:latin typeface="宋体" panose="02010600030101010101" pitchFamily="2" charset="-122"/>
              </a:rPr>
              <a:t>AgO</a:t>
            </a:r>
            <a:r>
              <a:rPr lang="zh-CN" altLang="en-US">
                <a:latin typeface="宋体" panose="02010600030101010101" pitchFamily="2" charset="-122"/>
              </a:rPr>
              <a:t>系列电池</a:t>
            </a:r>
            <a:endParaRPr lang="zh-CN" altLang="en-US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5000"/>
              </a:lnSpc>
            </a:pPr>
            <a:r>
              <a:rPr lang="en-US" altLang="zh-CN">
                <a:latin typeface="宋体" panose="02010600030101010101" pitchFamily="2" charset="-122"/>
              </a:rPr>
              <a:t>Cd-NiOOH</a:t>
            </a:r>
            <a:r>
              <a:rPr lang="zh-CN" altLang="en-US">
                <a:latin typeface="宋体" panose="02010600030101010101" pitchFamily="2" charset="-122"/>
              </a:rPr>
              <a:t>电池</a:t>
            </a:r>
            <a:endParaRPr lang="zh-CN" altLang="en-US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5000"/>
              </a:lnSpc>
            </a:pPr>
            <a:r>
              <a:rPr lang="zh-CN" altLang="en-US">
                <a:latin typeface="宋体" panose="02010600030101010101" pitchFamily="2" charset="-122"/>
              </a:rPr>
              <a:t>铅酸电池</a:t>
            </a:r>
            <a:endParaRPr lang="zh-CN" altLang="en-US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5000"/>
              </a:lnSpc>
            </a:pPr>
            <a:r>
              <a:rPr lang="zh-CN" altLang="en-US">
                <a:latin typeface="宋体" panose="02010600030101010101" pitchFamily="2" charset="-122"/>
              </a:rPr>
              <a:t>氢镍电池</a:t>
            </a:r>
            <a:endParaRPr lang="zh-CN" altLang="en-US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5000"/>
              </a:lnSpc>
            </a:pPr>
            <a:r>
              <a:rPr lang="zh-CN" altLang="en-US"/>
              <a:t>锂离子电池</a:t>
            </a:r>
            <a:endParaRPr lang="zh-CN" altLang="en-US"/>
          </a:p>
          <a:p>
            <a:pPr lvl="1" eaLnBrk="1" hangingPunct="1">
              <a:lnSpc>
                <a:spcPct val="125000"/>
              </a:lnSpc>
              <a:buFontTx/>
              <a:buNone/>
            </a:pPr>
            <a:r>
              <a:rPr lang="zh-CN" altLang="en-US"/>
              <a:t>   等等</a:t>
            </a: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活性物质的保存方式分：</a:t>
            </a:r>
            <a:endParaRPr lang="zh-CN" altLang="en-US" b="1"/>
          </a:p>
          <a:p>
            <a:pPr lvl="1" eaLnBrk="1" hangingPunct="1">
              <a:lnSpc>
                <a:spcPct val="120000"/>
              </a:lnSpc>
            </a:pPr>
            <a:r>
              <a:rPr lang="zh-CN" altLang="en-US"/>
              <a:t>活性物质保存在电极上</a:t>
            </a:r>
            <a:endParaRPr lang="zh-CN" altLang="en-US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     通常的一次、二次电池</a:t>
            </a:r>
            <a:endParaRPr lang="zh-CN" altLang="en-US" sz="2800"/>
          </a:p>
          <a:p>
            <a:pPr lvl="1" eaLnBrk="1" hangingPunct="1">
              <a:lnSpc>
                <a:spcPct val="120000"/>
              </a:lnSpc>
            </a:pPr>
            <a:r>
              <a:rPr lang="zh-CN" altLang="en-US"/>
              <a:t>活性物质从外边连续供给电极</a:t>
            </a:r>
            <a:endParaRPr lang="zh-CN" altLang="en-US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      燃料电池</a:t>
            </a:r>
            <a:endParaRPr lang="zh-CN" altLang="en-US"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95288" y="1196340"/>
            <a:ext cx="8229600" cy="32416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以丹尼尔电池为例讨论化学电源的工作原理：</a:t>
            </a:r>
            <a:endParaRPr lang="zh-CN" altLang="en-US" sz="28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丹尼尔电池：</a:t>
            </a:r>
            <a:endParaRPr lang="zh-CN" altLang="en-US" sz="28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（－）</a:t>
            </a:r>
            <a:r>
              <a:rPr lang="en-US" altLang="zh-CN" sz="2800"/>
              <a:t>Zn│ZnSO</a:t>
            </a:r>
            <a:r>
              <a:rPr lang="en-US" altLang="zh-CN" sz="2800" baseline="-25000"/>
              <a:t>4</a:t>
            </a:r>
            <a:r>
              <a:rPr lang="zh-CN" altLang="en-US" sz="2800"/>
              <a:t>（</a:t>
            </a:r>
            <a:r>
              <a:rPr lang="en-US" altLang="zh-CN" sz="2800"/>
              <a:t>c</a:t>
            </a:r>
            <a:r>
              <a:rPr lang="en-US" altLang="zh-CN" sz="2800" baseline="-25000"/>
              <a:t>1</a:t>
            </a:r>
            <a:r>
              <a:rPr lang="zh-CN" altLang="en-US" sz="2800"/>
              <a:t>）</a:t>
            </a:r>
            <a:r>
              <a:rPr lang="en-US" altLang="zh-CN" sz="2800"/>
              <a:t>‖ CuSO</a:t>
            </a:r>
            <a:r>
              <a:rPr lang="en-US" altLang="zh-CN" sz="2800" baseline="-25000"/>
              <a:t>4 </a:t>
            </a:r>
            <a:r>
              <a:rPr lang="zh-CN" altLang="en-US" sz="2800"/>
              <a:t>（</a:t>
            </a:r>
            <a:r>
              <a:rPr lang="en-US" altLang="zh-CN" sz="2800"/>
              <a:t>c</a:t>
            </a:r>
            <a:r>
              <a:rPr lang="en-US" altLang="zh-CN" sz="2800" baseline="-25000"/>
              <a:t>2</a:t>
            </a:r>
            <a:r>
              <a:rPr lang="zh-CN" altLang="en-US" sz="2800"/>
              <a:t>）</a:t>
            </a:r>
            <a:r>
              <a:rPr lang="zh-CN" altLang="en-US" sz="2800" baseline="-25000"/>
              <a:t> </a:t>
            </a:r>
            <a:r>
              <a:rPr lang="zh-CN" altLang="en-US" sz="2800"/>
              <a:t>│</a:t>
            </a:r>
            <a:r>
              <a:rPr lang="en-US" altLang="zh-CN" sz="2800"/>
              <a:t>Cu(+)</a:t>
            </a:r>
            <a:endParaRPr lang="en-US" altLang="zh-CN" sz="2800"/>
          </a:p>
        </p:txBody>
      </p:sp>
      <p:pic>
        <p:nvPicPr>
          <p:cNvPr id="21509" name="Picture 5" descr="new_pa7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997200"/>
            <a:ext cx="3024187" cy="266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4356100" y="3006725"/>
            <a:ext cx="4319588" cy="319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ea typeface="微软雅黑" panose="020B0503020204020204" charset="-122"/>
              </a:rPr>
              <a:t>负极：     </a:t>
            </a:r>
            <a:endParaRPr lang="zh-CN" altLang="en-US" sz="2400">
              <a:solidFill>
                <a:srgbClr val="000000"/>
              </a:solidFill>
              <a:ea typeface="微软雅黑" panose="020B0503020204020204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ea typeface="微软雅黑" panose="020B0503020204020204" charset="-122"/>
              </a:rPr>
              <a:t>Zn</a:t>
            </a:r>
            <a:r>
              <a:rPr lang="zh-CN" altLang="en-US" sz="2400">
                <a:solidFill>
                  <a:srgbClr val="000000"/>
                </a:solidFill>
                <a:ea typeface="微软雅黑" panose="020B0503020204020204" charset="-122"/>
              </a:rPr>
              <a:t>－</a:t>
            </a:r>
            <a:r>
              <a:rPr lang="en-US" altLang="zh-CN" sz="2400">
                <a:solidFill>
                  <a:srgbClr val="000000"/>
                </a:solidFill>
                <a:ea typeface="微软雅黑" panose="020B0503020204020204" charset="-122"/>
              </a:rPr>
              <a:t>2e→ Zn</a:t>
            </a:r>
            <a:r>
              <a:rPr lang="en-US" altLang="zh-CN" sz="2400" baseline="30000">
                <a:solidFill>
                  <a:srgbClr val="000000"/>
                </a:solidFill>
                <a:ea typeface="微软雅黑" panose="020B0503020204020204" charset="-122"/>
              </a:rPr>
              <a:t>2</a:t>
            </a:r>
            <a:r>
              <a:rPr lang="zh-CN" altLang="en-US" sz="2400" baseline="30000">
                <a:solidFill>
                  <a:srgbClr val="000000"/>
                </a:solidFill>
                <a:ea typeface="微软雅黑" panose="020B0503020204020204" charset="-122"/>
              </a:rPr>
              <a:t>＋</a:t>
            </a:r>
            <a:r>
              <a:rPr lang="zh-CN" altLang="en-US" sz="2400">
                <a:solidFill>
                  <a:srgbClr val="000000"/>
                </a:solidFill>
                <a:ea typeface="微软雅黑" panose="020B0503020204020204" charset="-122"/>
              </a:rPr>
              <a:t>     氧化</a:t>
            </a:r>
            <a:endParaRPr lang="zh-CN" altLang="en-US" sz="2400">
              <a:solidFill>
                <a:srgbClr val="000000"/>
              </a:solidFill>
              <a:ea typeface="微软雅黑" panose="020B0503020204020204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ea typeface="微软雅黑" panose="020B0503020204020204" charset="-122"/>
              </a:rPr>
              <a:t>正极：  </a:t>
            </a:r>
            <a:endParaRPr lang="zh-CN" altLang="en-US" sz="2400">
              <a:solidFill>
                <a:srgbClr val="000000"/>
              </a:solidFill>
              <a:ea typeface="微软雅黑" panose="020B0503020204020204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ea typeface="微软雅黑" panose="020B0503020204020204" charset="-122"/>
              </a:rPr>
              <a:t>    </a:t>
            </a:r>
            <a:r>
              <a:rPr lang="en-US" altLang="zh-CN" sz="2400">
                <a:solidFill>
                  <a:srgbClr val="000000"/>
                </a:solidFill>
                <a:ea typeface="微软雅黑" panose="020B0503020204020204" charset="-122"/>
              </a:rPr>
              <a:t>Cu</a:t>
            </a:r>
            <a:r>
              <a:rPr lang="en-US" altLang="zh-CN" sz="2400" baseline="30000">
                <a:solidFill>
                  <a:srgbClr val="000000"/>
                </a:solidFill>
                <a:ea typeface="微软雅黑" panose="020B0503020204020204" charset="-122"/>
              </a:rPr>
              <a:t>2</a:t>
            </a:r>
            <a:r>
              <a:rPr lang="zh-CN" altLang="en-US" sz="2400" baseline="30000">
                <a:solidFill>
                  <a:srgbClr val="000000"/>
                </a:solidFill>
                <a:ea typeface="微软雅黑" panose="020B0503020204020204" charset="-122"/>
              </a:rPr>
              <a:t>＋</a:t>
            </a:r>
            <a:r>
              <a:rPr lang="zh-CN" altLang="en-US" sz="2400">
                <a:solidFill>
                  <a:srgbClr val="000000"/>
                </a:solidFill>
                <a:ea typeface="微软雅黑" panose="020B0503020204020204" charset="-122"/>
              </a:rPr>
              <a:t>＋</a:t>
            </a:r>
            <a:r>
              <a:rPr lang="en-US" altLang="zh-CN" sz="2400">
                <a:solidFill>
                  <a:srgbClr val="000000"/>
                </a:solidFill>
                <a:ea typeface="微软雅黑" panose="020B0503020204020204" charset="-122"/>
              </a:rPr>
              <a:t>2e→Cu       </a:t>
            </a:r>
            <a:r>
              <a:rPr lang="zh-CN" altLang="en-US" sz="2400">
                <a:solidFill>
                  <a:srgbClr val="000000"/>
                </a:solidFill>
                <a:ea typeface="微软雅黑" panose="020B0503020204020204" charset="-122"/>
              </a:rPr>
              <a:t>还原</a:t>
            </a:r>
            <a:endParaRPr lang="zh-CN" altLang="en-US" sz="2400">
              <a:solidFill>
                <a:srgbClr val="000000"/>
              </a:solidFill>
              <a:ea typeface="微软雅黑" panose="020B0503020204020204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ea typeface="微软雅黑" panose="020B0503020204020204" charset="-122"/>
              </a:rPr>
              <a:t>电池反应：</a:t>
            </a:r>
            <a:endParaRPr lang="zh-CN" altLang="en-US" sz="2400">
              <a:solidFill>
                <a:srgbClr val="000000"/>
              </a:solidFill>
              <a:ea typeface="微软雅黑" panose="020B0503020204020204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ea typeface="微软雅黑" panose="020B0503020204020204" charset="-122"/>
              </a:rPr>
              <a:t>Zn</a:t>
            </a:r>
            <a:r>
              <a:rPr lang="zh-CN" altLang="en-US" sz="2400">
                <a:solidFill>
                  <a:srgbClr val="000000"/>
                </a:solidFill>
                <a:ea typeface="微软雅黑" panose="020B0503020204020204" charset="-122"/>
              </a:rPr>
              <a:t>＋</a:t>
            </a:r>
            <a:r>
              <a:rPr lang="en-US" altLang="zh-CN" sz="2400">
                <a:solidFill>
                  <a:srgbClr val="000000"/>
                </a:solidFill>
                <a:ea typeface="微软雅黑" panose="020B0503020204020204" charset="-122"/>
              </a:rPr>
              <a:t>Cu</a:t>
            </a:r>
            <a:r>
              <a:rPr lang="en-US" altLang="zh-CN" sz="2400" baseline="30000">
                <a:solidFill>
                  <a:srgbClr val="000000"/>
                </a:solidFill>
                <a:ea typeface="微软雅黑" panose="020B0503020204020204" charset="-122"/>
              </a:rPr>
              <a:t>2</a:t>
            </a:r>
            <a:r>
              <a:rPr lang="zh-CN" altLang="en-US" sz="2400" baseline="30000">
                <a:solidFill>
                  <a:srgbClr val="000000"/>
                </a:solidFill>
                <a:ea typeface="微软雅黑" panose="020B0503020204020204" charset="-122"/>
              </a:rPr>
              <a:t>＋</a:t>
            </a:r>
            <a:r>
              <a:rPr lang="zh-CN" altLang="en-US" sz="2400">
                <a:solidFill>
                  <a:srgbClr val="000000"/>
                </a:solidFill>
                <a:ea typeface="微软雅黑" panose="020B0503020204020204" charset="-122"/>
              </a:rPr>
              <a:t>→</a:t>
            </a:r>
            <a:r>
              <a:rPr lang="en-US" altLang="zh-CN" sz="2400">
                <a:solidFill>
                  <a:srgbClr val="000000"/>
                </a:solidFill>
                <a:ea typeface="微软雅黑" panose="020B0503020204020204" charset="-122"/>
              </a:rPr>
              <a:t>Zn</a:t>
            </a:r>
            <a:r>
              <a:rPr lang="en-US" altLang="zh-CN" sz="2400" baseline="30000">
                <a:solidFill>
                  <a:srgbClr val="000000"/>
                </a:solidFill>
                <a:ea typeface="微软雅黑" panose="020B0503020204020204" charset="-122"/>
              </a:rPr>
              <a:t>2</a:t>
            </a:r>
            <a:r>
              <a:rPr lang="zh-CN" altLang="en-US" sz="2400" baseline="30000">
                <a:solidFill>
                  <a:srgbClr val="000000"/>
                </a:solidFill>
                <a:ea typeface="微软雅黑" panose="020B0503020204020204" charset="-122"/>
              </a:rPr>
              <a:t>＋</a:t>
            </a:r>
            <a:r>
              <a:rPr lang="zh-CN" altLang="en-US" sz="2400">
                <a:solidFill>
                  <a:srgbClr val="000000"/>
                </a:solidFill>
                <a:ea typeface="微软雅黑" panose="020B0503020204020204" charset="-122"/>
              </a:rPr>
              <a:t>＋</a:t>
            </a:r>
            <a:r>
              <a:rPr lang="en-US" altLang="zh-CN" sz="2400">
                <a:solidFill>
                  <a:srgbClr val="000000"/>
                </a:solidFill>
                <a:ea typeface="微软雅黑" panose="020B0503020204020204" charset="-122"/>
              </a:rPr>
              <a:t>Cu </a:t>
            </a:r>
            <a:endParaRPr lang="en-US" altLang="zh-CN" sz="2400">
              <a:solidFill>
                <a:srgbClr val="000000"/>
              </a:solidFill>
              <a:ea typeface="微软雅黑" panose="020B0503020204020204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ea typeface="微软雅黑" panose="020B0503020204020204" charset="-122"/>
              </a:rPr>
              <a:t>                 —</a:t>
            </a:r>
            <a:r>
              <a:rPr lang="zh-CN" altLang="en-US" sz="2400">
                <a:solidFill>
                  <a:srgbClr val="000000"/>
                </a:solidFill>
                <a:ea typeface="微软雅黑" panose="020B0503020204020204" charset="-122"/>
              </a:rPr>
              <a:t>成流反应</a:t>
            </a:r>
            <a:endParaRPr lang="zh-CN" altLang="en-US" sz="2400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122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51460" y="-99695"/>
            <a:ext cx="8540750" cy="1143000"/>
          </a:xfrm>
        </p:spPr>
        <p:txBody>
          <a:bodyPr/>
          <a:lstStyle/>
          <a:p>
            <a:pPr eaLnBrk="1" hangingPunct="1"/>
            <a:r>
              <a:rPr lang="en-US" altLang="zh-CN" sz="4500" b="1">
                <a:solidFill>
                  <a:srgbClr val="660033"/>
                </a:solidFill>
                <a:latin typeface="Arial" panose="020B0604020202020204" pitchFamily="34" charset="0"/>
                <a:ea typeface="微软雅黑" panose="020B0503020204020204" charset="-122"/>
              </a:rPr>
              <a:t>3.1.3 </a:t>
            </a:r>
            <a:r>
              <a:rPr lang="zh-CN" altLang="en-US" sz="4500" b="1">
                <a:solidFill>
                  <a:srgbClr val="660033"/>
                </a:solidFill>
                <a:latin typeface="Arial" panose="020B0604020202020204" pitchFamily="34" charset="0"/>
                <a:ea typeface="微软雅黑" panose="020B0503020204020204" charset="-122"/>
              </a:rPr>
              <a:t>化学电源的工作原理</a:t>
            </a:r>
            <a:endParaRPr lang="zh-CN" altLang="en-US" sz="4500" b="1">
              <a:solidFill>
                <a:srgbClr val="660033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5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5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5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5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5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5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5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5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51460" y="-99695"/>
            <a:ext cx="8540750" cy="1143000"/>
          </a:xfrm>
        </p:spPr>
        <p:txBody>
          <a:bodyPr/>
          <a:lstStyle/>
          <a:p>
            <a:pPr eaLnBrk="1" hangingPunct="1"/>
            <a:r>
              <a:rPr lang="en-US" altLang="zh-CN" sz="4500" b="1">
                <a:solidFill>
                  <a:srgbClr val="660033"/>
                </a:solidFill>
                <a:latin typeface="Arial" panose="020B0604020202020204" pitchFamily="34" charset="0"/>
                <a:ea typeface="微软雅黑" panose="020B0503020204020204" charset="-122"/>
              </a:rPr>
              <a:t>3.1.4 </a:t>
            </a:r>
            <a:r>
              <a:rPr lang="zh-CN" altLang="en-US" sz="4500" b="1">
                <a:solidFill>
                  <a:srgbClr val="660033"/>
                </a:solidFill>
                <a:latin typeface="Arial" panose="020B0604020202020204" pitchFamily="34" charset="0"/>
                <a:ea typeface="微软雅黑" panose="020B0503020204020204" charset="-122"/>
              </a:rPr>
              <a:t>化学电源的主要性能</a:t>
            </a:r>
            <a:endParaRPr lang="zh-CN" altLang="en-US" sz="4500" b="1">
              <a:solidFill>
                <a:srgbClr val="660033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229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23215" y="1052830"/>
            <a:ext cx="8014335" cy="5515610"/>
          </a:xfrm>
        </p:spPr>
        <p:txBody>
          <a:bodyPr/>
          <a:lstStyle/>
          <a:p>
            <a:pPr eaLnBrk="1" hangingPunct="1"/>
            <a:r>
              <a:rPr lang="zh-CN" altLang="en-US" sz="3600" b="1"/>
              <a:t>电池的</a:t>
            </a:r>
            <a:r>
              <a:rPr lang="zh-CN" altLang="en-US" sz="3600" b="1">
                <a:sym typeface="+mn-ea"/>
              </a:rPr>
              <a:t>电动势、</a:t>
            </a:r>
            <a:r>
              <a:rPr lang="zh-CN" altLang="en-US" sz="3600" b="1"/>
              <a:t>开路电压、</a:t>
            </a:r>
            <a:r>
              <a:rPr lang="zh-CN" altLang="en-US" sz="3600" b="1">
                <a:sym typeface="+mn-ea"/>
              </a:rPr>
              <a:t>工作电压</a:t>
            </a:r>
            <a:r>
              <a:rPr lang="zh-CN" altLang="en-US" sz="3600" b="1"/>
              <a:t>：</a:t>
            </a:r>
            <a:endParaRPr lang="zh-CN" altLang="en-US" sz="3600" b="1"/>
          </a:p>
          <a:p>
            <a:pPr lvl="1" eaLnBrk="1" hangingPunct="1">
              <a:lnSpc>
                <a:spcPct val="115000"/>
              </a:lnSpc>
            </a:pPr>
            <a:r>
              <a:rPr lang="zh-CN" altLang="en-US" sz="3200" b="1"/>
              <a:t>电动势</a:t>
            </a:r>
            <a:r>
              <a:rPr lang="en-US" altLang="zh-CN" sz="3200" b="1"/>
              <a:t>E</a:t>
            </a:r>
            <a:r>
              <a:rPr lang="zh-CN" altLang="en-US" sz="3200" b="1"/>
              <a:t>： </a:t>
            </a:r>
            <a:endParaRPr lang="zh-CN" altLang="en-US" sz="3200" b="1"/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  </a:t>
            </a:r>
            <a:r>
              <a:rPr lang="zh-CN" altLang="en-US"/>
              <a:t>电池两极断路时，处于热力学平衡状态下，两极平衡电位之差。</a:t>
            </a:r>
            <a:endParaRPr lang="zh-CN" altLang="en-US"/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endParaRPr lang="zh-CN" altLang="en-US"/>
          </a:p>
          <a:p>
            <a:pPr lvl="1" algn="l" eaLnBrk="1" hangingPunct="1">
              <a:lnSpc>
                <a:spcPct val="115000"/>
              </a:lnSpc>
              <a:buSzTx/>
              <a:buFontTx/>
            </a:pPr>
            <a:r>
              <a:rPr lang="zh-CN" altLang="en-US" sz="3200" b="1">
                <a:cs typeface="+mn-ea"/>
              </a:rPr>
              <a:t>开路电压</a:t>
            </a:r>
            <a:r>
              <a:rPr lang="en-US" altLang="zh-CN" sz="3200" b="1">
                <a:cs typeface="+mn-ea"/>
              </a:rPr>
              <a:t>OCV:</a:t>
            </a:r>
            <a:endParaRPr lang="en-US" altLang="zh-CN" sz="3200" b="1">
              <a:cs typeface="+mn-ea"/>
            </a:endParaRPr>
          </a:p>
          <a:p>
            <a:pPr marL="457200" lvl="1" indent="0" algn="l" eaLnBrk="1" hangingPunct="1">
              <a:lnSpc>
                <a:spcPct val="115000"/>
              </a:lnSpc>
              <a:buSzTx/>
              <a:buFontTx/>
              <a:buNone/>
            </a:pPr>
            <a:r>
              <a:rPr lang="zh-CN" altLang="en-US" sz="3200">
                <a:latin typeface="+mn-ea"/>
                <a:sym typeface="+mn-ea"/>
              </a:rPr>
              <a:t>电池停止放电状态下，正负两极端间的电压。</a:t>
            </a:r>
            <a:r>
              <a:rPr lang="zh-CN" altLang="en-US">
                <a:latin typeface="+mn-ea"/>
                <a:sym typeface="+mn-ea"/>
              </a:rPr>
              <a:t>（是处于断路状态，即无负荷情况下的电池电压）</a:t>
            </a:r>
            <a:endParaRPr lang="zh-CN" altLang="en-US">
              <a:latin typeface="+mn-ea"/>
              <a:ea typeface="+mn-ea"/>
            </a:endParaRPr>
          </a:p>
          <a:p>
            <a:pPr lvl="1" algn="l" eaLnBrk="1" hangingPunct="1">
              <a:lnSpc>
                <a:spcPct val="115000"/>
              </a:lnSpc>
              <a:buSzTx/>
              <a:buFontTx/>
            </a:pPr>
            <a:endParaRPr lang="en-US" altLang="zh-CN" b="1">
              <a:cs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ChangeArrowheads="1"/>
          </p:cNvSpPr>
          <p:nvPr/>
        </p:nvSpPr>
        <p:spPr bwMode="auto">
          <a:xfrm>
            <a:off x="827088" y="549275"/>
            <a:ext cx="626427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电池的电动势</a:t>
            </a:r>
            <a:r>
              <a:rPr kumimoji="1" lang="en-US" altLang="zh-CN" sz="2400" b="1">
                <a:ea typeface="微软雅黑" panose="020B0503020204020204" charset="-122"/>
              </a:rPr>
              <a:t>E</a:t>
            </a:r>
            <a:r>
              <a:rPr kumimoji="1" lang="zh-CN" altLang="en-US" sz="2400" b="1">
                <a:ea typeface="微软雅黑" panose="020B0503020204020204" charset="-122"/>
              </a:rPr>
              <a:t>的大小可通过电池热力学原理理论计算获得。即：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graphicFrame>
        <p:nvGraphicFramePr>
          <p:cNvPr id="13315" name="Object 5"/>
          <p:cNvGraphicFramePr>
            <a:graphicFrameLocks noGrp="1" noChangeAspect="1"/>
          </p:cNvGraphicFramePr>
          <p:nvPr>
            <p:ph sz="half" idx="1"/>
          </p:nvPr>
        </p:nvGraphicFramePr>
        <p:xfrm>
          <a:off x="1403350" y="1341438"/>
          <a:ext cx="2232025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5" name="Equation" r:id="rId1" imgW="812165" imgH="241300" progId="Equation.DSMT4">
                  <p:embed/>
                </p:oleObj>
              </mc:Choice>
              <mc:Fallback>
                <p:oleObj name="Equation" r:id="rId1" imgW="812165" imgH="241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341438"/>
                        <a:ext cx="2232025" cy="66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4572000" y="1341438"/>
          <a:ext cx="2520950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6" name="Equation" r:id="rId3" imgW="1346200" imgH="431800" progId="Equation.DSMT4">
                  <p:embed/>
                </p:oleObj>
              </mc:Choice>
              <mc:Fallback>
                <p:oleObj name="Equation" r:id="rId3" imgW="1346200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341438"/>
                        <a:ext cx="2520950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10"/>
          <p:cNvGraphicFramePr>
            <a:graphicFrameLocks noChangeAspect="1"/>
          </p:cNvGraphicFramePr>
          <p:nvPr/>
        </p:nvGraphicFramePr>
        <p:xfrm>
          <a:off x="1403350" y="2133600"/>
          <a:ext cx="5329238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7" name="Equation" r:id="rId5" imgW="2425700" imgH="533400" progId="Equation.DSMT4">
                  <p:embed/>
                </p:oleObj>
              </mc:Choice>
              <mc:Fallback>
                <p:oleObj name="Equation" r:id="rId5" imgW="2425700" imgH="533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133600"/>
                        <a:ext cx="5329238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11"/>
          <p:cNvGraphicFramePr>
            <a:graphicFrameLocks noChangeAspect="1"/>
          </p:cNvGraphicFramePr>
          <p:nvPr/>
        </p:nvGraphicFramePr>
        <p:xfrm>
          <a:off x="1403350" y="3357563"/>
          <a:ext cx="6264275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8" name="Equation" r:id="rId7" imgW="2946400" imgH="431800" progId="Equation.DSMT4">
                  <p:embed/>
                </p:oleObj>
              </mc:Choice>
              <mc:Fallback>
                <p:oleObj name="Equation" r:id="rId7" imgW="2946400" imgH="431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357563"/>
                        <a:ext cx="6264275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Text Box 12"/>
          <p:cNvSpPr txBox="1">
            <a:spLocks noChangeArrowheads="1"/>
          </p:cNvSpPr>
          <p:nvPr/>
        </p:nvSpPr>
        <p:spPr bwMode="auto">
          <a:xfrm>
            <a:off x="468313" y="4221163"/>
            <a:ext cx="820737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        </a:t>
            </a:r>
            <a:r>
              <a:rPr kumimoji="1" lang="zh-CN" altLang="en-US" sz="2400" b="1">
                <a:ea typeface="微软雅黑" panose="020B0503020204020204" charset="-122"/>
              </a:rPr>
              <a:t>由此可以明确地看出，若正极的电位越正，负极的电位越负，电池的电动势也就越高。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13320" name="Text Box 13"/>
          <p:cNvSpPr txBox="1">
            <a:spLocks noChangeArrowheads="1"/>
          </p:cNvSpPr>
          <p:nvPr/>
        </p:nvSpPr>
        <p:spPr bwMode="auto">
          <a:xfrm>
            <a:off x="250825" y="5013325"/>
            <a:ext cx="838200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         </a:t>
            </a:r>
            <a:r>
              <a:rPr kumimoji="1" lang="zh-CN" altLang="en-US" sz="2400" b="1">
                <a:ea typeface="微软雅黑" panose="020B0503020204020204" charset="-122"/>
              </a:rPr>
              <a:t>从元素的标准电位序来看，在元素周期表左上边的元素（</a:t>
            </a:r>
            <a:r>
              <a:rPr kumimoji="1" lang="en-US" altLang="zh-CN" sz="2400" b="1">
                <a:ea typeface="微软雅黑" panose="020B0503020204020204" charset="-122"/>
              </a:rPr>
              <a:t>IA,IIA</a:t>
            </a:r>
            <a:r>
              <a:rPr kumimoji="1" lang="zh-CN" altLang="en-US" sz="2400" b="1">
                <a:ea typeface="微软雅黑" panose="020B0503020204020204" charset="-122"/>
              </a:rPr>
              <a:t>族）具有较负的电位，右上边的元素（</a:t>
            </a:r>
            <a:r>
              <a:rPr kumimoji="1" lang="en-US" altLang="zh-CN" sz="2400" b="1">
                <a:ea typeface="微软雅黑" panose="020B0503020204020204" charset="-122"/>
              </a:rPr>
              <a:t>VIA,VIIA</a:t>
            </a:r>
            <a:r>
              <a:rPr kumimoji="1" lang="zh-CN" altLang="en-US" sz="2400" b="1">
                <a:ea typeface="微软雅黑" panose="020B0503020204020204" charset="-122"/>
              </a:rPr>
              <a:t>族）具有较正的电位。由这些元素组成的电池可以得到较高的电动势。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5"/>
          <p:cNvSpPr>
            <a:spLocks noChangeArrowheads="1"/>
          </p:cNvSpPr>
          <p:nvPr/>
        </p:nvSpPr>
        <p:spPr bwMode="auto">
          <a:xfrm>
            <a:off x="381000" y="476250"/>
            <a:ext cx="3497580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0" rIns="9000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其中以</a:t>
            </a:r>
            <a:r>
              <a:rPr kumimoji="1" lang="en-US" altLang="zh-CN" sz="2400" b="1">
                <a:ea typeface="微软雅黑" panose="020B0503020204020204" charset="-122"/>
              </a:rPr>
              <a:t>Li</a:t>
            </a:r>
            <a:r>
              <a:rPr kumimoji="1" lang="zh-CN" altLang="en-US" sz="2400" b="1">
                <a:ea typeface="微软雅黑" panose="020B0503020204020204" charset="-122"/>
              </a:rPr>
              <a:t>的电位为最负：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graphicFrame>
        <p:nvGraphicFramePr>
          <p:cNvPr id="14339" name="Object 6"/>
          <p:cNvGraphicFramePr>
            <a:graphicFrameLocks noChangeAspect="1"/>
          </p:cNvGraphicFramePr>
          <p:nvPr/>
        </p:nvGraphicFramePr>
        <p:xfrm>
          <a:off x="3581400" y="1009650"/>
          <a:ext cx="27432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8" name="Equation" r:id="rId1" imgW="850265" imgH="241300" progId="Equation.DSMT4">
                  <p:embed/>
                </p:oleObj>
              </mc:Choice>
              <mc:Fallback>
                <p:oleObj name="Equation" r:id="rId1" imgW="850265" imgH="241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009650"/>
                        <a:ext cx="274320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7"/>
          <p:cNvGraphicFramePr>
            <a:graphicFrameLocks noChangeAspect="1"/>
          </p:cNvGraphicFramePr>
          <p:nvPr/>
        </p:nvGraphicFramePr>
        <p:xfrm>
          <a:off x="990600" y="1009650"/>
          <a:ext cx="23622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9" name="Equation" r:id="rId3" imgW="812165" imgH="203200" progId="Equation.DSMT4">
                  <p:embed/>
                </p:oleObj>
              </mc:Choice>
              <mc:Fallback>
                <p:oleObj name="Equation" r:id="rId3" imgW="812165" imgH="203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009650"/>
                        <a:ext cx="23622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Text Box 8"/>
          <p:cNvSpPr txBox="1">
            <a:spLocks noChangeArrowheads="1"/>
          </p:cNvSpPr>
          <p:nvPr/>
        </p:nvSpPr>
        <p:spPr bwMode="auto">
          <a:xfrm>
            <a:off x="6248400" y="1085850"/>
            <a:ext cx="2895600" cy="430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0" rIns="9000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800" b="1">
                <a:ea typeface="微软雅黑" panose="020B0503020204020204" charset="-122"/>
              </a:rPr>
              <a:t>(</a:t>
            </a:r>
            <a:r>
              <a:rPr kumimoji="1" lang="zh-CN" altLang="en-US" sz="2800" b="1">
                <a:ea typeface="微软雅黑" panose="020B0503020204020204" charset="-122"/>
              </a:rPr>
              <a:t>在酸性介质中</a:t>
            </a:r>
            <a:r>
              <a:rPr kumimoji="1" lang="en-US" altLang="zh-CN" sz="2800" b="1">
                <a:ea typeface="微软雅黑" panose="020B0503020204020204" charset="-122"/>
              </a:rPr>
              <a:t>)</a:t>
            </a:r>
            <a:endParaRPr kumimoji="1" lang="en-US" altLang="zh-CN" sz="2800" b="1">
              <a:ea typeface="微软雅黑" panose="020B0503020204020204" charset="-122"/>
            </a:endParaRPr>
          </a:p>
        </p:txBody>
      </p:sp>
      <p:sp>
        <p:nvSpPr>
          <p:cNvPr id="14342" name="Text Box 9"/>
          <p:cNvSpPr txBox="1">
            <a:spLocks noChangeArrowheads="1"/>
          </p:cNvSpPr>
          <p:nvPr/>
        </p:nvSpPr>
        <p:spPr bwMode="auto">
          <a:xfrm>
            <a:off x="304800" y="1543050"/>
            <a:ext cx="3200400" cy="430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0" rIns="9000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800" b="1">
                <a:ea typeface="微软雅黑" panose="020B0503020204020204" charset="-122"/>
              </a:rPr>
              <a:t>氟的电位为最正：</a:t>
            </a:r>
            <a:endParaRPr kumimoji="1" lang="zh-CN" altLang="en-US" sz="2800" b="1">
              <a:ea typeface="微软雅黑" panose="020B0503020204020204" charset="-122"/>
            </a:endParaRPr>
          </a:p>
        </p:txBody>
      </p:sp>
      <p:graphicFrame>
        <p:nvGraphicFramePr>
          <p:cNvPr id="14343" name="Object 11"/>
          <p:cNvGraphicFramePr>
            <a:graphicFrameLocks noChangeAspect="1"/>
          </p:cNvGraphicFramePr>
          <p:nvPr/>
        </p:nvGraphicFramePr>
        <p:xfrm>
          <a:off x="3810000" y="2000250"/>
          <a:ext cx="2057400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0" name="Equation" r:id="rId5" imgW="698500" imgH="241300" progId="Equation.DSMT4">
                  <p:embed/>
                </p:oleObj>
              </mc:Choice>
              <mc:Fallback>
                <p:oleObj name="Equation" r:id="rId5" imgW="698500" imgH="241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000250"/>
                        <a:ext cx="2057400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Text Box 12"/>
          <p:cNvSpPr txBox="1">
            <a:spLocks noChangeArrowheads="1"/>
          </p:cNvSpPr>
          <p:nvPr/>
        </p:nvSpPr>
        <p:spPr bwMode="auto">
          <a:xfrm>
            <a:off x="457200" y="2609850"/>
            <a:ext cx="746760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        </a:t>
            </a:r>
            <a:r>
              <a:rPr kumimoji="1" lang="zh-CN" altLang="en-US" sz="2400" b="1">
                <a:ea typeface="微软雅黑" panose="020B0503020204020204" charset="-122"/>
              </a:rPr>
              <a:t>若做成锂氟电池                                ，其电动势可达</a:t>
            </a:r>
            <a:r>
              <a:rPr kumimoji="1" lang="en-US" altLang="zh-CN" sz="2400" b="1">
                <a:ea typeface="微软雅黑" panose="020B0503020204020204" charset="-122"/>
              </a:rPr>
              <a:t>5.91V</a:t>
            </a:r>
            <a:r>
              <a:rPr kumimoji="1" lang="zh-CN" altLang="en-US" sz="2400" b="1">
                <a:ea typeface="微软雅黑" panose="020B0503020204020204" charset="-122"/>
              </a:rPr>
              <a:t>。这是化学电源中电动势最高的数值。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14345" name="Text Box 14"/>
          <p:cNvSpPr txBox="1">
            <a:spLocks noChangeArrowheads="1"/>
          </p:cNvSpPr>
          <p:nvPr/>
        </p:nvSpPr>
        <p:spPr bwMode="auto">
          <a:xfrm>
            <a:off x="533400" y="3448050"/>
            <a:ext cx="762000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         </a:t>
            </a:r>
            <a:r>
              <a:rPr kumimoji="1" lang="zh-CN" altLang="en-US" sz="2400" b="1">
                <a:ea typeface="微软雅黑" panose="020B0503020204020204" charset="-122"/>
              </a:rPr>
              <a:t>应当注意的是，在选择电极活性物质时，不能只看平衡电位数值的高低，还要看（</a:t>
            </a:r>
            <a:r>
              <a:rPr kumimoji="1" lang="en-US" altLang="zh-CN" sz="2400" b="1">
                <a:ea typeface="微软雅黑" panose="020B0503020204020204" charset="-122"/>
              </a:rPr>
              <a:t>1</a:t>
            </a:r>
            <a:r>
              <a:rPr kumimoji="1" lang="zh-CN" altLang="en-US" sz="2400" b="1">
                <a:ea typeface="微软雅黑" panose="020B0503020204020204" charset="-122"/>
              </a:rPr>
              <a:t>）它在介质中的稳定性（</a:t>
            </a:r>
            <a:r>
              <a:rPr kumimoji="1" lang="en-US" altLang="zh-CN" sz="2400" b="1">
                <a:ea typeface="微软雅黑" panose="020B0503020204020204" charset="-122"/>
              </a:rPr>
              <a:t>2</a:t>
            </a:r>
            <a:r>
              <a:rPr kumimoji="1" lang="zh-CN" altLang="en-US" sz="2400" b="1">
                <a:ea typeface="微软雅黑" panose="020B0503020204020204" charset="-122"/>
              </a:rPr>
              <a:t>）材料来源（</a:t>
            </a:r>
            <a:r>
              <a:rPr kumimoji="1" lang="en-US" altLang="zh-CN" sz="2400" b="1">
                <a:ea typeface="微软雅黑" panose="020B0503020204020204" charset="-122"/>
              </a:rPr>
              <a:t>3</a:t>
            </a:r>
            <a:r>
              <a:rPr kumimoji="1" lang="zh-CN" altLang="en-US" sz="2400" b="1">
                <a:ea typeface="微软雅黑" panose="020B0503020204020204" charset="-122"/>
              </a:rPr>
              <a:t>）电化当量等多方面的因素。例如</a:t>
            </a:r>
            <a:r>
              <a:rPr kumimoji="1" lang="en-US" altLang="zh-CN" sz="2400" b="1">
                <a:ea typeface="微软雅黑" panose="020B0503020204020204" charset="-122"/>
              </a:rPr>
              <a:t>Li</a:t>
            </a:r>
            <a:r>
              <a:rPr kumimoji="1" lang="zh-CN" altLang="en-US" sz="2400" b="1">
                <a:ea typeface="微软雅黑" panose="020B0503020204020204" charset="-122"/>
              </a:rPr>
              <a:t>－</a:t>
            </a:r>
            <a:r>
              <a:rPr kumimoji="1" lang="en-US" altLang="zh-CN" sz="2400" b="1">
                <a:ea typeface="微软雅黑" panose="020B0503020204020204" charset="-122"/>
              </a:rPr>
              <a:t>F</a:t>
            </a:r>
            <a:r>
              <a:rPr kumimoji="1" lang="en-US" altLang="zh-CN" sz="2400" b="1" baseline="-25000">
                <a:ea typeface="微软雅黑" panose="020B0503020204020204" charset="-122"/>
              </a:rPr>
              <a:t>2</a:t>
            </a:r>
            <a:r>
              <a:rPr kumimoji="1" lang="en-US" altLang="zh-CN" sz="2400" b="1">
                <a:ea typeface="微软雅黑" panose="020B0503020204020204" charset="-122"/>
              </a:rPr>
              <a:t>,</a:t>
            </a:r>
            <a:r>
              <a:rPr kumimoji="1" lang="zh-CN" altLang="en-US" sz="2400" b="1">
                <a:ea typeface="微软雅黑" panose="020B0503020204020204" charset="-122"/>
              </a:rPr>
              <a:t>若组成电池，它具有很高的电动势，但由于</a:t>
            </a:r>
            <a:r>
              <a:rPr kumimoji="1" lang="en-US" altLang="zh-CN" sz="2400" b="1">
                <a:ea typeface="微软雅黑" panose="020B0503020204020204" charset="-122"/>
              </a:rPr>
              <a:t>Li</a:t>
            </a:r>
            <a:r>
              <a:rPr kumimoji="1" lang="zh-CN" altLang="en-US" sz="2400" b="1">
                <a:ea typeface="微软雅黑" panose="020B0503020204020204" charset="-122"/>
              </a:rPr>
              <a:t>只适用于非水溶剂电解质，</a:t>
            </a:r>
            <a:r>
              <a:rPr kumimoji="1" lang="en-US" altLang="zh-CN" sz="2400" b="1">
                <a:ea typeface="微软雅黑" panose="020B0503020204020204" charset="-122"/>
              </a:rPr>
              <a:t>F</a:t>
            </a:r>
            <a:r>
              <a:rPr kumimoji="1" lang="en-US" altLang="zh-CN" sz="2400" b="1" baseline="-25000">
                <a:ea typeface="微软雅黑" panose="020B0503020204020204" charset="-122"/>
              </a:rPr>
              <a:t>2</a:t>
            </a:r>
            <a:r>
              <a:rPr kumimoji="1" lang="zh-CN" altLang="en-US" sz="2400" b="1">
                <a:ea typeface="微软雅黑" panose="020B0503020204020204" charset="-122"/>
              </a:rPr>
              <a:t>是活性的气体，不易储存和和控制，因而由单质</a:t>
            </a:r>
            <a:r>
              <a:rPr kumimoji="1" lang="en-US" altLang="zh-CN" sz="2400" b="1">
                <a:ea typeface="微软雅黑" panose="020B0503020204020204" charset="-122"/>
              </a:rPr>
              <a:t>Li</a:t>
            </a:r>
            <a:r>
              <a:rPr kumimoji="1" lang="zh-CN" altLang="en-US" sz="2400" b="1">
                <a:ea typeface="微软雅黑" panose="020B0503020204020204" charset="-122"/>
              </a:rPr>
              <a:t>与</a:t>
            </a:r>
            <a:r>
              <a:rPr kumimoji="1" lang="en-US" altLang="zh-CN" sz="2400" b="1">
                <a:ea typeface="微软雅黑" panose="020B0503020204020204" charset="-122"/>
              </a:rPr>
              <a:t>F</a:t>
            </a:r>
            <a:r>
              <a:rPr kumimoji="1" lang="en-US" altLang="zh-CN" sz="2400" b="1" baseline="-25000">
                <a:ea typeface="微软雅黑" panose="020B0503020204020204" charset="-122"/>
              </a:rPr>
              <a:t>2</a:t>
            </a:r>
            <a:r>
              <a:rPr kumimoji="1" lang="zh-CN" altLang="en-US" sz="2400" b="1">
                <a:ea typeface="微软雅黑" panose="020B0503020204020204" charset="-122"/>
              </a:rPr>
              <a:t>组成电池也是不切合实际的。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graphicFrame>
        <p:nvGraphicFramePr>
          <p:cNvPr id="14346" name="Object 15"/>
          <p:cNvGraphicFramePr>
            <a:graphicFrameLocks noGrp="1" noChangeAspect="1"/>
          </p:cNvGraphicFramePr>
          <p:nvPr>
            <p:ph sz="half" idx="1"/>
          </p:nvPr>
        </p:nvGraphicFramePr>
        <p:xfrm>
          <a:off x="827088" y="2060575"/>
          <a:ext cx="244792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1" name="公式" r:id="rId7" imgW="939800" imgH="228600" progId="Equation.3">
                  <p:embed/>
                </p:oleObj>
              </mc:Choice>
              <mc:Fallback>
                <p:oleObj name="公式" r:id="rId7" imgW="939800" imgH="228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060575"/>
                        <a:ext cx="2447925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Object 17"/>
          <p:cNvGraphicFramePr>
            <a:graphicFrameLocks noGrp="1" noChangeAspect="1"/>
          </p:cNvGraphicFramePr>
          <p:nvPr>
            <p:ph sz="half" idx="2"/>
          </p:nvPr>
        </p:nvGraphicFramePr>
        <p:xfrm>
          <a:off x="3348038" y="2636838"/>
          <a:ext cx="2376487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2" name="公式" r:id="rId9" imgW="1078865" imgH="215900" progId="Equation.3">
                  <p:embed/>
                </p:oleObj>
              </mc:Choice>
              <mc:Fallback>
                <p:oleObj name="公式" r:id="rId9" imgW="1078865" imgH="2159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2636838"/>
                        <a:ext cx="2376487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31203"/>
          <a:stretch>
            <a:fillRect/>
          </a:stretch>
        </p:blipFill>
        <p:spPr>
          <a:xfrm>
            <a:off x="323215" y="1772920"/>
            <a:ext cx="8645525" cy="25019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11505" y="548640"/>
            <a:ext cx="673798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/>
            <a:r>
              <a:rPr lang="zh-CN" sz="3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工作电压（闭路电压、端电压）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32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23215" y="1844675"/>
            <a:ext cx="8786495" cy="353504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23850" y="1052513"/>
            <a:ext cx="8569325" cy="5078412"/>
          </a:xfrm>
        </p:spPr>
        <p:txBody>
          <a:bodyPr/>
          <a:lstStyle/>
          <a:p>
            <a:pPr eaLnBrk="1" hangingPunct="1"/>
            <a:r>
              <a:rPr lang="zh-CN" altLang="en-US" b="1"/>
              <a:t>电池的内阻：</a:t>
            </a:r>
            <a:endParaRPr lang="zh-CN" altLang="en-US" b="1"/>
          </a:p>
          <a:p>
            <a:pPr lvl="1" eaLnBrk="1" hangingPunct="1">
              <a:lnSpc>
                <a:spcPct val="120000"/>
              </a:lnSpc>
            </a:pPr>
            <a:r>
              <a:rPr lang="zh-CN" altLang="en-US" b="1"/>
              <a:t>电流通过电池内部时受到的阻力，也叫全内阻。</a:t>
            </a:r>
            <a:endParaRPr lang="zh-CN" altLang="en-US" b="1"/>
          </a:p>
          <a:p>
            <a:pPr lvl="1" eaLnBrk="1" hangingPunct="1">
              <a:lnSpc>
                <a:spcPct val="120000"/>
              </a:lnSpc>
            </a:pPr>
            <a:r>
              <a:rPr lang="zh-CN" altLang="en-US" b="1"/>
              <a:t>包括两部分</a:t>
            </a:r>
            <a:r>
              <a:rPr lang="en-US" altLang="zh-CN" b="1"/>
              <a:t>:</a:t>
            </a:r>
            <a:endParaRPr lang="en-US" altLang="zh-CN" b="1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  </a:t>
            </a:r>
            <a:r>
              <a:rPr lang="zh-CN" altLang="en-US" sz="2800"/>
              <a:t>电池的欧姆内阻</a:t>
            </a:r>
            <a:endParaRPr lang="zh-CN" altLang="en-US" sz="280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     电极的极化所相当的内阻，也叫极化内阻</a:t>
            </a:r>
            <a:endParaRPr lang="zh-CN" altLang="en-US" sz="2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23888" y="836613"/>
            <a:ext cx="7835900" cy="5329237"/>
          </a:xfrm>
          <a:noFill/>
        </p:spPr>
        <p:txBody>
          <a:bodyPr/>
          <a:lstStyle/>
          <a:p>
            <a:pPr eaLnBrk="1" hangingPunct="1"/>
            <a:r>
              <a:rPr lang="zh-CN" altLang="en-US" b="1"/>
              <a:t>电池的放电曲线：</a:t>
            </a:r>
            <a:endParaRPr lang="zh-CN" altLang="en-US" b="1"/>
          </a:p>
          <a:p>
            <a:pPr lvl="1" eaLnBrk="1" hangingPunct="1"/>
            <a:r>
              <a:rPr lang="zh-CN" altLang="en-US" b="1"/>
              <a:t>放电制度</a:t>
            </a:r>
            <a:endParaRPr lang="zh-CN" altLang="en-US">
              <a:solidFill>
                <a:srgbClr val="771D23"/>
              </a:solidFill>
            </a:endParaRPr>
          </a:p>
          <a:p>
            <a:pPr lvl="1" eaLnBrk="1" hangingPunct="1">
              <a:buFontTx/>
              <a:buNone/>
            </a:pPr>
            <a:r>
              <a:rPr lang="zh-CN" altLang="en-US">
                <a:solidFill>
                  <a:srgbClr val="771D23"/>
                </a:solidFill>
              </a:rPr>
              <a:t>   </a:t>
            </a:r>
            <a:r>
              <a:rPr lang="zh-CN" altLang="en-US"/>
              <a:t>人为规定的放电条件称为放电制度</a:t>
            </a:r>
            <a:endParaRPr lang="zh-CN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       （放电电流、放电温度、放电的终止电压、</a:t>
            </a:r>
            <a:endParaRPr lang="zh-CN" altLang="en-US" sz="28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         放电方式）</a:t>
            </a:r>
            <a:endParaRPr lang="zh-CN" altLang="en-US" sz="2800"/>
          </a:p>
          <a:p>
            <a:pPr lvl="1" eaLnBrk="1" hangingPunct="1"/>
            <a:r>
              <a:rPr lang="zh-CN" altLang="en-US" b="1"/>
              <a:t>放电曲线</a:t>
            </a:r>
            <a:endParaRPr lang="zh-CN" altLang="en-US" b="1"/>
          </a:p>
          <a:p>
            <a:pPr lvl="1" eaLnBrk="1" hangingPunct="1">
              <a:buFontTx/>
              <a:buNone/>
            </a:pPr>
            <a:r>
              <a:rPr lang="zh-CN" altLang="en-US"/>
              <a:t>   用绘图的方式表示出电压随时间的变化曲线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7" descr="biao1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404813"/>
            <a:ext cx="5111750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8" descr="products-cn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565400"/>
            <a:ext cx="4897438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Text Box 9"/>
          <p:cNvSpPr txBox="1">
            <a:spLocks noChangeArrowheads="1"/>
          </p:cNvSpPr>
          <p:nvPr/>
        </p:nvSpPr>
        <p:spPr bwMode="auto">
          <a:xfrm>
            <a:off x="5795963" y="908050"/>
            <a:ext cx="3024187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        </a:t>
            </a:r>
            <a:r>
              <a:rPr kumimoji="1" lang="zh-CN" altLang="en-US" sz="2400" b="1">
                <a:ea typeface="微软雅黑" panose="020B0503020204020204" charset="-122"/>
              </a:rPr>
              <a:t>根据电池的放电曲线，通常可以确定电池的放电性能和电池的容量。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17413" name="Text Box 10"/>
          <p:cNvSpPr txBox="1">
            <a:spLocks noChangeArrowheads="1"/>
          </p:cNvSpPr>
          <p:nvPr/>
        </p:nvSpPr>
        <p:spPr bwMode="auto">
          <a:xfrm>
            <a:off x="5651500" y="2708275"/>
            <a:ext cx="3024188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1.  </a:t>
            </a:r>
            <a:r>
              <a:rPr kumimoji="1" lang="zh-CN" altLang="en-US" sz="2400" b="1">
                <a:ea typeface="微软雅黑" panose="020B0503020204020204" charset="-122"/>
              </a:rPr>
              <a:t>通常电池的放电曲线越平坦、稳定、电池的性能就越好。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17414" name="Text Box 11"/>
          <p:cNvSpPr txBox="1">
            <a:spLocks noChangeArrowheads="1"/>
          </p:cNvSpPr>
          <p:nvPr/>
        </p:nvSpPr>
        <p:spPr bwMode="auto">
          <a:xfrm>
            <a:off x="5651500" y="4149725"/>
            <a:ext cx="31067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2.  </a:t>
            </a:r>
            <a:r>
              <a:rPr kumimoji="1" lang="zh-CN" altLang="en-US" sz="2400" b="1">
                <a:ea typeface="微软雅黑" panose="020B0503020204020204" charset="-122"/>
              </a:rPr>
              <a:t>电池的容量大小。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68313" y="620713"/>
            <a:ext cx="8229600" cy="18716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电池的容量和比容量：</a:t>
            </a:r>
            <a:endParaRPr lang="zh-CN" altLang="en-US" sz="2400" b="1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/>
              <a:t>电池的容量</a:t>
            </a:r>
            <a:endParaRPr lang="zh-CN" altLang="en-US" sz="2400" b="1" dirty="0"/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771D23"/>
                </a:solidFill>
              </a:rPr>
              <a:t>       </a:t>
            </a:r>
            <a:r>
              <a:rPr lang="zh-CN" altLang="en-US" sz="2400" dirty="0"/>
              <a:t>电池在一定的放电制度下，所放出的电量</a:t>
            </a:r>
            <a:r>
              <a:rPr lang="en-US" altLang="zh-CN" sz="2400" dirty="0"/>
              <a:t>C</a:t>
            </a:r>
            <a:r>
              <a:rPr lang="zh-CN" altLang="en-US" sz="2400" dirty="0"/>
              <a:t>，可以用安时</a:t>
            </a:r>
            <a:r>
              <a:rPr kumimoji="1" lang="zh-CN" altLang="en-US" sz="2400" b="1" dirty="0"/>
              <a:t>（</a:t>
            </a:r>
            <a:r>
              <a:rPr kumimoji="1" lang="en-US" altLang="zh-CN" sz="2400" b="1" dirty="0"/>
              <a:t>Ah)</a:t>
            </a:r>
            <a:r>
              <a:rPr kumimoji="1" lang="zh-CN" altLang="en-US" sz="2400" b="1" dirty="0"/>
              <a:t>表示。</a:t>
            </a:r>
            <a:r>
              <a:rPr kumimoji="1" lang="en-US" altLang="zh-CN" sz="2400" b="1" dirty="0"/>
              <a:t>Ah</a:t>
            </a:r>
            <a:r>
              <a:rPr kumimoji="1" lang="zh-CN" altLang="en-US" sz="2400" b="1" dirty="0"/>
              <a:t>表示</a:t>
            </a:r>
            <a:r>
              <a:rPr kumimoji="1" lang="en-US" altLang="zh-CN" sz="2400" b="1" dirty="0"/>
              <a:t>1</a:t>
            </a:r>
            <a:r>
              <a:rPr kumimoji="1" lang="zh-CN" altLang="en-US" sz="2400" b="1" dirty="0"/>
              <a:t>安培（</a:t>
            </a:r>
            <a:r>
              <a:rPr kumimoji="1" lang="en-US" altLang="zh-CN" sz="2400" b="1" dirty="0"/>
              <a:t>A</a:t>
            </a:r>
            <a:r>
              <a:rPr kumimoji="1" lang="zh-CN" altLang="en-US" sz="2400" b="1" dirty="0"/>
              <a:t>）电流放电</a:t>
            </a:r>
            <a:r>
              <a:rPr kumimoji="1" lang="en-US" altLang="zh-CN" sz="2400" b="1" dirty="0"/>
              <a:t>1</a:t>
            </a:r>
            <a:r>
              <a:rPr kumimoji="1" lang="zh-CN" altLang="en-US" sz="2400" b="1" dirty="0"/>
              <a:t>小时（</a:t>
            </a:r>
            <a:r>
              <a:rPr kumimoji="1" lang="en-US" altLang="zh-CN" sz="2400" b="1" dirty="0"/>
              <a:t>h</a:t>
            </a:r>
            <a:r>
              <a:rPr kumimoji="1" lang="zh-CN" altLang="en-US" sz="2400" b="1" dirty="0"/>
              <a:t>）。</a:t>
            </a:r>
            <a:endParaRPr kumimoji="1" lang="zh-CN" altLang="en-US" sz="2400" b="1" dirty="0"/>
          </a:p>
        </p:txBody>
      </p:sp>
      <p:sp>
        <p:nvSpPr>
          <p:cNvPr id="18435" name="Text Box 4"/>
          <p:cNvSpPr txBox="1">
            <a:spLocks noChangeArrowheads="1"/>
          </p:cNvSpPr>
          <p:nvPr/>
        </p:nvSpPr>
        <p:spPr bwMode="auto">
          <a:xfrm>
            <a:off x="684213" y="2565400"/>
            <a:ext cx="772477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1.  </a:t>
            </a:r>
            <a:r>
              <a:rPr kumimoji="1" lang="zh-CN" altLang="en-US" sz="2400" b="1">
                <a:ea typeface="微软雅黑" panose="020B0503020204020204" charset="-122"/>
              </a:rPr>
              <a:t>理论容量：   理论容量是根据活性物质的重量按法拉第定律计算出的电量。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18436" name="Text Box 5"/>
          <p:cNvSpPr txBox="1">
            <a:spLocks noChangeArrowheads="1"/>
          </p:cNvSpPr>
          <p:nvPr/>
        </p:nvSpPr>
        <p:spPr bwMode="auto">
          <a:xfrm>
            <a:off x="712788" y="3403600"/>
            <a:ext cx="5029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理论容量的计算方法</a:t>
            </a:r>
            <a:r>
              <a:rPr kumimoji="1" lang="zh-CN" altLang="en-US" sz="2400" b="1">
                <a:ea typeface="微软雅黑" panose="020B0503020204020204" charset="-122"/>
                <a:sym typeface="Wingdings" panose="05000000000000000000" pitchFamily="2" charset="2"/>
              </a:rPr>
              <a:t>（</a:t>
            </a:r>
            <a:r>
              <a:rPr kumimoji="1" lang="zh-CN" altLang="en-US" sz="2400" b="1">
                <a:ea typeface="微软雅黑" panose="020B0503020204020204" charset="-122"/>
              </a:rPr>
              <a:t>举例说明）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18437" name="Text Box 6"/>
          <p:cNvSpPr txBox="1">
            <a:spLocks noChangeArrowheads="1"/>
          </p:cNvSpPr>
          <p:nvPr/>
        </p:nvSpPr>
        <p:spPr bwMode="auto">
          <a:xfrm>
            <a:off x="712788" y="3937000"/>
            <a:ext cx="800100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       </a:t>
            </a:r>
            <a:r>
              <a:rPr kumimoji="1" lang="zh-CN" altLang="en-US" sz="2400" b="1">
                <a:ea typeface="微软雅黑" panose="020B0503020204020204" charset="-122"/>
              </a:rPr>
              <a:t>例如：设某电池中的负极为 </a:t>
            </a:r>
            <a:r>
              <a:rPr kumimoji="1" lang="en-US" altLang="zh-CN" sz="2400" b="1">
                <a:ea typeface="微软雅黑" panose="020B0503020204020204" charset="-122"/>
              </a:rPr>
              <a:t>Zn</a:t>
            </a:r>
            <a:r>
              <a:rPr kumimoji="1" lang="zh-CN" altLang="en-US" sz="2400" b="1">
                <a:ea typeface="微软雅黑" panose="020B0503020204020204" charset="-122"/>
              </a:rPr>
              <a:t>，其重量为</a:t>
            </a:r>
            <a:r>
              <a:rPr kumimoji="1" lang="en-US" altLang="zh-CN" sz="2400" b="1">
                <a:ea typeface="微软雅黑" panose="020B0503020204020204" charset="-122"/>
              </a:rPr>
              <a:t>13.5</a:t>
            </a:r>
            <a:r>
              <a:rPr kumimoji="1" lang="zh-CN" altLang="en-US" sz="2400" b="1">
                <a:ea typeface="微软雅黑" panose="020B0503020204020204" charset="-122"/>
              </a:rPr>
              <a:t>克，求锌电极的理论容量？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18438" name="Text Box 7"/>
          <p:cNvSpPr txBox="1">
            <a:spLocks noChangeArrowheads="1"/>
          </p:cNvSpPr>
          <p:nvPr/>
        </p:nvSpPr>
        <p:spPr bwMode="auto">
          <a:xfrm>
            <a:off x="641350" y="4851400"/>
            <a:ext cx="65484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电极反应：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graphicFrame>
        <p:nvGraphicFramePr>
          <p:cNvPr id="18439" name="Object 8"/>
          <p:cNvGraphicFramePr>
            <a:graphicFrameLocks noChangeAspect="1"/>
          </p:cNvGraphicFramePr>
          <p:nvPr/>
        </p:nvGraphicFramePr>
        <p:xfrm>
          <a:off x="2267268" y="5445125"/>
          <a:ext cx="35052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6" name="Equation" r:id="rId1" imgW="977265" imgH="203200" progId="Equation.DSMT4">
                  <p:embed/>
                </p:oleObj>
              </mc:Choice>
              <mc:Fallback>
                <p:oleObj name="Equation" r:id="rId1" imgW="977265" imgH="203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268" y="5445125"/>
                        <a:ext cx="3505200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11"/>
          <p:cNvSpPr txBox="1">
            <a:spLocks noChangeArrowheads="1"/>
          </p:cNvSpPr>
          <p:nvPr/>
        </p:nvSpPr>
        <p:spPr bwMode="auto">
          <a:xfrm>
            <a:off x="544513" y="1743075"/>
            <a:ext cx="784860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ea typeface="微软雅黑" panose="020B0503020204020204" charset="-122"/>
              </a:rPr>
              <a:t>       </a:t>
            </a:r>
            <a:r>
              <a:rPr kumimoji="1" lang="zh-CN" altLang="en-US" sz="2400" b="1">
                <a:ea typeface="微软雅黑" panose="020B0503020204020204" charset="-122"/>
              </a:rPr>
              <a:t>另根据法拉第定律，</a:t>
            </a:r>
            <a:r>
              <a:rPr kumimoji="1" lang="en-US" altLang="zh-CN" sz="2400" b="1">
                <a:ea typeface="微软雅黑" panose="020B0503020204020204" charset="-122"/>
              </a:rPr>
              <a:t>1mol</a:t>
            </a:r>
            <a:r>
              <a:rPr kumimoji="1" lang="zh-CN" altLang="en-US" sz="2400" b="1">
                <a:ea typeface="微软雅黑" panose="020B0503020204020204" charset="-122"/>
              </a:rPr>
              <a:t>电子的电量等于</a:t>
            </a:r>
            <a:r>
              <a:rPr kumimoji="1" lang="en-US" altLang="zh-CN" sz="2400" b="1">
                <a:ea typeface="微软雅黑" panose="020B0503020204020204" charset="-122"/>
              </a:rPr>
              <a:t>96500</a:t>
            </a:r>
            <a:r>
              <a:rPr kumimoji="1" lang="zh-CN" altLang="en-US" sz="2400" b="1">
                <a:ea typeface="微软雅黑" panose="020B0503020204020204" charset="-122"/>
              </a:rPr>
              <a:t>库仑（或者</a:t>
            </a:r>
            <a:r>
              <a:rPr kumimoji="1" lang="en-US" altLang="zh-CN" sz="2400" b="1">
                <a:ea typeface="微软雅黑" panose="020B0503020204020204" charset="-122"/>
              </a:rPr>
              <a:t>26.8Ah)</a:t>
            </a:r>
            <a:r>
              <a:rPr kumimoji="1" lang="zh-CN" altLang="en-US" sz="2400" b="1">
                <a:ea typeface="微软雅黑" panose="020B0503020204020204" charset="-122"/>
              </a:rPr>
              <a:t>，</a:t>
            </a:r>
            <a:r>
              <a:rPr kumimoji="1" lang="zh-CN" altLang="en-US" sz="2400">
                <a:ea typeface="微软雅黑" panose="020B0503020204020204" charset="-122"/>
              </a:rPr>
              <a:t>也就是该有</a:t>
            </a:r>
            <a:r>
              <a:rPr kumimoji="1" lang="en-US" altLang="zh-CN" sz="2400">
                <a:ea typeface="微软雅黑" panose="020B0503020204020204" charset="-122"/>
              </a:rPr>
              <a:t>32.69</a:t>
            </a:r>
            <a:r>
              <a:rPr kumimoji="1" lang="zh-CN" altLang="en-US" sz="2400">
                <a:ea typeface="微软雅黑" panose="020B0503020204020204" charset="-122"/>
              </a:rPr>
              <a:t>克的</a:t>
            </a:r>
            <a:r>
              <a:rPr kumimoji="1" lang="en-US" altLang="zh-CN" sz="2400">
                <a:ea typeface="微软雅黑" panose="020B0503020204020204" charset="-122"/>
              </a:rPr>
              <a:t>Zn, </a:t>
            </a:r>
            <a:r>
              <a:rPr kumimoji="1" lang="zh-CN" altLang="en-US" sz="2400">
                <a:ea typeface="微软雅黑" panose="020B0503020204020204" charset="-122"/>
              </a:rPr>
              <a:t>就可以产生</a:t>
            </a:r>
            <a:r>
              <a:rPr kumimoji="1" lang="en-US" altLang="zh-CN" sz="2400">
                <a:ea typeface="微软雅黑" panose="020B0503020204020204" charset="-122"/>
              </a:rPr>
              <a:t>26.8Ah</a:t>
            </a:r>
            <a:r>
              <a:rPr kumimoji="1" lang="zh-CN" altLang="en-US" sz="2400">
                <a:ea typeface="微软雅黑" panose="020B0503020204020204" charset="-122"/>
              </a:rPr>
              <a:t>的电量，所以现在有</a:t>
            </a:r>
            <a:r>
              <a:rPr kumimoji="1" lang="en-US" altLang="zh-CN" sz="2400">
                <a:ea typeface="微软雅黑" panose="020B0503020204020204" charset="-122"/>
              </a:rPr>
              <a:t>13.5</a:t>
            </a:r>
            <a:r>
              <a:rPr kumimoji="1" lang="zh-CN" altLang="en-US" sz="2400">
                <a:ea typeface="微软雅黑" panose="020B0503020204020204" charset="-122"/>
              </a:rPr>
              <a:t>克的锌，理论上所能产生的电量应为：</a:t>
            </a:r>
            <a:endParaRPr kumimoji="1" lang="zh-CN" altLang="en-US" sz="2400">
              <a:ea typeface="微软雅黑" panose="020B0503020204020204" charset="-122"/>
            </a:endParaRPr>
          </a:p>
        </p:txBody>
      </p:sp>
      <p:sp>
        <p:nvSpPr>
          <p:cNvPr id="19459" name="Text Box 12"/>
          <p:cNvSpPr txBox="1">
            <a:spLocks noChangeArrowheads="1"/>
          </p:cNvSpPr>
          <p:nvPr/>
        </p:nvSpPr>
        <p:spPr bwMode="auto">
          <a:xfrm>
            <a:off x="2267268" y="3312795"/>
            <a:ext cx="5410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800" b="1">
                <a:solidFill>
                  <a:srgbClr val="FF0000"/>
                </a:solidFill>
                <a:ea typeface="微软雅黑" panose="020B0503020204020204" charset="-122"/>
              </a:rPr>
              <a:t>Q</a:t>
            </a:r>
            <a:r>
              <a:rPr kumimoji="1" lang="zh-CN" altLang="en-US" sz="2800" b="1" baseline="-25000">
                <a:solidFill>
                  <a:srgbClr val="FF0000"/>
                </a:solidFill>
                <a:ea typeface="微软雅黑" panose="020B0503020204020204" charset="-122"/>
              </a:rPr>
              <a:t>理</a:t>
            </a:r>
            <a:r>
              <a:rPr kumimoji="1" lang="en-US" altLang="zh-CN" sz="2800" b="1">
                <a:solidFill>
                  <a:srgbClr val="FF0000"/>
                </a:solidFill>
                <a:ea typeface="微软雅黑" panose="020B0503020204020204" charset="-122"/>
              </a:rPr>
              <a:t>=13.5/32.69×26.8=11.1Ah</a:t>
            </a:r>
            <a:r>
              <a:rPr kumimoji="1" lang="en-US" altLang="zh-CN" sz="2800" b="1">
                <a:ea typeface="微软雅黑" panose="020B0503020204020204" charset="-122"/>
              </a:rPr>
              <a:t>    </a:t>
            </a:r>
            <a:endParaRPr kumimoji="1" lang="en-US" altLang="zh-CN" sz="2800" b="1">
              <a:ea typeface="微软雅黑" panose="020B0503020204020204" charset="-122"/>
            </a:endParaRPr>
          </a:p>
        </p:txBody>
      </p:sp>
      <p:sp>
        <p:nvSpPr>
          <p:cNvPr id="19460" name="Text Box 13"/>
          <p:cNvSpPr txBox="1">
            <a:spLocks noChangeArrowheads="1"/>
          </p:cNvSpPr>
          <p:nvPr/>
        </p:nvSpPr>
        <p:spPr bwMode="auto">
          <a:xfrm>
            <a:off x="620713" y="4076700"/>
            <a:ext cx="777240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        </a:t>
            </a:r>
            <a:r>
              <a:rPr kumimoji="1" lang="zh-CN" altLang="en-US" sz="2400" b="1">
                <a:ea typeface="微软雅黑" panose="020B0503020204020204" charset="-122"/>
              </a:rPr>
              <a:t>另外由于</a:t>
            </a:r>
            <a:r>
              <a:rPr kumimoji="1" lang="en-US" altLang="zh-CN" sz="2400" b="1">
                <a:ea typeface="微软雅黑" panose="020B0503020204020204" charset="-122"/>
              </a:rPr>
              <a:t>32.69</a:t>
            </a:r>
            <a:r>
              <a:rPr kumimoji="1" lang="zh-CN" altLang="en-US" sz="2400" b="1">
                <a:ea typeface="微软雅黑" panose="020B0503020204020204" charset="-122"/>
              </a:rPr>
              <a:t>克锌可产生</a:t>
            </a:r>
            <a:r>
              <a:rPr kumimoji="1" lang="en-US" altLang="zh-CN" sz="2400" b="1">
                <a:ea typeface="微软雅黑" panose="020B0503020204020204" charset="-122"/>
              </a:rPr>
              <a:t>26.8Ah</a:t>
            </a:r>
            <a:r>
              <a:rPr kumimoji="1" lang="zh-CN" altLang="en-US" sz="2400" b="1">
                <a:ea typeface="微软雅黑" panose="020B0503020204020204" charset="-122"/>
              </a:rPr>
              <a:t>的电量，故我们又可以得到：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19461" name="Text Box 14"/>
          <p:cNvSpPr txBox="1">
            <a:spLocks noChangeArrowheads="1"/>
          </p:cNvSpPr>
          <p:nvPr/>
        </p:nvSpPr>
        <p:spPr bwMode="auto">
          <a:xfrm>
            <a:off x="468313" y="981075"/>
            <a:ext cx="7924800" cy="73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0" rIns="9000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 dirty="0">
                <a:ea typeface="微软雅黑" panose="020B0503020204020204" charset="-122"/>
              </a:rPr>
              <a:t>    </a:t>
            </a:r>
            <a:r>
              <a:rPr kumimoji="1" lang="en-US" altLang="zh-CN" sz="2400" dirty="0">
                <a:ea typeface="微软雅黑" panose="020B0503020204020204" charset="-122"/>
              </a:rPr>
              <a:t>    </a:t>
            </a:r>
            <a:r>
              <a:rPr kumimoji="1" lang="zh-CN" altLang="en-US" sz="2400" dirty="0">
                <a:ea typeface="微软雅黑" panose="020B0503020204020204" charset="-122"/>
              </a:rPr>
              <a:t>从反应式知锌的反应电子数为</a:t>
            </a:r>
            <a:r>
              <a:rPr kumimoji="1" lang="en-US" altLang="zh-CN" sz="2400" dirty="0">
                <a:ea typeface="微软雅黑" panose="020B0503020204020204" charset="-122"/>
              </a:rPr>
              <a:t>2</a:t>
            </a:r>
            <a:r>
              <a:rPr kumimoji="1" lang="zh-CN" altLang="en-US" sz="2400" dirty="0">
                <a:ea typeface="微软雅黑" panose="020B0503020204020204" charset="-122"/>
              </a:rPr>
              <a:t>，</a:t>
            </a:r>
            <a:r>
              <a:rPr kumimoji="1" lang="zh-CN" altLang="en-US" sz="2400" b="1" dirty="0">
                <a:ea typeface="微软雅黑" panose="020B0503020204020204" charset="-122"/>
              </a:rPr>
              <a:t>故</a:t>
            </a:r>
            <a:r>
              <a:rPr kumimoji="1" lang="en-US" altLang="zh-CN" sz="2400" b="1" dirty="0">
                <a:ea typeface="微软雅黑" panose="020B0503020204020204" charset="-122"/>
              </a:rPr>
              <a:t>1mol</a:t>
            </a:r>
            <a:r>
              <a:rPr kumimoji="1" lang="zh-CN" altLang="en-US" sz="2400" b="1" dirty="0">
                <a:ea typeface="微软雅黑" panose="020B0503020204020204" charset="-122"/>
              </a:rPr>
              <a:t>电子需要的</a:t>
            </a:r>
            <a:r>
              <a:rPr kumimoji="1" lang="en-US" altLang="zh-CN" sz="2400" b="1" dirty="0">
                <a:ea typeface="微软雅黑" panose="020B0503020204020204" charset="-122"/>
              </a:rPr>
              <a:t>Zn</a:t>
            </a:r>
            <a:r>
              <a:rPr kumimoji="1" lang="zh-CN" altLang="en-US" sz="2400" b="1" dirty="0">
                <a:ea typeface="微软雅黑" panose="020B0503020204020204" charset="-122"/>
              </a:rPr>
              <a:t>为</a:t>
            </a:r>
            <a:r>
              <a:rPr kumimoji="1" lang="en-US" altLang="zh-CN" sz="2400" b="1" dirty="0">
                <a:ea typeface="微软雅黑" panose="020B0503020204020204" charset="-122"/>
              </a:rPr>
              <a:t>65.38÷2=32.69</a:t>
            </a:r>
            <a:r>
              <a:rPr kumimoji="1" lang="zh-CN" altLang="en-US" sz="2400" b="1" dirty="0">
                <a:ea typeface="微软雅黑" panose="020B0503020204020204" charset="-122"/>
              </a:rPr>
              <a:t>克</a:t>
            </a:r>
            <a:endParaRPr kumimoji="1" lang="zh-CN" altLang="en-US" sz="2400" b="1" dirty="0">
              <a:ea typeface="微软雅黑" panose="020B0503020204020204" charset="-122"/>
            </a:endParaRPr>
          </a:p>
        </p:txBody>
      </p:sp>
      <p:sp>
        <p:nvSpPr>
          <p:cNvPr id="20490" name="Text Box 7"/>
          <p:cNvSpPr txBox="1">
            <a:spLocks noChangeArrowheads="1"/>
          </p:cNvSpPr>
          <p:nvPr/>
        </p:nvSpPr>
        <p:spPr bwMode="auto">
          <a:xfrm>
            <a:off x="1907540" y="5228908"/>
            <a:ext cx="5410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>
                <a:solidFill>
                  <a:srgbClr val="FF0000"/>
                </a:solidFill>
                <a:ea typeface="微软雅黑" panose="020B0503020204020204" charset="-122"/>
              </a:rPr>
              <a:t>26.8Ah/32.69</a:t>
            </a:r>
            <a:r>
              <a:rPr kumimoji="1" lang="zh-CN" altLang="en-US" sz="2400">
                <a:solidFill>
                  <a:srgbClr val="FF0000"/>
                </a:solidFill>
                <a:ea typeface="微软雅黑" panose="020B0503020204020204" charset="-122"/>
              </a:rPr>
              <a:t>克</a:t>
            </a:r>
            <a:r>
              <a:rPr kumimoji="1" lang="en-US" altLang="zh-CN" sz="2400">
                <a:solidFill>
                  <a:srgbClr val="FF0000"/>
                </a:solidFill>
                <a:ea typeface="微软雅黑" panose="020B0503020204020204" charset="-122"/>
              </a:rPr>
              <a:t>=0.82Ah/</a:t>
            </a:r>
            <a:r>
              <a:rPr kumimoji="1" lang="zh-CN" altLang="en-US" sz="2400">
                <a:solidFill>
                  <a:srgbClr val="FF0000"/>
                </a:solidFill>
                <a:ea typeface="微软雅黑" panose="020B0503020204020204" charset="-122"/>
              </a:rPr>
              <a:t>克</a:t>
            </a:r>
            <a:endParaRPr kumimoji="1" lang="zh-CN" altLang="en-US" sz="2400">
              <a:solidFill>
                <a:srgbClr val="FF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4"/>
          <p:cNvSpPr txBox="1">
            <a:spLocks noChangeArrowheads="1"/>
          </p:cNvSpPr>
          <p:nvPr/>
        </p:nvSpPr>
        <p:spPr bwMode="auto">
          <a:xfrm>
            <a:off x="609600" y="1535113"/>
            <a:ext cx="769620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       </a:t>
            </a:r>
            <a:r>
              <a:rPr kumimoji="1" lang="zh-CN" altLang="en-US" sz="2400" b="1">
                <a:ea typeface="微软雅黑" panose="020B0503020204020204" charset="-122"/>
              </a:rPr>
              <a:t>即理论上得到</a:t>
            </a:r>
            <a:r>
              <a:rPr kumimoji="1" lang="en-US" altLang="zh-CN" sz="2400" b="1">
                <a:ea typeface="微软雅黑" panose="020B0503020204020204" charset="-122"/>
              </a:rPr>
              <a:t>1Ah</a:t>
            </a:r>
            <a:r>
              <a:rPr kumimoji="1" lang="zh-CN" altLang="en-US" sz="2400" b="1">
                <a:ea typeface="微软雅黑" panose="020B0503020204020204" charset="-122"/>
              </a:rPr>
              <a:t>的电量，就需要消耗</a:t>
            </a:r>
            <a:r>
              <a:rPr kumimoji="1" lang="en-US" altLang="zh-CN" sz="2400" b="1">
                <a:ea typeface="微软雅黑" panose="020B0503020204020204" charset="-122"/>
              </a:rPr>
              <a:t>1.22</a:t>
            </a:r>
            <a:r>
              <a:rPr kumimoji="1" lang="zh-CN" altLang="en-US" sz="2400" b="1">
                <a:ea typeface="微软雅黑" panose="020B0503020204020204" charset="-122"/>
              </a:rPr>
              <a:t>克的锌</a:t>
            </a:r>
            <a:r>
              <a:rPr kumimoji="1" lang="zh-CN" altLang="en-US" sz="2400">
                <a:ea typeface="微软雅黑" panose="020B0503020204020204" charset="-122"/>
              </a:rPr>
              <a:t>或消耗</a:t>
            </a:r>
            <a:r>
              <a:rPr kumimoji="1" lang="en-US" altLang="zh-CN" sz="2400">
                <a:ea typeface="微软雅黑" panose="020B0503020204020204" charset="-122"/>
              </a:rPr>
              <a:t>1</a:t>
            </a:r>
            <a:r>
              <a:rPr kumimoji="1" lang="zh-CN" altLang="en-US" sz="2400">
                <a:ea typeface="微软雅黑" panose="020B0503020204020204" charset="-122"/>
              </a:rPr>
              <a:t>克 锌就可得到</a:t>
            </a:r>
            <a:r>
              <a:rPr kumimoji="1" lang="en-US" altLang="zh-CN" sz="2400">
                <a:ea typeface="微软雅黑" panose="020B0503020204020204" charset="-122"/>
              </a:rPr>
              <a:t>0.82Ah</a:t>
            </a:r>
            <a:r>
              <a:rPr kumimoji="1" lang="zh-CN" altLang="en-US" sz="2400">
                <a:ea typeface="微软雅黑" panose="020B0503020204020204" charset="-122"/>
              </a:rPr>
              <a:t>的电量。</a:t>
            </a:r>
            <a:endParaRPr kumimoji="1" lang="zh-CN" altLang="en-US" sz="2400">
              <a:ea typeface="微软雅黑" panose="020B0503020204020204" charset="-122"/>
            </a:endParaRPr>
          </a:p>
        </p:txBody>
      </p:sp>
      <p:sp>
        <p:nvSpPr>
          <p:cNvPr id="20489" name="Text Box 6"/>
          <p:cNvSpPr txBox="1">
            <a:spLocks noChangeArrowheads="1"/>
          </p:cNvSpPr>
          <p:nvPr/>
        </p:nvSpPr>
        <p:spPr bwMode="auto">
          <a:xfrm>
            <a:off x="609600" y="621030"/>
            <a:ext cx="838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或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20484" name="Text Box 8"/>
          <p:cNvSpPr txBox="1">
            <a:spLocks noChangeArrowheads="1"/>
          </p:cNvSpPr>
          <p:nvPr/>
        </p:nvSpPr>
        <p:spPr bwMode="auto">
          <a:xfrm>
            <a:off x="685800" y="2297113"/>
            <a:ext cx="8001000" cy="138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ea typeface="微软雅黑" panose="020B0503020204020204" charset="-122"/>
              </a:rPr>
              <a:t>        </a:t>
            </a:r>
            <a:r>
              <a:rPr kumimoji="1" lang="zh-CN" altLang="en-US" sz="2400" dirty="0">
                <a:ea typeface="微软雅黑" panose="020B0503020204020204" charset="-122"/>
              </a:rPr>
              <a:t>工业上通常把</a:t>
            </a:r>
            <a:r>
              <a:rPr kumimoji="1" lang="zh-CN" altLang="en-US" sz="2400" b="1" dirty="0">
                <a:ea typeface="微软雅黑" panose="020B0503020204020204" charset="-122"/>
              </a:rPr>
              <a:t>输出</a:t>
            </a:r>
            <a:r>
              <a:rPr kumimoji="1" lang="en-US" altLang="zh-CN" sz="2400" b="1" dirty="0">
                <a:ea typeface="微软雅黑" panose="020B0503020204020204" charset="-122"/>
              </a:rPr>
              <a:t>1Ah</a:t>
            </a:r>
            <a:r>
              <a:rPr kumimoji="1" lang="zh-CN" altLang="en-US" sz="2400" b="1" dirty="0">
                <a:ea typeface="微软雅黑" panose="020B0503020204020204" charset="-122"/>
              </a:rPr>
              <a:t>的电量，理论所需要的活性物质的质量称为该物质的</a:t>
            </a:r>
            <a:r>
              <a:rPr kumimoji="1" lang="zh-CN" altLang="en-US" sz="2400" b="1" dirty="0">
                <a:solidFill>
                  <a:srgbClr val="FF0000"/>
                </a:solidFill>
                <a:ea typeface="微软雅黑" panose="020B0503020204020204" charset="-122"/>
              </a:rPr>
              <a:t>电化当量</a:t>
            </a:r>
            <a:r>
              <a:rPr kumimoji="1" lang="zh-CN" altLang="en-US" sz="2400" b="1" dirty="0">
                <a:solidFill>
                  <a:schemeClr val="tx1"/>
                </a:solidFill>
                <a:ea typeface="微软雅黑" panose="020B0503020204020204" charset="-122"/>
              </a:rPr>
              <a:t>（单位g/</a:t>
            </a:r>
            <a:r>
              <a:rPr kumimoji="1" lang="zh-CN" altLang="en-US" sz="2400" b="1" dirty="0">
                <a:ea typeface="微软雅黑" panose="020B0503020204020204" charset="-122"/>
                <a:sym typeface="+mn-ea"/>
              </a:rPr>
              <a:t>Ah</a:t>
            </a:r>
            <a:r>
              <a:rPr kumimoji="1" lang="zh-CN" altLang="en-US" sz="2400" b="1" dirty="0">
                <a:solidFill>
                  <a:schemeClr val="tx1"/>
                </a:solidFill>
                <a:ea typeface="微软雅黑" panose="020B0503020204020204" charset="-122"/>
              </a:rPr>
              <a:t>）</a:t>
            </a:r>
            <a:r>
              <a:rPr kumimoji="1" lang="zh-CN" altLang="en-US" sz="2400" b="1" dirty="0">
                <a:ea typeface="微软雅黑" panose="020B0503020204020204" charset="-122"/>
              </a:rPr>
              <a:t>。</a:t>
            </a:r>
            <a:endParaRPr kumimoji="1" lang="zh-CN" altLang="en-US" sz="2400" b="1" dirty="0">
              <a:ea typeface="微软雅黑" panose="020B0503020204020204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dirty="0">
                <a:ea typeface="微软雅黑" panose="020B0503020204020204" charset="-122"/>
              </a:rPr>
              <a:t>有了</a:t>
            </a:r>
            <a:r>
              <a:rPr kumimoji="1" lang="zh-CN" altLang="en-US" sz="2400" dirty="0">
                <a:solidFill>
                  <a:schemeClr val="tx1"/>
                </a:solidFill>
                <a:ea typeface="微软雅黑" panose="020B0503020204020204" charset="-122"/>
              </a:rPr>
              <a:t>电化当量</a:t>
            </a:r>
            <a:r>
              <a:rPr kumimoji="1" lang="zh-CN" altLang="en-US" sz="2400" dirty="0">
                <a:ea typeface="微软雅黑" panose="020B0503020204020204" charset="-122"/>
              </a:rPr>
              <a:t>，对理论电量的计算更为方便了。</a:t>
            </a:r>
            <a:endParaRPr kumimoji="1" lang="zh-CN" altLang="en-US" sz="2400" dirty="0">
              <a:ea typeface="微软雅黑" panose="020B0503020204020204" charset="-122"/>
            </a:endParaRPr>
          </a:p>
        </p:txBody>
      </p:sp>
      <p:sp>
        <p:nvSpPr>
          <p:cNvPr id="20485" name="Rectangle 9"/>
          <p:cNvSpPr>
            <a:spLocks noChangeArrowheads="1"/>
          </p:cNvSpPr>
          <p:nvPr/>
        </p:nvSpPr>
        <p:spPr bwMode="auto">
          <a:xfrm>
            <a:off x="899160" y="3788728"/>
            <a:ext cx="1398270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0" rIns="9000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如上例：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20486" name="Rectangle 10"/>
          <p:cNvSpPr>
            <a:spLocks noChangeArrowheads="1"/>
          </p:cNvSpPr>
          <p:nvPr/>
        </p:nvSpPr>
        <p:spPr bwMode="auto">
          <a:xfrm>
            <a:off x="2438400" y="3897313"/>
            <a:ext cx="3429000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0" rIns="9000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ea typeface="微软雅黑" panose="020B0503020204020204" charset="-122"/>
              </a:rPr>
              <a:t>Q</a:t>
            </a:r>
            <a:r>
              <a:rPr kumimoji="1" lang="zh-CN" altLang="en-US" sz="2400" b="1" baseline="-25000">
                <a:solidFill>
                  <a:srgbClr val="FF0000"/>
                </a:solidFill>
                <a:ea typeface="微软雅黑" panose="020B0503020204020204" charset="-122"/>
              </a:rPr>
              <a:t>理</a:t>
            </a:r>
            <a:r>
              <a:rPr kumimoji="1" lang="en-US" altLang="zh-CN" sz="2400" b="1">
                <a:solidFill>
                  <a:srgbClr val="FF0000"/>
                </a:solidFill>
                <a:ea typeface="微软雅黑" panose="020B0503020204020204" charset="-122"/>
              </a:rPr>
              <a:t>=13.5/1.22=11.1Ah</a:t>
            </a:r>
            <a:endParaRPr kumimoji="1" lang="en-US" altLang="zh-CN" sz="2400" b="1">
              <a:solidFill>
                <a:srgbClr val="FF0000"/>
              </a:solidFill>
              <a:ea typeface="微软雅黑" panose="020B0503020204020204" charset="-122"/>
            </a:endParaRPr>
          </a:p>
        </p:txBody>
      </p:sp>
      <p:sp>
        <p:nvSpPr>
          <p:cNvPr id="20487" name="Text Box 11"/>
          <p:cNvSpPr txBox="1">
            <a:spLocks noChangeArrowheads="1"/>
          </p:cNvSpPr>
          <p:nvPr/>
        </p:nvSpPr>
        <p:spPr bwMode="auto">
          <a:xfrm>
            <a:off x="394970" y="4509135"/>
            <a:ext cx="820102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2.   </a:t>
            </a:r>
            <a:r>
              <a:rPr kumimoji="1" lang="zh-CN" altLang="en-US" sz="2400" b="1">
                <a:ea typeface="微软雅黑" panose="020B0503020204020204" charset="-122"/>
              </a:rPr>
              <a:t>实际容量：  实际容量指在一定的放电制下（放电方式</a:t>
            </a:r>
            <a:r>
              <a:rPr kumimoji="1" lang="en-US" altLang="zh-CN" sz="2400" b="1">
                <a:ea typeface="微软雅黑" panose="020B0503020204020204" charset="-122"/>
              </a:rPr>
              <a:t>,</a:t>
            </a:r>
            <a:r>
              <a:rPr kumimoji="1" lang="zh-CN" altLang="en-US" sz="2400" b="1">
                <a:ea typeface="微软雅黑" panose="020B0503020204020204" charset="-122"/>
                <a:sym typeface="+mn-ea"/>
              </a:rPr>
              <a:t>一定的电流密度和终止电压等），电池所能给出的电量。</a:t>
            </a:r>
            <a:endParaRPr kumimoji="1" lang="zh-CN" altLang="en-US" sz="2400" b="1">
              <a:ea typeface="微软雅黑" panose="020B0503020204020204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kumimoji="1" lang="en-US" altLang="zh-CN" sz="2400" b="1">
              <a:ea typeface="微软雅黑" panose="020B0503020204020204" charset="-122"/>
            </a:endParaRPr>
          </a:p>
        </p:txBody>
      </p:sp>
      <p:graphicFrame>
        <p:nvGraphicFramePr>
          <p:cNvPr id="19462" name="Object 15"/>
          <p:cNvGraphicFramePr>
            <a:graphicFrameLocks noChangeAspect="1"/>
          </p:cNvGraphicFramePr>
          <p:nvPr/>
        </p:nvGraphicFramePr>
        <p:xfrm>
          <a:off x="1772285" y="548323"/>
          <a:ext cx="560006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Equation" r:id="rId1" imgW="1828800" imgH="203200" progId="Equation.DSMT4">
                  <p:embed/>
                </p:oleObj>
              </mc:Choice>
              <mc:Fallback>
                <p:oleObj name="Equation" r:id="rId1" imgW="1828800" imgH="203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2285" y="548323"/>
                        <a:ext cx="5600065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4"/>
          <p:cNvSpPr txBox="1">
            <a:spLocks noChangeArrowheads="1"/>
          </p:cNvSpPr>
          <p:nvPr/>
        </p:nvSpPr>
        <p:spPr bwMode="auto">
          <a:xfrm>
            <a:off x="533400" y="765175"/>
            <a:ext cx="7620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实际容量的计算：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21507" name="Text Box 5"/>
          <p:cNvSpPr txBox="1">
            <a:spLocks noChangeArrowheads="1"/>
          </p:cNvSpPr>
          <p:nvPr/>
        </p:nvSpPr>
        <p:spPr bwMode="auto">
          <a:xfrm>
            <a:off x="609600" y="1222375"/>
            <a:ext cx="3962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（</a:t>
            </a:r>
            <a:r>
              <a:rPr kumimoji="1" lang="en-US" altLang="zh-CN" sz="2400" b="1">
                <a:ea typeface="微软雅黑" panose="020B0503020204020204" charset="-122"/>
              </a:rPr>
              <a:t>1</a:t>
            </a:r>
            <a:r>
              <a:rPr kumimoji="1" lang="zh-CN" altLang="en-US" sz="2400" b="1">
                <a:ea typeface="微软雅黑" panose="020B0503020204020204" charset="-122"/>
              </a:rPr>
              <a:t>）若是恒电流放电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21508" name="Text Box 6"/>
          <p:cNvSpPr txBox="1">
            <a:spLocks noChangeArrowheads="1"/>
          </p:cNvSpPr>
          <p:nvPr/>
        </p:nvSpPr>
        <p:spPr bwMode="auto">
          <a:xfrm>
            <a:off x="685800" y="2289175"/>
            <a:ext cx="7467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（</a:t>
            </a:r>
            <a:r>
              <a:rPr kumimoji="1" lang="en-US" altLang="zh-CN" sz="2400" b="1">
                <a:ea typeface="微软雅黑" panose="020B0503020204020204" charset="-122"/>
              </a:rPr>
              <a:t>2</a:t>
            </a:r>
            <a:r>
              <a:rPr kumimoji="1" lang="zh-CN" altLang="en-US" sz="2400" b="1">
                <a:ea typeface="微软雅黑" panose="020B0503020204020204" charset="-122"/>
              </a:rPr>
              <a:t>）恒电阻放电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21509" name="Text Box 7"/>
          <p:cNvSpPr txBox="1">
            <a:spLocks noChangeArrowheads="1"/>
          </p:cNvSpPr>
          <p:nvPr/>
        </p:nvSpPr>
        <p:spPr bwMode="auto">
          <a:xfrm>
            <a:off x="1219200" y="2670175"/>
            <a:ext cx="762000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由于恒电阻放电时，</a:t>
            </a:r>
            <a:r>
              <a:rPr kumimoji="1" lang="en-US" altLang="zh-CN" sz="2400" b="1">
                <a:ea typeface="微软雅黑" panose="020B0503020204020204" charset="-122"/>
              </a:rPr>
              <a:t>I </a:t>
            </a:r>
            <a:r>
              <a:rPr kumimoji="1" lang="zh-CN" altLang="en-US" sz="2400" b="1">
                <a:ea typeface="微软雅黑" panose="020B0503020204020204" charset="-122"/>
              </a:rPr>
              <a:t>是不断变化的，故</a:t>
            </a:r>
            <a:r>
              <a:rPr kumimoji="1" lang="en-US" altLang="zh-CN" sz="2400" b="1">
                <a:ea typeface="微软雅黑" panose="020B0503020204020204" charset="-122"/>
              </a:rPr>
              <a:t>Q</a:t>
            </a:r>
            <a:r>
              <a:rPr kumimoji="1" lang="en-US" altLang="zh-CN" sz="2400" b="1" baseline="-25000">
                <a:ea typeface="微软雅黑" panose="020B0503020204020204" charset="-122"/>
              </a:rPr>
              <a:t>R</a:t>
            </a:r>
            <a:r>
              <a:rPr kumimoji="1" lang="zh-CN" altLang="en-US" sz="2400" b="1">
                <a:ea typeface="微软雅黑" panose="020B0503020204020204" charset="-122"/>
              </a:rPr>
              <a:t>要通过积分的方法计算：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graphicFrame>
        <p:nvGraphicFramePr>
          <p:cNvPr id="21510" name="Object 8"/>
          <p:cNvGraphicFramePr>
            <a:graphicFrameLocks noChangeAspect="1"/>
          </p:cNvGraphicFramePr>
          <p:nvPr/>
        </p:nvGraphicFramePr>
        <p:xfrm>
          <a:off x="2579688" y="1519238"/>
          <a:ext cx="2611437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7" name="Equation" r:id="rId1" imgW="748665" imgH="215900" progId="Equation.DSMT4">
                  <p:embed/>
                </p:oleObj>
              </mc:Choice>
              <mc:Fallback>
                <p:oleObj name="Equation" r:id="rId1" imgW="748665" imgH="215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688" y="1519238"/>
                        <a:ext cx="2611437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9"/>
          <p:cNvGraphicFramePr>
            <a:graphicFrameLocks noChangeAspect="1"/>
          </p:cNvGraphicFramePr>
          <p:nvPr/>
        </p:nvGraphicFramePr>
        <p:xfrm>
          <a:off x="1691640" y="3568065"/>
          <a:ext cx="6172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8" name="Equation" r:id="rId3" imgW="2387600" imgH="393700" progId="Equation.DSMT4">
                  <p:embed/>
                </p:oleObj>
              </mc:Choice>
              <mc:Fallback>
                <p:oleObj name="Equation" r:id="rId3" imgW="2387600" imgH="3937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40" y="3568065"/>
                        <a:ext cx="61722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Text Box 10"/>
          <p:cNvSpPr txBox="1">
            <a:spLocks noChangeArrowheads="1"/>
          </p:cNvSpPr>
          <p:nvPr/>
        </p:nvSpPr>
        <p:spPr bwMode="auto">
          <a:xfrm>
            <a:off x="395605" y="4940935"/>
            <a:ext cx="7924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3.  </a:t>
            </a:r>
            <a:r>
              <a:rPr kumimoji="1" lang="zh-CN" altLang="en-US" sz="2400" b="1">
                <a:ea typeface="微软雅黑" panose="020B0503020204020204" charset="-122"/>
              </a:rPr>
              <a:t>额定容量： 额定容量是指在一定的放电制度下，电池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21513" name="Rectangle 11"/>
          <p:cNvSpPr>
            <a:spLocks noChangeArrowheads="1"/>
          </p:cNvSpPr>
          <p:nvPr/>
        </p:nvSpPr>
        <p:spPr bwMode="auto">
          <a:xfrm>
            <a:off x="548005" y="5398135"/>
            <a:ext cx="6579870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0" rIns="9000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应该给出的最低限度的容量。也就是设计指标。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21514" name="Rectangle 12"/>
          <p:cNvSpPr>
            <a:spLocks noChangeArrowheads="1"/>
          </p:cNvSpPr>
          <p:nvPr/>
        </p:nvSpPr>
        <p:spPr bwMode="auto">
          <a:xfrm>
            <a:off x="1148080" y="5855335"/>
            <a:ext cx="7494270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0" rIns="9000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电池的容量是电池的一个很重要的性能指标。一个电池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4"/>
          <p:cNvSpPr txBox="1">
            <a:spLocks noChangeArrowheads="1"/>
          </p:cNvSpPr>
          <p:nvPr/>
        </p:nvSpPr>
        <p:spPr bwMode="auto">
          <a:xfrm>
            <a:off x="533400" y="836613"/>
            <a:ext cx="807720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的实际容量往往小于其理论容量，这主要是由于活性物质的利用率低，不能达到</a:t>
            </a:r>
            <a:r>
              <a:rPr kumimoji="1" lang="en-US" altLang="zh-CN" sz="2400" b="1">
                <a:ea typeface="微软雅黑" panose="020B0503020204020204" charset="-122"/>
              </a:rPr>
              <a:t>100%</a:t>
            </a:r>
            <a:r>
              <a:rPr kumimoji="1" lang="zh-CN" altLang="en-US" sz="2400" b="1">
                <a:ea typeface="微软雅黑" panose="020B0503020204020204" charset="-122"/>
              </a:rPr>
              <a:t>。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22531" name="Text Box 5"/>
          <p:cNvSpPr txBox="1">
            <a:spLocks noChangeArrowheads="1"/>
          </p:cNvSpPr>
          <p:nvPr/>
        </p:nvSpPr>
        <p:spPr bwMode="auto">
          <a:xfrm>
            <a:off x="533400" y="1598613"/>
            <a:ext cx="5334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对活性物质的利用率可用下式计算：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22532" name="Text Box 6"/>
          <p:cNvSpPr txBox="1">
            <a:spLocks noChangeArrowheads="1"/>
          </p:cNvSpPr>
          <p:nvPr/>
        </p:nvSpPr>
        <p:spPr bwMode="auto">
          <a:xfrm>
            <a:off x="1066800" y="2055813"/>
            <a:ext cx="5410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ea typeface="微软雅黑" panose="020B0503020204020204" charset="-122"/>
              </a:rPr>
              <a:t>活性物质利用率（</a:t>
            </a:r>
            <a:r>
              <a:rPr kumimoji="1" lang="en-US" altLang="zh-CN" sz="2400" b="1">
                <a:solidFill>
                  <a:srgbClr val="FF0000"/>
                </a:solidFill>
                <a:ea typeface="微软雅黑" panose="020B0503020204020204" charset="-122"/>
              </a:rPr>
              <a:t>%</a:t>
            </a:r>
            <a:r>
              <a:rPr kumimoji="1" lang="zh-CN" altLang="en-US" sz="2400" b="1">
                <a:solidFill>
                  <a:srgbClr val="FF0000"/>
                </a:solidFill>
                <a:ea typeface="微软雅黑" panose="020B0503020204020204" charset="-122"/>
              </a:rPr>
              <a:t>）</a:t>
            </a:r>
            <a:r>
              <a:rPr kumimoji="1" lang="en-US" altLang="zh-CN" sz="2400" b="1">
                <a:solidFill>
                  <a:srgbClr val="FF0000"/>
                </a:solidFill>
                <a:ea typeface="微软雅黑" panose="020B0503020204020204" charset="-122"/>
              </a:rPr>
              <a:t>=M/g×100%</a:t>
            </a:r>
            <a:endParaRPr kumimoji="1" lang="en-US" altLang="zh-CN" sz="2400" b="1">
              <a:solidFill>
                <a:srgbClr val="FF0000"/>
              </a:solidFill>
              <a:ea typeface="微软雅黑" panose="020B0503020204020204" charset="-122"/>
            </a:endParaRPr>
          </a:p>
        </p:txBody>
      </p:sp>
      <p:sp>
        <p:nvSpPr>
          <p:cNvPr id="22533" name="Text Box 7"/>
          <p:cNvSpPr txBox="1">
            <a:spLocks noChangeArrowheads="1"/>
          </p:cNvSpPr>
          <p:nvPr/>
        </p:nvSpPr>
        <p:spPr bwMode="auto">
          <a:xfrm>
            <a:off x="1476375" y="2636838"/>
            <a:ext cx="7010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M</a:t>
            </a:r>
            <a:r>
              <a:rPr kumimoji="1" lang="zh-CN" altLang="en-US" sz="2400" b="1">
                <a:ea typeface="微软雅黑" panose="020B0503020204020204" charset="-122"/>
              </a:rPr>
              <a:t>－ 放电时按法拉第定律计算应消耗的物质的重量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22534" name="Text Box 8"/>
          <p:cNvSpPr txBox="1">
            <a:spLocks noChangeArrowheads="1"/>
          </p:cNvSpPr>
          <p:nvPr/>
        </p:nvSpPr>
        <p:spPr bwMode="auto">
          <a:xfrm>
            <a:off x="1619250" y="3068638"/>
            <a:ext cx="5943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g</a:t>
            </a:r>
            <a:r>
              <a:rPr kumimoji="1" lang="zh-CN" altLang="en-US" sz="2400" b="1">
                <a:ea typeface="微软雅黑" panose="020B0503020204020204" charset="-122"/>
              </a:rPr>
              <a:t>－ 电池中实际存在的活性物质的重量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22535" name="Text Box 9"/>
          <p:cNvSpPr txBox="1">
            <a:spLocks noChangeArrowheads="1"/>
          </p:cNvSpPr>
          <p:nvPr/>
        </p:nvSpPr>
        <p:spPr bwMode="auto">
          <a:xfrm>
            <a:off x="827088" y="3644900"/>
            <a:ext cx="678180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例如：</a:t>
            </a:r>
            <a:r>
              <a:rPr kumimoji="1" lang="en-US" altLang="zh-CN" sz="2400" b="1">
                <a:ea typeface="微软雅黑" panose="020B0503020204020204" charset="-122"/>
              </a:rPr>
              <a:t>13.5</a:t>
            </a:r>
            <a:r>
              <a:rPr kumimoji="1" lang="zh-CN" altLang="en-US" sz="2400" b="1">
                <a:ea typeface="微软雅黑" panose="020B0503020204020204" charset="-122"/>
              </a:rPr>
              <a:t>克锌理论上可放出</a:t>
            </a:r>
            <a:r>
              <a:rPr kumimoji="1" lang="en-US" altLang="zh-CN" sz="2400" b="1">
                <a:ea typeface="微软雅黑" panose="020B0503020204020204" charset="-122"/>
              </a:rPr>
              <a:t>11.1AH</a:t>
            </a:r>
            <a:r>
              <a:rPr kumimoji="1" lang="zh-CN" altLang="en-US" sz="2400" b="1">
                <a:ea typeface="微软雅黑" panose="020B0503020204020204" charset="-122"/>
              </a:rPr>
              <a:t>的电量，若实际上用了</a:t>
            </a:r>
            <a:r>
              <a:rPr kumimoji="1" lang="en-US" altLang="zh-CN" sz="2400" b="1">
                <a:ea typeface="微软雅黑" panose="020B0503020204020204" charset="-122"/>
              </a:rPr>
              <a:t>20</a:t>
            </a:r>
            <a:r>
              <a:rPr kumimoji="1" lang="zh-CN" altLang="en-US" sz="2400" b="1">
                <a:ea typeface="微软雅黑" panose="020B0503020204020204" charset="-122"/>
              </a:rPr>
              <a:t>克，则</a:t>
            </a:r>
            <a:r>
              <a:rPr kumimoji="1" lang="en-US" altLang="zh-CN" sz="2400" b="1">
                <a:ea typeface="微软雅黑" panose="020B0503020204020204" charset="-122"/>
              </a:rPr>
              <a:t>:</a:t>
            </a:r>
            <a:endParaRPr kumimoji="1" lang="en-US" altLang="zh-CN" sz="2400" b="1">
              <a:ea typeface="微软雅黑" panose="020B0503020204020204" charset="-122"/>
            </a:endParaRPr>
          </a:p>
        </p:txBody>
      </p:sp>
      <p:graphicFrame>
        <p:nvGraphicFramePr>
          <p:cNvPr id="22536" name="Object 10"/>
          <p:cNvGraphicFramePr>
            <a:graphicFrameLocks noChangeAspect="1"/>
          </p:cNvGraphicFramePr>
          <p:nvPr/>
        </p:nvGraphicFramePr>
        <p:xfrm>
          <a:off x="2339975" y="4581525"/>
          <a:ext cx="37338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" name="Equation" r:id="rId1" imgW="1206500" imgH="203200" progId="Equation.DSMT4">
                  <p:embed/>
                </p:oleObj>
              </mc:Choice>
              <mc:Fallback>
                <p:oleObj name="Equation" r:id="rId1" imgW="1206500" imgH="203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581525"/>
                        <a:ext cx="37338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765175"/>
            <a:ext cx="8229600" cy="5365750"/>
          </a:xfrm>
        </p:spPr>
        <p:txBody>
          <a:bodyPr/>
          <a:lstStyle/>
          <a:p>
            <a:pPr marL="971550" lvl="1" indent="-514350" eaLnBrk="1" hangingPunct="1">
              <a:lnSpc>
                <a:spcPct val="120000"/>
              </a:lnSpc>
            </a:pPr>
            <a:r>
              <a:rPr lang="zh-CN" altLang="en-US" b="1"/>
              <a:t>影响容量的因素：</a:t>
            </a:r>
            <a:endParaRPr lang="zh-CN" altLang="en-US" b="1"/>
          </a:p>
          <a:p>
            <a:pPr marL="971550" lvl="1" indent="-514350" eaLnBrk="1" hangingPunct="1">
              <a:lnSpc>
                <a:spcPct val="120000"/>
              </a:lnSpc>
              <a:spcBef>
                <a:spcPct val="45000"/>
              </a:spcBef>
              <a:buFont typeface="Wingdings" panose="05000000000000000000" pitchFamily="2" charset="2"/>
              <a:buAutoNum type="arabicPeriod"/>
            </a:pPr>
            <a:r>
              <a:rPr lang="zh-CN" altLang="en-US" b="1">
                <a:solidFill>
                  <a:srgbClr val="771D23"/>
                </a:solidFill>
              </a:rPr>
              <a:t>活性物质的量：</a:t>
            </a:r>
            <a:endParaRPr lang="zh-CN" altLang="en-US" b="1">
              <a:solidFill>
                <a:srgbClr val="771D23"/>
              </a:solidFill>
            </a:endParaRPr>
          </a:p>
          <a:p>
            <a:pPr marL="971550" lvl="1" indent="-514350" eaLnBrk="1" hangingPunct="1">
              <a:lnSpc>
                <a:spcPct val="120000"/>
              </a:lnSpc>
              <a:buFont typeface="Wingdings" panose="05000000000000000000" pitchFamily="2" charset="2"/>
              <a:buAutoNum type="arabicPeriod"/>
            </a:pPr>
            <a:endParaRPr lang="zh-CN" altLang="en-US" b="1">
              <a:solidFill>
                <a:srgbClr val="6D0913"/>
              </a:solidFill>
            </a:endParaRPr>
          </a:p>
          <a:p>
            <a:pPr marL="971550" lvl="1" indent="-514350" eaLnBrk="1" hangingPunct="1">
              <a:lnSpc>
                <a:spcPct val="120000"/>
              </a:lnSpc>
              <a:buFont typeface="Wingdings" panose="05000000000000000000" pitchFamily="2" charset="2"/>
              <a:buAutoNum type="arabicPeriod"/>
            </a:pPr>
            <a:r>
              <a:rPr lang="zh-CN" altLang="en-US" b="1">
                <a:solidFill>
                  <a:srgbClr val="6D0913"/>
                </a:solidFill>
              </a:rPr>
              <a:t>活性物质的利用率</a:t>
            </a:r>
            <a:endParaRPr lang="zh-CN" altLang="en-US" b="1">
              <a:solidFill>
                <a:srgbClr val="6D0913"/>
              </a:solidFill>
            </a:endParaRPr>
          </a:p>
        </p:txBody>
      </p:sp>
      <p:graphicFrame>
        <p:nvGraphicFramePr>
          <p:cNvPr id="32772" name="Object 4"/>
          <p:cNvGraphicFramePr>
            <a:graphicFrameLocks noChangeAspect="1"/>
          </p:cNvGraphicFramePr>
          <p:nvPr/>
        </p:nvGraphicFramePr>
        <p:xfrm>
          <a:off x="4267200" y="1304925"/>
          <a:ext cx="1143000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7" name="Equation" r:id="rId1" imgW="177800" imgH="253365" progId="Equation.DSMT4">
                  <p:embed/>
                </p:oleObj>
              </mc:Choice>
              <mc:Fallback>
                <p:oleObj name="Equation" r:id="rId1" imgW="177800" imgH="25336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304925"/>
                        <a:ext cx="1143000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4876800" y="1608297"/>
            <a:ext cx="2895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79551B"/>
                </a:solidFill>
                <a:ea typeface="微软雅黑" panose="020B0503020204020204" charset="-122"/>
              </a:rPr>
              <a:t>活性物质的活性</a:t>
            </a:r>
            <a:r>
              <a:rPr lang="zh-CN" altLang="en-US" sz="2800" b="1">
                <a:solidFill>
                  <a:srgbClr val="79551B"/>
                </a:solidFill>
                <a:ea typeface="微软雅黑" panose="020B0503020204020204" charset="-122"/>
              </a:rPr>
              <a:t> </a:t>
            </a:r>
            <a:endParaRPr lang="zh-CN" altLang="en-US" sz="2800" b="1">
              <a:solidFill>
                <a:srgbClr val="79551B"/>
              </a:solidFill>
              <a:ea typeface="微软雅黑" panose="020B0503020204020204" charset="-122"/>
            </a:endParaRPr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4800600" y="2141697"/>
            <a:ext cx="3048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79551B"/>
                </a:solidFill>
                <a:ea typeface="微软雅黑" panose="020B0503020204020204" charset="-122"/>
              </a:rPr>
              <a:t>电池和电极的结构</a:t>
            </a:r>
            <a:r>
              <a:rPr lang="zh-CN" altLang="en-US" sz="2800" b="1">
                <a:solidFill>
                  <a:srgbClr val="79551B"/>
                </a:solidFill>
                <a:ea typeface="微软雅黑" panose="020B0503020204020204" charset="-122"/>
              </a:rPr>
              <a:t> </a:t>
            </a:r>
            <a:endParaRPr lang="zh-CN" altLang="en-US" sz="2800" b="1">
              <a:solidFill>
                <a:srgbClr val="79551B"/>
              </a:solidFill>
              <a:ea typeface="微软雅黑" panose="020B0503020204020204" charset="-122"/>
            </a:endParaRPr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4800600" y="2675097"/>
            <a:ext cx="36347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79551B"/>
                </a:solidFill>
                <a:ea typeface="微软雅黑" panose="020B0503020204020204" charset="-122"/>
              </a:rPr>
              <a:t>电解液的量、浓度、质量</a:t>
            </a:r>
            <a:r>
              <a:rPr lang="zh-CN" altLang="en-US" sz="2800" b="1">
                <a:solidFill>
                  <a:srgbClr val="79551B"/>
                </a:solidFill>
                <a:ea typeface="微软雅黑" panose="020B0503020204020204" charset="-122"/>
              </a:rPr>
              <a:t> </a:t>
            </a:r>
            <a:endParaRPr lang="zh-CN" altLang="en-US" sz="2800" b="1">
              <a:solidFill>
                <a:srgbClr val="79551B"/>
              </a:solidFill>
              <a:ea typeface="微软雅黑" panose="020B0503020204020204" charset="-122"/>
            </a:endParaRPr>
          </a:p>
        </p:txBody>
      </p:sp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4876800" y="3208497"/>
            <a:ext cx="15011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79551B"/>
                </a:solidFill>
                <a:ea typeface="微软雅黑" panose="020B0503020204020204" charset="-122"/>
              </a:rPr>
              <a:t>制造工艺</a:t>
            </a:r>
            <a:r>
              <a:rPr lang="zh-CN" altLang="en-US" sz="2800" b="1">
                <a:solidFill>
                  <a:srgbClr val="79551B"/>
                </a:solidFill>
                <a:ea typeface="微软雅黑" panose="020B0503020204020204" charset="-122"/>
              </a:rPr>
              <a:t> </a:t>
            </a:r>
            <a:endParaRPr lang="zh-CN" altLang="en-US" sz="2800" b="1">
              <a:solidFill>
                <a:srgbClr val="79551B"/>
              </a:solidFill>
              <a:ea typeface="微软雅黑" panose="020B0503020204020204" charset="-122"/>
            </a:endParaRPr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4953000" y="3665697"/>
            <a:ext cx="15011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79551B"/>
                </a:solidFill>
                <a:ea typeface="微软雅黑" panose="020B0503020204020204" charset="-122"/>
              </a:rPr>
              <a:t>放电制度</a:t>
            </a:r>
            <a:r>
              <a:rPr lang="zh-CN" altLang="en-US" sz="2800" b="1">
                <a:solidFill>
                  <a:srgbClr val="79551B"/>
                </a:solidFill>
                <a:ea typeface="微软雅黑" panose="020B0503020204020204" charset="-122"/>
              </a:rPr>
              <a:t> </a:t>
            </a:r>
            <a:endParaRPr lang="zh-CN" altLang="en-US" sz="2800" b="1">
              <a:solidFill>
                <a:srgbClr val="79551B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" dur="10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/>
      <p:bldP spid="32774" grpId="0"/>
      <p:bldP spid="32775" grpId="0"/>
      <p:bldP spid="32776" grpId="0"/>
      <p:bldP spid="3277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68313" y="620713"/>
            <a:ext cx="8435975" cy="17287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/>
              <a:t>放电时率与放电倍率：</a:t>
            </a:r>
            <a:endParaRPr lang="zh-CN" altLang="en-US" b="1"/>
          </a:p>
          <a:p>
            <a:pPr lvl="1" eaLnBrk="1" hangingPunct="1">
              <a:lnSpc>
                <a:spcPct val="120000"/>
              </a:lnSpc>
            </a:pPr>
            <a:r>
              <a:rPr lang="zh-CN" altLang="en-US" b="1"/>
              <a:t>放电时率</a:t>
            </a:r>
            <a:endParaRPr lang="zh-CN" altLang="en-US" b="1"/>
          </a:p>
          <a:p>
            <a:pPr lvl="1" eaLnBrk="1" hangingPunct="1">
              <a:lnSpc>
                <a:spcPct val="120000"/>
              </a:lnSpc>
              <a:buFontTx/>
              <a:buNone/>
            </a:pPr>
            <a:r>
              <a:rPr lang="zh-CN" altLang="en-US"/>
              <a:t>以一定放电电流放完额定容量所需要的小时数</a:t>
            </a:r>
            <a:endParaRPr lang="zh-CN" altLang="en-US"/>
          </a:p>
        </p:txBody>
      </p:sp>
      <p:sp>
        <p:nvSpPr>
          <p:cNvPr id="24579" name="Rectangle 4"/>
          <p:cNvSpPr>
            <a:spLocks noChangeArrowheads="1"/>
          </p:cNvSpPr>
          <p:nvPr/>
        </p:nvSpPr>
        <p:spPr bwMode="auto">
          <a:xfrm>
            <a:off x="539750" y="3284538"/>
            <a:ext cx="763270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ea typeface="微软雅黑" panose="020B0503020204020204" charset="-122"/>
              </a:rPr>
              <a:t>放电倍率：</a:t>
            </a:r>
            <a:r>
              <a:rPr lang="zh-CN" altLang="en-US" sz="2000" b="1">
                <a:ea typeface="微软雅黑" panose="020B0503020204020204" charset="-122"/>
              </a:rPr>
              <a:t>在规定时间内放完全部额定容量所需的电流值。它在数据值上等于电池额定容量的倍数，通常以字母</a:t>
            </a:r>
            <a:r>
              <a:rPr lang="en-US" altLang="zh-CN" sz="2000" b="1">
                <a:ea typeface="微软雅黑" panose="020B0503020204020204" charset="-122"/>
              </a:rPr>
              <a:t>C</a:t>
            </a:r>
            <a:r>
              <a:rPr lang="zh-CN" altLang="en-US" sz="2000" b="1">
                <a:ea typeface="微软雅黑" panose="020B0503020204020204" charset="-122"/>
              </a:rPr>
              <a:t>表示</a:t>
            </a:r>
            <a:endParaRPr lang="zh-CN" altLang="en-US" sz="2000" b="1">
              <a:ea typeface="微软雅黑" panose="020B0503020204020204" charset="-122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微软雅黑" panose="020B0503020204020204" charset="-122"/>
              </a:rPr>
              <a:t>   </a:t>
            </a:r>
            <a:endParaRPr lang="zh-CN" altLang="en-US" sz="2400" baseline="-25000">
              <a:ea typeface="微软雅黑" panose="020B0503020204020204" charset="-122"/>
            </a:endParaRPr>
          </a:p>
        </p:txBody>
      </p:sp>
      <p:sp>
        <p:nvSpPr>
          <p:cNvPr id="24580" name="Text Box 5"/>
          <p:cNvSpPr txBox="1">
            <a:spLocks noChangeArrowheads="1"/>
          </p:cNvSpPr>
          <p:nvPr/>
        </p:nvSpPr>
        <p:spPr bwMode="auto">
          <a:xfrm>
            <a:off x="684213" y="2420938"/>
            <a:ext cx="7620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例如：若电池的额定容量为</a:t>
            </a:r>
            <a:r>
              <a:rPr kumimoji="1" lang="en-US" altLang="zh-CN" sz="2400" b="1">
                <a:ea typeface="微软雅黑" panose="020B0503020204020204" charset="-122"/>
              </a:rPr>
              <a:t>10Ah,</a:t>
            </a:r>
            <a:r>
              <a:rPr kumimoji="1" lang="zh-CN" altLang="en-US" sz="2400" b="1">
                <a:ea typeface="微软雅黑" panose="020B0503020204020204" charset="-122"/>
              </a:rPr>
              <a:t>以</a:t>
            </a:r>
            <a:r>
              <a:rPr kumimoji="1" lang="en-US" altLang="zh-CN" sz="2400" b="1">
                <a:ea typeface="微软雅黑" panose="020B0503020204020204" charset="-122"/>
              </a:rPr>
              <a:t>2A</a:t>
            </a:r>
            <a:r>
              <a:rPr kumimoji="1" lang="zh-CN" altLang="en-US" sz="2400" b="1">
                <a:ea typeface="微软雅黑" panose="020B0503020204020204" charset="-122"/>
              </a:rPr>
              <a:t>放电，则</a:t>
            </a:r>
            <a:r>
              <a:rPr kumimoji="1" lang="en-US" altLang="zh-CN" sz="2400" b="1">
                <a:ea typeface="微软雅黑" panose="020B0503020204020204" charset="-122"/>
              </a:rPr>
              <a:t>:</a:t>
            </a:r>
            <a:endParaRPr kumimoji="1" lang="en-US" altLang="zh-CN" sz="2400" b="1">
              <a:ea typeface="微软雅黑" panose="020B0503020204020204" charset="-122"/>
            </a:endParaRPr>
          </a:p>
        </p:txBody>
      </p:sp>
      <p:sp>
        <p:nvSpPr>
          <p:cNvPr id="24581" name="Rectangle 6"/>
          <p:cNvSpPr>
            <a:spLocks noChangeArrowheads="1"/>
          </p:cNvSpPr>
          <p:nvPr/>
        </p:nvSpPr>
        <p:spPr bwMode="auto">
          <a:xfrm>
            <a:off x="1751013" y="2795588"/>
            <a:ext cx="303784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0" rIns="9000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en-US" altLang="zh-CN" b="1">
                <a:solidFill>
                  <a:srgbClr val="FF0000"/>
                </a:solidFill>
                <a:ea typeface="微软雅黑" panose="020B0503020204020204" charset="-122"/>
              </a:rPr>
              <a:t>t</a:t>
            </a:r>
            <a:r>
              <a:rPr kumimoji="1" lang="zh-CN" altLang="en-US" sz="2400" b="1" baseline="-25000">
                <a:solidFill>
                  <a:srgbClr val="FF0000"/>
                </a:solidFill>
                <a:ea typeface="微软雅黑" panose="020B0503020204020204" charset="-122"/>
              </a:rPr>
              <a:t>放电时率</a:t>
            </a:r>
            <a:r>
              <a:rPr kumimoji="1" lang="en-US" altLang="zh-CN" sz="2400" b="1">
                <a:solidFill>
                  <a:srgbClr val="FF0000"/>
                </a:solidFill>
                <a:ea typeface="微软雅黑" panose="020B0503020204020204" charset="-122"/>
              </a:rPr>
              <a:t>=10Ah/2A=5h</a:t>
            </a:r>
            <a:endParaRPr kumimoji="1" lang="en-US" altLang="zh-CN" sz="2400" b="1">
              <a:solidFill>
                <a:srgbClr val="FF0000"/>
              </a:solidFill>
              <a:ea typeface="微软雅黑" panose="020B0503020204020204" charset="-122"/>
            </a:endParaRPr>
          </a:p>
        </p:txBody>
      </p:sp>
      <p:sp>
        <p:nvSpPr>
          <p:cNvPr id="24582" name="Text Box 7"/>
          <p:cNvSpPr txBox="1">
            <a:spLocks noChangeArrowheads="1"/>
          </p:cNvSpPr>
          <p:nvPr/>
        </p:nvSpPr>
        <p:spPr bwMode="auto">
          <a:xfrm>
            <a:off x="395288" y="4221163"/>
            <a:ext cx="7620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例如：若电池的额定容量为</a:t>
            </a:r>
            <a:r>
              <a:rPr kumimoji="1" lang="en-US" altLang="zh-CN" sz="2400" b="1">
                <a:ea typeface="微软雅黑" panose="020B0503020204020204" charset="-122"/>
              </a:rPr>
              <a:t>10Ah,</a:t>
            </a:r>
            <a:r>
              <a:rPr kumimoji="1" lang="zh-CN" altLang="en-US" sz="2400" b="1">
                <a:ea typeface="微软雅黑" panose="020B0503020204020204" charset="-122"/>
              </a:rPr>
              <a:t>以</a:t>
            </a:r>
            <a:r>
              <a:rPr kumimoji="1" lang="en-US" altLang="zh-CN" sz="2400" b="1">
                <a:ea typeface="微软雅黑" panose="020B0503020204020204" charset="-122"/>
              </a:rPr>
              <a:t>5H</a:t>
            </a:r>
            <a:r>
              <a:rPr kumimoji="1" lang="zh-CN" altLang="en-US" sz="2400" b="1">
                <a:ea typeface="微软雅黑" panose="020B0503020204020204" charset="-122"/>
              </a:rPr>
              <a:t>放电，则</a:t>
            </a:r>
            <a:r>
              <a:rPr kumimoji="1" lang="en-US" altLang="zh-CN" sz="2400" b="1">
                <a:ea typeface="微软雅黑" panose="020B0503020204020204" charset="-122"/>
              </a:rPr>
              <a:t>:</a:t>
            </a:r>
            <a:endParaRPr kumimoji="1" lang="en-US" altLang="zh-CN" sz="2400" b="1">
              <a:ea typeface="微软雅黑" panose="020B0503020204020204" charset="-122"/>
            </a:endParaRPr>
          </a:p>
        </p:txBody>
      </p:sp>
      <p:sp>
        <p:nvSpPr>
          <p:cNvPr id="24583" name="Rectangle 8"/>
          <p:cNvSpPr>
            <a:spLocks noChangeArrowheads="1"/>
          </p:cNvSpPr>
          <p:nvPr/>
        </p:nvSpPr>
        <p:spPr bwMode="auto">
          <a:xfrm>
            <a:off x="1619250" y="4581525"/>
            <a:ext cx="61674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0" rIns="9000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en-US" altLang="zh-CN" b="1">
                <a:solidFill>
                  <a:srgbClr val="FF0000"/>
                </a:solidFill>
                <a:ea typeface="微软雅黑" panose="020B0503020204020204" charset="-122"/>
              </a:rPr>
              <a:t>I</a:t>
            </a:r>
            <a:r>
              <a:rPr kumimoji="1" lang="zh-CN" altLang="en-US" sz="2400" b="1" baseline="-25000">
                <a:solidFill>
                  <a:srgbClr val="FF0000"/>
                </a:solidFill>
                <a:ea typeface="微软雅黑" panose="020B0503020204020204" charset="-122"/>
              </a:rPr>
              <a:t>放电电流</a:t>
            </a:r>
            <a:r>
              <a:rPr kumimoji="1" lang="en-US" altLang="zh-CN" sz="2400" b="1">
                <a:solidFill>
                  <a:srgbClr val="FF0000"/>
                </a:solidFill>
                <a:ea typeface="微软雅黑" panose="020B0503020204020204" charset="-122"/>
              </a:rPr>
              <a:t>=10Ah/5h=2A   C=2/10=0.2</a:t>
            </a:r>
            <a:r>
              <a:rPr kumimoji="1" lang="zh-CN" altLang="en-US" sz="2400" b="1">
                <a:solidFill>
                  <a:srgbClr val="FF0000"/>
                </a:solidFill>
                <a:ea typeface="微软雅黑" panose="020B0503020204020204" charset="-122"/>
              </a:rPr>
              <a:t>倍率</a:t>
            </a:r>
            <a:endParaRPr kumimoji="1" lang="en-US" altLang="zh-CN" sz="2400" b="1">
              <a:solidFill>
                <a:srgbClr val="FF0000"/>
              </a:solidFill>
              <a:ea typeface="微软雅黑" panose="020B0503020204020204" charset="-122"/>
            </a:endParaRPr>
          </a:p>
        </p:txBody>
      </p:sp>
      <p:sp>
        <p:nvSpPr>
          <p:cNvPr id="24584" name="Text Box 9"/>
          <p:cNvSpPr txBox="1">
            <a:spLocks noChangeArrowheads="1"/>
          </p:cNvSpPr>
          <p:nvPr/>
        </p:nvSpPr>
        <p:spPr bwMode="auto">
          <a:xfrm>
            <a:off x="468313" y="5157788"/>
            <a:ext cx="8064500" cy="138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>
                <a:ea typeface="微软雅黑" panose="020B0503020204020204" charset="-122"/>
              </a:rPr>
              <a:t>如是在</a:t>
            </a:r>
            <a:r>
              <a:rPr lang="en-US" altLang="zh-CN" sz="2800">
                <a:ea typeface="微软雅黑" panose="020B0503020204020204" charset="-122"/>
              </a:rPr>
              <a:t>1</a:t>
            </a:r>
            <a:r>
              <a:rPr lang="zh-CN" altLang="en-US" sz="2800">
                <a:ea typeface="微软雅黑" panose="020B0503020204020204" charset="-122"/>
              </a:rPr>
              <a:t>倍率</a:t>
            </a:r>
            <a:r>
              <a:rPr lang="en-US" altLang="zh-CN" sz="2800">
                <a:ea typeface="微软雅黑" panose="020B0503020204020204" charset="-122"/>
              </a:rPr>
              <a:t>(</a:t>
            </a:r>
            <a:r>
              <a:rPr lang="zh-CN" altLang="en-US" sz="2800">
                <a:ea typeface="微软雅黑" panose="020B0503020204020204" charset="-122"/>
              </a:rPr>
              <a:t>或叫</a:t>
            </a:r>
            <a:r>
              <a:rPr lang="en-US" altLang="zh-CN" sz="2800">
                <a:ea typeface="微软雅黑" panose="020B0503020204020204" charset="-122"/>
              </a:rPr>
              <a:t>1C)</a:t>
            </a:r>
            <a:r>
              <a:rPr lang="zh-CN" altLang="en-US" sz="2800">
                <a:ea typeface="微软雅黑" panose="020B0503020204020204" charset="-122"/>
              </a:rPr>
              <a:t>放电，是指用</a:t>
            </a:r>
            <a:r>
              <a:rPr lang="en-US" altLang="zh-CN" sz="2800">
                <a:ea typeface="微软雅黑" panose="020B0503020204020204" charset="-122"/>
              </a:rPr>
              <a:t>1h</a:t>
            </a:r>
            <a:r>
              <a:rPr lang="zh-CN" altLang="en-US" sz="2800">
                <a:ea typeface="微软雅黑" panose="020B0503020204020204" charset="-122"/>
              </a:rPr>
              <a:t>放完额定容量，所需电流为</a:t>
            </a:r>
            <a:r>
              <a:rPr lang="en-US" altLang="zh-CN" sz="2800">
                <a:ea typeface="微软雅黑" panose="020B0503020204020204" charset="-122"/>
              </a:rPr>
              <a:t>10A</a:t>
            </a:r>
            <a:r>
              <a:rPr lang="zh-CN" altLang="en-US" sz="2800">
                <a:ea typeface="微软雅黑" panose="020B0503020204020204" charset="-122"/>
              </a:rPr>
              <a:t>。如用</a:t>
            </a:r>
            <a:r>
              <a:rPr lang="en-US" altLang="zh-CN" sz="2800">
                <a:ea typeface="微软雅黑" panose="020B0503020204020204" charset="-122"/>
              </a:rPr>
              <a:t>2h</a:t>
            </a:r>
            <a:r>
              <a:rPr lang="zh-CN" altLang="en-US" sz="2800">
                <a:ea typeface="微软雅黑" panose="020B0503020204020204" charset="-122"/>
              </a:rPr>
              <a:t>放完电，则叫以</a:t>
            </a:r>
            <a:r>
              <a:rPr lang="en-US" altLang="zh-CN" sz="2800">
                <a:ea typeface="微软雅黑" panose="020B0503020204020204" charset="-122"/>
              </a:rPr>
              <a:t>0. 5 C</a:t>
            </a:r>
            <a:r>
              <a:rPr lang="zh-CN" altLang="en-US" sz="2800">
                <a:ea typeface="微软雅黑" panose="020B0503020204020204" charset="-122"/>
              </a:rPr>
              <a:t>放电，放电电流为</a:t>
            </a:r>
            <a:r>
              <a:rPr lang="en-US" altLang="zh-CN" sz="2800">
                <a:ea typeface="微软雅黑" panose="020B0503020204020204" charset="-122"/>
              </a:rPr>
              <a:t>10A·h/2h=5A</a:t>
            </a:r>
            <a:endParaRPr lang="en-US" altLang="zh-CN" sz="2800"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68313" y="549275"/>
            <a:ext cx="8424862" cy="2951163"/>
          </a:xfrm>
        </p:spPr>
        <p:txBody>
          <a:bodyPr/>
          <a:lstStyle/>
          <a:p>
            <a:pPr eaLnBrk="1" hangingPunct="1"/>
            <a:r>
              <a:rPr lang="zh-CN" altLang="en-US" sz="3600" b="1"/>
              <a:t>能量和比能量</a:t>
            </a:r>
            <a:r>
              <a:rPr lang="en-US" altLang="zh-CN" sz="3600" b="1"/>
              <a:t>:</a:t>
            </a:r>
            <a:endParaRPr lang="en-US" altLang="zh-CN" sz="3600" b="1"/>
          </a:p>
          <a:p>
            <a:pPr lvl="1" eaLnBrk="1" hangingPunct="1"/>
            <a:r>
              <a:rPr lang="zh-CN" altLang="en-US" sz="3200" b="1"/>
              <a:t>能量</a:t>
            </a:r>
            <a:endParaRPr lang="zh-CN" altLang="en-US" sz="32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   </a:t>
            </a:r>
            <a:r>
              <a:rPr lang="zh-CN" altLang="en-US" sz="3000"/>
              <a:t>电池在一定的放电制度下，对外做功所输出的能量。</a:t>
            </a:r>
            <a:r>
              <a:rPr kumimoji="1" lang="zh-CN" altLang="en-US"/>
              <a:t>通常用瓦</a:t>
            </a:r>
            <a:r>
              <a:rPr kumimoji="1" lang="en-US" altLang="zh-CN"/>
              <a:t>·</a:t>
            </a:r>
            <a:r>
              <a:rPr kumimoji="1" lang="zh-CN" altLang="en-US"/>
              <a:t>时（</a:t>
            </a:r>
            <a:r>
              <a:rPr kumimoji="1" lang="en-US" altLang="zh-CN"/>
              <a:t>Wh)</a:t>
            </a:r>
            <a:r>
              <a:rPr kumimoji="1" lang="zh-CN" altLang="en-US"/>
              <a:t>表示</a:t>
            </a:r>
            <a:endParaRPr lang="zh-CN" altLang="en-US" sz="3000"/>
          </a:p>
          <a:p>
            <a:pPr lvl="1" eaLnBrk="1" hangingPunct="1"/>
            <a:r>
              <a:rPr kumimoji="1" lang="zh-CN" altLang="en-US" b="1"/>
              <a:t>（</a:t>
            </a:r>
            <a:r>
              <a:rPr kumimoji="1" lang="en-US" altLang="zh-CN" b="1"/>
              <a:t>1</a:t>
            </a:r>
            <a:r>
              <a:rPr kumimoji="1" lang="zh-CN" altLang="en-US" b="1"/>
              <a:t>）</a:t>
            </a:r>
            <a:r>
              <a:rPr lang="zh-CN" altLang="en-US" sz="3200" b="1"/>
              <a:t>理论能量</a:t>
            </a:r>
            <a:endParaRPr lang="zh-CN" altLang="en-US" sz="2600"/>
          </a:p>
        </p:txBody>
      </p:sp>
      <p:sp>
        <p:nvSpPr>
          <p:cNvPr id="25603" name="Text Box 4"/>
          <p:cNvSpPr txBox="1">
            <a:spLocks noChangeArrowheads="1"/>
          </p:cNvSpPr>
          <p:nvPr/>
        </p:nvSpPr>
        <p:spPr bwMode="auto">
          <a:xfrm>
            <a:off x="914400" y="3573463"/>
            <a:ext cx="8229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从热力学上看，电池的理论能量等于可逆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25604" name="Rectangle 5"/>
          <p:cNvSpPr>
            <a:spLocks noChangeArrowheads="1"/>
          </p:cNvSpPr>
          <p:nvPr/>
        </p:nvSpPr>
        <p:spPr bwMode="auto">
          <a:xfrm>
            <a:off x="971550" y="4076700"/>
            <a:ext cx="4446270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0" rIns="9000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过程电池所能做的最大有用功：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graphicFrame>
        <p:nvGraphicFramePr>
          <p:cNvPr id="25605" name="Object 6"/>
          <p:cNvGraphicFramePr>
            <a:graphicFrameLocks noChangeAspect="1"/>
          </p:cNvGraphicFramePr>
          <p:nvPr/>
        </p:nvGraphicFramePr>
        <p:xfrm>
          <a:off x="1763713" y="4652963"/>
          <a:ext cx="525780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2" name="Equation" r:id="rId1" imgW="1917700" imgH="228600" progId="Equation.DSMT4">
                  <p:embed/>
                </p:oleObj>
              </mc:Choice>
              <mc:Fallback>
                <p:oleObj name="Equation" r:id="rId1" imgW="19177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652963"/>
                        <a:ext cx="5257800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5"/>
          <p:cNvSpPr txBox="1">
            <a:spLocks noChangeArrowheads="1"/>
          </p:cNvSpPr>
          <p:nvPr/>
        </p:nvSpPr>
        <p:spPr bwMode="auto">
          <a:xfrm>
            <a:off x="468313" y="549275"/>
            <a:ext cx="820737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（</a:t>
            </a:r>
            <a:r>
              <a:rPr kumimoji="1" lang="en-US" altLang="zh-CN" sz="2400" b="1">
                <a:ea typeface="微软雅黑" panose="020B0503020204020204" charset="-122"/>
              </a:rPr>
              <a:t>2</a:t>
            </a:r>
            <a:r>
              <a:rPr kumimoji="1" lang="zh-CN" altLang="en-US" sz="2400" b="1">
                <a:ea typeface="微软雅黑" panose="020B0503020204020204" charset="-122"/>
              </a:rPr>
              <a:t>）电池的实际能量：</a:t>
            </a:r>
            <a:r>
              <a:rPr lang="zh-CN" altLang="en-US" sz="2400" b="1">
                <a:ea typeface="微软雅黑" panose="020B0503020204020204" charset="-122"/>
              </a:rPr>
              <a:t>电池在一定的放电条件下实际放出的能量。</a:t>
            </a:r>
            <a:endParaRPr lang="zh-CN" altLang="en-US" sz="2400" b="1">
              <a:ea typeface="微软雅黑" panose="020B0503020204020204" charset="-122"/>
            </a:endParaRPr>
          </a:p>
        </p:txBody>
      </p:sp>
      <p:sp>
        <p:nvSpPr>
          <p:cNvPr id="26627" name="Text Box 6"/>
          <p:cNvSpPr txBox="1">
            <a:spLocks noChangeArrowheads="1"/>
          </p:cNvSpPr>
          <p:nvPr/>
        </p:nvSpPr>
        <p:spPr bwMode="auto">
          <a:xfrm>
            <a:off x="1547813" y="2133600"/>
            <a:ext cx="2438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2.</a:t>
            </a:r>
            <a:r>
              <a:rPr kumimoji="1" lang="zh-CN" altLang="en-US" sz="2400" b="1">
                <a:ea typeface="微软雅黑" panose="020B0503020204020204" charset="-122"/>
              </a:rPr>
              <a:t>恒电阻放电时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26628" name="Rectangle 7"/>
          <p:cNvSpPr>
            <a:spLocks noChangeArrowheads="1"/>
          </p:cNvSpPr>
          <p:nvPr/>
        </p:nvSpPr>
        <p:spPr bwMode="auto">
          <a:xfrm>
            <a:off x="1611313" y="1366838"/>
            <a:ext cx="2261870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0" rIns="9000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1.</a:t>
            </a:r>
            <a:r>
              <a:rPr kumimoji="1" lang="zh-CN" altLang="en-US" sz="2400" b="1">
                <a:ea typeface="微软雅黑" panose="020B0503020204020204" charset="-122"/>
              </a:rPr>
              <a:t>恒电位放电时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graphicFrame>
        <p:nvGraphicFramePr>
          <p:cNvPr id="26629" name="Object 8"/>
          <p:cNvGraphicFramePr>
            <a:graphicFrameLocks noChangeAspect="1"/>
          </p:cNvGraphicFramePr>
          <p:nvPr/>
        </p:nvGraphicFramePr>
        <p:xfrm>
          <a:off x="4211638" y="1125538"/>
          <a:ext cx="32004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9" name="Equation" r:id="rId1" imgW="1231265" imgH="330200" progId="Equation.DSMT4">
                  <p:embed/>
                </p:oleObj>
              </mc:Choice>
              <mc:Fallback>
                <p:oleObj name="Equation" r:id="rId1" imgW="1231265" imgH="330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1125538"/>
                        <a:ext cx="3200400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9"/>
          <p:cNvGraphicFramePr>
            <a:graphicFrameLocks noChangeAspect="1"/>
          </p:cNvGraphicFramePr>
          <p:nvPr/>
        </p:nvGraphicFramePr>
        <p:xfrm>
          <a:off x="4049713" y="2001838"/>
          <a:ext cx="4495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0" name="Equation" r:id="rId3" imgW="1905000" imgH="419100" progId="Equation.DSMT4">
                  <p:embed/>
                </p:oleObj>
              </mc:Choice>
              <mc:Fallback>
                <p:oleObj name="Equation" r:id="rId3" imgW="1905000" imgH="419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9713" y="2001838"/>
                        <a:ext cx="4495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Rectangle 10"/>
          <p:cNvSpPr>
            <a:spLocks noChangeArrowheads="1"/>
          </p:cNvSpPr>
          <p:nvPr/>
        </p:nvSpPr>
        <p:spPr bwMode="auto">
          <a:xfrm>
            <a:off x="395288" y="3070225"/>
            <a:ext cx="7777162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（</a:t>
            </a:r>
            <a:r>
              <a:rPr kumimoji="1" lang="en-US" altLang="zh-CN" sz="2400" b="1">
                <a:ea typeface="微软雅黑" panose="020B0503020204020204" charset="-122"/>
              </a:rPr>
              <a:t>3</a:t>
            </a:r>
            <a:r>
              <a:rPr kumimoji="1" lang="zh-CN" altLang="en-US" sz="2400" b="1">
                <a:ea typeface="微软雅黑" panose="020B0503020204020204" charset="-122"/>
              </a:rPr>
              <a:t>）</a:t>
            </a:r>
            <a:r>
              <a:rPr lang="zh-CN" altLang="en-US" sz="2400" b="1">
                <a:ea typeface="微软雅黑" panose="020B0503020204020204" charset="-122"/>
              </a:rPr>
              <a:t>比能量</a:t>
            </a:r>
            <a:r>
              <a:rPr lang="en-US" altLang="zh-CN" sz="2400" b="1">
                <a:ea typeface="微软雅黑" panose="020B0503020204020204" charset="-122"/>
              </a:rPr>
              <a:t>:</a:t>
            </a:r>
            <a:r>
              <a:rPr lang="en-US" altLang="zh-CN" sz="2400">
                <a:ea typeface="微软雅黑" panose="020B0503020204020204" charset="-122"/>
              </a:rPr>
              <a:t>   </a:t>
            </a:r>
            <a:r>
              <a:rPr lang="zh-CN" altLang="en-US" sz="2400" b="1">
                <a:ea typeface="微软雅黑" panose="020B0503020204020204" charset="-122"/>
              </a:rPr>
              <a:t>单位体积或单位重量的电池所输出的能量。</a:t>
            </a:r>
            <a:endParaRPr lang="zh-CN" altLang="en-US" sz="2400" b="1">
              <a:ea typeface="微软雅黑" panose="020B0503020204020204" charset="-122"/>
            </a:endParaRPr>
          </a:p>
        </p:txBody>
      </p:sp>
      <p:sp>
        <p:nvSpPr>
          <p:cNvPr id="26632" name="Text Box 11"/>
          <p:cNvSpPr txBox="1">
            <a:spLocks noChangeArrowheads="1"/>
          </p:cNvSpPr>
          <p:nvPr/>
        </p:nvSpPr>
        <p:spPr bwMode="auto">
          <a:xfrm>
            <a:off x="684213" y="3789363"/>
            <a:ext cx="7467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1.  </a:t>
            </a:r>
            <a:r>
              <a:rPr kumimoji="1" lang="zh-CN" altLang="en-US" sz="2400" b="1">
                <a:ea typeface="微软雅黑" panose="020B0503020204020204" charset="-122"/>
              </a:rPr>
              <a:t>体积比能量：单位体积电池输出的能量（瓦</a:t>
            </a:r>
            <a:r>
              <a:rPr kumimoji="1" lang="en-US" altLang="zh-CN" sz="2400" b="1">
                <a:ea typeface="微软雅黑" panose="020B0503020204020204" charset="-122"/>
              </a:rPr>
              <a:t>·</a:t>
            </a:r>
            <a:r>
              <a:rPr kumimoji="1" lang="zh-CN" altLang="en-US" sz="2400" b="1">
                <a:ea typeface="微软雅黑" panose="020B0503020204020204" charset="-122"/>
              </a:rPr>
              <a:t>时</a:t>
            </a:r>
            <a:r>
              <a:rPr kumimoji="1" lang="en-US" altLang="zh-CN" sz="2400" b="1">
                <a:ea typeface="微软雅黑" panose="020B0503020204020204" charset="-122"/>
              </a:rPr>
              <a:t>/L</a:t>
            </a:r>
            <a:r>
              <a:rPr kumimoji="1" lang="zh-CN" altLang="en-US" sz="2400" b="1">
                <a:ea typeface="微软雅黑" panose="020B0503020204020204" charset="-122"/>
              </a:rPr>
              <a:t>）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26633" name="Text Box 12"/>
          <p:cNvSpPr txBox="1">
            <a:spLocks noChangeArrowheads="1"/>
          </p:cNvSpPr>
          <p:nvPr/>
        </p:nvSpPr>
        <p:spPr bwMode="auto">
          <a:xfrm>
            <a:off x="684213" y="4246563"/>
            <a:ext cx="82089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2.  </a:t>
            </a:r>
            <a:r>
              <a:rPr kumimoji="1" lang="zh-CN" altLang="en-US" sz="2400" b="1">
                <a:ea typeface="微软雅黑" panose="020B0503020204020204" charset="-122"/>
              </a:rPr>
              <a:t>重量比容量：单位重量电池所能输出的能量</a:t>
            </a:r>
            <a:r>
              <a:rPr kumimoji="1" lang="zh-CN" altLang="en-US" sz="1800" b="1">
                <a:ea typeface="微软雅黑" panose="020B0503020204020204" charset="-122"/>
              </a:rPr>
              <a:t>（</a:t>
            </a:r>
            <a:r>
              <a:rPr kumimoji="1" lang="zh-CN" altLang="en-US" sz="2400" b="1">
                <a:ea typeface="微软雅黑" panose="020B0503020204020204" charset="-122"/>
              </a:rPr>
              <a:t>瓦</a:t>
            </a:r>
            <a:r>
              <a:rPr kumimoji="1" lang="en-US" altLang="zh-CN" sz="2400" b="1">
                <a:ea typeface="微软雅黑" panose="020B0503020204020204" charset="-122"/>
              </a:rPr>
              <a:t>·</a:t>
            </a:r>
            <a:r>
              <a:rPr kumimoji="1" lang="zh-CN" altLang="en-US" sz="2400" b="1">
                <a:ea typeface="微软雅黑" panose="020B0503020204020204" charset="-122"/>
              </a:rPr>
              <a:t>时</a:t>
            </a:r>
            <a:r>
              <a:rPr kumimoji="1" lang="en-US" altLang="zh-CN" sz="2400" b="1">
                <a:ea typeface="微软雅黑" panose="020B0503020204020204" charset="-122"/>
              </a:rPr>
              <a:t>/Kg</a:t>
            </a:r>
            <a:r>
              <a:rPr kumimoji="1" lang="zh-CN" altLang="en-US" sz="1800" b="1">
                <a:ea typeface="微软雅黑" panose="020B0503020204020204" charset="-122"/>
              </a:rPr>
              <a:t>）</a:t>
            </a:r>
            <a:endParaRPr kumimoji="1" lang="zh-CN" altLang="en-US" sz="1800" b="1">
              <a:ea typeface="微软雅黑" panose="020B0503020204020204" charset="-122"/>
            </a:endParaRPr>
          </a:p>
        </p:txBody>
      </p:sp>
      <p:sp>
        <p:nvSpPr>
          <p:cNvPr id="26634" name="Text Box 13"/>
          <p:cNvSpPr txBox="1">
            <a:spLocks noChangeArrowheads="1"/>
          </p:cNvSpPr>
          <p:nvPr/>
        </p:nvSpPr>
        <p:spPr bwMode="auto">
          <a:xfrm>
            <a:off x="2894013" y="4868863"/>
            <a:ext cx="3733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a.  </a:t>
            </a:r>
            <a:r>
              <a:rPr kumimoji="1" lang="zh-CN" altLang="en-US" sz="2400" b="1">
                <a:ea typeface="微软雅黑" panose="020B0503020204020204" charset="-122"/>
              </a:rPr>
              <a:t>理论重量比能量</a:t>
            </a:r>
            <a:endParaRPr kumimoji="1" lang="zh-CN" altLang="en-US" sz="1800" b="1">
              <a:ea typeface="微软雅黑" panose="020B0503020204020204" charset="-122"/>
            </a:endParaRPr>
          </a:p>
        </p:txBody>
      </p:sp>
      <p:sp>
        <p:nvSpPr>
          <p:cNvPr id="26635" name="Text Box 14"/>
          <p:cNvSpPr txBox="1">
            <a:spLocks noChangeArrowheads="1"/>
          </p:cNvSpPr>
          <p:nvPr/>
        </p:nvSpPr>
        <p:spPr bwMode="auto">
          <a:xfrm>
            <a:off x="1381125" y="4935538"/>
            <a:ext cx="1905000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0" rIns="9000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又可分为：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26636" name="Text Box 15"/>
          <p:cNvSpPr txBox="1">
            <a:spLocks noChangeArrowheads="1"/>
          </p:cNvSpPr>
          <p:nvPr/>
        </p:nvSpPr>
        <p:spPr bwMode="auto">
          <a:xfrm>
            <a:off x="2916238" y="5373688"/>
            <a:ext cx="29733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b.  </a:t>
            </a:r>
            <a:r>
              <a:rPr kumimoji="1" lang="zh-CN" altLang="en-US" sz="2400" b="1">
                <a:ea typeface="微软雅黑" panose="020B0503020204020204" charset="-122"/>
              </a:rPr>
              <a:t>实际重量比能量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/>
          <p:cNvSpPr txBox="1">
            <a:spLocks noChangeArrowheads="1"/>
          </p:cNvSpPr>
          <p:nvPr/>
        </p:nvSpPr>
        <p:spPr bwMode="auto">
          <a:xfrm>
            <a:off x="533400" y="692150"/>
            <a:ext cx="6553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下面以铅酸电池为例说明理论比能量的计算：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27651" name="Text Box 5"/>
          <p:cNvSpPr txBox="1">
            <a:spLocks noChangeArrowheads="1"/>
          </p:cNvSpPr>
          <p:nvPr/>
        </p:nvSpPr>
        <p:spPr bwMode="auto">
          <a:xfrm>
            <a:off x="685800" y="1073150"/>
            <a:ext cx="2133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电池的总反应：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27652" name="Text Box 6"/>
          <p:cNvSpPr txBox="1">
            <a:spLocks noChangeArrowheads="1"/>
          </p:cNvSpPr>
          <p:nvPr/>
        </p:nvSpPr>
        <p:spPr bwMode="auto">
          <a:xfrm>
            <a:off x="609600" y="2063750"/>
            <a:ext cx="2819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参加反应的总物质：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27653" name="Text Box 7"/>
          <p:cNvSpPr txBox="1">
            <a:spLocks noChangeArrowheads="1"/>
          </p:cNvSpPr>
          <p:nvPr/>
        </p:nvSpPr>
        <p:spPr bwMode="auto">
          <a:xfrm>
            <a:off x="609600" y="3359150"/>
            <a:ext cx="807720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        </a:t>
            </a:r>
            <a:r>
              <a:rPr kumimoji="1" lang="zh-CN" altLang="en-US" sz="2400" b="1">
                <a:ea typeface="微软雅黑" panose="020B0503020204020204" charset="-122"/>
              </a:rPr>
              <a:t>该反应能产生两个法拉第的电量，如果</a:t>
            </a:r>
            <a:r>
              <a:rPr kumimoji="1" lang="en-US" altLang="zh-CN" sz="2400" b="1">
                <a:ea typeface="微软雅黑" panose="020B0503020204020204" charset="-122"/>
              </a:rPr>
              <a:t>642.6</a:t>
            </a:r>
            <a:r>
              <a:rPr kumimoji="1" lang="zh-CN" altLang="en-US" sz="2400" b="1">
                <a:ea typeface="微软雅黑" panose="020B0503020204020204" charset="-122"/>
              </a:rPr>
              <a:t>克物质都能全部反应，则就能产生</a:t>
            </a:r>
            <a:r>
              <a:rPr kumimoji="1" lang="en-US" altLang="zh-CN" sz="2400" b="1">
                <a:ea typeface="微软雅黑" panose="020B0503020204020204" charset="-122"/>
              </a:rPr>
              <a:t>2×26.8=53.6Ah</a:t>
            </a:r>
            <a:r>
              <a:rPr kumimoji="1" lang="zh-CN" altLang="en-US" sz="2400" b="1">
                <a:ea typeface="微软雅黑" panose="020B0503020204020204" charset="-122"/>
              </a:rPr>
              <a:t>的电量。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27654" name="Text Box 8"/>
          <p:cNvSpPr txBox="1">
            <a:spLocks noChangeArrowheads="1"/>
          </p:cNvSpPr>
          <p:nvPr/>
        </p:nvSpPr>
        <p:spPr bwMode="auto">
          <a:xfrm>
            <a:off x="914400" y="4197350"/>
            <a:ext cx="2209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另查表可知：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graphicFrame>
        <p:nvGraphicFramePr>
          <p:cNvPr id="27655" name="Object 9"/>
          <p:cNvGraphicFramePr>
            <a:graphicFrameLocks noChangeAspect="1"/>
          </p:cNvGraphicFramePr>
          <p:nvPr/>
        </p:nvGraphicFramePr>
        <p:xfrm>
          <a:off x="1524000" y="1489075"/>
          <a:ext cx="67564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9" name="Equation" r:id="rId1" imgW="2540000" imgH="215900" progId="Equation.DSMT4">
                  <p:embed/>
                </p:oleObj>
              </mc:Choice>
              <mc:Fallback>
                <p:oleObj name="Equation" r:id="rId1" imgW="2540000" imgH="2159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489075"/>
                        <a:ext cx="67564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56" name="Group 10"/>
          <p:cNvGrpSpPr/>
          <p:nvPr/>
        </p:nvGrpSpPr>
        <p:grpSpPr bwMode="auto">
          <a:xfrm>
            <a:off x="1524000" y="2536825"/>
            <a:ext cx="7620000" cy="825500"/>
            <a:chOff x="960" y="2016"/>
            <a:chExt cx="4800" cy="520"/>
          </a:xfrm>
        </p:grpSpPr>
        <p:sp>
          <p:nvSpPr>
            <p:cNvPr id="27659" name="Rectangle 11"/>
            <p:cNvSpPr>
              <a:spLocks noChangeArrowheads="1"/>
            </p:cNvSpPr>
            <p:nvPr/>
          </p:nvSpPr>
          <p:spPr bwMode="auto">
            <a:xfrm>
              <a:off x="960" y="2016"/>
              <a:ext cx="4800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0" rIns="9000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115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>
                  <a:ea typeface="微软雅黑" panose="020B0503020204020204" charset="-122"/>
                </a:rPr>
                <a:t>M=207.2</a:t>
              </a:r>
              <a:r>
                <a:rPr kumimoji="1" lang="zh-CN" altLang="en-US" sz="2400" b="1">
                  <a:ea typeface="微软雅黑" panose="020B0503020204020204" charset="-122"/>
                </a:rPr>
                <a:t>（</a:t>
              </a:r>
              <a:r>
                <a:rPr kumimoji="1" lang="en-US" altLang="zh-CN" sz="2400" b="1">
                  <a:ea typeface="微软雅黑" panose="020B0503020204020204" charset="-122"/>
                </a:rPr>
                <a:t>Pb</a:t>
              </a:r>
              <a:r>
                <a:rPr kumimoji="1" lang="zh-CN" altLang="en-US" sz="2400" b="1">
                  <a:ea typeface="微软雅黑" panose="020B0503020204020204" charset="-122"/>
                </a:rPr>
                <a:t>）＋</a:t>
              </a:r>
              <a:r>
                <a:rPr kumimoji="1" lang="en-US" altLang="zh-CN" sz="2400" b="1">
                  <a:ea typeface="微软雅黑" panose="020B0503020204020204" charset="-122"/>
                </a:rPr>
                <a:t>239.2(PbO</a:t>
              </a:r>
              <a:r>
                <a:rPr kumimoji="1" lang="en-US" altLang="zh-CN" sz="2400" b="1" baseline="-25000">
                  <a:ea typeface="微软雅黑" panose="020B0503020204020204" charset="-122"/>
                </a:rPr>
                <a:t>2</a:t>
              </a:r>
              <a:r>
                <a:rPr kumimoji="1" lang="en-US" altLang="zh-CN" sz="2400" b="1">
                  <a:ea typeface="微软雅黑" panose="020B0503020204020204" charset="-122"/>
                </a:rPr>
                <a:t>)</a:t>
              </a:r>
              <a:r>
                <a:rPr kumimoji="1" lang="zh-CN" altLang="en-US" sz="2400" b="1">
                  <a:ea typeface="微软雅黑" panose="020B0503020204020204" charset="-122"/>
                </a:rPr>
                <a:t>＋</a:t>
              </a:r>
              <a:r>
                <a:rPr kumimoji="1" lang="en-US" altLang="zh-CN" sz="2400" b="1">
                  <a:ea typeface="微软雅黑" panose="020B0503020204020204" charset="-122"/>
                </a:rPr>
                <a:t>2×98.08(H</a:t>
              </a:r>
              <a:r>
                <a:rPr kumimoji="1" lang="en-US" altLang="zh-CN" sz="2400" b="1" baseline="-25000">
                  <a:ea typeface="微软雅黑" panose="020B0503020204020204" charset="-122"/>
                </a:rPr>
                <a:t>2</a:t>
              </a:r>
              <a:r>
                <a:rPr kumimoji="1" lang="en-US" altLang="zh-CN" sz="2400" b="1">
                  <a:ea typeface="微软雅黑" panose="020B0503020204020204" charset="-122"/>
                </a:rPr>
                <a:t>SO</a:t>
              </a:r>
              <a:r>
                <a:rPr kumimoji="1" lang="en-US" altLang="zh-CN" sz="2400" b="1" baseline="-25000">
                  <a:ea typeface="微软雅黑" panose="020B0503020204020204" charset="-122"/>
                </a:rPr>
                <a:t>4</a:t>
              </a:r>
              <a:r>
                <a:rPr kumimoji="1" lang="en-US" altLang="zh-CN" sz="2400" b="1">
                  <a:ea typeface="微软雅黑" panose="020B0503020204020204" charset="-122"/>
                </a:rPr>
                <a:t>)</a:t>
              </a:r>
              <a:endParaRPr kumimoji="1" lang="en-US" altLang="zh-CN" sz="2400" b="1">
                <a:ea typeface="微软雅黑" panose="020B0503020204020204" charset="-122"/>
              </a:endParaRPr>
            </a:p>
          </p:txBody>
        </p:sp>
        <p:sp>
          <p:nvSpPr>
            <p:cNvPr id="27660" name="Rectangle 12"/>
            <p:cNvSpPr>
              <a:spLocks noChangeArrowheads="1"/>
            </p:cNvSpPr>
            <p:nvPr/>
          </p:nvSpPr>
          <p:spPr bwMode="auto">
            <a:xfrm>
              <a:off x="1119" y="2304"/>
              <a:ext cx="950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0" rIns="9000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115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>
                  <a:ea typeface="微软雅黑" panose="020B0503020204020204" charset="-122"/>
                </a:rPr>
                <a:t> =642.6</a:t>
              </a:r>
              <a:r>
                <a:rPr kumimoji="1" lang="zh-CN" altLang="en-US" sz="2400" b="1">
                  <a:ea typeface="微软雅黑" panose="020B0503020204020204" charset="-122"/>
                </a:rPr>
                <a:t>克</a:t>
              </a:r>
              <a:endParaRPr kumimoji="1" lang="zh-CN" altLang="en-US" sz="2400" b="1">
                <a:ea typeface="微软雅黑" panose="020B0503020204020204" charset="-122"/>
              </a:endParaRPr>
            </a:p>
          </p:txBody>
        </p:sp>
      </p:grpSp>
      <p:graphicFrame>
        <p:nvGraphicFramePr>
          <p:cNvPr id="27657" name="Object 13"/>
          <p:cNvGraphicFramePr>
            <a:graphicFrameLocks noChangeAspect="1"/>
          </p:cNvGraphicFramePr>
          <p:nvPr/>
        </p:nvGraphicFramePr>
        <p:xfrm>
          <a:off x="2895600" y="4197350"/>
          <a:ext cx="358140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0" name="Equation" r:id="rId3" imgW="1422400" imgH="266700" progId="Equation.DSMT4">
                  <p:embed/>
                </p:oleObj>
              </mc:Choice>
              <mc:Fallback>
                <p:oleObj name="Equation" r:id="rId3" imgW="1422400" imgH="2667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197350"/>
                        <a:ext cx="358140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8" name="Object 14"/>
          <p:cNvGraphicFramePr>
            <a:graphicFrameLocks noChangeAspect="1"/>
          </p:cNvGraphicFramePr>
          <p:nvPr/>
        </p:nvGraphicFramePr>
        <p:xfrm>
          <a:off x="2819400" y="4868863"/>
          <a:ext cx="3429000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1" name="Equation" r:id="rId5" imgW="1397000" imgH="279400" progId="Equation.DSMT4">
                  <p:embed/>
                </p:oleObj>
              </mc:Choice>
              <mc:Fallback>
                <p:oleObj name="Equation" r:id="rId5" imgW="1397000" imgH="279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868863"/>
                        <a:ext cx="3429000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4"/>
          <p:cNvSpPr txBox="1">
            <a:spLocks noChangeArrowheads="1"/>
          </p:cNvSpPr>
          <p:nvPr/>
        </p:nvSpPr>
        <p:spPr bwMode="auto">
          <a:xfrm>
            <a:off x="533400" y="765175"/>
            <a:ext cx="1371600" cy="430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0" rIns="9000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800" b="1">
                <a:ea typeface="微软雅黑" panose="020B0503020204020204" charset="-122"/>
              </a:rPr>
              <a:t>所以：</a:t>
            </a:r>
            <a:endParaRPr kumimoji="1" lang="zh-CN" altLang="en-US" sz="2800" b="1">
              <a:ea typeface="微软雅黑" panose="020B0503020204020204" charset="-122"/>
            </a:endParaRPr>
          </a:p>
        </p:txBody>
      </p:sp>
      <p:graphicFrame>
        <p:nvGraphicFramePr>
          <p:cNvPr id="28675" name="Object 5"/>
          <p:cNvGraphicFramePr>
            <a:graphicFrameLocks noChangeAspect="1"/>
          </p:cNvGraphicFramePr>
          <p:nvPr/>
        </p:nvGraphicFramePr>
        <p:xfrm>
          <a:off x="2133600" y="841375"/>
          <a:ext cx="36576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9" name="Equation" r:id="rId1" imgW="1333500" imgH="254000" progId="Equation.DSMT4">
                  <p:embed/>
                </p:oleObj>
              </mc:Choice>
              <mc:Fallback>
                <p:oleObj name="Equation" r:id="rId1" imgW="1333500" imgH="2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841375"/>
                        <a:ext cx="365760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6" name="Text Box 6"/>
          <p:cNvSpPr txBox="1">
            <a:spLocks noChangeArrowheads="1"/>
          </p:cNvSpPr>
          <p:nvPr/>
        </p:nvSpPr>
        <p:spPr bwMode="auto">
          <a:xfrm>
            <a:off x="457200" y="1374775"/>
            <a:ext cx="8382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  </a:t>
            </a:r>
            <a:r>
              <a:rPr kumimoji="1" lang="zh-CN" altLang="en-US" sz="2400" b="1">
                <a:ea typeface="微软雅黑" panose="020B0503020204020204" charset="-122"/>
              </a:rPr>
              <a:t>故：</a:t>
            </a:r>
            <a:r>
              <a:rPr kumimoji="1" lang="en-US" altLang="zh-CN" sz="2400" b="1">
                <a:ea typeface="微软雅黑" panose="020B0503020204020204" charset="-122"/>
              </a:rPr>
              <a:t>642.6</a:t>
            </a:r>
            <a:r>
              <a:rPr kumimoji="1" lang="zh-CN" altLang="en-US" sz="2400" b="1">
                <a:ea typeface="微软雅黑" panose="020B0503020204020204" charset="-122"/>
              </a:rPr>
              <a:t>克反应物在理论上所能产生的电能为：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28677" name="Text Box 7"/>
          <p:cNvSpPr txBox="1">
            <a:spLocks noChangeArrowheads="1"/>
          </p:cNvSpPr>
          <p:nvPr/>
        </p:nvSpPr>
        <p:spPr bwMode="auto">
          <a:xfrm>
            <a:off x="533400" y="2365375"/>
            <a:ext cx="2819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设比能量为</a:t>
            </a:r>
            <a:r>
              <a:rPr kumimoji="1" lang="en-US" altLang="zh-CN" sz="2400" b="1">
                <a:ea typeface="微软雅黑" panose="020B0503020204020204" charset="-122"/>
              </a:rPr>
              <a:t>X</a:t>
            </a:r>
            <a:r>
              <a:rPr kumimoji="1" lang="zh-CN" altLang="en-US" sz="2400" b="1">
                <a:ea typeface="微软雅黑" panose="020B0503020204020204" charset="-122"/>
              </a:rPr>
              <a:t>，则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28678" name="Text Box 8"/>
          <p:cNvSpPr txBox="1">
            <a:spLocks noChangeArrowheads="1"/>
          </p:cNvSpPr>
          <p:nvPr/>
        </p:nvSpPr>
        <p:spPr bwMode="auto">
          <a:xfrm>
            <a:off x="2286000" y="2822575"/>
            <a:ext cx="4114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642.6:109.3=1000:X</a:t>
            </a:r>
            <a:endParaRPr kumimoji="1" lang="en-US" altLang="zh-CN" sz="2400" b="1">
              <a:ea typeface="微软雅黑" panose="020B0503020204020204" charset="-122"/>
            </a:endParaRPr>
          </a:p>
        </p:txBody>
      </p:sp>
      <p:sp>
        <p:nvSpPr>
          <p:cNvPr id="28679" name="Text Box 9"/>
          <p:cNvSpPr txBox="1">
            <a:spLocks noChangeArrowheads="1"/>
          </p:cNvSpPr>
          <p:nvPr/>
        </p:nvSpPr>
        <p:spPr bwMode="auto">
          <a:xfrm>
            <a:off x="2057400" y="1831975"/>
            <a:ext cx="5334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ea typeface="微软雅黑" panose="020B0503020204020204" charset="-122"/>
              </a:rPr>
              <a:t>W</a:t>
            </a:r>
            <a:r>
              <a:rPr kumimoji="1" lang="zh-CN" altLang="en-US" sz="2400" b="1" baseline="-25000">
                <a:solidFill>
                  <a:srgbClr val="FF0000"/>
                </a:solidFill>
                <a:ea typeface="微软雅黑" panose="020B0503020204020204" charset="-122"/>
              </a:rPr>
              <a:t>理</a:t>
            </a:r>
            <a:r>
              <a:rPr kumimoji="1" lang="en-US" altLang="zh-CN" sz="2400" b="1">
                <a:solidFill>
                  <a:srgbClr val="FF0000"/>
                </a:solidFill>
                <a:ea typeface="微软雅黑" panose="020B0503020204020204" charset="-122"/>
              </a:rPr>
              <a:t>=53.6×2.04=Q</a:t>
            </a:r>
            <a:r>
              <a:rPr kumimoji="1" lang="zh-CN" altLang="en-US" sz="2400" b="1" baseline="-25000">
                <a:solidFill>
                  <a:srgbClr val="FF0000"/>
                </a:solidFill>
                <a:ea typeface="微软雅黑" panose="020B0503020204020204" charset="-122"/>
              </a:rPr>
              <a:t>理</a:t>
            </a:r>
            <a:r>
              <a:rPr kumimoji="1" lang="en-US" altLang="zh-CN" sz="2400" b="1">
                <a:solidFill>
                  <a:srgbClr val="FF0000"/>
                </a:solidFill>
                <a:ea typeface="微软雅黑" panose="020B0503020204020204" charset="-122"/>
              </a:rPr>
              <a:t>·E=109.3Wh</a:t>
            </a:r>
            <a:endParaRPr kumimoji="1" lang="en-US" altLang="zh-CN" sz="2400" b="1">
              <a:solidFill>
                <a:srgbClr val="FF0000"/>
              </a:solidFill>
              <a:ea typeface="微软雅黑" panose="020B0503020204020204" charset="-122"/>
            </a:endParaRPr>
          </a:p>
        </p:txBody>
      </p:sp>
      <p:sp>
        <p:nvSpPr>
          <p:cNvPr id="28680" name="Text Box 10"/>
          <p:cNvSpPr txBox="1">
            <a:spLocks noChangeArrowheads="1"/>
          </p:cNvSpPr>
          <p:nvPr/>
        </p:nvSpPr>
        <p:spPr bwMode="auto">
          <a:xfrm>
            <a:off x="2438400" y="3508375"/>
            <a:ext cx="3048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X=170.2Wh/Kg</a:t>
            </a:r>
            <a:endParaRPr kumimoji="1" lang="en-US" altLang="zh-CN" sz="2400" b="1">
              <a:ea typeface="微软雅黑" panose="020B0503020204020204" charset="-122"/>
            </a:endParaRPr>
          </a:p>
        </p:txBody>
      </p:sp>
      <p:sp>
        <p:nvSpPr>
          <p:cNvPr id="28681" name="Text Box 11"/>
          <p:cNvSpPr txBox="1">
            <a:spLocks noChangeArrowheads="1"/>
          </p:cNvSpPr>
          <p:nvPr/>
        </p:nvSpPr>
        <p:spPr bwMode="auto">
          <a:xfrm>
            <a:off x="533400" y="3965575"/>
            <a:ext cx="807720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        </a:t>
            </a:r>
            <a:r>
              <a:rPr kumimoji="1" lang="zh-CN" altLang="en-US" sz="2400" b="1">
                <a:ea typeface="微软雅黑" panose="020B0503020204020204" charset="-122"/>
              </a:rPr>
              <a:t>对铅酸电池来说，由于</a:t>
            </a:r>
            <a:r>
              <a:rPr kumimoji="1" lang="en-US" altLang="zh-CN" sz="2400" b="1">
                <a:ea typeface="微软雅黑" panose="020B0503020204020204" charset="-122"/>
              </a:rPr>
              <a:t>H</a:t>
            </a:r>
            <a:r>
              <a:rPr kumimoji="1" lang="en-US" altLang="zh-CN" sz="2400" b="1" baseline="-25000">
                <a:ea typeface="微软雅黑" panose="020B0503020204020204" charset="-122"/>
              </a:rPr>
              <a:t>2</a:t>
            </a:r>
            <a:r>
              <a:rPr kumimoji="1" lang="en-US" altLang="zh-CN" sz="2400" b="1">
                <a:ea typeface="微软雅黑" panose="020B0503020204020204" charset="-122"/>
              </a:rPr>
              <a:t>SO</a:t>
            </a:r>
            <a:r>
              <a:rPr kumimoji="1" lang="en-US" altLang="zh-CN" sz="2400" b="1" baseline="-25000">
                <a:ea typeface="微软雅黑" panose="020B0503020204020204" charset="-122"/>
              </a:rPr>
              <a:t>4</a:t>
            </a:r>
            <a:r>
              <a:rPr kumimoji="1" lang="zh-CN" altLang="en-US" sz="2400" b="1">
                <a:ea typeface="微软雅黑" panose="020B0503020204020204" charset="-122"/>
              </a:rPr>
              <a:t>参加了反应，故其电动势与</a:t>
            </a:r>
            <a:r>
              <a:rPr kumimoji="1" lang="en-US" altLang="zh-CN" sz="2400" b="1">
                <a:ea typeface="微软雅黑" panose="020B0503020204020204" charset="-122"/>
              </a:rPr>
              <a:t>H</a:t>
            </a:r>
            <a:r>
              <a:rPr kumimoji="1" lang="en-US" altLang="zh-CN" sz="2400" b="1" baseline="-25000">
                <a:ea typeface="微软雅黑" panose="020B0503020204020204" charset="-122"/>
              </a:rPr>
              <a:t>2</a:t>
            </a:r>
            <a:r>
              <a:rPr kumimoji="1" lang="en-US" altLang="zh-CN" sz="2400" b="1">
                <a:ea typeface="微软雅黑" panose="020B0503020204020204" charset="-122"/>
              </a:rPr>
              <a:t>SO</a:t>
            </a:r>
            <a:r>
              <a:rPr kumimoji="1" lang="en-US" altLang="zh-CN" sz="2400" b="1" baseline="-25000">
                <a:ea typeface="微软雅黑" panose="020B0503020204020204" charset="-122"/>
              </a:rPr>
              <a:t>4</a:t>
            </a:r>
            <a:r>
              <a:rPr kumimoji="1" lang="zh-CN" altLang="en-US" sz="2400" b="1">
                <a:ea typeface="微软雅黑" panose="020B0503020204020204" charset="-122"/>
              </a:rPr>
              <a:t>的浓度有关。若取</a:t>
            </a:r>
            <a:r>
              <a:rPr kumimoji="1" lang="en-US" altLang="zh-CN" sz="2400" b="1">
                <a:ea typeface="微软雅黑" panose="020B0503020204020204" charset="-122"/>
              </a:rPr>
              <a:t>d=1.25</a:t>
            </a:r>
            <a:r>
              <a:rPr kumimoji="1" lang="zh-CN" altLang="en-US" sz="2400" b="1">
                <a:ea typeface="微软雅黑" panose="020B0503020204020204" charset="-122"/>
              </a:rPr>
              <a:t>的硫酸，换成活度 </a:t>
            </a:r>
            <a:r>
              <a:rPr kumimoji="1" lang="en-US" altLang="zh-CN" sz="2400" b="1">
                <a:ea typeface="微软雅黑" panose="020B0503020204020204" charset="-122"/>
              </a:rPr>
              <a:t>V=2.104V</a:t>
            </a:r>
            <a:r>
              <a:rPr kumimoji="1" lang="zh-CN" altLang="en-US" sz="2400" b="1">
                <a:ea typeface="微软雅黑" panose="020B0503020204020204" charset="-122"/>
              </a:rPr>
              <a:t>。表</a:t>
            </a:r>
            <a:r>
              <a:rPr kumimoji="1" lang="en-US" altLang="zh-CN" sz="2400" b="1">
                <a:ea typeface="微软雅黑" panose="020B0503020204020204" charset="-122"/>
              </a:rPr>
              <a:t>1</a:t>
            </a:r>
            <a:r>
              <a:rPr kumimoji="1" lang="zh-CN" altLang="en-US" sz="2400" b="1">
                <a:ea typeface="微软雅黑" panose="020B0503020204020204" charset="-122"/>
              </a:rPr>
              <a:t>－</a:t>
            </a:r>
            <a:r>
              <a:rPr kumimoji="1" lang="en-US" altLang="zh-CN" sz="2400" b="1">
                <a:ea typeface="微软雅黑" panose="020B0503020204020204" charset="-122"/>
              </a:rPr>
              <a:t>1</a:t>
            </a:r>
            <a:r>
              <a:rPr kumimoji="1" lang="zh-CN" altLang="en-US" sz="2400" b="1">
                <a:ea typeface="微软雅黑" panose="020B0503020204020204" charset="-122"/>
              </a:rPr>
              <a:t>给出了一些电池的理论比能量和实际比能量。见下表：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28682" name="Text Box 12"/>
          <p:cNvSpPr txBox="1">
            <a:spLocks noChangeArrowheads="1"/>
          </p:cNvSpPr>
          <p:nvPr/>
        </p:nvSpPr>
        <p:spPr bwMode="auto">
          <a:xfrm>
            <a:off x="1143000" y="3203575"/>
            <a:ext cx="990600" cy="430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0" rIns="9000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800" b="1">
                <a:ea typeface="微软雅黑" panose="020B0503020204020204" charset="-122"/>
              </a:rPr>
              <a:t>得到</a:t>
            </a:r>
            <a:endParaRPr kumimoji="1" lang="zh-CN" altLang="en-US" sz="2800" b="1"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>
          <a:xfrm>
            <a:off x="971550" y="476250"/>
            <a:ext cx="7272338" cy="914400"/>
          </a:xfrm>
          <a:noFill/>
        </p:spPr>
        <p:txBody>
          <a:bodyPr/>
          <a:lstStyle/>
          <a:p>
            <a:pPr eaLnBrk="1" hangingPunct="1"/>
            <a:r>
              <a:rPr lang="zh-CN" altLang="en-US" sz="3400" b="1">
                <a:solidFill>
                  <a:srgbClr val="771D23"/>
                </a:solidFill>
              </a:rPr>
              <a:t>一些电池的实际比能量与理论比能量</a:t>
            </a:r>
            <a:r>
              <a:rPr lang="zh-CN" altLang="en-US"/>
              <a:t> </a:t>
            </a:r>
            <a:endParaRPr lang="zh-CN" altLang="en-US"/>
          </a:p>
        </p:txBody>
      </p:sp>
      <p:graphicFrame>
        <p:nvGraphicFramePr>
          <p:cNvPr id="36228" name="Group 38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6035" y="1268730"/>
          <a:ext cx="9028430" cy="4750435"/>
        </p:xfrm>
        <a:graphic>
          <a:graphicData uri="http://schemas.openxmlformats.org/drawingml/2006/table">
            <a:tbl>
              <a:tblPr/>
              <a:tblGrid>
                <a:gridCol w="824865"/>
                <a:gridCol w="5185410"/>
                <a:gridCol w="834390"/>
                <a:gridCol w="1132840"/>
                <a:gridCol w="1050925"/>
              </a:tblGrid>
              <a:tr h="8902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电池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电池反应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电动势（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V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） 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理论比能量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(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Wh/Kg) 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实际比能量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(Wh/Kg)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 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97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铅酸 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2.104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175.5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10~50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0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Cd–Ni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1.326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（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E</a:t>
                      </a:r>
                      <a:r>
                        <a:rPr kumimoji="0" lang="en-US" altLang="zh-CN" sz="16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） 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214.3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15~40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6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Fe–Ni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1.399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（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E</a:t>
                      </a:r>
                      <a:r>
                        <a:rPr kumimoji="0" lang="en-US" altLang="zh-CN" sz="16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0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） 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272.4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10~25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9794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Zn–Ag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1.852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671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1.59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4083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V</a:t>
                      </a:r>
                      <a:r>
                        <a:rPr kumimoji="0" lang="zh-CN" altLang="en-US" sz="16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平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=1.721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487.5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60~160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40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Zn-Mn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1.623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（开） 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251.3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10~50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87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Zn–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空气 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1.646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（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E</a:t>
                      </a:r>
                      <a:r>
                        <a:rPr kumimoji="0" lang="zh-CN" altLang="en-US" sz="16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－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） 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1350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100~250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9759" name="Object 136"/>
          <p:cNvGraphicFramePr>
            <a:graphicFrameLocks noChangeAspect="1"/>
          </p:cNvGraphicFramePr>
          <p:nvPr/>
        </p:nvGraphicFramePr>
        <p:xfrm>
          <a:off x="1259205" y="2205355"/>
          <a:ext cx="3589020" cy="393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5" name="Equation" r:id="rId2" imgW="2540000" imgH="215900" progId="Equation.DSMT4">
                  <p:embed/>
                </p:oleObj>
              </mc:Choice>
              <mc:Fallback>
                <p:oleObj name="Equation" r:id="rId2" imgW="2540000" imgH="215900" progId="Equation.DSMT4">
                  <p:embed/>
                  <p:pic>
                    <p:nvPicPr>
                      <p:cNvPr id="0" name="Object 1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205" y="2205355"/>
                        <a:ext cx="3589020" cy="3930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60" name="Object 137"/>
          <p:cNvGraphicFramePr>
            <a:graphicFrameLocks noChangeAspect="1"/>
          </p:cNvGraphicFramePr>
          <p:nvPr/>
        </p:nvGraphicFramePr>
        <p:xfrm>
          <a:off x="1259205" y="2637155"/>
          <a:ext cx="3872865" cy="436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6" name="Equation" r:id="rId4" imgW="3035300" imgH="215900" progId="Equation.DSMT4">
                  <p:embed/>
                </p:oleObj>
              </mc:Choice>
              <mc:Fallback>
                <p:oleObj name="Equation" r:id="rId4" imgW="3035300" imgH="215900" progId="Equation.DSMT4">
                  <p:embed/>
                  <p:pic>
                    <p:nvPicPr>
                      <p:cNvPr id="0" name="Object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205" y="2637155"/>
                        <a:ext cx="3872865" cy="4362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61" name="Object 138"/>
          <p:cNvGraphicFramePr>
            <a:graphicFrameLocks noChangeAspect="1"/>
          </p:cNvGraphicFramePr>
          <p:nvPr/>
        </p:nvGraphicFramePr>
        <p:xfrm>
          <a:off x="1187450" y="3145155"/>
          <a:ext cx="3998595" cy="427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7" name="Equation" r:id="rId6" imgW="2984500" imgH="215900" progId="Equation.DSMT4">
                  <p:embed/>
                </p:oleObj>
              </mc:Choice>
              <mc:Fallback>
                <p:oleObj name="Equation" r:id="rId6" imgW="2984500" imgH="215900" progId="Equation.DSMT4">
                  <p:embed/>
                  <p:pic>
                    <p:nvPicPr>
                      <p:cNvPr id="0" name="Object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145155"/>
                        <a:ext cx="3998595" cy="4279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62" name="Object 139"/>
          <p:cNvGraphicFramePr>
            <a:graphicFrameLocks noChangeAspect="1"/>
          </p:cNvGraphicFramePr>
          <p:nvPr/>
        </p:nvGraphicFramePr>
        <p:xfrm>
          <a:off x="1154113" y="3644900"/>
          <a:ext cx="426720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8" name="Equation" r:id="rId8" imgW="2209800" imgH="215900" progId="Equation.DSMT4">
                  <p:embed/>
                </p:oleObj>
              </mc:Choice>
              <mc:Fallback>
                <p:oleObj name="Equation" r:id="rId8" imgW="2209800" imgH="215900" progId="Equation.DSMT4">
                  <p:embed/>
                  <p:pic>
                    <p:nvPicPr>
                      <p:cNvPr id="0" name="Object 1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113" y="3644900"/>
                        <a:ext cx="426720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63" name="Object 140"/>
          <p:cNvGraphicFramePr>
            <a:graphicFrameLocks noChangeAspect="1"/>
          </p:cNvGraphicFramePr>
          <p:nvPr/>
        </p:nvGraphicFramePr>
        <p:xfrm>
          <a:off x="1154113" y="4084638"/>
          <a:ext cx="4419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9" name="Equation" r:id="rId10" imgW="2197100" imgH="215900" progId="Equation.DSMT4">
                  <p:embed/>
                </p:oleObj>
              </mc:Choice>
              <mc:Fallback>
                <p:oleObj name="Equation" r:id="rId10" imgW="2197100" imgH="215900" progId="Equation.DSMT4">
                  <p:embed/>
                  <p:pic>
                    <p:nvPicPr>
                      <p:cNvPr id="0" name="Object 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113" y="4084638"/>
                        <a:ext cx="4419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64" name="Object 141"/>
          <p:cNvGraphicFramePr>
            <a:graphicFrameLocks noChangeAspect="1"/>
          </p:cNvGraphicFramePr>
          <p:nvPr/>
        </p:nvGraphicFramePr>
        <p:xfrm>
          <a:off x="1258888" y="4508818"/>
          <a:ext cx="39624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0" name="Equation" r:id="rId12" imgW="1713865" imgH="215900" progId="Equation.DSMT4">
                  <p:embed/>
                </p:oleObj>
              </mc:Choice>
              <mc:Fallback>
                <p:oleObj name="Equation" r:id="rId12" imgW="1713865" imgH="215900" progId="Equation.DSMT4">
                  <p:embed/>
                  <p:pic>
                    <p:nvPicPr>
                      <p:cNvPr id="0" name="Object 1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508818"/>
                        <a:ext cx="396240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65" name="Object 142"/>
          <p:cNvGraphicFramePr>
            <a:graphicFrameLocks noChangeAspect="1"/>
          </p:cNvGraphicFramePr>
          <p:nvPr/>
        </p:nvGraphicFramePr>
        <p:xfrm>
          <a:off x="1154113" y="4957763"/>
          <a:ext cx="434340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1" name="Equation" r:id="rId14" imgW="3136900" imgH="228600" progId="Equation.DSMT4">
                  <p:embed/>
                </p:oleObj>
              </mc:Choice>
              <mc:Fallback>
                <p:oleObj name="Equation" r:id="rId14" imgW="3136900" imgH="228600" progId="Equation.DSMT4">
                  <p:embed/>
                  <p:pic>
                    <p:nvPicPr>
                      <p:cNvPr id="0" name="Object 1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113" y="4957763"/>
                        <a:ext cx="434340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66" name="Object 143"/>
          <p:cNvGraphicFramePr>
            <a:graphicFrameLocks noChangeAspect="1"/>
          </p:cNvGraphicFramePr>
          <p:nvPr/>
        </p:nvGraphicFramePr>
        <p:xfrm>
          <a:off x="1475423" y="5419090"/>
          <a:ext cx="3352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2" name="Equation" r:id="rId16" imgW="1155700" imgH="393700" progId="Equation.DSMT4">
                  <p:embed/>
                </p:oleObj>
              </mc:Choice>
              <mc:Fallback>
                <p:oleObj name="Equation" r:id="rId16" imgW="1155700" imgH="393700" progId="Equation.DSMT4">
                  <p:embed/>
                  <p:pic>
                    <p:nvPicPr>
                      <p:cNvPr id="0" name="Object 1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423" y="5419090"/>
                        <a:ext cx="3352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ChangeArrowheads="1"/>
          </p:cNvSpPr>
          <p:nvPr/>
        </p:nvSpPr>
        <p:spPr bwMode="auto">
          <a:xfrm>
            <a:off x="395288" y="692150"/>
            <a:ext cx="8208962" cy="5507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ea typeface="微软雅黑" panose="020B0503020204020204" charset="-122"/>
              </a:rPr>
              <a:t>电池的功率与比功率</a:t>
            </a:r>
            <a:r>
              <a:rPr lang="en-US" altLang="zh-CN" sz="2800" b="1">
                <a:ea typeface="微软雅黑" panose="020B0503020204020204" charset="-122"/>
              </a:rPr>
              <a:t>:</a:t>
            </a:r>
            <a:endParaRPr lang="en-US" altLang="zh-CN" sz="2800" b="1">
              <a:ea typeface="微软雅黑" panose="020B0503020204020204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800" b="1">
              <a:ea typeface="微软雅黑" panose="020B0503020204020204" charset="-122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ea typeface="微软雅黑" panose="020B0503020204020204" charset="-122"/>
              </a:rPr>
              <a:t>功率</a:t>
            </a:r>
            <a:r>
              <a:rPr lang="zh-CN" altLang="en-US" sz="2400" b="1">
                <a:ea typeface="微软雅黑" panose="020B0503020204020204" charset="-122"/>
              </a:rPr>
              <a:t> </a:t>
            </a:r>
            <a:endParaRPr lang="zh-CN" altLang="en-US" sz="2400" b="1">
              <a:ea typeface="微软雅黑" panose="020B0503020204020204" charset="-122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微软雅黑" panose="020B0503020204020204" charset="-122"/>
              </a:rPr>
              <a:t>    在一定的放电制度下，单位时间内电池所输出的能量。</a:t>
            </a:r>
            <a:endParaRPr lang="zh-CN" altLang="en-US" sz="2400">
              <a:ea typeface="微软雅黑" panose="020B0503020204020204" charset="-122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ea typeface="微软雅黑" panose="020B0503020204020204" charset="-122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ea typeface="微软雅黑" panose="020B0503020204020204" charset="-122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6D0913"/>
                </a:solidFill>
                <a:ea typeface="微软雅黑" panose="020B0503020204020204" charset="-122"/>
              </a:rPr>
              <a:t> </a:t>
            </a:r>
            <a:r>
              <a:rPr lang="zh-CN" altLang="en-US" b="1">
                <a:ea typeface="微软雅黑" panose="020B0503020204020204" charset="-122"/>
              </a:rPr>
              <a:t>比功率</a:t>
            </a:r>
            <a:r>
              <a:rPr kumimoji="1" lang="zh-CN" altLang="en-US" sz="1800" b="1">
                <a:ea typeface="微软雅黑" panose="020B0503020204020204" charset="-122"/>
              </a:rPr>
              <a:t>（</a:t>
            </a:r>
            <a:r>
              <a:rPr kumimoji="1" lang="en-US" altLang="zh-CN" sz="2400" b="1">
                <a:ea typeface="微软雅黑" panose="020B0503020204020204" charset="-122"/>
              </a:rPr>
              <a:t>W/Kg</a:t>
            </a:r>
            <a:r>
              <a:rPr kumimoji="1" lang="zh-CN" altLang="en-US" sz="2400" b="1">
                <a:ea typeface="微软雅黑" panose="020B0503020204020204" charset="-122"/>
              </a:rPr>
              <a:t>，</a:t>
            </a:r>
            <a:r>
              <a:rPr kumimoji="1" lang="en-US" altLang="zh-CN" sz="2400" b="1">
                <a:ea typeface="微软雅黑" panose="020B0503020204020204" charset="-122"/>
              </a:rPr>
              <a:t>W/L</a:t>
            </a:r>
            <a:r>
              <a:rPr kumimoji="1" lang="en-US" altLang="zh-CN" sz="1800" b="1">
                <a:ea typeface="微软雅黑" panose="020B0503020204020204" charset="-122"/>
              </a:rPr>
              <a:t>).</a:t>
            </a:r>
            <a:endParaRPr kumimoji="1" lang="en-US" altLang="zh-CN" sz="1800" b="1">
              <a:ea typeface="微软雅黑" panose="020B0503020204020204" charset="-122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b="1">
                <a:ea typeface="微软雅黑" panose="020B0503020204020204" charset="-122"/>
              </a:rPr>
              <a:t>     </a:t>
            </a:r>
            <a:r>
              <a:rPr lang="zh-CN" altLang="en-US" sz="2400">
                <a:ea typeface="微软雅黑" panose="020B0503020204020204" charset="-122"/>
              </a:rPr>
              <a:t>单位时间电池的比能量。</a:t>
            </a:r>
            <a:endParaRPr lang="zh-CN" altLang="en-US" sz="2400">
              <a:ea typeface="微软雅黑" panose="020B0503020204020204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    </a:t>
            </a:r>
            <a:r>
              <a:rPr kumimoji="1" lang="zh-CN" altLang="en-US" sz="2400">
                <a:ea typeface="微软雅黑" panose="020B0503020204020204" charset="-122"/>
              </a:rPr>
              <a:t>比功率是电池的重要性能之一。一个电池的比功率越大，表示它可以承受的放电电流越大，或者说其可以在高倍率下放电。</a:t>
            </a:r>
            <a:endParaRPr kumimoji="1" lang="zh-CN" altLang="en-US" sz="2400">
              <a:ea typeface="微软雅黑" panose="020B0503020204020204" charset="-122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ea typeface="微软雅黑" panose="020B0503020204020204" charset="-122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ea typeface="微软雅黑" panose="020B0503020204020204" charset="-122"/>
              </a:rPr>
              <a:t>比功率与比能量</a:t>
            </a:r>
            <a:endParaRPr lang="zh-CN" altLang="en-US" sz="2400" b="1">
              <a:ea typeface="微软雅黑" panose="020B0503020204020204" charset="-122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微软雅黑" panose="020B0503020204020204" charset="-122"/>
              </a:rPr>
              <a:t>    通常在</a:t>
            </a:r>
            <a:r>
              <a:rPr lang="en-US" altLang="zh-CN" sz="2400">
                <a:ea typeface="微软雅黑" panose="020B0503020204020204" charset="-122"/>
              </a:rPr>
              <a:t>I</a:t>
            </a:r>
            <a:r>
              <a:rPr lang="zh-CN" altLang="en-US" sz="2400">
                <a:ea typeface="微软雅黑" panose="020B0503020204020204" charset="-122"/>
              </a:rPr>
              <a:t>不是很大时，</a:t>
            </a:r>
            <a:r>
              <a:rPr lang="en-US" altLang="zh-CN" sz="2400">
                <a:ea typeface="微软雅黑" panose="020B0503020204020204" charset="-122"/>
              </a:rPr>
              <a:t>P</a:t>
            </a:r>
            <a:r>
              <a:rPr lang="zh-CN" altLang="en-US" sz="2400">
                <a:ea typeface="微软雅黑" panose="020B0503020204020204" charset="-122"/>
              </a:rPr>
              <a:t>随</a:t>
            </a:r>
            <a:r>
              <a:rPr lang="en-US" altLang="zh-CN" sz="2400">
                <a:ea typeface="微软雅黑" panose="020B0503020204020204" charset="-122"/>
              </a:rPr>
              <a:t>I</a:t>
            </a:r>
            <a:r>
              <a:rPr lang="zh-CN" altLang="en-US" sz="2400">
                <a:ea typeface="微软雅黑" panose="020B0503020204020204" charset="-122"/>
              </a:rPr>
              <a:t>增大而增大，但比能量下降</a:t>
            </a:r>
            <a:endParaRPr lang="zh-CN" altLang="en-US" sz="2400">
              <a:ea typeface="微软雅黑" panose="020B0503020204020204" charset="-122"/>
            </a:endParaRPr>
          </a:p>
        </p:txBody>
      </p:sp>
      <p:sp>
        <p:nvSpPr>
          <p:cNvPr id="30723" name="Text Box 8"/>
          <p:cNvSpPr txBox="1">
            <a:spLocks noChangeArrowheads="1"/>
          </p:cNvSpPr>
          <p:nvPr/>
        </p:nvSpPr>
        <p:spPr bwMode="auto">
          <a:xfrm>
            <a:off x="827088" y="2492375"/>
            <a:ext cx="7315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>
                <a:ea typeface="微软雅黑" panose="020B0503020204020204" charset="-122"/>
              </a:rPr>
              <a:t>理论上电池的功率可以用下式表示：</a:t>
            </a:r>
            <a:r>
              <a:rPr kumimoji="1" lang="zh-CN" altLang="en-US" sz="2400" b="1">
                <a:solidFill>
                  <a:srgbClr val="FF0000"/>
                </a:solidFill>
                <a:ea typeface="微软雅黑" panose="020B0503020204020204" charset="-122"/>
              </a:rPr>
              <a:t> </a:t>
            </a:r>
            <a:r>
              <a:rPr kumimoji="1" lang="en-US" altLang="zh-CN" sz="2400" b="1">
                <a:solidFill>
                  <a:srgbClr val="FF0000"/>
                </a:solidFill>
                <a:ea typeface="微软雅黑" panose="020B0503020204020204" charset="-122"/>
              </a:rPr>
              <a:t>P=IE</a:t>
            </a:r>
            <a:endParaRPr kumimoji="1" lang="en-US" altLang="zh-CN" sz="2400" b="1"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8" name="Object 6"/>
          <p:cNvGraphicFramePr>
            <a:graphicFrameLocks noChangeAspect="1"/>
          </p:cNvGraphicFramePr>
          <p:nvPr/>
        </p:nvGraphicFramePr>
        <p:xfrm>
          <a:off x="1476375" y="620713"/>
          <a:ext cx="5486400" cy="461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7" name="Visio" r:id="rId1" imgW="7908925" imgH="6650355" progId="Visio.Drawing.11">
                  <p:embed/>
                </p:oleObj>
              </mc:Choice>
              <mc:Fallback>
                <p:oleObj name="Visio" r:id="rId1" imgW="7908925" imgH="6650355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620713"/>
                        <a:ext cx="5486400" cy="461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9" name="Object 7"/>
          <p:cNvGraphicFramePr>
            <a:graphicFrameLocks noChangeAspect="1"/>
          </p:cNvGraphicFramePr>
          <p:nvPr/>
        </p:nvGraphicFramePr>
        <p:xfrm>
          <a:off x="2466975" y="2068513"/>
          <a:ext cx="3352800" cy="231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8" name="Visio" r:id="rId3" imgW="4405630" imgH="3051810" progId="Visio.Drawing.11">
                  <p:embed/>
                </p:oleObj>
              </mc:Choice>
              <mc:Fallback>
                <p:oleObj name="Visio" r:id="rId3" imgW="4405630" imgH="3051810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75" y="2068513"/>
                        <a:ext cx="3352800" cy="231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0" name="Object 8"/>
          <p:cNvGraphicFramePr>
            <a:graphicFrameLocks noChangeAspect="1"/>
          </p:cNvGraphicFramePr>
          <p:nvPr/>
        </p:nvGraphicFramePr>
        <p:xfrm>
          <a:off x="4143375" y="2754313"/>
          <a:ext cx="1062038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9" name="Visio" r:id="rId5" imgW="1330325" imgH="558165" progId="Visio.Drawing.11">
                  <p:embed/>
                </p:oleObj>
              </mc:Choice>
              <mc:Fallback>
                <p:oleObj name="Visio" r:id="rId5" imgW="1330325" imgH="558165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5" y="2754313"/>
                        <a:ext cx="1062038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23850" y="836613"/>
            <a:ext cx="8640763" cy="5294312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zh-CN" altLang="en-US" b="1"/>
              <a:t>电池的自放电和贮存性能</a:t>
            </a:r>
            <a:r>
              <a:rPr lang="en-US" altLang="zh-CN" b="1"/>
              <a:t>:</a:t>
            </a:r>
            <a:endParaRPr lang="en-US" altLang="zh-CN" b="1"/>
          </a:p>
          <a:p>
            <a:pPr lvl="1" eaLnBrk="1" hangingPunct="1">
              <a:lnSpc>
                <a:spcPct val="115000"/>
              </a:lnSpc>
            </a:pPr>
            <a:r>
              <a:rPr lang="zh-CN" altLang="en-US" b="1"/>
              <a:t>贮存性能</a:t>
            </a:r>
            <a:endParaRPr lang="zh-CN" altLang="en-US" b="1"/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2600"/>
              <a:t>        贮存时所表现出的性能。</a:t>
            </a:r>
            <a:endParaRPr lang="zh-CN" altLang="en-US" sz="2600"/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2600"/>
              <a:t>        电池的贮存分为干贮存</a:t>
            </a:r>
            <a:r>
              <a:rPr lang="en-US" altLang="zh-CN" sz="2600"/>
              <a:t>(</a:t>
            </a:r>
            <a:r>
              <a:rPr lang="zh-CN" altLang="en-US" sz="2600"/>
              <a:t>不带电液</a:t>
            </a:r>
            <a:r>
              <a:rPr lang="en-US" altLang="zh-CN" sz="2600"/>
              <a:t>)</a:t>
            </a:r>
            <a:r>
              <a:rPr lang="zh-CN" altLang="en-US" sz="2600"/>
              <a:t>和湿贮存</a:t>
            </a:r>
            <a:r>
              <a:rPr lang="en-US" altLang="zh-CN" sz="2600"/>
              <a:t>(</a:t>
            </a:r>
            <a:r>
              <a:rPr lang="zh-CN" altLang="en-US" sz="2600"/>
              <a:t>带电液</a:t>
            </a:r>
            <a:r>
              <a:rPr lang="en-US" altLang="zh-CN" sz="2600"/>
              <a:t>).</a:t>
            </a:r>
            <a:endParaRPr lang="en-US" altLang="zh-CN" sz="2600"/>
          </a:p>
          <a:p>
            <a:pPr lvl="1" eaLnBrk="1" hangingPunct="1">
              <a:lnSpc>
                <a:spcPct val="115000"/>
              </a:lnSpc>
            </a:pPr>
            <a:r>
              <a:rPr lang="zh-CN" altLang="en-US" b="1"/>
              <a:t>自放电</a:t>
            </a:r>
            <a:endParaRPr lang="zh-CN" altLang="en-US" b="1"/>
          </a:p>
          <a:p>
            <a:pPr lvl="1" eaLnBrk="1" hangingPunct="1">
              <a:lnSpc>
                <a:spcPct val="115000"/>
              </a:lnSpc>
              <a:buFontTx/>
              <a:buNone/>
            </a:pPr>
            <a:r>
              <a:rPr lang="zh-CN" altLang="en-US" sz="2700"/>
              <a:t>   电池在贮存一段时间后，容量要发生自动降低的现象</a:t>
            </a:r>
            <a:r>
              <a:rPr lang="en-US" altLang="zh-CN" sz="2700"/>
              <a:t>.</a:t>
            </a:r>
            <a:endParaRPr lang="en-US" altLang="zh-CN" sz="2700"/>
          </a:p>
          <a:p>
            <a:pPr lvl="1" eaLnBrk="1" hangingPunct="1">
              <a:lnSpc>
                <a:spcPct val="115000"/>
              </a:lnSpc>
              <a:buFontTx/>
              <a:buNone/>
            </a:pPr>
            <a:r>
              <a:rPr lang="en-US" altLang="zh-CN">
                <a:solidFill>
                  <a:srgbClr val="000000"/>
                </a:solidFill>
              </a:rPr>
              <a:t>   </a:t>
            </a:r>
            <a:r>
              <a:rPr lang="zh-CN" altLang="en-US">
                <a:solidFill>
                  <a:srgbClr val="000000"/>
                </a:solidFill>
              </a:rPr>
              <a:t>对于蓄电池，又叫</a:t>
            </a:r>
            <a:r>
              <a:rPr lang="zh-CN" altLang="en-US" b="1">
                <a:solidFill>
                  <a:srgbClr val="000000"/>
                </a:solidFill>
              </a:rPr>
              <a:t>充电保持能力</a:t>
            </a:r>
            <a:r>
              <a:rPr lang="en-US" altLang="zh-CN">
                <a:solidFill>
                  <a:srgbClr val="000000"/>
                </a:solidFill>
              </a:rPr>
              <a:t>.</a:t>
            </a:r>
            <a:endParaRPr lang="en-US" altLang="zh-CN">
              <a:solidFill>
                <a:srgbClr val="000000"/>
              </a:solidFill>
            </a:endParaRPr>
          </a:p>
          <a:p>
            <a:pPr lvl="1" eaLnBrk="1" hangingPunct="1">
              <a:lnSpc>
                <a:spcPct val="115000"/>
              </a:lnSpc>
            </a:pPr>
            <a:r>
              <a:rPr lang="zh-CN" altLang="en-US" b="1"/>
              <a:t>发生自放电的原因</a:t>
            </a:r>
            <a:endParaRPr lang="zh-CN" altLang="en-US" b="1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765175"/>
            <a:ext cx="8229600" cy="5005388"/>
          </a:xfrm>
        </p:spPr>
        <p:txBody>
          <a:bodyPr/>
          <a:lstStyle/>
          <a:p>
            <a:pPr eaLnBrk="1" hangingPunct="1"/>
            <a:r>
              <a:rPr lang="zh-CN" altLang="en-US" b="1"/>
              <a:t>蓄电池的循环寿命和使用周期</a:t>
            </a:r>
            <a:r>
              <a:rPr lang="en-US" altLang="zh-CN" b="1"/>
              <a:t>:</a:t>
            </a:r>
            <a:endParaRPr lang="en-US" altLang="zh-CN" b="1"/>
          </a:p>
          <a:p>
            <a:pPr lvl="1" eaLnBrk="1" hangingPunct="1">
              <a:lnSpc>
                <a:spcPct val="115000"/>
              </a:lnSpc>
            </a:pPr>
            <a:r>
              <a:rPr lang="zh-CN" altLang="en-US" b="1"/>
              <a:t>循环寿命</a:t>
            </a:r>
            <a:r>
              <a:rPr lang="en-US" altLang="zh-CN" b="1"/>
              <a:t>(</a:t>
            </a:r>
            <a:r>
              <a:rPr lang="zh-CN" altLang="en-US" b="1"/>
              <a:t>使用周期</a:t>
            </a:r>
            <a:r>
              <a:rPr lang="en-US" altLang="zh-CN" b="1"/>
              <a:t>)</a:t>
            </a:r>
            <a:endParaRPr lang="en-US" altLang="zh-CN" b="1"/>
          </a:p>
          <a:p>
            <a:pPr lvl="1" eaLnBrk="1" hangingPunct="1">
              <a:lnSpc>
                <a:spcPct val="115000"/>
              </a:lnSpc>
              <a:buFontTx/>
              <a:buNone/>
            </a:pPr>
            <a:r>
              <a:rPr lang="en-US" altLang="zh-CN" b="1">
                <a:solidFill>
                  <a:srgbClr val="261B08"/>
                </a:solidFill>
              </a:rPr>
              <a:t>   </a:t>
            </a:r>
            <a:r>
              <a:rPr lang="zh-CN" altLang="en-US" sz="2700"/>
              <a:t>在一定的放电条件下，当电池的容量降到某一规定值之前，电池耐受的充放电循环次数</a:t>
            </a:r>
            <a:endParaRPr lang="zh-CN" altLang="en-US" sz="2700"/>
          </a:p>
          <a:p>
            <a:pPr lvl="1" eaLnBrk="1" hangingPunct="1">
              <a:lnSpc>
                <a:spcPct val="115000"/>
              </a:lnSpc>
            </a:pPr>
            <a:r>
              <a:rPr lang="zh-CN" altLang="en-US" b="1"/>
              <a:t>影响电池循环寿命的因素</a:t>
            </a:r>
            <a:endParaRPr lang="zh-CN" altLang="en-US" b="1"/>
          </a:p>
        </p:txBody>
      </p:sp>
      <p:sp>
        <p:nvSpPr>
          <p:cNvPr id="33795" name="Text Box 4"/>
          <p:cNvSpPr txBox="1">
            <a:spLocks noChangeArrowheads="1"/>
          </p:cNvSpPr>
          <p:nvPr/>
        </p:nvSpPr>
        <p:spPr bwMode="auto">
          <a:xfrm>
            <a:off x="611188" y="3644900"/>
            <a:ext cx="792480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        </a:t>
            </a:r>
            <a:r>
              <a:rPr kumimoji="1" lang="zh-CN" altLang="en-US" sz="2400" b="1">
                <a:ea typeface="微软雅黑" panose="020B0503020204020204" charset="-122"/>
              </a:rPr>
              <a:t>不同的电池使用周期是不相同的，例如：一般说来，</a:t>
            </a:r>
            <a:r>
              <a:rPr kumimoji="1" lang="en-US" altLang="zh-CN" sz="2400" b="1">
                <a:ea typeface="微软雅黑" panose="020B0503020204020204" charset="-122"/>
              </a:rPr>
              <a:t>Fe</a:t>
            </a:r>
            <a:r>
              <a:rPr kumimoji="1" lang="zh-CN" altLang="en-US" sz="2400" b="1">
                <a:ea typeface="微软雅黑" panose="020B0503020204020204" charset="-122"/>
              </a:rPr>
              <a:t>－</a:t>
            </a:r>
            <a:r>
              <a:rPr kumimoji="1" lang="en-US" altLang="zh-CN" sz="2400" b="1">
                <a:ea typeface="微软雅黑" panose="020B0503020204020204" charset="-122"/>
              </a:rPr>
              <a:t>Ni</a:t>
            </a:r>
            <a:r>
              <a:rPr kumimoji="1" lang="zh-CN" altLang="en-US" sz="2400" b="1">
                <a:ea typeface="微软雅黑" panose="020B0503020204020204" charset="-122"/>
              </a:rPr>
              <a:t>，</a:t>
            </a:r>
            <a:r>
              <a:rPr kumimoji="1" lang="en-US" altLang="zh-CN" sz="2400" b="1">
                <a:ea typeface="微软雅黑" panose="020B0503020204020204" charset="-122"/>
              </a:rPr>
              <a:t>Cd</a:t>
            </a:r>
            <a:r>
              <a:rPr kumimoji="1" lang="zh-CN" altLang="en-US" sz="2400" b="1">
                <a:ea typeface="微软雅黑" panose="020B0503020204020204" charset="-122"/>
              </a:rPr>
              <a:t>－</a:t>
            </a:r>
            <a:r>
              <a:rPr kumimoji="1" lang="en-US" altLang="zh-CN" sz="2400" b="1">
                <a:ea typeface="微软雅黑" panose="020B0503020204020204" charset="-122"/>
              </a:rPr>
              <a:t>Ni </a:t>
            </a:r>
            <a:r>
              <a:rPr kumimoji="1" lang="zh-CN" altLang="en-US" sz="2400" b="1">
                <a:ea typeface="微软雅黑" panose="020B0503020204020204" charset="-122"/>
              </a:rPr>
              <a:t>电池的使用寿命可达数千次。铅蓄电池约</a:t>
            </a:r>
            <a:r>
              <a:rPr kumimoji="1" lang="en-US" altLang="zh-CN" sz="2400" b="1">
                <a:ea typeface="微软雅黑" panose="020B0503020204020204" charset="-122"/>
              </a:rPr>
              <a:t>300 </a:t>
            </a:r>
            <a:r>
              <a:rPr kumimoji="1" lang="zh-CN" altLang="en-US" sz="2400" b="1">
                <a:ea typeface="微软雅黑" panose="020B0503020204020204" charset="-122"/>
              </a:rPr>
              <a:t>－</a:t>
            </a:r>
            <a:r>
              <a:rPr kumimoji="1" lang="en-US" altLang="zh-CN" sz="2400" b="1">
                <a:ea typeface="微软雅黑" panose="020B0503020204020204" charset="-122"/>
              </a:rPr>
              <a:t>500</a:t>
            </a:r>
            <a:r>
              <a:rPr kumimoji="1" lang="zh-CN" altLang="en-US" sz="2400" b="1">
                <a:ea typeface="微软雅黑" panose="020B0503020204020204" charset="-122"/>
              </a:rPr>
              <a:t>次，</a:t>
            </a:r>
            <a:r>
              <a:rPr kumimoji="1" lang="en-US" altLang="zh-CN" sz="2400" b="1">
                <a:ea typeface="微软雅黑" panose="020B0503020204020204" charset="-122"/>
              </a:rPr>
              <a:t>Zn </a:t>
            </a:r>
            <a:r>
              <a:rPr kumimoji="1" lang="zh-CN" altLang="en-US" sz="2400" b="1">
                <a:ea typeface="微软雅黑" panose="020B0503020204020204" charset="-122"/>
              </a:rPr>
              <a:t>－</a:t>
            </a:r>
            <a:r>
              <a:rPr kumimoji="1" lang="en-US" altLang="zh-CN" sz="2400" b="1">
                <a:ea typeface="微软雅黑" panose="020B0503020204020204" charset="-122"/>
              </a:rPr>
              <a:t>Ag</a:t>
            </a:r>
            <a:r>
              <a:rPr kumimoji="1" lang="zh-CN" altLang="en-US" sz="2400" b="1">
                <a:ea typeface="微软雅黑" panose="020B0503020204020204" charset="-122"/>
              </a:rPr>
              <a:t>电池约</a:t>
            </a:r>
            <a:r>
              <a:rPr kumimoji="1" lang="en-US" altLang="zh-CN" sz="2400" b="1">
                <a:ea typeface="微软雅黑" panose="020B0503020204020204" charset="-122"/>
              </a:rPr>
              <a:t>40 </a:t>
            </a:r>
            <a:r>
              <a:rPr kumimoji="1" lang="zh-CN" altLang="en-US" sz="2400" b="1">
                <a:ea typeface="微软雅黑" panose="020B0503020204020204" charset="-122"/>
              </a:rPr>
              <a:t>－</a:t>
            </a:r>
            <a:r>
              <a:rPr kumimoji="1" lang="en-US" altLang="zh-CN" sz="2400" b="1">
                <a:ea typeface="微软雅黑" panose="020B0503020204020204" charset="-122"/>
              </a:rPr>
              <a:t>100 </a:t>
            </a:r>
            <a:r>
              <a:rPr kumimoji="1" lang="zh-CN" altLang="en-US" sz="2400" b="1">
                <a:ea typeface="微软雅黑" panose="020B0503020204020204" charset="-122"/>
              </a:rPr>
              <a:t>次。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  <p:sp>
        <p:nvSpPr>
          <p:cNvPr id="33796" name="Text Box 5"/>
          <p:cNvSpPr txBox="1">
            <a:spLocks noChangeArrowheads="1"/>
          </p:cNvSpPr>
          <p:nvPr/>
        </p:nvSpPr>
        <p:spPr bwMode="auto">
          <a:xfrm>
            <a:off x="534988" y="4711700"/>
            <a:ext cx="815340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ea typeface="微软雅黑" panose="020B0503020204020204" charset="-122"/>
              </a:rPr>
              <a:t>         </a:t>
            </a:r>
            <a:r>
              <a:rPr kumimoji="1" lang="zh-CN" altLang="en-US" sz="2400" b="1">
                <a:ea typeface="微软雅黑" panose="020B0503020204020204" charset="-122"/>
              </a:rPr>
              <a:t>另外，蓄电池的使用寿命与放电深度、沉度、充放电率等条件都有关。（放电深度是指电池放出的容量与额定容量的百分比）。</a:t>
            </a:r>
            <a:endParaRPr kumimoji="1" lang="zh-CN" altLang="en-US" sz="2400" b="1"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TABLE_ENDDRAG_ORIGIN_RECT" val="710*414"/>
  <p:tag name="TABLE_ENDDRAG_RECT" val="2*99*710*414"/>
</p:tagLst>
</file>

<file path=ppt/tags/tag4.xml><?xml version="1.0" encoding="utf-8"?>
<p:tagLst xmlns:p="http://schemas.openxmlformats.org/presentationml/2006/main">
  <p:tag name="commondata" val="eyJoZGlkIjoiODIyZGQ3MzI3NDI1MDU1N2YyZWRhMDJkZThkMjhmMDYifQ=="/>
</p:tagLst>
</file>

<file path=ppt/theme/theme1.xml><?xml version="1.0" encoding="utf-8"?>
<a:theme xmlns:a="http://schemas.openxmlformats.org/drawingml/2006/main" name="2_万里长城">
  <a:themeElements>
    <a:clrScheme name="万里长城 6">
      <a:dk1>
        <a:srgbClr val="000000"/>
      </a:dk1>
      <a:lt1>
        <a:srgbClr val="FFFFCC"/>
      </a:lt1>
      <a:dk2>
        <a:srgbClr val="6756A6"/>
      </a:dk2>
      <a:lt2>
        <a:srgbClr val="969696"/>
      </a:lt2>
      <a:accent1>
        <a:srgbClr val="99CCFF"/>
      </a:accent1>
      <a:accent2>
        <a:srgbClr val="008000"/>
      </a:accent2>
      <a:accent3>
        <a:srgbClr val="FFFFE2"/>
      </a:accent3>
      <a:accent4>
        <a:srgbClr val="000000"/>
      </a:accent4>
      <a:accent5>
        <a:srgbClr val="CAE2FF"/>
      </a:accent5>
      <a:accent6>
        <a:srgbClr val="007300"/>
      </a:accent6>
      <a:hlink>
        <a:srgbClr val="990033"/>
      </a:hlink>
      <a:folHlink>
        <a:srgbClr val="9900CC"/>
      </a:folHlink>
    </a:clrScheme>
    <a:fontScheme name="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万里长城 1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80008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2">
        <a:dk1>
          <a:srgbClr val="000000"/>
        </a:dk1>
        <a:lt1>
          <a:srgbClr val="8EA4EA"/>
        </a:lt1>
        <a:dk2>
          <a:srgbClr val="0033CC"/>
        </a:dk2>
        <a:lt2>
          <a:srgbClr val="969696"/>
        </a:lt2>
        <a:accent1>
          <a:srgbClr val="86B5B6"/>
        </a:accent1>
        <a:accent2>
          <a:srgbClr val="FFCC66"/>
        </a:accent2>
        <a:accent3>
          <a:srgbClr val="C6CFF3"/>
        </a:accent3>
        <a:accent4>
          <a:srgbClr val="000000"/>
        </a:accent4>
        <a:accent5>
          <a:srgbClr val="C3D7D7"/>
        </a:accent5>
        <a:accent6>
          <a:srgbClr val="E7B95C"/>
        </a:accent6>
        <a:hlink>
          <a:srgbClr val="626292"/>
        </a:hlink>
        <a:folHlink>
          <a:srgbClr val="A236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3">
        <a:dk1>
          <a:srgbClr val="0000FF"/>
        </a:dk1>
        <a:lt1>
          <a:srgbClr val="C0C0C0"/>
        </a:lt1>
        <a:dk2>
          <a:srgbClr val="000000"/>
        </a:dk2>
        <a:lt2>
          <a:srgbClr val="B2B2B2"/>
        </a:lt2>
        <a:accent1>
          <a:srgbClr val="FFCC99"/>
        </a:accent1>
        <a:accent2>
          <a:srgbClr val="FF99CC"/>
        </a:accent2>
        <a:accent3>
          <a:srgbClr val="DCDCDC"/>
        </a:accent3>
        <a:accent4>
          <a:srgbClr val="0000DA"/>
        </a:accent4>
        <a:accent5>
          <a:srgbClr val="FFE2CA"/>
        </a:accent5>
        <a:accent6>
          <a:srgbClr val="E78AB9"/>
        </a:accent6>
        <a:hlink>
          <a:srgbClr val="9C4070"/>
        </a:hlink>
        <a:folHlink>
          <a:srgbClr val="0071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4">
        <a:dk1>
          <a:srgbClr val="0029AC"/>
        </a:dk1>
        <a:lt1>
          <a:srgbClr val="CCFFCC"/>
        </a:lt1>
        <a:dk2>
          <a:srgbClr val="993366"/>
        </a:dk2>
        <a:lt2>
          <a:srgbClr val="969696"/>
        </a:lt2>
        <a:accent1>
          <a:srgbClr val="FFCC99"/>
        </a:accent1>
        <a:accent2>
          <a:srgbClr val="6699FF"/>
        </a:accent2>
        <a:accent3>
          <a:srgbClr val="E2FFE2"/>
        </a:accent3>
        <a:accent4>
          <a:srgbClr val="002192"/>
        </a:accent4>
        <a:accent5>
          <a:srgbClr val="FFE2CA"/>
        </a:accent5>
        <a:accent6>
          <a:srgbClr val="5C8AE7"/>
        </a:accent6>
        <a:hlink>
          <a:srgbClr val="006600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5">
        <a:dk1>
          <a:srgbClr val="333333"/>
        </a:dk1>
        <a:lt1>
          <a:srgbClr val="FF99CC"/>
        </a:lt1>
        <a:dk2>
          <a:srgbClr val="006600"/>
        </a:dk2>
        <a:lt2>
          <a:srgbClr val="B2B2B2"/>
        </a:lt2>
        <a:accent1>
          <a:srgbClr val="FFFF66"/>
        </a:accent1>
        <a:accent2>
          <a:srgbClr val="33CCFF"/>
        </a:accent2>
        <a:accent3>
          <a:srgbClr val="FFCAE2"/>
        </a:accent3>
        <a:accent4>
          <a:srgbClr val="2A2A2A"/>
        </a:accent4>
        <a:accent5>
          <a:srgbClr val="FFFFB8"/>
        </a:accent5>
        <a:accent6>
          <a:srgbClr val="2DB9E7"/>
        </a:accent6>
        <a:hlink>
          <a:srgbClr val="6600FF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6">
        <a:dk1>
          <a:srgbClr val="000000"/>
        </a:dk1>
        <a:lt1>
          <a:srgbClr val="FFFFCC"/>
        </a:lt1>
        <a:dk2>
          <a:srgbClr val="6756A6"/>
        </a:dk2>
        <a:lt2>
          <a:srgbClr val="969696"/>
        </a:lt2>
        <a:accent1>
          <a:srgbClr val="99CCFF"/>
        </a:accent1>
        <a:accent2>
          <a:srgbClr val="008000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007300"/>
        </a:accent6>
        <a:hlink>
          <a:srgbClr val="990033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7">
        <a:dk1>
          <a:srgbClr val="CC3300"/>
        </a:dk1>
        <a:lt1>
          <a:srgbClr val="99CCFF"/>
        </a:lt1>
        <a:dk2>
          <a:srgbClr val="003399"/>
        </a:dk2>
        <a:lt2>
          <a:srgbClr val="969696"/>
        </a:lt2>
        <a:accent1>
          <a:srgbClr val="CED7FE"/>
        </a:accent1>
        <a:accent2>
          <a:srgbClr val="FFFFFF"/>
        </a:accent2>
        <a:accent3>
          <a:srgbClr val="CAE2FF"/>
        </a:accent3>
        <a:accent4>
          <a:srgbClr val="AE2A00"/>
        </a:accent4>
        <a:accent5>
          <a:srgbClr val="E3E8FE"/>
        </a:accent5>
        <a:accent6>
          <a:srgbClr val="E7E7E7"/>
        </a:accent6>
        <a:hlink>
          <a:srgbClr val="00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8">
        <a:dk1>
          <a:srgbClr val="006600"/>
        </a:dk1>
        <a:lt1>
          <a:srgbClr val="FFCC99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FFFF66"/>
        </a:accent2>
        <a:accent3>
          <a:srgbClr val="FFE2CA"/>
        </a:accent3>
        <a:accent4>
          <a:srgbClr val="005600"/>
        </a:accent4>
        <a:accent5>
          <a:srgbClr val="FFFFFF"/>
        </a:accent5>
        <a:accent6>
          <a:srgbClr val="E7E75C"/>
        </a:accent6>
        <a:hlink>
          <a:srgbClr val="5B5B89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万里长城">
  <a:themeElements>
    <a:clrScheme name="万里长城 1">
      <a:dk1>
        <a:srgbClr val="000000"/>
      </a:dk1>
      <a:lt1>
        <a:srgbClr val="FFFFFF"/>
      </a:lt1>
      <a:dk2>
        <a:srgbClr val="000099"/>
      </a:dk2>
      <a:lt2>
        <a:srgbClr val="969696"/>
      </a:lt2>
      <a:accent1>
        <a:srgbClr val="FFFF99"/>
      </a:accent1>
      <a:accent2>
        <a:srgbClr val="006666"/>
      </a:accent2>
      <a:accent3>
        <a:srgbClr val="FFFFFF"/>
      </a:accent3>
      <a:accent4>
        <a:srgbClr val="000000"/>
      </a:accent4>
      <a:accent5>
        <a:srgbClr val="FFFFCA"/>
      </a:accent5>
      <a:accent6>
        <a:srgbClr val="005C5C"/>
      </a:accent6>
      <a:hlink>
        <a:srgbClr val="800080"/>
      </a:hlink>
      <a:folHlink>
        <a:srgbClr val="FF6600"/>
      </a:folHlink>
    </a:clrScheme>
    <a:fontScheme name="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scene3d>
          <a:camera prst="legacyPerspectiveFront">
            <a:rot lat="20519999" lon="1080000" rev="0"/>
          </a:camera>
          <a:lightRig rig="legacyHarsh2" dir="b"/>
        </a:scene3d>
        <a:sp3d extrusionH="430200" prstMaterial="legacyMatte">
          <a:bevelT w="13500" h="13500" prst="angle"/>
          <a:bevelB w="13500" h="13500" prst="angle"/>
          <a:extrusionClr>
            <a:srgbClr val="FF6600"/>
          </a:extrusionClr>
          <a:contourClr>
            <a:srgbClr val="000000"/>
          </a:contourClr>
        </a:sp3d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scene3d>
          <a:camera prst="legacyPerspectiveFront">
            <a:rot lat="20519999" lon="1080000" rev="0"/>
          </a:camera>
          <a:lightRig rig="legacyHarsh2" dir="b"/>
        </a:scene3d>
        <a:sp3d extrusionH="430200" prstMaterial="legacyMatte">
          <a:bevelT w="13500" h="13500" prst="angle"/>
          <a:bevelB w="13500" h="13500" prst="angle"/>
          <a:extrusionClr>
            <a:srgbClr val="FF6600"/>
          </a:extrusionClr>
          <a:contourClr>
            <a:srgbClr val="000000"/>
          </a:contourClr>
        </a:sp3d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万里长城 1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80008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2">
        <a:dk1>
          <a:srgbClr val="000000"/>
        </a:dk1>
        <a:lt1>
          <a:srgbClr val="8EA4EA"/>
        </a:lt1>
        <a:dk2>
          <a:srgbClr val="0033CC"/>
        </a:dk2>
        <a:lt2>
          <a:srgbClr val="969696"/>
        </a:lt2>
        <a:accent1>
          <a:srgbClr val="86B5B6"/>
        </a:accent1>
        <a:accent2>
          <a:srgbClr val="FFCC66"/>
        </a:accent2>
        <a:accent3>
          <a:srgbClr val="C6CFF3"/>
        </a:accent3>
        <a:accent4>
          <a:srgbClr val="000000"/>
        </a:accent4>
        <a:accent5>
          <a:srgbClr val="C3D7D7"/>
        </a:accent5>
        <a:accent6>
          <a:srgbClr val="E7B95C"/>
        </a:accent6>
        <a:hlink>
          <a:srgbClr val="626292"/>
        </a:hlink>
        <a:folHlink>
          <a:srgbClr val="A236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3">
        <a:dk1>
          <a:srgbClr val="0000FF"/>
        </a:dk1>
        <a:lt1>
          <a:srgbClr val="C0C0C0"/>
        </a:lt1>
        <a:dk2>
          <a:srgbClr val="000000"/>
        </a:dk2>
        <a:lt2>
          <a:srgbClr val="B2B2B2"/>
        </a:lt2>
        <a:accent1>
          <a:srgbClr val="FFCC99"/>
        </a:accent1>
        <a:accent2>
          <a:srgbClr val="FF99CC"/>
        </a:accent2>
        <a:accent3>
          <a:srgbClr val="DCDCDC"/>
        </a:accent3>
        <a:accent4>
          <a:srgbClr val="0000DA"/>
        </a:accent4>
        <a:accent5>
          <a:srgbClr val="FFE2CA"/>
        </a:accent5>
        <a:accent6>
          <a:srgbClr val="E78AB9"/>
        </a:accent6>
        <a:hlink>
          <a:srgbClr val="9C4070"/>
        </a:hlink>
        <a:folHlink>
          <a:srgbClr val="0071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4">
        <a:dk1>
          <a:srgbClr val="0029AC"/>
        </a:dk1>
        <a:lt1>
          <a:srgbClr val="CCFFCC"/>
        </a:lt1>
        <a:dk2>
          <a:srgbClr val="993366"/>
        </a:dk2>
        <a:lt2>
          <a:srgbClr val="969696"/>
        </a:lt2>
        <a:accent1>
          <a:srgbClr val="FFCC99"/>
        </a:accent1>
        <a:accent2>
          <a:srgbClr val="6699FF"/>
        </a:accent2>
        <a:accent3>
          <a:srgbClr val="E2FFE2"/>
        </a:accent3>
        <a:accent4>
          <a:srgbClr val="002192"/>
        </a:accent4>
        <a:accent5>
          <a:srgbClr val="FFE2CA"/>
        </a:accent5>
        <a:accent6>
          <a:srgbClr val="5C8AE7"/>
        </a:accent6>
        <a:hlink>
          <a:srgbClr val="006600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5">
        <a:dk1>
          <a:srgbClr val="333333"/>
        </a:dk1>
        <a:lt1>
          <a:srgbClr val="FF99CC"/>
        </a:lt1>
        <a:dk2>
          <a:srgbClr val="006600"/>
        </a:dk2>
        <a:lt2>
          <a:srgbClr val="B2B2B2"/>
        </a:lt2>
        <a:accent1>
          <a:srgbClr val="FFFF66"/>
        </a:accent1>
        <a:accent2>
          <a:srgbClr val="33CCFF"/>
        </a:accent2>
        <a:accent3>
          <a:srgbClr val="FFCAE2"/>
        </a:accent3>
        <a:accent4>
          <a:srgbClr val="2A2A2A"/>
        </a:accent4>
        <a:accent5>
          <a:srgbClr val="FFFFB8"/>
        </a:accent5>
        <a:accent6>
          <a:srgbClr val="2DB9E7"/>
        </a:accent6>
        <a:hlink>
          <a:srgbClr val="6600FF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6">
        <a:dk1>
          <a:srgbClr val="000000"/>
        </a:dk1>
        <a:lt1>
          <a:srgbClr val="FFFFCC"/>
        </a:lt1>
        <a:dk2>
          <a:srgbClr val="6756A6"/>
        </a:dk2>
        <a:lt2>
          <a:srgbClr val="969696"/>
        </a:lt2>
        <a:accent1>
          <a:srgbClr val="99CCFF"/>
        </a:accent1>
        <a:accent2>
          <a:srgbClr val="008000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007300"/>
        </a:accent6>
        <a:hlink>
          <a:srgbClr val="990033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7">
        <a:dk1>
          <a:srgbClr val="CC3300"/>
        </a:dk1>
        <a:lt1>
          <a:srgbClr val="99CCFF"/>
        </a:lt1>
        <a:dk2>
          <a:srgbClr val="003399"/>
        </a:dk2>
        <a:lt2>
          <a:srgbClr val="969696"/>
        </a:lt2>
        <a:accent1>
          <a:srgbClr val="CED7FE"/>
        </a:accent1>
        <a:accent2>
          <a:srgbClr val="FFFFFF"/>
        </a:accent2>
        <a:accent3>
          <a:srgbClr val="CAE2FF"/>
        </a:accent3>
        <a:accent4>
          <a:srgbClr val="AE2A00"/>
        </a:accent4>
        <a:accent5>
          <a:srgbClr val="E3E8FE"/>
        </a:accent5>
        <a:accent6>
          <a:srgbClr val="E7E7E7"/>
        </a:accent6>
        <a:hlink>
          <a:srgbClr val="00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8">
        <a:dk1>
          <a:srgbClr val="006600"/>
        </a:dk1>
        <a:lt1>
          <a:srgbClr val="FFCC99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FFFF66"/>
        </a:accent2>
        <a:accent3>
          <a:srgbClr val="FFE2CA"/>
        </a:accent3>
        <a:accent4>
          <a:srgbClr val="005600"/>
        </a:accent4>
        <a:accent5>
          <a:srgbClr val="FFFFFF"/>
        </a:accent5>
        <a:accent6>
          <a:srgbClr val="E7E75C"/>
        </a:accent6>
        <a:hlink>
          <a:srgbClr val="5B5B89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万里长城">
  <a:themeElements>
    <a:clrScheme name="万里长城 1">
      <a:dk1>
        <a:srgbClr val="000000"/>
      </a:dk1>
      <a:lt1>
        <a:srgbClr val="FFFFFF"/>
      </a:lt1>
      <a:dk2>
        <a:srgbClr val="000099"/>
      </a:dk2>
      <a:lt2>
        <a:srgbClr val="969696"/>
      </a:lt2>
      <a:accent1>
        <a:srgbClr val="FFFF99"/>
      </a:accent1>
      <a:accent2>
        <a:srgbClr val="006666"/>
      </a:accent2>
      <a:accent3>
        <a:srgbClr val="FFFFFF"/>
      </a:accent3>
      <a:accent4>
        <a:srgbClr val="000000"/>
      </a:accent4>
      <a:accent5>
        <a:srgbClr val="FFFFCA"/>
      </a:accent5>
      <a:accent6>
        <a:srgbClr val="005C5C"/>
      </a:accent6>
      <a:hlink>
        <a:srgbClr val="800080"/>
      </a:hlink>
      <a:folHlink>
        <a:srgbClr val="FF6600"/>
      </a:folHlink>
    </a:clrScheme>
    <a:fontScheme name="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scene3d>
          <a:camera prst="legacyPerspectiveFront">
            <a:rot lat="20519999" lon="1080000" rev="0"/>
          </a:camera>
          <a:lightRig rig="legacyHarsh2" dir="b"/>
        </a:scene3d>
        <a:sp3d extrusionH="430200" prstMaterial="legacyMatte">
          <a:bevelT w="13500" h="13500" prst="angle"/>
          <a:bevelB w="13500" h="13500" prst="angle"/>
          <a:extrusionClr>
            <a:srgbClr val="FF6600"/>
          </a:extrusionClr>
        </a:sp3d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scene3d>
          <a:camera prst="legacyPerspectiveFront">
            <a:rot lat="20519999" lon="1080000" rev="0"/>
          </a:camera>
          <a:lightRig rig="legacyHarsh2" dir="b"/>
        </a:scene3d>
        <a:sp3d extrusionH="430200" prstMaterial="legacyMatte">
          <a:bevelT w="13500" h="13500" prst="angle"/>
          <a:bevelB w="13500" h="13500" prst="angle"/>
          <a:extrusionClr>
            <a:srgbClr val="FF6600"/>
          </a:extrusionClr>
        </a:sp3d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万里长城 1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80008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2">
        <a:dk1>
          <a:srgbClr val="000000"/>
        </a:dk1>
        <a:lt1>
          <a:srgbClr val="8EA4EA"/>
        </a:lt1>
        <a:dk2>
          <a:srgbClr val="0033CC"/>
        </a:dk2>
        <a:lt2>
          <a:srgbClr val="969696"/>
        </a:lt2>
        <a:accent1>
          <a:srgbClr val="86B5B6"/>
        </a:accent1>
        <a:accent2>
          <a:srgbClr val="FFCC66"/>
        </a:accent2>
        <a:accent3>
          <a:srgbClr val="C6CFF3"/>
        </a:accent3>
        <a:accent4>
          <a:srgbClr val="000000"/>
        </a:accent4>
        <a:accent5>
          <a:srgbClr val="C3D7D7"/>
        </a:accent5>
        <a:accent6>
          <a:srgbClr val="E7B95C"/>
        </a:accent6>
        <a:hlink>
          <a:srgbClr val="626292"/>
        </a:hlink>
        <a:folHlink>
          <a:srgbClr val="A236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3">
        <a:dk1>
          <a:srgbClr val="0000FF"/>
        </a:dk1>
        <a:lt1>
          <a:srgbClr val="C0C0C0"/>
        </a:lt1>
        <a:dk2>
          <a:srgbClr val="000000"/>
        </a:dk2>
        <a:lt2>
          <a:srgbClr val="B2B2B2"/>
        </a:lt2>
        <a:accent1>
          <a:srgbClr val="FFCC99"/>
        </a:accent1>
        <a:accent2>
          <a:srgbClr val="FF99CC"/>
        </a:accent2>
        <a:accent3>
          <a:srgbClr val="DCDCDC"/>
        </a:accent3>
        <a:accent4>
          <a:srgbClr val="0000DA"/>
        </a:accent4>
        <a:accent5>
          <a:srgbClr val="FFE2CA"/>
        </a:accent5>
        <a:accent6>
          <a:srgbClr val="E78AB9"/>
        </a:accent6>
        <a:hlink>
          <a:srgbClr val="9C4070"/>
        </a:hlink>
        <a:folHlink>
          <a:srgbClr val="0071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4">
        <a:dk1>
          <a:srgbClr val="0029AC"/>
        </a:dk1>
        <a:lt1>
          <a:srgbClr val="CCFFCC"/>
        </a:lt1>
        <a:dk2>
          <a:srgbClr val="993366"/>
        </a:dk2>
        <a:lt2>
          <a:srgbClr val="969696"/>
        </a:lt2>
        <a:accent1>
          <a:srgbClr val="FFCC99"/>
        </a:accent1>
        <a:accent2>
          <a:srgbClr val="6699FF"/>
        </a:accent2>
        <a:accent3>
          <a:srgbClr val="E2FFE2"/>
        </a:accent3>
        <a:accent4>
          <a:srgbClr val="002192"/>
        </a:accent4>
        <a:accent5>
          <a:srgbClr val="FFE2CA"/>
        </a:accent5>
        <a:accent6>
          <a:srgbClr val="5C8AE7"/>
        </a:accent6>
        <a:hlink>
          <a:srgbClr val="006600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5">
        <a:dk1>
          <a:srgbClr val="333333"/>
        </a:dk1>
        <a:lt1>
          <a:srgbClr val="FF99CC"/>
        </a:lt1>
        <a:dk2>
          <a:srgbClr val="006600"/>
        </a:dk2>
        <a:lt2>
          <a:srgbClr val="B2B2B2"/>
        </a:lt2>
        <a:accent1>
          <a:srgbClr val="FFFF66"/>
        </a:accent1>
        <a:accent2>
          <a:srgbClr val="33CCFF"/>
        </a:accent2>
        <a:accent3>
          <a:srgbClr val="FFCAE2"/>
        </a:accent3>
        <a:accent4>
          <a:srgbClr val="2A2A2A"/>
        </a:accent4>
        <a:accent5>
          <a:srgbClr val="FFFFB8"/>
        </a:accent5>
        <a:accent6>
          <a:srgbClr val="2DB9E7"/>
        </a:accent6>
        <a:hlink>
          <a:srgbClr val="6600FF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6">
        <a:dk1>
          <a:srgbClr val="000000"/>
        </a:dk1>
        <a:lt1>
          <a:srgbClr val="FFFFCC"/>
        </a:lt1>
        <a:dk2>
          <a:srgbClr val="6756A6"/>
        </a:dk2>
        <a:lt2>
          <a:srgbClr val="969696"/>
        </a:lt2>
        <a:accent1>
          <a:srgbClr val="99CCFF"/>
        </a:accent1>
        <a:accent2>
          <a:srgbClr val="008000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007300"/>
        </a:accent6>
        <a:hlink>
          <a:srgbClr val="990033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7">
        <a:dk1>
          <a:srgbClr val="CC3300"/>
        </a:dk1>
        <a:lt1>
          <a:srgbClr val="99CCFF"/>
        </a:lt1>
        <a:dk2>
          <a:srgbClr val="003399"/>
        </a:dk2>
        <a:lt2>
          <a:srgbClr val="969696"/>
        </a:lt2>
        <a:accent1>
          <a:srgbClr val="CED7FE"/>
        </a:accent1>
        <a:accent2>
          <a:srgbClr val="FFFFFF"/>
        </a:accent2>
        <a:accent3>
          <a:srgbClr val="CAE2FF"/>
        </a:accent3>
        <a:accent4>
          <a:srgbClr val="AE2A00"/>
        </a:accent4>
        <a:accent5>
          <a:srgbClr val="E3E8FE"/>
        </a:accent5>
        <a:accent6>
          <a:srgbClr val="E7E7E7"/>
        </a:accent6>
        <a:hlink>
          <a:srgbClr val="00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8">
        <a:dk1>
          <a:srgbClr val="006600"/>
        </a:dk1>
        <a:lt1>
          <a:srgbClr val="FFCC99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FFFF66"/>
        </a:accent2>
        <a:accent3>
          <a:srgbClr val="FFE2CA"/>
        </a:accent3>
        <a:accent4>
          <a:srgbClr val="005600"/>
        </a:accent4>
        <a:accent5>
          <a:srgbClr val="FFFFFF"/>
        </a:accent5>
        <a:accent6>
          <a:srgbClr val="E7E75C"/>
        </a:accent6>
        <a:hlink>
          <a:srgbClr val="5B5B89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book</Template>
  <TotalTime>0</TotalTime>
  <Words>5980</Words>
  <Application>WPS 演示</Application>
  <PresentationFormat>全屏显示(4:3)</PresentationFormat>
  <Paragraphs>467</Paragraphs>
  <Slides>49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33</vt:i4>
      </vt:variant>
      <vt:variant>
        <vt:lpstr>幻灯片标题</vt:lpstr>
      </vt:variant>
      <vt:variant>
        <vt:i4>49</vt:i4>
      </vt:variant>
    </vt:vector>
  </HeadingPairs>
  <TitlesOfParts>
    <vt:vector size="95" baseType="lpstr">
      <vt:lpstr>Arial</vt:lpstr>
      <vt:lpstr>宋体</vt:lpstr>
      <vt:lpstr>Wingdings</vt:lpstr>
      <vt:lpstr>Times New Roman</vt:lpstr>
      <vt:lpstr>楷体_GB2312</vt:lpstr>
      <vt:lpstr>新宋体</vt:lpstr>
      <vt:lpstr>微软雅黑</vt:lpstr>
      <vt:lpstr>Arial Unicode MS</vt:lpstr>
      <vt:lpstr>Calibri</vt:lpstr>
      <vt:lpstr>黑体</vt:lpstr>
      <vt:lpstr>2_万里长城</vt:lpstr>
      <vt:lpstr>1_万里长城</vt:lpstr>
      <vt:lpstr>3_万里长城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Visio.Drawing.11</vt:lpstr>
      <vt:lpstr>Visio.Drawing.11</vt:lpstr>
      <vt:lpstr>Visio.Drawing.11</vt:lpstr>
      <vt:lpstr>Equation.DSMT4</vt:lpstr>
      <vt:lpstr>Equation.DSMT4</vt:lpstr>
      <vt:lpstr>Equation.DSMT4</vt:lpstr>
      <vt:lpstr>Equation.DSMT4</vt:lpstr>
      <vt:lpstr>Equation.3</vt:lpstr>
      <vt:lpstr>Equation.3</vt:lpstr>
      <vt:lpstr>第三章  化  学  电  源</vt:lpstr>
      <vt:lpstr>3.1.1 绪    论</vt:lpstr>
      <vt:lpstr>PowerPoint 演示文稿</vt:lpstr>
      <vt:lpstr>二、化学电源的发展简史</vt:lpstr>
      <vt:lpstr>PowerPoint 演示文稿</vt:lpstr>
      <vt:lpstr>三、化学电源的组成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化学电源的应用</vt:lpstr>
      <vt:lpstr>PowerPoint 演示文稿</vt:lpstr>
      <vt:lpstr>各种形状的电池</vt:lpstr>
      <vt:lpstr>电池的组合</vt:lpstr>
      <vt:lpstr>PowerPoint 演示文稿</vt:lpstr>
      <vt:lpstr>PowerPoint 演示文稿</vt:lpstr>
      <vt:lpstr>PowerPoint 演示文稿</vt:lpstr>
      <vt:lpstr>六、本部分的主要内容</vt:lpstr>
      <vt:lpstr>PowerPoint 演示文稿</vt:lpstr>
      <vt:lpstr>3.1.2 化学电源的分类</vt:lpstr>
      <vt:lpstr>PowerPoint 演示文稿</vt:lpstr>
      <vt:lpstr>PowerPoint 演示文稿</vt:lpstr>
      <vt:lpstr>PowerPoint 演示文稿</vt:lpstr>
      <vt:lpstr>3.1.3 化学电源的工作原理</vt:lpstr>
      <vt:lpstr>3.1.4 化学电源的主要性能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一些电池的实际比能量与理论比能量 </vt:lpstr>
      <vt:lpstr>PowerPoint 演示文稿</vt:lpstr>
      <vt:lpstr>PowerPoint 演示文稿</vt:lpstr>
      <vt:lpstr>PowerPoint 演示文稿</vt:lpstr>
      <vt:lpstr>PowerPoint 演示文稿</vt:lpstr>
    </vt:vector>
  </TitlesOfParts>
  <Company>zzuli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第二部分 化学电源工艺学</dc:title>
  <dc:creator>微软用户</dc:creator>
  <cp:lastModifiedBy>无际</cp:lastModifiedBy>
  <cp:revision>95</cp:revision>
  <dcterms:created xsi:type="dcterms:W3CDTF">2008-05-01T12:36:00Z</dcterms:created>
  <dcterms:modified xsi:type="dcterms:W3CDTF">2025-10-29T00:43:53Z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6E8DD2249D15446296E35CAC3672EE8C_12</vt:lpwstr>
  </property>
  <property fmtid="{D5CDD505-2E9C-101B-9397-08002B2CF9AE}" pid="3" name="KSOProductBuildVer">
    <vt:lpwstr>2052-12.1.0.23125</vt:lpwstr>
  </property>
</Properties>
</file>
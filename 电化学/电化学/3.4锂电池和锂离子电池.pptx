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5" r:id="rId4"/>
  </p:sldMasterIdLst>
  <p:notesMasterIdLst>
    <p:notesMasterId r:id="rId7"/>
  </p:notesMasterIdLst>
  <p:handoutMasterIdLst>
    <p:handoutMasterId r:id="rId87"/>
  </p:handoutMasterIdLst>
  <p:sldIdLst>
    <p:sldId id="323" r:id="rId5"/>
    <p:sldId id="415" r:id="rId6"/>
    <p:sldId id="620" r:id="rId8"/>
    <p:sldId id="790" r:id="rId9"/>
    <p:sldId id="621" r:id="rId10"/>
    <p:sldId id="622" r:id="rId11"/>
    <p:sldId id="623" r:id="rId12"/>
    <p:sldId id="624" r:id="rId13"/>
    <p:sldId id="625" r:id="rId14"/>
    <p:sldId id="627" r:id="rId15"/>
    <p:sldId id="626" r:id="rId16"/>
    <p:sldId id="424" r:id="rId17"/>
    <p:sldId id="633" r:id="rId18"/>
    <p:sldId id="793" r:id="rId19"/>
    <p:sldId id="482" r:id="rId20"/>
    <p:sldId id="483" r:id="rId21"/>
    <p:sldId id="628" r:id="rId22"/>
    <p:sldId id="687" r:id="rId23"/>
    <p:sldId id="791" r:id="rId24"/>
    <p:sldId id="484" r:id="rId25"/>
    <p:sldId id="533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795" r:id="rId39"/>
    <p:sldId id="497" r:id="rId40"/>
    <p:sldId id="498" r:id="rId41"/>
    <p:sldId id="499" r:id="rId42"/>
    <p:sldId id="500" r:id="rId43"/>
    <p:sldId id="501" r:id="rId44"/>
    <p:sldId id="502" r:id="rId45"/>
    <p:sldId id="503" r:id="rId46"/>
    <p:sldId id="504" r:id="rId47"/>
    <p:sldId id="505" r:id="rId48"/>
    <p:sldId id="506" r:id="rId49"/>
    <p:sldId id="507" r:id="rId50"/>
    <p:sldId id="508" r:id="rId51"/>
    <p:sldId id="509" r:id="rId52"/>
    <p:sldId id="510" r:id="rId53"/>
    <p:sldId id="511" r:id="rId54"/>
    <p:sldId id="512" r:id="rId55"/>
    <p:sldId id="513" r:id="rId56"/>
    <p:sldId id="514" r:id="rId57"/>
    <p:sldId id="515" r:id="rId58"/>
    <p:sldId id="516" r:id="rId59"/>
    <p:sldId id="517" r:id="rId60"/>
    <p:sldId id="518" r:id="rId61"/>
    <p:sldId id="519" r:id="rId62"/>
    <p:sldId id="520" r:id="rId63"/>
    <p:sldId id="521" r:id="rId64"/>
    <p:sldId id="522" r:id="rId65"/>
    <p:sldId id="794" r:id="rId66"/>
    <p:sldId id="523" r:id="rId67"/>
    <p:sldId id="530" r:id="rId68"/>
    <p:sldId id="532" r:id="rId69"/>
    <p:sldId id="525" r:id="rId70"/>
    <p:sldId id="852" r:id="rId71"/>
    <p:sldId id="853" r:id="rId72"/>
    <p:sldId id="854" r:id="rId73"/>
    <p:sldId id="855" r:id="rId74"/>
    <p:sldId id="856" r:id="rId75"/>
    <p:sldId id="857" r:id="rId76"/>
    <p:sldId id="858" r:id="rId77"/>
    <p:sldId id="859" r:id="rId78"/>
    <p:sldId id="860" r:id="rId79"/>
    <p:sldId id="861" r:id="rId80"/>
    <p:sldId id="862" r:id="rId81"/>
    <p:sldId id="863" r:id="rId82"/>
    <p:sldId id="864" r:id="rId83"/>
    <p:sldId id="865" r:id="rId84"/>
    <p:sldId id="866" r:id="rId85"/>
    <p:sldId id="867" r:id="rId86"/>
  </p:sldIdLst>
  <p:sldSz cx="9144000" cy="6858000" type="screen4x3"/>
  <p:notesSz cx="6858000" cy="9144000"/>
  <p:custDataLst>
    <p:tags r:id="rId9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4400" b="1" kern="1200">
        <a:solidFill>
          <a:schemeClr val="tx2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3CC"/>
    <a:srgbClr val="00FFCC"/>
    <a:srgbClr val="FF00FF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778" y="67"/>
      </p:cViewPr>
      <p:guideLst>
        <p:guide orient="horz" pos="2170"/>
        <p:guide pos="2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6.xml"/><Relationship Id="rId90" Type="http://schemas.openxmlformats.org/officeDocument/2006/relationships/tableStyles" Target="tableStyles.xml"/><Relationship Id="rId9" Type="http://schemas.openxmlformats.org/officeDocument/2006/relationships/slide" Target="slides/slide4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5B22927F-66BD-4D48-BC0B-95D8FFBA7FE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9-07T11:59:0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1089.000 319.000,'2.000'0.000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3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0.000 0,'99.000'24.000'172,"-25.000"-24.000"-157,98.000 99.000-15,-98.000-99.000 16,50.000 49.000-16,-75.000 25.000 16,99.000-24.000-16,0.000-1.000 15,-25.000 0.000-15,-24.000 1.000 16,24.000-50.000-16,-49.000 24.000 16,0.000-24.000-16,-25.000 0.000 15,-24.000 50.000-15,0.000-50.000 16,24.000 0.000-1,0.000 24.000-15,25.000-24.000 16,-49.000 0.000 0,49.000 0.000-16,25.000 50.000 15,-75.000-50.000-15,1.000 0.000 16,24.000 24.000-16,-24.000-24.000 16,0.000 0.000-16,-1.000 25.000 15,1.000-25.000 1,24.000 0.000-1,0.000 25.000 1,1.000-1.000-16,-1.000 1.000 16,-24.000-25.000-16,-1.000 0.000 15,1.000 0.000 1,24.000 0.000-16,25.000 0.000 16,-49.000 0.000-1,0.000 0.000 595,49.000 0.000-595,-25.000 0.000-15,-24.000 0.000 16,24.000 0.000-16,-24.000 0.000 15,24.000-25.000-15,-49.000 1.000 110,0.000-1.000-95,0.000-24.000-15,0.000 24.000 16,0.000 0.000-16,0.000 1.000 47,0.000-26.000 0,0.000 26.000-32,0.000-1.000 1,-25.000-24.000-16,1.000 24.000 16,-26.000-24.000 15,1.000 24.000 63,24.000 25.000-79,1.000 0.000 1,-1.000 0.000 0,-49.000-25.000-16,74.000 1.000 15,-25.000 24.000-15,-73.000-25.000 16,73.000 25.000-1,0.000 0.000 1,-73.000-25.000 0,73.000 1.000-16,0.000 24.000 15,1.000 0.000-15,-26.000 0.000 16,26.000 0.000 0,-1.000 0.000-1,-73.000-25.000-15,48.000 25.000 16,1.000 0.000-16,24.000 0.000 15,1.000 0.000 1,-26.000 0.000 234,-73.000 0.000-234,98.000 0.000-16,-24.000 0.000 15,0.000 0.000-15,24.000 0.000 157,-24.000 0.000-142,24.000 0.000-15,0.000 0.000 16,-24.000 0.000-1,24.000 0.000-15,1.000 0.000 16,-1.000 0.000 0,-24.000 0.000 218,24.000 0.000-218,74.000 0.000 327,-24.000 0.000-343,0.000 0.000 16,-1.000 0.000 47,26.000 0.000 46,-26.000 0.000-93,1.000 0.000 15,24.000 0.000 0,-24.000 0.000 32,0.000 0.000-48,-1.000 0.000 1,26.000 0.000-1,-26.000 0.000 1,1.000 0.000-16,24.000 0.000 16,-24.000 0.000-16,0.000 0.000 15,-1.000 0.000-15,26.000 0.000 16,-26.000 0.000-16,1.000 0.000 16,0.000 0.000-16,24.000 0.000 15,-24.000 0.000 1,-1.000 0.000-16,26.000 0.000 15,-26.000 0.000-15,1.000 0.000 16,49.000 0.000-16,-50.000 0.000 16,26.000 0.000-16,-26.000 0.000 15,1.000 0.000-15,49.000 0.000 16,-25.000 0.000 0,-24.000 0.000-16,0.000 0.000 15,24.000 0.000-15,-24.000 0.000 16,-1.000 0.000-16,1.000 0.000 15,24.000 0.000-15,1.000 25.000 16,-1.000-25.000 0,-24.000 0.000-16,-1.000 0.000 15,1.000 0.000 17,24.000 0.000-32,-24.000 0.000 15,0.000 0.000 1,24.000 0.000-16,0.000 0.000 15,1.000 0.000-15,-26.000 0.000 16,1.000 0.000-16,24.000 0.000 16,25.000 0.000-16,-49.000 0.000 15,0.000 0.000-15,24.000 0.000 16,-25.000 0.000-16,1.000 0.000 16,49.000 0.000-16,-49.000 0.000 15,24.000 0.000-15,-24.000 0.000 16,-1.000 0.000-16,1.000 0.000 15,49.000 0.000-15,-25.000 0.000 16,25.000 0.000-16,0.000 0.000 16,0.000 0.000-16,0.000 0.000 15,-49.000 0.000-15,49.000 0.000 16,-49.000 0.000-16,24.000 0.000 16,-24.000 0.000-16,-1.000 0.000 15,1.000 0.000-15,24.000 0.000 16,1.000 24.000-16,-50.000 1.000 15,49.000-25.000 1,-24.000 0.000 0,49.000 0.000-16,0.000 25.000 15,-1.000-25.000-15,26.000 24.000 16,-50.000 1.000-16,75.000-25.000 16,-50.000 0.000-16,0.000 0.000 15,-25.000 25.000-15,25.000-25.000 16,0.000 0.000-16,-25.000 0.000 15,50.000 0.000-15,-25.000 0.000 16,49.000 0.000-16,-24.000 0.000 16,0.000 0.000-16,-26.000 0.000 15,51.000 0.000-15,-75.000 0.000 16,25.000 0.000-16,-49.000 0.000 16,-1.000 0.000-16,50.000 0.000 15,-49.000 0.000-15,24.000 0.000 16,1.000 24.000-16,-50.000 1.000 15,74.000-25.000-15,-50.000 0.000 16,50.000 0.000-16,-24.000 0.000 16,24.000 0.000-16,-50.000 0.000 15,50.000 0.000-15,0.000 0.000 16,0.000 0.000-16,-49.000 0.000 16,49.000 0.000-16,49.000 0.000 15,-49.000 0.000 1,49.000 0.000-16,25.000 0.000 15,-24.000 0.000-15,24.000 0.000 16,-74.000 0.000-16,0.000 0.000 16,0.000 0.000-16,-50.000 0.000 15,1.000 0.000-15,0.000 0.000 16,24.000 0.000 0,-24.000 0.000-16,49.000 25.000 15,0.000-25.000-15,-50.000 0.000 16,50.000 0.000-16,25.000 0.000 15,-1.000 0.000-15,-24.000 0.000 16,0.000 0.000-16,0.000 0.000 16,0.000 0.000-16,0.000 0.000 15,0.000 0.000-15,0.000 0.000 16,-24.000 0.000-16,24.000 0.000 16,-50.000 0.000-16,1.000 0.000 15,24.000 0.000-15,-24.000 0.000 16,0.000 0.000-16,-1.000 0.000 15,26.000 0.000-15,-26.000 0.000 16,1.000 0.000-16,49.000 0.000 16,-49.000 0.000-16,49.000 0.000 15,-25.000 0.000-15,25.000 0.000 16,-50.000 0.000 0,50.000 0.000-16,-49.000 0.000 15,24.000 0.000-15,25.000 0.000 16,-49.000 0.000-16,0.000 0.000 15,-1.000 0.000 1,26.000 0.000-16,-26.000 0.000 16,1.000 0.000-1,24.000 0.000-15,1.000 0.000 16,-1.000 0.000-16,-24.000 0.000 16,-1.000 0.000-1,26.000 0.000-15,-26.000 0.000 125,1.000 0.000-125,0.000 0.000 16,123.000 0.000-16,-25.000 0.000 15,74.000 0.000-15,74.000 0.000 16,-49.000 0.000 0,0.000 0.000-16,-49.000 0.000 0,-74.000 0.000 15,49.000 0.000 1,-124.000 0.000-16,1.000 0.000 16,0.000 0.000-16,24.000 0.000 15,25.000 0.000-15,-25.000 0.000 16,0.000 0.000-16,25.000 0.000 15,0.000 0.000-15,0.000 0.000 16,0.000 0.000-16,50.000 0.000 16,-100.000 0.000-16,50.000 0.000 15,-24.000 0.000-15,-26.000 0.000 16,50.000 0.000-16,-49.000 0.000 16,49.000 0.000-16,-49.000 0.000 15,49.000 0.000-15,0.000 0.000 16,0.000 0.000-16,-1.000 0.000 15,51.000 0.000-15,-50.000 0.000 16,0.000 0.000-16,49.000 0.000 16,25.000 0.000-16,-25.000 0.000 15,-49.000 0.000-15,25.000 0.000 16,0.000 0.000-16,49.000 0.000 16,-74.000 0.000-1,49.000 0.000-15,0.000 0.000 16,-49.000 0.000-16,49.000 0.000 15,-24.000 0.000-15,24.000 0.000 16,-49.000 0.000-16,0.000 0.000 16,-49.000 0.000-16,49.000 0.000 15,0.000 0.000-15,-49.000 0.000 16,-1.000 0.000-16,26.000 0.000 16,24.000 0.000-16,-50.000 0.000 15,1.000 0.000-15,0.000 0.000 16,24.000 0.000-16,25.000 0.000 15,-50.000 0.000-15,50.000 0.000 16,0.000 0.000-16,-49.000 0.000 16,24.000 0.000-16,25.000 0.000 15,-49.000 0.000-15,0.000 0.000 16,24.000 0.000-16,25.000 0.000 16,-49.000 0.000-16,-1.000 0.000 15,26.000-25.000-15,-26.000 25.000 16,50.000 0.000-1,-49.000 0.000-15,49.000 0.000 16,-49.000 0.000-16,-1.000-49.000 16,26.000 49.000-16,24.000 0.000 15,-50.000 0.000 1,50.000 0.000-16,0.000-25.000 16,0.000 25.000-16,-24.000 0.000 15,23.000 0.000-15,26.000 0.000 16,49.000 0.000-16,-74.000 0.000 15,49.000 0.000-15,-49.000 0.000 16,0.000 0.000-16,0.000 0.000 16,0.000 0.000-16,-49.000 0.000 15,24.000-25.000-15,-24.000 1.000 16,0.000 24.000-16,49.000 0.000 16,-50.000 0.000-16,26.000 0.000 15,24.000 0.000-15,-50.000 0.000 16,50.000 0.000-16,0.000 0.000 15,0.000 0.000-15,-49.000 0.000 16,49.000 0.000-16,-50.000 0.000 16,26.000 0.000-16,24.000 0.000 15,-50.000 0.000-15,50.000 0.000 16,-49.000 0.000-16,74.000 0.000 16,-25.000 0.000-16,24.000 0.000 15,-24.000 0.000-15,0.000 0.000 16,-49.000 0.000-16,49.000 0.000 15,0.000 0.000-15,-25.000 0.000 16,1.000 0.000 0,-1.000 0.000-16,-24.000 0.000 15,24.000 0.000-15,0.000 0.000 16,0.000 0.000-16,-24.000 0.000 16,0.000 0.000-16,49.000 0.000 15,0.000 0.000-15,-25.000 0.000 16,25.000 0.000-16,-49.000 0.000 15,49.000 0.000-15,-50.000 0.000 16,1.000 0.000 0,24.000 0.000-16,-24.000 0.000 15,0.000 0.000 1,24.000 0.000-16,-24.000 24.000 16,24.000-24.000-16,0.000 0.000 15,-24.000 0.000 1,24.000 25.000-16,-24.000-25.000 31,0.000 0.000-31,24.000 0.000 16,-24.000 0.000-16,-1.000 0.000 15,1.000 0.000-15,24.000 0.000 16,-24.000 0.000 0,0.000 0.000 30,24.000 0.000-30,-25.000 0.000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34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0.000 259.000 0,'25.000'0.000'125,"0.000"0.000"-109,49.000 0.000-16,0.000-49.000 15,74.000 49.000-15,49.000 0.000 16,0.000 0.000-16,0.000 0.000 15,50.000 0.000-15,24.000 0.000 16,-49.000 0.000-16,25.000 0.000 16,-50.000 0.000-16,-49.000 0.000 15,25.000 0.000-15,-99.000 0.000 16,24.000 0.000-16,1.000 0.000 16,-25.000 0.000-16,0.000 0.000 15,49.000 0.000-15,-49.000 0.000 16,0.000 0.000-16,50.000 0.000 15,-51.000 0.000-15,51.000 0.000 16,24.000 0.000-16,-74.000 0.000 16,49.000 0.000-16,-24.000 0.000 15,-25.000 0.000-15,24.000 0.000 16,-73.000 0.000-16,49.000 0.000 16,0.000 0.000-16,0.000 0.000 15,49.000 0.000 1,25.000 0.000-16,-25.000 0.000 15,75.000 0.000-15,24.000 0.000 16,-50.000 0.000-16,-24.000 0.000 16,-24.000 0.000-16,-1.000 0.000 15,-49.000 0.000-15,0.000 0.000 16,0.000 0.000-16,0.000 0.000 16,-25.000 0.000-16,74.000-50.000 15,1.000 50.000-15,-50.000-24.000 16,74.000 24.000-16,-25.000 0.000 15,25.000 0.000-15,-25.000 0.000 16,-49.000 0.000-16,50.000 0.000 16,23.000 0.000-16,-23.000 0.000 15,-50.000 0.000-15,0.000 0.000 16,24.000 0.000-16,1.000 0.000 16,-25.000 0.000-16,49.000 0.000 15,-49.000 0.000-15,25.000 0.000 16,24.000-50.000-16,-24.000 50.000 15,-1.000 0.000-15,-24.000 0.000 16,0.000 0.000-16,0.000 0.000 16,-49.000 0.000-16,98.000 0.000 15,-73.000 0.000 1,48.000 0.000-16,50.000 0.000 16,-74.000 0.000-16,50.000 0.000 15,-1.000 0.000-15,74.000 0.000 16,-49.000 0.000-16,0.000 0.000 15,25.000 0.000-15,-25.000 0.000 16,49.000 0.000-16,-74.000 0.000 16,75.000 0.000-16,-75.000 0.000 15,99.000 0.000-15,-99.000 0.000 16,0.000 0.000-16,25.000 0.000 16,50.000 0.000-16,-75.000 0.000 15,25.000 0.000-15,-25.000 0.000 16,25.000 0.000-16,-25.000 0.000 15,-49.000 0.000-15,99.000 0.000 16,-99.000 0.000-16,99.000 0.000 16,-99.000 0.000-16,49.000 0.000 15,74.000 0.000-15,-73.000 0.000 16,23.000 0.000-16,-48.000 0.000 16,24.000 0.000-16,1.000 0.000 15,-50.000 0.000-15,24.000 0.000 16,-48.000 0.000-16,24.000 0.000 15,24.000-24.000 1,-48.000-1.000-16,24.000 25.000 0,49.000 0.000 16,25.000 0.000-1,-74.000 0.000-15,49.000 0.000 16,-49.000 0.000-16,49.000 0.000 16,-98.000 0.000-16,98.000 0.000 15,-49.000 0.000-15,-24.000 0.000 16,48.000 0.000-16,-24.000 0.000 15,0.000 0.000-15,0.000 0.000 16,0.000 0.000-16,50.000 0.000 16,-50.000 0.000-16,0.000 0.000 15,-25.000 0.000-15,25.000 0.000 16,-50.000 0.000-16,50.000 0.000 16,0.000 0.000-16,0.000 0.000 15,-24.000 0.000-15,48.000 0.000 16,-48.000 0.000-16,-1.000 0.000 15,74.000 0.000-15,-49.000 0.000 16,-24.000 0.000-16,48.000 0.000 16,1.000 0.000-16,-25.000 0.000 15,0.000 0.000 1,49.000 0.000-16,-74.000 0.000 0,1.000 0.000 16,24.000 0.000-16,0.000 0.000 15,-50.000 0.000-15,26.000-25.000 16,-26.000 25.000-1,1.000 0.000-15,49.000 0.000 16,-25.000 0.000-16,25.000 0.000 16,0.000 0.000-16,0.000 0.000 15,-49.000 0.000-15,49.000 0.000 16,0.000 0.000-16,0.000 0.000 16,-49.000 0.000-16,49.000 0.000 15,0.000 0.000-15,0.000 0.000 16,-50.000 0.000-16,50.000 0.000 15,-25.000 0.000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38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0.000 263.000 0,'50.000'0.000'141,"24.000"0.000"-141,74.000 0.000 15,24.000 0.000-15,25.000 0.000 16,1.000 0.000-16,-1.000 0.000 16,50.000 0.000-16,-50.000 0.000 15,0.000 0.000-15,-49.000 0.000 16,-25.000 0.000-16,-49.000 0.000 15,0.000 0.000-15,50.000 0.000 16,-50.000 0.000-16,49.000 0.000 16,-49.000 0.000-16,49.000 0.000 15,75.000 0.000-15,-50.000 0.000 16,-25.000 0.000-16,-49.000 0.000 16,49.000 0.000-1,-49.000 0.000-15,-25.000 0.000 16,25.000 0.000-16,-49.000 0.000 15,24.000 0.000-15,50.000 0.000 16,-74.000 0.000-16,49.000 0.000 16,49.000 0.000-16,-49.000 0.000 15,0.000 0.000-15,-25.000 0.000 16,75.000 0.000-16,-100.000 0.000 16,50.000 0.000-16,-49.000 0.000 15,98.000 0.000-15,25.000 0.000 16,-74.000 0.000-16,49.000 0.000 15,1.000 0.000-15,24.000 0.000 16,-74.000 0.000-16,0.000 0.000 16,0.000 0.000-16,0.000 0.000 15,0.000 0.000-15,-25.000 0.000 16,50.000 0.000-16,24.000 0.000 16,74.000 0.000-16,-49.000 0.000 15,99.000 0.000-15,-50.000 0.000 16,0.000 0.000-16,-123.000 0.000 15,49.000 0.000-15,-49.000 0.000 16,0.000 0.000-16,-24.000 0.000 16,24.000 0.000-16,-50.000 0.000 15,1.000 0.000-15,49.000 0.000 16,-49.000 0.000-16,49.000 0.000 16,-25.000 0.000-1,-24.000 0.000-15,49.000 0.000 16,-50.000 0.000-16,50.000 0.000 15,-24.000 0.000-15,-26.000 0.000 16,1.000 0.000-16,0.000 0.000 16,24.000 0.000-16,-24.000 0.000 15,-1.000 0.000-15,1.000 0.000 16,24.000 0.000 0,25.000 0.000-16,-49.000 0.000 15,49.000 0.000-15,0.000 0.000 16,0.000 0.000-16,-50.000 0.000 15,50.000 0.000-15,-49.000 0.000 16,24.000 0.000-16,-24.000 0.000 16,0.000 0.000-16,-1.000 0.000 15,50.000 0.000-15,-24.000 0.000 16,24.000 0.000-16,0.000 0.000 16,0.000 0.000-16,0.000 0.000 15,-50.000 0.000-15,50.000 0.000 16,0.000 0.000-16,-49.000 0.000 15,49.000 0.000-15,-25.000 0.000 16,25.000 0.000-16,0.000 0.000 16,49.000 0.000-16,1.000 0.000 15,-1.000 0.000 1,74.000 0.000-16,-49.000 0.000 16,-24.000 0.000-16,24.000 0.000 15,-74.000 0.000-15,-50.000 0.000 16,50.000 0.000-16,-49.000 0.000 15,49.000 0.000-15,-25.000 0.000 16,-24.000 0.000-16,49.000 0.000 16,0.000 0.000-16,0.000 0.000 15,0.000 0.000-15,0.000 0.000 16,0.000 0.000-16,0.000 0.000 16,0.000 0.000-16,-50.000 0.000 15,50.000 0.000-15,0.000 0.000 16,0.000 0.000-16,0.000 0.000 15,0.000 0.000-15,50.000 0.000 16,-50.000 0.000-16,-1.000 0.000 16,1.000 0.000-16,0.000 0.000 15,0.000 0.000-15,-49.000 0.000 16,49.000 0.000-16,0.000 0.000 16,-25.000 0.000-16,-24.000 0.000 15,49.000 0.000 1,-49.000 0.000-16,49.000 0.000 15,-50.000 0.000-15,50.000 0.000 16,50.000 0.000-16,-50.000 0.000 16,49.000 0.000-16,25.000 0.000 15,-25.000 0.000-15,74.000 0.000 16,-123.000 0.000-16,50.000 0.000 16,24.000 0.000-16,49.000 0.000 15,-98.000 0.000-15,73.000 0.000 16,-48.000 0.000-16,-51.000 0.000 15,1.000 0.000-15,-49.000 0.000 16,24.000 0.000 0,-24.000 0.000-16,49.000 0.000 15,-49.000 0.000 1,-1.000 0.000-16,26.000 0.000 16,24.000 0.000-16,0.000 49.000 15,0.000-49.000-15,0.000 50.000 16,-50.000-50.000-16,50.000 0.000 15,-24.000 0.000-15,24.000 0.000 16,-50.000 0.000 0,1.000 0.000-16,24.000 0.000 15,-24.000 24.000 1,49.000-24.000 0,-25.000 0.000-1,-24.000 0.000-15,24.000 0.000 16,-24.000 0.000-16,49.000 0.000 15,0.000 0.000-15,0.000 0.000 16,-50.000 0.000-16,100.000 0.000 16,-75.000 0.000-16,25.000 0.000 15,0.000 0.000-15,0.000 0.000 16,0.000 0.000-16,-49.000 0.000 16,49.000 0.000-16,0.000 0.000 15,-50.000 0.000-15,50.000 0.000 16,-49.000 0.000-16,49.000 0.000 15,-25.000 0.000-15,-24.000 0.000 16,0.000 0.000-16,49.000 0.000 16,-50.000 0.000-16,25.000 0.000 15,-24.000 0.000-15,0.000 0.000 16,24.000 0.000-16,25.000 0.000 16,0.000 0.000-1,-49.000 0.000-15,-1.000 0.000 16,50.000 0.000-16,-49.000 0.000 15,24.000 0.000 1,-24.000 0.000 0,0.000 0.000-1,24.000 0.000-15,-24.000 0.000 16,-1.000 0.000 0,50.000 0.000-16,-49.000 0.000 15,24.000 0.000-15,25.000 0.000 16,-49.000 0.000-16,49.000 0.000 15,-49.000 0.000-15,24.000 0.000 16,25.000 0.000-16,-49.000 0.000 16,49.000 0.000-16,-50.000 0.000 15,50.000 0.000-15,-49.000 0.000 16,49.000 0.000-16,0.000 0.000 16,-25.000 0.000-16,25.000 0.000 15,-49.000 0.000-15,-1.000 0.000 16,1.000 0.000-16,24.000 0.000 15,-24.000 0.000-15,49.000 0.000 16,-49.000 0.000-16,49.000 0.000 16,-25.000 0.000-16,-24.000 0.000 15,-1.000-49.000-15,26.000 49.000 16,-26.000 0.000-16,1.000 0.000 31,0.000 0.000-31,24.000 0.000 31,-24.000 0.000-15,-1.000-25.000 0,1.000 25.000-16,0.000 0.000 15,24.000 0.000 17,-24.000 0.000-17,-1.000 0.000 1,26.000 0.000-16,-26.000 0.000 15,1.000 0.000 1,0.000 0.000 15,-1.000 0.000-15,1.000-24.000 0,-1.000 24.000-1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40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0.000 115.000 0,'99.000'0.000'141,"49.000"-24.000"-141,-25.000 24.000 15,74.000-50.000-15,0.000 50.000 16,1.000 0.000-16,-26.000 0.000 15,1.000 0.000-15,-50.000 0.000 16,25.000 0.000 0,-24.000 0.000-16,-50.000 0.000 15,49.000 0.000-15,-74.000 0.000 16,0.000 0.000-16,25.000 0.000 16,-74.000-24.000-16,25.000 24.000 15,24.000 0.000-15,-24.000 0.000 16,49.000 0.000-16,-49.000 0.000 15,-1.000 0.000-15,50.000 0.000 16,-24.000 0.000-16,-26.000 0.000 16,1.000 0.000-16,24.000 0.000 15,-24.000 0.000-15,0.000 0.000 16,-1.000 0.000-16,26.000 0.000 16,-26.000 0.000-16,1.000 0.000 15,24.000 0.000-15,-24.000 0.000 16,0.000 0.000-1,-1.000 0.000 32,50.000 0.000-31,-24.000 0.000-16,-26.000 0.000 16,50.000 0.000-1,-49.000 0.000-15,0.000 0.000 0,24.000 0.000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4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0.000 0,'49.000'0.000'125,"50.000"0.000"-125,49.000 0.000 16,-25.000 0.000-16,-49.000 0.000 16,0.000 0.000-1,0.000 0.000-15,0.000 0.000 16,-49.000 0.000-16,-1.000 0.000 16,26.000 0.000-16,-26.000 0.000 15,1.000 0.000 1,0.000 0.000-16,24.000 0.000 15,-24.000 0.000 1,-1.000 0.000-16,50.000 0.000 16,-24.000 0.000-16,-1.000 0.000 15,0.000 0.000-15,25.000 0.000 16,-49.000 0.000-16,49.000 0.000 16,-50.000 0.000-1,26.000 0.000 1,-26.000 0.000-16,50.000 0.000 15,-49.000 0.000-15,0.000 0.000 16,24.000 0.000-16,-24.000 0.000 16,-1.000 0.000-16,26.000 0.000 15,-26.000 0.000-15,1.000 0.000 32,0.000 0.000 14,24.000 0.000-30,-24.000 0.000 0,-1.000 0.000-16,26.000 0.000 15,-26.000 0.000-15,26.000 0.000 16,-26.000 0.000 31,1.000 0.000-47,0.000 0.000 15,-1.000 0.000 1,26.000 0.000-16,-26.000 0.000 16,1.000 0.000-16,0.000 0.000 15,24.000 0.000 17,-24.000 0.000-17,-1.000 0.000 1,1.000 0.000-1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45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31.000 0,'24.000'-25.000'125,"50.000"25.000"-109,50.000 0.000-16,23.000 0.000 16,-73.000 0.000-16,50.000 0.000 15,-50.000 0.000-15,-50.000 0.000 16,50.000 0.000-16,-49.000 0.000 15,0.000 0.000-15,24.000 0.000 16,-24.000 0.000-16,49.000 0.000 16,-50.000 0.000-16,50.000 0.000 15,50.000 0.000 1,-50.000 0.000-16,49.000 0.000 0,-49.000 0.000 16,0.000 0.000-16,0.000 0.000 15,-25.000 0.000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49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0.000 0,'50.000'24.000'110,"-50.000"1.000"-95,0.000 0.000 1,24.000-25.000-16,-24.000 24.000 31,0.000 1.000-15,25.000 0.000-1,0.000-1.000 1,-1.000 26.000 31,1.000-50.000-32,0.000 24.000 1,49.000 1.000 15,-74.000 24.000 79,49.000-24.000-63,-24.000-25.000-16,-1.000 49.000 16,26.000-24.000-16,-26.000 0.000 47,1.000-25.000-62,24.000 49.000-16,-24.000-49.000 15,0.000 0.000 79,24.000 0.000-94,-24.000 0.000 16,-1.000 0.000-1,26.000 24.000-15,-26.000-24.000 16,1.000 0.000 0,49.000 0.000-16,-25.000 0.000 15,0.000 0.000-15,25.000 0.000 16,0.000 0.000-16,-24.000 0.000 15,24.000 0.000-15,-50.000 0.000 16,26.000 0.000-16,-26.000 0.000 16,1.000 0.000-16,0.000 0.000 15,24.000 0.000-15,-24.000 0.000 16,-1.000 0.000 0,1.000 0.000-16,24.000 0.000 15,-24.000 0.000-15,49.000 0.000 16,0.000 0.000-16,0.000 0.000 15,0.000 0.000-15,-49.000 0.000 16,49.000 0.000 0,0.000 0.000-16,-50.000 0.000 15,1.000 0.000-15,24.000 0.000 16,-24.000 0.000 0,-1.000 0.000 15,50.000 0.000-16,-24.000 0.000-15,-26.000 0.000 16,1.000 0.000-16,0.000 0.000 16,49.000 0.000-16,0.000 0.000 15,-25.000 0.000-15,25.000 0.000 16,0.000 0.000-16,49.000 0.000 16,-98.000 0.000-16,74.000 0.000 15,-1.000 0.000-15,-73.000 0.000 16,24.000 0.000-16,-24.000 0.000 15,0.000 0.000-15,49.000 0.000 16,-25.000 0.000-16,25.000 0.000 16,-50.000 0.000-16,26.000 0.000 15,-1.000 0.000-15,50.000 0.000 16,-50.000 0.000-16,25.000-24.000 16,-25.000-1.000-1,-24.000 25.000-15,0.000 0.000 0,24.000-24.000 16,-24.000 24.000-1,-1.000 0.000-15,50.000 0.000 16,-24.000-25.000-16,-26.000 25.000 16,50.000 0.000-16,-49.000 0.000 15,49.000 0.000-15,-49.000 0.000 16,49.000 0.000-16,-50.000 0.000 16,26.000-49.000-16,-1.000 49.000 15,0.000 0.000 1,-24.000-25.000-16,0.000 25.000 15,24.000 0.000-15,-25.000 0.000 16,1.000 0.000-16,0.000 0.000 16,49.000 0.000-16,-25.000 0.000 15,0.000-49.000 1,-24.000 49.000 0,0.000 0.000 46,-1.000 0.000-62,1.000 0.000 31,24.000-25.000 1,-24.000 25.000-1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40.25157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1-04-10T07:24:52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0.000 81.000 0,'25.000'0.000'141,"49.000"0.000"-126,0.000 0.000-15,0.000 0.000 16,0.000 0.000-16,0.000 0.000 16,-49.000 0.000-16,-1.000 0.000 15,26.000 0.000-15,-26.000 0.000 16,1.000 0.000-16,49.000 0.000 15,-25.000 0.000-15,-24.000 0.000 16,49.000 0.000-16,0.000 0.000 16,0.000 0.000-1,0.000 0.000-15,-49.000 0.000 16,49.000 0.000-16,-50.000 0.000 16,26.000 0.000-16,-26.000 0.000 15,1.000 0.000 1,-1.000 0.000-16,26.000 0.000 15,-26.000 0.000-15,1.000 0.000 16,49.000 0.000-16,-25.000 0.000 16,-24.000 0.000-16,49.000 0.000 15,-49.000 0.000-15,-1.000 0.000 16,50.000 0.000-16,-24.000 0.000 16,24.000 0.000-16,-50.000 0.000 15,50.000 0.000-15,-49.000 0.000 16,0.000 0.000-16,24.000 0.000 15,-24.000 0.000-15,-1.000 0.000 16,26.000 0.000 15,-26.000 0.000-15,1.000 0.000-16,0.000 0.000 16,-1.000 0.000-1,26.000 0.000 1,-26.000 0.000-1,50.000 0.000-15,-49.000 0.000 16,24.000 0.000-16,25.000 0.000 16,0.000 0.000-16,-49.000 0.000 15,49.000 0.000-15,-50.000 0.000 16,26.000 0.000-16,-26.000 0.000 16,1.000 0.000-16,0.000 0.000 15,24.000 0.000-15,-24.000 0.000 16,49.000 0.000-16,0.000 0.000 15,-50.000 0.000-15,50.000-49.000 16,-24.000 49.000-16,-26.000 0.000 16,1.000 0.000-1,24.000 0.000 1,-24.000 0.000 0,0.000 0.000-1,-1.000 0.000-15,26.000 0.000 16,-26.000 0.000-16,1.000 0.000 15,24.000 0.000 1,-24.000 0.000 0,0.000 0.000-1,-1.000 0.000-15,26.000 0.000 16,-26.000 0.000 0,1.000 0.000-16,0.000 0.000 15,48.000 0.000-15,-23.000 0.000 16,-26.000 0.000-1,1.000 0.000 64,24.000 0.000 30,25.000 0.000-47,-49.000 0.000-62,49.000 0.000 16,-49.000 0.000 0,-1.000 0.000-16,50.000 0.000 15,-49.000 0.000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52261033-A2DE-4296-ACE7-F62781F3AB3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3D1E3-BC8B-459A-91D8-C9C9D76C810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70407-AF80-42EE-9E88-096AED7EDE6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773238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0425" y="1773238"/>
            <a:ext cx="4194175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36604-16F5-4F2E-B2C1-D315E85778F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A95823-63E7-4D39-BEAE-D36D7F9D0E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D8770-DC68-4CDE-80BE-822D3F37CAE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B8EB0-C484-4988-B5B9-DAAF3FACE3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547E9-9E2F-47E1-898F-576B3C395FE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AE90E-9424-4417-A975-B125D1974E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A4FD4-0D3F-421F-8F6C-24ED616F281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139950" cy="5662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381000"/>
            <a:ext cx="6270625" cy="5662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7B672-4883-4B2F-9D8F-570AA4EFAA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268601" y="2001612"/>
            <a:ext cx="4548135" cy="2641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36648" y="5609842"/>
            <a:ext cx="4416552" cy="3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155191" y="4404359"/>
            <a:ext cx="6330696" cy="1289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1714500" y="4277867"/>
            <a:ext cx="5248656" cy="819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1790700" y="4887467"/>
            <a:ext cx="2266188" cy="819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3389376" y="4887467"/>
            <a:ext cx="822960" cy="8199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3544823" y="4887467"/>
            <a:ext cx="3459479" cy="8199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6336791" y="4887467"/>
            <a:ext cx="781812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81062" y="1743075"/>
            <a:ext cx="7486650" cy="3438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>
            <a:biLevel thresh="25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3810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339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23850" y="1773238"/>
            <a:ext cx="854075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1722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E812606-264D-404D-95EA-FC494B19EC9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>
        <p:tmplLst>
          <p:tmpl lvl="1">
            <p:tnLst>
              <p:par>
                <p:cTn presetID="14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3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433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168" y="355853"/>
            <a:ext cx="41509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81829" y="1389588"/>
            <a:ext cx="4674870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267" y="285699"/>
            <a:ext cx="369570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168" y="1787397"/>
            <a:ext cx="5214620" cy="24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.jpe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7.png"/><Relationship Id="rId2" Type="http://schemas.openxmlformats.org/officeDocument/2006/relationships/tags" Target="../tags/tag4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22.png"/><Relationship Id="rId7" Type="http://schemas.openxmlformats.org/officeDocument/2006/relationships/image" Target="../media/image9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em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9.png"/><Relationship Id="rId2" Type="http://schemas.openxmlformats.org/officeDocument/2006/relationships/tags" Target="../tags/tag5.xml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6.png"/><Relationship Id="rId3" Type="http://schemas.openxmlformats.org/officeDocument/2006/relationships/customXml" Target="../ink/ink1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customXml" Target="../ink/ink5.xml"/><Relationship Id="rId7" Type="http://schemas.openxmlformats.org/officeDocument/2006/relationships/image" Target="../media/image119.png"/><Relationship Id="rId6" Type="http://schemas.openxmlformats.org/officeDocument/2006/relationships/customXml" Target="../ink/ink4.xml"/><Relationship Id="rId5" Type="http://schemas.openxmlformats.org/officeDocument/2006/relationships/image" Target="../media/image118.png"/><Relationship Id="rId4" Type="http://schemas.openxmlformats.org/officeDocument/2006/relationships/customXml" Target="../ink/ink3.xml"/><Relationship Id="rId3" Type="http://schemas.openxmlformats.org/officeDocument/2006/relationships/image" Target="../media/image117.png"/><Relationship Id="rId2" Type="http://schemas.openxmlformats.org/officeDocument/2006/relationships/customXml" Target="../ink/ink2.x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124.png"/><Relationship Id="rId16" Type="http://schemas.openxmlformats.org/officeDocument/2006/relationships/customXml" Target="../ink/ink9.xml"/><Relationship Id="rId15" Type="http://schemas.openxmlformats.org/officeDocument/2006/relationships/image" Target="../media/image123.png"/><Relationship Id="rId14" Type="http://schemas.openxmlformats.org/officeDocument/2006/relationships/customXml" Target="../ink/ink8.xml"/><Relationship Id="rId13" Type="http://schemas.openxmlformats.org/officeDocument/2006/relationships/image" Target="../media/image122.png"/><Relationship Id="rId12" Type="http://schemas.openxmlformats.org/officeDocument/2006/relationships/customXml" Target="../ink/ink7.xml"/><Relationship Id="rId11" Type="http://schemas.openxmlformats.org/officeDocument/2006/relationships/image" Target="../media/image121.png"/><Relationship Id="rId10" Type="http://schemas.openxmlformats.org/officeDocument/2006/relationships/customXml" Target="../ink/ink6.xml"/><Relationship Id="rId1" Type="http://schemas.openxmlformats.org/officeDocument/2006/relationships/image" Target="../media/image116.png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jpeg"/><Relationship Id="rId8" Type="http://schemas.openxmlformats.org/officeDocument/2006/relationships/image" Target="../media/image132.png"/><Relationship Id="rId7" Type="http://schemas.openxmlformats.org/officeDocument/2006/relationships/image" Target="../media/image131.png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0" Type="http://schemas.openxmlformats.org/officeDocument/2006/relationships/slideLayout" Target="../slideLayouts/slideLayout20.xml"/><Relationship Id="rId1" Type="http://schemas.openxmlformats.org/officeDocument/2006/relationships/image" Target="../media/image125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37.jpeg"/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image" Target="../media/image134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3.jpeg"/><Relationship Id="rId1" Type="http://schemas.openxmlformats.org/officeDocument/2006/relationships/image" Target="../media/image138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9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0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44.jpeg"/><Relationship Id="rId3" Type="http://schemas.openxmlformats.org/officeDocument/2006/relationships/image" Target="../media/image143.png"/><Relationship Id="rId2" Type="http://schemas.openxmlformats.org/officeDocument/2006/relationships/image" Target="../media/image142.jpeg"/><Relationship Id="rId1" Type="http://schemas.openxmlformats.org/officeDocument/2006/relationships/image" Target="../media/image141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6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7.jpe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50.jpeg"/><Relationship Id="rId2" Type="http://schemas.openxmlformats.org/officeDocument/2006/relationships/image" Target="../media/image149.jpeg"/><Relationship Id="rId1" Type="http://schemas.openxmlformats.org/officeDocument/2006/relationships/image" Target="../media/image148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51.jpe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54.jpe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95605" y="1484630"/>
            <a:ext cx="8439150" cy="2437765"/>
          </a:xfrm>
        </p:spPr>
        <p:txBody>
          <a:bodyPr/>
          <a:lstStyle/>
          <a:p>
            <a:pPr eaLnBrk="1" hangingPunct="1"/>
            <a:br>
              <a:rPr lang="zh-CN" altLang="en-US" sz="6000">
                <a:solidFill>
                  <a:schemeClr val="hlink"/>
                </a:solidFill>
              </a:rPr>
            </a:br>
            <a:endParaRPr lang="en-US" altLang="zh-CN" sz="3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89230"/>
            <a:ext cx="8115300" cy="1549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79295" y="1988820"/>
            <a:ext cx="3992245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eaLnBrk="1" hangingPunct="1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3.4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锂离子电池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95830" y="3357245"/>
            <a:ext cx="546544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3.4.1锂电池到锂离子电池</a:t>
            </a:r>
            <a:endParaRPr lang="zh-CN" altLang="en-US" sz="2400"/>
          </a:p>
          <a:p>
            <a:r>
              <a:rPr lang="zh-CN" altLang="en-US" sz="2400"/>
              <a:t>3.4.2锂离子电池的正极材料</a:t>
            </a:r>
            <a:endParaRPr lang="zh-CN" altLang="en-US" sz="2400"/>
          </a:p>
          <a:p>
            <a:r>
              <a:rPr lang="zh-CN" altLang="en-US" sz="2400"/>
              <a:t>3.4.3 锂离子电池负极材料</a:t>
            </a:r>
            <a:endParaRPr lang="zh-CN" altLang="en-US" sz="2400"/>
          </a:p>
          <a:p>
            <a:r>
              <a:rPr lang="zh-CN" altLang="en-US" sz="2400"/>
              <a:t>3.4.4 锂离子电池的电解液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3.4.</a:t>
            </a:r>
            <a:r>
              <a:rPr lang="en-US" altLang="zh-CN" sz="2400">
                <a:sym typeface="+mn-ea"/>
              </a:rPr>
              <a:t>5 </a:t>
            </a:r>
            <a:r>
              <a:rPr lang="zh-CN" altLang="en-US" sz="2400">
                <a:sym typeface="+mn-ea"/>
              </a:rPr>
              <a:t>隔膜</a:t>
            </a:r>
            <a:endParaRPr lang="zh-CN" altLang="en-US" sz="2400">
              <a:sym typeface="+mn-ea"/>
            </a:endParaRPr>
          </a:p>
          <a:p>
            <a:r>
              <a:rPr lang="en-US" altLang="zh-CN" sz="2400">
                <a:sym typeface="+mn-ea"/>
              </a:rPr>
              <a:t>3.4.6 </a:t>
            </a:r>
            <a:r>
              <a:rPr lang="zh-CN" altLang="en-US" sz="2400">
                <a:sym typeface="+mn-ea"/>
              </a:rPr>
              <a:t>全固态锂电池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Rot="1" noChangeArrowheads="1"/>
          </p:cNvSpPr>
          <p:nvPr/>
        </p:nvSpPr>
        <p:spPr bwMode="auto">
          <a:xfrm>
            <a:off x="330200" y="114300"/>
            <a:ext cx="8540750" cy="723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3.4       </a:t>
            </a:r>
            <a:r>
              <a:rPr lang="zh-CN" altLang="en-US" sz="4000" dirty="0">
                <a:solidFill>
                  <a:schemeClr val="tx1"/>
                </a:solidFill>
              </a:rPr>
              <a:t>锂离子电池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011168" y="1185799"/>
            <a:ext cx="4605528" cy="2307336"/>
            <a:chOff x="341" y="6032"/>
            <a:chExt cx="7253" cy="3634"/>
          </a:xfrm>
        </p:grpSpPr>
        <p:sp>
          <p:nvSpPr>
            <p:cNvPr id="19" name="object 9"/>
            <p:cNvSpPr/>
            <p:nvPr/>
          </p:nvSpPr>
          <p:spPr>
            <a:xfrm>
              <a:off x="4512" y="6390"/>
              <a:ext cx="3082" cy="256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0"/>
            <p:cNvSpPr/>
            <p:nvPr/>
          </p:nvSpPr>
          <p:spPr>
            <a:xfrm>
              <a:off x="341" y="6032"/>
              <a:ext cx="3770" cy="292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1"/>
            <p:cNvSpPr txBox="1"/>
            <p:nvPr/>
          </p:nvSpPr>
          <p:spPr>
            <a:xfrm>
              <a:off x="657" y="9172"/>
              <a:ext cx="6090" cy="494"/>
            </a:xfrm>
            <a:prstGeom prst="rect">
              <a:avLst/>
            </a:prstGeom>
            <a:solidFill>
              <a:srgbClr val="5B9BD4"/>
            </a:solidFill>
          </p:spPr>
          <p:txBody>
            <a:bodyPr vert="horz" wrap="square" lIns="0" tIns="36830" rIns="0" bIns="0" rtlCol="0">
              <a:spAutoFit/>
            </a:bodyPr>
            <a:lstStyle/>
            <a:p>
              <a:pPr marL="593090">
                <a:lnSpc>
                  <a:spcPct val="100000"/>
                </a:lnSpc>
                <a:spcBef>
                  <a:spcPts val="290"/>
                </a:spcBef>
              </a:pPr>
              <a:r>
                <a:rPr sz="180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电动汽车和自行车</a:t>
              </a:r>
              <a:r>
                <a:rPr lang="zh-CN" sz="180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：动力电池</a:t>
              </a:r>
              <a:endParaRPr lang="zh-CN"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7190" y="1664970"/>
            <a:ext cx="2648585" cy="4081834"/>
            <a:chOff x="9466" y="2129"/>
            <a:chExt cx="5902" cy="7689"/>
          </a:xfrm>
        </p:grpSpPr>
        <p:sp>
          <p:nvSpPr>
            <p:cNvPr id="17" name="object 7"/>
            <p:cNvSpPr/>
            <p:nvPr/>
          </p:nvSpPr>
          <p:spPr>
            <a:xfrm>
              <a:off x="12864" y="2129"/>
              <a:ext cx="2247" cy="288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8"/>
            <p:cNvSpPr/>
            <p:nvPr/>
          </p:nvSpPr>
          <p:spPr>
            <a:xfrm>
              <a:off x="10149" y="2225"/>
              <a:ext cx="1742" cy="2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12"/>
            <p:cNvSpPr/>
            <p:nvPr/>
          </p:nvSpPr>
          <p:spPr>
            <a:xfrm>
              <a:off x="13196" y="5224"/>
              <a:ext cx="2171" cy="27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13"/>
            <p:cNvSpPr/>
            <p:nvPr/>
          </p:nvSpPr>
          <p:spPr>
            <a:xfrm>
              <a:off x="9466" y="5224"/>
              <a:ext cx="2834" cy="292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14"/>
            <p:cNvSpPr txBox="1"/>
            <p:nvPr/>
          </p:nvSpPr>
          <p:spPr>
            <a:xfrm>
              <a:off x="10309" y="8706"/>
              <a:ext cx="3700" cy="1112"/>
            </a:xfrm>
            <a:prstGeom prst="rect">
              <a:avLst/>
            </a:prstGeom>
            <a:solidFill>
              <a:srgbClr val="5B9BD4"/>
            </a:solidFill>
          </p:spPr>
          <p:txBody>
            <a:bodyPr vert="horz" wrap="square" lIns="0" tIns="36830" rIns="0" bIns="0" rtlCol="0">
              <a:spAutoFit/>
            </a:bodyPr>
            <a:lstStyle/>
            <a:p>
              <a:pPr marL="0" latinLnBrk="0">
                <a:lnSpc>
                  <a:spcPct val="100000"/>
                </a:lnSpc>
                <a:spcBef>
                  <a:spcPts val="0"/>
                </a:spcBef>
              </a:pPr>
              <a:r>
                <a:rPr sz="180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便携式电子产品</a:t>
              </a:r>
              <a:r>
                <a:rPr lang="zh-CN" sz="180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：消费电池</a:t>
              </a:r>
              <a:endParaRPr lang="zh-CN"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object 4"/>
          <p:cNvSpPr/>
          <p:nvPr/>
        </p:nvSpPr>
        <p:spPr>
          <a:xfrm>
            <a:off x="4001649" y="4149724"/>
            <a:ext cx="2274253" cy="19049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33" name="object 5"/>
          <p:cNvSpPr/>
          <p:nvPr/>
        </p:nvSpPr>
        <p:spPr>
          <a:xfrm>
            <a:off x="6299937" y="4149724"/>
            <a:ext cx="2275710" cy="19049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34" name="object 6"/>
          <p:cNvSpPr txBox="1"/>
          <p:nvPr/>
        </p:nvSpPr>
        <p:spPr>
          <a:xfrm>
            <a:off x="4357977" y="6158589"/>
            <a:ext cx="3810454" cy="312223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35560" rIns="0" bIns="0" rtlCol="0">
            <a:spAutoFit/>
          </a:bodyPr>
          <a:p>
            <a:pPr marL="211455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新能源发电：大规模储能</a:t>
            </a:r>
            <a:r>
              <a:rPr lang="zh-CN" sz="18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电池</a:t>
            </a:r>
            <a:endParaRPr lang="zh-CN" sz="1800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/>
          <p:nvPr/>
        </p:nvSpPr>
        <p:spPr>
          <a:xfrm>
            <a:off x="407289" y="508254"/>
            <a:ext cx="1552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锂元素</a:t>
            </a:r>
            <a:endParaRPr sz="4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472757" y="1346200"/>
            <a:ext cx="1439799" cy="14397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graphicFrame>
        <p:nvGraphicFramePr>
          <p:cNvPr id="6" name="object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340292" y="1197292"/>
          <a:ext cx="6110605" cy="238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3390"/>
                <a:gridCol w="3103244"/>
              </a:tblGrid>
              <a:tr h="741045">
                <a:tc gridSpan="2"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800" b="1" spc="5" dirty="0">
                          <a:solidFill>
                            <a:srgbClr val="FFFFFF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锂的性质</a:t>
                      </a:r>
                      <a:endParaRPr sz="2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75260" marB="0">
                    <a:lnL w="9525">
                      <a:solidFill>
                        <a:srgbClr val="46AAC5"/>
                      </a:solidFill>
                      <a:prstDash val="solid"/>
                    </a:lnL>
                    <a:lnR w="9525">
                      <a:solidFill>
                        <a:srgbClr val="46AAC5"/>
                      </a:solidFill>
                      <a:prstDash val="solid"/>
                    </a:lnR>
                    <a:solidFill>
                      <a:srgbClr val="4AACC5"/>
                    </a:solidFill>
                  </a:tcPr>
                </a:tc>
                <a:tc hMerge="1">
                  <a:tcPr marL="0" marR="0" marT="0" marB="0"/>
                </a:tc>
              </a:tr>
              <a:tr h="543877">
                <a:tc>
                  <a:txBody>
                    <a:bodyPr/>
                    <a:p>
                      <a:pPr marL="53975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0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理论比容量</a:t>
                      </a:r>
                      <a:endParaRPr sz="20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46AAC5"/>
                      </a:solidFill>
                      <a:prstDash val="solid"/>
                    </a:lnL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588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000" b="1" spc="5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3860</a:t>
                      </a:r>
                      <a:r>
                        <a:rPr sz="2000" b="1" spc="45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mAh/g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0175" marB="0">
                    <a:lnR w="9525">
                      <a:solidFill>
                        <a:srgbClr val="46AAC5"/>
                      </a:solidFill>
                      <a:prstDash val="solid"/>
                    </a:lnR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</a:tr>
              <a:tr h="548639">
                <a:tc>
                  <a:txBody>
                    <a:bodyPr/>
                    <a:p>
                      <a:pPr marL="55880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标准电极电位</a:t>
                      </a:r>
                      <a:endParaRPr sz="20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46AAC5"/>
                      </a:solidFill>
                      <a:prstDash val="solid"/>
                    </a:lnL>
                    <a:lnT w="9525">
                      <a:solidFill>
                        <a:srgbClr val="46AAC5"/>
                      </a:solidFill>
                      <a:prstDash val="solid"/>
                    </a:lnT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524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-3.045V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vs</a:t>
                      </a:r>
                      <a:r>
                        <a:rPr sz="2000" b="1" spc="-100" dirty="0">
                          <a:solidFill>
                            <a:srgbClr val="001F5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SHE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5255" marB="0">
                    <a:lnR w="9525">
                      <a:solidFill>
                        <a:srgbClr val="46AAC5"/>
                      </a:solidFill>
                      <a:prstDash val="solid"/>
                    </a:lnR>
                    <a:lnT w="9525">
                      <a:solidFill>
                        <a:srgbClr val="46AAC5"/>
                      </a:solidFill>
                      <a:prstDash val="solid"/>
                    </a:lnT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</a:tr>
              <a:tr h="548639">
                <a:tc>
                  <a:txBody>
                    <a:bodyPr/>
                    <a:p>
                      <a:pPr marL="54610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密度</a:t>
                      </a:r>
                      <a:endParaRPr sz="20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46AAC5"/>
                      </a:solidFill>
                      <a:prstDash val="solid"/>
                    </a:lnL>
                    <a:lnT w="9525">
                      <a:solidFill>
                        <a:srgbClr val="46AAC5"/>
                      </a:solidFill>
                      <a:prstDash val="solid"/>
                    </a:lnT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99160">
                        <a:lnSpc>
                          <a:spcPct val="100000"/>
                        </a:lnSpc>
                        <a:spcBef>
                          <a:spcPts val="1065"/>
                        </a:spcBef>
                        <a:tabLst>
                          <a:tab pos="1659255" algn="l"/>
                        </a:tabLst>
                      </a:pPr>
                      <a:r>
                        <a:rPr sz="20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0.534	</a:t>
                      </a:r>
                      <a:r>
                        <a:rPr sz="2000" b="1" spc="5" dirty="0">
                          <a:solidFill>
                            <a:srgbClr val="001F5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g/cm³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5255" marB="0">
                    <a:lnR w="9525">
                      <a:solidFill>
                        <a:srgbClr val="46AAC5"/>
                      </a:solidFill>
                      <a:prstDash val="solid"/>
                    </a:lnR>
                    <a:lnT w="9525">
                      <a:solidFill>
                        <a:srgbClr val="46AAC5"/>
                      </a:solidFill>
                      <a:prstDash val="solid"/>
                    </a:lnT>
                    <a:lnB w="9525">
                      <a:solidFill>
                        <a:srgbClr val="46AA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23440" y="4725035"/>
            <a:ext cx="5121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0">
                <a:solidFill>
                  <a:schemeClr val="tx1"/>
                </a:solidFill>
              </a:rPr>
              <a:t>锂金属被誉为负极材料的</a:t>
            </a:r>
            <a:r>
              <a:rPr lang="en-US" altLang="zh-CN" sz="2800" b="0">
                <a:solidFill>
                  <a:schemeClr val="tx1"/>
                </a:solidFill>
              </a:rPr>
              <a:t>“</a:t>
            </a:r>
            <a:r>
              <a:rPr lang="zh-CN" altLang="en-US" sz="2800" b="0">
                <a:solidFill>
                  <a:schemeClr val="tx1"/>
                </a:solidFill>
              </a:rPr>
              <a:t>圣杯</a:t>
            </a:r>
            <a:r>
              <a:rPr lang="en-US" altLang="zh-CN" sz="2800" b="0">
                <a:solidFill>
                  <a:schemeClr val="tx1"/>
                </a:solidFill>
              </a:rPr>
              <a:t>”</a:t>
            </a:r>
            <a:endParaRPr lang="en-US" altLang="zh-CN" sz="2800" b="0">
              <a:solidFill>
                <a:schemeClr val="tx1"/>
              </a:solidFill>
            </a:endParaRPr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395288" y="1196340"/>
            <a:ext cx="8239124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/>
          <p:nvPr/>
        </p:nvSpPr>
        <p:spPr>
          <a:xfrm>
            <a:off x="2017395" y="4445000"/>
            <a:ext cx="6122035" cy="119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ts val="4610"/>
              </a:lnSpc>
              <a:spcBef>
                <a:spcPts val="95"/>
              </a:spcBef>
            </a:pPr>
            <a:r>
              <a:rPr sz="4000" b="1" spc="5" dirty="0">
                <a:solidFill>
                  <a:srgbClr val="92D05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锂电池到锂离子电池</a:t>
            </a:r>
            <a:endParaRPr sz="4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88900">
              <a:lnSpc>
                <a:spcPts val="4610"/>
              </a:lnSpc>
            </a:pPr>
            <a:r>
              <a:rPr sz="4000" b="1" spc="-5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Lithium-ion</a:t>
            </a:r>
            <a:r>
              <a:rPr sz="4000" b="1" spc="-35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20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Batteries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2386583" y="649223"/>
            <a:ext cx="3666744" cy="3314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547370" y="417830"/>
            <a:ext cx="345503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金属锂原电池</a:t>
            </a:r>
            <a:endParaRPr spc="5" dirty="0"/>
          </a:p>
        </p:txBody>
      </p:sp>
      <p:sp>
        <p:nvSpPr>
          <p:cNvPr id="5" name="object 3"/>
          <p:cNvSpPr txBox="1"/>
          <p:nvPr/>
        </p:nvSpPr>
        <p:spPr>
          <a:xfrm>
            <a:off x="1266571" y="1215009"/>
            <a:ext cx="1808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锂一次电池</a:t>
            </a:r>
            <a:endParaRPr sz="2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63016" y="1821515"/>
            <a:ext cx="7801609" cy="9804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p>
            <a:pPr marL="467995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锂一次电池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(primary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lithium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battery)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以金属锂为负极，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金属氧化物或其他固体、液体氧化剂为正极活性物</a:t>
            </a:r>
            <a:r>
              <a:rPr lang="en-US" sz="1800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固体盐类或溶于有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机溶剂的盐类为电解质</a:t>
            </a:r>
            <a:r>
              <a:rPr lang="en-US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en-US" sz="18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object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36142" y="3205207"/>
          <a:ext cx="8034655" cy="2242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/>
                <a:gridCol w="1155700"/>
                <a:gridCol w="2675254"/>
                <a:gridCol w="664845"/>
                <a:gridCol w="2827655"/>
              </a:tblGrid>
              <a:tr h="334010">
                <a:tc>
                  <a:txBody>
                    <a:bodyPr/>
                    <a:p>
                      <a:pPr marR="119380" algn="r">
                        <a:lnSpc>
                          <a:spcPts val="1965"/>
                        </a:lnSpc>
                      </a:pPr>
                      <a:r>
                        <a:rPr sz="1800" b="1" spc="-5" dirty="0">
                          <a:latin typeface="Times New Roman" panose="02020603050405020304"/>
                          <a:cs typeface="Times New Roman" panose="02020603050405020304"/>
                        </a:rPr>
                        <a:t>1973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R="100330" algn="r">
                        <a:lnSpc>
                          <a:spcPts val="1990"/>
                        </a:lnSpc>
                      </a:pPr>
                      <a:r>
                        <a:rPr sz="18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松下公司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07950">
                        <a:lnSpc>
                          <a:spcPts val="1990"/>
                        </a:lnSpc>
                      </a:pPr>
                      <a:r>
                        <a:rPr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</a:t>
                      </a:r>
                      <a:r>
                        <a:rPr lang="en-US"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-</a:t>
                      </a:r>
                      <a:r>
                        <a:rPr lang="zh-CN"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聚</a:t>
                      </a:r>
                      <a:r>
                        <a:rPr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氟化碳〔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Li/(CF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〕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66675">
                        <a:lnSpc>
                          <a:spcPts val="1990"/>
                        </a:lnSpc>
                      </a:pPr>
                      <a:r>
                        <a:rPr sz="18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电池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507500">
                <a:tc>
                  <a:txBody>
                    <a:bodyPr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5" dirty="0">
                          <a:latin typeface="Times New Roman" panose="02020603050405020304"/>
                          <a:cs typeface="Times New Roman" panose="02020603050405020304"/>
                        </a:rPr>
                        <a:t>1978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p>
                      <a:pPr marR="10033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三洋公司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p>
                      <a:pPr marL="1079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</a:t>
                      </a:r>
                      <a:r>
                        <a:rPr lang="en-US"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-</a:t>
                      </a:r>
                      <a:r>
                        <a:rPr sz="1800" b="1" spc="5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二氧化锰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(Li/MnO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电池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p>
                      <a:pPr marL="1371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5" dirty="0">
                          <a:solidFill>
                            <a:srgbClr val="4AACC5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电子手表、煤气表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5875" marB="0"/>
                </a:tc>
              </a:tr>
              <a:tr h="505744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0795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</a:t>
                      </a:r>
                      <a:r>
                        <a:rPr lang="en-US"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-</a:t>
                      </a: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碘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（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Li/I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）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电池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p>
                      <a:pPr marL="13716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800" b="1" spc="10" dirty="0">
                          <a:solidFill>
                            <a:srgbClr val="4AACC5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心脏起搏器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48590" marB="0"/>
                </a:tc>
              </a:tr>
              <a:tr h="5626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079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</a:t>
                      </a:r>
                      <a:r>
                        <a:rPr lang="en-US"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-</a:t>
                      </a: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二氯亚砜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（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Li/SOCl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）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电池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p>
                      <a:pPr marL="1371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solidFill>
                            <a:srgbClr val="4AACC5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军事目的</a:t>
                      </a:r>
                      <a:r>
                        <a:rPr lang="zh-CN" sz="1800" b="1" spc="10" dirty="0">
                          <a:solidFill>
                            <a:srgbClr val="4AACC5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，</a:t>
                      </a:r>
                      <a:r>
                        <a:rPr lang="en-US" altLang="zh-CN" sz="1800" b="1" spc="10" dirty="0">
                          <a:solidFill>
                            <a:srgbClr val="4AACC5"/>
                          </a:solidFill>
                          <a:latin typeface="+mj-lt"/>
                          <a:cs typeface="+mj-lt"/>
                          <a:sym typeface="+mn-ea"/>
                        </a:rPr>
                        <a:t>500 Wh kg</a:t>
                      </a:r>
                      <a:r>
                        <a:rPr lang="en-US" altLang="zh-CN" sz="1800" b="1" spc="10" baseline="30000" dirty="0">
                          <a:solidFill>
                            <a:srgbClr val="4AACC5"/>
                          </a:solidFill>
                          <a:latin typeface="+mj-lt"/>
                          <a:cs typeface="+mj-lt"/>
                          <a:sym typeface="+mn-ea"/>
                        </a:rPr>
                        <a:t>-1</a:t>
                      </a:r>
                      <a:endParaRPr lang="zh-CN" sz="1800" b="1" spc="10" dirty="0">
                        <a:solidFill>
                          <a:srgbClr val="4AACC5"/>
                        </a:solidFill>
                        <a:latin typeface="+mj-lt"/>
                        <a:cs typeface="+mj-lt"/>
                      </a:endParaRPr>
                    </a:p>
                  </a:txBody>
                  <a:tcPr marL="0" marR="0" marT="13970" marB="0"/>
                </a:tc>
              </a:tr>
              <a:tr h="33233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1079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锂</a:t>
                      </a:r>
                      <a:r>
                        <a:rPr lang="en-US"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-</a:t>
                      </a:r>
                      <a:r>
                        <a:rPr sz="1800" b="1" spc="10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二硫化铁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（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Li/FeS</a:t>
                      </a:r>
                      <a:r>
                        <a:rPr sz="1800" b="1" baseline="-21000" dirty="0">
                          <a:solidFill>
                            <a:srgbClr val="C0504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800" b="1" dirty="0">
                          <a:solidFill>
                            <a:srgbClr val="C0504D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）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电池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p>
                      <a:pPr marL="1371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10" dirty="0">
                          <a:solidFill>
                            <a:srgbClr val="4AACC5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综合性能最好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3970" marB="0"/>
                </a:tc>
              </a:tr>
            </a:tbl>
          </a:graphicData>
        </a:graphic>
      </p:graphicFrame>
      <p:sp>
        <p:nvSpPr>
          <p:cNvPr id="8" name="object 6"/>
          <p:cNvSpPr/>
          <p:nvPr/>
        </p:nvSpPr>
        <p:spPr>
          <a:xfrm>
            <a:off x="395287" y="5446191"/>
            <a:ext cx="1296924" cy="1092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9" name="object 7"/>
          <p:cNvSpPr txBox="1"/>
          <p:nvPr/>
        </p:nvSpPr>
        <p:spPr>
          <a:xfrm>
            <a:off x="1626870" y="6195466"/>
            <a:ext cx="193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亚硫酰氯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二氯亚砜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5363591" y="476885"/>
            <a:ext cx="1295400" cy="1139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  <p:transition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827087" y="1268349"/>
            <a:ext cx="3095625" cy="38893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5" name="object 3"/>
          <p:cNvSpPr txBox="1"/>
          <p:nvPr/>
        </p:nvSpPr>
        <p:spPr>
          <a:xfrm>
            <a:off x="1050442" y="5494426"/>
            <a:ext cx="238125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M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Stanley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Whittingham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796925">
              <a:lnSpc>
                <a:spcPct val="100000"/>
              </a:lnSpc>
              <a:spcBef>
                <a:spcPts val="1080"/>
              </a:spcBef>
              <a:tabLst>
                <a:tab pos="1617980" algn="l"/>
              </a:tabLst>
            </a:pPr>
            <a:r>
              <a:rPr sz="1800" b="1" spc="-30" dirty="0">
                <a:latin typeface="Book Antiqua" panose="02040602050305030304"/>
                <a:cs typeface="Book Antiqua" panose="02040602050305030304"/>
              </a:rPr>
              <a:t>(1941~	</a:t>
            </a:r>
            <a:r>
              <a:rPr sz="1800" b="1" spc="-75" dirty="0">
                <a:latin typeface="Book Antiqua" panose="02040602050305030304"/>
                <a:cs typeface="Book Antiqua" panose="02040602050305030304"/>
              </a:rPr>
              <a:t>)</a:t>
            </a:r>
            <a:endParaRPr sz="18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4283710" y="3788783"/>
            <a:ext cx="4776724" cy="189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323215" y="25400"/>
            <a:ext cx="6917690" cy="99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5" dirty="0"/>
              <a:t>3.4.1 </a:t>
            </a:r>
            <a:r>
              <a:rPr sz="3200" spc="5" dirty="0"/>
              <a:t>锂二次电池的研制</a:t>
            </a:r>
            <a:r>
              <a:rPr lang="zh-CN" sz="3200" spc="5" dirty="0"/>
              <a:t>：</a:t>
            </a:r>
            <a:br>
              <a:rPr lang="zh-CN" sz="3200" spc="5" dirty="0"/>
            </a:br>
            <a:r>
              <a:rPr lang="zh-CN" sz="3200" spc="5" dirty="0"/>
              <a:t>锂金属电池到锂离子电池</a:t>
            </a:r>
            <a:endParaRPr lang="zh-CN" sz="3200" spc="5" dirty="0"/>
          </a:p>
        </p:txBody>
      </p:sp>
      <p:sp>
        <p:nvSpPr>
          <p:cNvPr id="8" name="object 6"/>
          <p:cNvSpPr txBox="1"/>
          <p:nvPr/>
        </p:nvSpPr>
        <p:spPr>
          <a:xfrm>
            <a:off x="5435981" y="5805931"/>
            <a:ext cx="315595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1920">
              <a:lnSpc>
                <a:spcPct val="100000"/>
              </a:lnSpc>
              <a:spcBef>
                <a:spcPts val="100"/>
              </a:spcBef>
              <a:tabLst>
                <a:tab pos="1422400" algn="l"/>
              </a:tabLst>
            </a:pPr>
            <a:r>
              <a:rPr sz="20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嵌入化</a:t>
            </a:r>
            <a:r>
              <a:rPr sz="2000" b="1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学	</a:t>
            </a:r>
            <a:r>
              <a:rPr sz="20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插层化合物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50800">
              <a:lnSpc>
                <a:spcPct val="100000"/>
              </a:lnSpc>
              <a:spcBef>
                <a:spcPts val="1520"/>
              </a:spcBef>
            </a:pPr>
            <a:r>
              <a:rPr sz="2000" b="1" spc="-25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Li/TaS</a:t>
            </a:r>
            <a:r>
              <a:rPr sz="1950" b="1" spc="-37" baseline="-21000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spc="-10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Li/TiS</a:t>
            </a:r>
            <a:r>
              <a:rPr sz="1950" b="1" spc="-15" baseline="-21000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50" b="1" spc="172" baseline="-21000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Li/MoS</a:t>
            </a:r>
            <a:r>
              <a:rPr sz="1950" b="1" baseline="-21000" dirty="0">
                <a:solidFill>
                  <a:srgbClr val="C0504D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1950" baseline="-2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59425" y="648335"/>
            <a:ext cx="19894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锂金属电池</a:t>
            </a:r>
            <a:endParaRPr lang="zh-CN" altLang="en-US" sz="2800" spc="10" dirty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45" y="1341120"/>
            <a:ext cx="2380615" cy="2207895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188595"/>
            <a:ext cx="4973955" cy="3435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9750" y="4365625"/>
            <a:ext cx="283400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锂金属电池</a:t>
            </a: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面临的大问题：</a:t>
            </a:r>
            <a:endParaRPr lang="zh-CN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15510" y="5805170"/>
            <a:ext cx="127190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内短路</a:t>
            </a:r>
            <a:endParaRPr lang="zh-CN" altLang="en-US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08400" y="3789045"/>
            <a:ext cx="34118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锂金属的不均匀沉积</a:t>
            </a:r>
            <a:endParaRPr lang="zh-CN" altLang="en-US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87900" y="4764405"/>
            <a:ext cx="127190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锂枝晶</a:t>
            </a:r>
            <a:endParaRPr lang="zh-CN" altLang="en-US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5292090" y="4293235"/>
            <a:ext cx="287655" cy="4559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/>
        </p:nvSpPr>
        <p:spPr>
          <a:xfrm>
            <a:off x="5292090" y="5295265"/>
            <a:ext cx="287655" cy="4406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68110" y="46532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热失控、爆炸</a:t>
            </a:r>
            <a:endParaRPr lang="zh-CN" altLang="en-US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6" name="下箭头 5"/>
          <p:cNvSpPr/>
          <p:nvPr/>
        </p:nvSpPr>
        <p:spPr>
          <a:xfrm rot="16200000">
            <a:off x="6096000" y="5837555"/>
            <a:ext cx="287655" cy="4559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72225" y="5661025"/>
            <a:ext cx="2548890" cy="965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引燃电解液、</a:t>
            </a:r>
            <a:endParaRPr lang="zh-CN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z="2800" spc="1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charset="-120"/>
                <a:sym typeface="+mn-ea"/>
              </a:rPr>
              <a:t>隔膜融化等</a:t>
            </a:r>
            <a:endParaRPr lang="zh-CN" altLang="en-US" sz="2800" spc="1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charset="-120"/>
              <a:sym typeface="+mn-ea"/>
            </a:endParaRPr>
          </a:p>
        </p:txBody>
      </p:sp>
      <p:sp>
        <p:nvSpPr>
          <p:cNvPr id="11" name="下箭头 10"/>
          <p:cNvSpPr/>
          <p:nvPr/>
        </p:nvSpPr>
        <p:spPr>
          <a:xfrm rot="10800000">
            <a:off x="7236460" y="5197475"/>
            <a:ext cx="287655" cy="4406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83895" y="764540"/>
            <a:ext cx="84105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rgbClr val="0033CC"/>
                </a:solidFill>
              </a:rPr>
              <a:t>摇椅式电池</a:t>
            </a:r>
            <a:r>
              <a:rPr sz="2400" dirty="0">
                <a:solidFill>
                  <a:srgbClr val="0033CC"/>
                </a:solidFill>
              </a:rPr>
              <a:t>（</a:t>
            </a:r>
            <a:r>
              <a:rPr sz="240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Rocking-chair</a:t>
            </a:r>
            <a:r>
              <a:rPr sz="2400" spc="-16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battery</a:t>
            </a:r>
            <a:r>
              <a:rPr sz="2400" spc="5" dirty="0">
                <a:solidFill>
                  <a:srgbClr val="0033CC"/>
                </a:solidFill>
              </a:rPr>
              <a:t>）</a:t>
            </a:r>
            <a:r>
              <a:rPr sz="2400" spc="10" dirty="0">
                <a:solidFill>
                  <a:srgbClr val="0033CC"/>
                </a:solidFill>
              </a:rPr>
              <a:t>设计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147762" y="1268666"/>
            <a:ext cx="6848475" cy="44720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" name="object 4"/>
          <p:cNvSpPr txBox="1"/>
          <p:nvPr/>
        </p:nvSpPr>
        <p:spPr>
          <a:xfrm>
            <a:off x="1050442" y="5638901"/>
            <a:ext cx="7760970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162560" indent="455295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1980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年</a:t>
            </a: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，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800" b="1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Armand</a:t>
            </a: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等人首先提出用嵌锂化合物来代替金属锂负极，并提出“摇椅式电池”的设计。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914650">
              <a:lnSpc>
                <a:spcPct val="100000"/>
              </a:lnSpc>
              <a:spcBef>
                <a:spcPts val="865"/>
              </a:spcBef>
            </a:pPr>
            <a:r>
              <a:rPr sz="1200" b="1" spc="-10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Armand </a:t>
            </a:r>
            <a:r>
              <a:rPr sz="1200" b="1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M B. </a:t>
            </a:r>
            <a:r>
              <a:rPr sz="1200" b="1" spc="-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Materials </a:t>
            </a:r>
            <a:r>
              <a:rPr sz="1200" b="1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200" b="1" spc="-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Advanced Batteries. New </a:t>
            </a:r>
            <a:r>
              <a:rPr sz="1200" b="1" spc="-30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York: </a:t>
            </a:r>
            <a:r>
              <a:rPr sz="1200" b="1" spc="-10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Plenum,</a:t>
            </a:r>
            <a:r>
              <a:rPr sz="1200" b="1" spc="50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1980.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60065" y="116205"/>
            <a:ext cx="19894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锂</a:t>
            </a:r>
            <a:r>
              <a:rPr lang="zh-CN" sz="2800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离子</a:t>
            </a:r>
            <a:r>
              <a:rPr sz="2800" spc="10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sym typeface="+mn-ea"/>
              </a:rPr>
              <a:t>电池</a:t>
            </a:r>
            <a:endParaRPr lang="zh-CN" altLang="en-US" sz="2800" spc="10" dirty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61035" y="513715"/>
            <a:ext cx="5733415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/>
              <a:t>锂电正极材料之父</a:t>
            </a:r>
            <a:endParaRPr sz="4000"/>
          </a:p>
        </p:txBody>
      </p:sp>
      <p:sp>
        <p:nvSpPr>
          <p:cNvPr id="5" name="object 3"/>
          <p:cNvSpPr/>
          <p:nvPr/>
        </p:nvSpPr>
        <p:spPr>
          <a:xfrm>
            <a:off x="785812" y="1571625"/>
            <a:ext cx="3937000" cy="231775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" name="object 4"/>
          <p:cNvSpPr txBox="1"/>
          <p:nvPr/>
        </p:nvSpPr>
        <p:spPr>
          <a:xfrm>
            <a:off x="1180591" y="4049628"/>
            <a:ext cx="2350770" cy="848994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sz="1800" b="1" spc="-5" dirty="0">
                <a:solidFill>
                  <a:srgbClr val="FF6600"/>
                </a:solidFill>
                <a:latin typeface="Arial" panose="020B0604020202020204"/>
                <a:cs typeface="Arial" panose="020B0604020202020204"/>
              </a:rPr>
              <a:t>John B.</a:t>
            </a:r>
            <a:r>
              <a:rPr sz="1800" b="1" spc="-60" dirty="0">
                <a:solidFill>
                  <a:srgbClr val="FF66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6600"/>
                </a:solidFill>
                <a:latin typeface="Arial" panose="020B0604020202020204"/>
                <a:cs typeface="Arial" panose="020B0604020202020204"/>
              </a:rPr>
              <a:t>Goodenough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ct val="100000"/>
              </a:lnSpc>
              <a:spcBef>
                <a:spcPts val="1085"/>
              </a:spcBef>
            </a:pPr>
            <a:r>
              <a:rPr sz="1800" b="1" spc="-5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1922.7~</a:t>
            </a:r>
            <a:r>
              <a:rPr sz="1800" b="1" spc="-5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543788" y="4898110"/>
            <a:ext cx="8100695" cy="14884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p>
            <a:pPr marL="325120" indent="-312420">
              <a:lnSpc>
                <a:spcPct val="100000"/>
              </a:lnSpc>
              <a:spcBef>
                <a:spcPts val="1060"/>
              </a:spcBef>
              <a:buClr>
                <a:srgbClr val="6F2F9F"/>
              </a:buClr>
              <a:buFont typeface="Wingdings" panose="05000000000000000000"/>
              <a:buChar char=""/>
              <a:tabLst>
                <a:tab pos="324485" algn="l"/>
                <a:tab pos="325120" algn="l"/>
              </a:tabLst>
            </a:pPr>
            <a:r>
              <a:rPr sz="1600" b="1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1943</a:t>
            </a:r>
            <a:r>
              <a:rPr sz="1600" b="1" spc="5" dirty="0">
                <a:solidFill>
                  <a:srgbClr val="3D3D3D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年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，在耶鲁大学获得了数学系的文学</a:t>
            </a:r>
            <a:r>
              <a:rPr sz="1600" spc="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士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学位；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25120" indent="-312420">
              <a:lnSpc>
                <a:spcPct val="100000"/>
              </a:lnSpc>
              <a:spcBef>
                <a:spcPts val="960"/>
              </a:spcBef>
              <a:buClr>
                <a:srgbClr val="6F2F9F"/>
              </a:buClr>
              <a:buFont typeface="Wingdings" panose="05000000000000000000"/>
              <a:buChar char=""/>
              <a:tabLst>
                <a:tab pos="324485" algn="l"/>
                <a:tab pos="325120" algn="l"/>
              </a:tabLst>
            </a:pPr>
            <a:r>
              <a:rPr sz="1600" b="1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1951</a:t>
            </a:r>
            <a:r>
              <a:rPr sz="1600" b="1" spc="5" dirty="0">
                <a:solidFill>
                  <a:srgbClr val="3D3D3D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年，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在芝加哥大学获得理学硕士学位；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25120" indent="-312420">
              <a:lnSpc>
                <a:spcPct val="100000"/>
              </a:lnSpc>
              <a:spcBef>
                <a:spcPts val="960"/>
              </a:spcBef>
              <a:buClr>
                <a:srgbClr val="6F2F9F"/>
              </a:buClr>
              <a:buFont typeface="Wingdings" panose="05000000000000000000"/>
              <a:buChar char=""/>
              <a:tabLst>
                <a:tab pos="324485" algn="l"/>
                <a:tab pos="325120" algn="l"/>
              </a:tabLst>
            </a:pPr>
            <a:r>
              <a:rPr sz="1600" b="1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1952</a:t>
            </a:r>
            <a:r>
              <a:rPr sz="1600" b="1" spc="5" dirty="0">
                <a:solidFill>
                  <a:srgbClr val="3D3D3D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年，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获得固态物理博士学位，师</a:t>
            </a:r>
            <a:r>
              <a:rPr sz="1600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1600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Clarence</a:t>
            </a:r>
            <a:r>
              <a:rPr sz="1600" spc="35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5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Zener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（齐纳二极管发</a:t>
            </a:r>
            <a:r>
              <a:rPr sz="1600" spc="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明</a:t>
            </a:r>
            <a:r>
              <a:rPr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者）</a:t>
            </a:r>
            <a:r>
              <a:rPr lang="zh-CN"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1600" spc="-5" dirty="0">
              <a:solidFill>
                <a:srgbClr val="3D3D3D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25120" indent="-312420">
              <a:lnSpc>
                <a:spcPct val="100000"/>
              </a:lnSpc>
              <a:spcBef>
                <a:spcPts val="960"/>
              </a:spcBef>
              <a:buClr>
                <a:srgbClr val="6F2F9F"/>
              </a:buClr>
              <a:buFont typeface="Wingdings" panose="05000000000000000000"/>
              <a:buChar char=""/>
              <a:tabLst>
                <a:tab pos="324485" algn="l"/>
                <a:tab pos="325120" algn="l"/>
              </a:tabLst>
            </a:pPr>
            <a:r>
              <a:rPr sz="1600" dirty="0">
                <a:solidFill>
                  <a:srgbClr val="3D3D3D"/>
                </a:solidFill>
                <a:latin typeface="Times New Roman" panose="02020603050405020304"/>
                <a:cs typeface="Times New Roman" panose="02020603050405020304"/>
              </a:rPr>
              <a:t>1982</a:t>
            </a:r>
            <a:r>
              <a:rPr lang="zh-CN" altLang="en-US" sz="1600" spc="-5" dirty="0">
                <a:solidFill>
                  <a:srgbClr val="3D3D3D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年，指导博士后合成了钴酸锂</a:t>
            </a:r>
            <a:r>
              <a:rPr lang="zh-CN" sz="16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5659628" y="1814505"/>
            <a:ext cx="141732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p>
            <a:pPr marL="378460" indent="-366395">
              <a:lnSpc>
                <a:spcPct val="100000"/>
              </a:lnSpc>
              <a:spcBef>
                <a:spcPts val="1300"/>
              </a:spcBef>
              <a:buClr>
                <a:srgbClr val="F79546"/>
              </a:buClr>
              <a:buFont typeface="Wingdings" panose="05000000000000000000"/>
              <a:buChar char=""/>
              <a:tabLst>
                <a:tab pos="378460" algn="l"/>
                <a:tab pos="379095" algn="l"/>
              </a:tabLst>
            </a:pPr>
            <a:r>
              <a:rPr sz="2000" b="1" spc="15" dirty="0">
                <a:solidFill>
                  <a:srgbClr val="0066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钴酸锂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78460" indent="-366395">
              <a:lnSpc>
                <a:spcPct val="100000"/>
              </a:lnSpc>
              <a:spcBef>
                <a:spcPts val="1200"/>
              </a:spcBef>
              <a:buClr>
                <a:srgbClr val="F79546"/>
              </a:buClr>
              <a:buFont typeface="Wingdings" panose="05000000000000000000"/>
              <a:buChar char=""/>
              <a:tabLst>
                <a:tab pos="378460" algn="l"/>
                <a:tab pos="379095" algn="l"/>
              </a:tabLst>
            </a:pPr>
            <a:r>
              <a:rPr sz="2000" b="1" spc="10" dirty="0">
                <a:solidFill>
                  <a:srgbClr val="0066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镍酸锂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78460" indent="-366395">
              <a:lnSpc>
                <a:spcPct val="100000"/>
              </a:lnSpc>
              <a:spcBef>
                <a:spcPts val="1200"/>
              </a:spcBef>
              <a:buClr>
                <a:srgbClr val="F79546"/>
              </a:buClr>
              <a:buFont typeface="Wingdings" panose="05000000000000000000"/>
              <a:buChar char=""/>
              <a:tabLst>
                <a:tab pos="378460" algn="l"/>
                <a:tab pos="379095" algn="l"/>
              </a:tabLst>
            </a:pPr>
            <a:r>
              <a:rPr sz="2000" b="1" spc="10" dirty="0">
                <a:solidFill>
                  <a:srgbClr val="0066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锰酸锂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78460" indent="-366395">
              <a:lnSpc>
                <a:spcPct val="100000"/>
              </a:lnSpc>
              <a:spcBef>
                <a:spcPts val="1200"/>
              </a:spcBef>
              <a:buClr>
                <a:srgbClr val="F79546"/>
              </a:buClr>
              <a:buFont typeface="Wingdings" panose="05000000000000000000"/>
              <a:buChar char=""/>
              <a:tabLst>
                <a:tab pos="378460" algn="l"/>
                <a:tab pos="379095" algn="l"/>
              </a:tabLst>
            </a:pPr>
            <a:r>
              <a:rPr sz="2000" b="1" spc="10" dirty="0">
                <a:solidFill>
                  <a:srgbClr val="0066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磷酸铁锂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3865626" y="4160011"/>
            <a:ext cx="5389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美国德</a:t>
            </a:r>
            <a:r>
              <a:rPr sz="1600" b="1" spc="1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州</a:t>
            </a:r>
            <a:r>
              <a:rPr sz="1600" b="1" spc="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大</a:t>
            </a:r>
            <a:r>
              <a:rPr sz="1600" b="1" spc="1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学奥</a:t>
            </a:r>
            <a:r>
              <a:rPr sz="1600" b="1" spc="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斯汀分</a:t>
            </a:r>
            <a:r>
              <a:rPr sz="1600" b="1" spc="1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校</a:t>
            </a:r>
            <a:r>
              <a:rPr sz="1600" b="1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6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University</a:t>
            </a:r>
            <a:r>
              <a:rPr sz="1600" b="1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b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Texas</a:t>
            </a:r>
            <a:r>
              <a:rPr sz="1600" b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600" b="1" spc="-8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Austin</a:t>
            </a:r>
            <a:r>
              <a:rPr sz="1600" b="1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），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3865626" y="4403852"/>
            <a:ext cx="1455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1F5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机械工程系教授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object 2"/>
          <p:cNvSpPr/>
          <p:nvPr/>
        </p:nvSpPr>
        <p:spPr>
          <a:xfrm>
            <a:off x="323850" y="1370075"/>
            <a:ext cx="3887851" cy="2922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3"/>
          <p:cNvSpPr txBox="1"/>
          <p:nvPr/>
        </p:nvSpPr>
        <p:spPr>
          <a:xfrm>
            <a:off x="1209243" y="4568697"/>
            <a:ext cx="256667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吉野彰</a:t>
            </a:r>
            <a:r>
              <a:rPr sz="1800" b="1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Akira</a:t>
            </a:r>
            <a:r>
              <a:rPr sz="1800" b="1" spc="-15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3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Yoshino</a:t>
            </a:r>
            <a:r>
              <a:rPr sz="1800" b="1" spc="-3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 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旭化成公司研究员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" algn="ctr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1948.1~</a:t>
            </a:r>
            <a:r>
              <a:rPr sz="1800" b="1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6" name="object 4"/>
          <p:cNvSpPr txBox="1">
            <a:spLocks noGrp="1"/>
          </p:cNvSpPr>
          <p:nvPr/>
        </p:nvSpPr>
        <p:spPr>
          <a:xfrm>
            <a:off x="547370" y="285750"/>
            <a:ext cx="6682740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600" b="1" i="0">
                <a:solidFill>
                  <a:srgbClr val="6F2F9F"/>
                </a:solidFill>
                <a:latin typeface="Microsoft JhengHei" panose="020B0604030504040204" charset="-120"/>
                <a:ea typeface="+mn-ea"/>
                <a:cs typeface="Microsoft JhengHei" panose="020B0604030504040204" charset="-120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" dirty="0"/>
              <a:t>开发了第一只锂离子电池原</a:t>
            </a:r>
            <a:r>
              <a:rPr sz="3200" dirty="0"/>
              <a:t>型</a:t>
            </a:r>
            <a:r>
              <a:rPr sz="3200" spc="10" dirty="0"/>
              <a:t>器件</a:t>
            </a:r>
            <a:endParaRPr sz="3200"/>
          </a:p>
        </p:txBody>
      </p:sp>
      <p:sp>
        <p:nvSpPr>
          <p:cNvPr id="31" name="object 5"/>
          <p:cNvSpPr txBox="1">
            <a:spLocks noGrp="1"/>
          </p:cNvSpPr>
          <p:nvPr/>
        </p:nvSpPr>
        <p:spPr>
          <a:xfrm>
            <a:off x="4469129" y="1371808"/>
            <a:ext cx="4674870" cy="33185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>
            <a:lvl1pPr marL="0">
              <a:defRPr sz="1800" b="0" i="0">
                <a:solidFill>
                  <a:sysClr val="windowText" lastClr="0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</a:defRPr>
            </a:lvl1pPr>
            <a:lvl2pPr marL="457200">
              <a:defRPr>
                <a:latin typeface="Calibri" panose="020F0502020204030204" pitchFamily="34" charset="0"/>
                <a:ea typeface="+mn-ea"/>
                <a:cs typeface="+mn-ea"/>
              </a:defRPr>
            </a:lvl2pPr>
            <a:lvl3pPr marL="914400">
              <a:defRPr>
                <a:latin typeface="Calibri" panose="020F0502020204030204" pitchFamily="34" charset="0"/>
                <a:ea typeface="+mn-ea"/>
                <a:cs typeface="+mn-ea"/>
              </a:defRPr>
            </a:lvl3pPr>
            <a:lvl4pPr marL="1371600">
              <a:defRPr>
                <a:latin typeface="Calibri" panose="020F0502020204030204" pitchFamily="34" charset="0"/>
                <a:ea typeface="+mn-ea"/>
                <a:cs typeface="+mn-ea"/>
              </a:defRPr>
            </a:lvl4pPr>
            <a:lvl5pPr marL="1828800">
              <a:defRPr>
                <a:latin typeface="Calibri" panose="020F0502020204030204" pitchFamily="34" charset="0"/>
                <a:ea typeface="+mn-ea"/>
                <a:cs typeface="+mn-ea"/>
              </a:defRPr>
            </a:lvl5pPr>
            <a:lvl6pPr marL="2286000">
              <a:defRPr>
                <a:latin typeface="Calibri" panose="020F0502020204030204" pitchFamily="34" charset="0"/>
                <a:ea typeface="+mn-ea"/>
                <a:cs typeface="+mn-ea"/>
              </a:defRPr>
            </a:lvl6pPr>
            <a:lvl7pPr marL="2743200">
              <a:defRPr>
                <a:latin typeface="Calibri" panose="020F0502020204030204" pitchFamily="34" charset="0"/>
                <a:ea typeface="+mn-ea"/>
                <a:cs typeface="+mn-ea"/>
              </a:defRPr>
            </a:lvl7pPr>
            <a:lvl8pPr marL="3200400">
              <a:defRPr>
                <a:latin typeface="Calibri" panose="020F0502020204030204" pitchFamily="34" charset="0"/>
                <a:ea typeface="+mn-ea"/>
                <a:cs typeface="+mn-ea"/>
              </a:defRPr>
            </a:lvl8pPr>
            <a:lvl9pPr marL="3657600">
              <a:defRPr>
                <a:latin typeface="Calibri" panose="020F0502020204030204" pitchFamily="34" charset="0"/>
                <a:ea typeface="+mn-ea"/>
                <a:cs typeface="+mn-ea"/>
              </a:defRPr>
            </a:lvl9pPr>
          </a:lstStyle>
          <a:p>
            <a:pPr marL="278765" indent="-241300">
              <a:lnSpc>
                <a:spcPct val="100000"/>
              </a:lnSpc>
              <a:spcBef>
                <a:spcPts val="1180"/>
              </a:spcBef>
              <a:buClr>
                <a:srgbClr val="006FC0"/>
              </a:buClr>
              <a:buSzPct val="75000"/>
              <a:buFont typeface="Wingdings" panose="05000000000000000000"/>
              <a:buChar char=""/>
              <a:tabLst>
                <a:tab pos="279400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</a:rPr>
              <a:t>1985</a:t>
            </a:r>
            <a:r>
              <a:rPr spc="-5" dirty="0"/>
              <a:t>年，吉野彰使用碳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pc="-5" dirty="0"/>
              <a:t>钴酸锂体系成功</a:t>
            </a:r>
            <a:endParaRPr spc="-5" dirty="0"/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dirty="0"/>
              <a:t>开发了</a:t>
            </a:r>
            <a:r>
              <a:rPr b="1" spc="10" dirty="0">
                <a:solidFill>
                  <a:srgbClr val="C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第一只</a:t>
            </a:r>
            <a:r>
              <a:rPr dirty="0"/>
              <a:t>锂离子电池原型器件；</a:t>
            </a:r>
            <a:endParaRPr dirty="0"/>
          </a:p>
          <a:p>
            <a:pPr marL="38100" marR="30480">
              <a:lnSpc>
                <a:spcPct val="150000"/>
              </a:lnSpc>
              <a:buClr>
                <a:srgbClr val="006FC0"/>
              </a:buClr>
              <a:buSzPct val="75000"/>
              <a:buFont typeface="Wingdings" panose="05000000000000000000"/>
              <a:buChar char=""/>
              <a:tabLst>
                <a:tab pos="281940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1989</a:t>
            </a:r>
            <a:r>
              <a:rPr dirty="0"/>
              <a:t>年，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pc="-2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dirty="0"/>
              <a:t>公司申请了以石油焦为负极、 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LiCoO</a:t>
            </a:r>
            <a:r>
              <a:rPr sz="1800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dirty="0"/>
              <a:t>为正极、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LiPF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1800" dirty="0"/>
              <a:t>溶于丙烯碳酸脂</a:t>
            </a:r>
            <a:r>
              <a:rPr sz="1800" spc="-5" dirty="0"/>
              <a:t>（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1800" spc="-5" dirty="0"/>
              <a:t>）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8100" marR="320040">
              <a:lnSpc>
                <a:spcPct val="150000"/>
              </a:lnSpc>
              <a:spcBef>
                <a:spcPts val="5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dirty="0"/>
              <a:t>乙烯碳酸脂（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dirty="0"/>
              <a:t>）混合溶剂作为电解液的 二次电池体系的专利；</a:t>
            </a:r>
            <a:endParaRPr dirty="0"/>
          </a:p>
          <a:p>
            <a:pPr marL="38100" marR="30480">
              <a:lnSpc>
                <a:spcPts val="3240"/>
              </a:lnSpc>
              <a:spcBef>
                <a:spcPts val="285"/>
              </a:spcBef>
              <a:buClr>
                <a:srgbClr val="006FC0"/>
              </a:buClr>
              <a:buSzPct val="75000"/>
              <a:buFont typeface="Wingdings" panose="05000000000000000000"/>
              <a:buChar char=""/>
              <a:tabLst>
                <a:tab pos="281940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1990</a:t>
            </a:r>
            <a:r>
              <a:rPr dirty="0"/>
              <a:t>年底，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pc="-2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pc="-1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pc="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dirty="0"/>
              <a:t>公司将锂</a:t>
            </a:r>
            <a:r>
              <a:rPr spc="-15" dirty="0"/>
              <a:t>离</a:t>
            </a:r>
            <a:r>
              <a:rPr dirty="0"/>
              <a:t>子电池商业化， 推向市场。</a:t>
            </a:r>
            <a:endParaRPr dirty="0"/>
          </a:p>
        </p:txBody>
      </p:sp>
    </p:spTree>
  </p:cSld>
  <p:clrMapOvr>
    <a:masterClrMapping/>
  </p:clrMapOvr>
  <p:transition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435965" y="311276"/>
            <a:ext cx="4109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0" dirty="0"/>
              <a:t>锂离子电池的工作原理</a:t>
            </a:r>
            <a:endParaRPr sz="3200"/>
          </a:p>
        </p:txBody>
      </p:sp>
      <p:sp>
        <p:nvSpPr>
          <p:cNvPr id="6" name="object 5"/>
          <p:cNvSpPr/>
          <p:nvPr/>
        </p:nvSpPr>
        <p:spPr>
          <a:xfrm>
            <a:off x="3605530" y="824865"/>
            <a:ext cx="5214620" cy="409575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7" name="object 6"/>
          <p:cNvSpPr txBox="1"/>
          <p:nvPr/>
        </p:nvSpPr>
        <p:spPr>
          <a:xfrm>
            <a:off x="489102" y="4797298"/>
            <a:ext cx="2691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latin typeface="Microsoft JhengHei" panose="020B0604030504040204" charset="-120"/>
                <a:cs typeface="Microsoft JhengHei" panose="020B0604030504040204" charset="-120"/>
              </a:rPr>
              <a:t>层状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LiCoO</a:t>
            </a:r>
            <a:r>
              <a:rPr sz="1950" b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结构</a:t>
            </a:r>
            <a:r>
              <a:rPr sz="2000" b="1" spc="-15" dirty="0">
                <a:latin typeface="Microsoft JhengHei" panose="020B0604030504040204" charset="-120"/>
                <a:cs typeface="Microsoft JhengHei" panose="020B0604030504040204" charset="-120"/>
              </a:rPr>
              <a:t>式</a:t>
            </a:r>
            <a:r>
              <a:rPr sz="2000" b="1" dirty="0">
                <a:latin typeface="Microsoft JhengHei" panose="020B0604030504040204" charset="-120"/>
                <a:cs typeface="Microsoft JhengHei" panose="020B0604030504040204" charset="-120"/>
              </a:rPr>
              <a:t>意图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1043305" y="1639570"/>
            <a:ext cx="1719580" cy="3157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2" name="object 6"/>
          <p:cNvSpPr txBox="1"/>
          <p:nvPr/>
        </p:nvSpPr>
        <p:spPr>
          <a:xfrm>
            <a:off x="3605530" y="5229225"/>
            <a:ext cx="5199380" cy="11303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p>
            <a:pPr marL="361950" algn="ctr">
              <a:lnSpc>
                <a:spcPct val="100000"/>
              </a:lnSpc>
              <a:spcBef>
                <a:spcPts val="1535"/>
              </a:spcBef>
            </a:pPr>
            <a:r>
              <a:rPr sz="24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锂离子电池的表达式为：</a:t>
            </a:r>
            <a:endParaRPr sz="2400" b="1" spc="10" dirty="0">
              <a:solidFill>
                <a:srgbClr val="006FC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61950" algn="ctr">
              <a:lnSpc>
                <a:spcPct val="100000"/>
              </a:lnSpc>
              <a:spcBef>
                <a:spcPts val="1535"/>
              </a:spcBef>
            </a:pP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LiC</a:t>
            </a:r>
            <a:r>
              <a:rPr sz="2400" b="1" spc="-7" baseline="-24000" dirty="0">
                <a:latin typeface="Times New Roman" panose="02020603050405020304"/>
                <a:cs typeface="Times New Roman" panose="02020603050405020304"/>
              </a:rPr>
              <a:t>6 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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LiClO</a:t>
            </a:r>
            <a:r>
              <a:rPr sz="2400" b="1" spc="-7" baseline="-2400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-PC+EC</a:t>
            </a:r>
            <a:r>
              <a:rPr sz="2400" b="1" spc="-5" dirty="0">
                <a:latin typeface="Symbol" panose="05050102010706020507"/>
                <a:cs typeface="Symbol" panose="05050102010706020507"/>
              </a:rPr>
              <a:t></a:t>
            </a:r>
            <a:r>
              <a:rPr sz="2400" b="1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LiCoO</a:t>
            </a:r>
            <a:r>
              <a:rPr sz="2400" b="1" spc="-7" baseline="-24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907610" y="733425"/>
            <a:ext cx="5017558" cy="28285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9070" y="44450"/>
            <a:ext cx="8540750" cy="533400"/>
          </a:xfrm>
        </p:spPr>
        <p:txBody>
          <a:bodyPr/>
          <a:lstStyle/>
          <a:p>
            <a:pPr algn="l"/>
            <a:r>
              <a:rPr lang="zh-CN" altLang="en-US" sz="32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锂离子电池的电极反应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4515" name="Group 3"/>
          <p:cNvGrpSpPr/>
          <p:nvPr/>
        </p:nvGrpSpPr>
        <p:grpSpPr bwMode="auto">
          <a:xfrm>
            <a:off x="554990" y="3254693"/>
            <a:ext cx="7726363" cy="990600"/>
            <a:chOff x="480" y="1400"/>
            <a:chExt cx="4292" cy="624"/>
          </a:xfrm>
        </p:grpSpPr>
        <p:grpSp>
          <p:nvGrpSpPr>
            <p:cNvPr id="64532" name="Group 4"/>
            <p:cNvGrpSpPr/>
            <p:nvPr/>
          </p:nvGrpSpPr>
          <p:grpSpPr bwMode="auto">
            <a:xfrm>
              <a:off x="2400" y="1400"/>
              <a:ext cx="624" cy="624"/>
              <a:chOff x="2400" y="1400"/>
              <a:chExt cx="624" cy="624"/>
            </a:xfrm>
          </p:grpSpPr>
          <p:grpSp>
            <p:nvGrpSpPr>
              <p:cNvPr id="64535" name="Group 5"/>
              <p:cNvGrpSpPr/>
              <p:nvPr/>
            </p:nvGrpSpPr>
            <p:grpSpPr bwMode="auto">
              <a:xfrm>
                <a:off x="2400" y="1680"/>
                <a:ext cx="624" cy="96"/>
                <a:chOff x="2496" y="1152"/>
                <a:chExt cx="624" cy="96"/>
              </a:xfrm>
            </p:grpSpPr>
            <p:sp>
              <p:nvSpPr>
                <p:cNvPr id="64538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2496" y="1248"/>
                  <a:ext cx="6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9" name="Line 7"/>
                <p:cNvSpPr>
                  <a:spLocks noChangeShapeType="1"/>
                </p:cNvSpPr>
                <p:nvPr/>
              </p:nvSpPr>
              <p:spPr bwMode="auto">
                <a:xfrm>
                  <a:off x="2544" y="115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4536" name="Text Box 8"/>
              <p:cNvSpPr txBox="1">
                <a:spLocks noChangeArrowheads="1"/>
              </p:cNvSpPr>
              <p:nvPr/>
            </p:nvSpPr>
            <p:spPr bwMode="auto">
              <a:xfrm>
                <a:off x="2476" y="1400"/>
                <a:ext cx="4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 sz="2400" b="0">
                    <a:solidFill>
                      <a:schemeClr val="tx1"/>
                    </a:solidFill>
                    <a:ea typeface="楷体_GB2312" pitchFamily="49" charset="-122"/>
                  </a:rPr>
                  <a:t>充电</a:t>
                </a:r>
                <a:endParaRPr kumimoji="1" lang="zh-CN" altLang="en-US" sz="2400" b="0">
                  <a:solidFill>
                    <a:schemeClr val="tx1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64537" name="Text Box 9"/>
              <p:cNvSpPr txBox="1">
                <a:spLocks noChangeArrowheads="1"/>
              </p:cNvSpPr>
              <p:nvPr/>
            </p:nvSpPr>
            <p:spPr bwMode="auto">
              <a:xfrm>
                <a:off x="2496" y="1736"/>
                <a:ext cx="44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 sz="2400" b="0">
                    <a:solidFill>
                      <a:schemeClr val="tx1"/>
                    </a:solidFill>
                    <a:ea typeface="楷体_GB2312" pitchFamily="49" charset="-122"/>
                  </a:rPr>
                  <a:t>放电</a:t>
                </a:r>
                <a:endParaRPr kumimoji="1" lang="zh-CN" altLang="en-US" sz="2400" b="0">
                  <a:solidFill>
                    <a:schemeClr val="tx1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64533" name="Text Box 10"/>
            <p:cNvSpPr txBox="1">
              <a:spLocks noChangeArrowheads="1"/>
            </p:cNvSpPr>
            <p:nvPr/>
          </p:nvSpPr>
          <p:spPr bwMode="auto">
            <a:xfrm>
              <a:off x="480" y="1602"/>
              <a:ext cx="17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800" b="0">
                  <a:solidFill>
                    <a:schemeClr val="tx1"/>
                  </a:solidFill>
                  <a:ea typeface="楷体_GB2312" pitchFamily="49" charset="-122"/>
                </a:rPr>
                <a:t>正极反应：</a:t>
              </a:r>
              <a:r>
                <a:rPr kumimoji="1" lang="en-US" altLang="zh-CN" sz="2800" b="0">
                  <a:solidFill>
                    <a:schemeClr val="tx1"/>
                  </a:solidFill>
                  <a:ea typeface="宋体" panose="02010600030101010101" pitchFamily="2" charset="-122"/>
                </a:rPr>
                <a:t>LiCoO</a:t>
              </a:r>
              <a:r>
                <a:rPr kumimoji="1" lang="en-US" altLang="zh-CN" sz="2800" b="0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4" name="Text Box 11"/>
            <p:cNvSpPr txBox="1">
              <a:spLocks noChangeArrowheads="1"/>
            </p:cNvSpPr>
            <p:nvPr/>
          </p:nvSpPr>
          <p:spPr bwMode="auto">
            <a:xfrm>
              <a:off x="3072" y="1583"/>
              <a:ext cx="17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b="0">
                  <a:solidFill>
                    <a:schemeClr val="tx1"/>
                  </a:solidFill>
                  <a:ea typeface="宋体" panose="02010600030101010101" pitchFamily="2" charset="-122"/>
                </a:rPr>
                <a:t>Li</a:t>
              </a:r>
              <a:r>
                <a:rPr kumimoji="1" lang="en-US" altLang="zh-CN" sz="2800" b="0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1-x</a:t>
              </a:r>
              <a:r>
                <a:rPr kumimoji="1" lang="en-US" altLang="zh-CN" sz="2800" b="0">
                  <a:solidFill>
                    <a:schemeClr val="tx1"/>
                  </a:solidFill>
                  <a:ea typeface="宋体" panose="02010600030101010101" pitchFamily="2" charset="-122"/>
                </a:rPr>
                <a:t>CoO</a:t>
              </a:r>
              <a:r>
                <a:rPr kumimoji="1" lang="en-US" altLang="zh-CN" sz="2800" b="0" baseline="-2500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>
                  <a:solidFill>
                    <a:schemeClr val="tx1"/>
                  </a:solidFill>
                  <a:ea typeface="宋体" panose="02010600030101010101" pitchFamily="2" charset="-122"/>
                </a:rPr>
                <a:t>+xLi</a:t>
              </a:r>
              <a:r>
                <a:rPr kumimoji="1" lang="en-US" altLang="zh-CN" sz="2800" b="0" baseline="30000">
                  <a:solidFill>
                    <a:schemeClr val="tx1"/>
                  </a:solidFill>
                  <a:ea typeface="宋体" panose="02010600030101010101" pitchFamily="2" charset="-122"/>
                </a:rPr>
                <a:t>+</a:t>
              </a:r>
              <a:r>
                <a:rPr kumimoji="1" lang="en-US" altLang="zh-CN" sz="2800" b="0">
                  <a:solidFill>
                    <a:schemeClr val="tx1"/>
                  </a:solidFill>
                  <a:ea typeface="宋体" panose="02010600030101010101" pitchFamily="2" charset="-122"/>
                </a:rPr>
                <a:t>+xe</a:t>
              </a:r>
              <a:r>
                <a:rPr kumimoji="1" lang="en-US" altLang="zh-CN" sz="2800" b="0" baseline="30000">
                  <a:solidFill>
                    <a:schemeClr val="tx1"/>
                  </a:solidFill>
                  <a:ea typeface="宋体" panose="02010600030101010101" pitchFamily="2" charset="-122"/>
                </a:rPr>
                <a:t>-</a:t>
              </a:r>
              <a:endParaRPr kumimoji="1" lang="en-US" altLang="zh-CN" sz="2800" b="0" baseline="30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4516" name="Text Box 12"/>
          <p:cNvSpPr txBox="1">
            <a:spLocks noChangeArrowheads="1"/>
          </p:cNvSpPr>
          <p:nvPr/>
        </p:nvSpPr>
        <p:spPr bwMode="auto">
          <a:xfrm>
            <a:off x="554673" y="4588828"/>
            <a:ext cx="413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800" b="0">
                <a:solidFill>
                  <a:schemeClr val="tx1"/>
                </a:solidFill>
                <a:ea typeface="楷体_GB2312" pitchFamily="49" charset="-122"/>
              </a:rPr>
              <a:t>负极反应：</a:t>
            </a:r>
            <a:r>
              <a:rPr kumimoji="1"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6C+xLi</a:t>
            </a:r>
            <a:r>
              <a:rPr kumimoji="1" lang="en-US" altLang="zh-CN" sz="2800" b="0" baseline="3000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+xe</a:t>
            </a:r>
            <a:r>
              <a:rPr kumimoji="1" lang="en-US" altLang="zh-CN" sz="2800" b="0" baseline="30000">
                <a:solidFill>
                  <a:schemeClr val="tx1"/>
                </a:solidFill>
                <a:ea typeface="宋体" panose="02010600030101010101" pitchFamily="2" charset="-122"/>
              </a:rPr>
              <a:t>-</a:t>
            </a:r>
            <a:endParaRPr kumimoji="1" lang="en-US" altLang="zh-CN" sz="2800" b="0" baseline="30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64517" name="Group 13"/>
          <p:cNvGrpSpPr/>
          <p:nvPr/>
        </p:nvGrpSpPr>
        <p:grpSpPr bwMode="auto">
          <a:xfrm>
            <a:off x="4734560" y="4364990"/>
            <a:ext cx="990600" cy="1066800"/>
            <a:chOff x="3120" y="2064"/>
            <a:chExt cx="624" cy="672"/>
          </a:xfrm>
        </p:grpSpPr>
        <p:grpSp>
          <p:nvGrpSpPr>
            <p:cNvPr id="64527" name="Group 14"/>
            <p:cNvGrpSpPr/>
            <p:nvPr/>
          </p:nvGrpSpPr>
          <p:grpSpPr bwMode="auto">
            <a:xfrm>
              <a:off x="3120" y="2392"/>
              <a:ext cx="624" cy="96"/>
              <a:chOff x="2496" y="1152"/>
              <a:chExt cx="624" cy="96"/>
            </a:xfrm>
          </p:grpSpPr>
          <p:sp>
            <p:nvSpPr>
              <p:cNvPr id="64530" name="Line 15"/>
              <p:cNvSpPr>
                <a:spLocks noChangeShapeType="1"/>
              </p:cNvSpPr>
              <p:nvPr/>
            </p:nvSpPr>
            <p:spPr bwMode="auto">
              <a:xfrm flipH="1">
                <a:off x="2496" y="12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1" name="Line 16"/>
              <p:cNvSpPr>
                <a:spLocks noChangeShapeType="1"/>
              </p:cNvSpPr>
              <p:nvPr/>
            </p:nvSpPr>
            <p:spPr bwMode="auto">
              <a:xfrm>
                <a:off x="2544" y="115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8" name="Text Box 17"/>
            <p:cNvSpPr txBox="1">
              <a:spLocks noChangeArrowheads="1"/>
            </p:cNvSpPr>
            <p:nvPr/>
          </p:nvSpPr>
          <p:spPr bwMode="auto">
            <a:xfrm>
              <a:off x="3168" y="2064"/>
              <a:ext cx="5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0">
                  <a:solidFill>
                    <a:schemeClr val="tx1"/>
                  </a:solidFill>
                  <a:ea typeface="楷体_GB2312" pitchFamily="49" charset="-122"/>
                </a:rPr>
                <a:t>充电</a:t>
              </a:r>
              <a:endParaRPr kumimoji="1" lang="zh-CN" altLang="en-US" sz="2400" b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64529" name="Text Box 18"/>
            <p:cNvSpPr txBox="1">
              <a:spLocks noChangeArrowheads="1"/>
            </p:cNvSpPr>
            <p:nvPr/>
          </p:nvSpPr>
          <p:spPr bwMode="auto">
            <a:xfrm>
              <a:off x="3168" y="244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0">
                  <a:solidFill>
                    <a:schemeClr val="tx1"/>
                  </a:solidFill>
                  <a:ea typeface="楷体_GB2312" pitchFamily="49" charset="-122"/>
                </a:rPr>
                <a:t>放电</a:t>
              </a:r>
              <a:endParaRPr kumimoji="1" lang="zh-CN" altLang="en-US" sz="2400" b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sp>
        <p:nvSpPr>
          <p:cNvPr id="64518" name="Text Box 19"/>
          <p:cNvSpPr txBox="1">
            <a:spLocks noChangeArrowheads="1"/>
          </p:cNvSpPr>
          <p:nvPr/>
        </p:nvSpPr>
        <p:spPr bwMode="auto">
          <a:xfrm>
            <a:off x="6033135" y="4647565"/>
            <a:ext cx="97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Li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kumimoji="1" lang="en-US" altLang="zh-CN" sz="2800" b="0" baseline="-25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64519" name="Group 20"/>
          <p:cNvGrpSpPr/>
          <p:nvPr/>
        </p:nvGrpSpPr>
        <p:grpSpPr bwMode="auto">
          <a:xfrm>
            <a:off x="4550410" y="5525770"/>
            <a:ext cx="990600" cy="1066800"/>
            <a:chOff x="2900" y="2976"/>
            <a:chExt cx="624" cy="672"/>
          </a:xfrm>
        </p:grpSpPr>
        <p:grpSp>
          <p:nvGrpSpPr>
            <p:cNvPr id="64522" name="Group 21"/>
            <p:cNvGrpSpPr/>
            <p:nvPr/>
          </p:nvGrpSpPr>
          <p:grpSpPr bwMode="auto">
            <a:xfrm>
              <a:off x="2900" y="3256"/>
              <a:ext cx="624" cy="96"/>
              <a:chOff x="2496" y="1152"/>
              <a:chExt cx="624" cy="96"/>
            </a:xfrm>
          </p:grpSpPr>
          <p:sp>
            <p:nvSpPr>
              <p:cNvPr id="64525" name="Line 22"/>
              <p:cNvSpPr>
                <a:spLocks noChangeShapeType="1"/>
              </p:cNvSpPr>
              <p:nvPr/>
            </p:nvSpPr>
            <p:spPr bwMode="auto">
              <a:xfrm flipH="1">
                <a:off x="2496" y="12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6" name="Line 23"/>
              <p:cNvSpPr>
                <a:spLocks noChangeShapeType="1"/>
              </p:cNvSpPr>
              <p:nvPr/>
            </p:nvSpPr>
            <p:spPr bwMode="auto">
              <a:xfrm>
                <a:off x="2544" y="115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3" name="Text Box 24"/>
            <p:cNvSpPr txBox="1">
              <a:spLocks noChangeArrowheads="1"/>
            </p:cNvSpPr>
            <p:nvPr/>
          </p:nvSpPr>
          <p:spPr bwMode="auto">
            <a:xfrm>
              <a:off x="2976" y="297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0">
                  <a:solidFill>
                    <a:schemeClr val="tx1"/>
                  </a:solidFill>
                  <a:ea typeface="楷体_GB2312" pitchFamily="49" charset="-122"/>
                </a:rPr>
                <a:t>充电</a:t>
              </a:r>
              <a:endParaRPr kumimoji="1" lang="zh-CN" altLang="en-US" sz="2400" b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64524" name="Text Box 25"/>
            <p:cNvSpPr txBox="1">
              <a:spLocks noChangeArrowheads="1"/>
            </p:cNvSpPr>
            <p:nvPr/>
          </p:nvSpPr>
          <p:spPr bwMode="auto">
            <a:xfrm>
              <a:off x="2976" y="3360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 b="0">
                  <a:solidFill>
                    <a:schemeClr val="tx1"/>
                  </a:solidFill>
                  <a:ea typeface="楷体_GB2312" pitchFamily="49" charset="-122"/>
                </a:rPr>
                <a:t>放电</a:t>
              </a:r>
              <a:endParaRPr kumimoji="1" lang="zh-CN" altLang="en-US" sz="2400" b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sp>
        <p:nvSpPr>
          <p:cNvPr id="64520" name="Text Box 26"/>
          <p:cNvSpPr txBox="1">
            <a:spLocks noChangeArrowheads="1"/>
          </p:cNvSpPr>
          <p:nvPr/>
        </p:nvSpPr>
        <p:spPr bwMode="auto">
          <a:xfrm>
            <a:off x="5902960" y="5830570"/>
            <a:ext cx="2697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Li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1-x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CoO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+ Li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1"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kumimoji="1"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kumimoji="1" lang="en-US" altLang="zh-CN" sz="2800" b="0" baseline="-25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1" name="Rectangle 27"/>
          <p:cNvSpPr>
            <a:spLocks noChangeArrowheads="1"/>
          </p:cNvSpPr>
          <p:nvPr/>
        </p:nvSpPr>
        <p:spPr bwMode="auto">
          <a:xfrm>
            <a:off x="554673" y="5814695"/>
            <a:ext cx="4038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b="0">
                <a:solidFill>
                  <a:schemeClr val="tx1"/>
                </a:solidFill>
                <a:ea typeface="楷体_GB2312" pitchFamily="49" charset="-122"/>
              </a:rPr>
              <a:t>电池反应</a:t>
            </a:r>
            <a:r>
              <a:rPr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：6C+LiCoO</a:t>
            </a:r>
            <a:r>
              <a:rPr lang="en-US" altLang="zh-CN" sz="2800" b="0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en-US" altLang="zh-CN" sz="2800" b="0" baseline="-25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1460" y="188595"/>
            <a:ext cx="484632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800" b="1" i="0" spc="-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锂离</a:t>
            </a:r>
            <a:r>
              <a:rPr sz="3800" b="1" i="0" spc="-1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子</a:t>
            </a:r>
            <a:r>
              <a:rPr sz="3800" b="1" i="0" spc="-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电池</a:t>
            </a:r>
            <a:r>
              <a:rPr sz="3800" b="1" i="0" spc="-1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的</a:t>
            </a:r>
            <a:r>
              <a:rPr sz="3800" b="1" i="0" spc="-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组</a:t>
            </a:r>
            <a:r>
              <a:rPr sz="3800" b="1" i="0" spc="-15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成</a:t>
            </a:r>
            <a:endParaRPr sz="3800">
              <a:latin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89735" y="1340485"/>
            <a:ext cx="7015480" cy="1399540"/>
          </a:xfrm>
          <a:custGeom>
            <a:avLst/>
            <a:gdLst/>
            <a:ahLst/>
            <a:cxnLst/>
            <a:rect l="l" t="t" r="r" b="b"/>
            <a:pathLst>
              <a:path w="9147175" h="1399539">
                <a:moveTo>
                  <a:pt x="0" y="1399032"/>
                </a:moveTo>
                <a:lnTo>
                  <a:pt x="9147048" y="1399032"/>
                </a:lnTo>
                <a:lnTo>
                  <a:pt x="9147048" y="0"/>
                </a:lnTo>
                <a:lnTo>
                  <a:pt x="0" y="0"/>
                </a:lnTo>
                <a:lnTo>
                  <a:pt x="0" y="1399032"/>
                </a:lnTo>
                <a:close/>
              </a:path>
            </a:pathLst>
          </a:custGeom>
          <a:ln w="12192">
            <a:solidFill>
              <a:srgbClr val="252525"/>
            </a:solidFill>
          </a:ln>
        </p:spPr>
        <p:txBody>
          <a:bodyPr wrap="square" lIns="0" tIns="0" rIns="0" bIns="0" rtlCol="0"/>
          <a:p/>
        </p:txBody>
      </p:sp>
      <p:sp>
        <p:nvSpPr>
          <p:cNvPr id="6" name="object 6"/>
          <p:cNvSpPr/>
          <p:nvPr/>
        </p:nvSpPr>
        <p:spPr>
          <a:xfrm>
            <a:off x="1461897" y="1733549"/>
            <a:ext cx="630555" cy="972185"/>
          </a:xfrm>
          <a:custGeom>
            <a:avLst/>
            <a:gdLst/>
            <a:ahLst/>
            <a:cxnLst/>
            <a:rect l="l" t="t" r="r" b="b"/>
            <a:pathLst>
              <a:path w="630555" h="972185">
                <a:moveTo>
                  <a:pt x="24717" y="920876"/>
                </a:moveTo>
                <a:lnTo>
                  <a:pt x="15226" y="922968"/>
                </a:lnTo>
                <a:lnTo>
                  <a:pt x="6984" y="928751"/>
                </a:lnTo>
                <a:lnTo>
                  <a:pt x="1623" y="937349"/>
                </a:lnTo>
                <a:lnTo>
                  <a:pt x="0" y="946959"/>
                </a:lnTo>
                <a:lnTo>
                  <a:pt x="2091" y="956450"/>
                </a:lnTo>
                <a:lnTo>
                  <a:pt x="7873" y="964691"/>
                </a:lnTo>
                <a:lnTo>
                  <a:pt x="16472" y="970053"/>
                </a:lnTo>
                <a:lnTo>
                  <a:pt x="26082" y="971676"/>
                </a:lnTo>
                <a:lnTo>
                  <a:pt x="35573" y="969585"/>
                </a:lnTo>
                <a:lnTo>
                  <a:pt x="43814" y="963802"/>
                </a:lnTo>
                <a:lnTo>
                  <a:pt x="49176" y="955204"/>
                </a:lnTo>
                <a:lnTo>
                  <a:pt x="49955" y="950594"/>
                </a:lnTo>
                <a:lnTo>
                  <a:pt x="29971" y="950594"/>
                </a:lnTo>
                <a:lnTo>
                  <a:pt x="20827" y="941958"/>
                </a:lnTo>
                <a:lnTo>
                  <a:pt x="37439" y="924440"/>
                </a:lnTo>
                <a:lnTo>
                  <a:pt x="34327" y="922500"/>
                </a:lnTo>
                <a:lnTo>
                  <a:pt x="24717" y="920876"/>
                </a:lnTo>
                <a:close/>
              </a:path>
              <a:path w="630555" h="972185">
                <a:moveTo>
                  <a:pt x="37439" y="924440"/>
                </a:moveTo>
                <a:lnTo>
                  <a:pt x="20827" y="941958"/>
                </a:lnTo>
                <a:lnTo>
                  <a:pt x="29971" y="950594"/>
                </a:lnTo>
                <a:lnTo>
                  <a:pt x="46585" y="933077"/>
                </a:lnTo>
                <a:lnTo>
                  <a:pt x="42925" y="927862"/>
                </a:lnTo>
                <a:lnTo>
                  <a:pt x="37439" y="924440"/>
                </a:lnTo>
                <a:close/>
              </a:path>
              <a:path w="630555" h="972185">
                <a:moveTo>
                  <a:pt x="46585" y="933077"/>
                </a:moveTo>
                <a:lnTo>
                  <a:pt x="29971" y="950594"/>
                </a:lnTo>
                <a:lnTo>
                  <a:pt x="49955" y="950594"/>
                </a:lnTo>
                <a:lnTo>
                  <a:pt x="50799" y="945594"/>
                </a:lnTo>
                <a:lnTo>
                  <a:pt x="48708" y="936103"/>
                </a:lnTo>
                <a:lnTo>
                  <a:pt x="46585" y="933077"/>
                </a:lnTo>
                <a:close/>
              </a:path>
              <a:path w="630555" h="972185">
                <a:moveTo>
                  <a:pt x="612508" y="317996"/>
                </a:moveTo>
                <a:lnTo>
                  <a:pt x="37439" y="924440"/>
                </a:lnTo>
                <a:lnTo>
                  <a:pt x="42925" y="927862"/>
                </a:lnTo>
                <a:lnTo>
                  <a:pt x="46585" y="933077"/>
                </a:lnTo>
                <a:lnTo>
                  <a:pt x="625831" y="322325"/>
                </a:lnTo>
                <a:lnTo>
                  <a:pt x="616711" y="322325"/>
                </a:lnTo>
                <a:lnTo>
                  <a:pt x="612508" y="317996"/>
                </a:lnTo>
                <a:close/>
              </a:path>
              <a:path w="630555" h="972185">
                <a:moveTo>
                  <a:pt x="616711" y="313563"/>
                </a:moveTo>
                <a:lnTo>
                  <a:pt x="612508" y="317996"/>
                </a:lnTo>
                <a:lnTo>
                  <a:pt x="616711" y="322325"/>
                </a:lnTo>
                <a:lnTo>
                  <a:pt x="616711" y="313563"/>
                </a:lnTo>
                <a:close/>
              </a:path>
              <a:path w="630555" h="972185">
                <a:moveTo>
                  <a:pt x="625854" y="313563"/>
                </a:moveTo>
                <a:lnTo>
                  <a:pt x="616711" y="313563"/>
                </a:lnTo>
                <a:lnTo>
                  <a:pt x="616711" y="322325"/>
                </a:lnTo>
                <a:lnTo>
                  <a:pt x="625831" y="322325"/>
                </a:lnTo>
                <a:lnTo>
                  <a:pt x="630046" y="317880"/>
                </a:lnTo>
                <a:lnTo>
                  <a:pt x="625854" y="313563"/>
                </a:lnTo>
                <a:close/>
              </a:path>
              <a:path w="630555" h="972185">
                <a:moveTo>
                  <a:pt x="321436" y="0"/>
                </a:moveTo>
                <a:lnTo>
                  <a:pt x="312419" y="8889"/>
                </a:lnTo>
                <a:lnTo>
                  <a:pt x="612508" y="317996"/>
                </a:lnTo>
                <a:lnTo>
                  <a:pt x="616711" y="313563"/>
                </a:lnTo>
                <a:lnTo>
                  <a:pt x="625854" y="313563"/>
                </a:lnTo>
                <a:lnTo>
                  <a:pt x="32143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p/>
        </p:txBody>
      </p:sp>
      <p:sp>
        <p:nvSpPr>
          <p:cNvPr id="2" name="object 7"/>
          <p:cNvSpPr/>
          <p:nvPr/>
        </p:nvSpPr>
        <p:spPr>
          <a:xfrm>
            <a:off x="495172" y="1678558"/>
            <a:ext cx="1487805" cy="733425"/>
          </a:xfrm>
          <a:custGeom>
            <a:avLst/>
            <a:gdLst/>
            <a:ahLst/>
            <a:cxnLst/>
            <a:rect l="l" t="t" r="r" b="b"/>
            <a:pathLst>
              <a:path w="1487805" h="733425">
                <a:moveTo>
                  <a:pt x="1007491" y="0"/>
                </a:moveTo>
                <a:lnTo>
                  <a:pt x="0" y="0"/>
                </a:lnTo>
                <a:lnTo>
                  <a:pt x="477647" y="363982"/>
                </a:lnTo>
                <a:lnTo>
                  <a:pt x="0" y="733044"/>
                </a:lnTo>
                <a:lnTo>
                  <a:pt x="1007491" y="733044"/>
                </a:lnTo>
                <a:lnTo>
                  <a:pt x="1487424" y="363982"/>
                </a:lnTo>
                <a:lnTo>
                  <a:pt x="100749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p/>
        </p:txBody>
      </p:sp>
      <p:sp>
        <p:nvSpPr>
          <p:cNvPr id="8" name="object 8"/>
          <p:cNvSpPr txBox="1"/>
          <p:nvPr/>
        </p:nvSpPr>
        <p:spPr>
          <a:xfrm>
            <a:off x="920750" y="1655445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正极 材料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4029" y="1425092"/>
            <a:ext cx="819594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嵌锂过渡金属氧化物：钴酸锂、锰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酸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锂、</a:t>
            </a:r>
            <a:endParaRPr sz="20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磷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酸铁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锂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、 镍钴锰三元素复合材料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10"/>
          <p:cNvSpPr/>
          <p:nvPr/>
        </p:nvSpPr>
        <p:spPr>
          <a:xfrm>
            <a:off x="1688465" y="2984500"/>
            <a:ext cx="7016115" cy="1161415"/>
          </a:xfrm>
          <a:custGeom>
            <a:avLst/>
            <a:gdLst/>
            <a:ahLst/>
            <a:cxnLst/>
            <a:rect l="l" t="t" r="r" b="b"/>
            <a:pathLst>
              <a:path w="9149080" h="1161414">
                <a:moveTo>
                  <a:pt x="0" y="1161288"/>
                </a:moveTo>
                <a:lnTo>
                  <a:pt x="9148571" y="1161288"/>
                </a:lnTo>
                <a:lnTo>
                  <a:pt x="9148571" y="0"/>
                </a:lnTo>
                <a:lnTo>
                  <a:pt x="0" y="0"/>
                </a:lnTo>
                <a:lnTo>
                  <a:pt x="0" y="1161288"/>
                </a:lnTo>
                <a:close/>
              </a:path>
            </a:pathLst>
          </a:custGeom>
          <a:ln w="12192">
            <a:solidFill>
              <a:srgbClr val="252525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11"/>
          <p:cNvSpPr/>
          <p:nvPr/>
        </p:nvSpPr>
        <p:spPr>
          <a:xfrm>
            <a:off x="1460373" y="3146297"/>
            <a:ext cx="631825" cy="972185"/>
          </a:xfrm>
          <a:custGeom>
            <a:avLst/>
            <a:gdLst/>
            <a:ahLst/>
            <a:cxnLst/>
            <a:rect l="l" t="t" r="r" b="b"/>
            <a:pathLst>
              <a:path w="631825" h="972185">
                <a:moveTo>
                  <a:pt x="24765" y="920876"/>
                </a:moveTo>
                <a:lnTo>
                  <a:pt x="15243" y="922968"/>
                </a:lnTo>
                <a:lnTo>
                  <a:pt x="6985" y="928751"/>
                </a:lnTo>
                <a:lnTo>
                  <a:pt x="1623" y="937295"/>
                </a:lnTo>
                <a:lnTo>
                  <a:pt x="0" y="946912"/>
                </a:lnTo>
                <a:lnTo>
                  <a:pt x="2091" y="956433"/>
                </a:lnTo>
                <a:lnTo>
                  <a:pt x="7874" y="964692"/>
                </a:lnTo>
                <a:lnTo>
                  <a:pt x="16418" y="970053"/>
                </a:lnTo>
                <a:lnTo>
                  <a:pt x="26035" y="971677"/>
                </a:lnTo>
                <a:lnTo>
                  <a:pt x="35556" y="969585"/>
                </a:lnTo>
                <a:lnTo>
                  <a:pt x="43815" y="963803"/>
                </a:lnTo>
                <a:lnTo>
                  <a:pt x="49176" y="955258"/>
                </a:lnTo>
                <a:lnTo>
                  <a:pt x="49963" y="950595"/>
                </a:lnTo>
                <a:lnTo>
                  <a:pt x="29972" y="950595"/>
                </a:lnTo>
                <a:lnTo>
                  <a:pt x="20828" y="941959"/>
                </a:lnTo>
                <a:lnTo>
                  <a:pt x="37479" y="924444"/>
                </a:lnTo>
                <a:lnTo>
                  <a:pt x="34381" y="922500"/>
                </a:lnTo>
                <a:lnTo>
                  <a:pt x="24765" y="920876"/>
                </a:lnTo>
                <a:close/>
              </a:path>
              <a:path w="631825" h="972185">
                <a:moveTo>
                  <a:pt x="37479" y="924444"/>
                </a:moveTo>
                <a:lnTo>
                  <a:pt x="20828" y="941959"/>
                </a:lnTo>
                <a:lnTo>
                  <a:pt x="29972" y="950595"/>
                </a:lnTo>
                <a:lnTo>
                  <a:pt x="46598" y="933108"/>
                </a:lnTo>
                <a:lnTo>
                  <a:pt x="42926" y="927862"/>
                </a:lnTo>
                <a:lnTo>
                  <a:pt x="37479" y="924444"/>
                </a:lnTo>
                <a:close/>
              </a:path>
              <a:path w="631825" h="972185">
                <a:moveTo>
                  <a:pt x="46598" y="933108"/>
                </a:moveTo>
                <a:lnTo>
                  <a:pt x="29972" y="950595"/>
                </a:lnTo>
                <a:lnTo>
                  <a:pt x="49963" y="950595"/>
                </a:lnTo>
                <a:lnTo>
                  <a:pt x="50800" y="945642"/>
                </a:lnTo>
                <a:lnTo>
                  <a:pt x="48708" y="936120"/>
                </a:lnTo>
                <a:lnTo>
                  <a:pt x="46598" y="933108"/>
                </a:lnTo>
                <a:close/>
              </a:path>
              <a:path w="631825" h="972185">
                <a:moveTo>
                  <a:pt x="614021" y="317995"/>
                </a:moveTo>
                <a:lnTo>
                  <a:pt x="37479" y="924444"/>
                </a:lnTo>
                <a:lnTo>
                  <a:pt x="42926" y="927862"/>
                </a:lnTo>
                <a:lnTo>
                  <a:pt x="46598" y="933108"/>
                </a:lnTo>
                <a:lnTo>
                  <a:pt x="627344" y="322326"/>
                </a:lnTo>
                <a:lnTo>
                  <a:pt x="618236" y="322326"/>
                </a:lnTo>
                <a:lnTo>
                  <a:pt x="614021" y="317995"/>
                </a:lnTo>
                <a:close/>
              </a:path>
              <a:path w="631825" h="972185">
                <a:moveTo>
                  <a:pt x="618236" y="313563"/>
                </a:moveTo>
                <a:lnTo>
                  <a:pt x="614021" y="317995"/>
                </a:lnTo>
                <a:lnTo>
                  <a:pt x="618236" y="322326"/>
                </a:lnTo>
                <a:lnTo>
                  <a:pt x="618236" y="313563"/>
                </a:lnTo>
                <a:close/>
              </a:path>
              <a:path w="631825" h="972185">
                <a:moveTo>
                  <a:pt x="627368" y="313563"/>
                </a:moveTo>
                <a:lnTo>
                  <a:pt x="618236" y="313563"/>
                </a:lnTo>
                <a:lnTo>
                  <a:pt x="618236" y="322326"/>
                </a:lnTo>
                <a:lnTo>
                  <a:pt x="627344" y="322326"/>
                </a:lnTo>
                <a:lnTo>
                  <a:pt x="631571" y="317881"/>
                </a:lnTo>
                <a:lnTo>
                  <a:pt x="627368" y="313563"/>
                </a:lnTo>
                <a:close/>
              </a:path>
              <a:path w="631825" h="972185">
                <a:moveTo>
                  <a:pt x="322199" y="0"/>
                </a:moveTo>
                <a:lnTo>
                  <a:pt x="313182" y="8890"/>
                </a:lnTo>
                <a:lnTo>
                  <a:pt x="614021" y="317995"/>
                </a:lnTo>
                <a:lnTo>
                  <a:pt x="618236" y="313563"/>
                </a:lnTo>
                <a:lnTo>
                  <a:pt x="627368" y="313563"/>
                </a:lnTo>
                <a:lnTo>
                  <a:pt x="32219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p/>
        </p:txBody>
      </p:sp>
      <p:sp>
        <p:nvSpPr>
          <p:cNvPr id="12" name="object 12"/>
          <p:cNvSpPr/>
          <p:nvPr/>
        </p:nvSpPr>
        <p:spPr>
          <a:xfrm>
            <a:off x="495172" y="3150743"/>
            <a:ext cx="1487805" cy="733425"/>
          </a:xfrm>
          <a:custGeom>
            <a:avLst/>
            <a:gdLst/>
            <a:ahLst/>
            <a:cxnLst/>
            <a:rect l="l" t="t" r="r" b="b"/>
            <a:pathLst>
              <a:path w="1487805" h="733425">
                <a:moveTo>
                  <a:pt x="1007491" y="0"/>
                </a:moveTo>
                <a:lnTo>
                  <a:pt x="0" y="0"/>
                </a:lnTo>
                <a:lnTo>
                  <a:pt x="477647" y="363982"/>
                </a:lnTo>
                <a:lnTo>
                  <a:pt x="0" y="733044"/>
                </a:lnTo>
                <a:lnTo>
                  <a:pt x="1007491" y="733044"/>
                </a:lnTo>
                <a:lnTo>
                  <a:pt x="1487424" y="363982"/>
                </a:lnTo>
                <a:lnTo>
                  <a:pt x="1007491" y="0"/>
                </a:lnTo>
                <a:close/>
              </a:path>
            </a:pathLst>
          </a:custGeom>
          <a:solidFill>
            <a:srgbClr val="FFC517"/>
          </a:solidFill>
        </p:spPr>
        <p:txBody>
          <a:bodyPr wrap="square" lIns="0" tIns="0" rIns="0" bIns="0" rtlCol="0"/>
          <a:p/>
        </p:txBody>
      </p:sp>
      <p:sp>
        <p:nvSpPr>
          <p:cNvPr id="13" name="object 13"/>
          <p:cNvSpPr txBox="1"/>
          <p:nvPr/>
        </p:nvSpPr>
        <p:spPr>
          <a:xfrm>
            <a:off x="920750" y="3127375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负极 材料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57043" y="3016148"/>
            <a:ext cx="820293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电位接近锂电位的可嵌入锂化合物</a:t>
            </a:r>
            <a:r>
              <a:rPr sz="2000" spc="5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石墨</a:t>
            </a:r>
            <a:r>
              <a:rPr sz="2000" spc="5" dirty="0">
                <a:latin typeface="微软雅黑" panose="020B0503020204020204" charset="-122"/>
                <a:cs typeface="微软雅黑" panose="020B0503020204020204" charset="-122"/>
              </a:rPr>
              <a:t>化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碳材</a:t>
            </a:r>
            <a:r>
              <a:rPr sz="2000" spc="5" dirty="0">
                <a:latin typeface="微软雅黑" panose="020B0503020204020204" charset="-122"/>
                <a:cs typeface="微软雅黑" panose="020B0503020204020204" charset="-122"/>
              </a:rPr>
              <a:t>料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、 </a:t>
            </a:r>
            <a:endParaRPr sz="20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人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造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天然石墨、金属氧化物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89735" y="4496435"/>
            <a:ext cx="7014845" cy="1400810"/>
          </a:xfrm>
          <a:custGeom>
            <a:avLst/>
            <a:gdLst/>
            <a:ahLst/>
            <a:cxnLst/>
            <a:rect l="l" t="t" r="r" b="b"/>
            <a:pathLst>
              <a:path w="9147175" h="1400810">
                <a:moveTo>
                  <a:pt x="0" y="1400556"/>
                </a:moveTo>
                <a:lnTo>
                  <a:pt x="9147048" y="1400556"/>
                </a:lnTo>
                <a:lnTo>
                  <a:pt x="9147048" y="0"/>
                </a:lnTo>
                <a:lnTo>
                  <a:pt x="0" y="0"/>
                </a:lnTo>
                <a:lnTo>
                  <a:pt x="0" y="1400556"/>
                </a:lnTo>
                <a:close/>
              </a:path>
            </a:pathLst>
          </a:custGeom>
          <a:ln w="12192">
            <a:solidFill>
              <a:srgbClr val="252525"/>
            </a:solidFill>
          </a:ln>
        </p:spPr>
        <p:txBody>
          <a:bodyPr wrap="square" lIns="0" tIns="0" rIns="0" bIns="0" rtlCol="0"/>
          <a:p/>
        </p:txBody>
      </p:sp>
      <p:sp>
        <p:nvSpPr>
          <p:cNvPr id="16" name="object 16"/>
          <p:cNvSpPr/>
          <p:nvPr/>
        </p:nvSpPr>
        <p:spPr>
          <a:xfrm>
            <a:off x="1461897" y="4891277"/>
            <a:ext cx="630555" cy="972185"/>
          </a:xfrm>
          <a:custGeom>
            <a:avLst/>
            <a:gdLst/>
            <a:ahLst/>
            <a:cxnLst/>
            <a:rect l="l" t="t" r="r" b="b"/>
            <a:pathLst>
              <a:path w="630555" h="972185">
                <a:moveTo>
                  <a:pt x="24717" y="920886"/>
                </a:moveTo>
                <a:lnTo>
                  <a:pt x="15226" y="922998"/>
                </a:lnTo>
                <a:lnTo>
                  <a:pt x="6984" y="928801"/>
                </a:lnTo>
                <a:lnTo>
                  <a:pt x="1623" y="937345"/>
                </a:lnTo>
                <a:lnTo>
                  <a:pt x="0" y="946948"/>
                </a:lnTo>
                <a:lnTo>
                  <a:pt x="2091" y="956453"/>
                </a:lnTo>
                <a:lnTo>
                  <a:pt x="7873" y="964704"/>
                </a:lnTo>
                <a:lnTo>
                  <a:pt x="16472" y="970060"/>
                </a:lnTo>
                <a:lnTo>
                  <a:pt x="26082" y="971667"/>
                </a:lnTo>
                <a:lnTo>
                  <a:pt x="35573" y="969555"/>
                </a:lnTo>
                <a:lnTo>
                  <a:pt x="43814" y="963752"/>
                </a:lnTo>
                <a:lnTo>
                  <a:pt x="49176" y="955208"/>
                </a:lnTo>
                <a:lnTo>
                  <a:pt x="49947" y="950645"/>
                </a:lnTo>
                <a:lnTo>
                  <a:pt x="29971" y="950645"/>
                </a:lnTo>
                <a:lnTo>
                  <a:pt x="20827" y="941908"/>
                </a:lnTo>
                <a:lnTo>
                  <a:pt x="37415" y="924417"/>
                </a:lnTo>
                <a:lnTo>
                  <a:pt x="34327" y="922493"/>
                </a:lnTo>
                <a:lnTo>
                  <a:pt x="24717" y="920886"/>
                </a:lnTo>
                <a:close/>
              </a:path>
              <a:path w="630555" h="972185">
                <a:moveTo>
                  <a:pt x="37415" y="924417"/>
                </a:moveTo>
                <a:lnTo>
                  <a:pt x="20827" y="941908"/>
                </a:lnTo>
                <a:lnTo>
                  <a:pt x="29971" y="950645"/>
                </a:lnTo>
                <a:lnTo>
                  <a:pt x="46608" y="933103"/>
                </a:lnTo>
                <a:lnTo>
                  <a:pt x="42925" y="927849"/>
                </a:lnTo>
                <a:lnTo>
                  <a:pt x="37415" y="924417"/>
                </a:lnTo>
                <a:close/>
              </a:path>
              <a:path w="630555" h="972185">
                <a:moveTo>
                  <a:pt x="46608" y="933103"/>
                </a:moveTo>
                <a:lnTo>
                  <a:pt x="29971" y="950645"/>
                </a:lnTo>
                <a:lnTo>
                  <a:pt x="49947" y="950645"/>
                </a:lnTo>
                <a:lnTo>
                  <a:pt x="50799" y="945605"/>
                </a:lnTo>
                <a:lnTo>
                  <a:pt x="48708" y="936100"/>
                </a:lnTo>
                <a:lnTo>
                  <a:pt x="46608" y="933103"/>
                </a:lnTo>
                <a:close/>
              </a:path>
              <a:path w="630555" h="972185">
                <a:moveTo>
                  <a:pt x="612508" y="317995"/>
                </a:moveTo>
                <a:lnTo>
                  <a:pt x="37415" y="924417"/>
                </a:lnTo>
                <a:lnTo>
                  <a:pt x="42925" y="927849"/>
                </a:lnTo>
                <a:lnTo>
                  <a:pt x="46608" y="933103"/>
                </a:lnTo>
                <a:lnTo>
                  <a:pt x="625831" y="322325"/>
                </a:lnTo>
                <a:lnTo>
                  <a:pt x="616711" y="322325"/>
                </a:lnTo>
                <a:lnTo>
                  <a:pt x="612508" y="317995"/>
                </a:lnTo>
                <a:close/>
              </a:path>
              <a:path w="630555" h="972185">
                <a:moveTo>
                  <a:pt x="616711" y="313563"/>
                </a:moveTo>
                <a:lnTo>
                  <a:pt x="612508" y="317995"/>
                </a:lnTo>
                <a:lnTo>
                  <a:pt x="616711" y="322325"/>
                </a:lnTo>
                <a:lnTo>
                  <a:pt x="616711" y="313563"/>
                </a:lnTo>
                <a:close/>
              </a:path>
              <a:path w="630555" h="972185">
                <a:moveTo>
                  <a:pt x="625854" y="313563"/>
                </a:moveTo>
                <a:lnTo>
                  <a:pt x="616711" y="313563"/>
                </a:lnTo>
                <a:lnTo>
                  <a:pt x="616711" y="322325"/>
                </a:lnTo>
                <a:lnTo>
                  <a:pt x="625831" y="322325"/>
                </a:lnTo>
                <a:lnTo>
                  <a:pt x="630046" y="317881"/>
                </a:lnTo>
                <a:lnTo>
                  <a:pt x="625854" y="313563"/>
                </a:lnTo>
                <a:close/>
              </a:path>
              <a:path w="630555" h="972185">
                <a:moveTo>
                  <a:pt x="321436" y="0"/>
                </a:moveTo>
                <a:lnTo>
                  <a:pt x="312419" y="8889"/>
                </a:lnTo>
                <a:lnTo>
                  <a:pt x="612508" y="317995"/>
                </a:lnTo>
                <a:lnTo>
                  <a:pt x="616711" y="313563"/>
                </a:lnTo>
                <a:lnTo>
                  <a:pt x="625854" y="313563"/>
                </a:lnTo>
                <a:lnTo>
                  <a:pt x="32143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p/>
        </p:txBody>
      </p:sp>
      <p:sp>
        <p:nvSpPr>
          <p:cNvPr id="17" name="object 17"/>
          <p:cNvSpPr/>
          <p:nvPr/>
        </p:nvSpPr>
        <p:spPr>
          <a:xfrm>
            <a:off x="495172" y="4929251"/>
            <a:ext cx="1521460" cy="631190"/>
          </a:xfrm>
          <a:custGeom>
            <a:avLst/>
            <a:gdLst/>
            <a:ahLst/>
            <a:cxnLst/>
            <a:rect l="l" t="t" r="r" b="b"/>
            <a:pathLst>
              <a:path w="1521460" h="631189">
                <a:moveTo>
                  <a:pt x="1030224" y="0"/>
                </a:moveTo>
                <a:lnTo>
                  <a:pt x="0" y="0"/>
                </a:lnTo>
                <a:lnTo>
                  <a:pt x="488442" y="313308"/>
                </a:lnTo>
                <a:lnTo>
                  <a:pt x="0" y="630935"/>
                </a:lnTo>
                <a:lnTo>
                  <a:pt x="1030224" y="630935"/>
                </a:lnTo>
                <a:lnTo>
                  <a:pt x="1520952" y="313308"/>
                </a:lnTo>
                <a:lnTo>
                  <a:pt x="1030224" y="0"/>
                </a:lnTo>
                <a:close/>
              </a:path>
            </a:pathLst>
          </a:custGeom>
          <a:solidFill>
            <a:srgbClr val="1FADE4"/>
          </a:solidFill>
        </p:spPr>
        <p:txBody>
          <a:bodyPr wrap="square" lIns="0" tIns="0" rIns="0" bIns="0" rtlCol="0"/>
          <a:p/>
        </p:txBody>
      </p:sp>
      <p:sp>
        <p:nvSpPr>
          <p:cNvPr id="18" name="object 18"/>
          <p:cNvSpPr txBox="1"/>
          <p:nvPr/>
        </p:nvSpPr>
        <p:spPr>
          <a:xfrm>
            <a:off x="937513" y="4990591"/>
            <a:ext cx="978471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0325" algn="l"/>
              </a:tabLst>
            </a:pPr>
            <a:r>
              <a:rPr sz="2000" b="1" baseline="10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聚烯微多孔膜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PP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PE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、复合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膜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PP/</a:t>
            </a:r>
            <a:r>
              <a:rPr sz="20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PE/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PP</a:t>
            </a:r>
            <a:r>
              <a:rPr sz="2000" spc="-5" dirty="0">
                <a:latin typeface="微软雅黑" panose="020B0503020204020204" charset="-122"/>
                <a:cs typeface="微软雅黑" panose="020B0503020204020204" charset="-122"/>
              </a:rPr>
              <a:t>三层隔膜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9645" y="5051425"/>
            <a:ext cx="11258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 spc="-7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隔</a:t>
            </a:r>
            <a:r>
              <a:rPr sz="24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膜</a:t>
            </a:r>
            <a:endParaRPr lang="zh-CN" altLang="en-US" sz="2400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5"/>
          <p:cNvSpPr/>
          <p:nvPr/>
        </p:nvSpPr>
        <p:spPr>
          <a:xfrm>
            <a:off x="1719580" y="1513205"/>
            <a:ext cx="6002020" cy="1400810"/>
          </a:xfrm>
          <a:custGeom>
            <a:avLst/>
            <a:gdLst/>
            <a:ahLst/>
            <a:cxnLst/>
            <a:rect l="l" t="t" r="r" b="b"/>
            <a:pathLst>
              <a:path w="9147175" h="1400810">
                <a:moveTo>
                  <a:pt x="0" y="1400556"/>
                </a:moveTo>
                <a:lnTo>
                  <a:pt x="9147048" y="1400556"/>
                </a:lnTo>
                <a:lnTo>
                  <a:pt x="9147048" y="0"/>
                </a:lnTo>
                <a:lnTo>
                  <a:pt x="0" y="0"/>
                </a:lnTo>
                <a:lnTo>
                  <a:pt x="0" y="1400556"/>
                </a:lnTo>
                <a:close/>
              </a:path>
            </a:pathLst>
          </a:custGeom>
          <a:ln w="12192">
            <a:solidFill>
              <a:srgbClr val="252525"/>
            </a:solidFill>
          </a:ln>
        </p:spPr>
        <p:txBody>
          <a:bodyPr wrap="square" lIns="0" tIns="0" rIns="0" bIns="0" rtlCol="0"/>
          <a:p/>
        </p:txBody>
      </p:sp>
      <p:sp>
        <p:nvSpPr>
          <p:cNvPr id="6" name="object 6"/>
          <p:cNvSpPr/>
          <p:nvPr/>
        </p:nvSpPr>
        <p:spPr>
          <a:xfrm>
            <a:off x="1491742" y="1908175"/>
            <a:ext cx="630555" cy="972185"/>
          </a:xfrm>
          <a:custGeom>
            <a:avLst/>
            <a:gdLst/>
            <a:ahLst/>
            <a:cxnLst/>
            <a:rect l="l" t="t" r="r" b="b"/>
            <a:pathLst>
              <a:path w="630555" h="972185">
                <a:moveTo>
                  <a:pt x="24717" y="920876"/>
                </a:moveTo>
                <a:lnTo>
                  <a:pt x="15226" y="922968"/>
                </a:lnTo>
                <a:lnTo>
                  <a:pt x="6984" y="928751"/>
                </a:lnTo>
                <a:lnTo>
                  <a:pt x="1623" y="937349"/>
                </a:lnTo>
                <a:lnTo>
                  <a:pt x="0" y="946959"/>
                </a:lnTo>
                <a:lnTo>
                  <a:pt x="2091" y="956450"/>
                </a:lnTo>
                <a:lnTo>
                  <a:pt x="7873" y="964691"/>
                </a:lnTo>
                <a:lnTo>
                  <a:pt x="16472" y="970053"/>
                </a:lnTo>
                <a:lnTo>
                  <a:pt x="26082" y="971676"/>
                </a:lnTo>
                <a:lnTo>
                  <a:pt x="35573" y="969585"/>
                </a:lnTo>
                <a:lnTo>
                  <a:pt x="43814" y="963802"/>
                </a:lnTo>
                <a:lnTo>
                  <a:pt x="49176" y="955204"/>
                </a:lnTo>
                <a:lnTo>
                  <a:pt x="49955" y="950595"/>
                </a:lnTo>
                <a:lnTo>
                  <a:pt x="29971" y="950595"/>
                </a:lnTo>
                <a:lnTo>
                  <a:pt x="20827" y="941959"/>
                </a:lnTo>
                <a:lnTo>
                  <a:pt x="37439" y="924440"/>
                </a:lnTo>
                <a:lnTo>
                  <a:pt x="34327" y="922500"/>
                </a:lnTo>
                <a:lnTo>
                  <a:pt x="24717" y="920876"/>
                </a:lnTo>
                <a:close/>
              </a:path>
              <a:path w="630555" h="972185">
                <a:moveTo>
                  <a:pt x="37439" y="924440"/>
                </a:moveTo>
                <a:lnTo>
                  <a:pt x="20827" y="941959"/>
                </a:lnTo>
                <a:lnTo>
                  <a:pt x="29971" y="950595"/>
                </a:lnTo>
                <a:lnTo>
                  <a:pt x="46585" y="933077"/>
                </a:lnTo>
                <a:lnTo>
                  <a:pt x="42925" y="927862"/>
                </a:lnTo>
                <a:lnTo>
                  <a:pt x="37439" y="924440"/>
                </a:lnTo>
                <a:close/>
              </a:path>
              <a:path w="630555" h="972185">
                <a:moveTo>
                  <a:pt x="46585" y="933077"/>
                </a:moveTo>
                <a:lnTo>
                  <a:pt x="29971" y="950595"/>
                </a:lnTo>
                <a:lnTo>
                  <a:pt x="49955" y="950595"/>
                </a:lnTo>
                <a:lnTo>
                  <a:pt x="50799" y="945594"/>
                </a:lnTo>
                <a:lnTo>
                  <a:pt x="48708" y="936103"/>
                </a:lnTo>
                <a:lnTo>
                  <a:pt x="46585" y="933077"/>
                </a:lnTo>
                <a:close/>
              </a:path>
              <a:path w="630555" h="972185">
                <a:moveTo>
                  <a:pt x="612508" y="317996"/>
                </a:moveTo>
                <a:lnTo>
                  <a:pt x="37439" y="924440"/>
                </a:lnTo>
                <a:lnTo>
                  <a:pt x="42925" y="927862"/>
                </a:lnTo>
                <a:lnTo>
                  <a:pt x="46585" y="933077"/>
                </a:lnTo>
                <a:lnTo>
                  <a:pt x="625831" y="322325"/>
                </a:lnTo>
                <a:lnTo>
                  <a:pt x="616711" y="322325"/>
                </a:lnTo>
                <a:lnTo>
                  <a:pt x="612508" y="317996"/>
                </a:lnTo>
                <a:close/>
              </a:path>
              <a:path w="630555" h="972185">
                <a:moveTo>
                  <a:pt x="616711" y="313563"/>
                </a:moveTo>
                <a:lnTo>
                  <a:pt x="612508" y="317996"/>
                </a:lnTo>
                <a:lnTo>
                  <a:pt x="616711" y="322325"/>
                </a:lnTo>
                <a:lnTo>
                  <a:pt x="616711" y="313563"/>
                </a:lnTo>
                <a:close/>
              </a:path>
              <a:path w="630555" h="972185">
                <a:moveTo>
                  <a:pt x="625854" y="313563"/>
                </a:moveTo>
                <a:lnTo>
                  <a:pt x="616711" y="313563"/>
                </a:lnTo>
                <a:lnTo>
                  <a:pt x="616711" y="322325"/>
                </a:lnTo>
                <a:lnTo>
                  <a:pt x="625831" y="322325"/>
                </a:lnTo>
                <a:lnTo>
                  <a:pt x="630046" y="317880"/>
                </a:lnTo>
                <a:lnTo>
                  <a:pt x="625854" y="313563"/>
                </a:lnTo>
                <a:close/>
              </a:path>
              <a:path w="630555" h="972185">
                <a:moveTo>
                  <a:pt x="321436" y="0"/>
                </a:moveTo>
                <a:lnTo>
                  <a:pt x="312419" y="8889"/>
                </a:lnTo>
                <a:lnTo>
                  <a:pt x="612508" y="317996"/>
                </a:lnTo>
                <a:lnTo>
                  <a:pt x="616711" y="313563"/>
                </a:lnTo>
                <a:lnTo>
                  <a:pt x="625854" y="313563"/>
                </a:lnTo>
                <a:lnTo>
                  <a:pt x="32143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p/>
        </p:txBody>
      </p:sp>
      <p:sp>
        <p:nvSpPr>
          <p:cNvPr id="7" name="object 7"/>
          <p:cNvSpPr/>
          <p:nvPr/>
        </p:nvSpPr>
        <p:spPr>
          <a:xfrm>
            <a:off x="137921" y="1853183"/>
            <a:ext cx="1874520" cy="733425"/>
          </a:xfrm>
          <a:custGeom>
            <a:avLst/>
            <a:gdLst/>
            <a:ahLst/>
            <a:cxnLst/>
            <a:rect l="l" t="t" r="r" b="b"/>
            <a:pathLst>
              <a:path w="1874520" h="733425">
                <a:moveTo>
                  <a:pt x="1269619" y="0"/>
                </a:moveTo>
                <a:lnTo>
                  <a:pt x="0" y="0"/>
                </a:lnTo>
                <a:lnTo>
                  <a:pt x="602018" y="363981"/>
                </a:lnTo>
                <a:lnTo>
                  <a:pt x="0" y="733043"/>
                </a:lnTo>
                <a:lnTo>
                  <a:pt x="1269619" y="733043"/>
                </a:lnTo>
                <a:lnTo>
                  <a:pt x="1874520" y="363981"/>
                </a:lnTo>
                <a:lnTo>
                  <a:pt x="126961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p/>
        </p:txBody>
      </p:sp>
      <p:sp>
        <p:nvSpPr>
          <p:cNvPr id="8" name="object 8"/>
          <p:cNvSpPr txBox="1"/>
          <p:nvPr/>
        </p:nvSpPr>
        <p:spPr>
          <a:xfrm>
            <a:off x="739698" y="2012060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电解液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8727" y="1981961"/>
            <a:ext cx="8192770" cy="76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LiPF</a:t>
            </a:r>
            <a:r>
              <a:rPr sz="2400" baseline="-2100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的烷基碳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酸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酯：碳酸乙烯</a:t>
            </a:r>
            <a:r>
              <a:rPr sz="2400" spc="5" dirty="0">
                <a:latin typeface="微软雅黑" panose="020B0503020204020204" charset="-122"/>
                <a:cs typeface="微软雅黑" panose="020B0503020204020204" charset="-122"/>
              </a:rPr>
              <a:t>酯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EC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endParaRPr sz="24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碳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酸丙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烯酯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PC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19580" y="3706495"/>
            <a:ext cx="6001385" cy="1864995"/>
          </a:xfrm>
          <a:custGeom>
            <a:avLst/>
            <a:gdLst/>
            <a:ahLst/>
            <a:cxnLst/>
            <a:rect l="l" t="t" r="r" b="b"/>
            <a:pathLst>
              <a:path w="9147175" h="1536700">
                <a:moveTo>
                  <a:pt x="0" y="1536191"/>
                </a:moveTo>
                <a:lnTo>
                  <a:pt x="9147048" y="1536191"/>
                </a:lnTo>
                <a:lnTo>
                  <a:pt x="9147048" y="0"/>
                </a:lnTo>
                <a:lnTo>
                  <a:pt x="0" y="0"/>
                </a:lnTo>
                <a:lnTo>
                  <a:pt x="0" y="1536191"/>
                </a:lnTo>
                <a:close/>
              </a:path>
            </a:pathLst>
          </a:custGeom>
          <a:ln w="12191">
            <a:solidFill>
              <a:srgbClr val="252525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11"/>
          <p:cNvSpPr/>
          <p:nvPr/>
        </p:nvSpPr>
        <p:spPr>
          <a:xfrm>
            <a:off x="1491742" y="3868039"/>
            <a:ext cx="630555" cy="972185"/>
          </a:xfrm>
          <a:custGeom>
            <a:avLst/>
            <a:gdLst/>
            <a:ahLst/>
            <a:cxnLst/>
            <a:rect l="l" t="t" r="r" b="b"/>
            <a:pathLst>
              <a:path w="630555" h="972185">
                <a:moveTo>
                  <a:pt x="24717" y="920877"/>
                </a:moveTo>
                <a:lnTo>
                  <a:pt x="15226" y="922968"/>
                </a:lnTo>
                <a:lnTo>
                  <a:pt x="6984" y="928751"/>
                </a:lnTo>
                <a:lnTo>
                  <a:pt x="1623" y="937349"/>
                </a:lnTo>
                <a:lnTo>
                  <a:pt x="0" y="946959"/>
                </a:lnTo>
                <a:lnTo>
                  <a:pt x="2091" y="956450"/>
                </a:lnTo>
                <a:lnTo>
                  <a:pt x="7873" y="964692"/>
                </a:lnTo>
                <a:lnTo>
                  <a:pt x="16472" y="970053"/>
                </a:lnTo>
                <a:lnTo>
                  <a:pt x="26082" y="971676"/>
                </a:lnTo>
                <a:lnTo>
                  <a:pt x="35573" y="969585"/>
                </a:lnTo>
                <a:lnTo>
                  <a:pt x="43814" y="963803"/>
                </a:lnTo>
                <a:lnTo>
                  <a:pt x="49176" y="955204"/>
                </a:lnTo>
                <a:lnTo>
                  <a:pt x="49955" y="950594"/>
                </a:lnTo>
                <a:lnTo>
                  <a:pt x="29971" y="950594"/>
                </a:lnTo>
                <a:lnTo>
                  <a:pt x="20827" y="941959"/>
                </a:lnTo>
                <a:lnTo>
                  <a:pt x="37439" y="924440"/>
                </a:lnTo>
                <a:lnTo>
                  <a:pt x="34327" y="922500"/>
                </a:lnTo>
                <a:lnTo>
                  <a:pt x="24717" y="920877"/>
                </a:lnTo>
                <a:close/>
              </a:path>
              <a:path w="630555" h="972185">
                <a:moveTo>
                  <a:pt x="37439" y="924440"/>
                </a:moveTo>
                <a:lnTo>
                  <a:pt x="20827" y="941959"/>
                </a:lnTo>
                <a:lnTo>
                  <a:pt x="29971" y="950594"/>
                </a:lnTo>
                <a:lnTo>
                  <a:pt x="46585" y="933077"/>
                </a:lnTo>
                <a:lnTo>
                  <a:pt x="42925" y="927862"/>
                </a:lnTo>
                <a:lnTo>
                  <a:pt x="37439" y="924440"/>
                </a:lnTo>
                <a:close/>
              </a:path>
              <a:path w="630555" h="972185">
                <a:moveTo>
                  <a:pt x="46585" y="933077"/>
                </a:moveTo>
                <a:lnTo>
                  <a:pt x="29971" y="950594"/>
                </a:lnTo>
                <a:lnTo>
                  <a:pt x="49955" y="950594"/>
                </a:lnTo>
                <a:lnTo>
                  <a:pt x="50799" y="945594"/>
                </a:lnTo>
                <a:lnTo>
                  <a:pt x="48708" y="936103"/>
                </a:lnTo>
                <a:lnTo>
                  <a:pt x="46585" y="933077"/>
                </a:lnTo>
                <a:close/>
              </a:path>
              <a:path w="630555" h="972185">
                <a:moveTo>
                  <a:pt x="612508" y="317996"/>
                </a:moveTo>
                <a:lnTo>
                  <a:pt x="37439" y="924440"/>
                </a:lnTo>
                <a:lnTo>
                  <a:pt x="42925" y="927862"/>
                </a:lnTo>
                <a:lnTo>
                  <a:pt x="46585" y="933077"/>
                </a:lnTo>
                <a:lnTo>
                  <a:pt x="625831" y="322325"/>
                </a:lnTo>
                <a:lnTo>
                  <a:pt x="616711" y="322325"/>
                </a:lnTo>
                <a:lnTo>
                  <a:pt x="612508" y="317996"/>
                </a:lnTo>
                <a:close/>
              </a:path>
              <a:path w="630555" h="972185">
                <a:moveTo>
                  <a:pt x="616711" y="313563"/>
                </a:moveTo>
                <a:lnTo>
                  <a:pt x="612508" y="317996"/>
                </a:lnTo>
                <a:lnTo>
                  <a:pt x="616711" y="322325"/>
                </a:lnTo>
                <a:lnTo>
                  <a:pt x="616711" y="313563"/>
                </a:lnTo>
                <a:close/>
              </a:path>
              <a:path w="630555" h="972185">
                <a:moveTo>
                  <a:pt x="625854" y="313563"/>
                </a:moveTo>
                <a:lnTo>
                  <a:pt x="616711" y="313563"/>
                </a:lnTo>
                <a:lnTo>
                  <a:pt x="616711" y="322325"/>
                </a:lnTo>
                <a:lnTo>
                  <a:pt x="625831" y="322325"/>
                </a:lnTo>
                <a:lnTo>
                  <a:pt x="630046" y="317881"/>
                </a:lnTo>
                <a:lnTo>
                  <a:pt x="625854" y="313563"/>
                </a:lnTo>
                <a:close/>
              </a:path>
              <a:path w="630555" h="972185">
                <a:moveTo>
                  <a:pt x="321436" y="0"/>
                </a:moveTo>
                <a:lnTo>
                  <a:pt x="312419" y="8890"/>
                </a:lnTo>
                <a:lnTo>
                  <a:pt x="612508" y="317996"/>
                </a:lnTo>
                <a:lnTo>
                  <a:pt x="616711" y="313563"/>
                </a:lnTo>
                <a:lnTo>
                  <a:pt x="625854" y="313563"/>
                </a:lnTo>
                <a:lnTo>
                  <a:pt x="32143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p/>
        </p:txBody>
      </p:sp>
      <p:sp>
        <p:nvSpPr>
          <p:cNvPr id="12" name="object 12"/>
          <p:cNvSpPr/>
          <p:nvPr/>
        </p:nvSpPr>
        <p:spPr>
          <a:xfrm>
            <a:off x="137921" y="3872484"/>
            <a:ext cx="1874520" cy="733425"/>
          </a:xfrm>
          <a:custGeom>
            <a:avLst/>
            <a:gdLst/>
            <a:ahLst/>
            <a:cxnLst/>
            <a:rect l="l" t="t" r="r" b="b"/>
            <a:pathLst>
              <a:path w="1874520" h="733425">
                <a:moveTo>
                  <a:pt x="1269619" y="0"/>
                </a:moveTo>
                <a:lnTo>
                  <a:pt x="0" y="0"/>
                </a:lnTo>
                <a:lnTo>
                  <a:pt x="602018" y="363982"/>
                </a:lnTo>
                <a:lnTo>
                  <a:pt x="0" y="733044"/>
                </a:lnTo>
                <a:lnTo>
                  <a:pt x="1269619" y="733044"/>
                </a:lnTo>
                <a:lnTo>
                  <a:pt x="1874520" y="363982"/>
                </a:lnTo>
                <a:lnTo>
                  <a:pt x="1269619" y="0"/>
                </a:lnTo>
                <a:close/>
              </a:path>
            </a:pathLst>
          </a:custGeom>
          <a:solidFill>
            <a:srgbClr val="FFC517"/>
          </a:solidFill>
        </p:spPr>
        <p:txBody>
          <a:bodyPr wrap="square" lIns="0" tIns="0" rIns="0" bIns="0" rtlCol="0"/>
          <a:p/>
        </p:txBody>
      </p:sp>
      <p:sp>
        <p:nvSpPr>
          <p:cNvPr id="13" name="object 13"/>
          <p:cNvSpPr txBox="1"/>
          <p:nvPr/>
        </p:nvSpPr>
        <p:spPr>
          <a:xfrm>
            <a:off x="575106" y="3849370"/>
            <a:ext cx="99821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41275" marR="5080" indent="-29210">
              <a:lnSpc>
                <a:spcPct val="100000"/>
              </a:lnSpc>
              <a:spcBef>
                <a:spcPts val="100"/>
              </a:spcBef>
              <a:tabLst>
                <a:tab pos="680085" algn="l"/>
              </a:tabLst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外	壳 集流体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0130" y="3862070"/>
            <a:ext cx="8196580" cy="1781810"/>
          </a:xfrm>
          <a:prstGeom prst="rect">
            <a:avLst/>
          </a:prstGeom>
        </p:spPr>
        <p:txBody>
          <a:bodyPr vert="horz" wrap="square" lIns="0" tIns="140335" rIns="0" bIns="0" rtlCol="0">
            <a:noAutofit/>
          </a:bodyPr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外壳金属：钢、铝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集流体：铝片、铜片、钢片、</a:t>
            </a:r>
            <a:endParaRPr sz="2400" spc="-1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泡沫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镍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、碳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布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、泡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沫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铜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629" y="188640"/>
            <a:ext cx="8540750" cy="1143000"/>
          </a:xfrm>
        </p:spPr>
        <p:txBody>
          <a:bodyPr/>
          <a:lstStyle/>
          <a:p>
            <a:r>
              <a:rPr lang="zh-CN" altLang="en-US" dirty="0"/>
              <a:t>商用锂离子电池构造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61" y="1241110"/>
            <a:ext cx="8514110" cy="561689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76672"/>
            <a:ext cx="4435693" cy="72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7" y="1268760"/>
            <a:ext cx="8770935" cy="524399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1979041" y="1556639"/>
            <a:ext cx="4064000" cy="4064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5483" y="476250"/>
            <a:ext cx="7772400" cy="136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201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pc="10" dirty="0"/>
              <a:t>年诺贝尔化学奖</a:t>
            </a:r>
            <a:endParaRPr spc="10" dirty="0"/>
          </a:p>
        </p:txBody>
      </p:sp>
    </p:spTree>
  </p:cSld>
  <p:clrMapOvr>
    <a:masterClrMapping/>
  </p:clrMapOvr>
  <p:transition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495" y="980440"/>
            <a:ext cx="6224905" cy="47034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15135" y="972820"/>
            <a:ext cx="5875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/>
              <a:t>2022上半年全球新能源汽车销量排名</a:t>
            </a:r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341120"/>
            <a:ext cx="8633460" cy="5015865"/>
          </a:xfrm>
          <a:prstGeom prst="rect">
            <a:avLst/>
          </a:prstGeom>
        </p:spPr>
      </p:pic>
      <p:sp>
        <p:nvSpPr>
          <p:cNvPr id="7" name="object 6"/>
          <p:cNvSpPr txBox="1">
            <a:spLocks noGrp="1"/>
          </p:cNvSpPr>
          <p:nvPr>
            <p:ph type="title"/>
          </p:nvPr>
        </p:nvSpPr>
        <p:spPr>
          <a:xfrm>
            <a:off x="685483" y="188595"/>
            <a:ext cx="7772400" cy="443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lvl="0" algn="l">
              <a:spcBef>
                <a:spcPts val="105"/>
              </a:spcBef>
              <a:buClrTx/>
              <a:buSzTx/>
              <a:buFontTx/>
            </a:pPr>
            <a:r>
              <a:rPr sz="3200" spc="10" dirty="0">
                <a:sym typeface="+mn-ea"/>
              </a:rPr>
              <a:t>我国新能源产业快速发展</a:t>
            </a:r>
            <a:endParaRPr sz="3200" spc="1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2136648" y="5609842"/>
            <a:ext cx="4416552" cy="3886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5" name="object 3"/>
          <p:cNvSpPr/>
          <p:nvPr/>
        </p:nvSpPr>
        <p:spPr>
          <a:xfrm>
            <a:off x="1155191" y="4404359"/>
            <a:ext cx="6330696" cy="1289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6" name="object 4"/>
          <p:cNvSpPr/>
          <p:nvPr/>
        </p:nvSpPr>
        <p:spPr>
          <a:xfrm>
            <a:off x="1459991" y="4277867"/>
            <a:ext cx="5757672" cy="819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7" name="object 5"/>
          <p:cNvSpPr/>
          <p:nvPr/>
        </p:nvSpPr>
        <p:spPr>
          <a:xfrm>
            <a:off x="1790700" y="4887467"/>
            <a:ext cx="2266188" cy="819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8" name="object 6"/>
          <p:cNvSpPr/>
          <p:nvPr/>
        </p:nvSpPr>
        <p:spPr>
          <a:xfrm>
            <a:off x="3389376" y="4887467"/>
            <a:ext cx="822960" cy="819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9" name="object 7"/>
          <p:cNvSpPr/>
          <p:nvPr/>
        </p:nvSpPr>
        <p:spPr>
          <a:xfrm>
            <a:off x="3544823" y="4887467"/>
            <a:ext cx="3459479" cy="8199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10" name="object 8"/>
          <p:cNvSpPr/>
          <p:nvPr/>
        </p:nvSpPr>
        <p:spPr>
          <a:xfrm>
            <a:off x="6336791" y="4887467"/>
            <a:ext cx="781812" cy="8199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11" name="object 9"/>
          <p:cNvSpPr txBox="1"/>
          <p:nvPr/>
        </p:nvSpPr>
        <p:spPr>
          <a:xfrm>
            <a:off x="1762505" y="4444746"/>
            <a:ext cx="5118735" cy="1195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algn="ctr">
              <a:lnSpc>
                <a:spcPts val="4610"/>
              </a:lnSpc>
              <a:spcBef>
                <a:spcPts val="95"/>
              </a:spcBef>
            </a:pPr>
            <a:r>
              <a:rPr sz="4000" b="1" spc="5" dirty="0">
                <a:solidFill>
                  <a:srgbClr val="92D05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锂离子电池的正极材料</a:t>
            </a:r>
            <a:endParaRPr sz="4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algn="ctr">
              <a:lnSpc>
                <a:spcPts val="4610"/>
              </a:lnSpc>
            </a:pPr>
            <a:r>
              <a:rPr sz="4000" b="1" spc="-5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Lithium-ion</a:t>
            </a:r>
            <a:r>
              <a:rPr sz="4000" b="1" spc="-10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25" dirty="0">
                <a:solidFill>
                  <a:srgbClr val="92D050"/>
                </a:solidFill>
                <a:latin typeface="Calibri" panose="020F0502020204030204"/>
                <a:cs typeface="Calibri" panose="020F0502020204030204"/>
              </a:rPr>
              <a:t>Batteries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0"/>
          <p:cNvSpPr/>
          <p:nvPr/>
        </p:nvSpPr>
        <p:spPr>
          <a:xfrm>
            <a:off x="2386583" y="649223"/>
            <a:ext cx="3666744" cy="3314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13" name="object 11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2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3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4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5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6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7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18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19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0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1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2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3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4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5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6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7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28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29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0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1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2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3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4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5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6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bject 37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 38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bject 39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40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0" y="991478"/>
            <a:ext cx="8892480" cy="58665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1600" y="222037"/>
            <a:ext cx="69113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3.3.3.2 </a:t>
            </a:r>
            <a:r>
              <a:rPr lang="zh-CN" altLang="en-US" dirty="0">
                <a:solidFill>
                  <a:srgbClr val="FF0000"/>
                </a:solidFill>
              </a:rPr>
              <a:t>锂离子电池正极材料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5576" y="404664"/>
            <a:ext cx="81067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锂离子电池对于正极材料的要求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585" y="1174274"/>
            <a:ext cx="9144000" cy="5733256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46" y="404664"/>
            <a:ext cx="6172308" cy="7920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0768"/>
            <a:ext cx="9144000" cy="4959718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619250" y="2996565"/>
            <a:ext cx="1015365" cy="5041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851910" y="2996565"/>
            <a:ext cx="868680" cy="5041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668260" y="2996565"/>
            <a:ext cx="1015365" cy="5041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155690" y="2996565"/>
            <a:ext cx="1015365" cy="51054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619250" y="1340485"/>
            <a:ext cx="1015365" cy="5041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308215" y="1412875"/>
            <a:ext cx="1718310" cy="5041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10785" y="1449070"/>
            <a:ext cx="1080135" cy="431800"/>
          </a:xfrm>
          <a:prstGeom prst="rect">
            <a:avLst/>
          </a:prstGeom>
          <a:noFill/>
          <a:ln w="34925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03800" y="4004945"/>
            <a:ext cx="1080135" cy="431800"/>
          </a:xfrm>
          <a:prstGeom prst="rect">
            <a:avLst/>
          </a:prstGeom>
          <a:noFill/>
          <a:ln w="349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76672"/>
            <a:ext cx="4285354" cy="576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2" y="1060444"/>
            <a:ext cx="8941026" cy="568092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656"/>
            <a:ext cx="9185020" cy="612068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04664"/>
            <a:ext cx="4032448" cy="6245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469"/>
            <a:ext cx="9144000" cy="54241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24300" y="3429000"/>
            <a:ext cx="491236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3500" indent="0">
              <a:lnSpc>
                <a:spcPct val="100000"/>
              </a:lnSpc>
              <a:spcBef>
                <a:spcPts val="1540"/>
              </a:spcBef>
              <a:buFont typeface="Arial" panose="020B0604020202020204"/>
              <a:buNone/>
              <a:tabLst>
                <a:tab pos="405765" algn="l"/>
                <a:tab pos="406400" algn="l"/>
              </a:tabLst>
            </a:pPr>
            <a:r>
              <a:rPr sz="2000" b="0" spc="-5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Ni</a:t>
            </a:r>
            <a:r>
              <a:rPr sz="2000" b="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较难氧化为＋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3</a:t>
            </a:r>
            <a:r>
              <a:rPr sz="2000" b="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价，必须在较高温度下进行；在较高温度下易生成缺锂的氧化镍锂，很难批量制备 理想的层状结构</a:t>
            </a:r>
            <a:r>
              <a:rPr lang="zh-CN" sz="2000" b="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sz="2000" b="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1" y="404664"/>
            <a:ext cx="9118139" cy="576064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01" y="117009"/>
            <a:ext cx="4211668" cy="576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8" y="980728"/>
            <a:ext cx="9002487" cy="581979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664"/>
            <a:ext cx="9175113" cy="597666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6" y="875580"/>
            <a:ext cx="9147516" cy="5789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32656"/>
            <a:ext cx="4381500" cy="542925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04664"/>
            <a:ext cx="4360484" cy="72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1124743"/>
            <a:ext cx="9252520" cy="5733257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" y="404664"/>
            <a:ext cx="9122232" cy="5904656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04664"/>
            <a:ext cx="535305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64"/>
            <a:ext cx="9144000" cy="5945909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32656"/>
            <a:ext cx="9117496" cy="619268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8427211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6537" y="1111313"/>
          <a:ext cx="8722360" cy="497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380"/>
                <a:gridCol w="1347470"/>
                <a:gridCol w="1263650"/>
                <a:gridCol w="1056639"/>
                <a:gridCol w="3493769"/>
              </a:tblGrid>
              <a:tr h="896112">
                <a:tc>
                  <a:txBody>
                    <a:bodyPr/>
                    <a:p>
                      <a:pPr marL="254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正极材料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名称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理论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比容量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实际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比容量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221615" marR="2139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电位 平台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780"/>
                        </a:spcBef>
                        <a:tabLst>
                          <a:tab pos="603250" algn="l"/>
                        </a:tabLst>
                      </a:pP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特	点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6112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LiCoO</a:t>
                      </a:r>
                      <a:r>
                        <a:rPr sz="2400" b="1" spc="-7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400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275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mAh/g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2863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130</a:t>
                      </a:r>
                      <a:r>
                        <a:rPr sz="24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~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140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4V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29945" marR="213360" indent="-609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性能稳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定，高比容量， </a:t>
                      </a: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放电平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台平稳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6112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LiNiO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400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274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mAh/g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28638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180</a:t>
                      </a:r>
                      <a:r>
                        <a:rPr sz="24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~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210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4V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29945" marR="213360" indent="-6096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高比容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量，价格较低热 </a:t>
                      </a: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稳定性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较差，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92124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LiMn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400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02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148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mAh/g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286385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100</a:t>
                      </a:r>
                      <a:r>
                        <a:rPr sz="24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~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120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4V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982345" marR="213360" indent="-7620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低成本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，高温循环和存 </a:t>
                      </a: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放性能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较差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70444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LiFePO</a:t>
                      </a:r>
                      <a:r>
                        <a:rPr sz="2400" b="1" spc="-7" baseline="-210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400" baseline="-2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170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mAh/g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22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latin typeface="Symbol" panose="05050102010706020507"/>
                          <a:cs typeface="Symbol" panose="05050102010706020507"/>
                        </a:rPr>
                        <a:t></a:t>
                      </a:r>
                      <a:r>
                        <a:rPr sz="24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150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3.5V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92075" marR="340995" algn="just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优异的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循环稳</a:t>
                      </a:r>
                      <a:r>
                        <a:rPr sz="2400" b="1" spc="-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定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性，适 </a:t>
                      </a: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于大电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流放电，安全性 </a:t>
                      </a:r>
                      <a:r>
                        <a:rPr sz="24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能好，</a:t>
                      </a:r>
                      <a:r>
                        <a:rPr sz="2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低成本，环保。</a:t>
                      </a:r>
                      <a:endParaRPr sz="2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600" y="222037"/>
            <a:ext cx="69113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3.3.4.3 </a:t>
            </a:r>
            <a:r>
              <a:rPr lang="zh-CN" altLang="en-US" dirty="0">
                <a:solidFill>
                  <a:srgbClr val="FF0000"/>
                </a:solidFill>
              </a:rPr>
              <a:t>锂离子电池负极材料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1187"/>
            <a:ext cx="9144000" cy="556415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04664"/>
            <a:ext cx="5086350" cy="504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489"/>
            <a:ext cx="9036496" cy="575573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663"/>
            <a:ext cx="8964488" cy="6453337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12" y="404664"/>
            <a:ext cx="2009775" cy="514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1" y="927195"/>
            <a:ext cx="9126759" cy="5742166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04664"/>
            <a:ext cx="2409825" cy="504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0" y="909489"/>
            <a:ext cx="9118780" cy="562494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32656"/>
            <a:ext cx="2409825" cy="476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" y="808906"/>
            <a:ext cx="9122296" cy="5838732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62" y="404664"/>
            <a:ext cx="4878909" cy="5760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6204"/>
            <a:ext cx="9144000" cy="5467131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32656"/>
            <a:ext cx="2364036" cy="72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36"/>
            <a:ext cx="9144000" cy="547260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32656"/>
            <a:ext cx="2788150" cy="7920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" y="1124744"/>
            <a:ext cx="9103221" cy="5328592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656"/>
            <a:ext cx="9119025" cy="612068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35696" y="260648"/>
            <a:ext cx="6409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锂离子电池其它负极材料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8546"/>
            <a:ext cx="9144000" cy="544479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3" y="404664"/>
            <a:ext cx="3221691" cy="576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" y="980728"/>
            <a:ext cx="9116977" cy="547260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1" y="332656"/>
            <a:ext cx="6070121" cy="5040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6712"/>
            <a:ext cx="9144000" cy="5688632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9" y="404664"/>
            <a:ext cx="3600400" cy="745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96752"/>
            <a:ext cx="9144000" cy="565273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32656"/>
            <a:ext cx="4816064" cy="6480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0727"/>
            <a:ext cx="9144000" cy="5544617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" y="404664"/>
            <a:ext cx="9107691" cy="597666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" y="476672"/>
            <a:ext cx="9091938" cy="5904656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664"/>
            <a:ext cx="9168923" cy="5832648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99" y="332656"/>
            <a:ext cx="3825065" cy="576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908719"/>
            <a:ext cx="9142715" cy="5677985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2054" y="620688"/>
            <a:ext cx="9022022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添加剂的作用：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i="0" u="none" strike="noStrike" baseline="0" dirty="0">
                <a:solidFill>
                  <a:srgbClr val="FF0000"/>
                </a:solidFill>
                <a:latin typeface="Wingdings-Regular"/>
                <a:ea typeface="宋体" panose="02010600030101010101" pitchFamily="2" charset="-122"/>
              </a:rPr>
              <a:t>Ø </a:t>
            </a: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改善</a:t>
            </a:r>
            <a:r>
              <a:rPr lang="en-US" altLang="zh-CN" sz="2800" i="0" u="none" strike="noStrike" baseline="0" dirty="0">
                <a:solidFill>
                  <a:srgbClr val="FF0000"/>
                </a:solidFill>
                <a:latin typeface="TimesNewRomanPS-BoldMT"/>
                <a:ea typeface="宋体" panose="02010600030101010101" pitchFamily="2" charset="-122"/>
              </a:rPr>
              <a:t>SEI</a:t>
            </a: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层的形成过程（组份，结构等）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i="0" u="none" strike="noStrike" baseline="0" dirty="0">
                <a:solidFill>
                  <a:srgbClr val="FF0000"/>
                </a:solidFill>
                <a:latin typeface="Wingdings-Regular"/>
                <a:ea typeface="宋体" panose="02010600030101010101" pitchFamily="2" charset="-122"/>
              </a:rPr>
              <a:t>Ø </a:t>
            </a: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阻燃剂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i="0" u="none" strike="noStrike" baseline="0" dirty="0">
                <a:solidFill>
                  <a:srgbClr val="FF0000"/>
                </a:solidFill>
                <a:latin typeface="Wingdings-Regular"/>
                <a:ea typeface="宋体" panose="02010600030101010101" pitchFamily="2" charset="-122"/>
              </a:rPr>
              <a:t>Ø </a:t>
            </a: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过充保护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主要效应：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提高循环稳定性和高温储存性能， 防止电极膨胀和提高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i="0" u="none" strike="noStrike" baseline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电池的安全性（防止过充）。</a:t>
            </a:r>
            <a:endParaRPr lang="zh-CN" altLang="en-US" sz="2800" i="0" u="none" strike="noStrike" baseline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randomBar dir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04664"/>
            <a:ext cx="3836586" cy="576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1" y="980728"/>
            <a:ext cx="9093558" cy="5677645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32656"/>
            <a:ext cx="1584176" cy="7920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40" y="1124745"/>
            <a:ext cx="9199240" cy="561662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60648"/>
            <a:ext cx="2395903" cy="72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7415"/>
            <a:ext cx="9144000" cy="5518142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75" y="332656"/>
            <a:ext cx="2762250" cy="409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836712"/>
            <a:ext cx="8928992" cy="5722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6915150" y="2025650"/>
              <a:ext cx="1270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6915150" y="2025650"/>
                <a:ext cx="12700" cy="360"/>
              </a:xfrm>
              <a:prstGeom prst="rect"/>
            </p:spPr>
          </p:pic>
        </mc:Fallback>
      </mc:AlternateContent>
    </p:spTree>
  </p:cSld>
  <p:clrMapOvr>
    <a:masterClrMapping/>
  </p:clrMapOvr>
  <p:transition>
    <p:randomBar dir="vert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" y="404663"/>
            <a:ext cx="9139200" cy="5973333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404664"/>
            <a:ext cx="4362450" cy="438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2814"/>
            <a:ext cx="9144000" cy="5706319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258888" y="1341438"/>
            <a:ext cx="6481762" cy="403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r>
              <a:rPr lang="zh-CN" altLang="en-US" sz="3200" b="1"/>
              <a:t>作业：</a:t>
            </a:r>
            <a:endParaRPr lang="zh-CN" altLang="en-US" sz="3200" b="1"/>
          </a:p>
          <a:p>
            <a:r>
              <a:rPr lang="zh-CN" altLang="en-US" sz="3200" b="1"/>
              <a:t>（</a:t>
            </a:r>
            <a:r>
              <a:rPr lang="en-US" altLang="zh-CN" sz="3200" b="1"/>
              <a:t>1</a:t>
            </a:r>
            <a:r>
              <a:rPr lang="zh-CN" altLang="en-US" sz="3200" b="1"/>
              <a:t>）锂金属电池具有什么优势？制约其产业化主要问题及原因分别是什么？</a:t>
            </a:r>
            <a:endParaRPr lang="zh-CN" altLang="en-US" sz="3200" b="1"/>
          </a:p>
          <a:p>
            <a:r>
              <a:rPr lang="zh-CN" altLang="en-US" sz="3200" b="1"/>
              <a:t>（</a:t>
            </a:r>
            <a:r>
              <a:rPr lang="en-US" altLang="zh-CN" sz="3200" b="1"/>
              <a:t>2</a:t>
            </a:r>
            <a:r>
              <a:rPr lang="zh-CN" altLang="en-US" sz="3200" b="1"/>
              <a:t>）简要介绍</a:t>
            </a:r>
            <a:r>
              <a:rPr lang="zh-CN" sz="3200" b="1"/>
              <a:t>锂离子电池的主要构成部件及代表性成分。</a:t>
            </a:r>
            <a:endParaRPr lang="zh-CN" sz="3200" b="1"/>
          </a:p>
          <a:p>
            <a:r>
              <a:rPr lang="zh-CN" sz="3200" b="1"/>
              <a:t>（</a:t>
            </a:r>
            <a:r>
              <a:rPr lang="en-US" altLang="zh-CN" sz="3200" b="1"/>
              <a:t>3</a:t>
            </a:r>
            <a:r>
              <a:rPr lang="zh-CN" altLang="en-US" sz="3200" b="1"/>
              <a:t>）锂离子电池的工作原理是什么？</a:t>
            </a:r>
            <a:endParaRPr lang="zh-CN" altLang="en-US" sz="3200" b="1"/>
          </a:p>
        </p:txBody>
      </p:sp>
    </p:spTree>
  </p:cSld>
  <p:clrMapOvr>
    <a:masterClrMapping/>
  </p:clrMapOvr>
  <p:transition>
    <p:randomBar dir="vert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404664"/>
            <a:ext cx="3614248" cy="6480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21" y="1052736"/>
            <a:ext cx="9155021" cy="5502439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404664"/>
            <a:ext cx="4057650" cy="466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52736"/>
            <a:ext cx="8928992" cy="5508144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404664"/>
            <a:ext cx="1350150" cy="6480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2" y="1028666"/>
            <a:ext cx="8973194" cy="5806103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664"/>
            <a:ext cx="9174353" cy="59046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754591" y="4376800"/>
              <a:ext cx="7590600" cy="2610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754591" y="4376800"/>
                <a:ext cx="7590600" cy="26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1659991" y="4540960"/>
              <a:ext cx="6711840" cy="936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1659991" y="4540960"/>
                <a:ext cx="6711840" cy="93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1296031" y="4299760"/>
              <a:ext cx="7049160" cy="1512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1296031" y="4299760"/>
                <a:ext cx="7049160" cy="151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7208671" y="4583800"/>
              <a:ext cx="1127880" cy="417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7208671" y="4583800"/>
                <a:ext cx="1127880" cy="41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1438231" y="4501000"/>
              <a:ext cx="861480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1438231" y="4501000"/>
                <a:ext cx="86148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923431" y="4392280"/>
              <a:ext cx="586080" cy="1152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923431" y="4392280"/>
                <a:ext cx="586080" cy="11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745591" y="4483360"/>
              <a:ext cx="1811520" cy="2160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745591" y="4483360"/>
                <a:ext cx="1811520" cy="216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6986551" y="4391920"/>
              <a:ext cx="1527480" cy="4968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6986551" y="4391920"/>
                <a:ext cx="1527480" cy="49680"/>
              </a:xfrm>
              <a:prstGeom prst="rect"/>
            </p:spPr>
          </p:pic>
        </mc:Fallback>
      </mc:AlternateContent>
    </p:spTree>
  </p:cSld>
  <p:clrMapOvr>
    <a:masterClrMapping/>
  </p:clrMapOvr>
  <p:transition>
    <p:randomBar dir="vert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876" y="5753671"/>
            <a:ext cx="547851" cy="31161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1834895" y="5506211"/>
            <a:ext cx="675132" cy="659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/>
          <p:nvPr/>
        </p:nvSpPr>
        <p:spPr>
          <a:xfrm>
            <a:off x="1970532" y="5506211"/>
            <a:ext cx="1420368" cy="6598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2851404" y="5506211"/>
            <a:ext cx="675132" cy="659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6"/>
          <p:cNvSpPr/>
          <p:nvPr/>
        </p:nvSpPr>
        <p:spPr>
          <a:xfrm>
            <a:off x="2987039" y="5506211"/>
            <a:ext cx="2938272" cy="6598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/>
          <p:nvPr/>
        </p:nvSpPr>
        <p:spPr>
          <a:xfrm>
            <a:off x="5385815" y="5506211"/>
            <a:ext cx="675132" cy="659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8"/>
          <p:cNvSpPr/>
          <p:nvPr/>
        </p:nvSpPr>
        <p:spPr>
          <a:xfrm>
            <a:off x="5521452" y="5506211"/>
            <a:ext cx="2741676" cy="6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object 9"/>
          <p:cNvSpPr/>
          <p:nvPr/>
        </p:nvSpPr>
        <p:spPr>
          <a:xfrm>
            <a:off x="7723631" y="5506211"/>
            <a:ext cx="641603" cy="6598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/>
          <p:nvPr/>
        </p:nvSpPr>
        <p:spPr>
          <a:xfrm>
            <a:off x="2953511" y="4903756"/>
            <a:ext cx="2747772" cy="4563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11"/>
          <p:cNvSpPr/>
          <p:nvPr/>
        </p:nvSpPr>
        <p:spPr>
          <a:xfrm>
            <a:off x="5404103" y="4706111"/>
            <a:ext cx="697991" cy="7315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1555496" y="4531345"/>
            <a:ext cx="6434455" cy="1593215"/>
          </a:xfrm>
          <a:prstGeom prst="rect">
            <a:avLst/>
          </a:prstGeom>
        </p:spPr>
        <p:txBody>
          <a:bodyPr vert="horz" wrap="square" lIns="0" tIns="292735" rIns="0" bIns="0" rtlCol="0">
            <a:spAutoFit/>
          </a:bodyPr>
          <a:lstStyle/>
          <a:p>
            <a:pPr marL="1379220">
              <a:lnSpc>
                <a:spcPct val="100000"/>
              </a:lnSpc>
              <a:spcBef>
                <a:spcPts val="2305"/>
              </a:spcBef>
            </a:pPr>
            <a:r>
              <a:rPr sz="3600" b="1" spc="10" dirty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全固态锂电池</a:t>
            </a:r>
            <a:endParaRPr sz="36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200" b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All-Solid-State Lithium-ion</a:t>
            </a:r>
            <a:r>
              <a:rPr sz="3200" b="1" spc="-14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Batteries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51075" y="1125600"/>
            <a:ext cx="4049776" cy="31669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object 1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bject 4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bject 4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bject 4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501777"/>
            <a:ext cx="3695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电池的安全性问题</a:t>
            </a:r>
            <a:endParaRPr spc="10" dirty="0"/>
          </a:p>
        </p:txBody>
      </p:sp>
      <p:sp>
        <p:nvSpPr>
          <p:cNvPr id="3" name="object 3"/>
          <p:cNvSpPr/>
          <p:nvPr/>
        </p:nvSpPr>
        <p:spPr>
          <a:xfrm>
            <a:off x="902842" y="3951351"/>
            <a:ext cx="3273805" cy="22144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/>
          <p:nvPr/>
        </p:nvSpPr>
        <p:spPr>
          <a:xfrm>
            <a:off x="4786376" y="3951351"/>
            <a:ext cx="3170174" cy="2214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900112" y="1484249"/>
            <a:ext cx="3265424" cy="1984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6"/>
          <p:cNvSpPr/>
          <p:nvPr/>
        </p:nvSpPr>
        <p:spPr>
          <a:xfrm>
            <a:off x="4786376" y="1446275"/>
            <a:ext cx="3170174" cy="19827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1914270" y="3531234"/>
            <a:ext cx="1250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电池放气鼓包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7028" y="3531234"/>
            <a:ext cx="1250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电池燃烧爆炸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4270" y="6267094"/>
            <a:ext cx="1114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三星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sz="1800" b="1" spc="-8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5953" y="6267094"/>
            <a:ext cx="879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6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esl</a:t>
            </a:r>
            <a:r>
              <a:rPr sz="16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b="1" spc="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轿车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123" y="1989073"/>
            <a:ext cx="3267964" cy="25685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3932301" y="2657475"/>
            <a:ext cx="630555" cy="274955"/>
          </a:xfrm>
          <a:custGeom>
            <a:avLst/>
            <a:gdLst/>
            <a:ahLst/>
            <a:cxnLst/>
            <a:rect l="l" t="t" r="r" b="b"/>
            <a:pathLst>
              <a:path w="630554" h="274955">
                <a:moveTo>
                  <a:pt x="492887" y="0"/>
                </a:moveTo>
                <a:lnTo>
                  <a:pt x="492887" y="68707"/>
                </a:lnTo>
                <a:lnTo>
                  <a:pt x="0" y="68707"/>
                </a:lnTo>
                <a:lnTo>
                  <a:pt x="0" y="205994"/>
                </a:lnTo>
                <a:lnTo>
                  <a:pt x="492887" y="205994"/>
                </a:lnTo>
                <a:lnTo>
                  <a:pt x="492887" y="274574"/>
                </a:lnTo>
                <a:lnTo>
                  <a:pt x="630174" y="137287"/>
                </a:lnTo>
                <a:lnTo>
                  <a:pt x="492887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/>
          <p:nvPr/>
        </p:nvSpPr>
        <p:spPr>
          <a:xfrm>
            <a:off x="3932301" y="2657475"/>
            <a:ext cx="630555" cy="274955"/>
          </a:xfrm>
          <a:custGeom>
            <a:avLst/>
            <a:gdLst/>
            <a:ahLst/>
            <a:cxnLst/>
            <a:rect l="l" t="t" r="r" b="b"/>
            <a:pathLst>
              <a:path w="630554" h="274955">
                <a:moveTo>
                  <a:pt x="492887" y="274574"/>
                </a:moveTo>
                <a:lnTo>
                  <a:pt x="492887" y="205994"/>
                </a:lnTo>
                <a:lnTo>
                  <a:pt x="0" y="205994"/>
                </a:lnTo>
                <a:lnTo>
                  <a:pt x="0" y="68707"/>
                </a:lnTo>
                <a:lnTo>
                  <a:pt x="492887" y="68707"/>
                </a:lnTo>
                <a:lnTo>
                  <a:pt x="492887" y="0"/>
                </a:lnTo>
                <a:lnTo>
                  <a:pt x="630174" y="137287"/>
                </a:lnTo>
                <a:lnTo>
                  <a:pt x="492887" y="274574"/>
                </a:lnTo>
                <a:close/>
              </a:path>
            </a:pathLst>
          </a:custGeom>
          <a:ln w="254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1122070" y="4829936"/>
            <a:ext cx="1472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3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液态锂离子</a:t>
            </a:r>
            <a:r>
              <a:rPr sz="1600" b="1" spc="4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电</a:t>
            </a:r>
            <a:r>
              <a:rPr sz="1600" b="1" spc="-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池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644" y="308228"/>
            <a:ext cx="5073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全固态</a:t>
            </a:r>
            <a:r>
              <a:rPr spc="10" dirty="0">
                <a:latin typeface="等线" panose="02010600030101010101" charset="-122"/>
                <a:cs typeface="等线" panose="02010600030101010101" charset="-122"/>
              </a:rPr>
              <a:t>--</a:t>
            </a:r>
            <a:r>
              <a:rPr spc="10" dirty="0"/>
              <a:t>让梦想照进现实</a:t>
            </a:r>
            <a:endParaRPr spc="10" dirty="0"/>
          </a:p>
        </p:txBody>
      </p:sp>
      <p:sp>
        <p:nvSpPr>
          <p:cNvPr id="7" name="object 7"/>
          <p:cNvSpPr/>
          <p:nvPr/>
        </p:nvSpPr>
        <p:spPr>
          <a:xfrm>
            <a:off x="5148326" y="1052575"/>
            <a:ext cx="3313049" cy="2592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6164707" y="3747008"/>
            <a:ext cx="1659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全固态锂离子电池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1125474"/>
            <a:ext cx="6991350" cy="25177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618540" y="4054221"/>
            <a:ext cx="7666355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5460">
              <a:lnSpc>
                <a:spcPct val="15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“</a:t>
            </a:r>
            <a:r>
              <a:rPr sz="1800" b="1" spc="10" dirty="0">
                <a:solidFill>
                  <a:srgbClr val="FFC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全固态锂二次电池</a:t>
            </a: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”是一种在工作温度区间内所使用的电极和电解质 材料均呈固态，不含任何液态组份的锂电池，简称为</a:t>
            </a:r>
            <a:r>
              <a:rPr sz="1800" b="1" spc="15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“</a:t>
            </a:r>
            <a:r>
              <a:rPr sz="1800" b="1" spc="10" dirty="0">
                <a:solidFill>
                  <a:srgbClr val="C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全固态锂电池</a:t>
            </a: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”。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89535" indent="505460">
              <a:lnSpc>
                <a:spcPct val="150000"/>
              </a:lnSpc>
              <a:spcBef>
                <a:spcPts val="1170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“全固态”跟“固态”、“半固态”</a:t>
            </a:r>
            <a:r>
              <a:rPr sz="1800" spc="-43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、“准固态”</a:t>
            </a:r>
            <a:r>
              <a:rPr sz="1800" spc="-43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、“凝胶”</a:t>
            </a:r>
            <a:r>
              <a:rPr sz="1800" spc="-4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、“混 合固液”名词</a:t>
            </a:r>
            <a:r>
              <a:rPr sz="1800" spc="-41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等是不一样的。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540" y="285699"/>
            <a:ext cx="2778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全固态锂电池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85699"/>
            <a:ext cx="4154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全固态锂电池的优点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690168" y="1645665"/>
            <a:ext cx="6856095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60" indent="-42989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安全性高；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C000"/>
              </a:buClr>
              <a:buFont typeface="Wingdings" panose="05000000000000000000"/>
              <a:buChar char="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41960" indent="-429895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能量密度高；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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41960" indent="-429895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工作温度范围宽，最高工作温度可达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300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度以上；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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41960" indent="-429895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具有柔性优势，未来可用于智能穿戴和可植入式医疗设备等；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C000"/>
              </a:buClr>
              <a:buFont typeface="Wingdings" panose="05000000000000000000"/>
              <a:buChar char="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41960" indent="-429895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全固态电池技术是电池小型化，薄膜化的必经之路；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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41960" indent="-429895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"/>
              <a:tabLst>
                <a:tab pos="441325" algn="l"/>
                <a:tab pos="442595" algn="l"/>
              </a:tabLst>
            </a:pP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全固态锂电池没有液态电解液和隔膜，回收再利用也较为便利。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574928"/>
            <a:ext cx="4154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全固态锂电池的构造</a:t>
            </a:r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12" y="1268349"/>
            <a:ext cx="7532643" cy="335198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924864" y="5065902"/>
            <a:ext cx="67894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Characteristic comparison of various kinds of </a:t>
            </a:r>
            <a:r>
              <a:rPr sz="160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lithium-based </a:t>
            </a:r>
            <a:r>
              <a:rPr sz="16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secondary</a:t>
            </a:r>
            <a:r>
              <a:rPr sz="1600" spc="8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cells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3175" algn="ctr">
              <a:lnSpc>
                <a:spcPct val="100000"/>
              </a:lnSpc>
            </a:pPr>
            <a:r>
              <a:rPr sz="1600" b="1" spc="5" dirty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不同类型锂基电池的特性比较</a:t>
            </a:r>
            <a:endParaRPr sz="16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8828" y="2105482"/>
            <a:ext cx="1339215" cy="1046480"/>
          </a:xfrm>
          <a:custGeom>
            <a:avLst/>
            <a:gdLst/>
            <a:ahLst/>
            <a:cxnLst/>
            <a:rect l="l" t="t" r="r" b="b"/>
            <a:pathLst>
              <a:path w="1339214" h="1046480">
                <a:moveTo>
                  <a:pt x="0" y="1046149"/>
                </a:moveTo>
                <a:lnTo>
                  <a:pt x="1338834" y="1046149"/>
                </a:lnTo>
                <a:lnTo>
                  <a:pt x="1338834" y="0"/>
                </a:lnTo>
                <a:lnTo>
                  <a:pt x="0" y="0"/>
                </a:lnTo>
                <a:lnTo>
                  <a:pt x="0" y="1046149"/>
                </a:lnTo>
                <a:close/>
              </a:path>
            </a:pathLst>
          </a:custGeom>
          <a:solidFill>
            <a:srgbClr val="F7E9E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3838828" y="3151517"/>
            <a:ext cx="1339215" cy="1080135"/>
          </a:xfrm>
          <a:custGeom>
            <a:avLst/>
            <a:gdLst/>
            <a:ahLst/>
            <a:cxnLst/>
            <a:rect l="l" t="t" r="r" b="b"/>
            <a:pathLst>
              <a:path w="1339214" h="1080135">
                <a:moveTo>
                  <a:pt x="0" y="1080122"/>
                </a:moveTo>
                <a:lnTo>
                  <a:pt x="1338834" y="1080122"/>
                </a:lnTo>
                <a:lnTo>
                  <a:pt x="1338834" y="0"/>
                </a:lnTo>
                <a:lnTo>
                  <a:pt x="0" y="0"/>
                </a:lnTo>
                <a:lnTo>
                  <a:pt x="0" y="1080122"/>
                </a:lnTo>
                <a:close/>
              </a:path>
            </a:pathLst>
          </a:custGeom>
          <a:solidFill>
            <a:srgbClr val="EECFC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4837" y="1406525"/>
          <a:ext cx="8156575" cy="4992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/>
                <a:gridCol w="1933575"/>
                <a:gridCol w="1335405"/>
                <a:gridCol w="1267460"/>
                <a:gridCol w="1115694"/>
                <a:gridCol w="1189990"/>
              </a:tblGrid>
              <a:tr h="365760">
                <a:tc rowSpan="2"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b="1" spc="10" dirty="0">
                          <a:solidFill>
                            <a:srgbClr val="FFFFFF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材料种类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0609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b="1" spc="10" dirty="0">
                          <a:solidFill>
                            <a:srgbClr val="FFFFFF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材料体系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b="1" spc="10" dirty="0">
                          <a:solidFill>
                            <a:srgbClr val="FFFFFF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晶体结构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效能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26770">
                <a:tc vMerge="1"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vMerge="1"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vMerge="1"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离子电</a:t>
                      </a:r>
                      <a:r>
                        <a:rPr sz="1400" b="1" spc="-1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导</a:t>
                      </a:r>
                      <a:r>
                        <a:rPr sz="1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率</a:t>
                      </a:r>
                      <a:endParaRPr sz="1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稳定性</a:t>
                      </a:r>
                      <a:endParaRPr sz="1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机械性能</a:t>
                      </a:r>
                      <a:endParaRPr sz="14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1046226">
                <a:tc>
                  <a:txBody>
                    <a:bodyPr/>
                    <a:lstStyle/>
                    <a:p>
                      <a:pPr marL="266700">
                        <a:lnSpc>
                          <a:spcPts val="2155"/>
                        </a:lnSpc>
                        <a:spcBef>
                          <a:spcPts val="1275"/>
                        </a:spcBef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磷酸盐</a:t>
                      </a:r>
                      <a:r>
                        <a:rPr sz="1800" b="1" dirty="0">
                          <a:latin typeface="Corbel" panose="020B0503020204020204"/>
                          <a:cs typeface="Corbel" panose="020B0503020204020204"/>
                        </a:rPr>
                        <a:t>: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marL="315595" marR="257810" indent="-52070">
                        <a:lnSpc>
                          <a:spcPts val="1680"/>
                        </a:lnSpc>
                        <a:spcBef>
                          <a:spcPts val="55"/>
                        </a:spcBef>
                      </a:pPr>
                      <a:r>
                        <a:rPr sz="1400" b="1" dirty="0">
                          <a:solidFill>
                            <a:srgbClr val="FF0000"/>
                          </a:solidFill>
                          <a:latin typeface="Corbel" panose="020B0503020204020204"/>
                          <a:cs typeface="Corbel" panose="020B0503020204020204"/>
                        </a:rPr>
                        <a:t>NASI</a:t>
                      </a:r>
                      <a:r>
                        <a:rPr sz="1400" b="1" spc="-10" dirty="0">
                          <a:solidFill>
                            <a:srgbClr val="FF0000"/>
                          </a:solidFill>
                          <a:latin typeface="Corbel" panose="020B0503020204020204"/>
                          <a:cs typeface="Corbel" panose="020B0503020204020204"/>
                        </a:rPr>
                        <a:t>C</a:t>
                      </a:r>
                      <a:r>
                        <a:rPr sz="1400" b="1" spc="-5" dirty="0">
                          <a:solidFill>
                            <a:srgbClr val="FF0000"/>
                          </a:solidFill>
                          <a:latin typeface="Corbel" panose="020B0503020204020204"/>
                          <a:cs typeface="Corbel" panose="020B0503020204020204"/>
                        </a:rPr>
                        <a:t>ON  </a:t>
                      </a:r>
                      <a:r>
                        <a:rPr sz="1400" b="1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LISICON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23520" marR="215265" indent="313690">
                        <a:lnSpc>
                          <a:spcPts val="3590"/>
                        </a:lnSpc>
                        <a:spcBef>
                          <a:spcPts val="190"/>
                        </a:spcBef>
                      </a:pP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LiZr(PO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4</a:t>
                      </a: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)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3  </a:t>
                      </a:r>
                      <a:r>
                        <a:rPr sz="2400" spc="-7" baseline="14000" dirty="0">
                          <a:latin typeface="Corbel" panose="020B0503020204020204"/>
                          <a:cs typeface="Corbel" panose="020B0503020204020204"/>
                        </a:rPr>
                        <a:t>L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i</a:t>
                      </a:r>
                      <a:r>
                        <a:rPr sz="1050" spc="-5" dirty="0">
                          <a:latin typeface="Corbel" panose="020B0503020204020204"/>
                          <a:cs typeface="Corbel" panose="020B0503020204020204"/>
                        </a:rPr>
                        <a:t>1</a:t>
                      </a:r>
                      <a:r>
                        <a:rPr sz="1050" spc="5" dirty="0">
                          <a:latin typeface="Corbel" panose="020B0503020204020204"/>
                          <a:cs typeface="Corbel" panose="020B0503020204020204"/>
                        </a:rPr>
                        <a:t>.</a:t>
                      </a:r>
                      <a:r>
                        <a:rPr sz="1050" spc="-5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r>
                        <a:rPr sz="2400" spc="-15" baseline="14000" dirty="0">
                          <a:latin typeface="Corbel" panose="020B0503020204020204"/>
                          <a:cs typeface="Corbel" panose="020B0503020204020204"/>
                        </a:rPr>
                        <a:t>A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l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0</a:t>
                      </a:r>
                      <a:r>
                        <a:rPr sz="1050" spc="5" dirty="0">
                          <a:latin typeface="Corbel" panose="020B0503020204020204"/>
                          <a:cs typeface="Corbel" panose="020B0503020204020204"/>
                        </a:rPr>
                        <a:t>.</a:t>
                      </a:r>
                      <a:r>
                        <a:rPr sz="1050" spc="-5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Ti</a:t>
                      </a:r>
                      <a:r>
                        <a:rPr sz="1050" spc="-5" dirty="0">
                          <a:latin typeface="Corbel" panose="020B0503020204020204"/>
                          <a:cs typeface="Corbel" panose="020B0503020204020204"/>
                        </a:rPr>
                        <a:t>1</a:t>
                      </a:r>
                      <a:r>
                        <a:rPr sz="1050" spc="5" dirty="0">
                          <a:latin typeface="Corbel" panose="020B0503020204020204"/>
                          <a:cs typeface="Corbel" panose="020B0503020204020204"/>
                        </a:rPr>
                        <a:t>.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7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(P</a:t>
                      </a:r>
                      <a:r>
                        <a:rPr sz="2400" spc="-7" baseline="14000" dirty="0">
                          <a:latin typeface="Corbel" panose="020B0503020204020204"/>
                          <a:cs typeface="Corbel" panose="020B0503020204020204"/>
                        </a:rPr>
                        <a:t>O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4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)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endParaRPr sz="105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中等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普通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好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10800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00355" marR="179070" indent="-114300">
                        <a:lnSpc>
                          <a:spcPts val="2020"/>
                        </a:lnSpc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石榴石型 氧化物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7</a:t>
                      </a: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La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Zr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2</a:t>
                      </a:r>
                      <a:r>
                        <a:rPr sz="1600" spc="-5" dirty="0">
                          <a:latin typeface="Corbel" panose="020B0503020204020204"/>
                          <a:cs typeface="Corbel" panose="020B0503020204020204"/>
                        </a:rPr>
                        <a:t>O</a:t>
                      </a:r>
                      <a:r>
                        <a:rPr sz="1575" spc="-7" baseline="-21000" dirty="0">
                          <a:latin typeface="Corbel" panose="020B0503020204020204"/>
                          <a:cs typeface="Corbel" panose="020B0503020204020204"/>
                        </a:rPr>
                        <a:t>12</a:t>
                      </a:r>
                      <a:endParaRPr sz="1575" baseline="-210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7-x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La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Sn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2-x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Nb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x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O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12</a:t>
                      </a:r>
                      <a:endParaRPr sz="105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好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中等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1080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800" b="1" spc="5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钙钛矿型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氧化物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3x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La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(2/3)-x</a:t>
                      </a:r>
                      <a:r>
                        <a:rPr sz="2400" baseline="14000" dirty="0">
                          <a:latin typeface="Corbel" panose="020B0503020204020204"/>
                          <a:cs typeface="Corbel" panose="020B0503020204020204"/>
                        </a:rPr>
                        <a:t>TiO</a:t>
                      </a:r>
                      <a:r>
                        <a:rPr sz="1050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endParaRPr sz="105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差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好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1080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1800" b="1" spc="10" dirty="0">
                          <a:latin typeface="Microsoft JhengHei" panose="020B0604030504040204" charset="-120"/>
                          <a:cs typeface="Microsoft JhengHei" panose="020B0604030504040204" charset="-120"/>
                        </a:rPr>
                        <a:t>硫化物</a:t>
                      </a:r>
                      <a:endParaRPr sz="1800">
                        <a:latin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10</a:t>
                      </a: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GeP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2</a:t>
                      </a: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S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12</a:t>
                      </a:r>
                      <a:endParaRPr sz="1575" baseline="-210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7</a:t>
                      </a: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P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3</a:t>
                      </a:r>
                      <a:r>
                        <a:rPr sz="1600" dirty="0">
                          <a:latin typeface="Corbel" panose="020B0503020204020204"/>
                          <a:cs typeface="Corbel" panose="020B0503020204020204"/>
                        </a:rPr>
                        <a:t>S</a:t>
                      </a:r>
                      <a:r>
                        <a:rPr sz="1575" baseline="-21000" dirty="0">
                          <a:latin typeface="Corbel" panose="020B0503020204020204"/>
                          <a:cs typeface="Corbel" panose="020B0503020204020204"/>
                        </a:rPr>
                        <a:t>11</a:t>
                      </a:r>
                      <a:endParaRPr sz="1575" baseline="-210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203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很高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差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差</a:t>
                      </a:r>
                      <a:endParaRPr sz="18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014851" y="3284473"/>
            <a:ext cx="1081087" cy="10382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6"/>
          <p:cNvSpPr/>
          <p:nvPr/>
        </p:nvSpPr>
        <p:spPr>
          <a:xfrm>
            <a:off x="3983101" y="5516562"/>
            <a:ext cx="1109662" cy="955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/>
          <p:nvPr/>
        </p:nvSpPr>
        <p:spPr>
          <a:xfrm>
            <a:off x="4069079" y="2217737"/>
            <a:ext cx="1029906" cy="9953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8690864" y="6532574"/>
            <a:ext cx="1041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9E4DC"/>
                </a:solidFill>
                <a:latin typeface="Corbel" panose="020B0503020204020204"/>
                <a:cs typeface="Corbel" panose="020B0503020204020204"/>
              </a:rPr>
              <a:t>8</a:t>
            </a:r>
            <a:endParaRPr sz="1200">
              <a:latin typeface="Corbel" panose="020B0503020204020204"/>
              <a:cs typeface="Corbel" panose="020B0503020204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05198" y="4365688"/>
            <a:ext cx="1104900" cy="10302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90168" y="380238"/>
            <a:ext cx="442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常用的无机陶瓷电解质</a:t>
            </a:r>
            <a:endParaRPr spc="-145" dirty="0"/>
          </a:p>
        </p:txBody>
      </p:sp>
      <p:sp>
        <p:nvSpPr>
          <p:cNvPr id="11" name="object 11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49300" y="2559050"/>
          <a:ext cx="7508240" cy="260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  <a:gridCol w="1583690"/>
                <a:gridCol w="1508759"/>
                <a:gridCol w="1170305"/>
                <a:gridCol w="963929"/>
                <a:gridCol w="1108075"/>
              </a:tblGrid>
              <a:tr h="396113">
                <a:tc rowSpan="2"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Material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marL="12509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systems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Compositio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n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161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Examples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623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orbel" panose="020B0503020204020204"/>
                          <a:cs typeface="Corbel" panose="020B0503020204020204"/>
                        </a:rPr>
                        <a:t>Performances</a:t>
                      </a:r>
                      <a:endParaRPr sz="20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640079">
                <a:tc vMerge="1"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vMerge="1"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vMerge="1"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latin typeface="Corbel" panose="020B0503020204020204"/>
                          <a:cs typeface="Corbel" panose="020B0503020204020204"/>
                        </a:rPr>
                        <a:t>Ionic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algn="ctr">
                        <a:lnSpc>
                          <a:spcPts val="1515"/>
                        </a:lnSpc>
                      </a:pPr>
                      <a:r>
                        <a:rPr sz="1400" b="1" spc="-5" dirty="0">
                          <a:latin typeface="Corbel" panose="020B0503020204020204"/>
                          <a:cs typeface="Corbel" panose="020B0503020204020204"/>
                        </a:rPr>
                        <a:t>conductivity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Corbel" panose="020B0503020204020204"/>
                          <a:cs typeface="Corbel" panose="020B0503020204020204"/>
                        </a:rPr>
                        <a:t>Stability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15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latin typeface="Corbel" panose="020B0503020204020204"/>
                          <a:cs typeface="Corbel" panose="020B0503020204020204"/>
                        </a:rPr>
                        <a:t>Mechanical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marL="160020">
                        <a:lnSpc>
                          <a:spcPts val="1515"/>
                        </a:lnSpc>
                      </a:pPr>
                      <a:r>
                        <a:rPr sz="1400" b="1" dirty="0">
                          <a:latin typeface="Corbel" panose="020B0503020204020204"/>
                          <a:cs typeface="Corbel" panose="020B0503020204020204"/>
                        </a:rPr>
                        <a:t>properties</a:t>
                      </a:r>
                      <a:endParaRPr sz="14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6399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All-solid-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state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Lithium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salt</a:t>
                      </a:r>
                      <a:r>
                        <a:rPr sz="1800" spc="-6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 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+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polymers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LiTFSI +</a:t>
                      </a:r>
                      <a:r>
                        <a:rPr sz="1800" spc="-6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rbel" panose="020B0503020204020204"/>
                          <a:cs typeface="Corbel" panose="020B0503020204020204"/>
                        </a:rPr>
                        <a:t>PEO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low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good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spc="-5" dirty="0">
                          <a:latin typeface="Corbel" panose="020B0503020204020204"/>
                          <a:cs typeface="Corbel" panose="020B0503020204020204"/>
                        </a:rPr>
                        <a:t>ordinary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9142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Gel</a:t>
                      </a:r>
                      <a:r>
                        <a:rPr sz="1800" spc="-3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state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1460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Lithium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salt</a:t>
                      </a:r>
                      <a:r>
                        <a:rPr sz="1800" spc="-12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 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+  polymers + 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plasticizer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91440" indent="-28829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Li</a:t>
                      </a:r>
                      <a:r>
                        <a:rPr sz="1800" spc="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P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F</a:t>
                      </a:r>
                      <a:r>
                        <a:rPr sz="1800" spc="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6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+</a:t>
                      </a:r>
                      <a:r>
                        <a:rPr sz="1800" spc="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P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VD</a:t>
                      </a:r>
                      <a:r>
                        <a:rPr sz="1800" spc="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F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+ 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EC/DEC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Very</a:t>
                      </a:r>
                      <a:r>
                        <a:rPr sz="1800" spc="-30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 </a:t>
                      </a: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high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427990" marR="130810" indent="-2857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spc="-5" dirty="0">
                          <a:latin typeface="Corbel" panose="020B0503020204020204"/>
                          <a:cs typeface="Corbel" panose="020B0503020204020204"/>
                        </a:rPr>
                        <a:t>ordinar  </a:t>
                      </a:r>
                      <a:r>
                        <a:rPr sz="1800" dirty="0">
                          <a:latin typeface="Corbel" panose="020B0503020204020204"/>
                          <a:cs typeface="Corbel" panose="020B0503020204020204"/>
                        </a:rPr>
                        <a:t>y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006FC0"/>
                          </a:solidFill>
                          <a:latin typeface="Corbel" panose="020B0503020204020204"/>
                          <a:cs typeface="Corbel" panose="020B0503020204020204"/>
                        </a:rPr>
                        <a:t>bad</a:t>
                      </a:r>
                      <a:endParaRPr sz="1800">
                        <a:latin typeface="Corbel" panose="020B0503020204020204"/>
                        <a:cs typeface="Corbel" panose="020B050302020402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0168" y="380238"/>
            <a:ext cx="4872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常用的有机聚合物电</a:t>
            </a:r>
            <a:r>
              <a:rPr spc="-140" dirty="0"/>
              <a:t>解</a:t>
            </a:r>
            <a:r>
              <a:rPr dirty="0"/>
              <a:t>质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825" y="1196975"/>
            <a:ext cx="3600450" cy="51054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540" y="427177"/>
            <a:ext cx="5806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NASICON</a:t>
            </a:r>
            <a:r>
              <a:rPr spc="5" dirty="0"/>
              <a:t>结构型固体电解质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278790" y="1245488"/>
            <a:ext cx="4577715" cy="409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marR="55880" algn="just">
              <a:lnSpc>
                <a:spcPct val="15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NASICON</a:t>
            </a: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是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sodium</a:t>
            </a:r>
            <a:r>
              <a:rPr sz="1800" b="1" spc="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super</a:t>
            </a:r>
            <a:r>
              <a:rPr sz="1800" b="1" spc="-3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ion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conductors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的 </a:t>
            </a: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缩写，称为</a:t>
            </a:r>
            <a:r>
              <a:rPr sz="1800" b="1" spc="10" dirty="0">
                <a:solidFill>
                  <a:srgbClr val="C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钠快离子导</a:t>
            </a:r>
            <a:r>
              <a:rPr sz="1800" b="1" spc="15" dirty="0">
                <a:solidFill>
                  <a:srgbClr val="C0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体</a:t>
            </a:r>
            <a:r>
              <a:rPr sz="1800" b="1" spc="10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。这类化合物的化 学式通式为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M[A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]</a:t>
            </a:r>
            <a:r>
              <a:rPr sz="1800" b="1" dirty="0">
                <a:solidFill>
                  <a:srgbClr val="006FC0"/>
                </a:solidFill>
                <a:latin typeface="Microsoft JhengHei" panose="020B0604030504040204" charset="-120"/>
                <a:cs typeface="Microsoft JhengHei" panose="020B0604030504040204" charset="-120"/>
              </a:rPr>
              <a:t>。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135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1976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Goodenough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合成了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Na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Zr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Si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PO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12</a:t>
            </a:r>
            <a:endParaRPr sz="1800" baseline="-210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就是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NASICON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型的钠离子导体。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63500" marR="1242695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研发的锂离子固体电解质： 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Li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O-Al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-TiO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-P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spc="-15" baseline="-2100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800" spc="-1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LATP</a:t>
            </a:r>
            <a:r>
              <a:rPr sz="1800" spc="-10" dirty="0">
                <a:latin typeface="宋体" panose="02010600030101010101" pitchFamily="2" charset="-122"/>
                <a:cs typeface="宋体" panose="02010600030101010101" pitchFamily="2" charset="-122"/>
              </a:rPr>
              <a:t>） 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Li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O-Al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-GeO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-P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spc="-7" baseline="-2100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LAGP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3501" y="1450297"/>
            <a:ext cx="4232112" cy="43817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742" y="430225"/>
            <a:ext cx="5071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石榴石结构型固体电解质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448665" y="2225167"/>
            <a:ext cx="3961129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5529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石榴石型化合物是成分复杂的岛状 硅酸盐材料，理想的化学式通式</a:t>
            </a:r>
            <a:r>
              <a:rPr sz="1800" spc="5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：  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b="1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b="1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b="1" spc="172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(SiO</a:t>
            </a:r>
            <a:r>
              <a:rPr sz="1800" b="1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1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800" b="1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b="1" spc="202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，属于菱方晶系。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65" y="4282821"/>
            <a:ext cx="40551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51181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锆系石榴石</a:t>
            </a:r>
            <a:r>
              <a:rPr sz="1800" spc="-47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Zr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b="1" spc="-7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1800" b="1" spc="209" baseline="-2100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LLZ</a:t>
            </a:r>
            <a:r>
              <a:rPr sz="1800" spc="-10" dirty="0">
                <a:latin typeface="宋体" panose="02010600030101010101" pitchFamily="2" charset="-122"/>
                <a:cs typeface="宋体" panose="02010600030101010101" pitchFamily="2" charset="-122"/>
              </a:rPr>
              <a:t>） 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是一类研究比较多的化合物。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358775"/>
            <a:ext cx="624141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全固体锂电池的问题</a:t>
            </a:r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90245" y="1787525"/>
            <a:ext cx="6117590" cy="338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320" indent="-388620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r>
              <a:rPr dirty="0"/>
              <a:t>固态电解质材料的离子电导率偏低</a:t>
            </a:r>
            <a:r>
              <a:rPr spc="-450" dirty="0"/>
              <a:t> </a:t>
            </a:r>
            <a:r>
              <a:rPr dirty="0"/>
              <a:t>；</a:t>
            </a:r>
            <a:endParaRPr dirty="0"/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C000"/>
              </a:buClr>
              <a:buFont typeface="Wingdings" panose="05000000000000000000"/>
              <a:buChar char="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r>
              <a:rPr dirty="0"/>
              <a:t>全固态锂电池</a:t>
            </a:r>
            <a:r>
              <a:rPr lang="zh-CN" dirty="0"/>
              <a:t>固</a:t>
            </a:r>
            <a:r>
              <a:rPr lang="en-US" altLang="zh-CN" dirty="0"/>
              <a:t>-</a:t>
            </a:r>
            <a:r>
              <a:rPr lang="zh-CN" altLang="en-US" dirty="0"/>
              <a:t>固</a:t>
            </a:r>
            <a:r>
              <a:rPr dirty="0"/>
              <a:t>界面阻抗</a:t>
            </a:r>
            <a:r>
              <a:rPr lang="zh-CN" dirty="0"/>
              <a:t>大；</a:t>
            </a:r>
            <a:endParaRPr lang="zh-CN" dirty="0"/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endParaRPr lang="zh-CN" dirty="0"/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r>
              <a:rPr lang="zh-CN" dirty="0"/>
              <a:t>大电流充放电极化大，</a:t>
            </a:r>
            <a:r>
              <a:rPr dirty="0">
                <a:sym typeface="+mn-ea"/>
              </a:rPr>
              <a:t>功率密度较低</a:t>
            </a:r>
            <a:r>
              <a:rPr dirty="0"/>
              <a:t>；</a:t>
            </a:r>
            <a:endParaRPr dirty="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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r>
              <a:rPr dirty="0"/>
              <a:t>全固态电池的倍率性能整体偏低</a:t>
            </a:r>
            <a:r>
              <a:rPr lang="zh-CN" dirty="0"/>
              <a:t>，</a:t>
            </a:r>
            <a:r>
              <a:rPr dirty="0">
                <a:sym typeface="+mn-ea"/>
              </a:rPr>
              <a:t>难以实现电池的快速充电</a:t>
            </a:r>
            <a:r>
              <a:rPr dirty="0"/>
              <a:t>；</a:t>
            </a:r>
            <a:endParaRPr dirty="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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r>
              <a:rPr dirty="0"/>
              <a:t>金属锂电极表面存在粉化问题</a:t>
            </a:r>
            <a:r>
              <a:rPr lang="zh-CN" dirty="0"/>
              <a:t>，导致循环性能下降。</a:t>
            </a:r>
            <a:endParaRPr dirty="0"/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C000"/>
              </a:buClr>
              <a:buFont typeface="Wingdings" panose="05000000000000000000"/>
              <a:buChar char="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401320" indent="-388620">
              <a:lnSpc>
                <a:spcPct val="100000"/>
              </a:lnSpc>
              <a:buClr>
                <a:srgbClr val="FFC000"/>
              </a:buClr>
              <a:buFont typeface="Wingdings" panose="05000000000000000000"/>
              <a:buChar char=""/>
              <a:tabLst>
                <a:tab pos="400685" algn="l"/>
                <a:tab pos="401320" algn="l"/>
              </a:tabLst>
            </a:pPr>
            <a:endParaRPr dirty="0"/>
          </a:p>
        </p:txBody>
      </p:sp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1275" y="1484249"/>
            <a:ext cx="4600575" cy="2133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74065" y="1989582"/>
            <a:ext cx="29591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SzPct val="94000"/>
              <a:buFont typeface="Wingdings" panose="05000000000000000000"/>
              <a:buChar char=""/>
              <a:tabLst>
                <a:tab pos="185420" algn="l"/>
              </a:tabLst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薄膜型全固态锂电池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 panose="05000000000000000000"/>
              <a:buChar char="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SzPct val="94000"/>
              <a:buFont typeface="Wingdings" panose="05000000000000000000"/>
              <a:buChar char=""/>
              <a:tabLst>
                <a:tab pos="185420" algn="l"/>
              </a:tabLst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大容量聚合物全固态锂电池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 panose="05000000000000000000"/>
              <a:buChar char=""/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184785" indent="-172720">
              <a:lnSpc>
                <a:spcPct val="100000"/>
              </a:lnSpc>
              <a:buSzPct val="94000"/>
              <a:buFont typeface="Wingdings" panose="05000000000000000000"/>
              <a:buChar char=""/>
              <a:tabLst>
                <a:tab pos="185420" algn="l"/>
              </a:tabLst>
            </a:pPr>
            <a:r>
              <a:rPr sz="1800" b="1" spc="10" dirty="0">
                <a:latin typeface="Microsoft JhengHei" panose="020B0604030504040204" charset="-120"/>
                <a:cs typeface="Microsoft JhengHei" panose="020B0604030504040204" charset="-120"/>
              </a:rPr>
              <a:t>大容量无机全固态锂电池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6154" y="4034485"/>
            <a:ext cx="3429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采用激光脉冲沉积（</a:t>
            </a:r>
            <a:r>
              <a:rPr sz="1800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PLD</a:t>
            </a:r>
            <a:r>
              <a:rPr sz="1800" spc="-5" dirty="0">
                <a:solidFill>
                  <a:srgbClr val="006F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）制备的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6F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全固态薄膜电池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112" y="981075"/>
            <a:ext cx="2728849" cy="23018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186639" y="3602558"/>
            <a:ext cx="5269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韩国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KAIST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制备的典型叠层结构的柔性全固态锂电池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6451" y="836675"/>
            <a:ext cx="4140298" cy="2592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827087" y="4365625"/>
            <a:ext cx="4476750" cy="154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柔性全固态锂电池</a:t>
            </a:r>
            <a:endParaRPr spc="5" dirty="0"/>
          </a:p>
        </p:txBody>
      </p:sp>
      <p:sp>
        <p:nvSpPr>
          <p:cNvPr id="7" name="object 7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137" y="742950"/>
            <a:ext cx="8032750" cy="459105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178409" y="5638901"/>
            <a:ext cx="878586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1800" b="1" spc="10" dirty="0">
                <a:solidFill>
                  <a:srgbClr val="6F2F9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基于无机材料的全固态电池的设计与构建思路</a:t>
            </a:r>
            <a:endParaRPr sz="1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8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design and construction </a:t>
            </a:r>
            <a:r>
              <a:rPr sz="180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8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all-solid-state lithium cells based on inorganic</a:t>
            </a:r>
            <a:r>
              <a:rPr sz="1800" spc="18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materials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620745"/>
            <a:ext cx="992124" cy="4900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1583436" y="352043"/>
            <a:ext cx="769619" cy="841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905967" y="471297"/>
            <a:ext cx="101091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40" dirty="0">
                <a:solidFill>
                  <a:srgbClr val="6F2F9F"/>
                </a:solidFill>
                <a:latin typeface="Microsoft JhengHei UI" panose="020B0604030504040204" charset="-120"/>
                <a:cs typeface="Microsoft JhengHei UI" panose="020B0604030504040204" charset="-120"/>
              </a:rPr>
              <a:t>展望</a:t>
            </a:r>
            <a:endParaRPr sz="40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5826" y="1761532"/>
            <a:ext cx="5878883" cy="4104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6"/>
          <p:cNvSpPr txBox="1"/>
          <p:nvPr/>
        </p:nvSpPr>
        <p:spPr>
          <a:xfrm rot="18900000">
            <a:off x="-109676" y="6146183"/>
            <a:ext cx="1213920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 rot="18900000">
            <a:off x="-270503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 rot="18900000">
            <a:off x="-270503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 rot="18900000">
            <a:off x="-270503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 rot="18900000">
            <a:off x="-207607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 rot="18900000">
            <a:off x="131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31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131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131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137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04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2904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2904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2904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2967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91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491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4491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4491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4554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60794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0794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0794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0794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61423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666996" y="6214276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666996" y="4690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7666996" y="3166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7666996" y="1642275"/>
            <a:ext cx="1402379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7729892" y="274808"/>
            <a:ext cx="970117" cy="19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endParaRPr sz="1500" dirty="0">
              <a:solidFill>
                <a:srgbClr val="9B9B9B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440,&quot;width&quot;:12780}"/>
</p:tagLst>
</file>

<file path=ppt/tags/tag2.xml><?xml version="1.0" encoding="utf-8"?>
<p:tagLst xmlns:p="http://schemas.openxmlformats.org/presentationml/2006/main">
  <p:tag name="KSO_WM_UNIT_TABLE_BEAUTIFY" val="smartTable{53ebd845-2896-477b-a910-518a709edb12}"/>
</p:tagLst>
</file>

<file path=ppt/tags/tag3.xml><?xml version="1.0" encoding="utf-8"?>
<p:tagLst xmlns:p="http://schemas.openxmlformats.org/presentationml/2006/main">
  <p:tag name="KSO_WM_UNIT_TABLE_BEAUTIFY" val="smartTable{7d9ae608-54a8-4175-8095-3ee6e6a93fa7}"/>
</p:tagLst>
</file>

<file path=ppt/tags/tag4.xml><?xml version="1.0" encoding="utf-8"?>
<p:tagLst xmlns:p="http://schemas.openxmlformats.org/presentationml/2006/main">
  <p:tag name="KSO_WM_UNIT_PLACING_PICTURE_USER_VIEWPORT" val="{&quot;height&quot;:8258.264566929134,&quot;width&quot;:13812.496062992126}"/>
</p:tagLst>
</file>

<file path=ppt/tags/tag5.xml><?xml version="1.0" encoding="utf-8"?>
<p:tagLst xmlns:p="http://schemas.openxmlformats.org/presentationml/2006/main">
  <p:tag name="KSO_WM_UNIT_PLACING_PICTURE_USER_VIEWPORT" val="{&quot;height&quot;:7810.579527559055,&quot;width&quot;:14400}"/>
</p:tagLst>
</file>

<file path=ppt/tags/tag6.xml><?xml version="1.0" encoding="utf-8"?>
<p:tagLst xmlns:p="http://schemas.openxmlformats.org/presentationml/2006/main">
  <p:tag name="COMMONDATA" val="eyJoZGlkIjoiODIyZGQ3MzI3NDI1MDU1N2YyZWRhMDJkZThkMjhmMDYifQ=="/>
  <p:tag name="KSO_WPP_MARK_KEY" val="323ae60f-e823-4360-961e-780f8bd708ba"/>
  <p:tag name="commondata" val="eyJoZGlkIjoiYWUwOGEzYjhjOGE0NTE3ZTlmZmY0ZDg0MTljYmVmNzQifQ=="/>
</p:tagLst>
</file>

<file path=ppt/theme/theme1.xml><?xml version="1.0" encoding="utf-8"?>
<a:theme xmlns:a="http://schemas.openxmlformats.org/drawingml/2006/main" name="万里长城">
  <a:themeElements>
    <a:clrScheme name="万里长城 6">
      <a:dk1>
        <a:srgbClr val="000000"/>
      </a:dk1>
      <a:lt1>
        <a:srgbClr val="FFFFCC"/>
      </a:lt1>
      <a:dk2>
        <a:srgbClr val="6756A6"/>
      </a:dk2>
      <a:lt2>
        <a:srgbClr val="969696"/>
      </a:lt2>
      <a:accent1>
        <a:srgbClr val="99CCFF"/>
      </a:accent1>
      <a:accent2>
        <a:srgbClr val="008000"/>
      </a:accent2>
      <a:accent3>
        <a:srgbClr val="FFFFE2"/>
      </a:accent3>
      <a:accent4>
        <a:srgbClr val="000000"/>
      </a:accent4>
      <a:accent5>
        <a:srgbClr val="CAE2FF"/>
      </a:accent5>
      <a:accent6>
        <a:srgbClr val="007300"/>
      </a:accent6>
      <a:hlink>
        <a:srgbClr val="990033"/>
      </a:hlink>
      <a:folHlink>
        <a:srgbClr val="9900CC"/>
      </a:folHlink>
    </a:clrScheme>
    <a:fontScheme name="万里长城">
      <a:majorFont>
        <a:latin typeface="Times New Roman"/>
        <a:ea typeface="楷体_GB2312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CDESIGNA</Template>
  <TotalTime>0</TotalTime>
  <Words>3698</Words>
  <Application>WPS 演示</Application>
  <PresentationFormat>全屏显示(4:3)</PresentationFormat>
  <Paragraphs>526</Paragraphs>
  <Slides>81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81</vt:i4>
      </vt:variant>
    </vt:vector>
  </HeadingPairs>
  <TitlesOfParts>
    <vt:vector size="108" baseType="lpstr">
      <vt:lpstr>Arial</vt:lpstr>
      <vt:lpstr>宋体</vt:lpstr>
      <vt:lpstr>Wingdings</vt:lpstr>
      <vt:lpstr>Times New Roman</vt:lpstr>
      <vt:lpstr>黑体</vt:lpstr>
      <vt:lpstr>楷体_GB2312</vt:lpstr>
      <vt:lpstr>新宋体</vt:lpstr>
      <vt:lpstr>Microsoft JhengHei</vt:lpstr>
      <vt:lpstr>微软雅黑</vt:lpstr>
      <vt:lpstr>Times New Roman</vt:lpstr>
      <vt:lpstr>Calibri</vt:lpstr>
      <vt:lpstr>Book Antiqua</vt:lpstr>
      <vt:lpstr>Arial</vt:lpstr>
      <vt:lpstr>Wingdings</vt:lpstr>
      <vt:lpstr>Calibri</vt:lpstr>
      <vt:lpstr>Arial Unicode MS</vt:lpstr>
      <vt:lpstr>Symbol</vt:lpstr>
      <vt:lpstr>楷体</vt:lpstr>
      <vt:lpstr>Wingdings-Regular</vt:lpstr>
      <vt:lpstr>Segoe Print</vt:lpstr>
      <vt:lpstr>TimesNewRomanPS-BoldMT</vt:lpstr>
      <vt:lpstr>等线</vt:lpstr>
      <vt:lpstr>Corbel</vt:lpstr>
      <vt:lpstr>Microsoft JhengHei UI</vt:lpstr>
      <vt:lpstr>万里长城</vt:lpstr>
      <vt:lpstr>Office Theme</vt:lpstr>
      <vt:lpstr>1_Office Theme</vt:lpstr>
      <vt:lpstr> </vt:lpstr>
      <vt:lpstr>PowerPoint 演示文稿</vt:lpstr>
      <vt:lpstr>PowerPoint 演示文稿</vt:lpstr>
      <vt:lpstr>PowerPoint 演示文稿</vt:lpstr>
      <vt:lpstr>金属锂原电池</vt:lpstr>
      <vt:lpstr>3.3.4.1 锂二次电池的研制： 锂金属电池到锂离子电池</vt:lpstr>
      <vt:lpstr>PowerPoint 演示文稿</vt:lpstr>
      <vt:lpstr>摇椅式电池（Rocking-chair battery）设计</vt:lpstr>
      <vt:lpstr>锂电正极材料之父</vt:lpstr>
      <vt:lpstr>PowerPoint 演示文稿</vt:lpstr>
      <vt:lpstr>锂离子电池的工作原理</vt:lpstr>
      <vt:lpstr>锂离子电池的电极反应</vt:lpstr>
      <vt:lpstr>锂离子电池的组成</vt:lpstr>
      <vt:lpstr>PowerPoint 演示文稿</vt:lpstr>
      <vt:lpstr>商用锂离子电池构造</vt:lpstr>
      <vt:lpstr>PowerPoint 演示文稿</vt:lpstr>
      <vt:lpstr>2019年诺贝尔化学奖</vt:lpstr>
      <vt:lpstr>我国新能源产业快速发展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电池的安全性问题</vt:lpstr>
      <vt:lpstr>全固态--让梦想照进现实</vt:lpstr>
      <vt:lpstr>全固态锂电池</vt:lpstr>
      <vt:lpstr>全固态锂电池的优点</vt:lpstr>
      <vt:lpstr>全固态锂电池的构造</vt:lpstr>
      <vt:lpstr>PowerPoint 演示文稿</vt:lpstr>
      <vt:lpstr>常用的无机陶瓷电解质</vt:lpstr>
      <vt:lpstr>常用的有机聚合物电解质</vt:lpstr>
      <vt:lpstr>NASICON结构型固体电解质</vt:lpstr>
      <vt:lpstr>石榴石结构型固体电解质</vt:lpstr>
      <vt:lpstr>全固体锂电池的问题</vt:lpstr>
      <vt:lpstr>PowerPoint 演示文稿</vt:lpstr>
      <vt:lpstr>柔性全固态锂电池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无际</cp:lastModifiedBy>
  <cp:revision>618</cp:revision>
  <dcterms:created xsi:type="dcterms:W3CDTF">2113-01-01T00:00:00Z</dcterms:created>
  <dcterms:modified xsi:type="dcterms:W3CDTF">2025-10-24T01:53:14Z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81C73D32B8EF407D88142FC2DF8EB3A8</vt:lpwstr>
  </property>
  <property fmtid="{D5CDD505-2E9C-101B-9397-08002B2CF9AE}" pid="3" name="KSOProductBuildVer">
    <vt:lpwstr>2052-12.1.0.23125</vt:lpwstr>
  </property>
</Properties>
</file>
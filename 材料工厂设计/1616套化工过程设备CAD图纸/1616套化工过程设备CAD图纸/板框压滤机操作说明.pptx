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Default Extension="gif" ContentType="image/gif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5" r:id="rId8"/>
    <p:sldId id="268" r:id="rId9"/>
    <p:sldId id="262" r:id="rId10"/>
    <p:sldId id="263" r:id="rId11"/>
    <p:sldId id="264" r:id="rId12"/>
    <p:sldId id="267" r:id="rId13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-1704" y="-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33E0C4-1675-4136-824E-5363E0E6047C}" type="datetimeFigureOut">
              <a:rPr lang="zh-CN" altLang="en-US" smtClean="0"/>
              <a:t>2019-08-15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D1B76C-D5F3-409A-83C2-8BB53F072AF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53D7DB-0338-DB48-AAB1-CF27639FAEA1}" type="slidenum">
              <a:rPr lang="zh-CN" altLang="en-US" smtClean="0">
                <a:solidFill>
                  <a:prstClr val="black"/>
                </a:solidFill>
                <a:latin typeface="DengXian" panose="020F0502020204030204"/>
              </a:rPr>
              <a:pPr/>
              <a:t>12</a:t>
            </a:fld>
            <a:endParaRPr lang="zh-CN" altLang="en-US">
              <a:solidFill>
                <a:prstClr val="black"/>
              </a:solidFill>
              <a:latin typeface="DengXian" panose="020F0502020204030204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9379202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AF7B32-5A65-4660-970E-13548ED0F42B}" type="datetimeFigureOut">
              <a:rPr lang="zh-CN" altLang="en-US" smtClean="0"/>
              <a:t>2019-08-15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5E32D-B81F-4700-85EE-279CE2B18CC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AF7B32-5A65-4660-970E-13548ED0F42B}" type="datetimeFigureOut">
              <a:rPr lang="zh-CN" altLang="en-US" smtClean="0"/>
              <a:t>2019-08-15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5E32D-B81F-4700-85EE-279CE2B18CC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AF7B32-5A65-4660-970E-13548ED0F42B}" type="datetimeFigureOut">
              <a:rPr lang="zh-CN" altLang="en-US" smtClean="0"/>
              <a:t>2019-08-15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5E32D-B81F-4700-85EE-279CE2B18CC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AF7B32-5A65-4660-970E-13548ED0F42B}" type="datetimeFigureOut">
              <a:rPr lang="zh-CN" altLang="en-US" smtClean="0"/>
              <a:t>2019-08-15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5E32D-B81F-4700-85EE-279CE2B18CC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AF7B32-5A65-4660-970E-13548ED0F42B}" type="datetimeFigureOut">
              <a:rPr lang="zh-CN" altLang="en-US" smtClean="0"/>
              <a:t>2019-08-15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5E32D-B81F-4700-85EE-279CE2B18CC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AF7B32-5A65-4660-970E-13548ED0F42B}" type="datetimeFigureOut">
              <a:rPr lang="zh-CN" altLang="en-US" smtClean="0"/>
              <a:t>2019-08-15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5E32D-B81F-4700-85EE-279CE2B18CC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AF7B32-5A65-4660-970E-13548ED0F42B}" type="datetimeFigureOut">
              <a:rPr lang="zh-CN" altLang="en-US" smtClean="0"/>
              <a:t>2019-08-15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5E32D-B81F-4700-85EE-279CE2B18CC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AF7B32-5A65-4660-970E-13548ED0F42B}" type="datetimeFigureOut">
              <a:rPr lang="zh-CN" altLang="en-US" smtClean="0"/>
              <a:t>2019-08-15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5E32D-B81F-4700-85EE-279CE2B18CC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AF7B32-5A65-4660-970E-13548ED0F42B}" type="datetimeFigureOut">
              <a:rPr lang="zh-CN" altLang="en-US" smtClean="0"/>
              <a:t>2019-08-15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5E32D-B81F-4700-85EE-279CE2B18CC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AF7B32-5A65-4660-970E-13548ED0F42B}" type="datetimeFigureOut">
              <a:rPr lang="zh-CN" altLang="en-US" smtClean="0"/>
              <a:t>2019-08-15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5E32D-B81F-4700-85EE-279CE2B18CC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AF7B32-5A65-4660-970E-13548ED0F42B}" type="datetimeFigureOut">
              <a:rPr lang="zh-CN" altLang="en-US" smtClean="0"/>
              <a:t>2019-08-15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5E32D-B81F-4700-85EE-279CE2B18CC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="" xmlns:p14="http://schemas.microsoft.com/office/powerpoint/2010/main" val="390989147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AF7B32-5A65-4660-970E-13548ED0F42B}" type="datetimeFigureOut">
              <a:rPr lang="zh-CN" altLang="en-US" smtClean="0"/>
              <a:t>2019-08-15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5E32D-B81F-4700-85EE-279CE2B18CC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1"/>
          <p:cNvSpPr/>
          <p:nvPr/>
        </p:nvSpPr>
        <p:spPr>
          <a:xfrm>
            <a:off x="362412" y="15114"/>
            <a:ext cx="576064" cy="740701"/>
          </a:xfrm>
          <a:custGeom>
            <a:avLst/>
            <a:gdLst>
              <a:gd name="connsiteX0" fmla="*/ 0 w 432048"/>
              <a:gd name="connsiteY0" fmla="*/ 0 h 1059582"/>
              <a:gd name="connsiteX1" fmla="*/ 432048 w 432048"/>
              <a:gd name="connsiteY1" fmla="*/ 0 h 1059582"/>
              <a:gd name="connsiteX2" fmla="*/ 432048 w 432048"/>
              <a:gd name="connsiteY2" fmla="*/ 1059582 h 1059582"/>
              <a:gd name="connsiteX3" fmla="*/ 0 w 432048"/>
              <a:gd name="connsiteY3" fmla="*/ 1059582 h 1059582"/>
              <a:gd name="connsiteX4" fmla="*/ 0 w 432048"/>
              <a:gd name="connsiteY4" fmla="*/ 0 h 1059582"/>
              <a:gd name="connsiteX0-1" fmla="*/ 0 w 432048"/>
              <a:gd name="connsiteY0-2" fmla="*/ 0 h 1059582"/>
              <a:gd name="connsiteX1-3" fmla="*/ 432048 w 432048"/>
              <a:gd name="connsiteY1-4" fmla="*/ 0 h 1059582"/>
              <a:gd name="connsiteX2-5" fmla="*/ 432048 w 432048"/>
              <a:gd name="connsiteY2-6" fmla="*/ 1059582 h 1059582"/>
              <a:gd name="connsiteX3-7" fmla="*/ 223259 w 432048"/>
              <a:gd name="connsiteY3-8" fmla="*/ 1045029 h 1059582"/>
              <a:gd name="connsiteX4-9" fmla="*/ 0 w 432048"/>
              <a:gd name="connsiteY4-10" fmla="*/ 1059582 h 1059582"/>
              <a:gd name="connsiteX5" fmla="*/ 0 w 432048"/>
              <a:gd name="connsiteY5" fmla="*/ 0 h 1059582"/>
              <a:gd name="connsiteX0-11" fmla="*/ 0 w 432048"/>
              <a:gd name="connsiteY0-12" fmla="*/ 0 h 1059582"/>
              <a:gd name="connsiteX1-13" fmla="*/ 432048 w 432048"/>
              <a:gd name="connsiteY1-14" fmla="*/ 0 h 1059582"/>
              <a:gd name="connsiteX2-15" fmla="*/ 432048 w 432048"/>
              <a:gd name="connsiteY2-16" fmla="*/ 1059582 h 1059582"/>
              <a:gd name="connsiteX3-17" fmla="*/ 212374 w 432048"/>
              <a:gd name="connsiteY3-18" fmla="*/ 816429 h 1059582"/>
              <a:gd name="connsiteX4-19" fmla="*/ 0 w 432048"/>
              <a:gd name="connsiteY4-20" fmla="*/ 1059582 h 1059582"/>
              <a:gd name="connsiteX5-21" fmla="*/ 0 w 432048"/>
              <a:gd name="connsiteY5-22" fmla="*/ 0 h 105958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21" y="connsiteY5-22"/>
              </a:cxn>
            </a:cxnLst>
            <a:rect l="l" t="t" r="r" b="b"/>
            <a:pathLst>
              <a:path w="432048" h="1059582">
                <a:moveTo>
                  <a:pt x="0" y="0"/>
                </a:moveTo>
                <a:lnTo>
                  <a:pt x="432048" y="0"/>
                </a:lnTo>
                <a:lnTo>
                  <a:pt x="432048" y="1059582"/>
                </a:lnTo>
                <a:lnTo>
                  <a:pt x="212374" y="816429"/>
                </a:lnTo>
                <a:lnTo>
                  <a:pt x="0" y="105958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prstClr val="white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60465" y="125150"/>
            <a:ext cx="797883" cy="380521"/>
          </a:xfrm>
          <a:prstGeom prst="rect">
            <a:avLst/>
          </a:prstGeom>
          <a:noFill/>
        </p:spPr>
        <p:txBody>
          <a:bodyPr wrap="square" lIns="68278" tIns="34096" rIns="68278" bIns="34096" rtlCol="0">
            <a:spAutoFit/>
          </a:bodyPr>
          <a:lstStyle/>
          <a:p>
            <a:pPr algn="ctr">
              <a:buFont typeface="Arial" pitchFamily="34" charset="0"/>
              <a:buNone/>
            </a:pPr>
            <a:r>
              <a:rPr lang="en-US" altLang="zh-CN" sz="2000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endParaRPr lang="zh-CN" altLang="en-US" sz="20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53326" y="170719"/>
            <a:ext cx="9476574" cy="345857"/>
          </a:xfrm>
          <a:prstGeom prst="rect">
            <a:avLst/>
          </a:prstGeom>
          <a:noFill/>
        </p:spPr>
        <p:txBody>
          <a:bodyPr wrap="square" lIns="68278" tIns="34096" rIns="68278" bIns="34096" rtlCol="0">
            <a:spAutoFit/>
          </a:bodyPr>
          <a:lstStyle>
            <a:defPPr>
              <a:defRPr lang="zh-CN"/>
            </a:defPPr>
            <a:lvl1pPr>
              <a:defRPr sz="3200">
                <a:solidFill>
                  <a:schemeClr val="tx1">
                    <a:lumMod val="75000"/>
                  </a:schemeClr>
                </a:solidFill>
                <a:latin typeface="方正卡通简体" pitchFamily="65" charset="-122"/>
                <a:ea typeface="方正卡通简体" pitchFamily="65" charset="-122"/>
              </a:defRPr>
            </a:lvl1pPr>
          </a:lstStyle>
          <a:p>
            <a:r>
              <a:rPr lang="zh-CN" altLang="en-US" sz="1800" dirty="0" smtClean="0">
                <a:solidFill>
                  <a:srgbClr val="292929"/>
                </a:solidFill>
                <a:latin typeface="微软雅黑"/>
                <a:ea typeface="微软雅黑"/>
              </a:rPr>
              <a:t>板框工作</a:t>
            </a:r>
            <a:r>
              <a:rPr lang="zh-CN" altLang="en-US" sz="1800" dirty="0" smtClean="0">
                <a:solidFill>
                  <a:srgbClr val="292929"/>
                </a:solidFill>
                <a:latin typeface="微软雅黑"/>
                <a:ea typeface="微软雅黑"/>
              </a:rPr>
              <a:t>原理</a:t>
            </a:r>
            <a:endParaRPr lang="zh-CN" altLang="en-US" sz="1800" dirty="0">
              <a:solidFill>
                <a:srgbClr val="292929"/>
              </a:solidFill>
              <a:latin typeface="微软雅黑"/>
              <a:ea typeface="微软雅黑"/>
            </a:endParaRPr>
          </a:p>
        </p:txBody>
      </p:sp>
      <p:sp>
        <p:nvSpPr>
          <p:cNvPr id="7" name="Text Box 6"/>
          <p:cNvSpPr>
            <a:spLocks noChangeArrowheads="1"/>
          </p:cNvSpPr>
          <p:nvPr/>
        </p:nvSpPr>
        <p:spPr bwMode="auto">
          <a:xfrm>
            <a:off x="285720" y="785794"/>
            <a:ext cx="8715436" cy="16312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171450" indent="-171450" fontAlgn="base">
              <a:lnSpc>
                <a:spcPts val="2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dirty="0" smtClean="0"/>
              <a:t>          </a:t>
            </a:r>
            <a:endParaRPr lang="en-US" altLang="zh-CN" sz="1600" dirty="0" smtClean="0"/>
          </a:p>
          <a:p>
            <a:pPr marL="171450" indent="-171450" fontAlgn="base">
              <a:lnSpc>
                <a:spcPts val="2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 dirty="0" smtClean="0"/>
              <a:t>  </a:t>
            </a:r>
            <a:r>
              <a:rPr lang="zh-CN" altLang="en-US" sz="2000" dirty="0" smtClean="0">
                <a:latin typeface="宋体" pitchFamily="2" charset="-122"/>
                <a:ea typeface="宋体" pitchFamily="2" charset="-122"/>
              </a:rPr>
              <a:t>板框工作原理：</a:t>
            </a:r>
            <a:endParaRPr lang="en-US" altLang="zh-CN" sz="2000" dirty="0" smtClean="0">
              <a:latin typeface="宋体" pitchFamily="2" charset="-122"/>
              <a:ea typeface="宋体" pitchFamily="2" charset="-122"/>
            </a:endParaRPr>
          </a:p>
          <a:p>
            <a:pPr marL="171450" indent="-171450" fontAlgn="base">
              <a:lnSpc>
                <a:spcPts val="2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dirty="0" smtClean="0">
                <a:latin typeface="宋体" pitchFamily="2" charset="-122"/>
                <a:ea typeface="宋体" pitchFamily="2" charset="-122"/>
              </a:rPr>
              <a:t>          </a:t>
            </a:r>
            <a:r>
              <a:rPr lang="zh-CN" altLang="en-US" sz="2000" dirty="0" smtClean="0">
                <a:latin typeface="宋体" pitchFamily="2" charset="-122"/>
                <a:ea typeface="宋体" pitchFamily="2" charset="-122"/>
              </a:rPr>
              <a:t>板框压滤机用于固体和液体的分离。与其它固液分离设备相比，压滤机过滤后的泥饼有更高的含固率和优良的分离效果。固液分离的基本原理是：混合液流经过滤介质（滤布），固体停留在滤布上，并逐渐在滤布上堆积形成过滤泥饼。而滤液部分则渗透过滤布，成为不含固体的清液。</a:t>
            </a:r>
            <a:endParaRPr lang="zh-CN" altLang="en-US" sz="2000" b="1" dirty="0">
              <a:solidFill>
                <a:prstClr val="black"/>
              </a:solidFill>
              <a:latin typeface="宋体" pitchFamily="2" charset="-122"/>
              <a:ea typeface="宋体" pitchFamily="2" charset="-122"/>
            </a:endParaRPr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85786" y="2857496"/>
            <a:ext cx="6901218" cy="33924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1"/>
          <p:cNvSpPr/>
          <p:nvPr/>
        </p:nvSpPr>
        <p:spPr>
          <a:xfrm>
            <a:off x="362412" y="15114"/>
            <a:ext cx="576064" cy="740701"/>
          </a:xfrm>
          <a:custGeom>
            <a:avLst/>
            <a:gdLst>
              <a:gd name="connsiteX0" fmla="*/ 0 w 432048"/>
              <a:gd name="connsiteY0" fmla="*/ 0 h 1059582"/>
              <a:gd name="connsiteX1" fmla="*/ 432048 w 432048"/>
              <a:gd name="connsiteY1" fmla="*/ 0 h 1059582"/>
              <a:gd name="connsiteX2" fmla="*/ 432048 w 432048"/>
              <a:gd name="connsiteY2" fmla="*/ 1059582 h 1059582"/>
              <a:gd name="connsiteX3" fmla="*/ 0 w 432048"/>
              <a:gd name="connsiteY3" fmla="*/ 1059582 h 1059582"/>
              <a:gd name="connsiteX4" fmla="*/ 0 w 432048"/>
              <a:gd name="connsiteY4" fmla="*/ 0 h 1059582"/>
              <a:gd name="connsiteX0-1" fmla="*/ 0 w 432048"/>
              <a:gd name="connsiteY0-2" fmla="*/ 0 h 1059582"/>
              <a:gd name="connsiteX1-3" fmla="*/ 432048 w 432048"/>
              <a:gd name="connsiteY1-4" fmla="*/ 0 h 1059582"/>
              <a:gd name="connsiteX2-5" fmla="*/ 432048 w 432048"/>
              <a:gd name="connsiteY2-6" fmla="*/ 1059582 h 1059582"/>
              <a:gd name="connsiteX3-7" fmla="*/ 223259 w 432048"/>
              <a:gd name="connsiteY3-8" fmla="*/ 1045029 h 1059582"/>
              <a:gd name="connsiteX4-9" fmla="*/ 0 w 432048"/>
              <a:gd name="connsiteY4-10" fmla="*/ 1059582 h 1059582"/>
              <a:gd name="connsiteX5" fmla="*/ 0 w 432048"/>
              <a:gd name="connsiteY5" fmla="*/ 0 h 1059582"/>
              <a:gd name="connsiteX0-11" fmla="*/ 0 w 432048"/>
              <a:gd name="connsiteY0-12" fmla="*/ 0 h 1059582"/>
              <a:gd name="connsiteX1-13" fmla="*/ 432048 w 432048"/>
              <a:gd name="connsiteY1-14" fmla="*/ 0 h 1059582"/>
              <a:gd name="connsiteX2-15" fmla="*/ 432048 w 432048"/>
              <a:gd name="connsiteY2-16" fmla="*/ 1059582 h 1059582"/>
              <a:gd name="connsiteX3-17" fmla="*/ 212374 w 432048"/>
              <a:gd name="connsiteY3-18" fmla="*/ 816429 h 1059582"/>
              <a:gd name="connsiteX4-19" fmla="*/ 0 w 432048"/>
              <a:gd name="connsiteY4-20" fmla="*/ 1059582 h 1059582"/>
              <a:gd name="connsiteX5-21" fmla="*/ 0 w 432048"/>
              <a:gd name="connsiteY5-22" fmla="*/ 0 h 105958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21" y="connsiteY5-22"/>
              </a:cxn>
            </a:cxnLst>
            <a:rect l="l" t="t" r="r" b="b"/>
            <a:pathLst>
              <a:path w="432048" h="1059582">
                <a:moveTo>
                  <a:pt x="0" y="0"/>
                </a:moveTo>
                <a:lnTo>
                  <a:pt x="432048" y="0"/>
                </a:lnTo>
                <a:lnTo>
                  <a:pt x="432048" y="1059582"/>
                </a:lnTo>
                <a:lnTo>
                  <a:pt x="212374" y="816429"/>
                </a:lnTo>
                <a:lnTo>
                  <a:pt x="0" y="105958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prstClr val="white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60465" y="125150"/>
            <a:ext cx="797883" cy="380521"/>
          </a:xfrm>
          <a:prstGeom prst="rect">
            <a:avLst/>
          </a:prstGeom>
          <a:noFill/>
        </p:spPr>
        <p:txBody>
          <a:bodyPr wrap="square" lIns="68278" tIns="34096" rIns="68278" bIns="34096" rtlCol="0">
            <a:spAutoFit/>
          </a:bodyPr>
          <a:lstStyle/>
          <a:p>
            <a:pPr algn="ctr">
              <a:buFont typeface="Arial" pitchFamily="34" charset="0"/>
              <a:buNone/>
            </a:pPr>
            <a:r>
              <a:rPr lang="en-US" altLang="zh-CN" sz="2000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endParaRPr lang="zh-CN" altLang="en-US" sz="20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53326" y="170719"/>
            <a:ext cx="9476574" cy="345857"/>
          </a:xfrm>
          <a:prstGeom prst="rect">
            <a:avLst/>
          </a:prstGeom>
          <a:noFill/>
        </p:spPr>
        <p:txBody>
          <a:bodyPr wrap="square" lIns="68278" tIns="34096" rIns="68278" bIns="34096" rtlCol="0">
            <a:spAutoFit/>
          </a:bodyPr>
          <a:lstStyle>
            <a:defPPr>
              <a:defRPr lang="zh-CN"/>
            </a:defPPr>
            <a:lvl1pPr>
              <a:defRPr sz="3200">
                <a:solidFill>
                  <a:schemeClr val="tx1">
                    <a:lumMod val="75000"/>
                  </a:schemeClr>
                </a:solidFill>
                <a:latin typeface="方正卡通简体" pitchFamily="65" charset="-122"/>
                <a:ea typeface="方正卡通简体" pitchFamily="65" charset="-122"/>
              </a:defRPr>
            </a:lvl1pPr>
          </a:lstStyle>
          <a:p>
            <a:r>
              <a:rPr lang="zh-CN" altLang="en-US" sz="1800" dirty="0" smtClean="0">
                <a:solidFill>
                  <a:srgbClr val="292929"/>
                </a:solidFill>
                <a:latin typeface="微软雅黑"/>
                <a:ea typeface="微软雅黑"/>
              </a:rPr>
              <a:t>板框工作</a:t>
            </a:r>
            <a:r>
              <a:rPr lang="zh-CN" altLang="en-US" sz="1800" dirty="0" smtClean="0">
                <a:solidFill>
                  <a:srgbClr val="292929"/>
                </a:solidFill>
                <a:latin typeface="微软雅黑"/>
                <a:ea typeface="微软雅黑"/>
              </a:rPr>
              <a:t>原理</a:t>
            </a:r>
            <a:endParaRPr lang="zh-CN" altLang="en-US" sz="1800" dirty="0">
              <a:solidFill>
                <a:srgbClr val="292929"/>
              </a:solidFill>
              <a:latin typeface="微软雅黑"/>
              <a:ea typeface="微软雅黑"/>
            </a:endParaRPr>
          </a:p>
        </p:txBody>
      </p:sp>
      <p:sp>
        <p:nvSpPr>
          <p:cNvPr id="7" name="Text Box 6"/>
          <p:cNvSpPr>
            <a:spLocks noChangeArrowheads="1"/>
          </p:cNvSpPr>
          <p:nvPr/>
        </p:nvSpPr>
        <p:spPr bwMode="auto">
          <a:xfrm>
            <a:off x="285720" y="857232"/>
            <a:ext cx="8501122" cy="11182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171450" indent="-171450" fontAlgn="base">
              <a:lnSpc>
                <a:spcPts val="2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dirty="0" smtClean="0"/>
              <a:t>          </a:t>
            </a:r>
            <a:endParaRPr lang="en-US" altLang="zh-CN" sz="1600" dirty="0" smtClean="0"/>
          </a:p>
          <a:p>
            <a:pPr marL="171450" indent="-171450" fontAlgn="base">
              <a:lnSpc>
                <a:spcPts val="2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 dirty="0" smtClean="0"/>
              <a:t>           </a:t>
            </a:r>
            <a:r>
              <a:rPr lang="zh-CN" altLang="zh-CN" sz="1600" dirty="0" smtClean="0"/>
              <a:t>该板框压滤机，由</a:t>
            </a:r>
            <a:r>
              <a:rPr lang="en-US" altLang="zh-CN" sz="1600" dirty="0" smtClean="0"/>
              <a:t>PLC</a:t>
            </a:r>
            <a:r>
              <a:rPr lang="zh-CN" altLang="zh-CN" sz="1600" dirty="0" smtClean="0"/>
              <a:t>程序控制器实现全程循环自动操作（也可手动操作），自动完成逐块拉板和卸饼（需人工铲饼）工作，完成卸料全过程。工艺过程：压紧、保压、翻板闭合、进料、卸压、初松滴液、翻板打开、松开 、取板、拉板。</a:t>
            </a:r>
            <a:endParaRPr lang="zh-CN" altLang="en-US" sz="2000" b="1" dirty="0">
              <a:solidFill>
                <a:prstClr val="black"/>
              </a:solidFill>
              <a:latin typeface="宋体" pitchFamily="2" charset="-122"/>
              <a:ea typeface="宋体" pitchFamily="2" charset="-122"/>
            </a:endParaRPr>
          </a:p>
        </p:txBody>
      </p:sp>
      <p:pic>
        <p:nvPicPr>
          <p:cNvPr id="8" name="Picture 4" descr="C:\Users\Administrator\Desktop\板框资料\板框\11.gif"/>
          <p:cNvPicPr>
            <a:picLocks noChangeAspect="1" noChangeArrowheads="1" noCrop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85918" y="2071678"/>
            <a:ext cx="5733429" cy="416725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62412" y="15114"/>
            <a:ext cx="576064" cy="740701"/>
          </a:xfrm>
          <a:custGeom>
            <a:avLst/>
            <a:gdLst>
              <a:gd name="connsiteX0" fmla="*/ 0 w 432048"/>
              <a:gd name="connsiteY0" fmla="*/ 0 h 1059582"/>
              <a:gd name="connsiteX1" fmla="*/ 432048 w 432048"/>
              <a:gd name="connsiteY1" fmla="*/ 0 h 1059582"/>
              <a:gd name="connsiteX2" fmla="*/ 432048 w 432048"/>
              <a:gd name="connsiteY2" fmla="*/ 1059582 h 1059582"/>
              <a:gd name="connsiteX3" fmla="*/ 0 w 432048"/>
              <a:gd name="connsiteY3" fmla="*/ 1059582 h 1059582"/>
              <a:gd name="connsiteX4" fmla="*/ 0 w 432048"/>
              <a:gd name="connsiteY4" fmla="*/ 0 h 1059582"/>
              <a:gd name="connsiteX0-1" fmla="*/ 0 w 432048"/>
              <a:gd name="connsiteY0-2" fmla="*/ 0 h 1059582"/>
              <a:gd name="connsiteX1-3" fmla="*/ 432048 w 432048"/>
              <a:gd name="connsiteY1-4" fmla="*/ 0 h 1059582"/>
              <a:gd name="connsiteX2-5" fmla="*/ 432048 w 432048"/>
              <a:gd name="connsiteY2-6" fmla="*/ 1059582 h 1059582"/>
              <a:gd name="connsiteX3-7" fmla="*/ 223259 w 432048"/>
              <a:gd name="connsiteY3-8" fmla="*/ 1045029 h 1059582"/>
              <a:gd name="connsiteX4-9" fmla="*/ 0 w 432048"/>
              <a:gd name="connsiteY4-10" fmla="*/ 1059582 h 1059582"/>
              <a:gd name="connsiteX5" fmla="*/ 0 w 432048"/>
              <a:gd name="connsiteY5" fmla="*/ 0 h 1059582"/>
              <a:gd name="connsiteX0-11" fmla="*/ 0 w 432048"/>
              <a:gd name="connsiteY0-12" fmla="*/ 0 h 1059582"/>
              <a:gd name="connsiteX1-13" fmla="*/ 432048 w 432048"/>
              <a:gd name="connsiteY1-14" fmla="*/ 0 h 1059582"/>
              <a:gd name="connsiteX2-15" fmla="*/ 432048 w 432048"/>
              <a:gd name="connsiteY2-16" fmla="*/ 1059582 h 1059582"/>
              <a:gd name="connsiteX3-17" fmla="*/ 212374 w 432048"/>
              <a:gd name="connsiteY3-18" fmla="*/ 816429 h 1059582"/>
              <a:gd name="connsiteX4-19" fmla="*/ 0 w 432048"/>
              <a:gd name="connsiteY4-20" fmla="*/ 1059582 h 1059582"/>
              <a:gd name="connsiteX5-21" fmla="*/ 0 w 432048"/>
              <a:gd name="connsiteY5-22" fmla="*/ 0 h 105958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21" y="connsiteY5-22"/>
              </a:cxn>
            </a:cxnLst>
            <a:rect l="l" t="t" r="r" b="b"/>
            <a:pathLst>
              <a:path w="432048" h="1059582">
                <a:moveTo>
                  <a:pt x="0" y="0"/>
                </a:moveTo>
                <a:lnTo>
                  <a:pt x="432048" y="0"/>
                </a:lnTo>
                <a:lnTo>
                  <a:pt x="432048" y="1059582"/>
                </a:lnTo>
                <a:lnTo>
                  <a:pt x="212374" y="816429"/>
                </a:lnTo>
                <a:lnTo>
                  <a:pt x="0" y="105958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prstClr val="white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60465" y="125150"/>
            <a:ext cx="797883" cy="380521"/>
          </a:xfrm>
          <a:prstGeom prst="rect">
            <a:avLst/>
          </a:prstGeom>
          <a:noFill/>
        </p:spPr>
        <p:txBody>
          <a:bodyPr wrap="square" lIns="68278" tIns="34096" rIns="68278" bIns="34096" rtlCol="0">
            <a:spAutoFit/>
          </a:bodyPr>
          <a:lstStyle/>
          <a:p>
            <a:pPr algn="ctr">
              <a:buFont typeface="Arial" pitchFamily="34" charset="0"/>
              <a:buNone/>
            </a:pPr>
            <a:r>
              <a:rPr lang="en-US" altLang="zh-CN" sz="2000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20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53326" y="170719"/>
            <a:ext cx="9476574" cy="345857"/>
          </a:xfrm>
          <a:prstGeom prst="rect">
            <a:avLst/>
          </a:prstGeom>
          <a:noFill/>
        </p:spPr>
        <p:txBody>
          <a:bodyPr wrap="square" lIns="68278" tIns="34096" rIns="68278" bIns="34096" rtlCol="0">
            <a:spAutoFit/>
          </a:bodyPr>
          <a:lstStyle>
            <a:defPPr>
              <a:defRPr lang="zh-CN"/>
            </a:defPPr>
            <a:lvl1pPr>
              <a:defRPr sz="3200">
                <a:solidFill>
                  <a:schemeClr val="tx1">
                    <a:lumMod val="75000"/>
                  </a:schemeClr>
                </a:solidFill>
                <a:latin typeface="方正卡通简体" pitchFamily="65" charset="-122"/>
                <a:ea typeface="方正卡通简体" pitchFamily="65" charset="-122"/>
              </a:defRPr>
            </a:lvl1pPr>
          </a:lstStyle>
          <a:p>
            <a:r>
              <a:rPr lang="zh-CN" altLang="zh-CN" sz="1800" dirty="0" smtClean="0">
                <a:solidFill>
                  <a:srgbClr val="292929"/>
                </a:solidFill>
                <a:latin typeface="微软雅黑"/>
                <a:ea typeface="微软雅黑"/>
              </a:rPr>
              <a:t>开机前</a:t>
            </a:r>
            <a:r>
              <a:rPr lang="zh-CN" altLang="zh-CN" sz="1800" dirty="0" smtClean="0">
                <a:solidFill>
                  <a:srgbClr val="292929"/>
                </a:solidFill>
                <a:latin typeface="微软雅黑"/>
                <a:ea typeface="微软雅黑"/>
              </a:rPr>
              <a:t>检查</a:t>
            </a:r>
            <a:endParaRPr lang="zh-CN" altLang="en-US" sz="1800" dirty="0">
              <a:solidFill>
                <a:srgbClr val="292929"/>
              </a:solidFill>
              <a:latin typeface="微软雅黑"/>
              <a:ea typeface="微软雅黑"/>
            </a:endParaRPr>
          </a:p>
        </p:txBody>
      </p:sp>
      <p:sp>
        <p:nvSpPr>
          <p:cNvPr id="5" name="Text Box 6"/>
          <p:cNvSpPr>
            <a:spLocks noChangeArrowheads="1"/>
          </p:cNvSpPr>
          <p:nvPr/>
        </p:nvSpPr>
        <p:spPr bwMode="auto">
          <a:xfrm>
            <a:off x="597854" y="1446672"/>
            <a:ext cx="8188988" cy="37856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zh-CN" altLang="zh-CN" sz="2400" dirty="0" smtClean="0">
                <a:latin typeface="宋体" pitchFamily="2" charset="-122"/>
                <a:ea typeface="宋体" pitchFamily="2" charset="-122"/>
              </a:rPr>
              <a:t>（</a:t>
            </a:r>
            <a:r>
              <a:rPr lang="en-US" altLang="zh-CN" sz="2400" dirty="0" smtClean="0">
                <a:latin typeface="宋体" pitchFamily="2" charset="-122"/>
                <a:ea typeface="宋体" pitchFamily="2" charset="-122"/>
              </a:rPr>
              <a:t>1</a:t>
            </a:r>
            <a:r>
              <a:rPr lang="zh-CN" altLang="zh-CN" sz="2400" dirty="0" smtClean="0">
                <a:latin typeface="宋体" pitchFamily="2" charset="-122"/>
                <a:ea typeface="宋体" pitchFamily="2" charset="-122"/>
              </a:rPr>
              <a:t>）检查流程：确认进泥阀（外部井下电动阀）是否开启；确认高、低压进料泵进出口阀是否处于开启状态；确认压缩机是否处于开启状态；检查进泥、泄压、压榨等工艺管线连接螺栓是否有松动，如有，需紧固；检查压榨流程是否正常，检查压榨、水洗水箱是否液位足够；</a:t>
            </a:r>
          </a:p>
          <a:p>
            <a:r>
              <a:rPr lang="zh-CN" altLang="zh-CN" sz="2400" dirty="0" smtClean="0">
                <a:latin typeface="宋体" pitchFamily="2" charset="-122"/>
                <a:ea typeface="宋体" pitchFamily="2" charset="-122"/>
              </a:rPr>
              <a:t>（</a:t>
            </a:r>
            <a:r>
              <a:rPr lang="en-US" altLang="zh-CN" sz="2400" dirty="0" smtClean="0">
                <a:latin typeface="宋体" pitchFamily="2" charset="-122"/>
                <a:ea typeface="宋体" pitchFamily="2" charset="-122"/>
              </a:rPr>
              <a:t>2</a:t>
            </a:r>
            <a:r>
              <a:rPr lang="zh-CN" altLang="zh-CN" sz="2400" dirty="0" smtClean="0">
                <a:latin typeface="宋体" pitchFamily="2" charset="-122"/>
                <a:ea typeface="宋体" pitchFamily="2" charset="-122"/>
              </a:rPr>
              <a:t>）检查压滤机液压站油位是否处于油镜</a:t>
            </a:r>
            <a:r>
              <a:rPr lang="en-US" altLang="zh-CN" sz="2400" dirty="0" smtClean="0">
                <a:latin typeface="宋体" pitchFamily="2" charset="-122"/>
                <a:ea typeface="宋体" pitchFamily="2" charset="-122"/>
              </a:rPr>
              <a:t>1/2—2/3</a:t>
            </a:r>
            <a:r>
              <a:rPr lang="zh-CN" altLang="zh-CN" sz="2400" dirty="0" smtClean="0">
                <a:latin typeface="宋体" pitchFamily="2" charset="-122"/>
                <a:ea typeface="宋体" pitchFamily="2" charset="-122"/>
              </a:rPr>
              <a:t>之间；检查各连接点是否紧密、无泄漏；</a:t>
            </a:r>
          </a:p>
          <a:p>
            <a:r>
              <a:rPr lang="zh-CN" altLang="zh-CN" sz="2400" dirty="0" smtClean="0">
                <a:latin typeface="宋体" pitchFamily="2" charset="-122"/>
                <a:ea typeface="宋体" pitchFamily="2" charset="-122"/>
              </a:rPr>
              <a:t>（</a:t>
            </a:r>
            <a:r>
              <a:rPr lang="en-US" altLang="zh-CN" sz="2400" dirty="0" smtClean="0">
                <a:latin typeface="宋体" pitchFamily="2" charset="-122"/>
                <a:ea typeface="宋体" pitchFamily="2" charset="-122"/>
              </a:rPr>
              <a:t>3</a:t>
            </a:r>
            <a:r>
              <a:rPr lang="zh-CN" altLang="zh-CN" sz="2400" dirty="0" smtClean="0">
                <a:latin typeface="宋体" pitchFamily="2" charset="-122"/>
                <a:ea typeface="宋体" pitchFamily="2" charset="-122"/>
              </a:rPr>
              <a:t>）检查控制柜运行灯是否亮起、触摸屏状态是否正常；</a:t>
            </a:r>
          </a:p>
          <a:p>
            <a:r>
              <a:rPr lang="zh-CN" altLang="zh-CN" sz="2400" dirty="0" smtClean="0">
                <a:latin typeface="宋体" pitchFamily="2" charset="-122"/>
                <a:ea typeface="宋体" pitchFamily="2" charset="-122"/>
              </a:rPr>
              <a:t>（</a:t>
            </a:r>
            <a:r>
              <a:rPr lang="en-US" altLang="zh-CN" sz="2400" dirty="0" smtClean="0">
                <a:latin typeface="宋体" pitchFamily="2" charset="-122"/>
                <a:ea typeface="宋体" pitchFamily="2" charset="-122"/>
              </a:rPr>
              <a:t>4</a:t>
            </a:r>
            <a:r>
              <a:rPr lang="zh-CN" altLang="zh-CN" sz="2400" dirty="0" smtClean="0">
                <a:latin typeface="宋体" pitchFamily="2" charset="-122"/>
                <a:ea typeface="宋体" pitchFamily="2" charset="-122"/>
              </a:rPr>
              <a:t>）检查有无偏板、有无滤布折叠、破损状态，如有，需及时更换；</a:t>
            </a:r>
            <a:endParaRPr lang="zh-CN" altLang="zh-CN" sz="2400" dirty="0">
              <a:latin typeface="宋体" pitchFamily="2" charset="-122"/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62412" y="15114"/>
            <a:ext cx="576064" cy="740701"/>
          </a:xfrm>
          <a:custGeom>
            <a:avLst/>
            <a:gdLst>
              <a:gd name="connsiteX0" fmla="*/ 0 w 432048"/>
              <a:gd name="connsiteY0" fmla="*/ 0 h 1059582"/>
              <a:gd name="connsiteX1" fmla="*/ 432048 w 432048"/>
              <a:gd name="connsiteY1" fmla="*/ 0 h 1059582"/>
              <a:gd name="connsiteX2" fmla="*/ 432048 w 432048"/>
              <a:gd name="connsiteY2" fmla="*/ 1059582 h 1059582"/>
              <a:gd name="connsiteX3" fmla="*/ 0 w 432048"/>
              <a:gd name="connsiteY3" fmla="*/ 1059582 h 1059582"/>
              <a:gd name="connsiteX4" fmla="*/ 0 w 432048"/>
              <a:gd name="connsiteY4" fmla="*/ 0 h 1059582"/>
              <a:gd name="connsiteX0-1" fmla="*/ 0 w 432048"/>
              <a:gd name="connsiteY0-2" fmla="*/ 0 h 1059582"/>
              <a:gd name="connsiteX1-3" fmla="*/ 432048 w 432048"/>
              <a:gd name="connsiteY1-4" fmla="*/ 0 h 1059582"/>
              <a:gd name="connsiteX2-5" fmla="*/ 432048 w 432048"/>
              <a:gd name="connsiteY2-6" fmla="*/ 1059582 h 1059582"/>
              <a:gd name="connsiteX3-7" fmla="*/ 223259 w 432048"/>
              <a:gd name="connsiteY3-8" fmla="*/ 1045029 h 1059582"/>
              <a:gd name="connsiteX4-9" fmla="*/ 0 w 432048"/>
              <a:gd name="connsiteY4-10" fmla="*/ 1059582 h 1059582"/>
              <a:gd name="connsiteX5" fmla="*/ 0 w 432048"/>
              <a:gd name="connsiteY5" fmla="*/ 0 h 1059582"/>
              <a:gd name="connsiteX0-11" fmla="*/ 0 w 432048"/>
              <a:gd name="connsiteY0-12" fmla="*/ 0 h 1059582"/>
              <a:gd name="connsiteX1-13" fmla="*/ 432048 w 432048"/>
              <a:gd name="connsiteY1-14" fmla="*/ 0 h 1059582"/>
              <a:gd name="connsiteX2-15" fmla="*/ 432048 w 432048"/>
              <a:gd name="connsiteY2-16" fmla="*/ 1059582 h 1059582"/>
              <a:gd name="connsiteX3-17" fmla="*/ 212374 w 432048"/>
              <a:gd name="connsiteY3-18" fmla="*/ 816429 h 1059582"/>
              <a:gd name="connsiteX4-19" fmla="*/ 0 w 432048"/>
              <a:gd name="connsiteY4-20" fmla="*/ 1059582 h 1059582"/>
              <a:gd name="connsiteX5-21" fmla="*/ 0 w 432048"/>
              <a:gd name="connsiteY5-22" fmla="*/ 0 h 105958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21" y="connsiteY5-22"/>
              </a:cxn>
            </a:cxnLst>
            <a:rect l="l" t="t" r="r" b="b"/>
            <a:pathLst>
              <a:path w="432048" h="1059582">
                <a:moveTo>
                  <a:pt x="0" y="0"/>
                </a:moveTo>
                <a:lnTo>
                  <a:pt x="432048" y="0"/>
                </a:lnTo>
                <a:lnTo>
                  <a:pt x="432048" y="1059582"/>
                </a:lnTo>
                <a:lnTo>
                  <a:pt x="212374" y="816429"/>
                </a:lnTo>
                <a:lnTo>
                  <a:pt x="0" y="105958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prstClr val="white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60465" y="125150"/>
            <a:ext cx="797883" cy="380521"/>
          </a:xfrm>
          <a:prstGeom prst="rect">
            <a:avLst/>
          </a:prstGeom>
          <a:noFill/>
        </p:spPr>
        <p:txBody>
          <a:bodyPr wrap="square" lIns="68278" tIns="34096" rIns="68278" bIns="34096" rtlCol="0">
            <a:spAutoFit/>
          </a:bodyPr>
          <a:lstStyle/>
          <a:p>
            <a:pPr algn="ctr">
              <a:buFont typeface="Arial" pitchFamily="34" charset="0"/>
              <a:buNone/>
            </a:pPr>
            <a:r>
              <a:rPr lang="en-US" altLang="zh-CN" sz="2000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sz="20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53326" y="170719"/>
            <a:ext cx="9476574" cy="345857"/>
          </a:xfrm>
          <a:prstGeom prst="rect">
            <a:avLst/>
          </a:prstGeom>
          <a:noFill/>
        </p:spPr>
        <p:txBody>
          <a:bodyPr wrap="square" lIns="68278" tIns="34096" rIns="68278" bIns="34096" rtlCol="0">
            <a:spAutoFit/>
          </a:bodyPr>
          <a:lstStyle>
            <a:defPPr>
              <a:defRPr lang="zh-CN"/>
            </a:defPPr>
            <a:lvl1pPr>
              <a:defRPr sz="3200">
                <a:solidFill>
                  <a:schemeClr val="tx1">
                    <a:lumMod val="75000"/>
                  </a:schemeClr>
                </a:solidFill>
                <a:latin typeface="方正卡通简体" pitchFamily="65" charset="-122"/>
                <a:ea typeface="方正卡通简体" pitchFamily="65" charset="-122"/>
              </a:defRPr>
            </a:lvl1pPr>
          </a:lstStyle>
          <a:p>
            <a:r>
              <a:rPr lang="zh-CN" altLang="zh-CN" sz="1800" b="1" dirty="0" smtClean="0"/>
              <a:t>压滤（主要为自动</a:t>
            </a:r>
            <a:r>
              <a:rPr lang="zh-CN" altLang="zh-CN" sz="1800" b="1" dirty="0" smtClean="0"/>
              <a:t>）</a:t>
            </a:r>
            <a:endParaRPr lang="zh-CN" altLang="en-US" sz="1800" dirty="0">
              <a:solidFill>
                <a:srgbClr val="292929"/>
              </a:solidFill>
              <a:latin typeface="微软雅黑"/>
              <a:ea typeface="微软雅黑"/>
            </a:endParaRPr>
          </a:p>
        </p:txBody>
      </p:sp>
      <p:sp>
        <p:nvSpPr>
          <p:cNvPr id="5" name="Text Box 6"/>
          <p:cNvSpPr>
            <a:spLocks noChangeArrowheads="1"/>
          </p:cNvSpPr>
          <p:nvPr/>
        </p:nvSpPr>
        <p:spPr bwMode="auto">
          <a:xfrm>
            <a:off x="597854" y="571480"/>
            <a:ext cx="8188988" cy="25648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171450" indent="-171450" fontAlgn="base">
              <a:lnSpc>
                <a:spcPts val="2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dirty="0" smtClean="0"/>
              <a:t>          </a:t>
            </a:r>
            <a:endParaRPr lang="en-US" altLang="zh-CN" sz="1600" dirty="0" smtClean="0"/>
          </a:p>
          <a:p>
            <a:r>
              <a:rPr lang="en-US" altLang="zh-CN" sz="1600" dirty="0" smtClean="0"/>
              <a:t> </a:t>
            </a:r>
            <a:r>
              <a:rPr lang="zh-CN" altLang="zh-CN" sz="1600" dirty="0" smtClean="0"/>
              <a:t>（</a:t>
            </a:r>
            <a:r>
              <a:rPr lang="en-US" altLang="zh-CN" sz="1600" dirty="0" smtClean="0"/>
              <a:t>1</a:t>
            </a:r>
            <a:r>
              <a:rPr lang="zh-CN" altLang="zh-CN" sz="1600" dirty="0" smtClean="0"/>
              <a:t>）旋钮开关选择“自动”“过滤”选择“自动压紧”，此时液压站开始工作，注意观察液压站连接件处是否存在泄漏，液压站运行是否存在异响、液压缸压力表是否正常，压力一般在</a:t>
            </a:r>
            <a:r>
              <a:rPr lang="en-US" altLang="zh-CN" sz="1600" dirty="0" smtClean="0"/>
              <a:t>8-10.5MPa</a:t>
            </a:r>
            <a:r>
              <a:rPr lang="zh-CN" altLang="zh-CN" sz="1600" dirty="0" smtClean="0"/>
              <a:t>；</a:t>
            </a:r>
          </a:p>
          <a:p>
            <a:r>
              <a:rPr lang="zh-CN" altLang="zh-CN" sz="1600" dirty="0" smtClean="0"/>
              <a:t>（</a:t>
            </a:r>
            <a:r>
              <a:rPr lang="en-US" altLang="zh-CN" sz="1600" dirty="0" smtClean="0"/>
              <a:t>2</a:t>
            </a:r>
            <a:r>
              <a:rPr lang="zh-CN" altLang="zh-CN" sz="1600" dirty="0" smtClean="0"/>
              <a:t>）检查翻版是否关闭；</a:t>
            </a:r>
          </a:p>
          <a:p>
            <a:r>
              <a:rPr lang="zh-CN" altLang="zh-CN" sz="1600" dirty="0" smtClean="0"/>
              <a:t>（</a:t>
            </a:r>
            <a:r>
              <a:rPr lang="en-US" altLang="zh-CN" sz="1600" dirty="0" smtClean="0"/>
              <a:t>3</a:t>
            </a:r>
            <a:r>
              <a:rPr lang="zh-CN" altLang="zh-CN" sz="1600" dirty="0" smtClean="0"/>
              <a:t>）此时设备进入保压状态，压力在</a:t>
            </a:r>
            <a:r>
              <a:rPr lang="en-US" altLang="zh-CN" sz="1600" dirty="0" smtClean="0"/>
              <a:t>10 </a:t>
            </a:r>
            <a:r>
              <a:rPr lang="en-US" altLang="zh-CN" sz="1600" dirty="0" err="1" smtClean="0"/>
              <a:t>MPa</a:t>
            </a:r>
            <a:r>
              <a:rPr lang="zh-CN" altLang="zh-CN" sz="1600" dirty="0" smtClean="0"/>
              <a:t>，同时进料气动阀打开，现场检查进料阀旋转到</a:t>
            </a:r>
            <a:r>
              <a:rPr lang="en-US" altLang="zh-CN" sz="1600" dirty="0" smtClean="0"/>
              <a:t>OPEN</a:t>
            </a:r>
            <a:r>
              <a:rPr lang="zh-CN" altLang="zh-CN" sz="1600" dirty="0" smtClean="0"/>
              <a:t>状态，也可以在触摸屏查询中检查进料阀是否打开；</a:t>
            </a:r>
          </a:p>
          <a:p>
            <a:r>
              <a:rPr lang="zh-CN" altLang="zh-CN" sz="1600" dirty="0" smtClean="0"/>
              <a:t>（</a:t>
            </a:r>
            <a:r>
              <a:rPr lang="en-US" altLang="zh-CN" sz="1600" dirty="0" smtClean="0"/>
              <a:t>4</a:t>
            </a:r>
            <a:r>
              <a:rPr lang="zh-CN" altLang="zh-CN" sz="1600" dirty="0" smtClean="0"/>
              <a:t>）进料阀打开后，设备进入低压进料状态，按照设定的时间开始进料，进料由变频泵控制，随着压力的升高变频降低；此时注意检查泵有无泄漏，运行有无异响，是否存在泵抽空现象；</a:t>
            </a:r>
            <a:endParaRPr lang="zh-CN" altLang="zh-CN" sz="1600" dirty="0"/>
          </a:p>
        </p:txBody>
      </p:sp>
      <p:pic>
        <p:nvPicPr>
          <p:cNvPr id="6" name="图片 9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4282" y="3286124"/>
            <a:ext cx="4377165" cy="2562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" name="图片 1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572000" y="3286124"/>
            <a:ext cx="4375186" cy="25717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62412" y="15114"/>
            <a:ext cx="576064" cy="740701"/>
          </a:xfrm>
          <a:custGeom>
            <a:avLst/>
            <a:gdLst>
              <a:gd name="connsiteX0" fmla="*/ 0 w 432048"/>
              <a:gd name="connsiteY0" fmla="*/ 0 h 1059582"/>
              <a:gd name="connsiteX1" fmla="*/ 432048 w 432048"/>
              <a:gd name="connsiteY1" fmla="*/ 0 h 1059582"/>
              <a:gd name="connsiteX2" fmla="*/ 432048 w 432048"/>
              <a:gd name="connsiteY2" fmla="*/ 1059582 h 1059582"/>
              <a:gd name="connsiteX3" fmla="*/ 0 w 432048"/>
              <a:gd name="connsiteY3" fmla="*/ 1059582 h 1059582"/>
              <a:gd name="connsiteX4" fmla="*/ 0 w 432048"/>
              <a:gd name="connsiteY4" fmla="*/ 0 h 1059582"/>
              <a:gd name="connsiteX0-1" fmla="*/ 0 w 432048"/>
              <a:gd name="connsiteY0-2" fmla="*/ 0 h 1059582"/>
              <a:gd name="connsiteX1-3" fmla="*/ 432048 w 432048"/>
              <a:gd name="connsiteY1-4" fmla="*/ 0 h 1059582"/>
              <a:gd name="connsiteX2-5" fmla="*/ 432048 w 432048"/>
              <a:gd name="connsiteY2-6" fmla="*/ 1059582 h 1059582"/>
              <a:gd name="connsiteX3-7" fmla="*/ 223259 w 432048"/>
              <a:gd name="connsiteY3-8" fmla="*/ 1045029 h 1059582"/>
              <a:gd name="connsiteX4-9" fmla="*/ 0 w 432048"/>
              <a:gd name="connsiteY4-10" fmla="*/ 1059582 h 1059582"/>
              <a:gd name="connsiteX5" fmla="*/ 0 w 432048"/>
              <a:gd name="connsiteY5" fmla="*/ 0 h 1059582"/>
              <a:gd name="connsiteX0-11" fmla="*/ 0 w 432048"/>
              <a:gd name="connsiteY0-12" fmla="*/ 0 h 1059582"/>
              <a:gd name="connsiteX1-13" fmla="*/ 432048 w 432048"/>
              <a:gd name="connsiteY1-14" fmla="*/ 0 h 1059582"/>
              <a:gd name="connsiteX2-15" fmla="*/ 432048 w 432048"/>
              <a:gd name="connsiteY2-16" fmla="*/ 1059582 h 1059582"/>
              <a:gd name="connsiteX3-17" fmla="*/ 212374 w 432048"/>
              <a:gd name="connsiteY3-18" fmla="*/ 816429 h 1059582"/>
              <a:gd name="connsiteX4-19" fmla="*/ 0 w 432048"/>
              <a:gd name="connsiteY4-20" fmla="*/ 1059582 h 1059582"/>
              <a:gd name="connsiteX5-21" fmla="*/ 0 w 432048"/>
              <a:gd name="connsiteY5-22" fmla="*/ 0 h 105958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21" y="connsiteY5-22"/>
              </a:cxn>
            </a:cxnLst>
            <a:rect l="l" t="t" r="r" b="b"/>
            <a:pathLst>
              <a:path w="432048" h="1059582">
                <a:moveTo>
                  <a:pt x="0" y="0"/>
                </a:moveTo>
                <a:lnTo>
                  <a:pt x="432048" y="0"/>
                </a:lnTo>
                <a:lnTo>
                  <a:pt x="432048" y="1059582"/>
                </a:lnTo>
                <a:lnTo>
                  <a:pt x="212374" y="816429"/>
                </a:lnTo>
                <a:lnTo>
                  <a:pt x="0" y="105958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prstClr val="white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60465" y="125150"/>
            <a:ext cx="797883" cy="380521"/>
          </a:xfrm>
          <a:prstGeom prst="rect">
            <a:avLst/>
          </a:prstGeom>
          <a:noFill/>
        </p:spPr>
        <p:txBody>
          <a:bodyPr wrap="square" lIns="68278" tIns="34096" rIns="68278" bIns="34096" rtlCol="0">
            <a:spAutoFit/>
          </a:bodyPr>
          <a:lstStyle/>
          <a:p>
            <a:pPr algn="ctr">
              <a:buFont typeface="Arial" pitchFamily="34" charset="0"/>
              <a:buNone/>
            </a:pPr>
            <a:r>
              <a:rPr lang="en-US" altLang="zh-CN" sz="20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sz="20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53326" y="170719"/>
            <a:ext cx="9476574" cy="345857"/>
          </a:xfrm>
          <a:prstGeom prst="rect">
            <a:avLst/>
          </a:prstGeom>
          <a:noFill/>
        </p:spPr>
        <p:txBody>
          <a:bodyPr wrap="square" lIns="68278" tIns="34096" rIns="68278" bIns="34096" rtlCol="0">
            <a:spAutoFit/>
          </a:bodyPr>
          <a:lstStyle>
            <a:defPPr>
              <a:defRPr lang="zh-CN"/>
            </a:defPPr>
            <a:lvl1pPr>
              <a:defRPr sz="3200">
                <a:solidFill>
                  <a:schemeClr val="tx1">
                    <a:lumMod val="75000"/>
                  </a:schemeClr>
                </a:solidFill>
                <a:latin typeface="方正卡通简体" pitchFamily="65" charset="-122"/>
                <a:ea typeface="方正卡通简体" pitchFamily="65" charset="-122"/>
              </a:defRPr>
            </a:lvl1pPr>
          </a:lstStyle>
          <a:p>
            <a:r>
              <a:rPr lang="zh-CN" altLang="zh-CN" sz="1800" b="1" dirty="0" smtClean="0"/>
              <a:t>压滤（主要为自动</a:t>
            </a:r>
            <a:r>
              <a:rPr lang="zh-CN" altLang="zh-CN" sz="1800" b="1" dirty="0" smtClean="0"/>
              <a:t>）</a:t>
            </a:r>
            <a:endParaRPr lang="zh-CN" altLang="en-US" sz="1800" dirty="0">
              <a:solidFill>
                <a:srgbClr val="292929"/>
              </a:solidFill>
              <a:latin typeface="微软雅黑"/>
              <a:ea typeface="微软雅黑"/>
            </a:endParaRPr>
          </a:p>
        </p:txBody>
      </p:sp>
      <p:sp>
        <p:nvSpPr>
          <p:cNvPr id="5" name="Text Box 6"/>
          <p:cNvSpPr>
            <a:spLocks noChangeArrowheads="1"/>
          </p:cNvSpPr>
          <p:nvPr/>
        </p:nvSpPr>
        <p:spPr bwMode="auto">
          <a:xfrm>
            <a:off x="597854" y="642918"/>
            <a:ext cx="8117550" cy="18786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171450" indent="-171450" fontAlgn="base">
              <a:lnSpc>
                <a:spcPts val="2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dirty="0" smtClean="0"/>
              <a:t>          </a:t>
            </a:r>
            <a:endParaRPr lang="en-US" altLang="zh-CN" sz="1600" dirty="0" smtClean="0"/>
          </a:p>
          <a:p>
            <a:r>
              <a:rPr lang="en-US" altLang="zh-CN" sz="1600" dirty="0" smtClean="0"/>
              <a:t> </a:t>
            </a:r>
            <a:r>
              <a:rPr lang="zh-CN" altLang="zh-CN" sz="1600" dirty="0" smtClean="0"/>
              <a:t>（</a:t>
            </a:r>
            <a:r>
              <a:rPr lang="en-US" altLang="zh-CN" sz="1600" dirty="0" smtClean="0"/>
              <a:t>5</a:t>
            </a:r>
            <a:r>
              <a:rPr lang="zh-CN" altLang="zh-CN" sz="1600" dirty="0" smtClean="0"/>
              <a:t>）操作可根据实际生产情况进行选择和设定，特殊情况可将不用的工艺过程相应的工艺时间设定为</a:t>
            </a:r>
            <a:r>
              <a:rPr lang="en-US" altLang="zh-CN" sz="1600" dirty="0" smtClean="0"/>
              <a:t>0</a:t>
            </a:r>
            <a:r>
              <a:rPr lang="zh-CN" altLang="zh-CN" sz="1600" dirty="0" smtClean="0"/>
              <a:t>，则程序自动跳过此工艺流程，设定完成后返回，这些设定自动保存，下次操作时无需再次设定。如需修改参照上述步骤重新设定；</a:t>
            </a:r>
          </a:p>
          <a:p>
            <a:r>
              <a:rPr lang="zh-CN" altLang="zh-CN" sz="1600" dirty="0" smtClean="0"/>
              <a:t>（</a:t>
            </a:r>
            <a:r>
              <a:rPr lang="en-US" altLang="zh-CN" sz="1600" dirty="0" smtClean="0"/>
              <a:t>6</a:t>
            </a:r>
            <a:r>
              <a:rPr lang="zh-CN" altLang="zh-CN" sz="1600" dirty="0" smtClean="0"/>
              <a:t>）程序按照压紧、保压、翻板闭合、进料（低压、高压进料）、吹扫、清水压榨、卸压、初松滴液、翻板打开、松开 、取板、拉板流程运行，运行到相应工艺时，需检查相应的运行设备，是否存在泄漏、异响的现象。</a:t>
            </a:r>
            <a:endParaRPr lang="zh-CN" altLang="zh-CN" sz="1600" dirty="0"/>
          </a:p>
        </p:txBody>
      </p:sp>
      <p:pic>
        <p:nvPicPr>
          <p:cNvPr id="6" name="图片 10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71670" y="2928934"/>
            <a:ext cx="5397465" cy="31662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62412" y="15114"/>
            <a:ext cx="576064" cy="740701"/>
          </a:xfrm>
          <a:custGeom>
            <a:avLst/>
            <a:gdLst>
              <a:gd name="connsiteX0" fmla="*/ 0 w 432048"/>
              <a:gd name="connsiteY0" fmla="*/ 0 h 1059582"/>
              <a:gd name="connsiteX1" fmla="*/ 432048 w 432048"/>
              <a:gd name="connsiteY1" fmla="*/ 0 h 1059582"/>
              <a:gd name="connsiteX2" fmla="*/ 432048 w 432048"/>
              <a:gd name="connsiteY2" fmla="*/ 1059582 h 1059582"/>
              <a:gd name="connsiteX3" fmla="*/ 0 w 432048"/>
              <a:gd name="connsiteY3" fmla="*/ 1059582 h 1059582"/>
              <a:gd name="connsiteX4" fmla="*/ 0 w 432048"/>
              <a:gd name="connsiteY4" fmla="*/ 0 h 1059582"/>
              <a:gd name="connsiteX0-1" fmla="*/ 0 w 432048"/>
              <a:gd name="connsiteY0-2" fmla="*/ 0 h 1059582"/>
              <a:gd name="connsiteX1-3" fmla="*/ 432048 w 432048"/>
              <a:gd name="connsiteY1-4" fmla="*/ 0 h 1059582"/>
              <a:gd name="connsiteX2-5" fmla="*/ 432048 w 432048"/>
              <a:gd name="connsiteY2-6" fmla="*/ 1059582 h 1059582"/>
              <a:gd name="connsiteX3-7" fmla="*/ 223259 w 432048"/>
              <a:gd name="connsiteY3-8" fmla="*/ 1045029 h 1059582"/>
              <a:gd name="connsiteX4-9" fmla="*/ 0 w 432048"/>
              <a:gd name="connsiteY4-10" fmla="*/ 1059582 h 1059582"/>
              <a:gd name="connsiteX5" fmla="*/ 0 w 432048"/>
              <a:gd name="connsiteY5" fmla="*/ 0 h 1059582"/>
              <a:gd name="connsiteX0-11" fmla="*/ 0 w 432048"/>
              <a:gd name="connsiteY0-12" fmla="*/ 0 h 1059582"/>
              <a:gd name="connsiteX1-13" fmla="*/ 432048 w 432048"/>
              <a:gd name="connsiteY1-14" fmla="*/ 0 h 1059582"/>
              <a:gd name="connsiteX2-15" fmla="*/ 432048 w 432048"/>
              <a:gd name="connsiteY2-16" fmla="*/ 1059582 h 1059582"/>
              <a:gd name="connsiteX3-17" fmla="*/ 212374 w 432048"/>
              <a:gd name="connsiteY3-18" fmla="*/ 816429 h 1059582"/>
              <a:gd name="connsiteX4-19" fmla="*/ 0 w 432048"/>
              <a:gd name="connsiteY4-20" fmla="*/ 1059582 h 1059582"/>
              <a:gd name="connsiteX5-21" fmla="*/ 0 w 432048"/>
              <a:gd name="connsiteY5-22" fmla="*/ 0 h 105958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21" y="connsiteY5-22"/>
              </a:cxn>
            </a:cxnLst>
            <a:rect l="l" t="t" r="r" b="b"/>
            <a:pathLst>
              <a:path w="432048" h="1059582">
                <a:moveTo>
                  <a:pt x="0" y="0"/>
                </a:moveTo>
                <a:lnTo>
                  <a:pt x="432048" y="0"/>
                </a:lnTo>
                <a:lnTo>
                  <a:pt x="432048" y="1059582"/>
                </a:lnTo>
                <a:lnTo>
                  <a:pt x="212374" y="816429"/>
                </a:lnTo>
                <a:lnTo>
                  <a:pt x="0" y="105958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prstClr val="white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60465" y="125150"/>
            <a:ext cx="797883" cy="380521"/>
          </a:xfrm>
          <a:prstGeom prst="rect">
            <a:avLst/>
          </a:prstGeom>
          <a:noFill/>
        </p:spPr>
        <p:txBody>
          <a:bodyPr wrap="square" lIns="68278" tIns="34096" rIns="68278" bIns="34096" rtlCol="0">
            <a:spAutoFit/>
          </a:bodyPr>
          <a:lstStyle/>
          <a:p>
            <a:pPr algn="ctr">
              <a:buFont typeface="Arial" pitchFamily="34" charset="0"/>
              <a:buNone/>
            </a:pPr>
            <a:r>
              <a:rPr lang="en-US" altLang="zh-CN" sz="2000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zh-CN" altLang="en-US" sz="20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53326" y="170719"/>
            <a:ext cx="9476574" cy="345857"/>
          </a:xfrm>
          <a:prstGeom prst="rect">
            <a:avLst/>
          </a:prstGeom>
          <a:noFill/>
        </p:spPr>
        <p:txBody>
          <a:bodyPr wrap="square" lIns="68278" tIns="34096" rIns="68278" bIns="34096" rtlCol="0">
            <a:spAutoFit/>
          </a:bodyPr>
          <a:lstStyle>
            <a:defPPr>
              <a:defRPr lang="zh-CN"/>
            </a:defPPr>
            <a:lvl1pPr>
              <a:defRPr sz="3200">
                <a:solidFill>
                  <a:schemeClr val="tx1">
                    <a:lumMod val="75000"/>
                  </a:schemeClr>
                </a:solidFill>
                <a:latin typeface="方正卡通简体" pitchFamily="65" charset="-122"/>
                <a:ea typeface="方正卡通简体" pitchFamily="65" charset="-122"/>
              </a:defRPr>
            </a:lvl1pPr>
          </a:lstStyle>
          <a:p>
            <a:r>
              <a:rPr lang="zh-CN" altLang="zh-CN" sz="1800" b="1" dirty="0" smtClean="0"/>
              <a:t>卸</a:t>
            </a:r>
            <a:r>
              <a:rPr lang="zh-CN" altLang="zh-CN" sz="1800" b="1" dirty="0" smtClean="0"/>
              <a:t>料</a:t>
            </a:r>
            <a:endParaRPr lang="zh-CN" altLang="en-US" sz="1800" dirty="0">
              <a:solidFill>
                <a:srgbClr val="292929"/>
              </a:solidFill>
              <a:latin typeface="微软雅黑"/>
              <a:ea typeface="微软雅黑"/>
            </a:endParaRPr>
          </a:p>
        </p:txBody>
      </p:sp>
      <p:sp>
        <p:nvSpPr>
          <p:cNvPr id="5" name="Text Box 6"/>
          <p:cNvSpPr>
            <a:spLocks noChangeArrowheads="1"/>
          </p:cNvSpPr>
          <p:nvPr/>
        </p:nvSpPr>
        <p:spPr bwMode="auto">
          <a:xfrm>
            <a:off x="597854" y="941696"/>
            <a:ext cx="8188988" cy="3672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171450" indent="-171450" fontAlgn="base">
              <a:lnSpc>
                <a:spcPts val="2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dirty="0" smtClean="0"/>
              <a:t>          </a:t>
            </a:r>
            <a:endParaRPr lang="en-US" altLang="zh-CN" sz="1600" dirty="0" smtClean="0"/>
          </a:p>
          <a:p>
            <a:r>
              <a:rPr lang="zh-CN" altLang="zh-CN" sz="2400" dirty="0" smtClean="0">
                <a:latin typeface="宋体" pitchFamily="2" charset="-122"/>
                <a:ea typeface="宋体" pitchFamily="2" charset="-122"/>
              </a:rPr>
              <a:t>（</a:t>
            </a:r>
            <a:r>
              <a:rPr lang="en-US" altLang="zh-CN" sz="2400" dirty="0" smtClean="0">
                <a:latin typeface="宋体" pitchFamily="2" charset="-122"/>
                <a:ea typeface="宋体" pitchFamily="2" charset="-122"/>
              </a:rPr>
              <a:t>1</a:t>
            </a:r>
            <a:r>
              <a:rPr lang="zh-CN" altLang="zh-CN" sz="2400" dirty="0" smtClean="0">
                <a:latin typeface="宋体" pitchFamily="2" charset="-122"/>
                <a:ea typeface="宋体" pitchFamily="2" charset="-122"/>
              </a:rPr>
              <a:t>）清水压榨工艺完成后，进入滴液状态；</a:t>
            </a:r>
          </a:p>
          <a:p>
            <a:r>
              <a:rPr lang="zh-CN" altLang="zh-CN" sz="2400" dirty="0" smtClean="0">
                <a:latin typeface="宋体" pitchFamily="2" charset="-122"/>
                <a:ea typeface="宋体" pitchFamily="2" charset="-122"/>
              </a:rPr>
              <a:t>（</a:t>
            </a:r>
            <a:r>
              <a:rPr lang="en-US" altLang="zh-CN" sz="2400" dirty="0" smtClean="0">
                <a:latin typeface="宋体" pitchFamily="2" charset="-122"/>
                <a:ea typeface="宋体" pitchFamily="2" charset="-122"/>
              </a:rPr>
              <a:t>2</a:t>
            </a:r>
            <a:r>
              <a:rPr lang="zh-CN" altLang="zh-CN" sz="2400" dirty="0" smtClean="0">
                <a:latin typeface="宋体" pitchFamily="2" charset="-122"/>
                <a:ea typeface="宋体" pitchFamily="2" charset="-122"/>
              </a:rPr>
              <a:t>）滴液：滴液时间设定值为</a:t>
            </a:r>
            <a:r>
              <a:rPr lang="en-US" altLang="zh-CN" sz="2400" dirty="0" smtClean="0">
                <a:latin typeface="宋体" pitchFamily="2" charset="-122"/>
                <a:ea typeface="宋体" pitchFamily="2" charset="-122"/>
              </a:rPr>
              <a:t>9</a:t>
            </a:r>
            <a:r>
              <a:rPr lang="zh-CN" altLang="zh-CN" sz="2400" dirty="0" smtClean="0">
                <a:latin typeface="宋体" pitchFamily="2" charset="-122"/>
                <a:ea typeface="宋体" pitchFamily="2" charset="-122"/>
              </a:rPr>
              <a:t>秒：时间计数到达后不会进入下一步，需要按“自动松开”按钮才会自动卸料；</a:t>
            </a:r>
          </a:p>
          <a:p>
            <a:r>
              <a:rPr lang="zh-CN" altLang="zh-CN" sz="2400" dirty="0" smtClean="0">
                <a:latin typeface="宋体" pitchFamily="2" charset="-122"/>
                <a:ea typeface="宋体" pitchFamily="2" charset="-122"/>
              </a:rPr>
              <a:t>（</a:t>
            </a:r>
            <a:r>
              <a:rPr lang="en-US" altLang="zh-CN" sz="2400" dirty="0" smtClean="0">
                <a:latin typeface="宋体" pitchFamily="2" charset="-122"/>
                <a:ea typeface="宋体" pitchFamily="2" charset="-122"/>
              </a:rPr>
              <a:t>3</a:t>
            </a:r>
            <a:r>
              <a:rPr lang="zh-CN" altLang="zh-CN" sz="2400" dirty="0" smtClean="0">
                <a:latin typeface="宋体" pitchFamily="2" charset="-122"/>
                <a:ea typeface="宋体" pitchFamily="2" charset="-122"/>
              </a:rPr>
              <a:t>）按一下“自动松开”按钮，执行松开动作，开始卸压；</a:t>
            </a:r>
          </a:p>
          <a:p>
            <a:r>
              <a:rPr lang="zh-CN" altLang="zh-CN" sz="2400" dirty="0" smtClean="0">
                <a:latin typeface="宋体" pitchFamily="2" charset="-122"/>
                <a:ea typeface="宋体" pitchFamily="2" charset="-122"/>
              </a:rPr>
              <a:t>（</a:t>
            </a:r>
            <a:r>
              <a:rPr lang="en-US" altLang="zh-CN" sz="2400" dirty="0" smtClean="0">
                <a:latin typeface="宋体" pitchFamily="2" charset="-122"/>
                <a:ea typeface="宋体" pitchFamily="2" charset="-122"/>
              </a:rPr>
              <a:t>4</a:t>
            </a:r>
            <a:r>
              <a:rPr lang="zh-CN" altLang="zh-CN" sz="2400" dirty="0" smtClean="0">
                <a:latin typeface="宋体" pitchFamily="2" charset="-122"/>
                <a:ea typeface="宋体" pitchFamily="2" charset="-122"/>
              </a:rPr>
              <a:t>）泄压过程中注意检查油缸连接件是否存在漏油等现象；</a:t>
            </a:r>
          </a:p>
          <a:p>
            <a:r>
              <a:rPr lang="zh-CN" altLang="zh-CN" sz="2400" dirty="0" smtClean="0">
                <a:latin typeface="宋体" pitchFamily="2" charset="-122"/>
                <a:ea typeface="宋体" pitchFamily="2" charset="-122"/>
              </a:rPr>
              <a:t>（</a:t>
            </a:r>
            <a:r>
              <a:rPr lang="en-US" altLang="zh-CN" sz="2400" dirty="0" smtClean="0">
                <a:latin typeface="宋体" pitchFamily="2" charset="-122"/>
                <a:ea typeface="宋体" pitchFamily="2" charset="-122"/>
              </a:rPr>
              <a:t>6</a:t>
            </a:r>
            <a:r>
              <a:rPr lang="zh-CN" altLang="zh-CN" sz="2400" dirty="0" smtClean="0">
                <a:latin typeface="宋体" pitchFamily="2" charset="-122"/>
                <a:ea typeface="宋体" pitchFamily="2" charset="-122"/>
              </a:rPr>
              <a:t>）泄压完成后翻版打开，同时输送皮带机运行，注意检查皮带机是否处于运行状态，皮带是否在皮带机正中央，如有跑偏及时调整，皮带电机是否存在跳停、异响等现象，如有及时暂停卸料过程，避免皮带机被挤死；</a:t>
            </a:r>
            <a:endParaRPr lang="zh-CN" altLang="zh-CN" sz="2400" dirty="0">
              <a:latin typeface="宋体" pitchFamily="2" charset="-122"/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62412" y="15114"/>
            <a:ext cx="576064" cy="740701"/>
          </a:xfrm>
          <a:custGeom>
            <a:avLst/>
            <a:gdLst>
              <a:gd name="connsiteX0" fmla="*/ 0 w 432048"/>
              <a:gd name="connsiteY0" fmla="*/ 0 h 1059582"/>
              <a:gd name="connsiteX1" fmla="*/ 432048 w 432048"/>
              <a:gd name="connsiteY1" fmla="*/ 0 h 1059582"/>
              <a:gd name="connsiteX2" fmla="*/ 432048 w 432048"/>
              <a:gd name="connsiteY2" fmla="*/ 1059582 h 1059582"/>
              <a:gd name="connsiteX3" fmla="*/ 0 w 432048"/>
              <a:gd name="connsiteY3" fmla="*/ 1059582 h 1059582"/>
              <a:gd name="connsiteX4" fmla="*/ 0 w 432048"/>
              <a:gd name="connsiteY4" fmla="*/ 0 h 1059582"/>
              <a:gd name="connsiteX0-1" fmla="*/ 0 w 432048"/>
              <a:gd name="connsiteY0-2" fmla="*/ 0 h 1059582"/>
              <a:gd name="connsiteX1-3" fmla="*/ 432048 w 432048"/>
              <a:gd name="connsiteY1-4" fmla="*/ 0 h 1059582"/>
              <a:gd name="connsiteX2-5" fmla="*/ 432048 w 432048"/>
              <a:gd name="connsiteY2-6" fmla="*/ 1059582 h 1059582"/>
              <a:gd name="connsiteX3-7" fmla="*/ 223259 w 432048"/>
              <a:gd name="connsiteY3-8" fmla="*/ 1045029 h 1059582"/>
              <a:gd name="connsiteX4-9" fmla="*/ 0 w 432048"/>
              <a:gd name="connsiteY4-10" fmla="*/ 1059582 h 1059582"/>
              <a:gd name="connsiteX5" fmla="*/ 0 w 432048"/>
              <a:gd name="connsiteY5" fmla="*/ 0 h 1059582"/>
              <a:gd name="connsiteX0-11" fmla="*/ 0 w 432048"/>
              <a:gd name="connsiteY0-12" fmla="*/ 0 h 1059582"/>
              <a:gd name="connsiteX1-13" fmla="*/ 432048 w 432048"/>
              <a:gd name="connsiteY1-14" fmla="*/ 0 h 1059582"/>
              <a:gd name="connsiteX2-15" fmla="*/ 432048 w 432048"/>
              <a:gd name="connsiteY2-16" fmla="*/ 1059582 h 1059582"/>
              <a:gd name="connsiteX3-17" fmla="*/ 212374 w 432048"/>
              <a:gd name="connsiteY3-18" fmla="*/ 816429 h 1059582"/>
              <a:gd name="connsiteX4-19" fmla="*/ 0 w 432048"/>
              <a:gd name="connsiteY4-20" fmla="*/ 1059582 h 1059582"/>
              <a:gd name="connsiteX5-21" fmla="*/ 0 w 432048"/>
              <a:gd name="connsiteY5-22" fmla="*/ 0 h 105958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21" y="connsiteY5-22"/>
              </a:cxn>
            </a:cxnLst>
            <a:rect l="l" t="t" r="r" b="b"/>
            <a:pathLst>
              <a:path w="432048" h="1059582">
                <a:moveTo>
                  <a:pt x="0" y="0"/>
                </a:moveTo>
                <a:lnTo>
                  <a:pt x="432048" y="0"/>
                </a:lnTo>
                <a:lnTo>
                  <a:pt x="432048" y="1059582"/>
                </a:lnTo>
                <a:lnTo>
                  <a:pt x="212374" y="816429"/>
                </a:lnTo>
                <a:lnTo>
                  <a:pt x="0" y="105958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prstClr val="white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60465" y="125150"/>
            <a:ext cx="797883" cy="380521"/>
          </a:xfrm>
          <a:prstGeom prst="rect">
            <a:avLst/>
          </a:prstGeom>
          <a:noFill/>
        </p:spPr>
        <p:txBody>
          <a:bodyPr wrap="square" lIns="68278" tIns="34096" rIns="68278" bIns="34096" rtlCol="0">
            <a:spAutoFit/>
          </a:bodyPr>
          <a:lstStyle/>
          <a:p>
            <a:pPr algn="ctr">
              <a:buFont typeface="Arial" pitchFamily="34" charset="0"/>
              <a:buNone/>
            </a:pPr>
            <a:r>
              <a:rPr lang="en-US" altLang="zh-CN" sz="2000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endParaRPr lang="zh-CN" altLang="en-US" sz="20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53326" y="170719"/>
            <a:ext cx="9476574" cy="345857"/>
          </a:xfrm>
          <a:prstGeom prst="rect">
            <a:avLst/>
          </a:prstGeom>
          <a:noFill/>
        </p:spPr>
        <p:txBody>
          <a:bodyPr wrap="square" lIns="68278" tIns="34096" rIns="68278" bIns="34096" rtlCol="0">
            <a:spAutoFit/>
          </a:bodyPr>
          <a:lstStyle>
            <a:defPPr>
              <a:defRPr lang="zh-CN"/>
            </a:defPPr>
            <a:lvl1pPr>
              <a:defRPr sz="3200">
                <a:solidFill>
                  <a:schemeClr val="tx1">
                    <a:lumMod val="75000"/>
                  </a:schemeClr>
                </a:solidFill>
                <a:latin typeface="方正卡通简体" pitchFamily="65" charset="-122"/>
                <a:ea typeface="方正卡通简体" pitchFamily="65" charset="-122"/>
              </a:defRPr>
            </a:lvl1pPr>
          </a:lstStyle>
          <a:p>
            <a:r>
              <a:rPr lang="zh-CN" altLang="zh-CN" sz="1800" b="1" dirty="0" smtClean="0"/>
              <a:t>水洗</a:t>
            </a:r>
            <a:endParaRPr lang="zh-CN" altLang="en-US" sz="1800" dirty="0">
              <a:solidFill>
                <a:srgbClr val="292929"/>
              </a:solidFill>
              <a:latin typeface="微软雅黑"/>
              <a:ea typeface="微软雅黑"/>
            </a:endParaRPr>
          </a:p>
        </p:txBody>
      </p:sp>
      <p:sp>
        <p:nvSpPr>
          <p:cNvPr id="5" name="Text Box 6"/>
          <p:cNvSpPr>
            <a:spLocks noChangeArrowheads="1"/>
          </p:cNvSpPr>
          <p:nvPr/>
        </p:nvSpPr>
        <p:spPr bwMode="auto">
          <a:xfrm>
            <a:off x="597854" y="500042"/>
            <a:ext cx="8188988" cy="31188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171450" indent="-171450" fontAlgn="base">
              <a:lnSpc>
                <a:spcPts val="2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dirty="0" smtClean="0"/>
              <a:t>          </a:t>
            </a:r>
            <a:endParaRPr lang="en-US" altLang="zh-CN" sz="1600" dirty="0" smtClean="0"/>
          </a:p>
          <a:p>
            <a:r>
              <a:rPr lang="zh-CN" altLang="zh-CN" dirty="0" smtClean="0">
                <a:latin typeface="宋体" pitchFamily="2" charset="-122"/>
                <a:ea typeface="宋体" pitchFamily="2" charset="-122"/>
              </a:rPr>
              <a:t>（</a:t>
            </a:r>
            <a:r>
              <a:rPr lang="en-US" altLang="zh-CN" dirty="0" smtClean="0">
                <a:latin typeface="宋体" pitchFamily="2" charset="-122"/>
                <a:ea typeface="宋体" pitchFamily="2" charset="-122"/>
              </a:rPr>
              <a:t>1</a:t>
            </a:r>
            <a:r>
              <a:rPr lang="zh-CN" altLang="zh-CN" dirty="0" smtClean="0">
                <a:latin typeface="宋体" pitchFamily="2" charset="-122"/>
                <a:ea typeface="宋体" pitchFamily="2" charset="-122"/>
              </a:rPr>
              <a:t>）操作水洗前，应将水洗导杆进行润滑，避免拉杆卡顿造成水洗架拉变形；</a:t>
            </a:r>
          </a:p>
          <a:p>
            <a:r>
              <a:rPr lang="zh-CN" altLang="zh-CN" dirty="0" smtClean="0">
                <a:latin typeface="宋体" pitchFamily="2" charset="-122"/>
                <a:ea typeface="宋体" pitchFamily="2" charset="-122"/>
              </a:rPr>
              <a:t>（</a:t>
            </a:r>
            <a:r>
              <a:rPr lang="en-US" altLang="zh-CN" dirty="0" smtClean="0">
                <a:latin typeface="宋体" pitchFamily="2" charset="-122"/>
                <a:ea typeface="宋体" pitchFamily="2" charset="-122"/>
              </a:rPr>
              <a:t>2</a:t>
            </a:r>
            <a:r>
              <a:rPr lang="zh-CN" altLang="zh-CN" dirty="0" smtClean="0">
                <a:latin typeface="宋体" pitchFamily="2" charset="-122"/>
                <a:ea typeface="宋体" pitchFamily="2" charset="-122"/>
              </a:rPr>
              <a:t>）旋钮开关选择“自动”“水洗”选择“自动压紧”，设备进入自动水洗状态；</a:t>
            </a:r>
          </a:p>
          <a:p>
            <a:r>
              <a:rPr lang="zh-CN" altLang="zh-CN" dirty="0" smtClean="0">
                <a:latin typeface="宋体" pitchFamily="2" charset="-122"/>
                <a:ea typeface="宋体" pitchFamily="2" charset="-122"/>
              </a:rPr>
              <a:t>水洗滤布：在取板小车在压紧板位置，水架在水架上移限位，洗车在后退位置下把转换旋钮开关切换到水洗上，这时按水洗按钮，进行水洗动作：先压紧到达回程限位后，压紧停止，然后自动松开，松开到位后，开始水洗。自动取拉板完成循环。 </a:t>
            </a:r>
          </a:p>
          <a:p>
            <a:r>
              <a:rPr lang="zh-CN" altLang="zh-CN" dirty="0" smtClean="0">
                <a:latin typeface="宋体" pitchFamily="2" charset="-122"/>
                <a:ea typeface="宋体" pitchFamily="2" charset="-122"/>
              </a:rPr>
              <a:t>（</a:t>
            </a:r>
            <a:r>
              <a:rPr lang="en-US" altLang="zh-CN" dirty="0" smtClean="0">
                <a:latin typeface="宋体" pitchFamily="2" charset="-122"/>
                <a:ea typeface="宋体" pitchFamily="2" charset="-122"/>
              </a:rPr>
              <a:t>3</a:t>
            </a:r>
            <a:r>
              <a:rPr lang="zh-CN" altLang="zh-CN" dirty="0" smtClean="0">
                <a:latin typeface="宋体" pitchFamily="2" charset="-122"/>
                <a:ea typeface="宋体" pitchFamily="2" charset="-122"/>
              </a:rPr>
              <a:t>）自动运行中，出现任何突发情况（如带板、偏板等）可按下急停按钮停止机器的运行（或者脚踩紧急停止绳），恢复运行时先复位急停按钮（再次脚踩紧急停止绳），按下运行启动按钮，根据情况按下压紧或松开按钮继续运行。</a:t>
            </a:r>
            <a:r>
              <a:rPr lang="en-US" altLang="zh-CN" dirty="0" smtClean="0">
                <a:latin typeface="宋体" pitchFamily="2" charset="-122"/>
                <a:ea typeface="宋体" pitchFamily="2" charset="-122"/>
              </a:rPr>
              <a:t> </a:t>
            </a:r>
            <a:endParaRPr lang="zh-CN" altLang="zh-CN" dirty="0">
              <a:latin typeface="宋体" pitchFamily="2" charset="-122"/>
              <a:ea typeface="宋体" pitchFamily="2" charset="-122"/>
            </a:endParaRPr>
          </a:p>
        </p:txBody>
      </p:sp>
      <p:pic>
        <p:nvPicPr>
          <p:cNvPr id="6" name="图片 16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388358" y="3714752"/>
            <a:ext cx="4462818" cy="26177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62412" y="15114"/>
            <a:ext cx="576064" cy="740701"/>
          </a:xfrm>
          <a:custGeom>
            <a:avLst/>
            <a:gdLst>
              <a:gd name="connsiteX0" fmla="*/ 0 w 432048"/>
              <a:gd name="connsiteY0" fmla="*/ 0 h 1059582"/>
              <a:gd name="connsiteX1" fmla="*/ 432048 w 432048"/>
              <a:gd name="connsiteY1" fmla="*/ 0 h 1059582"/>
              <a:gd name="connsiteX2" fmla="*/ 432048 w 432048"/>
              <a:gd name="connsiteY2" fmla="*/ 1059582 h 1059582"/>
              <a:gd name="connsiteX3" fmla="*/ 0 w 432048"/>
              <a:gd name="connsiteY3" fmla="*/ 1059582 h 1059582"/>
              <a:gd name="connsiteX4" fmla="*/ 0 w 432048"/>
              <a:gd name="connsiteY4" fmla="*/ 0 h 1059582"/>
              <a:gd name="connsiteX0-1" fmla="*/ 0 w 432048"/>
              <a:gd name="connsiteY0-2" fmla="*/ 0 h 1059582"/>
              <a:gd name="connsiteX1-3" fmla="*/ 432048 w 432048"/>
              <a:gd name="connsiteY1-4" fmla="*/ 0 h 1059582"/>
              <a:gd name="connsiteX2-5" fmla="*/ 432048 w 432048"/>
              <a:gd name="connsiteY2-6" fmla="*/ 1059582 h 1059582"/>
              <a:gd name="connsiteX3-7" fmla="*/ 223259 w 432048"/>
              <a:gd name="connsiteY3-8" fmla="*/ 1045029 h 1059582"/>
              <a:gd name="connsiteX4-9" fmla="*/ 0 w 432048"/>
              <a:gd name="connsiteY4-10" fmla="*/ 1059582 h 1059582"/>
              <a:gd name="connsiteX5" fmla="*/ 0 w 432048"/>
              <a:gd name="connsiteY5" fmla="*/ 0 h 1059582"/>
              <a:gd name="connsiteX0-11" fmla="*/ 0 w 432048"/>
              <a:gd name="connsiteY0-12" fmla="*/ 0 h 1059582"/>
              <a:gd name="connsiteX1-13" fmla="*/ 432048 w 432048"/>
              <a:gd name="connsiteY1-14" fmla="*/ 0 h 1059582"/>
              <a:gd name="connsiteX2-15" fmla="*/ 432048 w 432048"/>
              <a:gd name="connsiteY2-16" fmla="*/ 1059582 h 1059582"/>
              <a:gd name="connsiteX3-17" fmla="*/ 212374 w 432048"/>
              <a:gd name="connsiteY3-18" fmla="*/ 816429 h 1059582"/>
              <a:gd name="connsiteX4-19" fmla="*/ 0 w 432048"/>
              <a:gd name="connsiteY4-20" fmla="*/ 1059582 h 1059582"/>
              <a:gd name="connsiteX5-21" fmla="*/ 0 w 432048"/>
              <a:gd name="connsiteY5-22" fmla="*/ 0 h 105958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21" y="connsiteY5-22"/>
              </a:cxn>
            </a:cxnLst>
            <a:rect l="l" t="t" r="r" b="b"/>
            <a:pathLst>
              <a:path w="432048" h="1059582">
                <a:moveTo>
                  <a:pt x="0" y="0"/>
                </a:moveTo>
                <a:lnTo>
                  <a:pt x="432048" y="0"/>
                </a:lnTo>
                <a:lnTo>
                  <a:pt x="432048" y="1059582"/>
                </a:lnTo>
                <a:lnTo>
                  <a:pt x="212374" y="816429"/>
                </a:lnTo>
                <a:lnTo>
                  <a:pt x="0" y="105958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prstClr val="white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60465" y="125150"/>
            <a:ext cx="797883" cy="380521"/>
          </a:xfrm>
          <a:prstGeom prst="rect">
            <a:avLst/>
          </a:prstGeom>
          <a:noFill/>
        </p:spPr>
        <p:txBody>
          <a:bodyPr wrap="square" lIns="68278" tIns="34096" rIns="68278" bIns="34096" rtlCol="0">
            <a:spAutoFit/>
          </a:bodyPr>
          <a:lstStyle/>
          <a:p>
            <a:pPr algn="ctr">
              <a:buFont typeface="Arial" pitchFamily="34" charset="0"/>
              <a:buNone/>
            </a:pPr>
            <a:r>
              <a:rPr lang="en-US" altLang="zh-CN" sz="2000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endParaRPr lang="zh-CN" altLang="en-US" sz="20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53326" y="170719"/>
            <a:ext cx="9476574" cy="345857"/>
          </a:xfrm>
          <a:prstGeom prst="rect">
            <a:avLst/>
          </a:prstGeom>
          <a:noFill/>
        </p:spPr>
        <p:txBody>
          <a:bodyPr wrap="square" lIns="68278" tIns="34096" rIns="68278" bIns="34096" rtlCol="0">
            <a:spAutoFit/>
          </a:bodyPr>
          <a:lstStyle>
            <a:defPPr>
              <a:defRPr lang="zh-CN"/>
            </a:defPPr>
            <a:lvl1pPr>
              <a:defRPr sz="3200">
                <a:solidFill>
                  <a:schemeClr val="tx1">
                    <a:lumMod val="75000"/>
                  </a:schemeClr>
                </a:solidFill>
                <a:latin typeface="方正卡通简体" pitchFamily="65" charset="-122"/>
                <a:ea typeface="方正卡通简体" pitchFamily="65" charset="-122"/>
              </a:defRPr>
            </a:lvl1pPr>
          </a:lstStyle>
          <a:p>
            <a:r>
              <a:rPr lang="zh-CN" altLang="zh-CN" sz="1800" b="1" dirty="0" smtClean="0"/>
              <a:t>手动操作</a:t>
            </a:r>
            <a:r>
              <a:rPr lang="zh-CN" altLang="zh-CN" sz="1800" b="1" dirty="0" smtClean="0"/>
              <a:t>过程</a:t>
            </a:r>
            <a:endParaRPr lang="zh-CN" altLang="en-US" sz="1800" dirty="0">
              <a:solidFill>
                <a:srgbClr val="292929"/>
              </a:solidFill>
              <a:latin typeface="微软雅黑"/>
              <a:ea typeface="微软雅黑"/>
            </a:endParaRPr>
          </a:p>
        </p:txBody>
      </p:sp>
      <p:sp>
        <p:nvSpPr>
          <p:cNvPr id="5" name="Text Box 6"/>
          <p:cNvSpPr>
            <a:spLocks noChangeArrowheads="1"/>
          </p:cNvSpPr>
          <p:nvPr/>
        </p:nvSpPr>
        <p:spPr bwMode="auto">
          <a:xfrm>
            <a:off x="357158" y="540604"/>
            <a:ext cx="8572560" cy="58887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171450" indent="-171450" fontAlgn="base">
              <a:lnSpc>
                <a:spcPts val="2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dirty="0" smtClean="0"/>
              <a:t>          </a:t>
            </a:r>
            <a:endParaRPr lang="en-US" altLang="zh-CN" sz="1600" dirty="0" smtClean="0"/>
          </a:p>
          <a:p>
            <a:r>
              <a:rPr lang="zh-CN" altLang="zh-CN" sz="2000" dirty="0" smtClean="0">
                <a:latin typeface="宋体" pitchFamily="2" charset="-122"/>
                <a:ea typeface="宋体" pitchFamily="2" charset="-122"/>
              </a:rPr>
              <a:t>（</a:t>
            </a:r>
            <a:r>
              <a:rPr lang="en-US" altLang="zh-CN" sz="2000" dirty="0" smtClean="0">
                <a:latin typeface="宋体" pitchFamily="2" charset="-122"/>
                <a:ea typeface="宋体" pitchFamily="2" charset="-122"/>
              </a:rPr>
              <a:t>1</a:t>
            </a:r>
            <a:r>
              <a:rPr lang="zh-CN" altLang="zh-CN" sz="2000" dirty="0" smtClean="0">
                <a:latin typeface="宋体" pitchFamily="2" charset="-122"/>
                <a:ea typeface="宋体" pitchFamily="2" charset="-122"/>
              </a:rPr>
              <a:t>）接通电源后，然后在选择手动状态，选择控制柜按钮来执行点动操作。</a:t>
            </a:r>
          </a:p>
          <a:p>
            <a:r>
              <a:rPr lang="zh-CN" altLang="zh-CN" sz="2000" dirty="0" smtClean="0">
                <a:latin typeface="宋体" pitchFamily="2" charset="-122"/>
                <a:ea typeface="宋体" pitchFamily="2" charset="-122"/>
              </a:rPr>
              <a:t>（</a:t>
            </a:r>
            <a:r>
              <a:rPr lang="en-US" altLang="zh-CN" sz="2000" dirty="0" smtClean="0">
                <a:latin typeface="宋体" pitchFamily="2" charset="-122"/>
                <a:ea typeface="宋体" pitchFamily="2" charset="-122"/>
              </a:rPr>
              <a:t>2</a:t>
            </a:r>
            <a:r>
              <a:rPr lang="zh-CN" altLang="zh-CN" sz="2000" dirty="0" smtClean="0">
                <a:latin typeface="宋体" pitchFamily="2" charset="-122"/>
                <a:ea typeface="宋体" pitchFamily="2" charset="-122"/>
              </a:rPr>
              <a:t>）压紧：在手动状态下，按下压紧按钮，开始压紧，压力达到压力表上限后保压，油泵停止。</a:t>
            </a:r>
          </a:p>
          <a:p>
            <a:r>
              <a:rPr lang="zh-CN" altLang="zh-CN" sz="2000" dirty="0" smtClean="0">
                <a:latin typeface="宋体" pitchFamily="2" charset="-122"/>
                <a:ea typeface="宋体" pitchFamily="2" charset="-122"/>
              </a:rPr>
              <a:t>（</a:t>
            </a:r>
            <a:r>
              <a:rPr lang="en-US" altLang="zh-CN" sz="2000" dirty="0" smtClean="0">
                <a:latin typeface="宋体" pitchFamily="2" charset="-122"/>
                <a:ea typeface="宋体" pitchFamily="2" charset="-122"/>
              </a:rPr>
              <a:t>3</a:t>
            </a:r>
            <a:r>
              <a:rPr lang="zh-CN" altLang="zh-CN" sz="2000" dirty="0" smtClean="0">
                <a:latin typeface="宋体" pitchFamily="2" charset="-122"/>
                <a:ea typeface="宋体" pitchFamily="2" charset="-122"/>
              </a:rPr>
              <a:t>）翻板闭合：按下闭合按钮，翻板开始闭合，闭合到位后停止，按钮自动失灵。</a:t>
            </a:r>
          </a:p>
          <a:p>
            <a:r>
              <a:rPr lang="zh-CN" altLang="zh-CN" sz="2000" dirty="0" smtClean="0">
                <a:latin typeface="宋体" pitchFamily="2" charset="-122"/>
                <a:ea typeface="宋体" pitchFamily="2" charset="-122"/>
              </a:rPr>
              <a:t>（</a:t>
            </a:r>
            <a:r>
              <a:rPr lang="en-US" altLang="zh-CN" sz="2000" dirty="0" smtClean="0">
                <a:latin typeface="宋体" pitchFamily="2" charset="-122"/>
                <a:ea typeface="宋体" pitchFamily="2" charset="-122"/>
              </a:rPr>
              <a:t>4</a:t>
            </a:r>
            <a:r>
              <a:rPr lang="zh-CN" altLang="zh-CN" sz="2000" dirty="0" smtClean="0">
                <a:latin typeface="宋体" pitchFamily="2" charset="-122"/>
                <a:ea typeface="宋体" pitchFamily="2" charset="-122"/>
              </a:rPr>
              <a:t>）松开：按一下松开按钮，开始卸压，按定时时间卸压，卸压时间到开始松开。</a:t>
            </a:r>
          </a:p>
          <a:p>
            <a:r>
              <a:rPr lang="zh-CN" altLang="zh-CN" sz="2000" dirty="0" smtClean="0">
                <a:latin typeface="宋体" pitchFamily="2" charset="-122"/>
                <a:ea typeface="宋体" pitchFamily="2" charset="-122"/>
              </a:rPr>
              <a:t>（</a:t>
            </a:r>
            <a:r>
              <a:rPr lang="en-US" altLang="zh-CN" sz="2000" dirty="0" smtClean="0">
                <a:latin typeface="宋体" pitchFamily="2" charset="-122"/>
                <a:ea typeface="宋体" pitchFamily="2" charset="-122"/>
              </a:rPr>
              <a:t>5</a:t>
            </a:r>
            <a:r>
              <a:rPr lang="zh-CN" altLang="zh-CN" sz="2000" dirty="0" smtClean="0">
                <a:latin typeface="宋体" pitchFamily="2" charset="-122"/>
                <a:ea typeface="宋体" pitchFamily="2" charset="-122"/>
              </a:rPr>
              <a:t>）翻板打开：按一下打开按钮，翻板开始打开，打开到位后停止，按钮自动失灵。</a:t>
            </a:r>
          </a:p>
          <a:p>
            <a:r>
              <a:rPr lang="zh-CN" altLang="zh-CN" sz="2000" dirty="0" smtClean="0">
                <a:latin typeface="宋体" pitchFamily="2" charset="-122"/>
                <a:ea typeface="宋体" pitchFamily="2" charset="-122"/>
              </a:rPr>
              <a:t>（</a:t>
            </a:r>
            <a:r>
              <a:rPr lang="en-US" altLang="zh-CN" sz="2000" dirty="0" smtClean="0">
                <a:latin typeface="宋体" pitchFamily="2" charset="-122"/>
                <a:ea typeface="宋体" pitchFamily="2" charset="-122"/>
              </a:rPr>
              <a:t>6</a:t>
            </a:r>
            <a:r>
              <a:rPr lang="zh-CN" altLang="zh-CN" sz="2000" dirty="0" smtClean="0">
                <a:latin typeface="宋体" pitchFamily="2" charset="-122"/>
                <a:ea typeface="宋体" pitchFamily="2" charset="-122"/>
              </a:rPr>
              <a:t>）取拉板：在控制柜面板上按下取板按钮，开始取板，到挂到板的位置手动停止，然后按拉板按钮，开始拉板。</a:t>
            </a:r>
          </a:p>
          <a:p>
            <a:r>
              <a:rPr lang="zh-CN" altLang="zh-CN" sz="2000" dirty="0" smtClean="0">
                <a:latin typeface="宋体" pitchFamily="2" charset="-122"/>
                <a:ea typeface="宋体" pitchFamily="2" charset="-122"/>
              </a:rPr>
              <a:t>（</a:t>
            </a:r>
            <a:r>
              <a:rPr lang="en-US" altLang="zh-CN" sz="2000" dirty="0" smtClean="0">
                <a:latin typeface="宋体" pitchFamily="2" charset="-122"/>
                <a:ea typeface="宋体" pitchFamily="2" charset="-122"/>
              </a:rPr>
              <a:t>7</a:t>
            </a:r>
            <a:r>
              <a:rPr lang="zh-CN" altLang="zh-CN" sz="2000" dirty="0" smtClean="0">
                <a:latin typeface="宋体" pitchFamily="2" charset="-122"/>
                <a:ea typeface="宋体" pitchFamily="2" charset="-122"/>
              </a:rPr>
              <a:t>）水洗架下移：在按下水洗架下移按钮，水洗架开始伸展，到达伸展限位停止。执行此操作事先确认水洗架伸展时与其他物体无干涉，以免损坏。</a:t>
            </a:r>
            <a:r>
              <a:rPr lang="en-US" altLang="zh-CN" sz="2000" dirty="0" smtClean="0">
                <a:latin typeface="宋体" pitchFamily="2" charset="-122"/>
                <a:ea typeface="宋体" pitchFamily="2" charset="-122"/>
              </a:rPr>
              <a:t> </a:t>
            </a:r>
            <a:endParaRPr lang="zh-CN" altLang="zh-CN" sz="2000" dirty="0" smtClean="0">
              <a:latin typeface="宋体" pitchFamily="2" charset="-122"/>
              <a:ea typeface="宋体" pitchFamily="2" charset="-122"/>
            </a:endParaRPr>
          </a:p>
          <a:p>
            <a:r>
              <a:rPr lang="zh-CN" altLang="zh-CN" sz="2000" dirty="0" smtClean="0">
                <a:latin typeface="宋体" pitchFamily="2" charset="-122"/>
                <a:ea typeface="宋体" pitchFamily="2" charset="-122"/>
              </a:rPr>
              <a:t>（</a:t>
            </a:r>
            <a:r>
              <a:rPr lang="en-US" altLang="zh-CN" sz="2000" dirty="0" smtClean="0">
                <a:latin typeface="宋体" pitchFamily="2" charset="-122"/>
                <a:ea typeface="宋体" pitchFamily="2" charset="-122"/>
              </a:rPr>
              <a:t>8</a:t>
            </a:r>
            <a:r>
              <a:rPr lang="zh-CN" altLang="zh-CN" sz="2000" dirty="0" smtClean="0">
                <a:latin typeface="宋体" pitchFamily="2" charset="-122"/>
                <a:ea typeface="宋体" pitchFamily="2" charset="-122"/>
              </a:rPr>
              <a:t>）水洗架上移：在按下水洗架上移按钮，水洗架开始收缩，到达收缩限位停止收缩。</a:t>
            </a:r>
          </a:p>
          <a:p>
            <a:r>
              <a:rPr lang="zh-CN" altLang="zh-CN" sz="2000" dirty="0" smtClean="0">
                <a:latin typeface="宋体" pitchFamily="2" charset="-122"/>
                <a:ea typeface="宋体" pitchFamily="2" charset="-122"/>
              </a:rPr>
              <a:t>（</a:t>
            </a:r>
            <a:r>
              <a:rPr lang="en-US" altLang="zh-CN" sz="2000" dirty="0" smtClean="0">
                <a:latin typeface="宋体" pitchFamily="2" charset="-122"/>
                <a:ea typeface="宋体" pitchFamily="2" charset="-122"/>
              </a:rPr>
              <a:t>9</a:t>
            </a:r>
            <a:r>
              <a:rPr lang="zh-CN" altLang="zh-CN" sz="2000" dirty="0" smtClean="0">
                <a:latin typeface="宋体" pitchFamily="2" charset="-122"/>
                <a:ea typeface="宋体" pitchFamily="2" charset="-122"/>
              </a:rPr>
              <a:t>）触摸屏进入操作画面，在控制柜按钮选择手动方式下，按动屏上面的按钮可以进行相应点动操作。</a:t>
            </a:r>
          </a:p>
          <a:p>
            <a:endParaRPr lang="zh-CN" altLang="zh-CN" sz="2000" dirty="0">
              <a:latin typeface="宋体" pitchFamily="2" charset="-122"/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62412" y="15114"/>
            <a:ext cx="576064" cy="740701"/>
          </a:xfrm>
          <a:custGeom>
            <a:avLst/>
            <a:gdLst>
              <a:gd name="connsiteX0" fmla="*/ 0 w 432048"/>
              <a:gd name="connsiteY0" fmla="*/ 0 h 1059582"/>
              <a:gd name="connsiteX1" fmla="*/ 432048 w 432048"/>
              <a:gd name="connsiteY1" fmla="*/ 0 h 1059582"/>
              <a:gd name="connsiteX2" fmla="*/ 432048 w 432048"/>
              <a:gd name="connsiteY2" fmla="*/ 1059582 h 1059582"/>
              <a:gd name="connsiteX3" fmla="*/ 0 w 432048"/>
              <a:gd name="connsiteY3" fmla="*/ 1059582 h 1059582"/>
              <a:gd name="connsiteX4" fmla="*/ 0 w 432048"/>
              <a:gd name="connsiteY4" fmla="*/ 0 h 1059582"/>
              <a:gd name="connsiteX0-1" fmla="*/ 0 w 432048"/>
              <a:gd name="connsiteY0-2" fmla="*/ 0 h 1059582"/>
              <a:gd name="connsiteX1-3" fmla="*/ 432048 w 432048"/>
              <a:gd name="connsiteY1-4" fmla="*/ 0 h 1059582"/>
              <a:gd name="connsiteX2-5" fmla="*/ 432048 w 432048"/>
              <a:gd name="connsiteY2-6" fmla="*/ 1059582 h 1059582"/>
              <a:gd name="connsiteX3-7" fmla="*/ 223259 w 432048"/>
              <a:gd name="connsiteY3-8" fmla="*/ 1045029 h 1059582"/>
              <a:gd name="connsiteX4-9" fmla="*/ 0 w 432048"/>
              <a:gd name="connsiteY4-10" fmla="*/ 1059582 h 1059582"/>
              <a:gd name="connsiteX5" fmla="*/ 0 w 432048"/>
              <a:gd name="connsiteY5" fmla="*/ 0 h 1059582"/>
              <a:gd name="connsiteX0-11" fmla="*/ 0 w 432048"/>
              <a:gd name="connsiteY0-12" fmla="*/ 0 h 1059582"/>
              <a:gd name="connsiteX1-13" fmla="*/ 432048 w 432048"/>
              <a:gd name="connsiteY1-14" fmla="*/ 0 h 1059582"/>
              <a:gd name="connsiteX2-15" fmla="*/ 432048 w 432048"/>
              <a:gd name="connsiteY2-16" fmla="*/ 1059582 h 1059582"/>
              <a:gd name="connsiteX3-17" fmla="*/ 212374 w 432048"/>
              <a:gd name="connsiteY3-18" fmla="*/ 816429 h 1059582"/>
              <a:gd name="connsiteX4-19" fmla="*/ 0 w 432048"/>
              <a:gd name="connsiteY4-20" fmla="*/ 1059582 h 1059582"/>
              <a:gd name="connsiteX5-21" fmla="*/ 0 w 432048"/>
              <a:gd name="connsiteY5-22" fmla="*/ 0 h 105958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21" y="connsiteY5-22"/>
              </a:cxn>
            </a:cxnLst>
            <a:rect l="l" t="t" r="r" b="b"/>
            <a:pathLst>
              <a:path w="432048" h="1059582">
                <a:moveTo>
                  <a:pt x="0" y="0"/>
                </a:moveTo>
                <a:lnTo>
                  <a:pt x="432048" y="0"/>
                </a:lnTo>
                <a:lnTo>
                  <a:pt x="432048" y="1059582"/>
                </a:lnTo>
                <a:lnTo>
                  <a:pt x="212374" y="816429"/>
                </a:lnTo>
                <a:lnTo>
                  <a:pt x="0" y="105958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prstClr val="white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60465" y="125150"/>
            <a:ext cx="797883" cy="380521"/>
          </a:xfrm>
          <a:prstGeom prst="rect">
            <a:avLst/>
          </a:prstGeom>
          <a:noFill/>
        </p:spPr>
        <p:txBody>
          <a:bodyPr wrap="square" lIns="68278" tIns="34096" rIns="68278" bIns="34096" rtlCol="0">
            <a:spAutoFit/>
          </a:bodyPr>
          <a:lstStyle/>
          <a:p>
            <a:pPr algn="ctr">
              <a:buFont typeface="Arial" pitchFamily="34" charset="0"/>
              <a:buNone/>
            </a:pPr>
            <a:r>
              <a:rPr lang="en-US" altLang="zh-CN" sz="2000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endParaRPr lang="zh-CN" altLang="en-US" sz="20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53326" y="170719"/>
            <a:ext cx="9476574" cy="345857"/>
          </a:xfrm>
          <a:prstGeom prst="rect">
            <a:avLst/>
          </a:prstGeom>
          <a:noFill/>
        </p:spPr>
        <p:txBody>
          <a:bodyPr wrap="square" lIns="68278" tIns="34096" rIns="68278" bIns="34096" rtlCol="0">
            <a:spAutoFit/>
          </a:bodyPr>
          <a:lstStyle>
            <a:defPPr>
              <a:defRPr lang="zh-CN"/>
            </a:defPPr>
            <a:lvl1pPr>
              <a:defRPr sz="3200">
                <a:solidFill>
                  <a:schemeClr val="tx1">
                    <a:lumMod val="75000"/>
                  </a:schemeClr>
                </a:solidFill>
                <a:latin typeface="方正卡通简体" pitchFamily="65" charset="-122"/>
                <a:ea typeface="方正卡通简体" pitchFamily="65" charset="-122"/>
              </a:defRPr>
            </a:lvl1pPr>
          </a:lstStyle>
          <a:p>
            <a:r>
              <a:rPr lang="zh-CN" altLang="zh-CN" sz="1800" b="1" dirty="0" smtClean="0"/>
              <a:t>注意</a:t>
            </a:r>
            <a:r>
              <a:rPr lang="zh-CN" altLang="zh-CN" sz="1800" b="1" dirty="0" smtClean="0"/>
              <a:t>事项</a:t>
            </a:r>
            <a:endParaRPr lang="zh-CN" altLang="en-US" sz="1800" dirty="0">
              <a:solidFill>
                <a:srgbClr val="292929"/>
              </a:solidFill>
              <a:latin typeface="微软雅黑"/>
              <a:ea typeface="微软雅黑"/>
            </a:endParaRPr>
          </a:p>
        </p:txBody>
      </p:sp>
      <p:sp>
        <p:nvSpPr>
          <p:cNvPr id="5" name="Text Box 6"/>
          <p:cNvSpPr>
            <a:spLocks noChangeArrowheads="1"/>
          </p:cNvSpPr>
          <p:nvPr/>
        </p:nvSpPr>
        <p:spPr bwMode="auto">
          <a:xfrm>
            <a:off x="597854" y="857232"/>
            <a:ext cx="8188988" cy="47807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171450" indent="-171450" fontAlgn="base">
              <a:lnSpc>
                <a:spcPts val="2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dirty="0" smtClean="0"/>
              <a:t>          </a:t>
            </a:r>
            <a:endParaRPr lang="en-US" altLang="zh-CN" sz="1600" dirty="0" smtClean="0"/>
          </a:p>
          <a:p>
            <a:r>
              <a:rPr lang="zh-CN" altLang="zh-CN" sz="2400" dirty="0" smtClean="0">
                <a:latin typeface="宋体" pitchFamily="2" charset="-122"/>
                <a:ea typeface="宋体" pitchFamily="2" charset="-122"/>
              </a:rPr>
              <a:t>（</a:t>
            </a:r>
            <a:r>
              <a:rPr lang="en-US" altLang="zh-CN" sz="2400" dirty="0" smtClean="0">
                <a:latin typeface="宋体" pitchFamily="2" charset="-122"/>
                <a:ea typeface="宋体" pitchFamily="2" charset="-122"/>
              </a:rPr>
              <a:t>1</a:t>
            </a:r>
            <a:r>
              <a:rPr lang="zh-CN" altLang="zh-CN" sz="2400" dirty="0" smtClean="0">
                <a:latin typeface="宋体" pitchFamily="2" charset="-122"/>
                <a:ea typeface="宋体" pitchFamily="2" charset="-122"/>
              </a:rPr>
              <a:t>）压滤机在工作时油缸后禁止人员停留或经过，压紧或退回时必须有人看守作业，各液压件不得随意调整，以防压力失控造成设备损坏或危及人身安全。</a:t>
            </a:r>
          </a:p>
          <a:p>
            <a:r>
              <a:rPr lang="zh-CN" altLang="zh-CN" sz="2400" dirty="0" smtClean="0">
                <a:latin typeface="宋体" pitchFamily="2" charset="-122"/>
                <a:ea typeface="宋体" pitchFamily="2" charset="-122"/>
              </a:rPr>
              <a:t>（</a:t>
            </a:r>
            <a:r>
              <a:rPr lang="en-US" altLang="zh-CN" sz="2400" dirty="0" smtClean="0">
                <a:latin typeface="宋体" pitchFamily="2" charset="-122"/>
                <a:ea typeface="宋体" pitchFamily="2" charset="-122"/>
              </a:rPr>
              <a:t>2</a:t>
            </a:r>
            <a:r>
              <a:rPr lang="zh-CN" altLang="zh-CN" sz="2400" dirty="0" smtClean="0">
                <a:latin typeface="宋体" pitchFamily="2" charset="-122"/>
                <a:ea typeface="宋体" pitchFamily="2" charset="-122"/>
              </a:rPr>
              <a:t>）滤板密封面必须清洁无褶皱，滤板应与主梁拉垂直且整齐，不得一边偏前一边偏后，否则不得启动压紧动作。拉板卸渣过程中严禁将头和肢体伸入滤板间。油缸内空气必须排净。</a:t>
            </a:r>
          </a:p>
          <a:p>
            <a:r>
              <a:rPr lang="zh-CN" altLang="zh-CN" sz="2400" dirty="0" smtClean="0">
                <a:latin typeface="宋体" pitchFamily="2" charset="-122"/>
                <a:ea typeface="宋体" pitchFamily="2" charset="-122"/>
              </a:rPr>
              <a:t>（</a:t>
            </a:r>
            <a:r>
              <a:rPr lang="en-US" altLang="zh-CN" sz="2400" dirty="0" smtClean="0">
                <a:latin typeface="宋体" pitchFamily="2" charset="-122"/>
                <a:ea typeface="宋体" pitchFamily="2" charset="-122"/>
              </a:rPr>
              <a:t>3</a:t>
            </a:r>
            <a:r>
              <a:rPr lang="zh-CN" altLang="zh-CN" sz="2400" dirty="0" smtClean="0">
                <a:latin typeface="宋体" pitchFamily="2" charset="-122"/>
                <a:ea typeface="宋体" pitchFamily="2" charset="-122"/>
              </a:rPr>
              <a:t>）所有滤板进料口必须清除干净，以免堵塞使用损坏滤板。滤布应及时清洗。</a:t>
            </a:r>
          </a:p>
          <a:p>
            <a:r>
              <a:rPr lang="zh-CN" altLang="zh-CN" sz="2400" dirty="0" smtClean="0">
                <a:latin typeface="宋体" pitchFamily="2" charset="-122"/>
                <a:ea typeface="宋体" pitchFamily="2" charset="-122"/>
              </a:rPr>
              <a:t>（</a:t>
            </a:r>
            <a:r>
              <a:rPr lang="en-US" altLang="zh-CN" sz="2400" dirty="0" smtClean="0">
                <a:latin typeface="宋体" pitchFamily="2" charset="-122"/>
                <a:ea typeface="宋体" pitchFamily="2" charset="-122"/>
              </a:rPr>
              <a:t>4</a:t>
            </a:r>
            <a:r>
              <a:rPr lang="zh-CN" altLang="zh-CN" sz="2400" dirty="0" smtClean="0">
                <a:latin typeface="宋体" pitchFamily="2" charset="-122"/>
                <a:ea typeface="宋体" pitchFamily="2" charset="-122"/>
              </a:rPr>
              <a:t>）电控箱要保持干燥，各种电器禁止用水冲洗。压滤机必须有接地线，以防短路、漏电。</a:t>
            </a:r>
          </a:p>
          <a:p>
            <a:r>
              <a:rPr lang="zh-CN" altLang="zh-CN" sz="2400" dirty="0" smtClean="0">
                <a:latin typeface="宋体" pitchFamily="2" charset="-122"/>
                <a:ea typeface="宋体" pitchFamily="2" charset="-122"/>
              </a:rPr>
              <a:t>（</a:t>
            </a:r>
            <a:r>
              <a:rPr lang="en-US" altLang="zh-CN" sz="2400" dirty="0" smtClean="0">
                <a:latin typeface="宋体" pitchFamily="2" charset="-122"/>
                <a:ea typeface="宋体" pitchFamily="2" charset="-122"/>
              </a:rPr>
              <a:t>5</a:t>
            </a:r>
            <a:r>
              <a:rPr lang="zh-CN" altLang="zh-CN" sz="2400" dirty="0" smtClean="0">
                <a:latin typeface="宋体" pitchFamily="2" charset="-122"/>
                <a:ea typeface="宋体" pitchFamily="2" charset="-122"/>
              </a:rPr>
              <a:t>）禁止低压、高压进料螺杆泵抽空运行。</a:t>
            </a:r>
            <a:endParaRPr lang="zh-CN" altLang="zh-CN" sz="2400" dirty="0">
              <a:latin typeface="宋体" pitchFamily="2" charset="-122"/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62412" y="15114"/>
            <a:ext cx="576064" cy="740701"/>
          </a:xfrm>
          <a:custGeom>
            <a:avLst/>
            <a:gdLst>
              <a:gd name="connsiteX0" fmla="*/ 0 w 432048"/>
              <a:gd name="connsiteY0" fmla="*/ 0 h 1059582"/>
              <a:gd name="connsiteX1" fmla="*/ 432048 w 432048"/>
              <a:gd name="connsiteY1" fmla="*/ 0 h 1059582"/>
              <a:gd name="connsiteX2" fmla="*/ 432048 w 432048"/>
              <a:gd name="connsiteY2" fmla="*/ 1059582 h 1059582"/>
              <a:gd name="connsiteX3" fmla="*/ 0 w 432048"/>
              <a:gd name="connsiteY3" fmla="*/ 1059582 h 1059582"/>
              <a:gd name="connsiteX4" fmla="*/ 0 w 432048"/>
              <a:gd name="connsiteY4" fmla="*/ 0 h 1059582"/>
              <a:gd name="connsiteX0-1" fmla="*/ 0 w 432048"/>
              <a:gd name="connsiteY0-2" fmla="*/ 0 h 1059582"/>
              <a:gd name="connsiteX1-3" fmla="*/ 432048 w 432048"/>
              <a:gd name="connsiteY1-4" fmla="*/ 0 h 1059582"/>
              <a:gd name="connsiteX2-5" fmla="*/ 432048 w 432048"/>
              <a:gd name="connsiteY2-6" fmla="*/ 1059582 h 1059582"/>
              <a:gd name="connsiteX3-7" fmla="*/ 223259 w 432048"/>
              <a:gd name="connsiteY3-8" fmla="*/ 1045029 h 1059582"/>
              <a:gd name="connsiteX4-9" fmla="*/ 0 w 432048"/>
              <a:gd name="connsiteY4-10" fmla="*/ 1059582 h 1059582"/>
              <a:gd name="connsiteX5" fmla="*/ 0 w 432048"/>
              <a:gd name="connsiteY5" fmla="*/ 0 h 1059582"/>
              <a:gd name="connsiteX0-11" fmla="*/ 0 w 432048"/>
              <a:gd name="connsiteY0-12" fmla="*/ 0 h 1059582"/>
              <a:gd name="connsiteX1-13" fmla="*/ 432048 w 432048"/>
              <a:gd name="connsiteY1-14" fmla="*/ 0 h 1059582"/>
              <a:gd name="connsiteX2-15" fmla="*/ 432048 w 432048"/>
              <a:gd name="connsiteY2-16" fmla="*/ 1059582 h 1059582"/>
              <a:gd name="connsiteX3-17" fmla="*/ 212374 w 432048"/>
              <a:gd name="connsiteY3-18" fmla="*/ 816429 h 1059582"/>
              <a:gd name="connsiteX4-19" fmla="*/ 0 w 432048"/>
              <a:gd name="connsiteY4-20" fmla="*/ 1059582 h 1059582"/>
              <a:gd name="connsiteX5-21" fmla="*/ 0 w 432048"/>
              <a:gd name="connsiteY5-22" fmla="*/ 0 h 105958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21" y="connsiteY5-22"/>
              </a:cxn>
            </a:cxnLst>
            <a:rect l="l" t="t" r="r" b="b"/>
            <a:pathLst>
              <a:path w="432048" h="1059582">
                <a:moveTo>
                  <a:pt x="0" y="0"/>
                </a:moveTo>
                <a:lnTo>
                  <a:pt x="432048" y="0"/>
                </a:lnTo>
                <a:lnTo>
                  <a:pt x="432048" y="1059582"/>
                </a:lnTo>
                <a:lnTo>
                  <a:pt x="212374" y="816429"/>
                </a:lnTo>
                <a:lnTo>
                  <a:pt x="0" y="105958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prstClr val="white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60465" y="125150"/>
            <a:ext cx="797883" cy="380521"/>
          </a:xfrm>
          <a:prstGeom prst="rect">
            <a:avLst/>
          </a:prstGeom>
          <a:noFill/>
        </p:spPr>
        <p:txBody>
          <a:bodyPr wrap="square" lIns="68278" tIns="34096" rIns="68278" bIns="34096" rtlCol="0">
            <a:spAutoFit/>
          </a:bodyPr>
          <a:lstStyle/>
          <a:p>
            <a:pPr algn="ctr">
              <a:buFont typeface="Arial" pitchFamily="34" charset="0"/>
              <a:buNone/>
            </a:pPr>
            <a:r>
              <a:rPr lang="en-US" altLang="zh-CN" sz="2000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endParaRPr lang="zh-CN" altLang="en-US" sz="20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53326" y="170719"/>
            <a:ext cx="9476574" cy="345857"/>
          </a:xfrm>
          <a:prstGeom prst="rect">
            <a:avLst/>
          </a:prstGeom>
          <a:noFill/>
        </p:spPr>
        <p:txBody>
          <a:bodyPr wrap="square" lIns="68278" tIns="34096" rIns="68278" bIns="34096" rtlCol="0">
            <a:spAutoFit/>
          </a:bodyPr>
          <a:lstStyle>
            <a:defPPr>
              <a:defRPr lang="zh-CN"/>
            </a:defPPr>
            <a:lvl1pPr>
              <a:defRPr sz="3200">
                <a:solidFill>
                  <a:schemeClr val="tx1">
                    <a:lumMod val="75000"/>
                  </a:schemeClr>
                </a:solidFill>
                <a:latin typeface="方正卡通简体" pitchFamily="65" charset="-122"/>
                <a:ea typeface="方正卡通简体" pitchFamily="65" charset="-122"/>
              </a:defRPr>
            </a:lvl1pPr>
          </a:lstStyle>
          <a:p>
            <a:r>
              <a:rPr lang="zh-CN" altLang="zh-CN" sz="1800" b="1" dirty="0" smtClean="0"/>
              <a:t>设备的维护和</a:t>
            </a:r>
            <a:r>
              <a:rPr lang="zh-CN" altLang="zh-CN" sz="1800" b="1" dirty="0" smtClean="0"/>
              <a:t>保养</a:t>
            </a:r>
            <a:endParaRPr lang="zh-CN" altLang="en-US" sz="1800" dirty="0">
              <a:solidFill>
                <a:srgbClr val="292929"/>
              </a:solidFill>
              <a:latin typeface="微软雅黑"/>
              <a:ea typeface="微软雅黑"/>
            </a:endParaRPr>
          </a:p>
        </p:txBody>
      </p:sp>
      <p:sp>
        <p:nvSpPr>
          <p:cNvPr id="5" name="Text Box 6"/>
          <p:cNvSpPr>
            <a:spLocks noChangeArrowheads="1"/>
          </p:cNvSpPr>
          <p:nvPr/>
        </p:nvSpPr>
        <p:spPr bwMode="auto">
          <a:xfrm>
            <a:off x="597854" y="500042"/>
            <a:ext cx="8117550" cy="58887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171450" indent="-171450" fontAlgn="base">
              <a:lnSpc>
                <a:spcPts val="2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dirty="0" smtClean="0"/>
              <a:t>          </a:t>
            </a:r>
            <a:endParaRPr lang="en-US" altLang="zh-CN" sz="1600" dirty="0" smtClean="0"/>
          </a:p>
          <a:p>
            <a:r>
              <a:rPr lang="en-US" altLang="zh-CN" sz="2000" dirty="0" smtClean="0">
                <a:latin typeface="宋体" pitchFamily="2" charset="-122"/>
                <a:ea typeface="宋体" pitchFamily="2" charset="-122"/>
              </a:rPr>
              <a:t>     </a:t>
            </a:r>
            <a:r>
              <a:rPr lang="zh-CN" altLang="zh-CN" sz="2000" dirty="0" smtClean="0">
                <a:latin typeface="宋体" pitchFamily="2" charset="-122"/>
                <a:ea typeface="宋体" pitchFamily="2" charset="-122"/>
              </a:rPr>
              <a:t>为了</a:t>
            </a:r>
            <a:r>
              <a:rPr lang="zh-CN" altLang="zh-CN" sz="2000" dirty="0" smtClean="0">
                <a:latin typeface="宋体" pitchFamily="2" charset="-122"/>
                <a:ea typeface="宋体" pitchFamily="2" charset="-122"/>
              </a:rPr>
              <a:t>更好的利用和管理板框压滤机，提高产品质量，延长设备寿命，日常维护和保养板框压滤机是一个必不可少的环节，因此需做好以下几点：</a:t>
            </a:r>
          </a:p>
          <a:p>
            <a:r>
              <a:rPr lang="zh-CN" altLang="zh-CN" sz="2000" dirty="0" smtClean="0">
                <a:latin typeface="宋体" pitchFamily="2" charset="-122"/>
                <a:ea typeface="宋体" pitchFamily="2" charset="-122"/>
              </a:rPr>
              <a:t>（</a:t>
            </a:r>
            <a:r>
              <a:rPr lang="en-US" altLang="zh-CN" sz="2000" dirty="0" smtClean="0">
                <a:latin typeface="宋体" pitchFamily="2" charset="-122"/>
                <a:ea typeface="宋体" pitchFamily="2" charset="-122"/>
              </a:rPr>
              <a:t>1</a:t>
            </a:r>
            <a:r>
              <a:rPr lang="zh-CN" altLang="zh-CN" sz="2000" dirty="0" smtClean="0">
                <a:latin typeface="宋体" pitchFamily="2" charset="-122"/>
                <a:ea typeface="宋体" pitchFamily="2" charset="-122"/>
              </a:rPr>
              <a:t>）液压油使用</a:t>
            </a:r>
            <a:r>
              <a:rPr lang="en-US" altLang="zh-CN" sz="2000" dirty="0" smtClean="0">
                <a:latin typeface="宋体" pitchFamily="2" charset="-122"/>
                <a:ea typeface="宋体" pitchFamily="2" charset="-122"/>
              </a:rPr>
              <a:t>HM46</a:t>
            </a:r>
            <a:r>
              <a:rPr lang="zh-CN" altLang="zh-CN" sz="2000" dirty="0" smtClean="0">
                <a:latin typeface="宋体" pitchFamily="2" charset="-122"/>
                <a:ea typeface="宋体" pitchFamily="2" charset="-122"/>
              </a:rPr>
              <a:t>或</a:t>
            </a:r>
            <a:r>
              <a:rPr lang="en-US" altLang="zh-CN" sz="2000" dirty="0" smtClean="0">
                <a:latin typeface="宋体" pitchFamily="2" charset="-122"/>
                <a:ea typeface="宋体" pitchFamily="2" charset="-122"/>
              </a:rPr>
              <a:t>HM68</a:t>
            </a:r>
            <a:r>
              <a:rPr lang="zh-CN" altLang="zh-CN" sz="2000" dirty="0" smtClean="0">
                <a:latin typeface="宋体" pitchFamily="2" charset="-122"/>
                <a:ea typeface="宋体" pitchFamily="2" charset="-122"/>
              </a:rPr>
              <a:t>号，而且必须保持清洁。新机第一次运行一周时要更换一次液压油，换油时要把油箱和油缸内使用过的液压油排放干净。继续使用一个月后再更换一次液压油，以后半年更换一次，灰尘大的环境下</a:t>
            </a:r>
            <a:r>
              <a:rPr lang="en-US" altLang="zh-CN" sz="2000" dirty="0" smtClean="0">
                <a:latin typeface="宋体" pitchFamily="2" charset="-122"/>
                <a:ea typeface="宋体" pitchFamily="2" charset="-122"/>
              </a:rPr>
              <a:t>1-3</a:t>
            </a:r>
            <a:r>
              <a:rPr lang="zh-CN" altLang="zh-CN" sz="2000" dirty="0" smtClean="0">
                <a:latin typeface="宋体" pitchFamily="2" charset="-122"/>
                <a:ea typeface="宋体" pitchFamily="2" charset="-122"/>
              </a:rPr>
              <a:t>个月更换一次及清洗一次油缸、油箱等所有液压元件，这样可以保证压滤机的正常使用；</a:t>
            </a:r>
          </a:p>
          <a:p>
            <a:r>
              <a:rPr lang="zh-CN" altLang="zh-CN" sz="2000" dirty="0" smtClean="0">
                <a:latin typeface="宋体" pitchFamily="2" charset="-122"/>
                <a:ea typeface="宋体" pitchFamily="2" charset="-122"/>
              </a:rPr>
              <a:t>（</a:t>
            </a:r>
            <a:r>
              <a:rPr lang="en-US" altLang="zh-CN" sz="2000" dirty="0" smtClean="0">
                <a:latin typeface="宋体" pitchFamily="2" charset="-122"/>
                <a:ea typeface="宋体" pitchFamily="2" charset="-122"/>
              </a:rPr>
              <a:t>2</a:t>
            </a:r>
            <a:r>
              <a:rPr lang="zh-CN" altLang="zh-CN" sz="2000" dirty="0" smtClean="0">
                <a:latin typeface="宋体" pitchFamily="2" charset="-122"/>
                <a:ea typeface="宋体" pitchFamily="2" charset="-122"/>
              </a:rPr>
              <a:t>）压滤机传动部位如拉板小车、链轮链条、轴承、活塞杆等零件要定期进行检查，使各配合部件保持清洁，润滑性能良好，以保证动作灵活，对拉板小车的同步性及链条的悬垂度要及时调整，严禁在压紧状态下带压维修保养、更换配件。</a:t>
            </a:r>
          </a:p>
          <a:p>
            <a:r>
              <a:rPr lang="zh-CN" altLang="zh-CN" sz="2000" dirty="0" smtClean="0">
                <a:latin typeface="宋体" pitchFamily="2" charset="-122"/>
                <a:ea typeface="宋体" pitchFamily="2" charset="-122"/>
              </a:rPr>
              <a:t>（</a:t>
            </a:r>
            <a:r>
              <a:rPr lang="en-US" altLang="zh-CN" sz="2000" dirty="0" smtClean="0">
                <a:latin typeface="宋体" pitchFamily="2" charset="-122"/>
                <a:ea typeface="宋体" pitchFamily="2" charset="-122"/>
              </a:rPr>
              <a:t>3</a:t>
            </a:r>
            <a:r>
              <a:rPr lang="zh-CN" altLang="zh-CN" sz="2000" dirty="0" smtClean="0">
                <a:latin typeface="宋体" pitchFamily="2" charset="-122"/>
                <a:ea typeface="宋体" pitchFamily="2" charset="-122"/>
              </a:rPr>
              <a:t>）经常检查板框压滤机的各连接部件有无松动，应及时紧固调整。</a:t>
            </a:r>
            <a:r>
              <a:rPr lang="en-US" altLang="zh-CN" sz="2000" dirty="0" smtClean="0">
                <a:latin typeface="宋体" pitchFamily="2" charset="-122"/>
                <a:ea typeface="宋体" pitchFamily="2" charset="-122"/>
              </a:rPr>
              <a:t/>
            </a:r>
            <a:br>
              <a:rPr lang="en-US" altLang="zh-CN" sz="2000" dirty="0" smtClean="0">
                <a:latin typeface="宋体" pitchFamily="2" charset="-122"/>
                <a:ea typeface="宋体" pitchFamily="2" charset="-122"/>
              </a:rPr>
            </a:br>
            <a:r>
              <a:rPr lang="zh-CN" altLang="zh-CN" sz="2000" dirty="0" smtClean="0">
                <a:latin typeface="宋体" pitchFamily="2" charset="-122"/>
                <a:ea typeface="宋体" pitchFamily="2" charset="-122"/>
              </a:rPr>
              <a:t>（</a:t>
            </a:r>
            <a:r>
              <a:rPr lang="en-US" altLang="zh-CN" sz="2000" dirty="0" smtClean="0">
                <a:latin typeface="宋体" pitchFamily="2" charset="-122"/>
                <a:ea typeface="宋体" pitchFamily="2" charset="-122"/>
              </a:rPr>
              <a:t>4</a:t>
            </a:r>
            <a:r>
              <a:rPr lang="zh-CN" altLang="zh-CN" sz="2000" dirty="0" smtClean="0">
                <a:latin typeface="宋体" pitchFamily="2" charset="-122"/>
                <a:ea typeface="宋体" pitchFamily="2" charset="-122"/>
              </a:rPr>
              <a:t>）要经常清洗、更换板框压滤机的滤布，工作完毕时应及时清理残渣，不能在板框上干结成块，以防止再次使用时漏料。经常清理水条和排水孔，保持畅通。</a:t>
            </a:r>
          </a:p>
          <a:p>
            <a:r>
              <a:rPr lang="zh-CN" altLang="zh-CN" sz="2000" dirty="0" smtClean="0">
                <a:latin typeface="宋体" pitchFamily="2" charset="-122"/>
                <a:ea typeface="宋体" pitchFamily="2" charset="-122"/>
              </a:rPr>
              <a:t>（</a:t>
            </a:r>
            <a:r>
              <a:rPr lang="en-US" altLang="zh-CN" sz="2000" dirty="0" smtClean="0">
                <a:latin typeface="宋体" pitchFamily="2" charset="-122"/>
                <a:ea typeface="宋体" pitchFamily="2" charset="-122"/>
              </a:rPr>
              <a:t>5</a:t>
            </a:r>
            <a:r>
              <a:rPr lang="zh-CN" altLang="zh-CN" sz="2000" dirty="0" smtClean="0">
                <a:latin typeface="宋体" pitchFamily="2" charset="-122"/>
                <a:ea typeface="宋体" pitchFamily="2" charset="-122"/>
              </a:rPr>
              <a:t>）发现由电气元件引起的动作准确度差、不灵活等情况，要及时修理或更换电气元件。</a:t>
            </a:r>
            <a:endParaRPr lang="zh-CN" altLang="zh-CN" sz="2000" dirty="0">
              <a:latin typeface="宋体" pitchFamily="2" charset="-122"/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0"/>
            <a:ext cx="9144000" cy="6851904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-11429" y="6805118"/>
            <a:ext cx="4583430" cy="52884"/>
          </a:xfrm>
          <a:prstGeom prst="rect">
            <a:avLst/>
          </a:prstGeom>
          <a:solidFill>
            <a:srgbClr val="062E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3286" tIns="46643" rIns="93286" bIns="46643"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9" name="矩形 8"/>
          <p:cNvSpPr/>
          <p:nvPr/>
        </p:nvSpPr>
        <p:spPr>
          <a:xfrm>
            <a:off x="4560570" y="6805118"/>
            <a:ext cx="4583430" cy="52884"/>
          </a:xfrm>
          <a:prstGeom prst="rect">
            <a:avLst/>
          </a:prstGeom>
          <a:solidFill>
            <a:srgbClr val="E601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3286" tIns="46643" rIns="93286" bIns="46643"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2020231" y="2627105"/>
            <a:ext cx="5103536" cy="1015648"/>
          </a:xfrm>
          <a:prstGeom prst="rect">
            <a:avLst/>
          </a:prstGeom>
          <a:noFill/>
        </p:spPr>
        <p:txBody>
          <a:bodyPr wrap="square" lIns="93286" tIns="46643" rIns="93286" bIns="46643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zh-CN"/>
            </a:defPPr>
            <a:lvl1pPr algn="ctr">
              <a:defRPr sz="1400">
                <a:solidFill>
                  <a:srgbClr val="000000">
                    <a:lumMod val="75000"/>
                    <a:lumOff val="25000"/>
                  </a:srgbClr>
                </a:solidFill>
                <a:latin typeface="Arial"/>
                <a:ea typeface="微软雅黑"/>
              </a:defRPr>
            </a:lvl1pPr>
          </a:lstStyle>
          <a:p>
            <a:r>
              <a:rPr lang="zh-CN" altLang="en-US" sz="6000" dirty="0" smtClean="0">
                <a:solidFill>
                  <a:srgbClr val="062E8C"/>
                </a:solidFill>
                <a:latin typeface="Microsoft YaHei" charset="-122"/>
                <a:ea typeface="Microsoft YaHei" charset="-122"/>
                <a:cs typeface="Microsoft YaHei" charset="-122"/>
              </a:rPr>
              <a:t>欢迎批评指正！</a:t>
            </a:r>
            <a:endParaRPr lang="zh-CN" altLang="en-US" sz="6000" dirty="0">
              <a:solidFill>
                <a:srgbClr val="062E8C"/>
              </a:solidFill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sp>
        <p:nvSpPr>
          <p:cNvPr id="11" name="圆角矩形 10"/>
          <p:cNvSpPr/>
          <p:nvPr/>
        </p:nvSpPr>
        <p:spPr>
          <a:xfrm>
            <a:off x="5997390" y="5861709"/>
            <a:ext cx="1965557" cy="367351"/>
          </a:xfrm>
          <a:prstGeom prst="roundRect">
            <a:avLst/>
          </a:prstGeom>
          <a:noFill/>
          <a:ln w="19050" cap="flat" cmpd="sng" algn="ctr">
            <a:solidFill>
              <a:srgbClr val="062E93">
                <a:alpha val="6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DengXian" panose="020F0502020204030204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0395521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C7EDCC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C7EDCC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1633</Words>
  <Application>Microsoft Office PowerPoint</Application>
  <PresentationFormat>全屏显示(4:3)</PresentationFormat>
  <Paragraphs>72</Paragraphs>
  <Slides>12</Slides>
  <Notes>1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3" baseType="lpstr">
      <vt:lpstr>Office 主题</vt:lpstr>
      <vt:lpstr>幻灯片 1</vt:lpstr>
      <vt:lpstr>幻灯片 2</vt:lpstr>
      <vt:lpstr>幻灯片 3</vt:lpstr>
      <vt:lpstr>幻灯片 4</vt:lpstr>
      <vt:lpstr>幻灯片 5</vt:lpstr>
      <vt:lpstr>幻灯片 6</vt:lpstr>
      <vt:lpstr>幻灯片 7</vt:lpstr>
      <vt:lpstr>幻灯片 8</vt:lpstr>
      <vt:lpstr>幻灯片 9</vt:lpstr>
      <vt:lpstr>幻灯片 10</vt:lpstr>
      <vt:lpstr>幻灯片 11</vt:lpstr>
      <vt:lpstr>幻灯片 12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123</dc:creator>
  <cp:lastModifiedBy>123</cp:lastModifiedBy>
  <cp:revision>3</cp:revision>
  <dcterms:created xsi:type="dcterms:W3CDTF">2019-08-15T03:22:14Z</dcterms:created>
  <dcterms:modified xsi:type="dcterms:W3CDTF">2019-08-15T03:31:25Z</dcterms:modified>
</cp:coreProperties>
</file>
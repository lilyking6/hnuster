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5" r:id="rId2"/>
    <p:sldId id="257" r:id="rId3"/>
    <p:sldId id="304" r:id="rId4"/>
    <p:sldId id="258" r:id="rId5"/>
    <p:sldId id="259" r:id="rId6"/>
    <p:sldId id="260" r:id="rId7"/>
    <p:sldId id="261" r:id="rId8"/>
    <p:sldId id="262" r:id="rId9"/>
    <p:sldId id="263" r:id="rId10"/>
    <p:sldId id="341" r:id="rId11"/>
    <p:sldId id="264" r:id="rId12"/>
    <p:sldId id="348"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40"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9" r:id="rId87"/>
    <p:sldId id="338" r:id="rId88"/>
    <p:sldId id="346" r:id="rId89"/>
    <p:sldId id="347" r:id="rId90"/>
    <p:sldId id="349" r:id="rId91"/>
    <p:sldId id="350" r:id="rId92"/>
    <p:sldId id="351" r:id="rId93"/>
    <p:sldId id="352" r:id="rId94"/>
    <p:sldId id="353" r:id="rId95"/>
    <p:sldId id="354" r:id="rId96"/>
    <p:sldId id="355" r:id="rId97"/>
    <p:sldId id="356" r:id="rId98"/>
    <p:sldId id="357" r:id="rId99"/>
    <p:sldId id="358" r:id="rId100"/>
    <p:sldId id="344" r:id="rId10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p:cViewPr>
        <p:scale>
          <a:sx n="75" d="100"/>
          <a:sy n="75" d="100"/>
        </p:scale>
        <p:origin x="-2568" y="-882"/>
      </p:cViewPr>
      <p:guideLst>
        <p:guide orient="horz" pos="845"/>
        <p:guide orient="horz" pos="663"/>
        <p:guide orient="horz" pos="4020"/>
        <p:guide orient="horz" pos="1207"/>
        <p:guide orient="horz" pos="2160"/>
        <p:guide orient="horz" pos="346"/>
        <p:guide pos="2880"/>
        <p:guide pos="5329"/>
        <p:guide pos="385"/>
        <p:guide pos="1383"/>
        <p:guide pos="1973"/>
        <p:guide pos="975"/>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2014-09-24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2014-09-24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900113" y="714356"/>
            <a:ext cx="7343775" cy="8002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057400" algn="l" defTabSz="914400" rtl="0" eaLnBrk="1" fontAlgn="base" latinLnBrk="0" hangingPunct="1">
              <a:lnSpc>
                <a:spcPct val="100000"/>
              </a:lnSpc>
              <a:spcBef>
                <a:spcPct val="0"/>
              </a:spcBef>
              <a:spcAft>
                <a:spcPct val="0"/>
              </a:spcAft>
              <a:buClrTx/>
              <a:buSzTx/>
              <a:buFontTx/>
              <a:buNone/>
              <a:tabLst/>
            </a:pPr>
            <a:endParaRPr lang="en-US" altLang="zh-CN" sz="1200" dirty="0" smtClean="0">
              <a:latin typeface="+mn-ea"/>
            </a:endParaRPr>
          </a:p>
          <a:p>
            <a:pPr indent="304800" eaLnBrk="0" fontAlgn="base" hangingPunct="0">
              <a:spcBef>
                <a:spcPct val="0"/>
              </a:spcBef>
              <a:spcAft>
                <a:spcPct val="0"/>
              </a:spcAft>
            </a:pPr>
            <a:endParaRPr lang="zh-CN" altLang="en-US" sz="1600" dirty="0" smtClean="0">
              <a:latin typeface="+mn-ea"/>
            </a:endParaRPr>
          </a:p>
          <a:p>
            <a:pPr marL="0" marR="0" lvl="0" indent="3048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6" name="矩形 5"/>
          <p:cNvSpPr/>
          <p:nvPr/>
        </p:nvSpPr>
        <p:spPr>
          <a:xfrm>
            <a:off x="900112" y="1700213"/>
            <a:ext cx="3671888" cy="3785652"/>
          </a:xfrm>
          <a:prstGeom prst="rect">
            <a:avLst/>
          </a:prstGeom>
        </p:spPr>
        <p:txBody>
          <a:bodyPr wrap="square">
            <a:spAutoFit/>
          </a:bodyPr>
          <a:lstStyle/>
          <a:p>
            <a:r>
              <a:rPr lang="zh-CN" altLang="en-US" sz="1600" b="1" dirty="0" smtClean="0">
                <a:ln w="18000">
                  <a:solidFill>
                    <a:schemeClr val="accent2">
                      <a:satMod val="140000"/>
                    </a:schemeClr>
                  </a:solidFill>
                  <a:prstDash val="solid"/>
                  <a:miter lim="800000"/>
                </a:ln>
                <a:solidFill>
                  <a:srgbClr val="FFFF00"/>
                </a:solidFill>
                <a:effectLst>
                  <a:outerShdw blurRad="25500" dist="23000" dir="7020000" algn="tl">
                    <a:srgbClr val="000000">
                      <a:alpha val="50000"/>
                    </a:srgbClr>
                  </a:outerShdw>
                </a:effectLst>
                <a:latin typeface="方正超粗黑简体" pitchFamily="65" charset="-122"/>
                <a:ea typeface="方正超粗黑简体" pitchFamily="65" charset="-122"/>
              </a:rPr>
              <a:t>第一章 压滤机中基本名词术语</a:t>
            </a:r>
          </a:p>
          <a:p>
            <a:r>
              <a:rPr lang="zh-CN" altLang="en-US" sz="1600" b="1" dirty="0" smtClean="0">
                <a:ln w="18000">
                  <a:solidFill>
                    <a:schemeClr val="accent2">
                      <a:satMod val="140000"/>
                    </a:schemeClr>
                  </a:solidFill>
                  <a:prstDash val="solid"/>
                  <a:miter lim="800000"/>
                </a:ln>
                <a:solidFill>
                  <a:srgbClr val="FFFF00"/>
                </a:solidFill>
                <a:effectLst>
                  <a:outerShdw blurRad="25500" dist="23000" dir="7020000" algn="tl">
                    <a:srgbClr val="000000">
                      <a:alpha val="50000"/>
                    </a:srgbClr>
                  </a:outerShdw>
                </a:effectLst>
                <a:latin typeface="方正超粗黑简体" pitchFamily="65" charset="-122"/>
                <a:ea typeface="方正超粗黑简体" pitchFamily="65" charset="-122"/>
              </a:rPr>
              <a:t>第二章 压滤机的基础知识</a:t>
            </a:r>
          </a:p>
          <a:p>
            <a:r>
              <a:rPr lang="en-US" altLang="zh-CN" sz="1600" dirty="0" smtClean="0">
                <a:solidFill>
                  <a:srgbClr val="0000FF"/>
                </a:solidFill>
                <a:latin typeface="方正超粗黑简体" pitchFamily="65" charset="-122"/>
                <a:ea typeface="方正超粗黑简体" pitchFamily="65" charset="-122"/>
              </a:rPr>
              <a:t>2.1 </a:t>
            </a:r>
            <a:r>
              <a:rPr lang="zh-CN" altLang="en-US" sz="1600" dirty="0" smtClean="0">
                <a:solidFill>
                  <a:srgbClr val="0000FF"/>
                </a:solidFill>
                <a:latin typeface="方正超粗黑简体" pitchFamily="65" charset="-122"/>
                <a:ea typeface="方正超粗黑简体" pitchFamily="65" charset="-122"/>
              </a:rPr>
              <a:t>压滤机的基本理论</a:t>
            </a:r>
          </a:p>
          <a:p>
            <a:r>
              <a:rPr lang="en-US" altLang="zh-CN" sz="1600" dirty="0" smtClean="0">
                <a:solidFill>
                  <a:srgbClr val="0000FF"/>
                </a:solidFill>
                <a:latin typeface="方正超粗黑简体" pitchFamily="65" charset="-122"/>
                <a:ea typeface="方正超粗黑简体" pitchFamily="65" charset="-122"/>
              </a:rPr>
              <a:t>2.2 </a:t>
            </a:r>
            <a:r>
              <a:rPr lang="zh-CN" altLang="en-US" sz="1600" dirty="0" smtClean="0">
                <a:solidFill>
                  <a:srgbClr val="0000FF"/>
                </a:solidFill>
                <a:latin typeface="方正超粗黑简体" pitchFamily="65" charset="-122"/>
                <a:ea typeface="方正超粗黑简体" pitchFamily="65" charset="-122"/>
              </a:rPr>
              <a:t>压滤机的分类</a:t>
            </a:r>
          </a:p>
          <a:p>
            <a:r>
              <a:rPr lang="en-US" altLang="zh-CN" sz="1600" dirty="0" smtClean="0">
                <a:solidFill>
                  <a:srgbClr val="0000FF"/>
                </a:solidFill>
                <a:latin typeface="方正超粗黑简体" pitchFamily="65" charset="-122"/>
                <a:ea typeface="方正超粗黑简体" pitchFamily="65" charset="-122"/>
              </a:rPr>
              <a:t>2.3 </a:t>
            </a:r>
            <a:r>
              <a:rPr lang="zh-CN" altLang="en-US" sz="1600" dirty="0" smtClean="0">
                <a:solidFill>
                  <a:srgbClr val="0000FF"/>
                </a:solidFill>
                <a:latin typeface="方正超粗黑简体" pitchFamily="65" charset="-122"/>
                <a:ea typeface="方正超粗黑简体" pitchFamily="65" charset="-122"/>
              </a:rPr>
              <a:t>压滤机的组成  </a:t>
            </a:r>
          </a:p>
          <a:p>
            <a:r>
              <a:rPr lang="en-US" altLang="zh-CN" sz="1600" dirty="0" smtClean="0">
                <a:solidFill>
                  <a:srgbClr val="0000FF"/>
                </a:solidFill>
                <a:latin typeface="方正超粗黑简体" pitchFamily="65" charset="-122"/>
                <a:ea typeface="方正超粗黑简体" pitchFamily="65" charset="-122"/>
              </a:rPr>
              <a:t>2.4 </a:t>
            </a:r>
            <a:r>
              <a:rPr lang="zh-CN" altLang="en-US" sz="1600" dirty="0" smtClean="0">
                <a:solidFill>
                  <a:srgbClr val="0000FF"/>
                </a:solidFill>
                <a:latin typeface="方正超粗黑简体" pitchFamily="65" charset="-122"/>
                <a:ea typeface="方正超粗黑简体" pitchFamily="65" charset="-122"/>
              </a:rPr>
              <a:t>压滤机压紧力的计算方法  </a:t>
            </a:r>
          </a:p>
          <a:p>
            <a:r>
              <a:rPr lang="en-US" altLang="zh-CN" sz="1600" dirty="0" smtClean="0">
                <a:solidFill>
                  <a:srgbClr val="0000FF"/>
                </a:solidFill>
                <a:latin typeface="方正超粗黑简体" pitchFamily="65" charset="-122"/>
                <a:ea typeface="方正超粗黑简体" pitchFamily="65" charset="-122"/>
              </a:rPr>
              <a:t>2.5 </a:t>
            </a:r>
            <a:r>
              <a:rPr lang="zh-CN" altLang="en-US" sz="1600" dirty="0" smtClean="0">
                <a:solidFill>
                  <a:srgbClr val="0000FF"/>
                </a:solidFill>
                <a:latin typeface="方正超粗黑简体" pitchFamily="65" charset="-122"/>
                <a:ea typeface="方正超粗黑简体" pitchFamily="65" charset="-122"/>
              </a:rPr>
              <a:t>压滤机的型号及意义  </a:t>
            </a:r>
          </a:p>
          <a:p>
            <a:r>
              <a:rPr lang="en-US" altLang="zh-CN" sz="1600" dirty="0" smtClean="0">
                <a:solidFill>
                  <a:srgbClr val="0000FF"/>
                </a:solidFill>
                <a:latin typeface="方正超粗黑简体" pitchFamily="65" charset="-122"/>
                <a:ea typeface="方正超粗黑简体" pitchFamily="65" charset="-122"/>
              </a:rPr>
              <a:t>2.6 </a:t>
            </a:r>
            <a:r>
              <a:rPr lang="zh-CN" altLang="en-US" sz="1600" dirty="0" smtClean="0">
                <a:solidFill>
                  <a:srgbClr val="0000FF"/>
                </a:solidFill>
                <a:latin typeface="方正超粗黑简体" pitchFamily="65" charset="-122"/>
                <a:ea typeface="方正超粗黑简体" pitchFamily="65" charset="-122"/>
              </a:rPr>
              <a:t>压滤机的安装  </a:t>
            </a:r>
          </a:p>
          <a:p>
            <a:r>
              <a:rPr lang="en-US" altLang="zh-CN" sz="1600" dirty="0" smtClean="0">
                <a:solidFill>
                  <a:srgbClr val="0000FF"/>
                </a:solidFill>
                <a:latin typeface="方正超粗黑简体" pitchFamily="65" charset="-122"/>
                <a:ea typeface="方正超粗黑简体" pitchFamily="65" charset="-122"/>
              </a:rPr>
              <a:t>2.7 </a:t>
            </a:r>
            <a:r>
              <a:rPr lang="zh-CN" altLang="en-US" sz="1600" dirty="0" smtClean="0">
                <a:solidFill>
                  <a:srgbClr val="0000FF"/>
                </a:solidFill>
                <a:latin typeface="方正超粗黑简体" pitchFamily="65" charset="-122"/>
                <a:ea typeface="方正超粗黑简体" pitchFamily="65" charset="-122"/>
              </a:rPr>
              <a:t>压滤机的调试  </a:t>
            </a:r>
          </a:p>
          <a:p>
            <a:r>
              <a:rPr lang="en-US" altLang="zh-CN" sz="1600" dirty="0" smtClean="0">
                <a:solidFill>
                  <a:srgbClr val="0000FF"/>
                </a:solidFill>
                <a:latin typeface="方正超粗黑简体" pitchFamily="65" charset="-122"/>
                <a:ea typeface="方正超粗黑简体" pitchFamily="65" charset="-122"/>
              </a:rPr>
              <a:t>2.8 </a:t>
            </a:r>
            <a:r>
              <a:rPr lang="zh-CN" altLang="en-US" sz="1600" dirty="0" smtClean="0">
                <a:solidFill>
                  <a:srgbClr val="0000FF"/>
                </a:solidFill>
                <a:latin typeface="方正超粗黑简体" pitchFamily="65" charset="-122"/>
                <a:ea typeface="方正超粗黑简体" pitchFamily="65" charset="-122"/>
              </a:rPr>
              <a:t>压滤机的操作使用  </a:t>
            </a:r>
          </a:p>
          <a:p>
            <a:r>
              <a:rPr lang="en-US" altLang="zh-CN" sz="1600" dirty="0" smtClean="0">
                <a:solidFill>
                  <a:srgbClr val="0000FF"/>
                </a:solidFill>
                <a:latin typeface="方正超粗黑简体" pitchFamily="65" charset="-122"/>
                <a:ea typeface="方正超粗黑简体" pitchFamily="65" charset="-122"/>
              </a:rPr>
              <a:t>2.9 </a:t>
            </a:r>
            <a:r>
              <a:rPr lang="zh-CN" altLang="en-US" sz="1600" dirty="0" smtClean="0">
                <a:solidFill>
                  <a:srgbClr val="0000FF"/>
                </a:solidFill>
                <a:latin typeface="方正超粗黑简体" pitchFamily="65" charset="-122"/>
                <a:ea typeface="方正超粗黑简体" pitchFamily="65" charset="-122"/>
              </a:rPr>
              <a:t>压滤机的保养  </a:t>
            </a:r>
          </a:p>
          <a:p>
            <a:r>
              <a:rPr lang="en-US" altLang="zh-CN" sz="1600" dirty="0" smtClean="0">
                <a:solidFill>
                  <a:srgbClr val="0000FF"/>
                </a:solidFill>
                <a:latin typeface="方正超粗黑简体" pitchFamily="65" charset="-122"/>
                <a:ea typeface="方正超粗黑简体" pitchFamily="65" charset="-122"/>
              </a:rPr>
              <a:t>2.10 </a:t>
            </a:r>
            <a:r>
              <a:rPr lang="zh-CN" altLang="en-US" sz="1600" dirty="0" smtClean="0">
                <a:solidFill>
                  <a:srgbClr val="0000FF"/>
                </a:solidFill>
                <a:latin typeface="方正超粗黑简体" pitchFamily="65" charset="-122"/>
                <a:ea typeface="方正超粗黑简体" pitchFamily="65" charset="-122"/>
              </a:rPr>
              <a:t>压滤机常见故障  </a:t>
            </a:r>
          </a:p>
          <a:p>
            <a:r>
              <a:rPr lang="en-US" altLang="zh-CN" sz="1600" dirty="0" smtClean="0">
                <a:solidFill>
                  <a:srgbClr val="0000FF"/>
                </a:solidFill>
                <a:latin typeface="方正超粗黑简体" pitchFamily="65" charset="-122"/>
                <a:ea typeface="方正超粗黑简体" pitchFamily="65" charset="-122"/>
              </a:rPr>
              <a:t>2.11 </a:t>
            </a:r>
            <a:r>
              <a:rPr lang="zh-CN" altLang="en-US" sz="1600" dirty="0" smtClean="0">
                <a:solidFill>
                  <a:srgbClr val="0000FF"/>
                </a:solidFill>
                <a:latin typeface="方正超粗黑简体" pitchFamily="65" charset="-122"/>
                <a:ea typeface="方正超粗黑简体" pitchFamily="65" charset="-122"/>
              </a:rPr>
              <a:t>压滤机的注意事项  </a:t>
            </a:r>
          </a:p>
          <a:p>
            <a:r>
              <a:rPr lang="en-US" altLang="zh-CN" sz="1600" dirty="0" smtClean="0">
                <a:solidFill>
                  <a:srgbClr val="0000FF"/>
                </a:solidFill>
                <a:latin typeface="方正超粗黑简体" pitchFamily="65" charset="-122"/>
                <a:ea typeface="方正超粗黑简体" pitchFamily="65" charset="-122"/>
              </a:rPr>
              <a:t>2.12 </a:t>
            </a:r>
            <a:r>
              <a:rPr lang="zh-CN" altLang="en-US" sz="1600" dirty="0" smtClean="0">
                <a:solidFill>
                  <a:srgbClr val="0000FF"/>
                </a:solidFill>
                <a:latin typeface="方正超粗黑简体" pitchFamily="65" charset="-122"/>
                <a:ea typeface="方正超粗黑简体" pitchFamily="65" charset="-122"/>
              </a:rPr>
              <a:t>进料泵  </a:t>
            </a:r>
          </a:p>
          <a:p>
            <a:r>
              <a:rPr lang="en-US" altLang="zh-CN" sz="1600" dirty="0" smtClean="0">
                <a:solidFill>
                  <a:srgbClr val="0000FF"/>
                </a:solidFill>
                <a:latin typeface="方正超粗黑简体" pitchFamily="65" charset="-122"/>
                <a:ea typeface="方正超粗黑简体" pitchFamily="65" charset="-122"/>
              </a:rPr>
              <a:t>2.13 </a:t>
            </a:r>
            <a:r>
              <a:rPr lang="zh-CN" altLang="en-US" sz="1600" dirty="0" smtClean="0">
                <a:solidFill>
                  <a:srgbClr val="0000FF"/>
                </a:solidFill>
                <a:latin typeface="方正超粗黑简体" pitchFamily="65" charset="-122"/>
                <a:ea typeface="方正超粗黑简体" pitchFamily="65" charset="-122"/>
              </a:rPr>
              <a:t>压滤机防爆  </a:t>
            </a:r>
          </a:p>
        </p:txBody>
      </p:sp>
      <p:sp>
        <p:nvSpPr>
          <p:cNvPr id="7" name="矩形 6"/>
          <p:cNvSpPr/>
          <p:nvPr/>
        </p:nvSpPr>
        <p:spPr>
          <a:xfrm>
            <a:off x="4572000" y="1700213"/>
            <a:ext cx="3671888" cy="4278094"/>
          </a:xfrm>
          <a:prstGeom prst="rect">
            <a:avLst/>
          </a:prstGeom>
        </p:spPr>
        <p:txBody>
          <a:bodyPr wrap="square">
            <a:spAutoFit/>
          </a:bodyPr>
          <a:lstStyle/>
          <a:p>
            <a:pPr lvl="0"/>
            <a:r>
              <a:rPr lang="zh-CN" altLang="en-US" sz="1600" b="1" dirty="0" smtClean="0">
                <a:ln w="18000">
                  <a:solidFill>
                    <a:schemeClr val="accent2">
                      <a:satMod val="140000"/>
                    </a:schemeClr>
                  </a:solidFill>
                  <a:prstDash val="solid"/>
                  <a:miter lim="800000"/>
                </a:ln>
                <a:solidFill>
                  <a:srgbClr val="FFFF00"/>
                </a:solidFill>
                <a:effectLst>
                  <a:outerShdw blurRad="25500" dist="23000" dir="7020000" algn="tl">
                    <a:srgbClr val="000000">
                      <a:alpha val="50000"/>
                    </a:srgbClr>
                  </a:outerShdw>
                </a:effectLst>
                <a:latin typeface="方正超粗黑简体" pitchFamily="65" charset="-122"/>
                <a:ea typeface="方正超粗黑简体" pitchFamily="65" charset="-122"/>
              </a:rPr>
              <a:t>第三章 压滤机机架  </a:t>
            </a:r>
          </a:p>
          <a:p>
            <a:pPr lvl="0"/>
            <a:r>
              <a:rPr lang="en-US" altLang="zh-CN" sz="1600" dirty="0" smtClean="0">
                <a:solidFill>
                  <a:srgbClr val="0000FF"/>
                </a:solidFill>
                <a:latin typeface="方正超粗黑简体" pitchFamily="65" charset="-122"/>
                <a:ea typeface="方正超粗黑简体" pitchFamily="65" charset="-122"/>
              </a:rPr>
              <a:t>3.1 </a:t>
            </a:r>
            <a:r>
              <a:rPr lang="zh-CN" altLang="en-US" sz="1600" dirty="0" smtClean="0">
                <a:solidFill>
                  <a:srgbClr val="0000FF"/>
                </a:solidFill>
                <a:latin typeface="方正超粗黑简体" pitchFamily="65" charset="-122"/>
                <a:ea typeface="方正超粗黑简体" pitchFamily="65" charset="-122"/>
              </a:rPr>
              <a:t>机架的概述  </a:t>
            </a:r>
          </a:p>
          <a:p>
            <a:pPr lvl="0"/>
            <a:r>
              <a:rPr lang="en-US" altLang="zh-CN" sz="1600" dirty="0" smtClean="0">
                <a:solidFill>
                  <a:srgbClr val="0000FF"/>
                </a:solidFill>
                <a:latin typeface="方正超粗黑简体" pitchFamily="65" charset="-122"/>
                <a:ea typeface="方正超粗黑简体" pitchFamily="65" charset="-122"/>
              </a:rPr>
              <a:t>3.2 </a:t>
            </a:r>
            <a:r>
              <a:rPr lang="zh-CN" altLang="en-US" sz="1600" dirty="0" smtClean="0">
                <a:solidFill>
                  <a:srgbClr val="0000FF"/>
                </a:solidFill>
                <a:latin typeface="方正超粗黑简体" pitchFamily="65" charset="-122"/>
                <a:ea typeface="方正超粗黑简体" pitchFamily="65" charset="-122"/>
              </a:rPr>
              <a:t>机架的组成  </a:t>
            </a:r>
          </a:p>
          <a:p>
            <a:pPr lvl="0"/>
            <a:r>
              <a:rPr lang="zh-CN" altLang="en-US" sz="1600" dirty="0" smtClean="0">
                <a:solidFill>
                  <a:srgbClr val="0000FF"/>
                </a:solidFill>
                <a:latin typeface="方正超粗黑简体" pitchFamily="65" charset="-122"/>
                <a:ea typeface="方正超粗黑简体" pitchFamily="65" charset="-122"/>
              </a:rPr>
              <a:t>第四章 过滤  </a:t>
            </a:r>
          </a:p>
          <a:p>
            <a:pPr lvl="0"/>
            <a:r>
              <a:rPr lang="en-US" altLang="zh-CN" sz="1600" dirty="0" smtClean="0">
                <a:solidFill>
                  <a:srgbClr val="0000FF"/>
                </a:solidFill>
                <a:latin typeface="方正超粗黑简体" pitchFamily="65" charset="-122"/>
                <a:ea typeface="方正超粗黑简体" pitchFamily="65" charset="-122"/>
              </a:rPr>
              <a:t>4.1 </a:t>
            </a:r>
            <a:r>
              <a:rPr lang="zh-CN" altLang="en-US" sz="1600" dirty="0" smtClean="0">
                <a:solidFill>
                  <a:srgbClr val="0000FF"/>
                </a:solidFill>
                <a:latin typeface="方正超粗黑简体" pitchFamily="65" charset="-122"/>
                <a:ea typeface="方正超粗黑简体" pitchFamily="65" charset="-122"/>
              </a:rPr>
              <a:t>过滤的概念  </a:t>
            </a:r>
          </a:p>
          <a:p>
            <a:pPr lvl="0"/>
            <a:r>
              <a:rPr lang="en-US" altLang="zh-CN" sz="1600" dirty="0" smtClean="0">
                <a:solidFill>
                  <a:srgbClr val="0000FF"/>
                </a:solidFill>
                <a:latin typeface="方正超粗黑简体" pitchFamily="65" charset="-122"/>
                <a:ea typeface="方正超粗黑简体" pitchFamily="65" charset="-122"/>
              </a:rPr>
              <a:t>4.2 </a:t>
            </a:r>
            <a:r>
              <a:rPr lang="zh-CN" altLang="en-US" sz="1600" dirty="0" smtClean="0">
                <a:solidFill>
                  <a:srgbClr val="0000FF"/>
                </a:solidFill>
                <a:latin typeface="方正超粗黑简体" pitchFamily="65" charset="-122"/>
                <a:ea typeface="方正超粗黑简体" pitchFamily="65" charset="-122"/>
              </a:rPr>
              <a:t>压滤机中的过滤技术  </a:t>
            </a:r>
          </a:p>
          <a:p>
            <a:pPr lvl="0"/>
            <a:r>
              <a:rPr lang="en-US" altLang="zh-CN" sz="1600" dirty="0" smtClean="0">
                <a:solidFill>
                  <a:srgbClr val="0000FF"/>
                </a:solidFill>
                <a:latin typeface="方正超粗黑简体" pitchFamily="65" charset="-122"/>
                <a:ea typeface="方正超粗黑简体" pitchFamily="65" charset="-122"/>
              </a:rPr>
              <a:t>4.3 </a:t>
            </a:r>
            <a:r>
              <a:rPr lang="zh-CN" altLang="en-US" sz="1600" dirty="0" smtClean="0">
                <a:solidFill>
                  <a:srgbClr val="0000FF"/>
                </a:solidFill>
                <a:latin typeface="方正超粗黑简体" pitchFamily="65" charset="-122"/>
                <a:ea typeface="方正超粗黑简体" pitchFamily="65" charset="-122"/>
              </a:rPr>
              <a:t>滤板  </a:t>
            </a:r>
          </a:p>
          <a:p>
            <a:pPr lvl="0"/>
            <a:r>
              <a:rPr lang="en-US" altLang="zh-CN" sz="1600" dirty="0" smtClean="0">
                <a:solidFill>
                  <a:srgbClr val="0000FF"/>
                </a:solidFill>
                <a:latin typeface="方正超粗黑简体" pitchFamily="65" charset="-122"/>
                <a:ea typeface="方正超粗黑简体" pitchFamily="65" charset="-122"/>
              </a:rPr>
              <a:t>4.4 </a:t>
            </a:r>
            <a:r>
              <a:rPr lang="zh-CN" altLang="en-US" sz="1600" dirty="0" smtClean="0">
                <a:solidFill>
                  <a:srgbClr val="0000FF"/>
                </a:solidFill>
                <a:latin typeface="方正超粗黑简体" pitchFamily="65" charset="-122"/>
                <a:ea typeface="方正超粗黑简体" pitchFamily="65" charset="-122"/>
              </a:rPr>
              <a:t>滤布  </a:t>
            </a:r>
          </a:p>
          <a:p>
            <a:pPr lvl="0"/>
            <a:r>
              <a:rPr lang="zh-CN" altLang="en-US" sz="1600" b="1" dirty="0" smtClean="0">
                <a:ln w="18000">
                  <a:solidFill>
                    <a:schemeClr val="accent2">
                      <a:satMod val="140000"/>
                    </a:schemeClr>
                  </a:solidFill>
                  <a:prstDash val="solid"/>
                  <a:miter lim="800000"/>
                </a:ln>
                <a:solidFill>
                  <a:srgbClr val="FFFF00"/>
                </a:solidFill>
                <a:effectLst>
                  <a:outerShdw blurRad="25500" dist="23000" dir="7020000" algn="tl">
                    <a:srgbClr val="000000">
                      <a:alpha val="50000"/>
                    </a:srgbClr>
                  </a:outerShdw>
                </a:effectLst>
                <a:latin typeface="方正超粗黑简体" pitchFamily="65" charset="-122"/>
                <a:ea typeface="方正超粗黑简体" pitchFamily="65" charset="-122"/>
              </a:rPr>
              <a:t>第五章 液压系统</a:t>
            </a:r>
            <a:endParaRPr lang="en-US" altLang="zh-CN" sz="1600" b="1" dirty="0" smtClean="0">
              <a:ln w="18000">
                <a:solidFill>
                  <a:schemeClr val="accent2">
                    <a:satMod val="140000"/>
                  </a:schemeClr>
                </a:solidFill>
                <a:prstDash val="solid"/>
                <a:miter lim="800000"/>
              </a:ln>
              <a:solidFill>
                <a:srgbClr val="FFFF00"/>
              </a:solidFill>
              <a:effectLst>
                <a:outerShdw blurRad="25500" dist="23000" dir="7020000" algn="tl">
                  <a:srgbClr val="000000">
                    <a:alpha val="50000"/>
                  </a:srgbClr>
                </a:outerShdw>
              </a:effectLst>
              <a:latin typeface="方正超粗黑简体" pitchFamily="65" charset="-122"/>
              <a:ea typeface="方正超粗黑简体" pitchFamily="65" charset="-122"/>
            </a:endParaRPr>
          </a:p>
          <a:p>
            <a:pPr lvl="0"/>
            <a:r>
              <a:rPr lang="en-US" altLang="zh-CN" sz="1600" dirty="0" smtClean="0">
                <a:solidFill>
                  <a:srgbClr val="0000FF"/>
                </a:solidFill>
                <a:latin typeface="方正超粗黑简体" pitchFamily="65" charset="-122"/>
                <a:ea typeface="方正超粗黑简体" pitchFamily="65" charset="-122"/>
              </a:rPr>
              <a:t>5.1 </a:t>
            </a:r>
            <a:r>
              <a:rPr lang="zh-CN" altLang="en-US" sz="1600" dirty="0" smtClean="0">
                <a:solidFill>
                  <a:srgbClr val="0000FF"/>
                </a:solidFill>
                <a:latin typeface="方正超粗黑简体" pitchFamily="65" charset="-122"/>
                <a:ea typeface="方正超粗黑简体" pitchFamily="65" charset="-122"/>
              </a:rPr>
              <a:t>液压传动的基本原理</a:t>
            </a:r>
            <a:endParaRPr lang="en-US" altLang="zh-CN" sz="1600" dirty="0" smtClean="0">
              <a:solidFill>
                <a:srgbClr val="0000FF"/>
              </a:solidFill>
              <a:latin typeface="方正超粗黑简体" pitchFamily="65" charset="-122"/>
              <a:ea typeface="方正超粗黑简体" pitchFamily="65" charset="-122"/>
            </a:endParaRPr>
          </a:p>
          <a:p>
            <a:pPr lvl="0"/>
            <a:r>
              <a:rPr lang="en-US" altLang="zh-CN" sz="1600" dirty="0" smtClean="0">
                <a:solidFill>
                  <a:srgbClr val="0000FF"/>
                </a:solidFill>
                <a:latin typeface="方正超粗黑简体" pitchFamily="65" charset="-122"/>
                <a:ea typeface="方正超粗黑简体" pitchFamily="65" charset="-122"/>
              </a:rPr>
              <a:t>5.2 </a:t>
            </a:r>
            <a:r>
              <a:rPr lang="zh-CN" altLang="en-US" sz="1600" dirty="0" smtClean="0">
                <a:solidFill>
                  <a:srgbClr val="0000FF"/>
                </a:solidFill>
                <a:latin typeface="方正超粗黑简体" pitchFamily="65" charset="-122"/>
                <a:ea typeface="方正超粗黑简体" pitchFamily="65" charset="-122"/>
              </a:rPr>
              <a:t>液压传动技术的特征</a:t>
            </a:r>
            <a:endParaRPr lang="en-US" altLang="zh-CN" sz="1600" dirty="0" smtClean="0">
              <a:solidFill>
                <a:srgbClr val="0000FF"/>
              </a:solidFill>
              <a:latin typeface="方正超粗黑简体" pitchFamily="65" charset="-122"/>
              <a:ea typeface="方正超粗黑简体" pitchFamily="65" charset="-122"/>
            </a:endParaRPr>
          </a:p>
          <a:p>
            <a:pPr lvl="0"/>
            <a:r>
              <a:rPr lang="en-US" altLang="zh-CN" sz="1600" dirty="0" smtClean="0">
                <a:solidFill>
                  <a:srgbClr val="0000FF"/>
                </a:solidFill>
                <a:latin typeface="方正超粗黑简体" pitchFamily="65" charset="-122"/>
                <a:ea typeface="方正超粗黑简体" pitchFamily="65" charset="-122"/>
              </a:rPr>
              <a:t>5.3  </a:t>
            </a:r>
            <a:r>
              <a:rPr lang="zh-CN" altLang="en-US" sz="1600" dirty="0" smtClean="0">
                <a:solidFill>
                  <a:srgbClr val="0000FF"/>
                </a:solidFill>
                <a:latin typeface="方正超粗黑简体" pitchFamily="65" charset="-122"/>
                <a:ea typeface="方正超粗黑简体" pitchFamily="65" charset="-122"/>
              </a:rPr>
              <a:t>液压系统的组成与表示</a:t>
            </a:r>
            <a:endParaRPr lang="en-US" altLang="zh-CN" sz="1600" dirty="0" smtClean="0">
              <a:solidFill>
                <a:srgbClr val="0000FF"/>
              </a:solidFill>
              <a:latin typeface="方正超粗黑简体" pitchFamily="65" charset="-122"/>
              <a:ea typeface="方正超粗黑简体" pitchFamily="65" charset="-122"/>
            </a:endParaRPr>
          </a:p>
          <a:p>
            <a:pPr lvl="0"/>
            <a:r>
              <a:rPr lang="en-US" altLang="zh-CN" sz="1600" dirty="0" smtClean="0">
                <a:solidFill>
                  <a:srgbClr val="0000FF"/>
                </a:solidFill>
                <a:latin typeface="方正超粗黑简体" pitchFamily="65" charset="-122"/>
                <a:ea typeface="方正超粗黑简体" pitchFamily="65" charset="-122"/>
              </a:rPr>
              <a:t>5.4 </a:t>
            </a:r>
            <a:r>
              <a:rPr lang="zh-CN" altLang="en-US" sz="1600" dirty="0" smtClean="0">
                <a:solidFill>
                  <a:srgbClr val="0000FF"/>
                </a:solidFill>
                <a:latin typeface="方正超粗黑简体" pitchFamily="65" charset="-122"/>
                <a:ea typeface="方正超粗黑简体" pitchFamily="65" charset="-122"/>
              </a:rPr>
              <a:t>使用泵站的基本常识</a:t>
            </a:r>
            <a:endParaRPr lang="en-US" altLang="zh-CN" sz="1600" dirty="0" smtClean="0">
              <a:solidFill>
                <a:srgbClr val="0000FF"/>
              </a:solidFill>
              <a:latin typeface="方正超粗黑简体" pitchFamily="65" charset="-122"/>
              <a:ea typeface="方正超粗黑简体" pitchFamily="65" charset="-122"/>
            </a:endParaRPr>
          </a:p>
          <a:p>
            <a:pPr lvl="0"/>
            <a:r>
              <a:rPr lang="en-US" altLang="zh-CN" sz="1600" dirty="0" smtClean="0">
                <a:solidFill>
                  <a:srgbClr val="0000FF"/>
                </a:solidFill>
                <a:latin typeface="方正超粗黑简体" pitchFamily="65" charset="-122"/>
                <a:ea typeface="方正超粗黑简体" pitchFamily="65" charset="-122"/>
              </a:rPr>
              <a:t>5.5  </a:t>
            </a:r>
            <a:r>
              <a:rPr lang="zh-CN" altLang="en-US" sz="1600" dirty="0" smtClean="0">
                <a:solidFill>
                  <a:srgbClr val="0000FF"/>
                </a:solidFill>
                <a:latin typeface="方正超粗黑简体" pitchFamily="65" charset="-122"/>
                <a:ea typeface="方正超粗黑简体" pitchFamily="65" charset="-122"/>
              </a:rPr>
              <a:t>液压缸</a:t>
            </a:r>
            <a:endParaRPr lang="en-US" altLang="zh-CN" sz="1600" dirty="0" smtClean="0">
              <a:solidFill>
                <a:srgbClr val="0000FF"/>
              </a:solidFill>
              <a:latin typeface="方正超粗黑简体" pitchFamily="65" charset="-122"/>
              <a:ea typeface="方正超粗黑简体" pitchFamily="65" charset="-122"/>
            </a:endParaRPr>
          </a:p>
          <a:p>
            <a:pPr lvl="0"/>
            <a:endParaRPr lang="en-US" altLang="zh-CN" sz="1600" dirty="0" smtClean="0">
              <a:solidFill>
                <a:srgbClr val="0000FF"/>
              </a:solidFill>
              <a:latin typeface="方正超粗黑简体" pitchFamily="65" charset="-122"/>
              <a:ea typeface="方正超粗黑简体" pitchFamily="65" charset="-122"/>
            </a:endParaRPr>
          </a:p>
          <a:p>
            <a:pPr lvl="0"/>
            <a:endParaRPr lang="en-US" altLang="zh-CN" sz="1600" dirty="0" smtClean="0">
              <a:solidFill>
                <a:srgbClr val="0000FF"/>
              </a:solidFill>
              <a:latin typeface="方正超粗黑简体" pitchFamily="65" charset="-122"/>
              <a:ea typeface="方正超粗黑简体" pitchFamily="65" charset="-122"/>
            </a:endParaRPr>
          </a:p>
          <a:p>
            <a:pPr lvl="0"/>
            <a:r>
              <a:rPr lang="zh-CN" altLang="en-US" sz="1600" dirty="0" smtClean="0">
                <a:solidFill>
                  <a:srgbClr val="0000FF"/>
                </a:solidFill>
                <a:latin typeface="方正超粗黑简体" pitchFamily="65" charset="-122"/>
                <a:ea typeface="方正超粗黑简体" pitchFamily="65" charset="-122"/>
              </a:rPr>
              <a:t>  </a:t>
            </a:r>
          </a:p>
        </p:txBody>
      </p:sp>
      <p:sp>
        <p:nvSpPr>
          <p:cNvPr id="8" name="矩形 7"/>
          <p:cNvSpPr/>
          <p:nvPr/>
        </p:nvSpPr>
        <p:spPr>
          <a:xfrm>
            <a:off x="900113" y="1002884"/>
            <a:ext cx="1172116" cy="523220"/>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lvl="0"/>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超粗黑简体" pitchFamily="65" charset="-122"/>
                <a:ea typeface="方正超粗黑简体" pitchFamily="65" charset="-122"/>
              </a:rPr>
              <a:t>目  录</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113" y="2782669"/>
            <a:ext cx="7343775" cy="646331"/>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3600" b="1" spc="50" dirty="0" smtClean="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rPr>
              <a:t>第一章 压滤机中基本名词术语 </a:t>
            </a:r>
            <a:endParaRPr lang="zh-CN" altLang="en-US" sz="3600" b="1" spc="50" dirty="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189" y="1026438"/>
            <a:ext cx="7921624" cy="5443798"/>
          </a:xfrm>
          <a:prstGeom prst="rect">
            <a:avLst/>
          </a:prstGeom>
        </p:spPr>
        <p:txBody>
          <a:bodyPr wrap="square">
            <a:spAutoFit/>
          </a:bodyPr>
          <a:lstStyle/>
          <a:p>
            <a:pPr>
              <a:lnSpc>
                <a:spcPts val="2200"/>
              </a:lnSpc>
            </a:pPr>
            <a:r>
              <a:rPr lang="en-US" altLang="zh-CN" b="1" dirty="0" smtClean="0">
                <a:solidFill>
                  <a:srgbClr val="0000FF"/>
                </a:solidFill>
                <a:latin typeface="方正正粗黑简体" pitchFamily="2" charset="-122"/>
                <a:ea typeface="方正正粗黑简体" pitchFamily="2" charset="-122"/>
              </a:rPr>
              <a:t>1</a:t>
            </a:r>
            <a:r>
              <a:rPr lang="zh-CN" altLang="en-US" b="1" dirty="0" smtClean="0">
                <a:solidFill>
                  <a:srgbClr val="0000FF"/>
                </a:solidFill>
                <a:latin typeface="方正正粗黑简体" pitchFamily="2" charset="-122"/>
                <a:ea typeface="方正正粗黑简体" pitchFamily="2" charset="-122"/>
              </a:rPr>
              <a:t>．压滤 </a:t>
            </a:r>
          </a:p>
          <a:p>
            <a:pPr>
              <a:lnSpc>
                <a:spcPts val="2200"/>
              </a:lnSpc>
            </a:pPr>
            <a:r>
              <a:rPr lang="zh-CN" altLang="en-US" b="1" dirty="0" smtClean="0">
                <a:solidFill>
                  <a:srgbClr val="0000FF"/>
                </a:solidFill>
                <a:latin typeface="方正正粗黑简体" pitchFamily="2" charset="-122"/>
                <a:ea typeface="方正正粗黑简体" pitchFamily="2" charset="-122"/>
              </a:rPr>
              <a:t>    在推动力或其他外力作用下悬浮液中的液体透过过滤介质，固体颗粒及其它物质被过滤介质截留，从而使固体及其它物质与液体分离的操作。</a:t>
            </a:r>
          </a:p>
          <a:p>
            <a:pPr>
              <a:lnSpc>
                <a:spcPts val="2200"/>
              </a:lnSpc>
            </a:pPr>
            <a:r>
              <a:rPr lang="en-US" altLang="zh-CN" b="1" dirty="0" smtClean="0">
                <a:solidFill>
                  <a:srgbClr val="0000FF"/>
                </a:solidFill>
                <a:latin typeface="方正正粗黑简体" pitchFamily="2" charset="-122"/>
                <a:ea typeface="方正正粗黑简体" pitchFamily="2" charset="-122"/>
              </a:rPr>
              <a:t>2</a:t>
            </a:r>
            <a:r>
              <a:rPr lang="zh-CN" altLang="en-US" b="1" dirty="0" smtClean="0">
                <a:solidFill>
                  <a:srgbClr val="0000FF"/>
                </a:solidFill>
                <a:latin typeface="方正正粗黑简体" pitchFamily="2" charset="-122"/>
                <a:ea typeface="方正正粗黑简体" pitchFamily="2" charset="-122"/>
              </a:rPr>
              <a:t>．滤液 </a:t>
            </a:r>
          </a:p>
          <a:p>
            <a:pPr>
              <a:lnSpc>
                <a:spcPts val="2200"/>
              </a:lnSpc>
            </a:pPr>
            <a:r>
              <a:rPr lang="zh-CN" altLang="en-US" b="1" dirty="0" smtClean="0">
                <a:solidFill>
                  <a:srgbClr val="0000FF"/>
                </a:solidFill>
                <a:latin typeface="方正正粗黑简体" pitchFamily="2" charset="-122"/>
                <a:ea typeface="方正正粗黑简体" pitchFamily="2" charset="-122"/>
              </a:rPr>
              <a:t>悬浮液过滤时透过过滤介质流出的液体。</a:t>
            </a:r>
          </a:p>
          <a:p>
            <a:pPr>
              <a:lnSpc>
                <a:spcPts val="2200"/>
              </a:lnSpc>
            </a:pPr>
            <a:r>
              <a:rPr lang="en-US" altLang="zh-CN" b="1" dirty="0" smtClean="0">
                <a:solidFill>
                  <a:srgbClr val="0000FF"/>
                </a:solidFill>
                <a:latin typeface="方正正粗黑简体" pitchFamily="2" charset="-122"/>
                <a:ea typeface="方正正粗黑简体" pitchFamily="2" charset="-122"/>
              </a:rPr>
              <a:t>3</a:t>
            </a:r>
            <a:r>
              <a:rPr lang="zh-CN" altLang="en-US" b="1" dirty="0" smtClean="0">
                <a:solidFill>
                  <a:srgbClr val="0000FF"/>
                </a:solidFill>
                <a:latin typeface="方正正粗黑简体" pitchFamily="2" charset="-122"/>
                <a:ea typeface="方正正粗黑简体" pitchFamily="2" charset="-122"/>
              </a:rPr>
              <a:t>．澄清液 </a:t>
            </a:r>
          </a:p>
          <a:p>
            <a:pPr>
              <a:lnSpc>
                <a:spcPts val="2200"/>
              </a:lnSpc>
            </a:pPr>
            <a:r>
              <a:rPr lang="zh-CN" altLang="en-US" b="1" dirty="0" smtClean="0">
                <a:solidFill>
                  <a:srgbClr val="0000FF"/>
                </a:solidFill>
                <a:latin typeface="方正正粗黑简体" pitchFamily="2" charset="-122"/>
                <a:ea typeface="方正正粗黑简体" pitchFamily="2" charset="-122"/>
              </a:rPr>
              <a:t>    沉降操作所分离出的液体</a:t>
            </a:r>
          </a:p>
          <a:p>
            <a:pPr>
              <a:lnSpc>
                <a:spcPts val="2200"/>
              </a:lnSpc>
            </a:pPr>
            <a:r>
              <a:rPr lang="en-US" altLang="zh-CN" b="1" dirty="0" smtClean="0">
                <a:solidFill>
                  <a:srgbClr val="0000FF"/>
                </a:solidFill>
                <a:latin typeface="方正正粗黑简体" pitchFamily="2" charset="-122"/>
                <a:ea typeface="方正正粗黑简体" pitchFamily="2" charset="-122"/>
              </a:rPr>
              <a:t>4</a:t>
            </a:r>
            <a:r>
              <a:rPr lang="zh-CN" altLang="en-US" b="1" dirty="0" smtClean="0">
                <a:solidFill>
                  <a:srgbClr val="0000FF"/>
                </a:solidFill>
                <a:latin typeface="方正正粗黑简体" pitchFamily="2" charset="-122"/>
                <a:ea typeface="方正正粗黑简体" pitchFamily="2" charset="-122"/>
              </a:rPr>
              <a:t>．物料</a:t>
            </a:r>
          </a:p>
          <a:p>
            <a:pPr>
              <a:lnSpc>
                <a:spcPts val="2200"/>
              </a:lnSpc>
            </a:pPr>
            <a:r>
              <a:rPr lang="zh-CN" altLang="en-US" b="1" dirty="0" smtClean="0">
                <a:solidFill>
                  <a:srgbClr val="0000FF"/>
                </a:solidFill>
                <a:latin typeface="方正正粗黑简体" pitchFamily="2" charset="-122"/>
                <a:ea typeface="方正正粗黑简体" pitchFamily="2" charset="-122"/>
              </a:rPr>
              <a:t>    压滤机分离的各种分离对象</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如悬浮液、乳浊液等</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的统称。</a:t>
            </a:r>
          </a:p>
          <a:p>
            <a:pPr>
              <a:lnSpc>
                <a:spcPts val="2200"/>
              </a:lnSpc>
            </a:pPr>
            <a:r>
              <a:rPr lang="en-US" altLang="zh-CN" b="1" dirty="0" smtClean="0">
                <a:solidFill>
                  <a:srgbClr val="0000FF"/>
                </a:solidFill>
                <a:latin typeface="方正正粗黑简体" pitchFamily="2" charset="-122"/>
                <a:ea typeface="方正正粗黑简体" pitchFamily="2" charset="-122"/>
              </a:rPr>
              <a:t>5</a:t>
            </a:r>
            <a:r>
              <a:rPr lang="zh-CN" altLang="en-US" b="1" dirty="0" smtClean="0">
                <a:solidFill>
                  <a:srgbClr val="0000FF"/>
                </a:solidFill>
                <a:latin typeface="方正正粗黑简体" pitchFamily="2" charset="-122"/>
                <a:ea typeface="方正正粗黑简体" pitchFamily="2" charset="-122"/>
              </a:rPr>
              <a:t>．滤饼 </a:t>
            </a:r>
          </a:p>
          <a:p>
            <a:pPr>
              <a:lnSpc>
                <a:spcPts val="2200"/>
              </a:lnSpc>
            </a:pPr>
            <a:r>
              <a:rPr lang="zh-CN" altLang="en-US" b="1" dirty="0" smtClean="0">
                <a:solidFill>
                  <a:srgbClr val="0000FF"/>
                </a:solidFill>
                <a:latin typeface="方正正粗黑简体" pitchFamily="2" charset="-122"/>
                <a:ea typeface="方正正粗黑简体" pitchFamily="2" charset="-122"/>
              </a:rPr>
              <a:t>    压滤过程中悬浮液经压滤得到的固体浓缩物。</a:t>
            </a:r>
          </a:p>
          <a:p>
            <a:pPr>
              <a:lnSpc>
                <a:spcPts val="2200"/>
              </a:lnSpc>
            </a:pPr>
            <a:r>
              <a:rPr lang="en-US" altLang="zh-CN" b="1" dirty="0" smtClean="0">
                <a:solidFill>
                  <a:srgbClr val="0000FF"/>
                </a:solidFill>
                <a:latin typeface="方正正粗黑简体" pitchFamily="2" charset="-122"/>
                <a:ea typeface="方正正粗黑简体" pitchFamily="2" charset="-122"/>
              </a:rPr>
              <a:t>6</a:t>
            </a:r>
            <a:r>
              <a:rPr lang="zh-CN" altLang="en-US" b="1" dirty="0" smtClean="0">
                <a:solidFill>
                  <a:srgbClr val="0000FF"/>
                </a:solidFill>
                <a:latin typeface="方正正粗黑简体" pitchFamily="2" charset="-122"/>
                <a:ea typeface="方正正粗黑简体" pitchFamily="2" charset="-122"/>
              </a:rPr>
              <a:t>．进料时间 </a:t>
            </a:r>
          </a:p>
          <a:p>
            <a:pPr>
              <a:lnSpc>
                <a:spcPts val="2200"/>
              </a:lnSpc>
            </a:pPr>
            <a:r>
              <a:rPr lang="zh-CN" altLang="en-US" b="1" dirty="0" smtClean="0">
                <a:solidFill>
                  <a:srgbClr val="0000FF"/>
                </a:solidFill>
                <a:latin typeface="方正正粗黑简体" pitchFamily="2" charset="-122"/>
                <a:ea typeface="方正正粗黑简体" pitchFamily="2" charset="-122"/>
              </a:rPr>
              <a:t>    往机器中加人物料所需的时间。</a:t>
            </a:r>
          </a:p>
          <a:p>
            <a:pPr>
              <a:lnSpc>
                <a:spcPts val="2200"/>
              </a:lnSpc>
            </a:pPr>
            <a:r>
              <a:rPr lang="en-US" altLang="zh-CN" b="1" dirty="0" smtClean="0">
                <a:solidFill>
                  <a:srgbClr val="0000FF"/>
                </a:solidFill>
                <a:latin typeface="方正正粗黑简体" pitchFamily="2" charset="-122"/>
                <a:ea typeface="方正正粗黑简体" pitchFamily="2" charset="-122"/>
              </a:rPr>
              <a:t>7</a:t>
            </a:r>
            <a:r>
              <a:rPr lang="zh-CN" altLang="en-US" b="1" dirty="0" smtClean="0">
                <a:solidFill>
                  <a:srgbClr val="0000FF"/>
                </a:solidFill>
                <a:latin typeface="方正正粗黑简体" pitchFamily="2" charset="-122"/>
                <a:ea typeface="方正正粗黑简体" pitchFamily="2" charset="-122"/>
              </a:rPr>
              <a:t>．卸料时间 </a:t>
            </a:r>
          </a:p>
          <a:p>
            <a:pPr>
              <a:lnSpc>
                <a:spcPts val="2200"/>
              </a:lnSpc>
            </a:pPr>
            <a:r>
              <a:rPr lang="zh-CN" altLang="en-US" b="1" dirty="0" smtClean="0">
                <a:solidFill>
                  <a:srgbClr val="0000FF"/>
                </a:solidFill>
                <a:latin typeface="方正正粗黑简体" pitchFamily="2" charset="-122"/>
                <a:ea typeface="方正正粗黑简体" pitchFamily="2" charset="-122"/>
              </a:rPr>
              <a:t>    从机器中卸出滤饼</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或滤渣</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所需的时间。</a:t>
            </a:r>
          </a:p>
          <a:p>
            <a:pPr>
              <a:lnSpc>
                <a:spcPts val="2200"/>
              </a:lnSpc>
            </a:pPr>
            <a:r>
              <a:rPr lang="en-US" altLang="zh-CN" b="1" dirty="0" smtClean="0">
                <a:solidFill>
                  <a:srgbClr val="0000FF"/>
                </a:solidFill>
                <a:latin typeface="方正正粗黑简体" pitchFamily="2" charset="-122"/>
                <a:ea typeface="方正正粗黑简体" pitchFamily="2" charset="-122"/>
              </a:rPr>
              <a:t>8</a:t>
            </a:r>
            <a:r>
              <a:rPr lang="zh-CN" altLang="en-US" b="1" dirty="0" smtClean="0">
                <a:solidFill>
                  <a:srgbClr val="0000FF"/>
                </a:solidFill>
                <a:latin typeface="方正正粗黑简体" pitchFamily="2" charset="-122"/>
                <a:ea typeface="方正正粗黑简体" pitchFamily="2" charset="-122"/>
              </a:rPr>
              <a:t>．循环周期 </a:t>
            </a:r>
          </a:p>
          <a:p>
            <a:pPr>
              <a:lnSpc>
                <a:spcPts val="2200"/>
              </a:lnSpc>
            </a:pPr>
            <a:r>
              <a:rPr lang="zh-CN" altLang="en-US" b="1" dirty="0" smtClean="0">
                <a:solidFill>
                  <a:srgbClr val="0000FF"/>
                </a:solidFill>
                <a:latin typeface="方正正粗黑简体" pitchFamily="2" charset="-122"/>
                <a:ea typeface="方正正粗黑简体" pitchFamily="2" charset="-122"/>
              </a:rPr>
              <a:t>    一个操作循环所用的时间。</a:t>
            </a:r>
          </a:p>
          <a:p>
            <a:pPr>
              <a:lnSpc>
                <a:spcPts val="2200"/>
              </a:lnSpc>
            </a:pPr>
            <a:r>
              <a:rPr lang="en-US" altLang="zh-CN" b="1" dirty="0" smtClean="0">
                <a:solidFill>
                  <a:srgbClr val="0000FF"/>
                </a:solidFill>
                <a:latin typeface="方正正粗黑简体" pitchFamily="2" charset="-122"/>
                <a:ea typeface="方正正粗黑简体" pitchFamily="2" charset="-122"/>
              </a:rPr>
              <a:t>9</a:t>
            </a:r>
            <a:r>
              <a:rPr lang="zh-CN" altLang="en-US" b="1" dirty="0" smtClean="0">
                <a:solidFill>
                  <a:srgbClr val="0000FF"/>
                </a:solidFill>
                <a:latin typeface="方正正粗黑简体" pitchFamily="2" charset="-122"/>
                <a:ea typeface="方正正粗黑简体" pitchFamily="2" charset="-122"/>
              </a:rPr>
              <a:t>．进料压力 </a:t>
            </a:r>
          </a:p>
          <a:p>
            <a:pPr>
              <a:lnSpc>
                <a:spcPts val="2200"/>
              </a:lnSpc>
            </a:pPr>
            <a:r>
              <a:rPr lang="zh-CN" altLang="en-US" b="1" dirty="0" smtClean="0">
                <a:solidFill>
                  <a:srgbClr val="0000FF"/>
                </a:solidFill>
                <a:latin typeface="方正正粗黑简体" pitchFamily="2" charset="-122"/>
                <a:ea typeface="方正正粗黑简体" pitchFamily="2" charset="-122"/>
              </a:rPr>
              <a:t>物料在进口处的压力。</a:t>
            </a:r>
            <a:endParaRPr lang="zh-CN" altLang="en-US" b="1" dirty="0">
              <a:solidFill>
                <a:srgbClr val="0000FF"/>
              </a:solidFill>
              <a:latin typeface="方正正粗黑简体" pitchFamily="2" charset="-122"/>
              <a:ea typeface="方正正粗黑简体" pitchFamily="2" charset="-122"/>
            </a:endParaRPr>
          </a:p>
        </p:txBody>
      </p:sp>
      <p:sp>
        <p:nvSpPr>
          <p:cNvPr id="4" name="矩形 3"/>
          <p:cNvSpPr/>
          <p:nvPr/>
        </p:nvSpPr>
        <p:spPr>
          <a:xfrm>
            <a:off x="611188" y="549275"/>
            <a:ext cx="1939955"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超粗黑简体" pitchFamily="65" charset="-122"/>
                <a:ea typeface="方正超粗黑简体" pitchFamily="65" charset="-122"/>
              </a:rPr>
              <a:t>基本名词术语： </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052512"/>
            <a:ext cx="7921625" cy="5329237"/>
          </a:xfrm>
          <a:prstGeom prst="rect">
            <a:avLst/>
          </a:prstGeom>
        </p:spPr>
        <p:txBody>
          <a:bodyPr wrap="square">
            <a:spAutoFit/>
          </a:bodyPr>
          <a:lstStyle/>
          <a:p>
            <a:pPr>
              <a:lnSpc>
                <a:spcPts val="2500"/>
              </a:lnSpc>
            </a:pPr>
            <a:r>
              <a:rPr lang="en-US" altLang="zh-CN" b="1" dirty="0" smtClean="0">
                <a:solidFill>
                  <a:srgbClr val="0000FF"/>
                </a:solidFill>
                <a:latin typeface="方正正粗黑简体" pitchFamily="2" charset="-122"/>
                <a:ea typeface="方正正粗黑简体" pitchFamily="2" charset="-122"/>
              </a:rPr>
              <a:t>10</a:t>
            </a:r>
            <a:r>
              <a:rPr lang="zh-CN" altLang="en-US" b="1" dirty="0" smtClean="0">
                <a:solidFill>
                  <a:srgbClr val="0000FF"/>
                </a:solidFill>
                <a:latin typeface="方正正粗黑简体" pitchFamily="2" charset="-122"/>
                <a:ea typeface="方正正粗黑简体" pitchFamily="2" charset="-122"/>
              </a:rPr>
              <a:t>．洗涤压力</a:t>
            </a:r>
          </a:p>
          <a:p>
            <a:pPr>
              <a:lnSpc>
                <a:spcPts val="2500"/>
              </a:lnSpc>
            </a:pPr>
            <a:r>
              <a:rPr lang="zh-CN" altLang="en-US" b="1" dirty="0" smtClean="0">
                <a:solidFill>
                  <a:srgbClr val="0000FF"/>
                </a:solidFill>
                <a:latin typeface="方正正粗黑简体" pitchFamily="2" charset="-122"/>
                <a:ea typeface="方正正粗黑简体" pitchFamily="2" charset="-122"/>
              </a:rPr>
              <a:t>滤饼洗涤时，洗涤介质输入的压力。</a:t>
            </a:r>
          </a:p>
          <a:p>
            <a:pPr>
              <a:lnSpc>
                <a:spcPts val="2500"/>
              </a:lnSpc>
            </a:pPr>
            <a:r>
              <a:rPr lang="en-US" altLang="zh-CN" b="1" dirty="0" smtClean="0">
                <a:solidFill>
                  <a:srgbClr val="0000FF"/>
                </a:solidFill>
                <a:latin typeface="方正正粗黑简体" pitchFamily="2" charset="-122"/>
                <a:ea typeface="方正正粗黑简体" pitchFamily="2" charset="-122"/>
              </a:rPr>
              <a:t>11</a:t>
            </a:r>
            <a:r>
              <a:rPr lang="zh-CN" altLang="en-US" b="1" dirty="0" smtClean="0">
                <a:solidFill>
                  <a:srgbClr val="0000FF"/>
                </a:solidFill>
                <a:latin typeface="方正正粗黑简体" pitchFamily="2" charset="-122"/>
                <a:ea typeface="方正正粗黑简体" pitchFamily="2" charset="-122"/>
              </a:rPr>
              <a:t>．隔膜压榨压力</a:t>
            </a:r>
          </a:p>
          <a:p>
            <a:pPr>
              <a:lnSpc>
                <a:spcPts val="2500"/>
              </a:lnSpc>
            </a:pPr>
            <a:r>
              <a:rPr lang="zh-CN" altLang="en-US" b="1" dirty="0" smtClean="0">
                <a:solidFill>
                  <a:srgbClr val="0000FF"/>
                </a:solidFill>
                <a:latin typeface="方正正粗黑简体" pitchFamily="2" charset="-122"/>
                <a:ea typeface="方正正粗黑简体" pitchFamily="2" charset="-122"/>
              </a:rPr>
              <a:t>在隔膜后，压入压榨介质形成的挤压压力。</a:t>
            </a:r>
          </a:p>
          <a:p>
            <a:pPr>
              <a:lnSpc>
                <a:spcPts val="2500"/>
              </a:lnSpc>
            </a:pPr>
            <a:r>
              <a:rPr lang="en-US" altLang="zh-CN" b="1" dirty="0" smtClean="0">
                <a:solidFill>
                  <a:srgbClr val="0000FF"/>
                </a:solidFill>
                <a:latin typeface="方正正粗黑简体" pitchFamily="2" charset="-122"/>
                <a:ea typeface="方正正粗黑简体" pitchFamily="2" charset="-122"/>
              </a:rPr>
              <a:t>12</a:t>
            </a:r>
            <a:r>
              <a:rPr lang="zh-CN" altLang="en-US" b="1" dirty="0" smtClean="0">
                <a:solidFill>
                  <a:srgbClr val="0000FF"/>
                </a:solidFill>
                <a:latin typeface="方正正粗黑简体" pitchFamily="2" charset="-122"/>
                <a:ea typeface="方正正粗黑简体" pitchFamily="2" charset="-122"/>
              </a:rPr>
              <a:t>．吹风压力</a:t>
            </a:r>
          </a:p>
          <a:p>
            <a:pPr>
              <a:lnSpc>
                <a:spcPts val="2500"/>
              </a:lnSpc>
            </a:pPr>
            <a:r>
              <a:rPr lang="zh-CN" altLang="en-US" b="1" dirty="0" smtClean="0">
                <a:solidFill>
                  <a:srgbClr val="0000FF"/>
                </a:solidFill>
                <a:latin typeface="方正正粗黑简体" pitchFamily="2" charset="-122"/>
                <a:ea typeface="方正正粗黑简体" pitchFamily="2" charset="-122"/>
              </a:rPr>
              <a:t>    滤饼风干时，高压风的输入压力。</a:t>
            </a:r>
          </a:p>
          <a:p>
            <a:pPr>
              <a:lnSpc>
                <a:spcPts val="2500"/>
              </a:lnSpc>
            </a:pPr>
            <a:r>
              <a:rPr lang="en-US" altLang="zh-CN" b="1" dirty="0" smtClean="0">
                <a:solidFill>
                  <a:srgbClr val="0000FF"/>
                </a:solidFill>
                <a:latin typeface="方正正粗黑简体" pitchFamily="2" charset="-122"/>
                <a:ea typeface="方正正粗黑简体" pitchFamily="2" charset="-122"/>
              </a:rPr>
              <a:t>13</a:t>
            </a:r>
            <a:r>
              <a:rPr lang="zh-CN" altLang="en-US" b="1" dirty="0" smtClean="0">
                <a:solidFill>
                  <a:srgbClr val="0000FF"/>
                </a:solidFill>
                <a:latin typeface="方正正粗黑简体" pitchFamily="2" charset="-122"/>
                <a:ea typeface="方正正粗黑简体" pitchFamily="2" charset="-122"/>
              </a:rPr>
              <a:t>．滤饼厚度 </a:t>
            </a:r>
          </a:p>
          <a:p>
            <a:pPr>
              <a:lnSpc>
                <a:spcPts val="2500"/>
              </a:lnSpc>
            </a:pPr>
            <a:r>
              <a:rPr lang="zh-CN" altLang="en-US" b="1" dirty="0" smtClean="0">
                <a:solidFill>
                  <a:srgbClr val="0000FF"/>
                </a:solidFill>
                <a:latin typeface="方正正粗黑简体" pitchFamily="2" charset="-122"/>
                <a:ea typeface="方正正粗黑简体" pitchFamily="2" charset="-122"/>
              </a:rPr>
              <a:t>    过滤面上滤饼的厚度。</a:t>
            </a:r>
          </a:p>
          <a:p>
            <a:pPr>
              <a:lnSpc>
                <a:spcPts val="2500"/>
              </a:lnSpc>
            </a:pPr>
            <a:r>
              <a:rPr lang="en-US" altLang="zh-CN" b="1" dirty="0" smtClean="0">
                <a:solidFill>
                  <a:srgbClr val="0000FF"/>
                </a:solidFill>
                <a:latin typeface="方正正粗黑简体" pitchFamily="2" charset="-122"/>
                <a:ea typeface="方正正粗黑简体" pitchFamily="2" charset="-122"/>
              </a:rPr>
              <a:t>14</a:t>
            </a:r>
            <a:r>
              <a:rPr lang="zh-CN" altLang="en-US" b="1" dirty="0" smtClean="0">
                <a:solidFill>
                  <a:srgbClr val="0000FF"/>
                </a:solidFill>
                <a:latin typeface="方正正粗黑简体" pitchFamily="2" charset="-122"/>
                <a:ea typeface="方正正粗黑简体" pitchFamily="2" charset="-122"/>
              </a:rPr>
              <a:t>．明流 </a:t>
            </a:r>
          </a:p>
          <a:p>
            <a:pPr>
              <a:lnSpc>
                <a:spcPts val="2500"/>
              </a:lnSpc>
            </a:pPr>
            <a:r>
              <a:rPr lang="zh-CN" altLang="en-US" b="1" dirty="0" smtClean="0">
                <a:solidFill>
                  <a:srgbClr val="0000FF"/>
                </a:solidFill>
                <a:latin typeface="方正正粗黑简体" pitchFamily="2" charset="-122"/>
                <a:ea typeface="方正正粗黑简体" pitchFamily="2" charset="-122"/>
              </a:rPr>
              <a:t>板框压滤机或厢式压滤机每块滤板过滤出的滤液各自直接排出机外的结构</a:t>
            </a:r>
          </a:p>
          <a:p>
            <a:pPr>
              <a:lnSpc>
                <a:spcPts val="2500"/>
              </a:lnSpc>
            </a:pPr>
            <a:r>
              <a:rPr lang="en-US" altLang="zh-CN" b="1" dirty="0" smtClean="0">
                <a:solidFill>
                  <a:srgbClr val="0000FF"/>
                </a:solidFill>
                <a:latin typeface="方正正粗黑简体" pitchFamily="2" charset="-122"/>
                <a:ea typeface="方正正粗黑简体" pitchFamily="2" charset="-122"/>
              </a:rPr>
              <a:t>15</a:t>
            </a:r>
            <a:r>
              <a:rPr lang="zh-CN" altLang="en-US" b="1" dirty="0" smtClean="0">
                <a:solidFill>
                  <a:srgbClr val="0000FF"/>
                </a:solidFill>
                <a:latin typeface="方正正粗黑简体" pitchFamily="2" charset="-122"/>
                <a:ea typeface="方正正粗黑简体" pitchFamily="2" charset="-122"/>
              </a:rPr>
              <a:t>．明流单向洗涤 </a:t>
            </a:r>
          </a:p>
          <a:p>
            <a:pPr>
              <a:lnSpc>
                <a:spcPts val="2500"/>
              </a:lnSpc>
            </a:pPr>
            <a:r>
              <a:rPr lang="zh-CN" altLang="en-US" b="1" dirty="0" smtClean="0">
                <a:solidFill>
                  <a:srgbClr val="0000FF"/>
                </a:solidFill>
                <a:latin typeface="方正正粗黑简体" pitchFamily="2" charset="-122"/>
                <a:ea typeface="方正正粗黑简体" pitchFamily="2" charset="-122"/>
              </a:rPr>
              <a:t>压滤机中只有一个洗涤通道，洗涤通道从每块滤板进洗涤液，洗涤后的洗涤液由每块滤板直接排出机外的结构。</a:t>
            </a:r>
          </a:p>
          <a:p>
            <a:pPr>
              <a:lnSpc>
                <a:spcPts val="2500"/>
              </a:lnSpc>
            </a:pPr>
            <a:r>
              <a:rPr lang="en-US" altLang="zh-CN" b="1" dirty="0" smtClean="0">
                <a:solidFill>
                  <a:srgbClr val="0000FF"/>
                </a:solidFill>
                <a:latin typeface="方正正粗黑简体" pitchFamily="2" charset="-122"/>
                <a:ea typeface="方正正粗黑简体" pitchFamily="2" charset="-122"/>
              </a:rPr>
              <a:t>16</a:t>
            </a:r>
            <a:r>
              <a:rPr lang="zh-CN" altLang="en-US" b="1" dirty="0" smtClean="0">
                <a:solidFill>
                  <a:srgbClr val="0000FF"/>
                </a:solidFill>
                <a:latin typeface="方正正粗黑简体" pitchFamily="2" charset="-122"/>
                <a:ea typeface="方正正粗黑简体" pitchFamily="2" charset="-122"/>
              </a:rPr>
              <a:t>．明流双向洗涤 </a:t>
            </a:r>
          </a:p>
          <a:p>
            <a:pPr>
              <a:lnSpc>
                <a:spcPts val="2500"/>
              </a:lnSpc>
            </a:pPr>
            <a:r>
              <a:rPr lang="zh-CN" altLang="en-US" b="1" dirty="0" smtClean="0">
                <a:solidFill>
                  <a:srgbClr val="0000FF"/>
                </a:solidFill>
                <a:latin typeface="方正正粗黑简体" pitchFamily="2" charset="-122"/>
                <a:ea typeface="方正正粗黑简体" pitchFamily="2" charset="-122"/>
              </a:rPr>
              <a:t>压滤机中有两个洗涤通道，两个洗涤通道从奇数板进洗涤液，洗涤后的洗涤液由偶数板直接排出机外的洗涤结构。</a:t>
            </a:r>
          </a:p>
        </p:txBody>
      </p:sp>
      <p:sp>
        <p:nvSpPr>
          <p:cNvPr id="3" name="矩形 2"/>
          <p:cNvSpPr/>
          <p:nvPr/>
        </p:nvSpPr>
        <p:spPr>
          <a:xfrm>
            <a:off x="611188" y="549275"/>
            <a:ext cx="1939955"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超粗黑简体" pitchFamily="65" charset="-122"/>
                <a:ea typeface="方正超粗黑简体" pitchFamily="65" charset="-122"/>
              </a:rPr>
              <a:t>基本名词术语： </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052512"/>
            <a:ext cx="7921624" cy="5531643"/>
          </a:xfrm>
          <a:prstGeom prst="rect">
            <a:avLst/>
          </a:prstGeom>
        </p:spPr>
        <p:txBody>
          <a:bodyPr wrap="square">
            <a:spAutoFit/>
          </a:bodyPr>
          <a:lstStyle/>
          <a:p>
            <a:pPr>
              <a:lnSpc>
                <a:spcPts val="2500"/>
              </a:lnSpc>
            </a:pPr>
            <a:r>
              <a:rPr lang="en-US" altLang="zh-CN" b="1" dirty="0" smtClean="0">
                <a:solidFill>
                  <a:srgbClr val="0000FF"/>
                </a:solidFill>
                <a:latin typeface="方正正粗黑简体" pitchFamily="2" charset="-122"/>
                <a:ea typeface="方正正粗黑简体" pitchFamily="2" charset="-122"/>
              </a:rPr>
              <a:t>17</a:t>
            </a:r>
            <a:r>
              <a:rPr lang="zh-CN" altLang="en-US" b="1" dirty="0" smtClean="0">
                <a:solidFill>
                  <a:srgbClr val="0000FF"/>
                </a:solidFill>
                <a:latin typeface="方正正粗黑简体" pitchFamily="2" charset="-122"/>
                <a:ea typeface="方正正粗黑简体" pitchFamily="2" charset="-122"/>
              </a:rPr>
              <a:t>．明流交叉洗涤 </a:t>
            </a:r>
          </a:p>
          <a:p>
            <a:pPr>
              <a:lnSpc>
                <a:spcPts val="2500"/>
              </a:lnSpc>
            </a:pPr>
            <a:r>
              <a:rPr lang="zh-CN" altLang="en-US" b="1" dirty="0" smtClean="0">
                <a:solidFill>
                  <a:srgbClr val="0000FF"/>
                </a:solidFill>
                <a:latin typeface="方正正粗黑简体" pitchFamily="2" charset="-122"/>
                <a:ea typeface="方正正粗黑简体" pitchFamily="2" charset="-122"/>
              </a:rPr>
              <a:t>    压滤机中有两个洗涤通道，一个洗涤通道从奇数板进洗涤液洗涤，洗涤后的洗涤液由偶数板直接排除</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另一个洗涤通道从偶数板进洗涤液洗涤，洗涤后的洗涤液由奇数板直接排出机外的洗涤结构。</a:t>
            </a:r>
          </a:p>
          <a:p>
            <a:pPr>
              <a:lnSpc>
                <a:spcPts val="2500"/>
              </a:lnSpc>
            </a:pPr>
            <a:r>
              <a:rPr lang="en-US" altLang="zh-CN" b="1" dirty="0" smtClean="0">
                <a:solidFill>
                  <a:srgbClr val="0000FF"/>
                </a:solidFill>
                <a:latin typeface="方正正粗黑简体" pitchFamily="2" charset="-122"/>
                <a:ea typeface="方正正粗黑简体" pitchFamily="2" charset="-122"/>
              </a:rPr>
              <a:t>18</a:t>
            </a:r>
            <a:r>
              <a:rPr lang="zh-CN" altLang="en-US" b="1" dirty="0" smtClean="0">
                <a:solidFill>
                  <a:srgbClr val="0000FF"/>
                </a:solidFill>
                <a:latin typeface="方正正粗黑简体" pitchFamily="2" charset="-122"/>
                <a:ea typeface="方正正粗黑简体" pitchFamily="2" charset="-122"/>
              </a:rPr>
              <a:t>．暗流式 </a:t>
            </a:r>
          </a:p>
          <a:p>
            <a:pPr>
              <a:lnSpc>
                <a:spcPts val="2500"/>
              </a:lnSpc>
            </a:pPr>
            <a:r>
              <a:rPr lang="zh-CN" altLang="en-US" b="1" dirty="0" smtClean="0">
                <a:solidFill>
                  <a:srgbClr val="0000FF"/>
                </a:solidFill>
                <a:latin typeface="方正正粗黑简体" pitchFamily="2" charset="-122"/>
                <a:ea typeface="方正正粗黑简体" pitchFamily="2" charset="-122"/>
              </a:rPr>
              <a:t>    板框压滤机或厢式压滤机每块滤板滤出的滤液在机内通道汇集后排出的结构。</a:t>
            </a:r>
            <a:endParaRPr lang="en-US" altLang="zh-CN" b="1" dirty="0" smtClean="0">
              <a:solidFill>
                <a:srgbClr val="0000FF"/>
              </a:solidFill>
              <a:latin typeface="方正正粗黑简体" pitchFamily="2" charset="-122"/>
              <a:ea typeface="方正正粗黑简体" pitchFamily="2" charset="-122"/>
            </a:endParaRPr>
          </a:p>
          <a:p>
            <a:pPr>
              <a:lnSpc>
                <a:spcPts val="2500"/>
              </a:lnSpc>
            </a:pPr>
            <a:r>
              <a:rPr lang="en-US" altLang="zh-CN" b="1" dirty="0" smtClean="0">
                <a:solidFill>
                  <a:srgbClr val="0000FF"/>
                </a:solidFill>
                <a:latin typeface="方正正粗黑简体" pitchFamily="2" charset="-122"/>
                <a:ea typeface="方正正粗黑简体" pitchFamily="2" charset="-122"/>
              </a:rPr>
              <a:t>19</a:t>
            </a:r>
            <a:r>
              <a:rPr lang="zh-CN" altLang="en-US" b="1" dirty="0" smtClean="0">
                <a:solidFill>
                  <a:srgbClr val="0000FF"/>
                </a:solidFill>
                <a:latin typeface="方正正粗黑简体" pitchFamily="2" charset="-122"/>
                <a:ea typeface="方正正粗黑简体" pitchFamily="2" charset="-122"/>
              </a:rPr>
              <a:t>．暗流单向洗涤 </a:t>
            </a:r>
          </a:p>
          <a:p>
            <a:pPr>
              <a:lnSpc>
                <a:spcPts val="2500"/>
              </a:lnSpc>
            </a:pPr>
            <a:r>
              <a:rPr lang="zh-CN" altLang="en-US" b="1" dirty="0" smtClean="0">
                <a:solidFill>
                  <a:srgbClr val="0000FF"/>
                </a:solidFill>
                <a:latin typeface="方正正粗黑简体" pitchFamily="2" charset="-122"/>
                <a:ea typeface="方正正粗黑简体" pitchFamily="2" charset="-122"/>
              </a:rPr>
              <a:t>    压滤机中只有一个洗涤通道，洗涤通道从每块滤板进洗涤液，洗涤后的洗涤液由机内通道汇集后排出机外的洗涤结构。</a:t>
            </a:r>
          </a:p>
          <a:p>
            <a:pPr>
              <a:lnSpc>
                <a:spcPts val="2500"/>
              </a:lnSpc>
            </a:pPr>
            <a:r>
              <a:rPr lang="en-US" altLang="zh-CN" b="1" dirty="0" smtClean="0">
                <a:solidFill>
                  <a:srgbClr val="0000FF"/>
                </a:solidFill>
                <a:latin typeface="方正正粗黑简体" pitchFamily="2" charset="-122"/>
                <a:ea typeface="方正正粗黑简体" pitchFamily="2" charset="-122"/>
              </a:rPr>
              <a:t>20</a:t>
            </a:r>
            <a:r>
              <a:rPr lang="zh-CN" altLang="en-US" b="1" dirty="0" smtClean="0">
                <a:solidFill>
                  <a:srgbClr val="0000FF"/>
                </a:solidFill>
                <a:latin typeface="方正正粗黑简体" pitchFamily="2" charset="-122"/>
                <a:ea typeface="方正正粗黑简体" pitchFamily="2" charset="-122"/>
              </a:rPr>
              <a:t>．暗流双向洗涤 </a:t>
            </a:r>
          </a:p>
          <a:p>
            <a:pPr>
              <a:lnSpc>
                <a:spcPts val="2500"/>
              </a:lnSpc>
            </a:pPr>
            <a:r>
              <a:rPr lang="zh-CN" altLang="en-US" b="1" dirty="0" smtClean="0">
                <a:solidFill>
                  <a:srgbClr val="0000FF"/>
                </a:solidFill>
                <a:latin typeface="方正正粗黑简体" pitchFamily="2" charset="-122"/>
                <a:ea typeface="方正正粗黑简体" pitchFamily="2" charset="-122"/>
              </a:rPr>
              <a:t>    压滤机中有两个洗涤通道，两个洗涤通道从奇数板进洗涤液洗涤，洗涤后的洗涤液由偶数板进入机内通道汇集后排出机外的洗涤结构。</a:t>
            </a:r>
          </a:p>
          <a:p>
            <a:pPr>
              <a:lnSpc>
                <a:spcPts val="2500"/>
              </a:lnSpc>
            </a:pPr>
            <a:r>
              <a:rPr lang="en-US" altLang="zh-CN" b="1" dirty="0" smtClean="0">
                <a:solidFill>
                  <a:srgbClr val="0000FF"/>
                </a:solidFill>
                <a:latin typeface="方正正粗黑简体" pitchFamily="2" charset="-122"/>
                <a:ea typeface="方正正粗黑简体" pitchFamily="2" charset="-122"/>
              </a:rPr>
              <a:t>21</a:t>
            </a:r>
            <a:r>
              <a:rPr lang="zh-CN" altLang="en-US" b="1" dirty="0" smtClean="0">
                <a:solidFill>
                  <a:srgbClr val="0000FF"/>
                </a:solidFill>
                <a:latin typeface="方正正粗黑简体" pitchFamily="2" charset="-122"/>
                <a:ea typeface="方正正粗黑简体" pitchFamily="2" charset="-122"/>
              </a:rPr>
              <a:t>．暗流交叉洗涤 </a:t>
            </a:r>
          </a:p>
          <a:p>
            <a:pPr>
              <a:lnSpc>
                <a:spcPts val="2500"/>
              </a:lnSpc>
            </a:pPr>
            <a:r>
              <a:rPr lang="zh-CN" altLang="en-US" b="1" dirty="0" smtClean="0">
                <a:solidFill>
                  <a:srgbClr val="0000FF"/>
                </a:solidFill>
                <a:latin typeface="方正正粗黑简体" pitchFamily="2" charset="-122"/>
                <a:ea typeface="方正正粗黑简体" pitchFamily="2" charset="-122"/>
              </a:rPr>
              <a:t>    压滤机中有两个洗涤通道，一个洗涤通道从奇数板进洗涤液洗涤，洗涤后的洗涤液由偶数板进入机内通道汇集后排出</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另一个洗涤通道从偶数板进洗涤液洗涤，洗涤后的洗涤液由奇数板进入机内通道汇集后排出机外的洗涤结构。</a:t>
            </a:r>
            <a:endParaRPr lang="zh-CN" altLang="en-US" b="1" dirty="0">
              <a:solidFill>
                <a:srgbClr val="0000FF"/>
              </a:solidFill>
              <a:latin typeface="方正正粗黑简体" pitchFamily="2" charset="-122"/>
              <a:ea typeface="方正正粗黑简体" pitchFamily="2" charset="-122"/>
            </a:endParaRPr>
          </a:p>
        </p:txBody>
      </p:sp>
      <p:sp>
        <p:nvSpPr>
          <p:cNvPr id="3" name="矩形 2"/>
          <p:cNvSpPr/>
          <p:nvPr/>
        </p:nvSpPr>
        <p:spPr>
          <a:xfrm>
            <a:off x="611188" y="549275"/>
            <a:ext cx="1939955"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超粗黑简体" pitchFamily="65" charset="-122"/>
                <a:ea typeface="方正超粗黑简体" pitchFamily="65" charset="-122"/>
              </a:rPr>
              <a:t>基本名词术语： </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052513"/>
            <a:ext cx="7921624" cy="5316840"/>
          </a:xfrm>
          <a:prstGeom prst="rect">
            <a:avLst/>
          </a:prstGeom>
        </p:spPr>
        <p:txBody>
          <a:bodyPr wrap="square">
            <a:spAutoFit/>
          </a:bodyPr>
          <a:lstStyle/>
          <a:p>
            <a:pPr>
              <a:lnSpc>
                <a:spcPts val="2400"/>
              </a:lnSpc>
            </a:pPr>
            <a:r>
              <a:rPr lang="en-US" altLang="zh-CN" b="1" dirty="0" smtClean="0">
                <a:solidFill>
                  <a:srgbClr val="0000FF"/>
                </a:solidFill>
                <a:latin typeface="方正正粗黑简体" pitchFamily="2" charset="-122"/>
                <a:ea typeface="方正正粗黑简体" pitchFamily="2" charset="-122"/>
              </a:rPr>
              <a:t>22</a:t>
            </a:r>
            <a:r>
              <a:rPr lang="zh-CN" altLang="en-US" b="1" dirty="0" smtClean="0">
                <a:solidFill>
                  <a:srgbClr val="0000FF"/>
                </a:solidFill>
                <a:latin typeface="方正正粗黑简体" pitchFamily="2" charset="-122"/>
                <a:ea typeface="方正正粗黑简体" pitchFamily="2" charset="-122"/>
              </a:rPr>
              <a:t>．滤板手动压紧 </a:t>
            </a:r>
          </a:p>
          <a:p>
            <a:pPr>
              <a:lnSpc>
                <a:spcPts val="2400"/>
              </a:lnSpc>
            </a:pPr>
            <a:r>
              <a:rPr lang="zh-CN" altLang="en-US" b="1" dirty="0" smtClean="0">
                <a:solidFill>
                  <a:srgbClr val="0000FF"/>
                </a:solidFill>
                <a:latin typeface="方正正粗黑简体" pitchFamily="2" charset="-122"/>
                <a:ea typeface="方正正粗黑简体" pitchFamily="2" charset="-122"/>
              </a:rPr>
              <a:t>    板框</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或厢式</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压滤机的滤板、过滤介质和滤框用人力通过丝杠压紧。</a:t>
            </a:r>
          </a:p>
          <a:p>
            <a:pPr>
              <a:lnSpc>
                <a:spcPts val="2400"/>
              </a:lnSpc>
            </a:pPr>
            <a:r>
              <a:rPr lang="en-US" altLang="zh-CN" b="1" dirty="0" smtClean="0">
                <a:solidFill>
                  <a:srgbClr val="0000FF"/>
                </a:solidFill>
                <a:latin typeface="方正正粗黑简体" pitchFamily="2" charset="-122"/>
                <a:ea typeface="方正正粗黑简体" pitchFamily="2" charset="-122"/>
              </a:rPr>
              <a:t>23</a:t>
            </a:r>
            <a:r>
              <a:rPr lang="zh-CN" altLang="en-US" b="1" dirty="0" smtClean="0">
                <a:solidFill>
                  <a:srgbClr val="0000FF"/>
                </a:solidFill>
                <a:latin typeface="方正正粗黑简体" pitchFamily="2" charset="-122"/>
                <a:ea typeface="方正正粗黑简体" pitchFamily="2" charset="-122"/>
              </a:rPr>
              <a:t>．滤板机械压紧 </a:t>
            </a:r>
          </a:p>
          <a:p>
            <a:pPr>
              <a:lnSpc>
                <a:spcPts val="2400"/>
              </a:lnSpc>
            </a:pPr>
            <a:r>
              <a:rPr lang="zh-CN" altLang="en-US" b="1" dirty="0" smtClean="0">
                <a:solidFill>
                  <a:srgbClr val="0000FF"/>
                </a:solidFill>
                <a:latin typeface="方正正粗黑简体" pitchFamily="2" charset="-122"/>
                <a:ea typeface="方正正粗黑简体" pitchFamily="2" charset="-122"/>
              </a:rPr>
              <a:t>    板框</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或厢式</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压滤机滤板、过滤介质和滤框用电动机驱动的机械装置压紧。</a:t>
            </a:r>
          </a:p>
          <a:p>
            <a:pPr>
              <a:lnSpc>
                <a:spcPts val="2400"/>
              </a:lnSpc>
            </a:pPr>
            <a:r>
              <a:rPr lang="en-US" altLang="zh-CN" b="1" dirty="0" smtClean="0">
                <a:solidFill>
                  <a:srgbClr val="0000FF"/>
                </a:solidFill>
                <a:latin typeface="方正正粗黑简体" pitchFamily="2" charset="-122"/>
                <a:ea typeface="方正正粗黑简体" pitchFamily="2" charset="-122"/>
              </a:rPr>
              <a:t>24</a:t>
            </a:r>
            <a:r>
              <a:rPr lang="zh-CN" altLang="en-US" b="1" dirty="0" smtClean="0">
                <a:solidFill>
                  <a:srgbClr val="0000FF"/>
                </a:solidFill>
                <a:latin typeface="方正正粗黑简体" pitchFamily="2" charset="-122"/>
                <a:ea typeface="方正正粗黑简体" pitchFamily="2" charset="-122"/>
              </a:rPr>
              <a:t>．滤板液压压紧 </a:t>
            </a:r>
          </a:p>
          <a:p>
            <a:pPr>
              <a:lnSpc>
                <a:spcPts val="2400"/>
              </a:lnSpc>
            </a:pPr>
            <a:r>
              <a:rPr lang="zh-CN" altLang="en-US" b="1" dirty="0" smtClean="0">
                <a:solidFill>
                  <a:srgbClr val="0000FF"/>
                </a:solidFill>
                <a:latin typeface="方正正粗黑简体" pitchFamily="2" charset="-122"/>
                <a:ea typeface="方正正粗黑简体" pitchFamily="2" charset="-122"/>
              </a:rPr>
              <a:t>    板框</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或厢式</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压滤机滤板、过滤介质和滤框用液压装置压紧。</a:t>
            </a:r>
          </a:p>
          <a:p>
            <a:pPr>
              <a:lnSpc>
                <a:spcPts val="2400"/>
              </a:lnSpc>
            </a:pPr>
            <a:r>
              <a:rPr lang="en-US" altLang="zh-CN" b="1" dirty="0" smtClean="0">
                <a:solidFill>
                  <a:srgbClr val="0000FF"/>
                </a:solidFill>
                <a:latin typeface="方正正粗黑简体" pitchFamily="2" charset="-122"/>
                <a:ea typeface="方正正粗黑简体" pitchFamily="2" charset="-122"/>
              </a:rPr>
              <a:t>25</a:t>
            </a:r>
            <a:r>
              <a:rPr lang="zh-CN" altLang="en-US" b="1" dirty="0" smtClean="0">
                <a:solidFill>
                  <a:srgbClr val="0000FF"/>
                </a:solidFill>
                <a:latin typeface="方正正粗黑简体" pitchFamily="2" charset="-122"/>
                <a:ea typeface="方正正粗黑简体" pitchFamily="2" charset="-122"/>
              </a:rPr>
              <a:t>．悬挂式 </a:t>
            </a:r>
          </a:p>
          <a:p>
            <a:pPr>
              <a:lnSpc>
                <a:spcPts val="2400"/>
              </a:lnSpc>
            </a:pPr>
            <a:r>
              <a:rPr lang="zh-CN" altLang="en-US" b="1" dirty="0" smtClean="0">
                <a:solidFill>
                  <a:srgbClr val="0000FF"/>
                </a:solidFill>
                <a:latin typeface="方正正粗黑简体" pitchFamily="2" charset="-122"/>
                <a:ea typeface="方正正粗黑简体" pitchFamily="2" charset="-122"/>
              </a:rPr>
              <a:t>    压滤机的滤板悬挂在上部横梁上的结构形式。</a:t>
            </a:r>
          </a:p>
          <a:p>
            <a:pPr>
              <a:lnSpc>
                <a:spcPts val="2400"/>
              </a:lnSpc>
            </a:pPr>
            <a:r>
              <a:rPr lang="en-US" altLang="zh-CN" b="1" dirty="0" smtClean="0">
                <a:solidFill>
                  <a:srgbClr val="0000FF"/>
                </a:solidFill>
                <a:latin typeface="方正正粗黑简体" pitchFamily="2" charset="-122"/>
                <a:ea typeface="方正正粗黑简体" pitchFamily="2" charset="-122"/>
              </a:rPr>
              <a:t>26</a:t>
            </a:r>
            <a:r>
              <a:rPr lang="zh-CN" altLang="en-US" b="1" dirty="0" smtClean="0">
                <a:solidFill>
                  <a:srgbClr val="0000FF"/>
                </a:solidFill>
                <a:latin typeface="方正正粗黑简体" pitchFamily="2" charset="-122"/>
                <a:ea typeface="方正正粗黑简体" pitchFamily="2" charset="-122"/>
              </a:rPr>
              <a:t>．侧梁式 </a:t>
            </a:r>
          </a:p>
          <a:p>
            <a:pPr>
              <a:lnSpc>
                <a:spcPts val="2400"/>
              </a:lnSpc>
            </a:pPr>
            <a:r>
              <a:rPr lang="zh-CN" altLang="en-US" b="1" dirty="0" smtClean="0">
                <a:solidFill>
                  <a:srgbClr val="0000FF"/>
                </a:solidFill>
                <a:latin typeface="方正正粗黑简体" pitchFamily="2" charset="-122"/>
                <a:ea typeface="方正正粗黑简体" pitchFamily="2" charset="-122"/>
              </a:rPr>
              <a:t>    板框</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或厢式</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压滤机的滤板和滤框支承在压滤机两侧的两横梁上的结构形式。</a:t>
            </a:r>
          </a:p>
          <a:p>
            <a:pPr>
              <a:lnSpc>
                <a:spcPts val="2400"/>
              </a:lnSpc>
            </a:pPr>
            <a:r>
              <a:rPr lang="en-US" altLang="zh-CN" b="1" dirty="0" smtClean="0">
                <a:solidFill>
                  <a:srgbClr val="0000FF"/>
                </a:solidFill>
                <a:latin typeface="方正正粗黑简体" pitchFamily="2" charset="-122"/>
                <a:ea typeface="方正正粗黑简体" pitchFamily="2" charset="-122"/>
              </a:rPr>
              <a:t>27</a:t>
            </a:r>
            <a:r>
              <a:rPr lang="zh-CN" altLang="en-US" b="1" dirty="0" smtClean="0">
                <a:solidFill>
                  <a:srgbClr val="0000FF"/>
                </a:solidFill>
                <a:latin typeface="方正正粗黑简体" pitchFamily="2" charset="-122"/>
                <a:ea typeface="方正正粗黑简体" pitchFamily="2" charset="-122"/>
              </a:rPr>
              <a:t>．集液盘</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接液槽</a:t>
            </a:r>
            <a:r>
              <a:rPr lang="en-US" altLang="zh-CN" b="1" dirty="0" smtClean="0">
                <a:solidFill>
                  <a:srgbClr val="0000FF"/>
                </a:solidFill>
                <a:latin typeface="方正正粗黑简体" pitchFamily="2" charset="-122"/>
                <a:ea typeface="方正正粗黑简体" pitchFamily="2" charset="-122"/>
              </a:rPr>
              <a:t>) </a:t>
            </a:r>
          </a:p>
          <a:p>
            <a:pPr>
              <a:lnSpc>
                <a:spcPts val="2400"/>
              </a:lnSpc>
            </a:pPr>
            <a:r>
              <a:rPr lang="en-US" altLang="zh-CN" b="1" dirty="0" smtClean="0">
                <a:solidFill>
                  <a:srgbClr val="0000FF"/>
                </a:solidFill>
                <a:latin typeface="方正正粗黑简体" pitchFamily="2" charset="-122"/>
                <a:ea typeface="方正正粗黑简体" pitchFamily="2" charset="-122"/>
              </a:rPr>
              <a:t>    </a:t>
            </a:r>
            <a:r>
              <a:rPr lang="zh-CN" altLang="en-US" b="1" dirty="0" smtClean="0">
                <a:solidFill>
                  <a:srgbClr val="0000FF"/>
                </a:solidFill>
                <a:latin typeface="方正正粗黑简体" pitchFamily="2" charset="-122"/>
                <a:ea typeface="方正正粗黑简体" pitchFamily="2" charset="-122"/>
              </a:rPr>
              <a:t>压滤机中用于收集滤布毛细渗漏水或滤布冲洗水的盘式机构或小车。又称“接液槽”。</a:t>
            </a:r>
          </a:p>
          <a:p>
            <a:pPr>
              <a:lnSpc>
                <a:spcPts val="2400"/>
              </a:lnSpc>
            </a:pPr>
            <a:r>
              <a:rPr lang="en-US" altLang="zh-CN" b="1" dirty="0" smtClean="0">
                <a:solidFill>
                  <a:srgbClr val="0000FF"/>
                </a:solidFill>
                <a:latin typeface="方正正粗黑简体" pitchFamily="2" charset="-122"/>
                <a:ea typeface="方正正粗黑简体" pitchFamily="2" charset="-122"/>
              </a:rPr>
              <a:t>28</a:t>
            </a:r>
            <a:r>
              <a:rPr lang="zh-CN" altLang="en-US" b="1" dirty="0" smtClean="0">
                <a:solidFill>
                  <a:srgbClr val="0000FF"/>
                </a:solidFill>
                <a:latin typeface="方正正粗黑简体" pitchFamily="2" charset="-122"/>
                <a:ea typeface="方正正粗黑简体" pitchFamily="2" charset="-122"/>
              </a:rPr>
              <a:t>．翻板 </a:t>
            </a:r>
          </a:p>
          <a:p>
            <a:pPr>
              <a:lnSpc>
                <a:spcPts val="2400"/>
              </a:lnSpc>
            </a:pPr>
            <a:r>
              <a:rPr lang="zh-CN" altLang="en-US" b="1" dirty="0" smtClean="0">
                <a:solidFill>
                  <a:srgbClr val="0000FF"/>
                </a:solidFill>
                <a:latin typeface="方正正粗黑简体" pitchFamily="2" charset="-122"/>
                <a:ea typeface="方正正粗黑简体" pitchFamily="2" charset="-122"/>
              </a:rPr>
              <a:t>    安装于压滤机下部用于导流滤布毛细渗漏水或滤布冲洗水的可翻转板式结构。</a:t>
            </a:r>
          </a:p>
        </p:txBody>
      </p:sp>
      <p:sp>
        <p:nvSpPr>
          <p:cNvPr id="3" name="矩形 2"/>
          <p:cNvSpPr/>
          <p:nvPr/>
        </p:nvSpPr>
        <p:spPr>
          <a:xfrm>
            <a:off x="611188" y="549275"/>
            <a:ext cx="1939955"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超粗黑简体" pitchFamily="65" charset="-122"/>
                <a:ea typeface="方正超粗黑简体" pitchFamily="65" charset="-122"/>
              </a:rPr>
              <a:t>基本名词术语： </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052513"/>
            <a:ext cx="7921625" cy="5452775"/>
          </a:xfrm>
          <a:prstGeom prst="rect">
            <a:avLst/>
          </a:prstGeom>
        </p:spPr>
        <p:txBody>
          <a:bodyPr wrap="square">
            <a:spAutoFit/>
          </a:bodyPr>
          <a:lstStyle/>
          <a:p>
            <a:pPr>
              <a:lnSpc>
                <a:spcPts val="2200"/>
              </a:lnSpc>
            </a:pPr>
            <a:r>
              <a:rPr lang="en-US" altLang="zh-CN" b="1" dirty="0" smtClean="0">
                <a:solidFill>
                  <a:srgbClr val="0000FF"/>
                </a:solidFill>
                <a:latin typeface="方正正粗黑简体" pitchFamily="2" charset="-122"/>
                <a:ea typeface="方正正粗黑简体" pitchFamily="2" charset="-122"/>
              </a:rPr>
              <a:t>29</a:t>
            </a:r>
            <a:r>
              <a:rPr lang="zh-CN" altLang="en-US" b="1" dirty="0" smtClean="0">
                <a:solidFill>
                  <a:srgbClr val="0000FF"/>
                </a:solidFill>
                <a:latin typeface="方正正粗黑简体" pitchFamily="2" charset="-122"/>
                <a:ea typeface="方正正粗黑简体" pitchFamily="2" charset="-122"/>
              </a:rPr>
              <a:t>．滤板 </a:t>
            </a:r>
          </a:p>
          <a:p>
            <a:pPr>
              <a:lnSpc>
                <a:spcPts val="2200"/>
              </a:lnSpc>
            </a:pPr>
            <a:r>
              <a:rPr lang="zh-CN" altLang="en-US" b="1" dirty="0" smtClean="0">
                <a:solidFill>
                  <a:srgbClr val="0000FF"/>
                </a:solidFill>
                <a:latin typeface="方正正粗黑简体" pitchFamily="2" charset="-122"/>
                <a:ea typeface="方正正粗黑简体" pitchFamily="2" charset="-122"/>
              </a:rPr>
              <a:t>    压滤机中用于支托滤布，表面有网状或条状滤液导槽的板状零件。</a:t>
            </a:r>
          </a:p>
          <a:p>
            <a:pPr>
              <a:lnSpc>
                <a:spcPts val="2200"/>
              </a:lnSpc>
            </a:pPr>
            <a:r>
              <a:rPr lang="en-US" altLang="zh-CN" b="1" dirty="0" smtClean="0">
                <a:solidFill>
                  <a:srgbClr val="0000FF"/>
                </a:solidFill>
                <a:latin typeface="方正正粗黑简体" pitchFamily="2" charset="-122"/>
                <a:ea typeface="方正正粗黑简体" pitchFamily="2" charset="-122"/>
              </a:rPr>
              <a:t>30</a:t>
            </a:r>
            <a:r>
              <a:rPr lang="zh-CN" altLang="en-US" b="1" dirty="0" smtClean="0">
                <a:solidFill>
                  <a:srgbClr val="0000FF"/>
                </a:solidFill>
                <a:latin typeface="方正正粗黑简体" pitchFamily="2" charset="-122"/>
                <a:ea typeface="方正正粗黑简体" pitchFamily="2" charset="-122"/>
              </a:rPr>
              <a:t>．进料板 （尾板防腐板）</a:t>
            </a:r>
          </a:p>
          <a:p>
            <a:pPr>
              <a:lnSpc>
                <a:spcPts val="2200"/>
              </a:lnSpc>
            </a:pPr>
            <a:r>
              <a:rPr lang="zh-CN" altLang="en-US" b="1" dirty="0" smtClean="0">
                <a:solidFill>
                  <a:srgbClr val="0000FF"/>
                </a:solidFill>
                <a:latin typeface="方正正粗黑简体" pitchFamily="2" charset="-122"/>
                <a:ea typeface="方正正粗黑简体" pitchFamily="2" charset="-122"/>
              </a:rPr>
              <a:t>    压滤机中用于沟通进料管与滤室，使料浆顺利进入滤室的板状结构。</a:t>
            </a:r>
            <a:r>
              <a:rPr lang="en-US" altLang="zh-CN" b="1" dirty="0" smtClean="0">
                <a:solidFill>
                  <a:srgbClr val="0000FF"/>
                </a:solidFill>
                <a:latin typeface="方正正粗黑简体" pitchFamily="2" charset="-122"/>
                <a:ea typeface="方正正粗黑简体" pitchFamily="2" charset="-122"/>
              </a:rPr>
              <a:t>31</a:t>
            </a:r>
            <a:r>
              <a:rPr lang="zh-CN" altLang="en-US" b="1" dirty="0" smtClean="0">
                <a:solidFill>
                  <a:srgbClr val="0000FF"/>
                </a:solidFill>
                <a:latin typeface="方正正粗黑简体" pitchFamily="2" charset="-122"/>
                <a:ea typeface="方正正粗黑简体" pitchFamily="2" charset="-122"/>
              </a:rPr>
              <a:t>．滤框 </a:t>
            </a:r>
          </a:p>
          <a:p>
            <a:pPr>
              <a:lnSpc>
                <a:spcPts val="2200"/>
              </a:lnSpc>
            </a:pPr>
            <a:r>
              <a:rPr lang="zh-CN" altLang="en-US" b="1" dirty="0" smtClean="0">
                <a:solidFill>
                  <a:srgbClr val="0000FF"/>
                </a:solidFill>
                <a:latin typeface="方正正粗黑简体" pitchFamily="2" charset="-122"/>
                <a:ea typeface="方正正粗黑简体" pitchFamily="2" charset="-122"/>
              </a:rPr>
              <a:t>    板框压滤机中与滤板构成滤室的框形零件。</a:t>
            </a:r>
          </a:p>
          <a:p>
            <a:pPr>
              <a:lnSpc>
                <a:spcPts val="2200"/>
              </a:lnSpc>
            </a:pPr>
            <a:r>
              <a:rPr lang="en-US" altLang="zh-CN" b="1" dirty="0" smtClean="0">
                <a:solidFill>
                  <a:srgbClr val="0000FF"/>
                </a:solidFill>
                <a:latin typeface="方正正粗黑简体" pitchFamily="2" charset="-122"/>
                <a:ea typeface="方正正粗黑简体" pitchFamily="2" charset="-122"/>
              </a:rPr>
              <a:t>32</a:t>
            </a:r>
            <a:r>
              <a:rPr lang="zh-CN" altLang="en-US" b="1" dirty="0" smtClean="0">
                <a:solidFill>
                  <a:srgbClr val="0000FF"/>
                </a:solidFill>
                <a:latin typeface="方正正粗黑简体" pitchFamily="2" charset="-122"/>
                <a:ea typeface="方正正粗黑简体" pitchFamily="2" charset="-122"/>
              </a:rPr>
              <a:t>．厢式滤板 </a:t>
            </a:r>
          </a:p>
          <a:p>
            <a:pPr>
              <a:lnSpc>
                <a:spcPts val="2200"/>
              </a:lnSpc>
            </a:pPr>
            <a:r>
              <a:rPr lang="zh-CN" altLang="en-US" b="1" dirty="0" smtClean="0">
                <a:solidFill>
                  <a:srgbClr val="0000FF"/>
                </a:solidFill>
                <a:latin typeface="方正正粗黑简体" pitchFamily="2" charset="-122"/>
                <a:ea typeface="方正正粗黑简体" pitchFamily="2" charset="-122"/>
              </a:rPr>
              <a:t>    两侧内凹的滤板，构成厢式压滤机滤室的零件。</a:t>
            </a:r>
          </a:p>
          <a:p>
            <a:pPr>
              <a:lnSpc>
                <a:spcPts val="2200"/>
              </a:lnSpc>
            </a:pPr>
            <a:r>
              <a:rPr lang="en-US" altLang="zh-CN" b="1" dirty="0" smtClean="0">
                <a:solidFill>
                  <a:srgbClr val="0000FF"/>
                </a:solidFill>
                <a:latin typeface="方正正粗黑简体" pitchFamily="2" charset="-122"/>
                <a:ea typeface="方正正粗黑简体" pitchFamily="2" charset="-122"/>
              </a:rPr>
              <a:t>33</a:t>
            </a:r>
            <a:r>
              <a:rPr lang="zh-CN" altLang="en-US" b="1" dirty="0" smtClean="0">
                <a:solidFill>
                  <a:srgbClr val="0000FF"/>
                </a:solidFill>
                <a:latin typeface="方正正粗黑简体" pitchFamily="2" charset="-122"/>
                <a:ea typeface="方正正粗黑简体" pitchFamily="2" charset="-122"/>
              </a:rPr>
              <a:t>．压榨隔膜 </a:t>
            </a:r>
          </a:p>
          <a:p>
            <a:pPr>
              <a:lnSpc>
                <a:spcPts val="2200"/>
              </a:lnSpc>
            </a:pPr>
            <a:r>
              <a:rPr lang="zh-CN" altLang="en-US" b="1" dirty="0" smtClean="0">
                <a:solidFill>
                  <a:srgbClr val="0000FF"/>
                </a:solidFill>
                <a:latin typeface="方正正粗黑简体" pitchFamily="2" charset="-122"/>
                <a:ea typeface="方正正粗黑简体" pitchFamily="2" charset="-122"/>
              </a:rPr>
              <a:t>    装于压滤机滤室内、用于挤压滤饼的弹性隔膜。</a:t>
            </a:r>
          </a:p>
          <a:p>
            <a:pPr>
              <a:lnSpc>
                <a:spcPts val="2200"/>
              </a:lnSpc>
            </a:pPr>
            <a:r>
              <a:rPr lang="en-US" altLang="zh-CN" b="1" dirty="0" smtClean="0">
                <a:solidFill>
                  <a:srgbClr val="0000FF"/>
                </a:solidFill>
                <a:latin typeface="方正正粗黑简体" pitchFamily="2" charset="-122"/>
                <a:ea typeface="方正正粗黑简体" pitchFamily="2" charset="-122"/>
              </a:rPr>
              <a:t>34</a:t>
            </a:r>
            <a:r>
              <a:rPr lang="zh-CN" altLang="en-US" b="1" dirty="0" smtClean="0">
                <a:solidFill>
                  <a:srgbClr val="0000FF"/>
                </a:solidFill>
                <a:latin typeface="方正正粗黑简体" pitchFamily="2" charset="-122"/>
                <a:ea typeface="方正正粗黑简体" pitchFamily="2" charset="-122"/>
              </a:rPr>
              <a:t>．主梁</a:t>
            </a:r>
          </a:p>
          <a:p>
            <a:pPr>
              <a:lnSpc>
                <a:spcPts val="2200"/>
              </a:lnSpc>
            </a:pPr>
            <a:r>
              <a:rPr lang="zh-CN" altLang="en-US" b="1" dirty="0" smtClean="0">
                <a:solidFill>
                  <a:srgbClr val="0000FF"/>
                </a:solidFill>
                <a:latin typeface="方正正粗黑简体" pitchFamily="2" charset="-122"/>
                <a:ea typeface="方正正粗黑简体" pitchFamily="2" charset="-122"/>
              </a:rPr>
              <a:t>    板框</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或厢式</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压滤机中用于支承压紧板、拉板机构、滤板，连接止推板和油缸座的水平梁。</a:t>
            </a:r>
          </a:p>
          <a:p>
            <a:pPr>
              <a:lnSpc>
                <a:spcPts val="2200"/>
              </a:lnSpc>
            </a:pPr>
            <a:r>
              <a:rPr lang="en-US" altLang="zh-CN" b="1" dirty="0" smtClean="0">
                <a:solidFill>
                  <a:srgbClr val="0000FF"/>
                </a:solidFill>
                <a:latin typeface="方正正粗黑简体" pitchFamily="2" charset="-122"/>
                <a:ea typeface="方正正粗黑简体" pitchFamily="2" charset="-122"/>
              </a:rPr>
              <a:t>35</a:t>
            </a:r>
            <a:r>
              <a:rPr lang="zh-CN" altLang="en-US" b="1" dirty="0" smtClean="0">
                <a:solidFill>
                  <a:srgbClr val="0000FF"/>
                </a:solidFill>
                <a:latin typeface="方正正粗黑简体" pitchFamily="2" charset="-122"/>
                <a:ea typeface="方正正粗黑简体" pitchFamily="2" charset="-122"/>
              </a:rPr>
              <a:t>．压紧板 </a:t>
            </a:r>
          </a:p>
          <a:p>
            <a:pPr>
              <a:lnSpc>
                <a:spcPts val="2200"/>
              </a:lnSpc>
            </a:pPr>
            <a:r>
              <a:rPr lang="zh-CN" altLang="en-US" b="1" dirty="0" smtClean="0">
                <a:solidFill>
                  <a:srgbClr val="0000FF"/>
                </a:solidFill>
                <a:latin typeface="方正正粗黑简体" pitchFamily="2" charset="-122"/>
                <a:ea typeface="方正正粗黑简体" pitchFamily="2" charset="-122"/>
              </a:rPr>
              <a:t>    板框</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或厢式</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压滤机中可在横梁上移动，在压紧装置作用下压紧滤板和滤框的零件。</a:t>
            </a:r>
          </a:p>
          <a:p>
            <a:pPr>
              <a:lnSpc>
                <a:spcPts val="2200"/>
              </a:lnSpc>
            </a:pPr>
            <a:r>
              <a:rPr lang="en-US" altLang="zh-CN" b="1" dirty="0" smtClean="0">
                <a:solidFill>
                  <a:srgbClr val="0000FF"/>
                </a:solidFill>
                <a:latin typeface="方正正粗黑简体" pitchFamily="2" charset="-122"/>
                <a:ea typeface="方正正粗黑简体" pitchFamily="2" charset="-122"/>
              </a:rPr>
              <a:t>36</a:t>
            </a:r>
            <a:r>
              <a:rPr lang="zh-CN" altLang="en-US" b="1" dirty="0" smtClean="0">
                <a:solidFill>
                  <a:srgbClr val="0000FF"/>
                </a:solidFill>
                <a:latin typeface="方正正粗黑简体" pitchFamily="2" charset="-122"/>
                <a:ea typeface="方正正粗黑简体" pitchFamily="2" charset="-122"/>
              </a:rPr>
              <a:t>．止推板 </a:t>
            </a:r>
          </a:p>
          <a:p>
            <a:pPr>
              <a:lnSpc>
                <a:spcPts val="2200"/>
              </a:lnSpc>
            </a:pPr>
            <a:r>
              <a:rPr lang="zh-CN" altLang="en-US" b="1" dirty="0" smtClean="0">
                <a:solidFill>
                  <a:srgbClr val="0000FF"/>
                </a:solidFill>
                <a:latin typeface="方正正粗黑简体" pitchFamily="2" charset="-122"/>
                <a:ea typeface="方正正粗黑简体" pitchFamily="2" charset="-122"/>
              </a:rPr>
              <a:t>    板框</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或厢式</a:t>
            </a:r>
            <a:r>
              <a:rPr lang="en-US" altLang="zh-CN" b="1" dirty="0" smtClean="0">
                <a:solidFill>
                  <a:srgbClr val="0000FF"/>
                </a:solidFill>
                <a:latin typeface="方正正粗黑简体" pitchFamily="2" charset="-122"/>
                <a:ea typeface="方正正粗黑简体" pitchFamily="2" charset="-122"/>
              </a:rPr>
              <a:t>)</a:t>
            </a:r>
            <a:r>
              <a:rPr lang="zh-CN" altLang="en-US" b="1" dirty="0" smtClean="0">
                <a:solidFill>
                  <a:srgbClr val="0000FF"/>
                </a:solidFill>
                <a:latin typeface="方正正粗黑简体" pitchFamily="2" charset="-122"/>
                <a:ea typeface="方正正粗黑简体" pitchFamily="2" charset="-122"/>
              </a:rPr>
              <a:t>压滤机中和横梁固定联结，与压紧板一道压紧滤板和滤框的零件。</a:t>
            </a:r>
            <a:endParaRPr lang="zh-CN" altLang="en-US" b="1" dirty="0">
              <a:solidFill>
                <a:srgbClr val="0000FF"/>
              </a:solidFill>
              <a:latin typeface="方正正粗黑简体" pitchFamily="2" charset="-122"/>
              <a:ea typeface="方正正粗黑简体" pitchFamily="2" charset="-122"/>
            </a:endParaRPr>
          </a:p>
        </p:txBody>
      </p:sp>
      <p:sp>
        <p:nvSpPr>
          <p:cNvPr id="3" name="矩形 2"/>
          <p:cNvSpPr/>
          <p:nvPr/>
        </p:nvSpPr>
        <p:spPr>
          <a:xfrm>
            <a:off x="611188" y="549275"/>
            <a:ext cx="1939955"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超粗黑简体" pitchFamily="65" charset="-122"/>
                <a:ea typeface="方正超粗黑简体" pitchFamily="65" charset="-122"/>
              </a:rPr>
              <a:t>基本名词术语： </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052513"/>
            <a:ext cx="7921625" cy="5401479"/>
          </a:xfrm>
          <a:prstGeom prst="rect">
            <a:avLst/>
          </a:prstGeom>
        </p:spPr>
        <p:txBody>
          <a:bodyPr wrap="square">
            <a:spAutoFit/>
          </a:bodyPr>
          <a:lstStyle/>
          <a:p>
            <a:pPr>
              <a:lnSpc>
                <a:spcPts val="2300"/>
              </a:lnSpc>
            </a:pPr>
            <a:r>
              <a:rPr lang="en-US" altLang="zh-CN" b="1" dirty="0" smtClean="0">
                <a:solidFill>
                  <a:srgbClr val="0000FF"/>
                </a:solidFill>
                <a:latin typeface="方正正粗黑简体" pitchFamily="2" charset="-122"/>
                <a:ea typeface="方正正粗黑简体" pitchFamily="2" charset="-122"/>
              </a:rPr>
              <a:t>37</a:t>
            </a:r>
            <a:r>
              <a:rPr lang="zh-CN" altLang="en-US" b="1" dirty="0" smtClean="0">
                <a:solidFill>
                  <a:srgbClr val="0000FF"/>
                </a:solidFill>
                <a:latin typeface="方正正粗黑简体" pitchFamily="2" charset="-122"/>
                <a:ea typeface="方正正粗黑简体" pitchFamily="2" charset="-122"/>
              </a:rPr>
              <a:t>．滤布 </a:t>
            </a:r>
          </a:p>
          <a:p>
            <a:pPr>
              <a:lnSpc>
                <a:spcPts val="2300"/>
              </a:lnSpc>
            </a:pPr>
            <a:r>
              <a:rPr lang="zh-CN" altLang="en-US" b="1" dirty="0" smtClean="0">
                <a:solidFill>
                  <a:srgbClr val="0000FF"/>
                </a:solidFill>
                <a:latin typeface="方正正粗黑简体" pitchFamily="2" charset="-122"/>
                <a:ea typeface="方正正粗黑简体" pitchFamily="2" charset="-122"/>
              </a:rPr>
              <a:t>    用于过滤的纺织品、无纺布等过滤介质</a:t>
            </a:r>
          </a:p>
          <a:p>
            <a:pPr>
              <a:lnSpc>
                <a:spcPts val="2300"/>
              </a:lnSpc>
            </a:pPr>
            <a:r>
              <a:rPr lang="en-US" altLang="zh-CN" b="1" dirty="0" smtClean="0">
                <a:solidFill>
                  <a:srgbClr val="0000FF"/>
                </a:solidFill>
                <a:latin typeface="方正正粗黑简体" pitchFamily="2" charset="-122"/>
                <a:ea typeface="方正正粗黑简体" pitchFamily="2" charset="-122"/>
              </a:rPr>
              <a:t>38</a:t>
            </a:r>
            <a:r>
              <a:rPr lang="zh-CN" altLang="en-US" b="1" dirty="0" smtClean="0">
                <a:solidFill>
                  <a:srgbClr val="0000FF"/>
                </a:solidFill>
                <a:latin typeface="方正正粗黑简体" pitchFamily="2" charset="-122"/>
                <a:ea typeface="方正正粗黑简体" pitchFamily="2" charset="-122"/>
              </a:rPr>
              <a:t>．自动板框压滤机 </a:t>
            </a:r>
          </a:p>
          <a:p>
            <a:pPr>
              <a:lnSpc>
                <a:spcPts val="2300"/>
              </a:lnSpc>
            </a:pPr>
            <a:r>
              <a:rPr lang="zh-CN" altLang="en-US" b="1" dirty="0" smtClean="0">
                <a:solidFill>
                  <a:srgbClr val="0000FF"/>
                </a:solidFill>
                <a:latin typeface="方正正粗黑简体" pitchFamily="2" charset="-122"/>
                <a:ea typeface="方正正粗黑简体" pitchFamily="2" charset="-122"/>
              </a:rPr>
              <a:t>    能自动完成某些操作工序的板框压滤机。</a:t>
            </a:r>
          </a:p>
          <a:p>
            <a:pPr>
              <a:lnSpc>
                <a:spcPts val="2300"/>
              </a:lnSpc>
            </a:pPr>
            <a:r>
              <a:rPr lang="en-US" altLang="zh-CN" b="1" dirty="0" smtClean="0">
                <a:solidFill>
                  <a:srgbClr val="0000FF"/>
                </a:solidFill>
                <a:latin typeface="方正正粗黑简体" pitchFamily="2" charset="-122"/>
                <a:ea typeface="方正正粗黑简体" pitchFamily="2" charset="-122"/>
              </a:rPr>
              <a:t>39</a:t>
            </a:r>
            <a:r>
              <a:rPr lang="zh-CN" altLang="en-US" b="1" dirty="0" smtClean="0">
                <a:solidFill>
                  <a:srgbClr val="0000FF"/>
                </a:solidFill>
                <a:latin typeface="方正正粗黑简体" pitchFamily="2" charset="-122"/>
                <a:ea typeface="方正正粗黑简体" pitchFamily="2" charset="-122"/>
              </a:rPr>
              <a:t>．厢式压滤机  </a:t>
            </a:r>
          </a:p>
          <a:p>
            <a:pPr>
              <a:lnSpc>
                <a:spcPts val="2300"/>
              </a:lnSpc>
            </a:pPr>
            <a:r>
              <a:rPr lang="zh-CN" altLang="en-US" b="1" dirty="0" smtClean="0">
                <a:solidFill>
                  <a:srgbClr val="0000FF"/>
                </a:solidFill>
                <a:latin typeface="方正正粗黑简体" pitchFamily="2" charset="-122"/>
                <a:ea typeface="方正正粗黑简体" pitchFamily="2" charset="-122"/>
              </a:rPr>
              <a:t>    由厢式滤板和过滤介质交替排列组成滤室的加压过滤机。</a:t>
            </a:r>
          </a:p>
          <a:p>
            <a:pPr>
              <a:lnSpc>
                <a:spcPts val="2300"/>
              </a:lnSpc>
            </a:pPr>
            <a:r>
              <a:rPr lang="en-US" altLang="zh-CN" b="1" dirty="0" smtClean="0">
                <a:solidFill>
                  <a:srgbClr val="0000FF"/>
                </a:solidFill>
                <a:latin typeface="方正正粗黑简体" pitchFamily="2" charset="-122"/>
                <a:ea typeface="方正正粗黑简体" pitchFamily="2" charset="-122"/>
              </a:rPr>
              <a:t>40</a:t>
            </a:r>
            <a:r>
              <a:rPr lang="zh-CN" altLang="en-US" b="1" dirty="0" smtClean="0">
                <a:solidFill>
                  <a:srgbClr val="0000FF"/>
                </a:solidFill>
                <a:latin typeface="方正正粗黑简体" pitchFamily="2" charset="-122"/>
                <a:ea typeface="方正正粗黑简体" pitchFamily="2" charset="-122"/>
              </a:rPr>
              <a:t>．自动厢式压滤机 </a:t>
            </a:r>
          </a:p>
          <a:p>
            <a:pPr>
              <a:lnSpc>
                <a:spcPts val="2300"/>
              </a:lnSpc>
            </a:pPr>
            <a:r>
              <a:rPr lang="zh-CN" altLang="en-US" b="1" dirty="0" smtClean="0">
                <a:solidFill>
                  <a:srgbClr val="0000FF"/>
                </a:solidFill>
                <a:latin typeface="方正正粗黑简体" pitchFamily="2" charset="-122"/>
                <a:ea typeface="方正正粗黑简体" pitchFamily="2" charset="-122"/>
              </a:rPr>
              <a:t>    能自动完成某些操作工序的厢式压滤机。</a:t>
            </a:r>
          </a:p>
          <a:p>
            <a:pPr>
              <a:lnSpc>
                <a:spcPts val="2300"/>
              </a:lnSpc>
            </a:pPr>
            <a:r>
              <a:rPr lang="en-US" altLang="zh-CN" b="1" dirty="0" smtClean="0">
                <a:solidFill>
                  <a:srgbClr val="0000FF"/>
                </a:solidFill>
                <a:latin typeface="方正正粗黑简体" pitchFamily="2" charset="-122"/>
                <a:ea typeface="方正正粗黑简体" pitchFamily="2" charset="-122"/>
              </a:rPr>
              <a:t>41</a:t>
            </a:r>
            <a:r>
              <a:rPr lang="zh-CN" altLang="en-US" b="1" dirty="0" smtClean="0">
                <a:solidFill>
                  <a:srgbClr val="0000FF"/>
                </a:solidFill>
                <a:latin typeface="方正正粗黑简体" pitchFamily="2" charset="-122"/>
                <a:ea typeface="方正正粗黑简体" pitchFamily="2" charset="-122"/>
              </a:rPr>
              <a:t>．卧式自动厢式压滤机 </a:t>
            </a:r>
          </a:p>
          <a:p>
            <a:pPr>
              <a:lnSpc>
                <a:spcPts val="2300"/>
              </a:lnSpc>
            </a:pPr>
            <a:r>
              <a:rPr lang="zh-CN" altLang="en-US" b="1" dirty="0" smtClean="0">
                <a:solidFill>
                  <a:srgbClr val="0000FF"/>
                </a:solidFill>
                <a:latin typeface="方正正粗黑简体" pitchFamily="2" charset="-122"/>
                <a:ea typeface="方正正粗黑简体" pitchFamily="2" charset="-122"/>
              </a:rPr>
              <a:t>    滤板沿水平方向排列的自动厢式压滤机。</a:t>
            </a:r>
          </a:p>
          <a:p>
            <a:pPr>
              <a:lnSpc>
                <a:spcPts val="2300"/>
              </a:lnSpc>
            </a:pPr>
            <a:r>
              <a:rPr lang="en-US" altLang="zh-CN" b="1" dirty="0" smtClean="0">
                <a:solidFill>
                  <a:srgbClr val="0000FF"/>
                </a:solidFill>
                <a:latin typeface="方正正粗黑简体" pitchFamily="2" charset="-122"/>
                <a:ea typeface="方正正粗黑简体" pitchFamily="2" charset="-122"/>
              </a:rPr>
              <a:t>42</a:t>
            </a:r>
            <a:r>
              <a:rPr lang="zh-CN" altLang="en-US" b="1" dirty="0" smtClean="0">
                <a:solidFill>
                  <a:srgbClr val="0000FF"/>
                </a:solidFill>
                <a:latin typeface="方正正粗黑简体" pitchFamily="2" charset="-122"/>
                <a:ea typeface="方正正粗黑简体" pitchFamily="2" charset="-122"/>
              </a:rPr>
              <a:t>．立式自动厢式压滤机 </a:t>
            </a:r>
          </a:p>
          <a:p>
            <a:pPr>
              <a:lnSpc>
                <a:spcPts val="2300"/>
              </a:lnSpc>
            </a:pPr>
            <a:r>
              <a:rPr lang="zh-CN" altLang="en-US" b="1" dirty="0" smtClean="0">
                <a:solidFill>
                  <a:srgbClr val="0000FF"/>
                </a:solidFill>
                <a:latin typeface="方正正粗黑简体" pitchFamily="2" charset="-122"/>
                <a:ea typeface="方正正粗黑简体" pitchFamily="2" charset="-122"/>
              </a:rPr>
              <a:t>    滤板沿垂直方向排列的自动厢式压滤机。</a:t>
            </a:r>
          </a:p>
          <a:p>
            <a:pPr>
              <a:lnSpc>
                <a:spcPts val="2300"/>
              </a:lnSpc>
            </a:pPr>
            <a:r>
              <a:rPr lang="en-US" altLang="zh-CN" b="1" dirty="0" smtClean="0">
                <a:solidFill>
                  <a:srgbClr val="0000FF"/>
                </a:solidFill>
                <a:latin typeface="方正正粗黑简体" pitchFamily="2" charset="-122"/>
                <a:ea typeface="方正正粗黑简体" pitchFamily="2" charset="-122"/>
              </a:rPr>
              <a:t>43</a:t>
            </a:r>
            <a:r>
              <a:rPr lang="zh-CN" altLang="en-US" b="1" dirty="0" smtClean="0">
                <a:solidFill>
                  <a:srgbClr val="0000FF"/>
                </a:solidFill>
                <a:latin typeface="方正正粗黑简体" pitchFamily="2" charset="-122"/>
                <a:ea typeface="方正正粗黑简体" pitchFamily="2" charset="-122"/>
              </a:rPr>
              <a:t>．隔膜压滤机 </a:t>
            </a:r>
          </a:p>
          <a:p>
            <a:pPr>
              <a:lnSpc>
                <a:spcPts val="2300"/>
              </a:lnSpc>
            </a:pPr>
            <a:r>
              <a:rPr lang="zh-CN" altLang="en-US" b="1" dirty="0" smtClean="0">
                <a:solidFill>
                  <a:srgbClr val="0000FF"/>
                </a:solidFill>
                <a:latin typeface="方正正粗黑简体" pitchFamily="2" charset="-122"/>
                <a:ea typeface="方正正粗黑简体" pitchFamily="2" charset="-122"/>
              </a:rPr>
              <a:t>    厢式滤板上嵌有压榨隔膜，压滤结束后可以对滤饼进行挤压的加压过滤机。</a:t>
            </a:r>
          </a:p>
          <a:p>
            <a:pPr>
              <a:lnSpc>
                <a:spcPts val="2300"/>
              </a:lnSpc>
            </a:pPr>
            <a:r>
              <a:rPr lang="en-US" altLang="zh-CN" b="1" dirty="0" smtClean="0">
                <a:solidFill>
                  <a:srgbClr val="0000FF"/>
                </a:solidFill>
                <a:latin typeface="方正正粗黑简体" pitchFamily="2" charset="-122"/>
                <a:ea typeface="方正正粗黑简体" pitchFamily="2" charset="-122"/>
              </a:rPr>
              <a:t>44</a:t>
            </a:r>
            <a:r>
              <a:rPr lang="zh-CN" altLang="en-US" b="1" dirty="0" smtClean="0">
                <a:solidFill>
                  <a:srgbClr val="0000FF"/>
                </a:solidFill>
                <a:latin typeface="方正正粗黑简体" pitchFamily="2" charset="-122"/>
                <a:ea typeface="方正正粗黑简体" pitchFamily="2" charset="-122"/>
              </a:rPr>
              <a:t>．滤室 </a:t>
            </a:r>
          </a:p>
          <a:p>
            <a:pPr>
              <a:lnSpc>
                <a:spcPts val="2300"/>
              </a:lnSpc>
            </a:pPr>
            <a:r>
              <a:rPr lang="zh-CN" altLang="en-US" b="1" dirty="0" smtClean="0">
                <a:solidFill>
                  <a:srgbClr val="0000FF"/>
                </a:solidFill>
                <a:latin typeface="方正正粗黑简体" pitchFamily="2" charset="-122"/>
                <a:ea typeface="方正正粗黑简体" pitchFamily="2" charset="-122"/>
              </a:rPr>
              <a:t>    压滤机中进行压滤的空间。</a:t>
            </a:r>
          </a:p>
          <a:p>
            <a:pPr>
              <a:lnSpc>
                <a:spcPts val="2300"/>
              </a:lnSpc>
            </a:pPr>
            <a:r>
              <a:rPr lang="en-US" altLang="zh-CN" b="1" dirty="0" smtClean="0">
                <a:solidFill>
                  <a:srgbClr val="0000FF"/>
                </a:solidFill>
                <a:latin typeface="方正正粗黑简体" pitchFamily="2" charset="-122"/>
                <a:ea typeface="方正正粗黑简体" pitchFamily="2" charset="-122"/>
              </a:rPr>
              <a:t>45</a:t>
            </a:r>
            <a:r>
              <a:rPr lang="zh-CN" altLang="en-US" b="1" dirty="0" smtClean="0">
                <a:solidFill>
                  <a:srgbClr val="0000FF"/>
                </a:solidFill>
                <a:latin typeface="方正正粗黑简体" pitchFamily="2" charset="-122"/>
                <a:ea typeface="方正正粗黑简体" pitchFamily="2" charset="-122"/>
              </a:rPr>
              <a:t>．滤室容积 </a:t>
            </a:r>
          </a:p>
          <a:p>
            <a:pPr>
              <a:lnSpc>
                <a:spcPts val="2300"/>
              </a:lnSpc>
            </a:pPr>
            <a:r>
              <a:rPr lang="zh-CN" altLang="en-US" b="1" dirty="0" smtClean="0">
                <a:solidFill>
                  <a:srgbClr val="0000FF"/>
                </a:solidFill>
                <a:latin typeface="方正正粗黑简体" pitchFamily="2" charset="-122"/>
                <a:ea typeface="方正正粗黑简体" pitchFamily="2" charset="-122"/>
              </a:rPr>
              <a:t>滤室内容纳滤饼的最大空间。</a:t>
            </a:r>
            <a:endParaRPr lang="zh-CN" altLang="en-US" b="1" dirty="0">
              <a:solidFill>
                <a:srgbClr val="0000FF"/>
              </a:solidFill>
              <a:latin typeface="方正正粗黑简体" pitchFamily="2" charset="-122"/>
              <a:ea typeface="方正正粗黑简体" pitchFamily="2" charset="-122"/>
            </a:endParaRPr>
          </a:p>
        </p:txBody>
      </p:sp>
      <p:sp>
        <p:nvSpPr>
          <p:cNvPr id="3" name="矩形 2"/>
          <p:cNvSpPr/>
          <p:nvPr/>
        </p:nvSpPr>
        <p:spPr>
          <a:xfrm>
            <a:off x="611188" y="549275"/>
            <a:ext cx="1939955"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超粗黑简体" pitchFamily="65" charset="-122"/>
                <a:ea typeface="方正超粗黑简体" pitchFamily="65" charset="-122"/>
              </a:rPr>
              <a:t>基本名词术语： </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8768" y="2782669"/>
            <a:ext cx="5886464" cy="646331"/>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lvl="0"/>
            <a:r>
              <a:rPr lang="zh-CN" altLang="en-US" sz="3600" b="1" spc="50" dirty="0" smtClean="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rPr>
              <a:t>第二章   压滤机的基础知识</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2060575"/>
            <a:ext cx="7921624" cy="2446824"/>
          </a:xfrm>
          <a:prstGeom prst="rect">
            <a:avLst/>
          </a:prstGeom>
        </p:spPr>
        <p:txBody>
          <a:bodyPr wrap="square">
            <a:spAutoFit/>
          </a:bodyPr>
          <a:lstStyle/>
          <a:p>
            <a:pPr indent="457200">
              <a:lnSpc>
                <a:spcPct val="300000"/>
              </a:lnSpc>
            </a:pPr>
            <a:r>
              <a:rPr lang="zh-CN" altLang="en-US" b="1" dirty="0" smtClean="0">
                <a:solidFill>
                  <a:srgbClr val="0000FF"/>
                </a:solidFill>
                <a:latin typeface="方正正粗黑简体" pitchFamily="2" charset="-122"/>
                <a:ea typeface="方正正粗黑简体" pitchFamily="2" charset="-122"/>
              </a:rPr>
              <a:t>压滤机压紧并保压后，在压强的作用下，迫使滤浆通过过滤介质，固体颗粒截留于介质上，而液体通过过滤介质，从而达到液体与固体分离的目的。</a:t>
            </a:r>
          </a:p>
          <a:p>
            <a:pPr indent="457200">
              <a:lnSpc>
                <a:spcPct val="300000"/>
              </a:lnSpc>
            </a:pPr>
            <a:r>
              <a:rPr lang="zh-CN" altLang="en-US" b="1" dirty="0" smtClean="0">
                <a:solidFill>
                  <a:srgbClr val="0000FF"/>
                </a:solidFill>
                <a:latin typeface="方正正粗黑简体" pitchFamily="2" charset="-122"/>
                <a:ea typeface="方正正粗黑简体" pitchFamily="2" charset="-122"/>
              </a:rPr>
              <a:t>★通常介质为工业滤布。</a:t>
            </a:r>
            <a:endParaRPr lang="zh-CN" altLang="en-US" b="1" dirty="0">
              <a:solidFill>
                <a:srgbClr val="0000FF"/>
              </a:solidFill>
              <a:latin typeface="方正正粗黑简体" pitchFamily="2" charset="-122"/>
              <a:ea typeface="方正正粗黑简体" pitchFamily="2" charset="-122"/>
            </a:endParaRPr>
          </a:p>
        </p:txBody>
      </p:sp>
      <p:sp>
        <p:nvSpPr>
          <p:cNvPr id="3" name="矩形 2"/>
          <p:cNvSpPr/>
          <p:nvPr/>
        </p:nvSpPr>
        <p:spPr>
          <a:xfrm>
            <a:off x="611188" y="549275"/>
            <a:ext cx="2542684" cy="369332"/>
          </a:xfrm>
          <a:prstGeom prst="rect">
            <a:avLst/>
          </a:prstGeom>
        </p:spPr>
        <p:txBody>
          <a:bodyPr wrap="none">
            <a:spAutoFit/>
          </a:bodyPr>
          <a:lstStyle/>
          <a:p>
            <a:r>
              <a:rPr lang="en-US" altLang="zh-CN" b="1" dirty="0" smtClean="0">
                <a:solidFill>
                  <a:srgbClr val="0000FF"/>
                </a:solidFill>
                <a:latin typeface="方正正粗黑简体" pitchFamily="2" charset="-122"/>
                <a:ea typeface="方正正粗黑简体" pitchFamily="2" charset="-122"/>
              </a:rPr>
              <a:t>2.1  </a:t>
            </a:r>
            <a:r>
              <a:rPr lang="zh-CN" altLang="en-US" b="1" dirty="0" smtClean="0">
                <a:solidFill>
                  <a:srgbClr val="0000FF"/>
                </a:solidFill>
                <a:latin typeface="方正正粗黑简体" pitchFamily="2" charset="-122"/>
                <a:ea typeface="方正正粗黑简体" pitchFamily="2" charset="-122"/>
              </a:rPr>
              <a:t>压滤机的基本理论</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Documents and Settings\Administrator\桌面\压滤机.png"/>
          <p:cNvPicPr>
            <a:picLocks noChangeAspect="1" noChangeArrowheads="1"/>
          </p:cNvPicPr>
          <p:nvPr/>
        </p:nvPicPr>
        <p:blipFill>
          <a:blip r:embed="rId2"/>
          <a:srcRect/>
          <a:stretch>
            <a:fillRect/>
          </a:stretch>
        </p:blipFill>
        <p:spPr bwMode="auto">
          <a:xfrm>
            <a:off x="611188" y="1643050"/>
            <a:ext cx="7848600" cy="4143404"/>
          </a:xfrm>
          <a:prstGeom prst="rect">
            <a:avLst/>
          </a:prstGeom>
          <a:noFill/>
        </p:spPr>
      </p:pic>
      <p:sp>
        <p:nvSpPr>
          <p:cNvPr id="4" name="TextBox 3"/>
          <p:cNvSpPr txBox="1"/>
          <p:nvPr/>
        </p:nvSpPr>
        <p:spPr>
          <a:xfrm>
            <a:off x="2195513" y="1691243"/>
            <a:ext cx="1107996" cy="369332"/>
          </a:xfrm>
          <a:prstGeom prst="rect">
            <a:avLst/>
          </a:prstGeom>
          <a:noFill/>
        </p:spPr>
        <p:txBody>
          <a:bodyPr wrap="none" rtlCol="0">
            <a:spAutoFit/>
          </a:bodyPr>
          <a:lstStyle/>
          <a:p>
            <a:r>
              <a:rPr lang="zh-CN" altLang="en-US" dirty="0" smtClean="0"/>
              <a:t>小车链条</a:t>
            </a:r>
            <a:endParaRPr lang="zh-CN" altLang="en-US" dirty="0"/>
          </a:p>
        </p:txBody>
      </p:sp>
      <p:sp>
        <p:nvSpPr>
          <p:cNvPr id="5" name="TextBox 4"/>
          <p:cNvSpPr txBox="1"/>
          <p:nvPr/>
        </p:nvSpPr>
        <p:spPr>
          <a:xfrm>
            <a:off x="3714744" y="1156772"/>
            <a:ext cx="1338828" cy="369332"/>
          </a:xfrm>
          <a:prstGeom prst="rect">
            <a:avLst/>
          </a:prstGeom>
          <a:noFill/>
        </p:spPr>
        <p:txBody>
          <a:bodyPr wrap="none" rtlCol="0">
            <a:spAutoFit/>
          </a:bodyPr>
          <a:lstStyle/>
          <a:p>
            <a:r>
              <a:rPr lang="zh-CN" altLang="en-US" dirty="0" smtClean="0"/>
              <a:t>滤板行走轮</a:t>
            </a:r>
            <a:endParaRPr lang="zh-CN" altLang="en-US" dirty="0"/>
          </a:p>
        </p:txBody>
      </p:sp>
      <p:sp>
        <p:nvSpPr>
          <p:cNvPr id="6" name="TextBox 5"/>
          <p:cNvSpPr txBox="1"/>
          <p:nvPr/>
        </p:nvSpPr>
        <p:spPr>
          <a:xfrm>
            <a:off x="5286380" y="1156772"/>
            <a:ext cx="1800493" cy="369332"/>
          </a:xfrm>
          <a:prstGeom prst="rect">
            <a:avLst/>
          </a:prstGeom>
          <a:noFill/>
        </p:spPr>
        <p:txBody>
          <a:bodyPr wrap="none" rtlCol="0">
            <a:spAutoFit/>
          </a:bodyPr>
          <a:lstStyle/>
          <a:p>
            <a:r>
              <a:rPr lang="zh-CN" altLang="en-US" dirty="0" smtClean="0"/>
              <a:t>滤板行走轮导轨</a:t>
            </a:r>
            <a:endParaRPr lang="zh-CN" altLang="en-US" dirty="0"/>
          </a:p>
        </p:txBody>
      </p:sp>
      <p:sp>
        <p:nvSpPr>
          <p:cNvPr id="7" name="TextBox 6"/>
          <p:cNvSpPr txBox="1"/>
          <p:nvPr/>
        </p:nvSpPr>
        <p:spPr>
          <a:xfrm>
            <a:off x="439817" y="1691243"/>
            <a:ext cx="1800493" cy="369332"/>
          </a:xfrm>
          <a:prstGeom prst="rect">
            <a:avLst/>
          </a:prstGeom>
          <a:noFill/>
        </p:spPr>
        <p:txBody>
          <a:bodyPr wrap="none" rtlCol="0">
            <a:spAutoFit/>
          </a:bodyPr>
          <a:lstStyle/>
          <a:p>
            <a:r>
              <a:rPr lang="zh-CN" altLang="en-US" dirty="0" smtClean="0"/>
              <a:t>小车链条驱动轮</a:t>
            </a:r>
            <a:endParaRPr lang="zh-CN" altLang="en-US" dirty="0"/>
          </a:p>
        </p:txBody>
      </p:sp>
      <p:sp>
        <p:nvSpPr>
          <p:cNvPr id="9" name="TextBox 3"/>
          <p:cNvSpPr txBox="1"/>
          <p:nvPr/>
        </p:nvSpPr>
        <p:spPr>
          <a:xfrm>
            <a:off x="4357686" y="4714884"/>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smtClean="0"/>
              <a:t>拉板器机构</a:t>
            </a:r>
            <a:endParaRPr lang="zh-CN" altLang="en-US" dirty="0"/>
          </a:p>
        </p:txBody>
      </p:sp>
      <p:sp>
        <p:nvSpPr>
          <p:cNvPr id="10" name="TextBox 3"/>
          <p:cNvSpPr txBox="1"/>
          <p:nvPr/>
        </p:nvSpPr>
        <p:spPr>
          <a:xfrm>
            <a:off x="611188" y="5000636"/>
            <a:ext cx="110799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smtClean="0"/>
              <a:t>翻板轴承</a:t>
            </a:r>
            <a:endParaRPr lang="zh-CN" altLang="en-US" dirty="0"/>
          </a:p>
        </p:txBody>
      </p:sp>
      <p:sp>
        <p:nvSpPr>
          <p:cNvPr id="11" name="矩形 10"/>
          <p:cNvSpPr/>
          <p:nvPr/>
        </p:nvSpPr>
        <p:spPr>
          <a:xfrm>
            <a:off x="611188" y="549275"/>
            <a:ext cx="2095445"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rPr>
              <a:t>压滤机基本结构图</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305341"/>
            <a:ext cx="7921625" cy="3970318"/>
          </a:xfrm>
          <a:prstGeom prst="rect">
            <a:avLst/>
          </a:prstGeom>
        </p:spPr>
        <p:txBody>
          <a:bodyPr wrap="square">
            <a:spAutoFit/>
          </a:bodyPr>
          <a:lstStyle/>
          <a:p>
            <a:r>
              <a:rPr lang="en-US" altLang="zh-CN" dirty="0" smtClean="0"/>
              <a:t>2.2  </a:t>
            </a:r>
            <a:r>
              <a:rPr lang="zh-CN" altLang="en-US" dirty="0" smtClean="0"/>
              <a:t>压滤机的分类：</a:t>
            </a:r>
          </a:p>
          <a:p>
            <a:r>
              <a:rPr lang="en-US" altLang="zh-CN" dirty="0" smtClean="0"/>
              <a:t>1</a:t>
            </a:r>
            <a:r>
              <a:rPr lang="zh-CN" altLang="en-US" dirty="0" smtClean="0"/>
              <a:t>）按过滤元件分：板框式、厢式、隔膜式</a:t>
            </a:r>
          </a:p>
          <a:p>
            <a:r>
              <a:rPr lang="en-US" altLang="zh-CN" dirty="0" smtClean="0"/>
              <a:t>2</a:t>
            </a:r>
            <a:r>
              <a:rPr lang="zh-CN" altLang="en-US" dirty="0" smtClean="0"/>
              <a:t>）按出液方式分：明流、暗流、明暗通用</a:t>
            </a:r>
          </a:p>
          <a:p>
            <a:r>
              <a:rPr lang="en-US" altLang="zh-CN" dirty="0" smtClean="0"/>
              <a:t>3</a:t>
            </a:r>
            <a:r>
              <a:rPr lang="zh-CN" altLang="en-US" dirty="0" smtClean="0"/>
              <a:t>）按机架结构分：横梁式、悬挂式、框架式</a:t>
            </a:r>
          </a:p>
          <a:p>
            <a:r>
              <a:rPr lang="en-US" altLang="zh-CN" dirty="0" smtClean="0"/>
              <a:t>4</a:t>
            </a:r>
            <a:r>
              <a:rPr lang="zh-CN" altLang="en-US" dirty="0" smtClean="0"/>
              <a:t>）按压紧力来源分：液压（液压自保、人工锁紧、手动液压）、手动、机械</a:t>
            </a:r>
          </a:p>
          <a:p>
            <a:r>
              <a:rPr lang="en-US" altLang="zh-CN" dirty="0" smtClean="0"/>
              <a:t>5</a:t>
            </a:r>
            <a:r>
              <a:rPr lang="zh-CN" altLang="en-US" dirty="0" smtClean="0"/>
              <a:t>）按自动化程度：全自动、半自动、手动</a:t>
            </a:r>
          </a:p>
          <a:p>
            <a:r>
              <a:rPr lang="en-US" altLang="zh-CN" dirty="0" smtClean="0"/>
              <a:t>6</a:t>
            </a:r>
            <a:r>
              <a:rPr lang="zh-CN" altLang="en-US" dirty="0" smtClean="0"/>
              <a:t>）按洗涤方式分：顺洗、逆洗（单向洗、双向洗、双向交叉洗、侧洗）</a:t>
            </a:r>
          </a:p>
          <a:p>
            <a:r>
              <a:rPr lang="en-US" altLang="zh-CN" dirty="0" smtClean="0"/>
              <a:t>7</a:t>
            </a:r>
            <a:r>
              <a:rPr lang="zh-CN" altLang="en-US" dirty="0" smtClean="0"/>
              <a:t>）按板接进料方式分：上角进料、上中进料、中进料、下角进料</a:t>
            </a:r>
          </a:p>
          <a:p>
            <a:r>
              <a:rPr lang="en-US" altLang="zh-CN" dirty="0" smtClean="0"/>
              <a:t>8</a:t>
            </a:r>
            <a:r>
              <a:rPr lang="zh-CN" altLang="en-US" dirty="0" smtClean="0"/>
              <a:t>）按滤板安装方向分：卧式、立式、转鼓式</a:t>
            </a:r>
          </a:p>
          <a:p>
            <a:r>
              <a:rPr lang="zh-CN" altLang="en-US" dirty="0" smtClean="0"/>
              <a:t>通常常见的是卧式压滤机，而卧式中常见的是侧梁式和高悬梁式，其中侧梁式压滤机是压滤机制造行业的主要产品，占压滤机行业产量的</a:t>
            </a:r>
            <a:r>
              <a:rPr lang="en-US" altLang="zh-CN" dirty="0" smtClean="0"/>
              <a:t>95%</a:t>
            </a:r>
            <a:r>
              <a:rPr lang="zh-CN" altLang="en-US" dirty="0" smtClean="0"/>
              <a:t>，所以从事压滤机设计、加工、制造、安装、调试和维护工作的所有人员都应该有足够的认识和了解。</a:t>
            </a:r>
          </a:p>
          <a:p>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611187" y="1643050"/>
            <a:ext cx="7921625" cy="28623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30480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2.3  </a:t>
            </a:r>
            <a:r>
              <a:rPr kumimoji="0" lang="zh-CN" altLang="en-US"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压滤机的组成</a:t>
            </a:r>
            <a:endParaRPr kumimoji="0" lang="zh-CN" altLang="en-US" b="0" i="0" u="none" strike="noStrike" cap="none" normalizeH="0" baseline="0" dirty="0" smtClean="0">
              <a:ln>
                <a:noFill/>
              </a:ln>
              <a:solidFill>
                <a:schemeClr val="tx1"/>
              </a:solidFill>
              <a:effectLst/>
              <a:latin typeface="Arial" pitchFamily="34" charset="0"/>
              <a:ea typeface="宋体"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压滤机主要由机架、液压系统、电控系统、滤板以及辅助系统组成。</a:t>
            </a:r>
            <a:endParaRPr kumimoji="0" lang="zh-CN" altLang="en-US" b="0" i="0" u="none" strike="noStrike" cap="none" normalizeH="0" baseline="0" dirty="0" smtClean="0">
              <a:ln>
                <a:noFill/>
              </a:ln>
              <a:solidFill>
                <a:schemeClr val="tx1"/>
              </a:solidFill>
              <a:effectLst/>
              <a:latin typeface="Arial" pitchFamily="34" charset="0"/>
              <a:ea typeface="宋体"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2.4  </a:t>
            </a:r>
            <a:r>
              <a:rPr kumimoji="0" lang="zh-CN" altLang="en-US"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压滤机压紧力的计算方法</a:t>
            </a:r>
            <a:endParaRPr kumimoji="0" lang="zh-CN" altLang="en-US" b="0" i="0" u="none" strike="noStrike" cap="none" normalizeH="0" baseline="0" dirty="0" smtClean="0">
              <a:ln>
                <a:noFill/>
              </a:ln>
              <a:solidFill>
                <a:schemeClr val="tx1"/>
              </a:solidFill>
              <a:effectLst/>
              <a:latin typeface="Arial" pitchFamily="34" charset="0"/>
              <a:ea typeface="宋体"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．压滤机额定进料压力</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F1=</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液压系统压强</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P1X</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液压缸缸内径面积</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S1</a:t>
            </a:r>
            <a:endParaRPr kumimoji="0" lang="en-US" altLang="zh-CN" b="0" i="0" u="none" strike="noStrike" cap="none" normalizeH="0" baseline="0" dirty="0" smtClean="0">
              <a:ln>
                <a:noFill/>
              </a:ln>
              <a:solidFill>
                <a:schemeClr val="tx1"/>
              </a:solidFill>
              <a:effectLst/>
              <a:latin typeface="Arial" pitchFamily="34" charset="0"/>
              <a:ea typeface="宋体"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．滤室部分反推压力</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F2=</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工作压强</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P2</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（过滤、洗涤、吹风、压榨）</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滤室内的有效作用面积</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S2</a:t>
            </a:r>
            <a:endParaRPr kumimoji="0" lang="en-US" altLang="zh-CN" b="0" i="0" u="none" strike="noStrike" cap="none" normalizeH="0" baseline="0" dirty="0" smtClean="0">
              <a:ln>
                <a:noFill/>
              </a:ln>
              <a:solidFill>
                <a:schemeClr val="tx1"/>
              </a:solidFill>
              <a:effectLst/>
              <a:latin typeface="Arial" pitchFamily="34" charset="0"/>
              <a:ea typeface="宋体"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）滤室内工作压力受制于压滤机的压紧压力，即压滤机机架等所允许的最大操作压力。</a:t>
            </a:r>
            <a:endParaRPr kumimoji="0" lang="zh-CN" altLang="en-US" b="0" i="0" u="none" strike="noStrike" cap="none" normalizeH="0" baseline="0" dirty="0" smtClean="0">
              <a:ln>
                <a:noFill/>
              </a:ln>
              <a:solidFill>
                <a:schemeClr val="tx1"/>
              </a:solidFill>
              <a:effectLst/>
              <a:latin typeface="Arial" pitchFamily="34" charset="0"/>
              <a:ea typeface="宋体"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）滤板在一定的操作温度下所允许的最大操作压力。</a:t>
            </a:r>
            <a:endParaRPr kumimoji="0" lang="zh-CN" altLang="en-US" b="0" i="0" u="none" strike="noStrike" cap="none" normalizeH="0" baseline="0" dirty="0" smtClean="0">
              <a:ln>
                <a:noFill/>
              </a:ln>
              <a:solidFill>
                <a:schemeClr val="tx1"/>
              </a:solidFill>
              <a:effectLst/>
              <a:latin typeface="Arial" pitchFamily="34" charset="0"/>
              <a:ea typeface="宋体"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F1&gt;F2(</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压紧压力应大于进料压力</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endParaRPr kumimoji="0" lang="zh-CN" altLang="en-US" b="0" i="0" u="none" strike="noStrike" cap="none" normalizeH="0" baseline="0" dirty="0" smtClean="0">
              <a:ln>
                <a:noFill/>
              </a:ln>
              <a:solidFill>
                <a:schemeClr val="tx1"/>
              </a:solidFill>
              <a:effectLst/>
              <a:latin typeface="Arial" pitchFamily="34" charset="0"/>
              <a:ea typeface="宋体"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900113" y="652403"/>
            <a:ext cx="3962400" cy="400110"/>
          </a:xfrm>
          <a:prstGeom prst="rect">
            <a:avLst/>
          </a:prstGeom>
        </p:spPr>
        <p:txBody>
          <a:bodyPr wrap="square">
            <a:spAutoFit/>
          </a:bodyPr>
          <a:lstStyle/>
          <a:p>
            <a:pPr lvl="0" fontAlgn="base">
              <a:spcBef>
                <a:spcPct val="0"/>
              </a:spcBef>
              <a:spcAft>
                <a:spcPct val="0"/>
              </a:spcAft>
            </a:pPr>
            <a:r>
              <a:rPr lang="en-US" altLang="zh-CN" sz="2000" dirty="0" smtClean="0">
                <a:solidFill>
                  <a:prstClr val="black"/>
                </a:solidFill>
                <a:latin typeface="宋体"/>
                <a:cs typeface="Times New Roman" pitchFamily="18" charset="0"/>
              </a:rPr>
              <a:t>2.5  </a:t>
            </a:r>
            <a:r>
              <a:rPr lang="zh-CN" altLang="en-US" sz="2000" dirty="0" smtClean="0">
                <a:solidFill>
                  <a:prstClr val="black"/>
                </a:solidFill>
                <a:latin typeface="宋体"/>
                <a:cs typeface="Times New Roman" pitchFamily="18" charset="0"/>
              </a:rPr>
              <a:t>压滤机型号及意义</a:t>
            </a:r>
            <a:endParaRPr lang="zh-CN" altLang="en-US" sz="2000" dirty="0" smtClean="0">
              <a:solidFill>
                <a:prstClr val="black"/>
              </a:solidFill>
              <a:latin typeface="宋体"/>
            </a:endParaRPr>
          </a:p>
        </p:txBody>
      </p:sp>
      <p:grpSp>
        <p:nvGrpSpPr>
          <p:cNvPr id="53" name="组合 52"/>
          <p:cNvGrpSpPr/>
          <p:nvPr/>
        </p:nvGrpSpPr>
        <p:grpSpPr>
          <a:xfrm>
            <a:off x="3428992" y="2071678"/>
            <a:ext cx="5357834" cy="4143404"/>
            <a:chOff x="3428992" y="2071678"/>
            <a:chExt cx="5357834" cy="4143404"/>
          </a:xfrm>
        </p:grpSpPr>
        <p:sp>
          <p:nvSpPr>
            <p:cNvPr id="38" name="矩形 37"/>
            <p:cNvSpPr/>
            <p:nvPr/>
          </p:nvSpPr>
          <p:spPr>
            <a:xfrm>
              <a:off x="3428992" y="5845750"/>
              <a:ext cx="3430747" cy="369332"/>
            </a:xfrm>
            <a:prstGeom prst="rect">
              <a:avLst/>
            </a:prstGeom>
          </p:spPr>
          <p:txBody>
            <a:bodyPr wrap="none">
              <a:spAutoFit/>
            </a:bodyPr>
            <a:lstStyle/>
            <a:p>
              <a:r>
                <a:rPr lang="zh-CN" altLang="en-US" b="1" dirty="0" smtClean="0">
                  <a:latin typeface="黑体" pitchFamily="2" charset="-122"/>
                  <a:ea typeface="黑体" pitchFamily="2" charset="-122"/>
                </a:rPr>
                <a:t>压滤机类型（</a:t>
              </a:r>
              <a:r>
                <a:rPr lang="en-US" altLang="zh-CN" b="1" dirty="0" smtClean="0">
                  <a:latin typeface="黑体" pitchFamily="2" charset="-122"/>
                  <a:ea typeface="黑体" pitchFamily="2" charset="-122"/>
                </a:rPr>
                <a:t>X</a:t>
              </a:r>
              <a:r>
                <a:rPr lang="zh-CN" altLang="en-US" b="1" dirty="0" smtClean="0">
                  <a:latin typeface="黑体" pitchFamily="2" charset="-122"/>
                  <a:ea typeface="黑体" pitchFamily="2" charset="-122"/>
                </a:rPr>
                <a:t>：厢式</a:t>
              </a:r>
              <a:r>
                <a:rPr lang="en-US" altLang="zh-CN" b="1" dirty="0" smtClean="0">
                  <a:latin typeface="黑体" pitchFamily="2" charset="-122"/>
                  <a:ea typeface="黑体" pitchFamily="2" charset="-122"/>
                </a:rPr>
                <a:t>B</a:t>
              </a:r>
              <a:r>
                <a:rPr lang="zh-CN" altLang="en-US" b="1" dirty="0" smtClean="0">
                  <a:latin typeface="黑体" pitchFamily="2" charset="-122"/>
                  <a:ea typeface="黑体" pitchFamily="2" charset="-122"/>
                </a:rPr>
                <a:t>：板框）</a:t>
              </a:r>
              <a:endParaRPr lang="zh-CN" altLang="en-US" b="1" dirty="0">
                <a:latin typeface="黑体" pitchFamily="2" charset="-122"/>
                <a:ea typeface="黑体" pitchFamily="2" charset="-122"/>
              </a:endParaRPr>
            </a:p>
          </p:txBody>
        </p:sp>
        <p:sp>
          <p:nvSpPr>
            <p:cNvPr id="39" name="矩形 38"/>
            <p:cNvSpPr/>
            <p:nvPr/>
          </p:nvSpPr>
          <p:spPr>
            <a:xfrm>
              <a:off x="3428992" y="5306596"/>
              <a:ext cx="3441968" cy="369332"/>
            </a:xfrm>
            <a:prstGeom prst="rect">
              <a:avLst/>
            </a:prstGeom>
          </p:spPr>
          <p:txBody>
            <a:bodyPr wrap="none">
              <a:spAutoFit/>
            </a:bodyPr>
            <a:lstStyle/>
            <a:p>
              <a:r>
                <a:rPr lang="zh-CN" altLang="en-US" b="1" dirty="0" smtClean="0">
                  <a:latin typeface="黑体" pitchFamily="2" charset="-122"/>
                  <a:ea typeface="黑体" pitchFamily="2" charset="-122"/>
                </a:rPr>
                <a:t>液流方式（</a:t>
              </a:r>
              <a:r>
                <a:rPr lang="en-US" altLang="zh-CN" b="1" dirty="0" smtClean="0">
                  <a:latin typeface="黑体" pitchFamily="2" charset="-122"/>
                  <a:ea typeface="黑体" pitchFamily="2" charset="-122"/>
                </a:rPr>
                <a:t>M</a:t>
              </a:r>
              <a:r>
                <a:rPr lang="zh-CN" altLang="en-US" b="1" dirty="0" smtClean="0">
                  <a:latin typeface="黑体" pitchFamily="2" charset="-122"/>
                  <a:ea typeface="黑体" pitchFamily="2" charset="-122"/>
                </a:rPr>
                <a:t>：明流  </a:t>
              </a:r>
              <a:r>
                <a:rPr lang="en-US" altLang="zh-CN" b="1" dirty="0" smtClean="0">
                  <a:latin typeface="黑体" pitchFamily="2" charset="-122"/>
                  <a:ea typeface="黑体" pitchFamily="2" charset="-122"/>
                </a:rPr>
                <a:t>A</a:t>
              </a:r>
              <a:r>
                <a:rPr lang="zh-CN" altLang="en-US" b="1" dirty="0" smtClean="0">
                  <a:latin typeface="黑体" pitchFamily="2" charset="-122"/>
                  <a:ea typeface="黑体" pitchFamily="2" charset="-122"/>
                </a:rPr>
                <a:t>：暗流）</a:t>
              </a:r>
              <a:endParaRPr lang="zh-CN" altLang="en-US" b="1" dirty="0">
                <a:latin typeface="黑体" pitchFamily="2" charset="-122"/>
                <a:ea typeface="黑体" pitchFamily="2" charset="-122"/>
              </a:endParaRPr>
            </a:p>
          </p:txBody>
        </p:sp>
        <p:sp>
          <p:nvSpPr>
            <p:cNvPr id="41" name="矩形 40"/>
            <p:cNvSpPr/>
            <p:nvPr/>
          </p:nvSpPr>
          <p:spPr>
            <a:xfrm>
              <a:off x="3428992" y="4767443"/>
              <a:ext cx="5214958" cy="369332"/>
            </a:xfrm>
            <a:prstGeom prst="rect">
              <a:avLst/>
            </a:prstGeom>
          </p:spPr>
          <p:txBody>
            <a:bodyPr wrap="square">
              <a:spAutoFit/>
            </a:bodyPr>
            <a:lstStyle/>
            <a:p>
              <a:r>
                <a:rPr lang="zh-CN" altLang="en-US" b="1" dirty="0" smtClean="0">
                  <a:latin typeface="黑体" pitchFamily="2" charset="-122"/>
                  <a:ea typeface="黑体" pitchFamily="2" charset="-122"/>
                </a:rPr>
                <a:t>是否带隔膜（</a:t>
              </a:r>
              <a:r>
                <a:rPr lang="en-US" altLang="zh-CN" b="1" dirty="0" smtClean="0">
                  <a:latin typeface="黑体" pitchFamily="2" charset="-122"/>
                  <a:ea typeface="黑体" pitchFamily="2" charset="-122"/>
                </a:rPr>
                <a:t>G:</a:t>
              </a:r>
              <a:r>
                <a:rPr lang="zh-CN" altLang="en-US" b="1" dirty="0" smtClean="0">
                  <a:latin typeface="黑体" pitchFamily="2" charset="-122"/>
                  <a:ea typeface="黑体" pitchFamily="2" charset="-122"/>
                </a:rPr>
                <a:t>带隔膜压榨，无代号不带隔膜）</a:t>
              </a:r>
              <a:endParaRPr lang="zh-CN" altLang="en-US" b="1" dirty="0">
                <a:latin typeface="黑体" pitchFamily="2" charset="-122"/>
                <a:ea typeface="黑体" pitchFamily="2" charset="-122"/>
              </a:endParaRPr>
            </a:p>
          </p:txBody>
        </p:sp>
        <p:sp>
          <p:nvSpPr>
            <p:cNvPr id="42" name="矩形 41"/>
            <p:cNvSpPr/>
            <p:nvPr/>
          </p:nvSpPr>
          <p:spPr>
            <a:xfrm>
              <a:off x="3428992" y="2071678"/>
              <a:ext cx="2765501" cy="369332"/>
            </a:xfrm>
            <a:prstGeom prst="rect">
              <a:avLst/>
            </a:prstGeom>
          </p:spPr>
          <p:txBody>
            <a:bodyPr wrap="none">
              <a:spAutoFit/>
            </a:bodyPr>
            <a:lstStyle/>
            <a:p>
              <a:r>
                <a:rPr lang="en-US" altLang="zh-CN" b="1" dirty="0" smtClean="0">
                  <a:latin typeface="黑体" pitchFamily="2" charset="-122"/>
                  <a:ea typeface="黑体" pitchFamily="2" charset="-122"/>
                </a:rPr>
                <a:t>B</a:t>
              </a:r>
              <a:r>
                <a:rPr lang="zh-CN" altLang="en-US" b="1" dirty="0" smtClean="0">
                  <a:latin typeface="黑体" pitchFamily="2" charset="-122"/>
                  <a:ea typeface="黑体" pitchFamily="2" charset="-122"/>
                </a:rPr>
                <a:t>为不可洗式，</a:t>
              </a:r>
              <a:r>
                <a:rPr lang="en-US" altLang="zh-CN" b="1" dirty="0" smtClean="0">
                  <a:latin typeface="黑体" pitchFamily="2" charset="-122"/>
                  <a:ea typeface="黑体" pitchFamily="2" charset="-122"/>
                </a:rPr>
                <a:t>K</a:t>
              </a:r>
              <a:r>
                <a:rPr lang="zh-CN" altLang="en-US" b="1" dirty="0" smtClean="0">
                  <a:latin typeface="黑体" pitchFamily="2" charset="-122"/>
                  <a:ea typeface="黑体" pitchFamily="2" charset="-122"/>
                </a:rPr>
                <a:t>为可洗式</a:t>
              </a:r>
              <a:endParaRPr lang="zh-CN" altLang="en-US" b="1" dirty="0">
                <a:latin typeface="黑体" pitchFamily="2" charset="-122"/>
                <a:ea typeface="黑体" pitchFamily="2" charset="-122"/>
              </a:endParaRPr>
            </a:p>
          </p:txBody>
        </p:sp>
        <p:sp>
          <p:nvSpPr>
            <p:cNvPr id="43" name="矩形 42"/>
            <p:cNvSpPr/>
            <p:nvPr/>
          </p:nvSpPr>
          <p:spPr>
            <a:xfrm>
              <a:off x="3428992" y="3689137"/>
              <a:ext cx="1813317" cy="369332"/>
            </a:xfrm>
            <a:prstGeom prst="rect">
              <a:avLst/>
            </a:prstGeom>
          </p:spPr>
          <p:txBody>
            <a:bodyPr wrap="none">
              <a:spAutoFit/>
            </a:bodyPr>
            <a:lstStyle/>
            <a:p>
              <a:r>
                <a:rPr lang="zh-CN" altLang="en-US" b="1" dirty="0" smtClean="0">
                  <a:latin typeface="黑体" pitchFamily="2" charset="-122"/>
                  <a:ea typeface="黑体" pitchFamily="2" charset="-122"/>
                </a:rPr>
                <a:t>滤板尺寸（</a:t>
              </a:r>
              <a:r>
                <a:rPr lang="en-US" altLang="zh-CN" b="1" dirty="0" smtClean="0">
                  <a:latin typeface="黑体" pitchFamily="2" charset="-122"/>
                  <a:ea typeface="黑体" pitchFamily="2" charset="-122"/>
                </a:rPr>
                <a:t>mm</a:t>
              </a:r>
              <a:r>
                <a:rPr lang="zh-CN" altLang="en-US" b="1" dirty="0" smtClean="0">
                  <a:latin typeface="黑体" pitchFamily="2" charset="-122"/>
                  <a:ea typeface="黑体" pitchFamily="2" charset="-122"/>
                </a:rPr>
                <a:t>）</a:t>
              </a:r>
              <a:endParaRPr lang="zh-CN" altLang="en-US" b="1" dirty="0">
                <a:latin typeface="黑体" pitchFamily="2" charset="-122"/>
                <a:ea typeface="黑体" pitchFamily="2" charset="-122"/>
              </a:endParaRPr>
            </a:p>
          </p:txBody>
        </p:sp>
        <p:sp>
          <p:nvSpPr>
            <p:cNvPr id="44" name="矩形 43"/>
            <p:cNvSpPr/>
            <p:nvPr/>
          </p:nvSpPr>
          <p:spPr>
            <a:xfrm>
              <a:off x="3428992" y="3149984"/>
              <a:ext cx="1830950" cy="369332"/>
            </a:xfrm>
            <a:prstGeom prst="rect">
              <a:avLst/>
            </a:prstGeom>
          </p:spPr>
          <p:txBody>
            <a:bodyPr wrap="none">
              <a:spAutoFit/>
            </a:bodyPr>
            <a:lstStyle/>
            <a:p>
              <a:r>
                <a:rPr lang="zh-CN" altLang="en-US" b="1" dirty="0" smtClean="0">
                  <a:latin typeface="黑体" pitchFamily="2" charset="-122"/>
                  <a:ea typeface="黑体" pitchFamily="2" charset="-122"/>
                </a:rPr>
                <a:t>过滤面积（</a:t>
              </a:r>
              <a:r>
                <a:rPr lang="en-US" altLang="zh-CN" b="1" dirty="0" smtClean="0">
                  <a:latin typeface="黑体" pitchFamily="2" charset="-122"/>
                  <a:ea typeface="黑体" pitchFamily="2" charset="-122"/>
                </a:rPr>
                <a:t>m²</a:t>
              </a:r>
              <a:r>
                <a:rPr lang="zh-CN" altLang="en-US" b="1" dirty="0" smtClean="0">
                  <a:latin typeface="黑体" pitchFamily="2" charset="-122"/>
                  <a:ea typeface="黑体" pitchFamily="2" charset="-122"/>
                </a:rPr>
                <a:t>）</a:t>
              </a:r>
              <a:endParaRPr lang="zh-CN" altLang="en-US" b="1" dirty="0">
                <a:latin typeface="黑体" pitchFamily="2" charset="-122"/>
                <a:ea typeface="黑体" pitchFamily="2" charset="-122"/>
              </a:endParaRPr>
            </a:p>
          </p:txBody>
        </p:sp>
        <p:sp>
          <p:nvSpPr>
            <p:cNvPr id="45" name="矩形 44"/>
            <p:cNvSpPr/>
            <p:nvPr/>
          </p:nvSpPr>
          <p:spPr>
            <a:xfrm>
              <a:off x="3428992" y="4228290"/>
              <a:ext cx="4936593" cy="369332"/>
            </a:xfrm>
            <a:prstGeom prst="rect">
              <a:avLst/>
            </a:prstGeom>
          </p:spPr>
          <p:txBody>
            <a:bodyPr wrap="square">
              <a:spAutoFit/>
            </a:bodyPr>
            <a:lstStyle/>
            <a:p>
              <a:r>
                <a:rPr lang="zh-CN" altLang="en-US" b="1" dirty="0" smtClean="0">
                  <a:latin typeface="黑体" pitchFamily="2" charset="-122"/>
                  <a:ea typeface="黑体" pitchFamily="2" charset="-122"/>
                </a:rPr>
                <a:t>压紧方式（</a:t>
              </a:r>
              <a:r>
                <a:rPr lang="en-US" altLang="zh-CN" b="1" dirty="0" smtClean="0">
                  <a:latin typeface="黑体" pitchFamily="2" charset="-122"/>
                  <a:ea typeface="黑体" pitchFamily="2" charset="-122"/>
                </a:rPr>
                <a:t>S</a:t>
              </a:r>
              <a:r>
                <a:rPr lang="zh-CN" altLang="en-US" b="1" dirty="0" smtClean="0">
                  <a:latin typeface="黑体" pitchFamily="2" charset="-122"/>
                  <a:ea typeface="黑体" pitchFamily="2" charset="-122"/>
                </a:rPr>
                <a:t>：手动</a:t>
              </a:r>
              <a:r>
                <a:rPr lang="en-US" altLang="zh-CN" b="1" dirty="0" smtClean="0">
                  <a:latin typeface="黑体" pitchFamily="2" charset="-122"/>
                  <a:ea typeface="黑体" pitchFamily="2" charset="-122"/>
                </a:rPr>
                <a:t>J</a:t>
              </a:r>
              <a:r>
                <a:rPr lang="zh-CN" altLang="en-US" b="1" dirty="0" smtClean="0">
                  <a:latin typeface="黑体" pitchFamily="2" charset="-122"/>
                  <a:ea typeface="黑体" pitchFamily="2" charset="-122"/>
                </a:rPr>
                <a:t>：机械</a:t>
              </a:r>
              <a:r>
                <a:rPr lang="en-US" altLang="zh-CN" b="1" dirty="0" smtClean="0">
                  <a:latin typeface="黑体" pitchFamily="2" charset="-122"/>
                  <a:ea typeface="黑体" pitchFamily="2" charset="-122"/>
                </a:rPr>
                <a:t>Z</a:t>
              </a:r>
              <a:r>
                <a:rPr lang="zh-CN" altLang="en-US" b="1" dirty="0" smtClean="0">
                  <a:latin typeface="黑体" pitchFamily="2" charset="-122"/>
                  <a:ea typeface="黑体" pitchFamily="2" charset="-122"/>
                </a:rPr>
                <a:t>：动</a:t>
              </a:r>
              <a:r>
                <a:rPr lang="en-US" altLang="zh-CN" b="1" dirty="0" smtClean="0">
                  <a:latin typeface="黑体" pitchFamily="2" charset="-122"/>
                  <a:ea typeface="黑体" pitchFamily="2" charset="-122"/>
                </a:rPr>
                <a:t>Y</a:t>
              </a:r>
              <a:r>
                <a:rPr lang="zh-CN" altLang="en-US" b="1" dirty="0" smtClean="0">
                  <a:latin typeface="黑体" pitchFamily="2" charset="-122"/>
                  <a:ea typeface="黑体" pitchFamily="2" charset="-122"/>
                </a:rPr>
                <a:t>：液压）</a:t>
              </a:r>
              <a:endParaRPr lang="zh-CN" altLang="en-US" b="1" dirty="0">
                <a:latin typeface="黑体" pitchFamily="2" charset="-122"/>
                <a:ea typeface="黑体" pitchFamily="2" charset="-122"/>
              </a:endParaRPr>
            </a:p>
          </p:txBody>
        </p:sp>
        <p:sp>
          <p:nvSpPr>
            <p:cNvPr id="46" name="矩形 45"/>
            <p:cNvSpPr/>
            <p:nvPr/>
          </p:nvSpPr>
          <p:spPr>
            <a:xfrm>
              <a:off x="3428992" y="2610831"/>
              <a:ext cx="5357834" cy="369332"/>
            </a:xfrm>
            <a:prstGeom prst="rect">
              <a:avLst/>
            </a:prstGeom>
          </p:spPr>
          <p:txBody>
            <a:bodyPr wrap="square">
              <a:spAutoFit/>
            </a:bodyPr>
            <a:lstStyle/>
            <a:p>
              <a:r>
                <a:rPr lang="zh-CN" altLang="en-US" b="1" dirty="0" smtClean="0">
                  <a:latin typeface="黑体" pitchFamily="2" charset="-122"/>
                  <a:ea typeface="黑体" pitchFamily="2" charset="-122"/>
                </a:rPr>
                <a:t>滤板材质（</a:t>
              </a:r>
              <a:r>
                <a:rPr lang="en-US" altLang="zh-CN" b="1" dirty="0" smtClean="0">
                  <a:latin typeface="黑体" pitchFamily="2" charset="-122"/>
                  <a:ea typeface="黑体" pitchFamily="2" charset="-122"/>
                </a:rPr>
                <a:t>U</a:t>
              </a:r>
              <a:r>
                <a:rPr lang="zh-CN" altLang="en-US" b="1" dirty="0" smtClean="0">
                  <a:latin typeface="黑体" pitchFamily="2" charset="-122"/>
                  <a:ea typeface="黑体" pitchFamily="2" charset="-122"/>
                </a:rPr>
                <a:t>：塑料、</a:t>
              </a:r>
              <a:r>
                <a:rPr lang="en-US" altLang="zh-CN" b="1" dirty="0" smtClean="0">
                  <a:latin typeface="黑体" pitchFamily="2" charset="-122"/>
                  <a:ea typeface="黑体" pitchFamily="2" charset="-122"/>
                </a:rPr>
                <a:t>X</a:t>
              </a:r>
              <a:r>
                <a:rPr lang="zh-CN" altLang="en-US" b="1" dirty="0" smtClean="0">
                  <a:latin typeface="黑体" pitchFamily="2" charset="-122"/>
                  <a:ea typeface="黑体" pitchFamily="2" charset="-122"/>
                </a:rPr>
                <a:t>：橡胶、无代号为铸铁）</a:t>
              </a:r>
              <a:endParaRPr lang="zh-CN" altLang="en-US" b="1" dirty="0">
                <a:latin typeface="黑体" pitchFamily="2" charset="-122"/>
                <a:ea typeface="黑体" pitchFamily="2" charset="-122"/>
              </a:endParaRPr>
            </a:p>
          </p:txBody>
        </p:sp>
      </p:grpSp>
      <p:grpSp>
        <p:nvGrpSpPr>
          <p:cNvPr id="52" name="组合 51"/>
          <p:cNvGrpSpPr/>
          <p:nvPr/>
        </p:nvGrpSpPr>
        <p:grpSpPr>
          <a:xfrm>
            <a:off x="642910" y="1428736"/>
            <a:ext cx="2643206" cy="400110"/>
            <a:chOff x="642910" y="1428736"/>
            <a:chExt cx="2643206" cy="400110"/>
          </a:xfrm>
        </p:grpSpPr>
        <p:sp>
          <p:nvSpPr>
            <p:cNvPr id="29" name="矩形 28"/>
            <p:cNvSpPr/>
            <p:nvPr/>
          </p:nvSpPr>
          <p:spPr>
            <a:xfrm>
              <a:off x="1901640" y="1428736"/>
              <a:ext cx="312906" cy="400110"/>
            </a:xfrm>
            <a:prstGeom prst="rect">
              <a:avLst/>
            </a:prstGeom>
            <a:ln w="38100">
              <a:noFill/>
            </a:ln>
          </p:spPr>
          <p:txBody>
            <a:bodyPr wrap="none">
              <a:spAutoFit/>
            </a:bodyPr>
            <a:lstStyle/>
            <a:p>
              <a:r>
                <a:rPr lang="en-US" altLang="zh-CN" sz="2000" b="1" dirty="0" smtClean="0">
                  <a:solidFill>
                    <a:prstClr val="black"/>
                  </a:solidFill>
                  <a:latin typeface="宋体"/>
                  <a:cs typeface="Times New Roman" pitchFamily="18" charset="0"/>
                </a:rPr>
                <a:t>/</a:t>
              </a:r>
              <a:endParaRPr lang="zh-CN" altLang="en-US" b="1" dirty="0"/>
            </a:p>
          </p:txBody>
        </p:sp>
        <p:sp>
          <p:nvSpPr>
            <p:cNvPr id="30" name="矩形 29"/>
            <p:cNvSpPr/>
            <p:nvPr/>
          </p:nvSpPr>
          <p:spPr>
            <a:xfrm>
              <a:off x="2357422" y="1428736"/>
              <a:ext cx="441146" cy="400110"/>
            </a:xfrm>
            <a:prstGeom prst="rect">
              <a:avLst/>
            </a:prstGeom>
            <a:ln w="38100">
              <a:noFill/>
            </a:ln>
          </p:spPr>
          <p:txBody>
            <a:bodyPr wrap="none">
              <a:spAutoFit/>
            </a:bodyPr>
            <a:lstStyle/>
            <a:p>
              <a:r>
                <a:rPr lang="en-US" altLang="zh-CN" sz="2000" b="1" dirty="0" smtClean="0">
                  <a:solidFill>
                    <a:prstClr val="black"/>
                  </a:solidFill>
                  <a:latin typeface="宋体"/>
                  <a:cs typeface="Times New Roman" pitchFamily="18" charset="0"/>
                </a:rPr>
                <a:t>—</a:t>
              </a:r>
              <a:endParaRPr lang="zh-CN" altLang="en-US" b="1" dirty="0"/>
            </a:p>
          </p:txBody>
        </p:sp>
        <p:sp>
          <p:nvSpPr>
            <p:cNvPr id="31" name="矩形 30"/>
            <p:cNvSpPr/>
            <p:nvPr/>
          </p:nvSpPr>
          <p:spPr>
            <a:xfrm>
              <a:off x="642910"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910803"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78696"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1446589"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1714480"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143108"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2786050"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3071802" y="1521634"/>
              <a:ext cx="214314" cy="2143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形状 54"/>
          <p:cNvCxnSpPr>
            <a:stCxn id="50" idx="2"/>
            <a:endCxn id="42" idx="1"/>
          </p:cNvCxnSpPr>
          <p:nvPr/>
        </p:nvCxnSpPr>
        <p:spPr>
          <a:xfrm rot="16200000" flipH="1">
            <a:off x="3043777" y="1871129"/>
            <a:ext cx="520396" cy="250033"/>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形状 56"/>
          <p:cNvCxnSpPr>
            <a:stCxn id="49" idx="2"/>
            <a:endCxn id="46" idx="1"/>
          </p:cNvCxnSpPr>
          <p:nvPr/>
        </p:nvCxnSpPr>
        <p:spPr>
          <a:xfrm rot="16200000" flipH="1">
            <a:off x="2631325" y="1997829"/>
            <a:ext cx="1059549" cy="535785"/>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形状 58"/>
          <p:cNvCxnSpPr>
            <a:stCxn id="48" idx="2"/>
            <a:endCxn id="44" idx="1"/>
          </p:cNvCxnSpPr>
          <p:nvPr/>
        </p:nvCxnSpPr>
        <p:spPr>
          <a:xfrm rot="16200000" flipH="1">
            <a:off x="2040277" y="1945935"/>
            <a:ext cx="1598702" cy="1178727"/>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形状 60"/>
          <p:cNvCxnSpPr>
            <a:stCxn id="47" idx="2"/>
            <a:endCxn id="43" idx="1"/>
          </p:cNvCxnSpPr>
          <p:nvPr/>
        </p:nvCxnSpPr>
        <p:spPr>
          <a:xfrm rot="16200000" flipH="1">
            <a:off x="1556387" y="2001197"/>
            <a:ext cx="2137855" cy="1607355"/>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形状 62"/>
          <p:cNvCxnSpPr>
            <a:stCxn id="34" idx="2"/>
            <a:endCxn id="45" idx="1"/>
          </p:cNvCxnSpPr>
          <p:nvPr/>
        </p:nvCxnSpPr>
        <p:spPr>
          <a:xfrm rot="16200000" flipH="1">
            <a:off x="1152865" y="2136829"/>
            <a:ext cx="2677008" cy="1875246"/>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形状 64"/>
          <p:cNvCxnSpPr>
            <a:stCxn id="33" idx="2"/>
            <a:endCxn id="41" idx="1"/>
          </p:cNvCxnSpPr>
          <p:nvPr/>
        </p:nvCxnSpPr>
        <p:spPr>
          <a:xfrm rot="16200000" flipH="1">
            <a:off x="749342" y="2272458"/>
            <a:ext cx="3216161" cy="2143139"/>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肘形连接符 66"/>
          <p:cNvCxnSpPr>
            <a:stCxn id="32" idx="2"/>
            <a:endCxn id="39" idx="1"/>
          </p:cNvCxnSpPr>
          <p:nvPr/>
        </p:nvCxnSpPr>
        <p:spPr>
          <a:xfrm rot="16200000" flipH="1">
            <a:off x="345819" y="2408089"/>
            <a:ext cx="3755314" cy="2411032"/>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形状 69"/>
          <p:cNvCxnSpPr>
            <a:stCxn id="31" idx="2"/>
            <a:endCxn id="38" idx="1"/>
          </p:cNvCxnSpPr>
          <p:nvPr/>
        </p:nvCxnSpPr>
        <p:spPr>
          <a:xfrm rot="16200000" flipH="1">
            <a:off x="-57705" y="2543719"/>
            <a:ext cx="4294468" cy="2678925"/>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189" y="1299379"/>
            <a:ext cx="7921624" cy="3693319"/>
          </a:xfrm>
          <a:prstGeom prst="rect">
            <a:avLst/>
          </a:prstGeom>
        </p:spPr>
        <p:txBody>
          <a:bodyPr wrap="square">
            <a:spAutoFit/>
          </a:bodyPr>
          <a:lstStyle/>
          <a:p>
            <a:r>
              <a:rPr lang="en-US" altLang="zh-CN" dirty="0" smtClean="0"/>
              <a:t>2.6  </a:t>
            </a:r>
            <a:r>
              <a:rPr lang="zh-CN" altLang="en-US" dirty="0" smtClean="0"/>
              <a:t>压滤机的安装</a:t>
            </a:r>
          </a:p>
          <a:p>
            <a:r>
              <a:rPr lang="en-US" altLang="zh-CN" dirty="0" smtClean="0"/>
              <a:t>1</a:t>
            </a:r>
            <a:r>
              <a:rPr lang="zh-CN" altLang="en-US" dirty="0" smtClean="0"/>
              <a:t>）压滤机安装时，首先检查混凝土基础结构，要求平整、坚固；卸料时为了便于操作，人行通道要求畅通，压滤机周围需留宽度</a:t>
            </a:r>
            <a:r>
              <a:rPr lang="en-US" altLang="zh-CN" dirty="0" smtClean="0"/>
              <a:t>1</a:t>
            </a:r>
            <a:r>
              <a:rPr lang="zh-CN" altLang="en-US" dirty="0" smtClean="0"/>
              <a:t>米左右的通道；机架应进行水平及对角线校正，尾板支腿用地脚螺栓固定，油缸支腿不用固定，并且与地接触面要求平滑，以保证其在受力状态下保持一定的自由位移。</a:t>
            </a:r>
          </a:p>
          <a:p>
            <a:r>
              <a:rPr lang="en-US" altLang="zh-CN" dirty="0" smtClean="0"/>
              <a:t>2</a:t>
            </a:r>
            <a:r>
              <a:rPr lang="zh-CN" altLang="en-US" dirty="0" smtClean="0"/>
              <a:t>）检查压滤机机架各连接螺栓是否紧固，滤板排列是否整齐，各孔位是否对正，明流压滤机要将出液水嘴安装在滤板下端，并拧紧；如用户要求使用接液盘或翻板，整机的底座应比基础面高出一定尺寸，留出接液盘或翻板的空间。</a:t>
            </a:r>
          </a:p>
          <a:p>
            <a:r>
              <a:rPr lang="en-US" altLang="zh-CN" dirty="0" smtClean="0"/>
              <a:t>3</a:t>
            </a:r>
            <a:r>
              <a:rPr lang="zh-CN" altLang="en-US" dirty="0" smtClean="0"/>
              <a:t>）滤板要整齐排列在机架上，不允许出现倾斜现象，以免影响压滤机的正常使用；滤布一定要保持平整，不能有折叠，否则会出现漏料现象；使用夹布器螺栓一定要均匀拧紧，使滤布紧贴在进料口处，不然会使滤浆进入滤布和滤板之间，影响压滤机的正常使用。</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166843"/>
            <a:ext cx="7921624" cy="2585323"/>
          </a:xfrm>
          <a:prstGeom prst="rect">
            <a:avLst/>
          </a:prstGeom>
        </p:spPr>
        <p:txBody>
          <a:bodyPr wrap="square">
            <a:spAutoFit/>
          </a:bodyPr>
          <a:lstStyle/>
          <a:p>
            <a:r>
              <a:rPr lang="en-US" altLang="zh-CN" dirty="0" smtClean="0"/>
              <a:t>4</a:t>
            </a:r>
            <a:r>
              <a:rPr lang="zh-CN" altLang="en-US" dirty="0" smtClean="0"/>
              <a:t>）液压站安装的位置可根据用户实际场地而定（部分机型已将泵站和电箱安装在机架上），管道尽可能短，最短距离在</a:t>
            </a:r>
            <a:r>
              <a:rPr lang="en-US" altLang="zh-CN" dirty="0" smtClean="0"/>
              <a:t>1.5</a:t>
            </a:r>
            <a:r>
              <a:rPr lang="zh-CN" altLang="en-US" dirty="0" smtClean="0"/>
              <a:t>米以内；液压站应离卸料处远一些，以免物料落在液压站上面，影响液压元件或电机的正常使用；检查各油管连接处是否松动，油箱是否干净，然后向油箱充满</a:t>
            </a:r>
            <a:r>
              <a:rPr lang="en-US" altLang="zh-CN" dirty="0" smtClean="0"/>
              <a:t>HM46</a:t>
            </a:r>
            <a:r>
              <a:rPr lang="zh-CN" altLang="en-US" dirty="0" smtClean="0"/>
              <a:t>或</a:t>
            </a:r>
            <a:r>
              <a:rPr lang="en-US" altLang="zh-CN" dirty="0" smtClean="0"/>
              <a:t>HM68</a:t>
            </a:r>
            <a:r>
              <a:rPr lang="zh-CN" altLang="en-US" dirty="0" smtClean="0"/>
              <a:t>号抗磨液压油。</a:t>
            </a:r>
          </a:p>
          <a:p>
            <a:r>
              <a:rPr lang="en-US" altLang="zh-CN" dirty="0" smtClean="0"/>
              <a:t>5</a:t>
            </a:r>
            <a:r>
              <a:rPr lang="zh-CN" altLang="en-US" dirty="0" smtClean="0"/>
              <a:t>）如有腐蚀气体用户，电气控制柜应安装在与腐蚀气体隔离的操作室内，避免电器元件受损，影响正常工作（其它用户可根据需要进行安装）；检查电源及电动机等接线正确无误后，将电源接通，对电控柜再检查一遍。</a:t>
            </a:r>
          </a:p>
          <a:p>
            <a:r>
              <a:rPr lang="en-US" altLang="zh-CN" dirty="0" smtClean="0"/>
              <a:t>6</a:t>
            </a:r>
            <a:r>
              <a:rPr lang="zh-CN" altLang="en-US" dirty="0" smtClean="0"/>
              <a:t>）压滤机在吊运时，与吊装相接触的地方应衬垫布料或其它软体材料。</a:t>
            </a:r>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582341"/>
            <a:ext cx="7921624" cy="2585323"/>
          </a:xfrm>
          <a:prstGeom prst="rect">
            <a:avLst/>
          </a:prstGeom>
        </p:spPr>
        <p:txBody>
          <a:bodyPr wrap="square">
            <a:spAutoFit/>
          </a:bodyPr>
          <a:lstStyle/>
          <a:p>
            <a:r>
              <a:rPr lang="en-US" altLang="zh-CN" dirty="0" smtClean="0"/>
              <a:t>2.7  </a:t>
            </a:r>
            <a:r>
              <a:rPr lang="zh-CN" altLang="en-US" dirty="0" smtClean="0"/>
              <a:t>压滤机的调试</a:t>
            </a:r>
          </a:p>
          <a:p>
            <a:r>
              <a:rPr lang="zh-CN" altLang="en-US" dirty="0" smtClean="0"/>
              <a:t>调试工作是整个压滤机使用至关重要的环节。调试质量的好坏直接影响压滤机的使用和寿命。</a:t>
            </a:r>
          </a:p>
          <a:p>
            <a:r>
              <a:rPr lang="en-US" altLang="zh-CN" dirty="0" smtClean="0"/>
              <a:t>1</a:t>
            </a:r>
            <a:r>
              <a:rPr lang="zh-CN" altLang="en-US" dirty="0" smtClean="0"/>
              <a:t>．整机检查：</a:t>
            </a:r>
          </a:p>
          <a:p>
            <a:r>
              <a:rPr lang="en-US" altLang="zh-CN" dirty="0" smtClean="0"/>
              <a:t>1</a:t>
            </a:r>
            <a:r>
              <a:rPr lang="zh-CN" altLang="en-US" dirty="0" smtClean="0"/>
              <a:t>）液压站，电控柜擦干净，检查电柜接线以及电气的接线是否正确。然后向油箱充满型号为</a:t>
            </a:r>
            <a:r>
              <a:rPr lang="en-US" altLang="zh-CN" dirty="0" smtClean="0"/>
              <a:t>HM46</a:t>
            </a:r>
            <a:r>
              <a:rPr lang="zh-CN" altLang="en-US" dirty="0" smtClean="0"/>
              <a:t>或</a:t>
            </a:r>
            <a:r>
              <a:rPr lang="en-US" altLang="zh-CN" dirty="0" smtClean="0"/>
              <a:t>HM68</a:t>
            </a:r>
            <a:r>
              <a:rPr lang="zh-CN" altLang="en-US" dirty="0" smtClean="0"/>
              <a:t>的液压油。</a:t>
            </a:r>
          </a:p>
          <a:p>
            <a:r>
              <a:rPr lang="en-US" altLang="zh-CN" dirty="0" smtClean="0"/>
              <a:t>2</a:t>
            </a:r>
            <a:r>
              <a:rPr lang="zh-CN" altLang="en-US" dirty="0" smtClean="0"/>
              <a:t>）机架、滤板、隔膜板、活塞杆擦干净。检查滤板、排列是否整齐、正确。检查隔膜板和配板滤布安装是否正确，滤布有无折叠现象。</a:t>
            </a:r>
          </a:p>
          <a:p>
            <a:r>
              <a:rPr lang="en-US" altLang="zh-CN" dirty="0" smtClean="0"/>
              <a:t>3</a:t>
            </a:r>
            <a:r>
              <a:rPr lang="zh-CN" altLang="en-US" dirty="0" smtClean="0"/>
              <a:t>）进料、压榨、吹气管路与阀门是否正确。</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428736"/>
            <a:ext cx="7921624" cy="3693319"/>
          </a:xfrm>
          <a:prstGeom prst="rect">
            <a:avLst/>
          </a:prstGeom>
        </p:spPr>
        <p:txBody>
          <a:bodyPr wrap="square">
            <a:spAutoFit/>
          </a:bodyPr>
          <a:lstStyle/>
          <a:p>
            <a:r>
              <a:rPr lang="en-US" altLang="zh-CN" dirty="0" smtClean="0"/>
              <a:t>2</a:t>
            </a:r>
            <a:r>
              <a:rPr lang="zh-CN" altLang="en-US" dirty="0" smtClean="0"/>
              <a:t>．液压系统调试：</a:t>
            </a:r>
          </a:p>
          <a:p>
            <a:r>
              <a:rPr lang="en-US" altLang="zh-CN" dirty="0" smtClean="0"/>
              <a:t>1</a:t>
            </a:r>
            <a:r>
              <a:rPr lang="zh-CN" altLang="en-US" dirty="0" smtClean="0"/>
              <a:t>）启动电机，观察转向是否与变量柱塞泵标注转向一致。</a:t>
            </a:r>
          </a:p>
          <a:p>
            <a:r>
              <a:rPr lang="en-US" altLang="zh-CN" dirty="0" smtClean="0"/>
              <a:t>2</a:t>
            </a:r>
            <a:r>
              <a:rPr lang="zh-CN" altLang="en-US" dirty="0" smtClean="0"/>
              <a:t>）压滤机没进料情况下，首先将油缸上的电接点压力表的上限值调到</a:t>
            </a:r>
            <a:r>
              <a:rPr lang="en-US" altLang="zh-CN" dirty="0" smtClean="0"/>
              <a:t>5Mpa,</a:t>
            </a:r>
            <a:r>
              <a:rPr lang="zh-CN" altLang="en-US" dirty="0" smtClean="0"/>
              <a:t>下限调到</a:t>
            </a:r>
            <a:r>
              <a:rPr lang="en-US" altLang="zh-CN" dirty="0" smtClean="0"/>
              <a:t>2Mpa</a:t>
            </a:r>
            <a:r>
              <a:rPr lang="zh-CN" altLang="en-US" dirty="0" smtClean="0"/>
              <a:t>进行加压，并将高压腔处的放气阀打开，进行排气，见流出液压油后关闭。压紧后再进行松开，同时打开低压腔的放气阀进行排气，到流出液压油后关闭 到达限位后在反复进行几次，待活塞杆运行平稳，没有爬行状态为止。然后再进行滤板的排放，滤板的偏移量不能超过</a:t>
            </a:r>
            <a:r>
              <a:rPr lang="en-US" altLang="zh-CN" dirty="0" smtClean="0"/>
              <a:t>5mm</a:t>
            </a:r>
            <a:r>
              <a:rPr lang="zh-CN" altLang="en-US" dirty="0" smtClean="0"/>
              <a:t>，否则因滤板的密封面减小，引起滤板的损坏和漏液现象。接着将油缸上的电接点压力表上限调到</a:t>
            </a:r>
            <a:r>
              <a:rPr lang="en-US" altLang="zh-CN" dirty="0" smtClean="0"/>
              <a:t>12Mpa</a:t>
            </a:r>
            <a:r>
              <a:rPr lang="zh-CN" altLang="en-US" dirty="0" smtClean="0"/>
              <a:t>，下限调到</a:t>
            </a:r>
            <a:r>
              <a:rPr lang="en-US" altLang="zh-CN" dirty="0" smtClean="0"/>
              <a:t>9Mpa</a:t>
            </a:r>
            <a:r>
              <a:rPr lang="zh-CN" altLang="en-US" dirty="0" smtClean="0"/>
              <a:t>进行压紧，检查压力受力的情况，主梁两侧有无异常。如果没异常再将油缸上的电接点压力表上限调至</a:t>
            </a:r>
            <a:r>
              <a:rPr lang="en-US" altLang="zh-CN" dirty="0" smtClean="0"/>
              <a:t>14Mpa</a:t>
            </a:r>
            <a:r>
              <a:rPr lang="zh-CN" altLang="en-US" dirty="0" smtClean="0"/>
              <a:t>，下限调至</a:t>
            </a:r>
            <a:r>
              <a:rPr lang="en-US" altLang="zh-CN" dirty="0" smtClean="0"/>
              <a:t>11Mpa</a:t>
            </a:r>
            <a:r>
              <a:rPr lang="zh-CN" altLang="en-US" dirty="0" smtClean="0"/>
              <a:t>进行压紧，看有无异常，如果还有异常，最后将电接点压力表上限调到</a:t>
            </a:r>
            <a:r>
              <a:rPr lang="en-US" altLang="zh-CN" dirty="0" smtClean="0"/>
              <a:t>16Mpa</a:t>
            </a:r>
            <a:r>
              <a:rPr lang="zh-CN" altLang="en-US" dirty="0" smtClean="0"/>
              <a:t>，下限调到</a:t>
            </a:r>
            <a:r>
              <a:rPr lang="en-US" altLang="zh-CN" dirty="0" smtClean="0"/>
              <a:t>13Mpa</a:t>
            </a:r>
            <a:r>
              <a:rPr lang="zh-CN" altLang="en-US" dirty="0" smtClean="0"/>
              <a:t>，进行压紧，如果再没溢料就可以进料。</a:t>
            </a:r>
          </a:p>
          <a:p>
            <a:r>
              <a:rPr lang="en-US" altLang="zh-CN" dirty="0" smtClean="0"/>
              <a:t>3</a:t>
            </a:r>
            <a:r>
              <a:rPr lang="zh-CN" altLang="en-US" dirty="0" smtClean="0"/>
              <a:t>．电气系统调试：</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500174"/>
            <a:ext cx="7921625" cy="3693319"/>
          </a:xfrm>
          <a:prstGeom prst="rect">
            <a:avLst/>
          </a:prstGeom>
        </p:spPr>
        <p:txBody>
          <a:bodyPr wrap="square">
            <a:spAutoFit/>
          </a:bodyPr>
          <a:lstStyle/>
          <a:p>
            <a:r>
              <a:rPr lang="en-US" altLang="zh-CN" dirty="0" smtClean="0"/>
              <a:t>4</a:t>
            </a:r>
            <a:r>
              <a:rPr lang="zh-CN" altLang="en-US" dirty="0" smtClean="0"/>
              <a:t>．过滤部分调试：</a:t>
            </a:r>
          </a:p>
          <a:p>
            <a:r>
              <a:rPr lang="en-US" altLang="zh-CN" dirty="0" smtClean="0"/>
              <a:t>1) </a:t>
            </a:r>
            <a:r>
              <a:rPr lang="zh-CN" altLang="en-US" dirty="0" smtClean="0"/>
              <a:t>压紧配板和隔膜板并保压。</a:t>
            </a:r>
          </a:p>
          <a:p>
            <a:r>
              <a:rPr lang="en-US" altLang="zh-CN" dirty="0" smtClean="0"/>
              <a:t>2</a:t>
            </a:r>
            <a:r>
              <a:rPr lang="zh-CN" altLang="en-US" dirty="0" smtClean="0"/>
              <a:t>）打开所有的出液阀，关闭吹气阀，进料阀门打开</a:t>
            </a:r>
            <a:r>
              <a:rPr lang="en-US" altLang="zh-CN" dirty="0" smtClean="0"/>
              <a:t>1/4</a:t>
            </a:r>
            <a:r>
              <a:rPr lang="zh-CN" altLang="en-US" dirty="0" smtClean="0"/>
              <a:t>左右，启动进料泵</a:t>
            </a:r>
            <a:r>
              <a:rPr lang="en-US" altLang="zh-CN" dirty="0" smtClean="0"/>
              <a:t>,</a:t>
            </a:r>
            <a:r>
              <a:rPr lang="zh-CN" altLang="en-US" dirty="0" smtClean="0"/>
              <a:t>观察滤液以及进料压力变化。如果压力高，需要打开回流管上的阀门进行调节。由于滤布的毛细现象。刚开始过滤时，滤液有少量混浊。一般明流</a:t>
            </a:r>
            <a:r>
              <a:rPr lang="en-US" altLang="zh-CN" dirty="0" smtClean="0"/>
              <a:t>3</a:t>
            </a:r>
            <a:r>
              <a:rPr lang="zh-CN" altLang="en-US" dirty="0" smtClean="0"/>
              <a:t>－</a:t>
            </a:r>
            <a:r>
              <a:rPr lang="en-US" altLang="zh-CN" dirty="0" smtClean="0"/>
              <a:t>5</a:t>
            </a:r>
            <a:r>
              <a:rPr lang="zh-CN" altLang="en-US" dirty="0" smtClean="0"/>
              <a:t>分钟后，暗流</a:t>
            </a:r>
            <a:r>
              <a:rPr lang="en-US" altLang="zh-CN" dirty="0" smtClean="0"/>
              <a:t>5</a:t>
            </a:r>
            <a:r>
              <a:rPr lang="zh-CN" altLang="en-US" dirty="0" smtClean="0"/>
              <a:t>－</a:t>
            </a:r>
            <a:r>
              <a:rPr lang="en-US" altLang="zh-CN" dirty="0" smtClean="0"/>
              <a:t>6</a:t>
            </a:r>
            <a:r>
              <a:rPr lang="zh-CN" altLang="en-US" dirty="0" smtClean="0"/>
              <a:t>分钟后正常。这时，可将进料阀门缓慢放大，并打开溢流阀，当进料压力上升到</a:t>
            </a:r>
            <a:r>
              <a:rPr lang="en-US" altLang="zh-CN" dirty="0" smtClean="0"/>
              <a:t>0.6Mpa</a:t>
            </a:r>
            <a:r>
              <a:rPr lang="zh-CN" altLang="en-US" dirty="0" smtClean="0"/>
              <a:t>时，滤液流出很少时，停止进料。然后打开前后两端进料孔的吹气阀门</a:t>
            </a:r>
            <a:r>
              <a:rPr lang="en-US" altLang="zh-CN" dirty="0" smtClean="0"/>
              <a:t>,</a:t>
            </a:r>
            <a:r>
              <a:rPr lang="zh-CN" altLang="en-US" dirty="0" smtClean="0"/>
              <a:t>进行高压空气穿流，这样可以降低滤饼的含水率。打开充气阀，向隔膜板的腔室内充气，充气压力不超</a:t>
            </a:r>
            <a:r>
              <a:rPr lang="en-US" altLang="zh-CN" dirty="0" smtClean="0"/>
              <a:t>0.8Mpa</a:t>
            </a:r>
            <a:r>
              <a:rPr lang="zh-CN" altLang="en-US" dirty="0" smtClean="0"/>
              <a:t>，可以压榨出滤室中滤饼的部分水份，一般隔膜压榨历时</a:t>
            </a:r>
            <a:r>
              <a:rPr lang="en-US" altLang="zh-CN" dirty="0" smtClean="0"/>
              <a:t>2</a:t>
            </a:r>
            <a:r>
              <a:rPr lang="zh-CN" altLang="en-US" dirty="0" smtClean="0"/>
              <a:t>－</a:t>
            </a:r>
            <a:r>
              <a:rPr lang="en-US" altLang="zh-CN" dirty="0" smtClean="0"/>
              <a:t>3</a:t>
            </a:r>
            <a:r>
              <a:rPr lang="zh-CN" altLang="en-US" dirty="0" smtClean="0"/>
              <a:t>分钟，当压榨出的滤液量小时，关闭充气阀，打开卸压阀，将隔膜腔室内的气体卸掉。</a:t>
            </a:r>
          </a:p>
          <a:p>
            <a:r>
              <a:rPr lang="zh-CN" altLang="en-US" dirty="0" smtClean="0"/>
              <a:t>注：无论在调试还是在正常使用时，物料温度一般保证在</a:t>
            </a:r>
            <a:r>
              <a:rPr lang="en-US" altLang="zh-CN" dirty="0" smtClean="0"/>
              <a:t>15</a:t>
            </a:r>
            <a:r>
              <a:rPr lang="zh-CN" altLang="en-US" dirty="0" smtClean="0"/>
              <a:t>－</a:t>
            </a:r>
            <a:r>
              <a:rPr lang="en-US" altLang="zh-CN" dirty="0" smtClean="0"/>
              <a:t>40℃</a:t>
            </a:r>
            <a:r>
              <a:rPr lang="zh-CN" altLang="en-US" dirty="0" smtClean="0"/>
              <a:t>左右，在进行压榨之前物料必须充满滤室，否则会导致滤板损坏，影响生产。</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714877"/>
            <a:ext cx="7921625" cy="3139321"/>
          </a:xfrm>
          <a:prstGeom prst="rect">
            <a:avLst/>
          </a:prstGeom>
        </p:spPr>
        <p:txBody>
          <a:bodyPr wrap="square">
            <a:spAutoFit/>
          </a:bodyPr>
          <a:lstStyle/>
          <a:p>
            <a:r>
              <a:rPr lang="en-US" altLang="zh-CN" dirty="0" smtClean="0"/>
              <a:t>2.8  </a:t>
            </a:r>
            <a:r>
              <a:rPr lang="zh-CN" altLang="en-US" dirty="0" smtClean="0"/>
              <a:t>压滤机的操作使用</a:t>
            </a:r>
          </a:p>
          <a:p>
            <a:r>
              <a:rPr lang="zh-CN" altLang="en-US" dirty="0" smtClean="0"/>
              <a:t>电控箱面板上有四个指示灯，电源指示、压紧指示、保压指示、松开指示。蘑菇头按钮为急停按钮，下面是前进停止和后退停止按钮，在工作时，先按通电源，电源指示灯亮，然后确认设备准备完毕后，按下压紧按钮，压紧指示灯亮，电动机启动，压紧板前进压紧，当达到压力后，继电器动作，电机自动停止，压紧完成，开始保压，保压指示灯亮，开始投料，（液压压滤机进料压力最高</a:t>
            </a:r>
            <a:r>
              <a:rPr lang="en-US" altLang="zh-CN" dirty="0" smtClean="0"/>
              <a:t>1.2Mpa</a:t>
            </a:r>
            <a:r>
              <a:rPr lang="zh-CN" altLang="en-US" dirty="0" smtClean="0"/>
              <a:t>，用户可根据物料的透水性能浓度及工作效率，选定适宜进料压力的进料泵。）投料完成后，关闭进料阀门，开始冲洗或吹干，如果不需要冲洗和吹干，则需等出液口液体停止流出后松开按钮自动松开，松开指示灯亮，启动泵站，压紧板松开，退到指定位置后，限位动作，电机停止，整工序完成。如图</a:t>
            </a:r>
            <a:r>
              <a:rPr lang="en-US" altLang="zh-CN" dirty="0" smtClean="0"/>
              <a:t>1</a:t>
            </a:r>
            <a:r>
              <a:rPr lang="zh-CN" altLang="en-US" dirty="0" smtClean="0"/>
              <a:t>。</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14096" y="4857760"/>
            <a:ext cx="2715808" cy="369332"/>
          </a:xfrm>
          <a:prstGeom prst="rect">
            <a:avLst/>
          </a:prstGeom>
        </p:spPr>
        <p:txBody>
          <a:bodyPr wrap="none">
            <a:spAutoFit/>
          </a:bodyPr>
          <a:lstStyle/>
          <a:p>
            <a:r>
              <a:rPr lang="zh-CN" altLang="en-US" dirty="0" smtClean="0"/>
              <a:t>图</a:t>
            </a:r>
            <a:r>
              <a:rPr lang="en-US" altLang="zh-CN" dirty="0" smtClean="0"/>
              <a:t>1  </a:t>
            </a:r>
            <a:r>
              <a:rPr lang="zh-CN" altLang="en-US" dirty="0" smtClean="0"/>
              <a:t>压滤机的操作流程图</a:t>
            </a:r>
            <a:endParaRPr lang="zh-CN" altLang="en-US" dirty="0"/>
          </a:p>
        </p:txBody>
      </p:sp>
      <p:grpSp>
        <p:nvGrpSpPr>
          <p:cNvPr id="38" name="组合 37"/>
          <p:cNvGrpSpPr/>
          <p:nvPr/>
        </p:nvGrpSpPr>
        <p:grpSpPr>
          <a:xfrm>
            <a:off x="1555085" y="1643050"/>
            <a:ext cx="6033829" cy="2757507"/>
            <a:chOff x="1428732" y="2428868"/>
            <a:chExt cx="6033829" cy="2757507"/>
          </a:xfrm>
        </p:grpSpPr>
        <p:sp>
          <p:nvSpPr>
            <p:cNvPr id="10" name="矩形 9"/>
            <p:cNvSpPr/>
            <p:nvPr/>
          </p:nvSpPr>
          <p:spPr>
            <a:xfrm>
              <a:off x="2447910" y="4702742"/>
              <a:ext cx="2031325" cy="369332"/>
            </a:xfrm>
            <a:prstGeom prst="rect">
              <a:avLst/>
            </a:prstGeom>
            <a:ln w="28575">
              <a:solidFill>
                <a:srgbClr val="002060"/>
              </a:solidFill>
            </a:ln>
          </p:spPr>
          <p:txBody>
            <a:bodyPr wrap="none">
              <a:spAutoFit/>
            </a:bodyPr>
            <a:lstStyle/>
            <a:p>
              <a:r>
                <a:rPr lang="zh-CN" altLang="en-US" dirty="0" smtClean="0">
                  <a:solidFill>
                    <a:srgbClr val="0000FF"/>
                  </a:solidFill>
                  <a:latin typeface="黑体" pitchFamily="2" charset="-122"/>
                  <a:ea typeface="黑体" pitchFamily="2" charset="-122"/>
                </a:rPr>
                <a:t>松开滤板卸掉滤饼</a:t>
              </a:r>
              <a:endParaRPr lang="zh-CN" altLang="en-US" dirty="0">
                <a:solidFill>
                  <a:srgbClr val="0000FF"/>
                </a:solidFill>
                <a:latin typeface="黑体" pitchFamily="2" charset="-122"/>
                <a:ea typeface="黑体" pitchFamily="2" charset="-122"/>
              </a:endParaRPr>
            </a:p>
          </p:txBody>
        </p:sp>
        <p:grpSp>
          <p:nvGrpSpPr>
            <p:cNvPr id="19" name="组合 18"/>
            <p:cNvGrpSpPr/>
            <p:nvPr/>
          </p:nvGrpSpPr>
          <p:grpSpPr>
            <a:xfrm>
              <a:off x="2909574" y="2428868"/>
              <a:ext cx="3199050" cy="369332"/>
              <a:chOff x="2909574" y="2428868"/>
              <a:chExt cx="3199050" cy="369332"/>
            </a:xfrm>
          </p:grpSpPr>
          <p:sp>
            <p:nvSpPr>
              <p:cNvPr id="11" name="矩形 10"/>
              <p:cNvSpPr/>
              <p:nvPr/>
            </p:nvSpPr>
            <p:spPr>
              <a:xfrm>
                <a:off x="2909574" y="2428868"/>
                <a:ext cx="1107996" cy="369332"/>
              </a:xfrm>
              <a:prstGeom prst="rect">
                <a:avLst/>
              </a:prstGeom>
              <a:ln w="28575">
                <a:solidFill>
                  <a:srgbClr val="002060"/>
                </a:solidFill>
              </a:ln>
            </p:spPr>
            <p:txBody>
              <a:bodyPr wrap="none">
                <a:spAutoFit/>
              </a:bodyPr>
              <a:lstStyle/>
              <a:p>
                <a:r>
                  <a:rPr lang="zh-CN" altLang="en-US" dirty="0" smtClean="0">
                    <a:solidFill>
                      <a:srgbClr val="0000FF"/>
                    </a:solidFill>
                    <a:latin typeface="黑体" pitchFamily="2" charset="-122"/>
                    <a:ea typeface="黑体" pitchFamily="2" charset="-122"/>
                  </a:rPr>
                  <a:t>压紧滤板</a:t>
                </a:r>
                <a:endParaRPr lang="zh-CN" altLang="en-US" dirty="0">
                  <a:solidFill>
                    <a:srgbClr val="0000FF"/>
                  </a:solidFill>
                  <a:latin typeface="黑体" pitchFamily="2" charset="-122"/>
                  <a:ea typeface="黑体" pitchFamily="2" charset="-122"/>
                </a:endParaRPr>
              </a:p>
            </p:txBody>
          </p:sp>
          <p:sp>
            <p:nvSpPr>
              <p:cNvPr id="12" name="矩形 11"/>
              <p:cNvSpPr/>
              <p:nvPr/>
            </p:nvSpPr>
            <p:spPr>
              <a:xfrm>
                <a:off x="5000628" y="2428868"/>
                <a:ext cx="1107996" cy="369332"/>
              </a:xfrm>
              <a:prstGeom prst="rect">
                <a:avLst/>
              </a:prstGeom>
              <a:ln w="28575">
                <a:solidFill>
                  <a:srgbClr val="002060"/>
                </a:solidFill>
              </a:ln>
            </p:spPr>
            <p:txBody>
              <a:bodyPr wrap="none">
                <a:spAutoFit/>
              </a:bodyPr>
              <a:lstStyle/>
              <a:p>
                <a:r>
                  <a:rPr lang="zh-CN" altLang="en-US" dirty="0" smtClean="0">
                    <a:solidFill>
                      <a:srgbClr val="0000FF"/>
                    </a:solidFill>
                    <a:latin typeface="黑体" pitchFamily="2" charset="-122"/>
                    <a:ea typeface="黑体" pitchFamily="2" charset="-122"/>
                  </a:rPr>
                  <a:t>自动保压</a:t>
                </a:r>
                <a:endParaRPr lang="zh-CN" altLang="en-US" dirty="0">
                  <a:solidFill>
                    <a:srgbClr val="0000FF"/>
                  </a:solidFill>
                  <a:latin typeface="黑体" pitchFamily="2" charset="-122"/>
                  <a:ea typeface="黑体" pitchFamily="2" charset="-122"/>
                </a:endParaRPr>
              </a:p>
            </p:txBody>
          </p:sp>
        </p:grpSp>
        <p:sp>
          <p:nvSpPr>
            <p:cNvPr id="14" name="TextBox 13"/>
            <p:cNvSpPr txBox="1"/>
            <p:nvPr/>
          </p:nvSpPr>
          <p:spPr>
            <a:xfrm>
              <a:off x="7000896" y="2976496"/>
              <a:ext cx="461665" cy="1015663"/>
            </a:xfrm>
            <a:prstGeom prst="rect">
              <a:avLst/>
            </a:prstGeom>
            <a:noFill/>
            <a:ln w="28575">
              <a:solidFill>
                <a:srgbClr val="002060"/>
              </a:solidFill>
            </a:ln>
          </p:spPr>
          <p:txBody>
            <a:bodyPr vert="eaVert" wrap="none" rtlCol="0">
              <a:spAutoFit/>
            </a:bodyPr>
            <a:lstStyle/>
            <a:p>
              <a:r>
                <a:rPr lang="zh-CN" altLang="en-US" dirty="0" smtClean="0">
                  <a:solidFill>
                    <a:srgbClr val="0000FF"/>
                  </a:solidFill>
                  <a:latin typeface="黑体" pitchFamily="2" charset="-122"/>
                  <a:ea typeface="黑体" pitchFamily="2" charset="-122"/>
                </a:rPr>
                <a:t>进料过滤</a:t>
              </a:r>
              <a:endParaRPr lang="zh-CN" altLang="en-US" dirty="0">
                <a:solidFill>
                  <a:srgbClr val="0000FF"/>
                </a:solidFill>
                <a:latin typeface="黑体" pitchFamily="2" charset="-122"/>
                <a:ea typeface="黑体" pitchFamily="2" charset="-122"/>
              </a:endParaRPr>
            </a:p>
          </p:txBody>
        </p:sp>
        <p:sp>
          <p:nvSpPr>
            <p:cNvPr id="15" name="TextBox 14"/>
            <p:cNvSpPr txBox="1"/>
            <p:nvPr/>
          </p:nvSpPr>
          <p:spPr>
            <a:xfrm>
              <a:off x="1428732" y="2951804"/>
              <a:ext cx="461665" cy="1477328"/>
            </a:xfrm>
            <a:prstGeom prst="rect">
              <a:avLst/>
            </a:prstGeom>
            <a:noFill/>
            <a:ln w="28575">
              <a:solidFill>
                <a:srgbClr val="002060"/>
              </a:solidFill>
            </a:ln>
          </p:spPr>
          <p:txBody>
            <a:bodyPr vert="eaVert" wrap="none" rtlCol="0">
              <a:spAutoFit/>
            </a:bodyPr>
            <a:lstStyle/>
            <a:p>
              <a:r>
                <a:rPr lang="zh-CN" altLang="en-US" dirty="0" smtClean="0">
                  <a:solidFill>
                    <a:srgbClr val="0000FF"/>
                  </a:solidFill>
                  <a:latin typeface="黑体" pitchFamily="2" charset="-122"/>
                  <a:ea typeface="黑体" pitchFamily="2" charset="-122"/>
                </a:rPr>
                <a:t>清洗整理滤布</a:t>
              </a:r>
              <a:endParaRPr lang="zh-CN" altLang="en-US" dirty="0">
                <a:solidFill>
                  <a:srgbClr val="0000FF"/>
                </a:solidFill>
                <a:latin typeface="黑体" pitchFamily="2" charset="-122"/>
                <a:ea typeface="黑体" pitchFamily="2" charset="-122"/>
              </a:endParaRPr>
            </a:p>
          </p:txBody>
        </p:sp>
        <p:sp>
          <p:nvSpPr>
            <p:cNvPr id="16" name="矩形 15"/>
            <p:cNvSpPr/>
            <p:nvPr/>
          </p:nvSpPr>
          <p:spPr>
            <a:xfrm>
              <a:off x="5321392" y="4202676"/>
              <a:ext cx="1107996" cy="369332"/>
            </a:xfrm>
            <a:prstGeom prst="rect">
              <a:avLst/>
            </a:prstGeom>
            <a:ln w="28575">
              <a:solidFill>
                <a:srgbClr val="002060"/>
              </a:solidFill>
            </a:ln>
          </p:spPr>
          <p:txBody>
            <a:bodyPr wrap="none">
              <a:spAutoFit/>
            </a:bodyPr>
            <a:lstStyle/>
            <a:p>
              <a:r>
                <a:rPr lang="zh-CN" altLang="en-US" dirty="0" smtClean="0">
                  <a:solidFill>
                    <a:srgbClr val="0000FF"/>
                  </a:solidFill>
                  <a:latin typeface="黑体" pitchFamily="2" charset="-122"/>
                  <a:ea typeface="黑体" pitchFamily="2" charset="-122"/>
                </a:rPr>
                <a:t>洗涤滤饼</a:t>
              </a:r>
              <a:endParaRPr lang="zh-CN" altLang="en-US" dirty="0">
                <a:solidFill>
                  <a:srgbClr val="0000FF"/>
                </a:solidFill>
                <a:latin typeface="黑体" pitchFamily="2" charset="-122"/>
                <a:ea typeface="黑体" pitchFamily="2" charset="-122"/>
              </a:endParaRPr>
            </a:p>
          </p:txBody>
        </p:sp>
        <p:cxnSp>
          <p:nvCxnSpPr>
            <p:cNvPr id="22" name="直接箭头连接符 21"/>
            <p:cNvCxnSpPr>
              <a:stCxn id="11" idx="3"/>
              <a:endCxn id="12" idx="1"/>
            </p:cNvCxnSpPr>
            <p:nvPr/>
          </p:nvCxnSpPr>
          <p:spPr>
            <a:xfrm>
              <a:off x="4017570" y="2613534"/>
              <a:ext cx="983058"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形状 23"/>
            <p:cNvCxnSpPr>
              <a:stCxn id="12" idx="3"/>
              <a:endCxn id="14" idx="0"/>
            </p:cNvCxnSpPr>
            <p:nvPr/>
          </p:nvCxnSpPr>
          <p:spPr>
            <a:xfrm>
              <a:off x="6108624" y="2613534"/>
              <a:ext cx="1123105" cy="362962"/>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形状 25"/>
            <p:cNvCxnSpPr>
              <a:stCxn id="14" idx="2"/>
              <a:endCxn id="10" idx="3"/>
            </p:cNvCxnSpPr>
            <p:nvPr/>
          </p:nvCxnSpPr>
          <p:spPr>
            <a:xfrm rot="5400000">
              <a:off x="5407858" y="3063536"/>
              <a:ext cx="895249" cy="2752494"/>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形状 27"/>
            <p:cNvCxnSpPr>
              <a:stCxn id="10" idx="1"/>
              <a:endCxn id="15" idx="2"/>
            </p:cNvCxnSpPr>
            <p:nvPr/>
          </p:nvCxnSpPr>
          <p:spPr>
            <a:xfrm rot="10800000">
              <a:off x="1659566" y="4429132"/>
              <a:ext cx="788345" cy="458276"/>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形状 29"/>
            <p:cNvCxnSpPr>
              <a:stCxn id="15" idx="0"/>
              <a:endCxn id="11" idx="1"/>
            </p:cNvCxnSpPr>
            <p:nvPr/>
          </p:nvCxnSpPr>
          <p:spPr>
            <a:xfrm rot="5400000" flipH="1" flipV="1">
              <a:off x="2115434" y="2157665"/>
              <a:ext cx="338270" cy="1250009"/>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4857752" y="4900623"/>
              <a:ext cx="2214578" cy="285752"/>
              <a:chOff x="4857752" y="4900623"/>
              <a:chExt cx="2214578" cy="285752"/>
            </a:xfrm>
            <a:noFill/>
          </p:grpSpPr>
          <p:sp>
            <p:nvSpPr>
              <p:cNvPr id="31" name="矩形 30"/>
              <p:cNvSpPr/>
              <p:nvPr/>
            </p:nvSpPr>
            <p:spPr>
              <a:xfrm>
                <a:off x="4857752" y="4900623"/>
                <a:ext cx="285752" cy="28575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786578" y="4900623"/>
                <a:ext cx="285752" cy="28575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5" name="形状 34"/>
            <p:cNvCxnSpPr>
              <a:stCxn id="32" idx="0"/>
              <a:endCxn id="16" idx="3"/>
            </p:cNvCxnSpPr>
            <p:nvPr/>
          </p:nvCxnSpPr>
          <p:spPr>
            <a:xfrm rot="16200000" flipV="1">
              <a:off x="6422781" y="4393950"/>
              <a:ext cx="513281" cy="500066"/>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7" name="肘形连接符 36"/>
            <p:cNvCxnSpPr>
              <a:stCxn id="16" idx="1"/>
              <a:endCxn id="10" idx="3"/>
            </p:cNvCxnSpPr>
            <p:nvPr/>
          </p:nvCxnSpPr>
          <p:spPr>
            <a:xfrm rot="10800000" flipV="1">
              <a:off x="4479236" y="4387342"/>
              <a:ext cx="842157" cy="500066"/>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grpSp>
      <p:sp>
        <p:nvSpPr>
          <p:cNvPr id="39" name="矩形 38"/>
          <p:cNvSpPr/>
          <p:nvPr/>
        </p:nvSpPr>
        <p:spPr>
          <a:xfrm>
            <a:off x="611188" y="5735419"/>
            <a:ext cx="7921625" cy="646331"/>
          </a:xfrm>
          <a:prstGeom prst="rect">
            <a:avLst/>
          </a:prstGeom>
        </p:spPr>
        <p:txBody>
          <a:bodyPr wrap="square">
            <a:spAutoFit/>
          </a:bodyPr>
          <a:lstStyle/>
          <a:p>
            <a:r>
              <a:rPr lang="zh-CN" altLang="en-US" dirty="0" smtClean="0"/>
              <a:t>以上</a:t>
            </a:r>
            <a:r>
              <a:rPr lang="en-US" altLang="zh-CN" dirty="0" smtClean="0"/>
              <a:t>6</a:t>
            </a:r>
            <a:r>
              <a:rPr lang="zh-CN" altLang="en-US" dirty="0" smtClean="0"/>
              <a:t>个工序循环进行，在进行每个工序前，应检查上一个工序是否准备完毕，方可进行下个工序。</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00113" y="2413338"/>
            <a:ext cx="7343775" cy="1477328"/>
          </a:xfrm>
          <a:prstGeom prst="rect">
            <a:avLst/>
          </a:prstGeom>
        </p:spPr>
        <p:txBody>
          <a:bodyPr wrap="square">
            <a:spAutoFit/>
          </a:bodyPr>
          <a:lstStyle/>
          <a:p>
            <a:r>
              <a:rPr lang="en-US" altLang="zh-CN" dirty="0" smtClean="0"/>
              <a:t>2.9  </a:t>
            </a:r>
            <a:r>
              <a:rPr lang="zh-CN" altLang="en-US" dirty="0" smtClean="0"/>
              <a:t>压滤机的保养</a:t>
            </a:r>
          </a:p>
          <a:p>
            <a:r>
              <a:rPr lang="zh-CN" altLang="en-US" dirty="0" smtClean="0"/>
              <a:t>压滤机在使用过程中的保养非常重要，需要对配合部位和传动部位进行润滑和保养，尤其是自动控制系统的反馈信号位置（电接点压力表及行程开关等）和液压系统液压元件的准确性和可靠性必须得到保证，这样才能保持正常工作，为此应做到以下几点：</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2130376"/>
            <a:ext cx="7921625" cy="2031325"/>
          </a:xfrm>
          <a:prstGeom prst="rect">
            <a:avLst/>
          </a:prstGeom>
        </p:spPr>
        <p:txBody>
          <a:bodyPr wrap="square">
            <a:spAutoFit/>
          </a:bodyPr>
          <a:lstStyle/>
          <a:p>
            <a:r>
              <a:rPr lang="en-US" altLang="zh-CN" dirty="0" smtClean="0"/>
              <a:t>1</a:t>
            </a:r>
            <a:r>
              <a:rPr lang="zh-CN" altLang="en-US" dirty="0" smtClean="0"/>
              <a:t>）随时仔细检查各连接处是否牢固，各零件使用是否良好，发现异常情况要及时通知维修人员进行检修。</a:t>
            </a:r>
          </a:p>
          <a:p>
            <a:r>
              <a:rPr lang="en-US" altLang="zh-CN" dirty="0" smtClean="0"/>
              <a:t>2</a:t>
            </a:r>
            <a:r>
              <a:rPr lang="zh-CN" altLang="en-US" dirty="0" smtClean="0"/>
              <a:t>）对轴承、活塞杆等零件要定期进行检查，使各配合部件保持清洁，润滑性能良好，以保证动作灵活。</a:t>
            </a:r>
          </a:p>
          <a:p>
            <a:r>
              <a:rPr lang="en-US" altLang="zh-CN" dirty="0" smtClean="0"/>
              <a:t>3</a:t>
            </a:r>
            <a:r>
              <a:rPr lang="zh-CN" altLang="en-US" dirty="0" smtClean="0"/>
              <a:t>）对电控系统要定期进行绝缘性和可靠性试验，发现由电气元件引起的动作准确度差、不灵活等情况，要及时修理或更换电气元件。</a:t>
            </a:r>
          </a:p>
          <a:p>
            <a:r>
              <a:rPr lang="en-US" altLang="zh-CN" dirty="0" smtClean="0"/>
              <a:t>4</a:t>
            </a:r>
            <a:r>
              <a:rPr lang="zh-CN" altLang="en-US" dirty="0" smtClean="0"/>
              <a:t>）对液压系统的保养，主要是对液压元件及接口处密封性的检查和维护。</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991876"/>
            <a:ext cx="7921625" cy="2585323"/>
          </a:xfrm>
          <a:prstGeom prst="rect">
            <a:avLst/>
          </a:prstGeom>
        </p:spPr>
        <p:txBody>
          <a:bodyPr wrap="square">
            <a:spAutoFit/>
          </a:bodyPr>
          <a:lstStyle/>
          <a:p>
            <a:r>
              <a:rPr lang="en-US" altLang="zh-CN" dirty="0" smtClean="0"/>
              <a:t>5</a:t>
            </a:r>
            <a:r>
              <a:rPr lang="zh-CN" altLang="en-US" dirty="0" smtClean="0"/>
              <a:t>）要经常检查滤板的密封面，以保证其光洁、干净；压紧前，要对滤布进行仔细检查，保证其无折叠、无破损、无夹渣，使其平整完好，以保证过滤效果，同时要经常冲洗滤布，保证滤布的过滤性能。</a:t>
            </a:r>
          </a:p>
          <a:p>
            <a:r>
              <a:rPr lang="en-US" altLang="zh-CN" dirty="0" smtClean="0"/>
              <a:t>6</a:t>
            </a:r>
            <a:r>
              <a:rPr lang="zh-CN" altLang="en-US" dirty="0" smtClean="0"/>
              <a:t>）如果长期不使用，应将滤板清洗干净后整齐排放在压滤机的机架上，用</a:t>
            </a:r>
            <a:r>
              <a:rPr lang="en-US" altLang="zh-CN" dirty="0" smtClean="0"/>
              <a:t>1~5MP</a:t>
            </a:r>
            <a:r>
              <a:rPr lang="zh-CN" altLang="en-US" dirty="0" smtClean="0"/>
              <a:t>压力压紧，滤布清洗后晒干，活塞的外露部分应涂上黄油。</a:t>
            </a:r>
          </a:p>
          <a:p>
            <a:r>
              <a:rPr lang="en-US" altLang="zh-CN" dirty="0" smtClean="0"/>
              <a:t>7</a:t>
            </a:r>
            <a:r>
              <a:rPr lang="zh-CN" altLang="en-US" dirty="0" smtClean="0"/>
              <a:t>）液压油使用</a:t>
            </a:r>
            <a:r>
              <a:rPr lang="en-US" altLang="zh-CN" dirty="0" smtClean="0"/>
              <a:t>HM46</a:t>
            </a:r>
            <a:r>
              <a:rPr lang="zh-CN" altLang="en-US" dirty="0" smtClean="0"/>
              <a:t>或</a:t>
            </a:r>
            <a:r>
              <a:rPr lang="en-US" altLang="zh-CN" dirty="0" smtClean="0"/>
              <a:t>HM68</a:t>
            </a:r>
            <a:r>
              <a:rPr lang="zh-CN" altLang="en-US" dirty="0" smtClean="0"/>
              <a:t>号，而且必须保持清洁。新机第一次运行一周时要更换一次液压油，换油时要把油箱和油缸内使用过的液压油排放干净。继续使用一个月后必须更换一次液压油，建议以后每三个月更换一次这样可以保证压滤机的正常使用。</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graphicFrame>
        <p:nvGraphicFramePr>
          <p:cNvPr id="3" name="表格 2"/>
          <p:cNvGraphicFramePr>
            <a:graphicFrameLocks noGrp="1"/>
          </p:cNvGraphicFramePr>
          <p:nvPr/>
        </p:nvGraphicFramePr>
        <p:xfrm>
          <a:off x="642908" y="1052514"/>
          <a:ext cx="7889904" cy="5325337"/>
        </p:xfrm>
        <a:graphic>
          <a:graphicData uri="http://schemas.openxmlformats.org/drawingml/2006/table">
            <a:tbl>
              <a:tblPr/>
              <a:tblGrid>
                <a:gridCol w="889843"/>
                <a:gridCol w="1705529"/>
                <a:gridCol w="5294532"/>
              </a:tblGrid>
              <a:tr h="345149">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43996">
                <a:tc rowSpan="5">
                  <a:txBody>
                    <a:bodyPr/>
                    <a:lstStyle/>
                    <a:p>
                      <a:pPr algn="ctr">
                        <a:lnSpc>
                          <a:spcPct val="150000"/>
                        </a:lnSpc>
                        <a:spcAft>
                          <a:spcPts val="0"/>
                        </a:spcAft>
                      </a:pPr>
                      <a:r>
                        <a:rPr lang="en-US" sz="1400" b="1" kern="100" dirty="0" smtClean="0">
                          <a:solidFill>
                            <a:srgbClr val="0000FF"/>
                          </a:solidFill>
                          <a:latin typeface="Times New Roman"/>
                          <a:ea typeface="宋体"/>
                        </a:rPr>
                        <a:t>1</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滤板</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损坏</a:t>
                      </a:r>
                      <a:endParaRPr lang="zh-CN" sz="1400" b="1" kern="100" dirty="0">
                        <a:solidFill>
                          <a:srgbClr val="0000FF"/>
                        </a:solidFill>
                        <a:latin typeface="Times New Roman"/>
                        <a:ea typeface="宋体"/>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、进料孔堵塞</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、进料口附近的几块滤板损坏，可初步判断为进料口堵塞造成，料浆浓度过大，或清理不及时会造成进料孔堵塞，稀释滤液。</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6568">
                <a:tc vMerge="1">
                  <a:txBody>
                    <a:bodyPr/>
                    <a:lstStyle/>
                    <a:p>
                      <a:endParaRPr lang="zh-CN" altLang="en-US"/>
                    </a:p>
                  </a:txBody>
                  <a:tcPr/>
                </a:tc>
                <a:tc>
                  <a:txBody>
                    <a:bodyPr/>
                    <a:lstStyle/>
                    <a:p>
                      <a:pPr algn="ctr">
                        <a:lnSpc>
                          <a:spcPct val="150000"/>
                        </a:lnSpc>
                        <a:spcAft>
                          <a:spcPts val="0"/>
                        </a:spcAft>
                      </a:pP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、进料压力过高</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、出现反压时，或压力表的显示超过铭牌规定的压力。表明进料压力高，解决办法：调整进料端的压力控制器系统</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40116">
                <a:tc vMerge="1">
                  <a:txBody>
                    <a:bodyPr/>
                    <a:lstStyle/>
                    <a:p>
                      <a:endParaRPr lang="zh-CN" altLang="en-US"/>
                    </a:p>
                  </a:txBody>
                  <a:tcPr/>
                </a:tc>
                <a:tc>
                  <a:txBody>
                    <a:bodyPr/>
                    <a:lstStyle/>
                    <a:p>
                      <a:pPr algn="ctr">
                        <a:lnSpc>
                          <a:spcPct val="150000"/>
                        </a:lnSpc>
                        <a:spcAft>
                          <a:spcPts val="0"/>
                        </a:spcAft>
                      </a:pPr>
                      <a:r>
                        <a:rPr lang="en-US" sz="1400" b="1" kern="100" dirty="0">
                          <a:solidFill>
                            <a:srgbClr val="0000FF"/>
                          </a:solidFill>
                          <a:latin typeface="Times New Roman"/>
                          <a:ea typeface="宋体"/>
                        </a:rPr>
                        <a:t>C</a:t>
                      </a:r>
                      <a:r>
                        <a:rPr lang="zh-CN" sz="1400" b="1" kern="100" dirty="0">
                          <a:solidFill>
                            <a:srgbClr val="0000FF"/>
                          </a:solidFill>
                          <a:latin typeface="Times New Roman"/>
                          <a:ea typeface="宋体"/>
                        </a:rPr>
                        <a:t>、物料浓度较高</a:t>
                      </a:r>
                      <a:r>
                        <a:rPr lang="zh-CN" sz="1400" b="1" kern="100" dirty="0" smtClean="0">
                          <a:solidFill>
                            <a:srgbClr val="0000FF"/>
                          </a:solidFill>
                          <a:latin typeface="Times New Roman"/>
                          <a:ea typeface="宋体"/>
                        </a:rPr>
                        <a:t>，</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流动性</a:t>
                      </a:r>
                      <a:r>
                        <a:rPr lang="zh-CN" sz="1400" b="1" kern="100" dirty="0">
                          <a:solidFill>
                            <a:srgbClr val="0000FF"/>
                          </a:solidFill>
                          <a:latin typeface="Times New Roman"/>
                          <a:ea typeface="宋体"/>
                        </a:rPr>
                        <a:t>太差</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Times New Roman"/>
                          <a:ea typeface="宋体"/>
                        </a:rPr>
                        <a:t>C</a:t>
                      </a:r>
                      <a:r>
                        <a:rPr lang="zh-CN" sz="1400" b="1" kern="100" dirty="0">
                          <a:solidFill>
                            <a:srgbClr val="0000FF"/>
                          </a:solidFill>
                          <a:latin typeface="Times New Roman"/>
                          <a:ea typeface="宋体"/>
                        </a:rPr>
                        <a:t>、适当降低物料浓度，提高物料流动性</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78853">
                <a:tc vMerge="1">
                  <a:txBody>
                    <a:bodyPr/>
                    <a:lstStyle/>
                    <a:p>
                      <a:endParaRPr lang="zh-CN" altLang="en-US"/>
                    </a:p>
                  </a:txBody>
                  <a:tcPr/>
                </a:tc>
                <a:tc>
                  <a:txBody>
                    <a:bodyPr/>
                    <a:lstStyle/>
                    <a:p>
                      <a:pPr algn="ctr">
                        <a:lnSpc>
                          <a:spcPct val="150000"/>
                        </a:lnSpc>
                        <a:spcAft>
                          <a:spcPts val="0"/>
                        </a:spcAft>
                      </a:pPr>
                      <a:r>
                        <a:rPr lang="en-US" sz="1400" b="1" kern="100" dirty="0">
                          <a:solidFill>
                            <a:srgbClr val="0000FF"/>
                          </a:solidFill>
                          <a:latin typeface="Times New Roman"/>
                          <a:ea typeface="宋体"/>
                        </a:rPr>
                        <a:t>D</a:t>
                      </a:r>
                      <a:r>
                        <a:rPr lang="zh-CN" sz="1400" b="1" kern="100" dirty="0">
                          <a:solidFill>
                            <a:srgbClr val="0000FF"/>
                          </a:solidFill>
                          <a:latin typeface="Times New Roman"/>
                          <a:ea typeface="宋体"/>
                        </a:rPr>
                        <a:t>、进料温度过高</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D</a:t>
                      </a:r>
                      <a:r>
                        <a:rPr lang="zh-CN" sz="1400" b="1" kern="100" dirty="0">
                          <a:solidFill>
                            <a:srgbClr val="0000FF"/>
                          </a:solidFill>
                          <a:latin typeface="Times New Roman"/>
                          <a:ea typeface="宋体"/>
                        </a:rPr>
                        <a:t>、首先了解物料的温度，当过滤物料温度超过了所配滤板的使用温度时，要向客户讲明原因，并调换合适的滤板或采取过滤前冷却料浆的温度</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0655">
                <a:tc vMerge="1">
                  <a:txBody>
                    <a:bodyPr/>
                    <a:lstStyle/>
                    <a:p>
                      <a:endParaRPr lang="zh-CN" altLang="en-US"/>
                    </a:p>
                  </a:txBody>
                  <a:tcPr/>
                </a:tc>
                <a:tc>
                  <a:txBody>
                    <a:bodyPr/>
                    <a:lstStyle/>
                    <a:p>
                      <a:pPr algn="ctr">
                        <a:lnSpc>
                          <a:spcPct val="150000"/>
                        </a:lnSpc>
                        <a:spcAft>
                          <a:spcPts val="0"/>
                        </a:spcAft>
                      </a:pPr>
                      <a:r>
                        <a:rPr lang="en-US" sz="1400" b="1" kern="100" dirty="0">
                          <a:solidFill>
                            <a:srgbClr val="0000FF"/>
                          </a:solidFill>
                          <a:latin typeface="Times New Roman"/>
                          <a:ea typeface="宋体"/>
                        </a:rPr>
                        <a:t>E</a:t>
                      </a:r>
                      <a:r>
                        <a:rPr lang="zh-CN" sz="1400" b="1" kern="100" dirty="0">
                          <a:solidFill>
                            <a:srgbClr val="0000FF"/>
                          </a:solidFill>
                          <a:latin typeface="Times New Roman"/>
                          <a:ea typeface="宋体"/>
                        </a:rPr>
                        <a:t>、滤布破坏</a:t>
                      </a:r>
                      <a:r>
                        <a:rPr lang="zh-CN" sz="1400" b="1" kern="100" dirty="0" smtClean="0">
                          <a:solidFill>
                            <a:srgbClr val="0000FF"/>
                          </a:solidFill>
                          <a:latin typeface="Times New Roman"/>
                          <a:ea typeface="宋体"/>
                        </a:rPr>
                        <a:t>，</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出</a:t>
                      </a:r>
                      <a:r>
                        <a:rPr lang="zh-CN" sz="1400" b="1" kern="100" dirty="0">
                          <a:solidFill>
                            <a:srgbClr val="0000FF"/>
                          </a:solidFill>
                          <a:latin typeface="Times New Roman"/>
                          <a:ea typeface="宋体"/>
                        </a:rPr>
                        <a:t>液孔堵塞</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E</a:t>
                      </a:r>
                      <a:r>
                        <a:rPr lang="zh-CN" sz="1400" b="1" kern="100" dirty="0">
                          <a:solidFill>
                            <a:srgbClr val="0000FF"/>
                          </a:solidFill>
                          <a:latin typeface="Times New Roman"/>
                          <a:ea typeface="宋体"/>
                        </a:rPr>
                        <a:t>、有个别的几个水嘴滤液浑浊，可判断滤布损坏，水嘴不流液，可判断出液孔堵塞。应更换滤布并清理出液孔，保证滤液流出通常、清洁。</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611189" y="1052512"/>
          <a:ext cx="7921625" cy="5329240"/>
        </p:xfrm>
        <a:graphic>
          <a:graphicData uri="http://schemas.openxmlformats.org/drawingml/2006/table">
            <a:tbl>
              <a:tblPr firstRow="1" bandRow="1">
                <a:tableStyleId>{5C22544A-7EE6-4342-B048-85BDC9FD1C3A}</a:tableStyleId>
              </a:tblPr>
              <a:tblGrid>
                <a:gridCol w="960415"/>
                <a:gridCol w="1571636"/>
                <a:gridCol w="5389574"/>
              </a:tblGrid>
              <a:tr h="761320">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1320">
                <a:tc rowSpan="6">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2</a:t>
                      </a:r>
                      <a:endParaRPr lang="en-US" altLang="zh-CN" sz="1200" b="1" kern="100" dirty="0" smtClean="0">
                        <a:solidFill>
                          <a:srgbClr val="0000FF"/>
                        </a:solidFill>
                        <a:latin typeface="+mn-ea"/>
                        <a:ea typeface="+mn-ea"/>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b="1" kern="100" dirty="0" smtClean="0">
                          <a:solidFill>
                            <a:srgbClr val="0000FF"/>
                          </a:solidFill>
                          <a:latin typeface="+mn-ea"/>
                          <a:ea typeface="+mn-ea"/>
                        </a:rPr>
                        <a:t>滤液</a:t>
                      </a:r>
                      <a:endParaRPr lang="en-US" altLang="zh-CN" sz="1200" b="1" kern="100" dirty="0" smtClean="0">
                        <a:solidFill>
                          <a:srgbClr val="0000FF"/>
                        </a:solidFill>
                        <a:latin typeface="+mn-ea"/>
                        <a:ea typeface="+mn-ea"/>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b="1" kern="100" dirty="0" smtClean="0">
                          <a:solidFill>
                            <a:srgbClr val="0000FF"/>
                          </a:solidFill>
                          <a:latin typeface="+mn-ea"/>
                          <a:ea typeface="+mn-ea"/>
                        </a:rPr>
                        <a:t>不清</a:t>
                      </a:r>
                    </a:p>
                    <a:p>
                      <a:endParaRPr lang="zh-CN" altLang="en-US" sz="1200" b="1" dirty="0">
                        <a:solidFill>
                          <a:srgbClr val="0000FF"/>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A</a:t>
                      </a:r>
                      <a:r>
                        <a:rPr lang="zh-CN" altLang="en-US" sz="1200" b="1" kern="100" dirty="0" smtClean="0">
                          <a:solidFill>
                            <a:srgbClr val="0000FF"/>
                          </a:solidFill>
                          <a:latin typeface="+mn-ea"/>
                          <a:ea typeface="+mn-ea"/>
                        </a:rPr>
                        <a:t>、滤布破损</a:t>
                      </a:r>
                    </a:p>
                    <a:p>
                      <a:endParaRPr lang="zh-CN" altLang="en-US" sz="1200" b="1" dirty="0">
                        <a:solidFill>
                          <a:srgbClr val="0000FF"/>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A</a:t>
                      </a:r>
                      <a:r>
                        <a:rPr lang="zh-CN" altLang="en-US" sz="1200" b="1" kern="100" dirty="0" smtClean="0">
                          <a:solidFill>
                            <a:srgbClr val="0000FF"/>
                          </a:solidFill>
                          <a:latin typeface="+mn-ea"/>
                          <a:ea typeface="+mn-ea"/>
                        </a:rPr>
                        <a:t>、观察滤液流出的清浊程度，如由个别水嘴滤液浑浊，可判断此处滤布损坏，检查分析滤布损坏原因，如果是使用不当造成，应向客户介绍正确的使用方法，并更换滤布。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132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B</a:t>
                      </a:r>
                      <a:r>
                        <a:rPr lang="zh-CN" altLang="en-US" sz="1200" b="1" kern="100" dirty="0" smtClean="0">
                          <a:solidFill>
                            <a:srgbClr val="0000FF"/>
                          </a:solidFill>
                          <a:latin typeface="+mn-ea"/>
                          <a:ea typeface="+mn-ea"/>
                        </a:rPr>
                        <a:t>、滤布选择不当</a:t>
                      </a:r>
                    </a:p>
                    <a:p>
                      <a:endParaRPr lang="zh-CN" altLang="en-US" sz="1200" b="1" dirty="0">
                        <a:solidFill>
                          <a:srgbClr val="0000FF"/>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B</a:t>
                      </a:r>
                      <a:r>
                        <a:rPr lang="zh-CN" altLang="en-US" sz="1200" b="1" kern="100" dirty="0" smtClean="0">
                          <a:solidFill>
                            <a:srgbClr val="0000FF"/>
                          </a:solidFill>
                          <a:latin typeface="+mn-ea"/>
                          <a:ea typeface="+mn-ea"/>
                        </a:rPr>
                        <a:t>、将过滤介质带回公司化验，选择合适的滤布，或由客户提供的正确滤布型号进行更换。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132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C</a:t>
                      </a:r>
                      <a:r>
                        <a:rPr lang="zh-CN" altLang="en-US" sz="1200" b="1" kern="100" dirty="0" smtClean="0">
                          <a:solidFill>
                            <a:srgbClr val="0000FF"/>
                          </a:solidFill>
                          <a:latin typeface="+mn-ea"/>
                          <a:ea typeface="+mn-ea"/>
                        </a:rPr>
                        <a:t>、进料口防护不严</a:t>
                      </a:r>
                    </a:p>
                    <a:p>
                      <a:endParaRPr lang="zh-CN" altLang="en-US" sz="1200" b="1" dirty="0">
                        <a:solidFill>
                          <a:srgbClr val="0000FF"/>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C</a:t>
                      </a:r>
                      <a:r>
                        <a:rPr lang="zh-CN" altLang="en-US" sz="1200" b="1" kern="100" dirty="0" smtClean="0">
                          <a:solidFill>
                            <a:srgbClr val="0000FF"/>
                          </a:solidFill>
                          <a:latin typeface="+mn-ea"/>
                          <a:ea typeface="+mn-ea"/>
                        </a:rPr>
                        <a:t>、在进料口处漏液，可判断进料口防护不严，检查进料口法兰、密封垫及连接情况。如有损坏现象，更换相应部件，然后清理干净加密封垫并拧紧进料口。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132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D</a:t>
                      </a:r>
                      <a:r>
                        <a:rPr lang="zh-CN" altLang="en-US" sz="1200" b="1" kern="100" dirty="0" smtClean="0">
                          <a:solidFill>
                            <a:srgbClr val="0000FF"/>
                          </a:solidFill>
                          <a:latin typeface="+mn-ea"/>
                          <a:ea typeface="+mn-ea"/>
                        </a:rPr>
                        <a:t>、滤布开孔过大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D</a:t>
                      </a:r>
                      <a:r>
                        <a:rPr lang="zh-CN" altLang="en-US" sz="1200" b="1" kern="100" dirty="0" smtClean="0">
                          <a:solidFill>
                            <a:srgbClr val="0000FF"/>
                          </a:solidFill>
                          <a:latin typeface="+mn-ea"/>
                          <a:ea typeface="+mn-ea"/>
                        </a:rPr>
                        <a:t>、更换滤布</a:t>
                      </a:r>
                    </a:p>
                    <a:p>
                      <a:endParaRPr lang="zh-CN" altLang="en-US" sz="1200" b="1" dirty="0">
                        <a:solidFill>
                          <a:srgbClr val="0000FF"/>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132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E</a:t>
                      </a:r>
                      <a:r>
                        <a:rPr lang="zh-CN" altLang="en-US" sz="1200" b="1" kern="100" dirty="0" smtClean="0">
                          <a:solidFill>
                            <a:srgbClr val="0000FF"/>
                          </a:solidFill>
                          <a:latin typeface="+mn-ea"/>
                          <a:ea typeface="+mn-ea"/>
                        </a:rPr>
                        <a:t>、滤布缝合处开线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00" dirty="0" smtClean="0">
                          <a:solidFill>
                            <a:srgbClr val="0000FF"/>
                          </a:solidFill>
                          <a:latin typeface="+mn-ea"/>
                          <a:ea typeface="+mn-ea"/>
                        </a:rPr>
                        <a:t>E</a:t>
                      </a:r>
                      <a:r>
                        <a:rPr lang="zh-CN" altLang="en-US" sz="1200" b="1" kern="100" dirty="0" smtClean="0">
                          <a:solidFill>
                            <a:srgbClr val="0000FF"/>
                          </a:solidFill>
                          <a:latin typeface="+mn-ea"/>
                          <a:ea typeface="+mn-ea"/>
                        </a:rPr>
                        <a:t>、取下滤布重新缝合，并向客户讲解使用注意事项。</a:t>
                      </a:r>
                    </a:p>
                    <a:p>
                      <a:endParaRPr lang="zh-CN" altLang="en-US" sz="1200" b="1" dirty="0">
                        <a:solidFill>
                          <a:srgbClr val="0000FF"/>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132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00" dirty="0" smtClean="0">
                          <a:solidFill>
                            <a:srgbClr val="0000FF"/>
                          </a:solidFill>
                          <a:latin typeface="+mn-ea"/>
                          <a:ea typeface="+mn-ea"/>
                        </a:rPr>
                        <a:t>注：过滤开始时，进料阀应缓慢开启，起初滤液往往较为浑浊，然后转清，都属于正常现象。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sz="1200" b="1"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4" name="矩形 3"/>
          <p:cNvSpPr/>
          <p:nvPr/>
        </p:nvSpPr>
        <p:spPr>
          <a:xfrm>
            <a:off x="611188"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42910" y="1052513"/>
          <a:ext cx="7889903" cy="5781064"/>
        </p:xfrm>
        <a:graphic>
          <a:graphicData uri="http://schemas.openxmlformats.org/drawingml/2006/table">
            <a:tbl>
              <a:tblPr/>
              <a:tblGrid>
                <a:gridCol w="889842"/>
                <a:gridCol w="1610488"/>
                <a:gridCol w="5389573"/>
              </a:tblGrid>
              <a:tr h="340384">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45754">
                <a:tc rowSpan="6">
                  <a:txBody>
                    <a:bodyPr/>
                    <a:lstStyle/>
                    <a:p>
                      <a:pPr algn="ctr">
                        <a:lnSpc>
                          <a:spcPct val="150000"/>
                        </a:lnSpc>
                        <a:spcAft>
                          <a:spcPts val="0"/>
                        </a:spcAft>
                      </a:pPr>
                      <a:r>
                        <a:rPr lang="en-US" sz="1400" b="1" kern="1200" dirty="0" smtClean="0">
                          <a:solidFill>
                            <a:srgbClr val="0000FF"/>
                          </a:solidFill>
                          <a:latin typeface="+mn-lt"/>
                          <a:ea typeface="+mn-ea"/>
                          <a:cs typeface="+mn-cs"/>
                        </a:rPr>
                        <a:t>3</a:t>
                      </a:r>
                      <a:endParaRPr lang="en-US" altLang="zh-CN" sz="1400" b="1" kern="1200" dirty="0" smtClean="0">
                        <a:solidFill>
                          <a:srgbClr val="0000FF"/>
                        </a:solidFill>
                        <a:latin typeface="+mn-lt"/>
                        <a:ea typeface="+mn-ea"/>
                        <a:cs typeface="+mn-cs"/>
                      </a:endParaRPr>
                    </a:p>
                    <a:p>
                      <a:pPr algn="ctr">
                        <a:lnSpc>
                          <a:spcPct val="150000"/>
                        </a:lnSpc>
                        <a:spcAft>
                          <a:spcPts val="0"/>
                        </a:spcAft>
                      </a:pPr>
                      <a:r>
                        <a:rPr lang="zh-CN" altLang="en-US" sz="1400" b="1" kern="1200" dirty="0" smtClean="0">
                          <a:solidFill>
                            <a:srgbClr val="0000FF"/>
                          </a:solidFill>
                          <a:latin typeface="+mn-lt"/>
                          <a:ea typeface="+mn-ea"/>
                          <a:cs typeface="+mn-cs"/>
                        </a:rPr>
                        <a:t>滤板间跑料</a:t>
                      </a:r>
                      <a:endParaRPr lang="zh-CN" sz="1400" b="1" kern="100" dirty="0">
                        <a:solidFill>
                          <a:srgbClr val="0000FF"/>
                        </a:solidFill>
                        <a:latin typeface="Times New Roman"/>
                        <a:ea typeface="宋体"/>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、压紧力不足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、各滤板间向外跑料，可初步判断为压紧力不足，压紧力一般为：橡胶滤板</a:t>
                      </a:r>
                      <a:r>
                        <a:rPr lang="en-US" sz="1400" b="1" kern="100" dirty="0">
                          <a:solidFill>
                            <a:srgbClr val="0000FF"/>
                          </a:solidFill>
                          <a:latin typeface="Times New Roman"/>
                          <a:ea typeface="宋体"/>
                        </a:rPr>
                        <a:t>8~10Mpa</a:t>
                      </a:r>
                      <a:r>
                        <a:rPr lang="zh-CN" sz="1400" b="1" kern="100" dirty="0">
                          <a:solidFill>
                            <a:srgbClr val="0000FF"/>
                          </a:solidFill>
                          <a:latin typeface="Times New Roman"/>
                          <a:ea typeface="宋体"/>
                        </a:rPr>
                        <a:t>；塑料滤板</a:t>
                      </a:r>
                      <a:r>
                        <a:rPr lang="en-US" sz="1400" b="1" kern="100" dirty="0">
                          <a:solidFill>
                            <a:srgbClr val="0000FF"/>
                          </a:solidFill>
                          <a:latin typeface="Times New Roman"/>
                          <a:ea typeface="宋体"/>
                        </a:rPr>
                        <a:t>15~20 </a:t>
                      </a:r>
                      <a:r>
                        <a:rPr lang="en-US" sz="1400" b="1" kern="100" dirty="0" err="1">
                          <a:solidFill>
                            <a:srgbClr val="0000FF"/>
                          </a:solidFill>
                          <a:latin typeface="Times New Roman"/>
                          <a:ea typeface="宋体"/>
                        </a:rPr>
                        <a:t>Mpa</a:t>
                      </a:r>
                      <a:r>
                        <a:rPr lang="zh-CN" sz="1400" b="1" kern="100" dirty="0">
                          <a:solidFill>
                            <a:srgbClr val="0000FF"/>
                          </a:solidFill>
                          <a:latin typeface="Times New Roman"/>
                          <a:ea typeface="宋体"/>
                        </a:rPr>
                        <a:t>；铸铁滤板</a:t>
                      </a:r>
                      <a:r>
                        <a:rPr lang="en-US" sz="1400" b="1" kern="100" dirty="0">
                          <a:solidFill>
                            <a:srgbClr val="0000FF"/>
                          </a:solidFill>
                          <a:latin typeface="Times New Roman"/>
                          <a:ea typeface="宋体"/>
                        </a:rPr>
                        <a:t>20~25 </a:t>
                      </a:r>
                      <a:r>
                        <a:rPr lang="en-US" sz="1400" b="1" kern="100" dirty="0" err="1">
                          <a:solidFill>
                            <a:srgbClr val="0000FF"/>
                          </a:solidFill>
                          <a:latin typeface="Times New Roman"/>
                          <a:ea typeface="宋体"/>
                        </a:rPr>
                        <a:t>Mpa</a:t>
                      </a:r>
                      <a:r>
                        <a:rPr lang="zh-CN" sz="1400" b="1" kern="100" dirty="0">
                          <a:solidFill>
                            <a:srgbClr val="0000FF"/>
                          </a:solidFill>
                          <a:latin typeface="Times New Roman"/>
                          <a:ea typeface="宋体"/>
                        </a:rPr>
                        <a:t>。当压紧力不足时，将压力缓慢提高，但不得超过额定压力。在确保不漏料的情况下，降低压紧力能延长压滤机的使用寿命。启动压紧按钮，电机顺向转动，带动油泵运转，到压紧滤板后，顺时针调整高压溢流阀，并观察电点压力表的压力，使其压力调整到上述使用范围内。</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906">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、滤板密封面有杂质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、清理密封面杂物，必须保证每次压紧前滤板之间没有杂物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906">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Times New Roman"/>
                          <a:ea typeface="宋体"/>
                        </a:rPr>
                        <a:t>C</a:t>
                      </a:r>
                      <a:r>
                        <a:rPr lang="zh-CN" sz="1400" b="1" kern="100" dirty="0">
                          <a:solidFill>
                            <a:srgbClr val="0000FF"/>
                          </a:solidFill>
                          <a:latin typeface="Times New Roman"/>
                          <a:ea typeface="宋体"/>
                        </a:rPr>
                        <a:t>、滤布折叠、不平整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C</a:t>
                      </a:r>
                      <a:r>
                        <a:rPr lang="zh-CN" sz="1400" b="1" kern="100" dirty="0">
                          <a:solidFill>
                            <a:srgbClr val="0000FF"/>
                          </a:solidFill>
                          <a:latin typeface="Times New Roman"/>
                          <a:ea typeface="宋体"/>
                        </a:rPr>
                        <a:t>、滤布这丢不平整会造成滤板压紧不严，出现此情况，要将滤布整理平整。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906">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Times New Roman"/>
                          <a:ea typeface="宋体"/>
                        </a:rPr>
                        <a:t>D</a:t>
                      </a:r>
                      <a:r>
                        <a:rPr lang="zh-CN" sz="1400" b="1" kern="100" dirty="0">
                          <a:solidFill>
                            <a:srgbClr val="0000FF"/>
                          </a:solidFill>
                          <a:latin typeface="Times New Roman"/>
                          <a:ea typeface="宋体"/>
                        </a:rPr>
                        <a:t>、进料压力过大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D</a:t>
                      </a:r>
                      <a:r>
                        <a:rPr lang="zh-CN" sz="1400" b="1" kern="100" dirty="0">
                          <a:solidFill>
                            <a:srgbClr val="0000FF"/>
                          </a:solidFill>
                          <a:latin typeface="Times New Roman"/>
                          <a:ea typeface="宋体"/>
                        </a:rPr>
                        <a:t>、进料压力过大时会出现不同程度的反压，必须控制在额定压力下。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906">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Times New Roman"/>
                          <a:ea typeface="宋体"/>
                        </a:rPr>
                        <a:t>E</a:t>
                      </a:r>
                      <a:r>
                        <a:rPr lang="zh-CN" sz="1400" b="1" kern="100" dirty="0">
                          <a:solidFill>
                            <a:srgbClr val="0000FF"/>
                          </a:solidFill>
                          <a:latin typeface="Times New Roman"/>
                          <a:ea typeface="宋体"/>
                        </a:rPr>
                        <a:t>、进料泵流量过大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E</a:t>
                      </a:r>
                      <a:r>
                        <a:rPr lang="zh-CN" sz="1400" b="1" kern="100" dirty="0">
                          <a:solidFill>
                            <a:srgbClr val="0000FF"/>
                          </a:solidFill>
                          <a:latin typeface="Times New Roman"/>
                          <a:ea typeface="宋体"/>
                        </a:rPr>
                        <a:t>、调整进料泵阀门，安装回流管，打开回流阀。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906">
                <a:tc vMerge="1">
                  <a:txBody>
                    <a:bodyPr/>
                    <a:lstStyle/>
                    <a:p>
                      <a:pPr algn="ctr">
                        <a:lnSpc>
                          <a:spcPct val="150000"/>
                        </a:lnSpc>
                        <a:spcAft>
                          <a:spcPts val="0"/>
                        </a:spcAft>
                      </a:pPr>
                      <a:endParaRPr lang="zh-CN" sz="1400" b="1" kern="100" dirty="0">
                        <a:solidFill>
                          <a:srgbClr val="0000FF"/>
                        </a:solidFill>
                        <a:latin typeface="Times New Roman"/>
                        <a:ea typeface="宋体"/>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F</a:t>
                      </a:r>
                      <a:r>
                        <a:rPr lang="zh-CN" sz="1400" b="1" kern="100" dirty="0">
                          <a:solidFill>
                            <a:srgbClr val="0000FF"/>
                          </a:solidFill>
                          <a:latin typeface="Times New Roman"/>
                          <a:ea typeface="宋体"/>
                        </a:rPr>
                        <a:t>、滤板排列不整齐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F</a:t>
                      </a:r>
                      <a:r>
                        <a:rPr lang="zh-CN" sz="1400" b="1" kern="100" dirty="0">
                          <a:solidFill>
                            <a:srgbClr val="0000FF"/>
                          </a:solidFill>
                          <a:latin typeface="Times New Roman"/>
                          <a:ea typeface="宋体"/>
                        </a:rPr>
                        <a:t>、滤板排列最大错位量不超过</a:t>
                      </a:r>
                      <a:r>
                        <a:rPr lang="en-US" sz="1400" b="1" kern="100" dirty="0">
                          <a:solidFill>
                            <a:srgbClr val="0000FF"/>
                          </a:solidFill>
                          <a:latin typeface="Times New Roman"/>
                          <a:ea typeface="宋体"/>
                        </a:rPr>
                        <a:t>5mm</a:t>
                      </a:r>
                      <a:r>
                        <a:rPr lang="zh-CN" sz="1400" b="1" kern="100" dirty="0">
                          <a:solidFill>
                            <a:srgbClr val="0000FF"/>
                          </a:solidFill>
                          <a:latin typeface="Times New Roman"/>
                          <a:ea typeface="宋体"/>
                        </a:rPr>
                        <a:t>，否则漏液，应将滤板排列整齐。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900113" y="683181"/>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71472" y="1052512"/>
          <a:ext cx="7961341" cy="5329237"/>
        </p:xfrm>
        <a:graphic>
          <a:graphicData uri="http://schemas.openxmlformats.org/drawingml/2006/table">
            <a:tbl>
              <a:tblPr/>
              <a:tblGrid>
                <a:gridCol w="963667"/>
                <a:gridCol w="1608101"/>
                <a:gridCol w="5389573"/>
              </a:tblGrid>
              <a:tr h="639349">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72472">
                <a:tc rowSpan="4">
                  <a:txBody>
                    <a:bodyPr/>
                    <a:lstStyle/>
                    <a:p>
                      <a:pPr algn="ctr">
                        <a:lnSpc>
                          <a:spcPct val="150000"/>
                        </a:lnSpc>
                        <a:spcAft>
                          <a:spcPts val="0"/>
                        </a:spcAft>
                      </a:pPr>
                      <a:r>
                        <a:rPr lang="en-US" altLang="zh-CN" sz="1400" b="1" kern="100" dirty="0" smtClean="0">
                          <a:solidFill>
                            <a:srgbClr val="0000FF"/>
                          </a:solidFill>
                          <a:latin typeface="Times New Roman"/>
                          <a:ea typeface="+mn-ea"/>
                        </a:rPr>
                        <a:t>4</a:t>
                      </a:r>
                    </a:p>
                    <a:p>
                      <a:pPr algn="ctr">
                        <a:lnSpc>
                          <a:spcPct val="150000"/>
                        </a:lnSpc>
                        <a:spcAft>
                          <a:spcPts val="0"/>
                        </a:spcAft>
                      </a:pPr>
                      <a:r>
                        <a:rPr lang="zh-CN" altLang="en-US" sz="1400" b="1" kern="100" dirty="0" smtClean="0">
                          <a:solidFill>
                            <a:srgbClr val="0000FF"/>
                          </a:solidFill>
                          <a:latin typeface="Times New Roman"/>
                          <a:ea typeface="+mn-ea"/>
                        </a:rPr>
                        <a:t>前进</a:t>
                      </a:r>
                      <a:endParaRPr lang="en-US" altLang="zh-CN" sz="1400" b="1" kern="100" dirty="0" smtClean="0">
                        <a:solidFill>
                          <a:srgbClr val="0000FF"/>
                        </a:solidFill>
                        <a:latin typeface="Times New Roman"/>
                        <a:ea typeface="+mn-ea"/>
                      </a:endParaRPr>
                    </a:p>
                    <a:p>
                      <a:pPr algn="ctr">
                        <a:lnSpc>
                          <a:spcPct val="150000"/>
                        </a:lnSpc>
                        <a:spcAft>
                          <a:spcPts val="0"/>
                        </a:spcAft>
                      </a:pPr>
                      <a:r>
                        <a:rPr lang="zh-CN" altLang="en-US" sz="1400" b="1" kern="100" dirty="0" smtClean="0">
                          <a:solidFill>
                            <a:srgbClr val="0000FF"/>
                          </a:solidFill>
                          <a:latin typeface="Times New Roman"/>
                          <a:ea typeface="+mn-ea"/>
                        </a:rPr>
                        <a:t>后退</a:t>
                      </a:r>
                      <a:endParaRPr lang="en-US" altLang="zh-CN" sz="1400" b="1" kern="100" dirty="0" smtClean="0">
                        <a:solidFill>
                          <a:srgbClr val="0000FF"/>
                        </a:solidFill>
                        <a:latin typeface="Times New Roman"/>
                        <a:ea typeface="+mn-ea"/>
                      </a:endParaRPr>
                    </a:p>
                    <a:p>
                      <a:pPr algn="ctr">
                        <a:lnSpc>
                          <a:spcPct val="150000"/>
                        </a:lnSpc>
                        <a:spcAft>
                          <a:spcPts val="0"/>
                        </a:spcAft>
                      </a:pPr>
                      <a:r>
                        <a:rPr lang="zh-CN" altLang="en-US" sz="1400" b="1" kern="100" dirty="0" smtClean="0">
                          <a:solidFill>
                            <a:srgbClr val="0000FF"/>
                          </a:solidFill>
                          <a:latin typeface="Times New Roman"/>
                          <a:ea typeface="+mn-ea"/>
                        </a:rPr>
                        <a:t>无动作</a:t>
                      </a:r>
                      <a:endParaRPr lang="zh-CN" sz="1400" b="1" kern="100" dirty="0">
                        <a:solidFill>
                          <a:srgbClr val="0000FF"/>
                        </a:solidFill>
                        <a:latin typeface="Times New Roman"/>
                        <a:ea typeface="宋体"/>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、油位不够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、当油标不能显示油位时，表示应该加满油以保证泵站正常运转。</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72472">
                <a:tc vMerge="1">
                  <a:txBody>
                    <a:bodyPr/>
                    <a:lstStyle/>
                    <a:p>
                      <a:endParaRPr lang="zh-CN" altLang="en-US"/>
                    </a:p>
                  </a:txBody>
                  <a:tcPr/>
                </a:tc>
                <a:tc>
                  <a:txBody>
                    <a:bodyPr/>
                    <a:lstStyle/>
                    <a:p>
                      <a:pPr algn="l">
                        <a:lnSpc>
                          <a:spcPct val="150000"/>
                        </a:lnSpc>
                        <a:spcAft>
                          <a:spcPts val="0"/>
                        </a:spcAft>
                      </a:pPr>
                      <a:r>
                        <a:rPr lang="en-US" sz="1400" b="1" kern="100">
                          <a:solidFill>
                            <a:srgbClr val="0000FF"/>
                          </a:solidFill>
                          <a:latin typeface="+mn-ea"/>
                          <a:ea typeface="+mn-ea"/>
                        </a:rPr>
                        <a:t>B</a:t>
                      </a:r>
                      <a:r>
                        <a:rPr lang="zh-CN" sz="1400" b="1" kern="100">
                          <a:solidFill>
                            <a:srgbClr val="0000FF"/>
                          </a:solidFill>
                          <a:latin typeface="+mn-ea"/>
                          <a:ea typeface="+mn-ea"/>
                        </a:rPr>
                        <a:t>、高压或低压溢流阀卡住或损坏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B</a:t>
                      </a:r>
                      <a:r>
                        <a:rPr lang="zh-CN" sz="1400" b="1" kern="100" dirty="0">
                          <a:solidFill>
                            <a:srgbClr val="0000FF"/>
                          </a:solidFill>
                          <a:latin typeface="+mn-ea"/>
                          <a:ea typeface="+mn-ea"/>
                        </a:rPr>
                        <a:t>、拆开清洗，如仍不能正常工作可能时溢流阀损坏，进行更换。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72472">
                <a:tc vMerge="1">
                  <a:txBody>
                    <a:bodyPr/>
                    <a:lstStyle/>
                    <a:p>
                      <a:endParaRPr lang="zh-CN" altLang="en-US"/>
                    </a:p>
                  </a:txBody>
                  <a:tcPr/>
                </a:tc>
                <a:tc>
                  <a:txBody>
                    <a:bodyPr/>
                    <a:lstStyle/>
                    <a:p>
                      <a:pPr algn="l">
                        <a:lnSpc>
                          <a:spcPct val="150000"/>
                        </a:lnSpc>
                        <a:spcAft>
                          <a:spcPts val="0"/>
                        </a:spcAft>
                      </a:pPr>
                      <a:r>
                        <a:rPr lang="en-US" sz="1400" b="1" kern="100">
                          <a:solidFill>
                            <a:srgbClr val="0000FF"/>
                          </a:solidFill>
                          <a:latin typeface="+mn-ea"/>
                          <a:ea typeface="+mn-ea"/>
                        </a:rPr>
                        <a:t>C</a:t>
                      </a:r>
                      <a:r>
                        <a:rPr lang="zh-CN" sz="1400" b="1" kern="100">
                          <a:solidFill>
                            <a:srgbClr val="0000FF"/>
                          </a:solidFill>
                          <a:latin typeface="+mn-ea"/>
                          <a:ea typeface="+mn-ea"/>
                        </a:rPr>
                        <a:t>、柱塞泵损坏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C</a:t>
                      </a:r>
                      <a:r>
                        <a:rPr lang="zh-CN" sz="1400" b="1" kern="100" dirty="0">
                          <a:solidFill>
                            <a:srgbClr val="0000FF"/>
                          </a:solidFill>
                          <a:latin typeface="+mn-ea"/>
                          <a:ea typeface="+mn-ea"/>
                        </a:rPr>
                        <a:t>、油路不畅通或不能供油时，可判断为柱塞泵损坏，对其清洗，仍不能正常工作则进行更换。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72472">
                <a:tc vMerge="1">
                  <a:txBody>
                    <a:bodyPr/>
                    <a:lstStyle/>
                    <a:p>
                      <a:endParaRPr lang="zh-CN" altLang="en-US"/>
                    </a:p>
                  </a:txBody>
                  <a:tcPr/>
                </a:tc>
                <a:tc>
                  <a:txBody>
                    <a:bodyPr/>
                    <a:lstStyle/>
                    <a:p>
                      <a:pPr algn="l">
                        <a:lnSpc>
                          <a:spcPct val="150000"/>
                        </a:lnSpc>
                        <a:spcAft>
                          <a:spcPts val="0"/>
                        </a:spcAft>
                      </a:pPr>
                      <a:r>
                        <a:rPr lang="en-US" sz="1400" b="1" kern="100">
                          <a:solidFill>
                            <a:srgbClr val="0000FF"/>
                          </a:solidFill>
                          <a:latin typeface="+mn-ea"/>
                          <a:ea typeface="+mn-ea"/>
                        </a:rPr>
                        <a:t>D</a:t>
                      </a:r>
                      <a:r>
                        <a:rPr lang="zh-CN" sz="1400" b="1" kern="100">
                          <a:solidFill>
                            <a:srgbClr val="0000FF"/>
                          </a:solidFill>
                          <a:latin typeface="+mn-ea"/>
                          <a:ea typeface="+mn-ea"/>
                        </a:rPr>
                        <a:t>、电机转向不对</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D</a:t>
                      </a:r>
                      <a:r>
                        <a:rPr lang="zh-CN" sz="1400" b="1" kern="100" dirty="0">
                          <a:solidFill>
                            <a:srgbClr val="0000FF"/>
                          </a:solidFill>
                          <a:latin typeface="+mn-ea"/>
                          <a:ea typeface="+mn-ea"/>
                        </a:rPr>
                        <a:t>、观察电机风扇转向是否为顺时针，否则判断电机接反，将电机进线端任意两根线换接即可。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11188"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71472" y="1052511"/>
          <a:ext cx="7961341" cy="5329240"/>
        </p:xfrm>
        <a:graphic>
          <a:graphicData uri="http://schemas.openxmlformats.org/drawingml/2006/table">
            <a:tbl>
              <a:tblPr/>
              <a:tblGrid>
                <a:gridCol w="963667"/>
                <a:gridCol w="1608101"/>
                <a:gridCol w="5389573"/>
              </a:tblGrid>
              <a:tr h="958291">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56983">
                <a:tc rowSpan="3">
                  <a:txBody>
                    <a:bodyPr/>
                    <a:lstStyle/>
                    <a:p>
                      <a:pPr algn="ctr">
                        <a:lnSpc>
                          <a:spcPct val="150000"/>
                        </a:lnSpc>
                        <a:spcAft>
                          <a:spcPts val="0"/>
                        </a:spcAft>
                      </a:pPr>
                      <a:r>
                        <a:rPr lang="en-US" altLang="zh-CN" sz="1400" b="1" kern="100" dirty="0" smtClean="0">
                          <a:solidFill>
                            <a:srgbClr val="0000FF"/>
                          </a:solidFill>
                          <a:latin typeface="Times New Roman"/>
                          <a:ea typeface="+mn-ea"/>
                        </a:rPr>
                        <a:t>5</a:t>
                      </a:r>
                    </a:p>
                    <a:p>
                      <a:pPr algn="ctr">
                        <a:lnSpc>
                          <a:spcPct val="150000"/>
                        </a:lnSpc>
                        <a:spcAft>
                          <a:spcPts val="0"/>
                        </a:spcAft>
                      </a:pPr>
                      <a:r>
                        <a:rPr lang="zh-CN" altLang="en-US" sz="1400" b="1" kern="100" dirty="0" smtClean="0">
                          <a:solidFill>
                            <a:srgbClr val="0000FF"/>
                          </a:solidFill>
                          <a:latin typeface="Times New Roman"/>
                          <a:ea typeface="+mn-ea"/>
                        </a:rPr>
                        <a:t>压紧</a:t>
                      </a:r>
                      <a:endParaRPr lang="en-US" altLang="zh-CN" sz="1400" b="1" kern="100" dirty="0" smtClean="0">
                        <a:solidFill>
                          <a:srgbClr val="0000FF"/>
                        </a:solidFill>
                        <a:latin typeface="Times New Roman"/>
                        <a:ea typeface="+mn-ea"/>
                      </a:endParaRPr>
                    </a:p>
                    <a:p>
                      <a:pPr algn="ctr">
                        <a:lnSpc>
                          <a:spcPct val="150000"/>
                        </a:lnSpc>
                        <a:spcAft>
                          <a:spcPts val="0"/>
                        </a:spcAft>
                      </a:pPr>
                      <a:r>
                        <a:rPr lang="zh-CN" altLang="en-US" sz="1400" b="1" kern="100" dirty="0" smtClean="0">
                          <a:solidFill>
                            <a:srgbClr val="0000FF"/>
                          </a:solidFill>
                          <a:latin typeface="Times New Roman"/>
                          <a:ea typeface="+mn-ea"/>
                        </a:rPr>
                        <a:t>后不</a:t>
                      </a:r>
                      <a:endParaRPr lang="en-US" altLang="zh-CN" sz="1400" b="1" kern="100" dirty="0" smtClean="0">
                        <a:solidFill>
                          <a:srgbClr val="0000FF"/>
                        </a:solidFill>
                        <a:latin typeface="Times New Roman"/>
                        <a:ea typeface="+mn-ea"/>
                      </a:endParaRPr>
                    </a:p>
                    <a:p>
                      <a:pPr algn="ctr">
                        <a:lnSpc>
                          <a:spcPct val="150000"/>
                        </a:lnSpc>
                        <a:spcAft>
                          <a:spcPts val="0"/>
                        </a:spcAft>
                      </a:pPr>
                      <a:r>
                        <a:rPr lang="zh-CN" altLang="en-US" sz="1400" b="1" kern="100" dirty="0" smtClean="0">
                          <a:solidFill>
                            <a:srgbClr val="0000FF"/>
                          </a:solidFill>
                          <a:latin typeface="Times New Roman"/>
                          <a:ea typeface="+mn-ea"/>
                        </a:rPr>
                        <a:t>能停机</a:t>
                      </a:r>
                      <a:endParaRPr lang="zh-CN" sz="1400" b="1" kern="100" dirty="0">
                        <a:solidFill>
                          <a:srgbClr val="0000FF"/>
                        </a:solidFill>
                        <a:latin typeface="Times New Roman"/>
                        <a:ea typeface="宋体"/>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、电接点压力表调整值太高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、用螺丝刀调整电接点压力表上的调整螺丝，将上限值调低。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56983">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、电接点压力表坏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、当发现压力表指针摆动不灵敏或指针不能回零时应更换压力表。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56983">
                <a:tc vMerge="1">
                  <a:txBody>
                    <a:bodyPr/>
                    <a:lstStyle/>
                    <a:p>
                      <a:endParaRPr lang="zh-CN" altLang="en-US"/>
                    </a:p>
                  </a:txBody>
                  <a:tcPr/>
                </a:tc>
                <a:tc>
                  <a:txBody>
                    <a:bodyPr/>
                    <a:lstStyle/>
                    <a:p>
                      <a:pPr algn="just">
                        <a:lnSpc>
                          <a:spcPct val="150000"/>
                        </a:lnSpc>
                        <a:spcAft>
                          <a:spcPts val="0"/>
                        </a:spcAft>
                      </a:pPr>
                      <a:r>
                        <a:rPr lang="en-US" sz="1400" b="1" kern="100">
                          <a:solidFill>
                            <a:srgbClr val="0000FF"/>
                          </a:solidFill>
                          <a:latin typeface="Times New Roman"/>
                          <a:ea typeface="宋体"/>
                        </a:rPr>
                        <a:t>C</a:t>
                      </a:r>
                      <a:r>
                        <a:rPr lang="zh-CN" sz="1400" b="1" kern="100">
                          <a:solidFill>
                            <a:srgbClr val="0000FF"/>
                          </a:solidFill>
                          <a:latin typeface="Times New Roman"/>
                          <a:ea typeface="宋体"/>
                        </a:rPr>
                        <a:t>、溢流阀调得太低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Times New Roman"/>
                          <a:ea typeface="宋体"/>
                        </a:rPr>
                        <a:t>C</a:t>
                      </a:r>
                      <a:r>
                        <a:rPr lang="zh-CN" sz="1400" b="1" kern="100" dirty="0">
                          <a:solidFill>
                            <a:srgbClr val="0000FF"/>
                          </a:solidFill>
                          <a:latin typeface="Times New Roman"/>
                          <a:ea typeface="宋体"/>
                        </a:rPr>
                        <a:t>、用螺丝刀调整电接点压力表上的调整螺丝，将下限值调至</a:t>
                      </a:r>
                      <a:r>
                        <a:rPr lang="en-US" sz="1400" b="1" kern="100" dirty="0">
                          <a:solidFill>
                            <a:srgbClr val="0000FF"/>
                          </a:solidFill>
                          <a:latin typeface="Times New Roman"/>
                          <a:ea typeface="宋体"/>
                        </a:rPr>
                        <a:t>5 </a:t>
                      </a:r>
                      <a:r>
                        <a:rPr lang="en-US" sz="1400" b="1" kern="100" dirty="0" err="1">
                          <a:solidFill>
                            <a:srgbClr val="0000FF"/>
                          </a:solidFill>
                          <a:latin typeface="Times New Roman"/>
                          <a:ea typeface="宋体"/>
                        </a:rPr>
                        <a:t>Mpa</a:t>
                      </a:r>
                      <a:r>
                        <a:rPr lang="zh-CN" sz="1400" b="1" kern="100" dirty="0">
                          <a:solidFill>
                            <a:srgbClr val="0000FF"/>
                          </a:solidFill>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33226"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42910" y="1052514"/>
          <a:ext cx="7889903" cy="5329236"/>
        </p:xfrm>
        <a:graphic>
          <a:graphicData uri="http://schemas.openxmlformats.org/drawingml/2006/table">
            <a:tbl>
              <a:tblPr/>
              <a:tblGrid>
                <a:gridCol w="889842"/>
                <a:gridCol w="1610488"/>
                <a:gridCol w="5389573"/>
              </a:tblGrid>
              <a:tr h="888206">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rowSpan="5">
                  <a:txBody>
                    <a:bodyPr/>
                    <a:lstStyle/>
                    <a:p>
                      <a:pPr algn="ctr">
                        <a:lnSpc>
                          <a:spcPct val="150000"/>
                        </a:lnSpc>
                        <a:spcAft>
                          <a:spcPts val="0"/>
                        </a:spcAft>
                      </a:pPr>
                      <a:r>
                        <a:rPr lang="en-US" sz="1600" b="1" kern="1200" dirty="0" smtClean="0">
                          <a:solidFill>
                            <a:srgbClr val="0000FF"/>
                          </a:solidFill>
                          <a:latin typeface="+mn-lt"/>
                          <a:ea typeface="+mn-ea"/>
                          <a:cs typeface="+mn-cs"/>
                        </a:rPr>
                        <a:t>6</a:t>
                      </a:r>
                      <a:endParaRPr lang="en-US" altLang="zh-CN" sz="1600" b="1" kern="1200" dirty="0" smtClean="0">
                        <a:solidFill>
                          <a:srgbClr val="0000FF"/>
                        </a:solidFill>
                        <a:latin typeface="+mn-lt"/>
                        <a:ea typeface="+mn-ea"/>
                        <a:cs typeface="+mn-cs"/>
                      </a:endParaRPr>
                    </a:p>
                    <a:p>
                      <a:pPr algn="ctr">
                        <a:lnSpc>
                          <a:spcPct val="150000"/>
                        </a:lnSpc>
                        <a:spcAft>
                          <a:spcPts val="0"/>
                        </a:spcAft>
                      </a:pPr>
                      <a:r>
                        <a:rPr lang="zh-CN" altLang="en-US" sz="1600" b="1" kern="1200" dirty="0" smtClean="0">
                          <a:solidFill>
                            <a:srgbClr val="0000FF"/>
                          </a:solidFill>
                          <a:latin typeface="+mn-lt"/>
                          <a:ea typeface="+mn-ea"/>
                          <a:cs typeface="+mn-cs"/>
                        </a:rPr>
                        <a:t>不</a:t>
                      </a:r>
                      <a:endParaRPr lang="en-US" altLang="zh-CN" sz="1600" b="1" kern="1200" dirty="0" smtClean="0">
                        <a:solidFill>
                          <a:srgbClr val="0000FF"/>
                        </a:solidFill>
                        <a:latin typeface="+mn-lt"/>
                        <a:ea typeface="+mn-ea"/>
                        <a:cs typeface="+mn-cs"/>
                      </a:endParaRPr>
                    </a:p>
                    <a:p>
                      <a:pPr algn="ctr">
                        <a:lnSpc>
                          <a:spcPct val="150000"/>
                        </a:lnSpc>
                        <a:spcAft>
                          <a:spcPts val="0"/>
                        </a:spcAft>
                      </a:pPr>
                      <a:r>
                        <a:rPr lang="zh-CN" altLang="en-US" sz="1600" b="1" kern="1200" dirty="0" smtClean="0">
                          <a:solidFill>
                            <a:srgbClr val="0000FF"/>
                          </a:solidFill>
                          <a:latin typeface="+mn-lt"/>
                          <a:ea typeface="+mn-ea"/>
                          <a:cs typeface="+mn-cs"/>
                        </a:rPr>
                        <a:t>保压</a:t>
                      </a:r>
                      <a:endParaRPr lang="zh-CN" sz="1600" b="1" kern="100" dirty="0">
                        <a:solidFill>
                          <a:srgbClr val="0000FF"/>
                        </a:solidFill>
                        <a:latin typeface="Times New Roman"/>
                        <a:ea typeface="宋体"/>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200" b="1" kern="100" dirty="0">
                          <a:solidFill>
                            <a:srgbClr val="0000FF"/>
                          </a:solidFill>
                          <a:latin typeface="Times New Roman"/>
                          <a:ea typeface="宋体"/>
                        </a:rPr>
                        <a:t>A</a:t>
                      </a:r>
                      <a:r>
                        <a:rPr lang="zh-CN" sz="1200" b="1" kern="100" dirty="0">
                          <a:solidFill>
                            <a:srgbClr val="0000FF"/>
                          </a:solidFill>
                          <a:latin typeface="Times New Roman"/>
                          <a:ea typeface="宋体"/>
                        </a:rPr>
                        <a:t>、保压管路漏油</a:t>
                      </a:r>
                      <a:endParaRPr lang="zh-CN" sz="105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200" b="1" kern="100" dirty="0">
                          <a:solidFill>
                            <a:srgbClr val="0000FF"/>
                          </a:solidFill>
                          <a:latin typeface="Times New Roman"/>
                          <a:ea typeface="宋体"/>
                        </a:rPr>
                        <a:t>A</a:t>
                      </a:r>
                      <a:r>
                        <a:rPr lang="zh-CN" sz="1200" b="1" kern="100" dirty="0">
                          <a:solidFill>
                            <a:srgbClr val="0000FF"/>
                          </a:solidFill>
                          <a:latin typeface="Times New Roman"/>
                          <a:ea typeface="宋体"/>
                        </a:rPr>
                        <a:t>、观察管路有无破损，相应更换管路或拧紧连接螺母。</a:t>
                      </a:r>
                      <a:endParaRPr lang="zh-CN" sz="105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200" b="1" kern="100">
                          <a:solidFill>
                            <a:srgbClr val="0000FF"/>
                          </a:solidFill>
                          <a:latin typeface="Times New Roman"/>
                          <a:ea typeface="宋体"/>
                        </a:rPr>
                        <a:t>B</a:t>
                      </a:r>
                      <a:r>
                        <a:rPr lang="zh-CN" sz="1200" b="1" kern="100">
                          <a:solidFill>
                            <a:srgbClr val="0000FF"/>
                          </a:solidFill>
                          <a:latin typeface="Times New Roman"/>
                          <a:ea typeface="宋体"/>
                        </a:rPr>
                        <a:t>、保压阀被卡住或损坏</a:t>
                      </a:r>
                      <a:endParaRPr lang="zh-CN" sz="105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200" b="1" kern="100" dirty="0">
                          <a:solidFill>
                            <a:srgbClr val="0000FF"/>
                          </a:solidFill>
                          <a:latin typeface="Times New Roman"/>
                          <a:ea typeface="宋体"/>
                        </a:rPr>
                        <a:t>B</a:t>
                      </a:r>
                      <a:r>
                        <a:rPr lang="zh-CN" sz="1200" b="1" kern="100" dirty="0">
                          <a:solidFill>
                            <a:srgbClr val="0000FF"/>
                          </a:solidFill>
                          <a:latin typeface="Times New Roman"/>
                          <a:ea typeface="宋体"/>
                        </a:rPr>
                        <a:t>、清洗保压阀，仍不能工作进行更换。</a:t>
                      </a:r>
                      <a:endParaRPr lang="zh-CN" sz="105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200" b="1" kern="100">
                          <a:solidFill>
                            <a:srgbClr val="0000FF"/>
                          </a:solidFill>
                          <a:latin typeface="Times New Roman"/>
                          <a:ea typeface="宋体"/>
                        </a:rPr>
                        <a:t>C</a:t>
                      </a:r>
                      <a:r>
                        <a:rPr lang="zh-CN" sz="1200" b="1" kern="100">
                          <a:solidFill>
                            <a:srgbClr val="0000FF"/>
                          </a:solidFill>
                          <a:latin typeface="Times New Roman"/>
                          <a:ea typeface="宋体"/>
                        </a:rPr>
                        <a:t>、安全阀被卡住或失灵</a:t>
                      </a:r>
                      <a:endParaRPr lang="zh-CN" sz="105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200" b="1" kern="100" dirty="0">
                          <a:solidFill>
                            <a:srgbClr val="0000FF"/>
                          </a:solidFill>
                          <a:latin typeface="Times New Roman"/>
                          <a:ea typeface="宋体"/>
                        </a:rPr>
                        <a:t>C</a:t>
                      </a:r>
                      <a:r>
                        <a:rPr lang="zh-CN" sz="1200" b="1" kern="100" dirty="0">
                          <a:solidFill>
                            <a:srgbClr val="0000FF"/>
                          </a:solidFill>
                          <a:latin typeface="Times New Roman"/>
                          <a:ea typeface="宋体"/>
                        </a:rPr>
                        <a:t>、清洗安全阀，仍不能工作进行更换。</a:t>
                      </a:r>
                      <a:endParaRPr lang="zh-CN" sz="105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200" b="1" kern="100">
                          <a:solidFill>
                            <a:srgbClr val="0000FF"/>
                          </a:solidFill>
                          <a:latin typeface="Times New Roman"/>
                          <a:ea typeface="宋体"/>
                        </a:rPr>
                        <a:t>D</a:t>
                      </a:r>
                      <a:r>
                        <a:rPr lang="zh-CN" sz="1200" b="1" kern="100">
                          <a:solidFill>
                            <a:srgbClr val="0000FF"/>
                          </a:solidFill>
                          <a:latin typeface="Times New Roman"/>
                          <a:ea typeface="宋体"/>
                        </a:rPr>
                        <a:t>、油缸密封圈磨损严重</a:t>
                      </a:r>
                      <a:endParaRPr lang="zh-CN" sz="105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200" b="1" kern="100" dirty="0">
                          <a:solidFill>
                            <a:srgbClr val="0000FF"/>
                          </a:solidFill>
                          <a:latin typeface="Times New Roman"/>
                          <a:ea typeface="宋体"/>
                        </a:rPr>
                        <a:t>D</a:t>
                      </a:r>
                      <a:r>
                        <a:rPr lang="zh-CN" sz="1200" b="1" kern="100" dirty="0">
                          <a:solidFill>
                            <a:srgbClr val="0000FF"/>
                          </a:solidFill>
                          <a:latin typeface="Times New Roman"/>
                          <a:ea typeface="宋体"/>
                        </a:rPr>
                        <a:t>、拆开密封部位，详细检查密封圈的损坏部分及油缸的划伤、磕碰等情况。如油缸轻微磨损，可用金相砂纸或油石修磨，并更换密封圈。</a:t>
                      </a:r>
                      <a:endParaRPr lang="zh-CN" sz="105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200" b="1" kern="100">
                          <a:solidFill>
                            <a:srgbClr val="0000FF"/>
                          </a:solidFill>
                          <a:latin typeface="Times New Roman"/>
                          <a:ea typeface="宋体"/>
                        </a:rPr>
                        <a:t>E</a:t>
                      </a:r>
                      <a:r>
                        <a:rPr lang="zh-CN" sz="1200" b="1" kern="100">
                          <a:solidFill>
                            <a:srgbClr val="0000FF"/>
                          </a:solidFill>
                          <a:latin typeface="Times New Roman"/>
                          <a:ea typeface="宋体"/>
                        </a:rPr>
                        <a:t>、单向阀损坏</a:t>
                      </a:r>
                      <a:endParaRPr lang="zh-CN" sz="105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200" b="1" kern="100" dirty="0">
                          <a:solidFill>
                            <a:srgbClr val="0000FF"/>
                          </a:solidFill>
                          <a:latin typeface="Times New Roman"/>
                          <a:ea typeface="宋体"/>
                        </a:rPr>
                        <a:t>E</a:t>
                      </a:r>
                      <a:r>
                        <a:rPr lang="zh-CN" sz="1200" b="1" kern="100" dirty="0">
                          <a:solidFill>
                            <a:srgbClr val="0000FF"/>
                          </a:solidFill>
                          <a:latin typeface="Times New Roman"/>
                          <a:ea typeface="宋体"/>
                        </a:rPr>
                        <a:t>、更换</a:t>
                      </a:r>
                      <a:endParaRPr lang="zh-CN" sz="105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33226"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1052513"/>
          <a:ext cx="7921625" cy="5329239"/>
        </p:xfrm>
        <a:graphic>
          <a:graphicData uri="http://schemas.openxmlformats.org/drawingml/2006/table">
            <a:tbl>
              <a:tblPr/>
              <a:tblGrid>
                <a:gridCol w="960416"/>
                <a:gridCol w="1571636"/>
                <a:gridCol w="5389573"/>
              </a:tblGrid>
              <a:tr h="782207">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36758">
                <a:tc rowSpan="4">
                  <a:txBody>
                    <a:bodyPr/>
                    <a:lstStyle/>
                    <a:p>
                      <a:pPr algn="ctr">
                        <a:lnSpc>
                          <a:spcPct val="150000"/>
                        </a:lnSpc>
                        <a:spcAft>
                          <a:spcPts val="0"/>
                        </a:spcAft>
                      </a:pPr>
                      <a:r>
                        <a:rPr lang="en-US" sz="1400" b="1" kern="1200" dirty="0" smtClean="0">
                          <a:solidFill>
                            <a:srgbClr val="0000FF"/>
                          </a:solidFill>
                          <a:latin typeface="+mn-ea"/>
                          <a:ea typeface="+mn-ea"/>
                          <a:cs typeface="+mn-cs"/>
                        </a:rPr>
                        <a:t>7</a:t>
                      </a:r>
                      <a:endParaRPr lang="en-US" altLang="zh-CN" sz="1400" b="1" kern="1200" dirty="0" smtClean="0">
                        <a:solidFill>
                          <a:srgbClr val="0000FF"/>
                        </a:solidFill>
                        <a:latin typeface="+mn-ea"/>
                        <a:ea typeface="+mn-ea"/>
                        <a:cs typeface="+mn-cs"/>
                      </a:endParaRPr>
                    </a:p>
                    <a:p>
                      <a:pPr algn="ctr">
                        <a:lnSpc>
                          <a:spcPct val="150000"/>
                        </a:lnSpc>
                        <a:spcAft>
                          <a:spcPts val="0"/>
                        </a:spcAft>
                      </a:pPr>
                      <a:r>
                        <a:rPr lang="zh-CN" altLang="en-US" sz="1400" b="1" kern="1200" dirty="0" smtClean="0">
                          <a:solidFill>
                            <a:srgbClr val="0000FF"/>
                          </a:solidFill>
                          <a:latin typeface="+mn-ea"/>
                          <a:ea typeface="+mn-ea"/>
                          <a:cs typeface="+mn-cs"/>
                        </a:rPr>
                        <a:t>爬行</a:t>
                      </a:r>
                      <a:endParaRPr lang="zh-CN" sz="1400" b="1" kern="100" dirty="0">
                        <a:solidFill>
                          <a:srgbClr val="0000FF"/>
                        </a:solidFill>
                        <a:latin typeface="+mn-ea"/>
                        <a:ea typeface="+mn-ea"/>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、油位不够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、观察油位计的油位，应加油超过油位计的</a:t>
                      </a:r>
                      <a:r>
                        <a:rPr lang="en-US" sz="1400" b="1" kern="100" dirty="0">
                          <a:solidFill>
                            <a:srgbClr val="0000FF"/>
                          </a:solidFill>
                          <a:latin typeface="+mn-ea"/>
                          <a:ea typeface="+mn-ea"/>
                        </a:rPr>
                        <a:t>2/3</a:t>
                      </a:r>
                      <a:r>
                        <a:rPr lang="zh-CN" sz="1400" b="1" kern="100" dirty="0">
                          <a:solidFill>
                            <a:srgbClr val="0000FF"/>
                          </a:solidFill>
                          <a:latin typeface="+mn-ea"/>
                          <a:ea typeface="+mn-ea"/>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36758">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mn-ea"/>
                          <a:ea typeface="+mn-ea"/>
                        </a:rPr>
                        <a:t>B</a:t>
                      </a:r>
                      <a:r>
                        <a:rPr lang="zh-CN" sz="1400" b="1" kern="100" dirty="0">
                          <a:solidFill>
                            <a:srgbClr val="0000FF"/>
                          </a:solidFill>
                          <a:latin typeface="+mn-ea"/>
                          <a:ea typeface="+mn-ea"/>
                        </a:rPr>
                        <a:t>、油缸内有空气未排出</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B</a:t>
                      </a:r>
                      <a:r>
                        <a:rPr lang="zh-CN" sz="1400" b="1" kern="100" dirty="0">
                          <a:solidFill>
                            <a:srgbClr val="0000FF"/>
                          </a:solidFill>
                          <a:latin typeface="+mn-ea"/>
                          <a:ea typeface="+mn-ea"/>
                        </a:rPr>
                        <a:t>、拧开油缸放气阀，放出油缸内空气。</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36758">
                <a:tc vMerge="1">
                  <a:txBody>
                    <a:bodyPr/>
                    <a:lstStyle/>
                    <a:p>
                      <a:endParaRPr lang="zh-CN" altLang="en-US"/>
                    </a:p>
                  </a:txBody>
                  <a:tcPr/>
                </a:tc>
                <a:tc>
                  <a:txBody>
                    <a:bodyPr/>
                    <a:lstStyle/>
                    <a:p>
                      <a:pPr algn="just">
                        <a:lnSpc>
                          <a:spcPct val="150000"/>
                        </a:lnSpc>
                        <a:spcAft>
                          <a:spcPts val="0"/>
                        </a:spcAft>
                      </a:pPr>
                      <a:r>
                        <a:rPr lang="en-US" sz="1400" b="1" kern="100">
                          <a:solidFill>
                            <a:srgbClr val="0000FF"/>
                          </a:solidFill>
                          <a:latin typeface="+mn-ea"/>
                          <a:ea typeface="+mn-ea"/>
                        </a:rPr>
                        <a:t>C</a:t>
                      </a:r>
                      <a:r>
                        <a:rPr lang="zh-CN" sz="1400" b="1" kern="100">
                          <a:solidFill>
                            <a:srgbClr val="0000FF"/>
                          </a:solidFill>
                          <a:latin typeface="+mn-ea"/>
                          <a:ea typeface="+mn-ea"/>
                        </a:rPr>
                        <a:t>、油缸与活塞配合过紧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C</a:t>
                      </a:r>
                      <a:r>
                        <a:rPr lang="zh-CN" sz="1400" b="1" kern="100" dirty="0">
                          <a:solidFill>
                            <a:srgbClr val="0000FF"/>
                          </a:solidFill>
                          <a:latin typeface="+mn-ea"/>
                          <a:ea typeface="+mn-ea"/>
                        </a:rPr>
                        <a:t>、使用一段时间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36758">
                <a:tc vMerge="1">
                  <a:txBody>
                    <a:bodyPr/>
                    <a:lstStyle/>
                    <a:p>
                      <a:endParaRPr lang="zh-CN" altLang="en-US"/>
                    </a:p>
                  </a:txBody>
                  <a:tcPr/>
                </a:tc>
                <a:tc>
                  <a:txBody>
                    <a:bodyPr/>
                    <a:lstStyle/>
                    <a:p>
                      <a:pPr algn="just">
                        <a:lnSpc>
                          <a:spcPct val="150000"/>
                        </a:lnSpc>
                        <a:spcAft>
                          <a:spcPts val="0"/>
                        </a:spcAft>
                      </a:pPr>
                      <a:r>
                        <a:rPr lang="en-US" sz="1400" b="1" kern="100">
                          <a:solidFill>
                            <a:srgbClr val="0000FF"/>
                          </a:solidFill>
                          <a:latin typeface="+mn-ea"/>
                          <a:ea typeface="+mn-ea"/>
                        </a:rPr>
                        <a:t>D</a:t>
                      </a:r>
                      <a:r>
                        <a:rPr lang="zh-CN" sz="1400" b="1" kern="100">
                          <a:solidFill>
                            <a:srgbClr val="0000FF"/>
                          </a:solidFill>
                          <a:latin typeface="+mn-ea"/>
                          <a:ea typeface="+mn-ea"/>
                        </a:rPr>
                        <a:t>、液压油浓度大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D</a:t>
                      </a:r>
                      <a:r>
                        <a:rPr lang="zh-CN" sz="1400" b="1" kern="100" dirty="0">
                          <a:solidFill>
                            <a:srgbClr val="0000FF"/>
                          </a:solidFill>
                          <a:latin typeface="+mn-ea"/>
                          <a:ea typeface="+mn-ea"/>
                        </a:rPr>
                        <a:t>、使用</a:t>
                      </a:r>
                      <a:r>
                        <a:rPr lang="en-US" sz="1400" b="1" kern="100" dirty="0">
                          <a:solidFill>
                            <a:srgbClr val="0000FF"/>
                          </a:solidFill>
                          <a:latin typeface="+mn-ea"/>
                          <a:ea typeface="+mn-ea"/>
                        </a:rPr>
                        <a:t>32#~46#</a:t>
                      </a:r>
                      <a:r>
                        <a:rPr lang="zh-CN" sz="1400" b="1" kern="100" dirty="0">
                          <a:solidFill>
                            <a:srgbClr val="0000FF"/>
                          </a:solidFill>
                          <a:latin typeface="+mn-ea"/>
                          <a:ea typeface="+mn-ea"/>
                        </a:rPr>
                        <a:t>抗磨液压油</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900113" y="683181"/>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71472" y="1052513"/>
          <a:ext cx="7961340" cy="5329236"/>
        </p:xfrm>
        <a:graphic>
          <a:graphicData uri="http://schemas.openxmlformats.org/drawingml/2006/table">
            <a:tbl>
              <a:tblPr/>
              <a:tblGrid>
                <a:gridCol w="963667"/>
                <a:gridCol w="1608101"/>
                <a:gridCol w="5389572"/>
              </a:tblGrid>
              <a:tr h="888206">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rowSpan="5">
                  <a:txBody>
                    <a:bodyPr/>
                    <a:lstStyle/>
                    <a:p>
                      <a:pPr algn="ctr">
                        <a:lnSpc>
                          <a:spcPct val="150000"/>
                        </a:lnSpc>
                        <a:spcAft>
                          <a:spcPts val="0"/>
                        </a:spcAft>
                      </a:pPr>
                      <a:r>
                        <a:rPr lang="en-US" sz="1400" b="1" kern="1200" dirty="0" smtClean="0">
                          <a:solidFill>
                            <a:srgbClr val="0000FF"/>
                          </a:solidFill>
                          <a:latin typeface="+mn-ea"/>
                          <a:ea typeface="+mn-ea"/>
                          <a:cs typeface="+mn-cs"/>
                        </a:rPr>
                        <a:t>8</a:t>
                      </a:r>
                      <a:endParaRPr lang="en-US" altLang="zh-CN" sz="1400" b="1" kern="1200" dirty="0" smtClean="0">
                        <a:solidFill>
                          <a:srgbClr val="0000FF"/>
                        </a:solidFill>
                        <a:latin typeface="+mn-ea"/>
                        <a:ea typeface="+mn-ea"/>
                        <a:cs typeface="+mn-cs"/>
                      </a:endParaRPr>
                    </a:p>
                    <a:p>
                      <a:pPr algn="ctr">
                        <a:lnSpc>
                          <a:spcPct val="150000"/>
                        </a:lnSpc>
                        <a:spcAft>
                          <a:spcPts val="0"/>
                        </a:spcAft>
                      </a:pPr>
                      <a:r>
                        <a:rPr lang="zh-CN" altLang="en-US" sz="1400" b="1" kern="1200" dirty="0" smtClean="0">
                          <a:solidFill>
                            <a:srgbClr val="0000FF"/>
                          </a:solidFill>
                          <a:latin typeface="+mn-ea"/>
                          <a:ea typeface="+mn-ea"/>
                          <a:cs typeface="+mn-cs"/>
                        </a:rPr>
                        <a:t>主梁</a:t>
                      </a:r>
                      <a:endParaRPr lang="en-US" altLang="zh-CN" sz="1400" b="1" kern="1200" dirty="0" smtClean="0">
                        <a:solidFill>
                          <a:srgbClr val="0000FF"/>
                        </a:solidFill>
                        <a:latin typeface="+mn-ea"/>
                        <a:ea typeface="+mn-ea"/>
                        <a:cs typeface="+mn-cs"/>
                      </a:endParaRPr>
                    </a:p>
                    <a:p>
                      <a:pPr algn="ctr">
                        <a:lnSpc>
                          <a:spcPct val="150000"/>
                        </a:lnSpc>
                        <a:spcAft>
                          <a:spcPts val="0"/>
                        </a:spcAft>
                      </a:pPr>
                      <a:r>
                        <a:rPr lang="zh-CN" altLang="en-US" sz="1400" b="1" kern="1200" dirty="0" smtClean="0">
                          <a:solidFill>
                            <a:srgbClr val="0000FF"/>
                          </a:solidFill>
                          <a:latin typeface="+mn-ea"/>
                          <a:ea typeface="+mn-ea"/>
                          <a:cs typeface="+mn-cs"/>
                        </a:rPr>
                        <a:t>弯曲</a:t>
                      </a:r>
                      <a:endParaRPr lang="zh-CN" sz="1400" b="1" kern="100" dirty="0">
                        <a:solidFill>
                          <a:srgbClr val="0000FF"/>
                        </a:solidFill>
                        <a:latin typeface="+mn-ea"/>
                        <a:ea typeface="+mn-ea"/>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、机座端地基粗糙，自由度不够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、正确的安装方法是油缸座端地基不固定，止推板端固定，且地基要平整。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400" b="1" kern="100">
                          <a:solidFill>
                            <a:srgbClr val="0000FF"/>
                          </a:solidFill>
                          <a:latin typeface="+mn-ea"/>
                          <a:ea typeface="+mn-ea"/>
                        </a:rPr>
                        <a:t>B</a:t>
                      </a:r>
                      <a:r>
                        <a:rPr lang="zh-CN" sz="1400" b="1" kern="100">
                          <a:solidFill>
                            <a:srgbClr val="0000FF"/>
                          </a:solidFill>
                          <a:latin typeface="+mn-ea"/>
                          <a:ea typeface="+mn-ea"/>
                        </a:rPr>
                        <a:t>、滤板排列不平整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B</a:t>
                      </a:r>
                      <a:r>
                        <a:rPr lang="zh-CN" sz="1400" b="1" kern="100" dirty="0">
                          <a:solidFill>
                            <a:srgbClr val="0000FF"/>
                          </a:solidFill>
                          <a:latin typeface="+mn-ea"/>
                          <a:ea typeface="+mn-ea"/>
                        </a:rPr>
                        <a:t>、滤板排列不平整会造成压紧时压紧板的力偏向一边，从而将主梁顶弯。出现这样的情况，调整滤板排列至整齐。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400" b="1" kern="100">
                          <a:solidFill>
                            <a:srgbClr val="0000FF"/>
                          </a:solidFill>
                          <a:latin typeface="+mn-ea"/>
                          <a:ea typeface="+mn-ea"/>
                        </a:rPr>
                        <a:t>C</a:t>
                      </a:r>
                      <a:r>
                        <a:rPr lang="zh-CN" sz="1400" b="1" kern="100">
                          <a:solidFill>
                            <a:srgbClr val="0000FF"/>
                          </a:solidFill>
                          <a:latin typeface="+mn-ea"/>
                          <a:ea typeface="+mn-ea"/>
                        </a:rPr>
                        <a:t>、滤板表面杂质清除不干净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C</a:t>
                      </a:r>
                      <a:r>
                        <a:rPr lang="zh-CN" sz="1400" b="1" kern="100" dirty="0">
                          <a:solidFill>
                            <a:srgbClr val="0000FF"/>
                          </a:solidFill>
                          <a:latin typeface="+mn-ea"/>
                          <a:ea typeface="+mn-ea"/>
                        </a:rPr>
                        <a:t>、每完成一次工序，必须清理滤板干净再进行下一次压紧。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400" b="1" kern="100">
                          <a:solidFill>
                            <a:srgbClr val="0000FF"/>
                          </a:solidFill>
                          <a:latin typeface="+mn-ea"/>
                          <a:ea typeface="+mn-ea"/>
                        </a:rPr>
                        <a:t>D</a:t>
                      </a:r>
                      <a:r>
                        <a:rPr lang="zh-CN" sz="1400" b="1" kern="100">
                          <a:solidFill>
                            <a:srgbClr val="0000FF"/>
                          </a:solidFill>
                          <a:latin typeface="+mn-ea"/>
                          <a:ea typeface="+mn-ea"/>
                        </a:rPr>
                        <a:t>、支腿和地面接触不实</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D</a:t>
                      </a:r>
                      <a:r>
                        <a:rPr lang="zh-CN" sz="1400" b="1" kern="100" dirty="0">
                          <a:solidFill>
                            <a:srgbClr val="0000FF"/>
                          </a:solidFill>
                          <a:latin typeface="+mn-ea"/>
                          <a:ea typeface="+mn-ea"/>
                        </a:rPr>
                        <a:t>、观察压紧时各支腿是否有抬起现象，由抬起时在支腿下加垫板。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8206">
                <a:tc vMerge="1">
                  <a:txBody>
                    <a:bodyPr/>
                    <a:lstStyle/>
                    <a:p>
                      <a:endParaRPr lang="zh-CN" altLang="en-US"/>
                    </a:p>
                  </a:txBody>
                  <a:tcPr/>
                </a:tc>
                <a:tc>
                  <a:txBody>
                    <a:bodyPr/>
                    <a:lstStyle/>
                    <a:p>
                      <a:pPr algn="just">
                        <a:lnSpc>
                          <a:spcPct val="150000"/>
                        </a:lnSpc>
                        <a:spcAft>
                          <a:spcPts val="0"/>
                        </a:spcAft>
                      </a:pPr>
                      <a:r>
                        <a:rPr lang="en-US" sz="1400" b="1" kern="100">
                          <a:solidFill>
                            <a:srgbClr val="0000FF"/>
                          </a:solidFill>
                          <a:latin typeface="+mn-ea"/>
                          <a:ea typeface="+mn-ea"/>
                        </a:rPr>
                        <a:t>E</a:t>
                      </a:r>
                      <a:r>
                        <a:rPr lang="zh-CN" sz="1400" b="1" kern="100">
                          <a:solidFill>
                            <a:srgbClr val="0000FF"/>
                          </a:solidFill>
                          <a:latin typeface="+mn-ea"/>
                          <a:ea typeface="+mn-ea"/>
                        </a:rPr>
                        <a:t>、地基不平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E</a:t>
                      </a:r>
                      <a:r>
                        <a:rPr lang="zh-CN" sz="1400" b="1" kern="100" dirty="0">
                          <a:solidFill>
                            <a:srgbClr val="0000FF"/>
                          </a:solidFill>
                          <a:latin typeface="+mn-ea"/>
                          <a:ea typeface="+mn-ea"/>
                        </a:rPr>
                        <a:t>、找地基水平，松开大梁螺栓调整大梁，使对角线长度差为</a:t>
                      </a:r>
                      <a:r>
                        <a:rPr lang="en-US" sz="1400" b="1" kern="100" dirty="0">
                          <a:solidFill>
                            <a:srgbClr val="0000FF"/>
                          </a:solidFill>
                          <a:latin typeface="+mn-ea"/>
                          <a:ea typeface="+mn-ea"/>
                        </a:rPr>
                        <a:t>0.05%</a:t>
                      </a:r>
                      <a:r>
                        <a:rPr lang="zh-CN" sz="1400" b="1" kern="100" dirty="0">
                          <a:solidFill>
                            <a:srgbClr val="0000FF"/>
                          </a:solidFill>
                          <a:latin typeface="+mn-ea"/>
                          <a:ea typeface="+mn-ea"/>
                        </a:rPr>
                        <a:t>以内，固定大梁螺栓，重新打压。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11188"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42910" y="1052514"/>
          <a:ext cx="7889903" cy="5329236"/>
        </p:xfrm>
        <a:graphic>
          <a:graphicData uri="http://schemas.openxmlformats.org/drawingml/2006/table">
            <a:tbl>
              <a:tblPr/>
              <a:tblGrid>
                <a:gridCol w="930486"/>
                <a:gridCol w="1664886"/>
                <a:gridCol w="5294531"/>
              </a:tblGrid>
              <a:tr h="1332309">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32309">
                <a:tc rowSpan="3">
                  <a:txBody>
                    <a:bodyPr/>
                    <a:lstStyle/>
                    <a:p>
                      <a:pPr algn="ctr">
                        <a:lnSpc>
                          <a:spcPct val="150000"/>
                        </a:lnSpc>
                        <a:spcAft>
                          <a:spcPts val="0"/>
                        </a:spcAft>
                      </a:pPr>
                      <a:r>
                        <a:rPr lang="en-US" sz="1400" b="1" kern="1200" dirty="0" smtClean="0">
                          <a:solidFill>
                            <a:srgbClr val="0000FF"/>
                          </a:solidFill>
                          <a:latin typeface="+mn-ea"/>
                          <a:ea typeface="+mn-ea"/>
                          <a:cs typeface="+mn-cs"/>
                        </a:rPr>
                        <a:t>9</a:t>
                      </a:r>
                      <a:endParaRPr lang="en-US" altLang="zh-CN" sz="1400" b="1" kern="1200" dirty="0" smtClean="0">
                        <a:solidFill>
                          <a:srgbClr val="0000FF"/>
                        </a:solidFill>
                        <a:latin typeface="+mn-ea"/>
                        <a:ea typeface="+mn-ea"/>
                        <a:cs typeface="+mn-cs"/>
                      </a:endParaRPr>
                    </a:p>
                    <a:p>
                      <a:pPr algn="ctr">
                        <a:lnSpc>
                          <a:spcPct val="150000"/>
                        </a:lnSpc>
                        <a:spcAft>
                          <a:spcPts val="0"/>
                        </a:spcAft>
                      </a:pPr>
                      <a:r>
                        <a:rPr lang="zh-CN" altLang="en-US" sz="1400" b="1" kern="1200" dirty="0" smtClean="0">
                          <a:solidFill>
                            <a:srgbClr val="0000FF"/>
                          </a:solidFill>
                          <a:latin typeface="+mn-ea"/>
                          <a:ea typeface="+mn-ea"/>
                          <a:cs typeface="+mn-cs"/>
                        </a:rPr>
                        <a:t>滤板向上抬起</a:t>
                      </a:r>
                      <a:endParaRPr lang="zh-CN" sz="1400" b="1" kern="100" dirty="0">
                        <a:solidFill>
                          <a:srgbClr val="0000FF"/>
                        </a:solidFill>
                        <a:latin typeface="+mn-ea"/>
                        <a:ea typeface="+mn-ea"/>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、安装基础不水平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、重新修整地基，保证地基平整。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32309">
                <a:tc vMerge="1">
                  <a:txBody>
                    <a:bodyPr/>
                    <a:lstStyle/>
                    <a:p>
                      <a:endParaRPr lang="zh-CN" altLang="en-US"/>
                    </a:p>
                  </a:txBody>
                  <a:tcPr/>
                </a:tc>
                <a:tc>
                  <a:txBody>
                    <a:bodyPr/>
                    <a:lstStyle/>
                    <a:p>
                      <a:pPr algn="l">
                        <a:lnSpc>
                          <a:spcPct val="150000"/>
                        </a:lnSpc>
                        <a:spcAft>
                          <a:spcPts val="0"/>
                        </a:spcAft>
                      </a:pPr>
                      <a:r>
                        <a:rPr lang="en-US" sz="1400" b="1" kern="100">
                          <a:solidFill>
                            <a:srgbClr val="0000FF"/>
                          </a:solidFill>
                          <a:latin typeface="+mn-ea"/>
                          <a:ea typeface="+mn-ea"/>
                        </a:rPr>
                        <a:t>B</a:t>
                      </a:r>
                      <a:r>
                        <a:rPr lang="zh-CN" sz="1400" b="1" kern="100">
                          <a:solidFill>
                            <a:srgbClr val="0000FF"/>
                          </a:solidFill>
                          <a:latin typeface="+mn-ea"/>
                          <a:ea typeface="+mn-ea"/>
                        </a:rPr>
                        <a:t>、滤板表面有杂质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B</a:t>
                      </a:r>
                      <a:r>
                        <a:rPr lang="zh-CN" sz="1400" b="1" kern="100" dirty="0">
                          <a:solidFill>
                            <a:srgbClr val="0000FF"/>
                          </a:solidFill>
                          <a:latin typeface="+mn-ea"/>
                          <a:ea typeface="+mn-ea"/>
                        </a:rPr>
                        <a:t>、每次压紧前清除滤板表面杂质。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32309">
                <a:tc vMerge="1">
                  <a:txBody>
                    <a:bodyPr/>
                    <a:lstStyle/>
                    <a:p>
                      <a:endParaRPr lang="zh-CN" altLang="en-US"/>
                    </a:p>
                  </a:txBody>
                  <a:tcPr/>
                </a:tc>
                <a:tc>
                  <a:txBody>
                    <a:bodyPr/>
                    <a:lstStyle/>
                    <a:p>
                      <a:pPr algn="l">
                        <a:lnSpc>
                          <a:spcPct val="150000"/>
                        </a:lnSpc>
                        <a:spcAft>
                          <a:spcPts val="0"/>
                        </a:spcAft>
                      </a:pPr>
                      <a:r>
                        <a:rPr lang="en-US" sz="1400" b="1" kern="100">
                          <a:solidFill>
                            <a:srgbClr val="0000FF"/>
                          </a:solidFill>
                          <a:latin typeface="+mn-ea"/>
                          <a:ea typeface="+mn-ea"/>
                        </a:rPr>
                        <a:t>C</a:t>
                      </a:r>
                      <a:r>
                        <a:rPr lang="zh-CN" sz="1400" b="1" kern="100">
                          <a:solidFill>
                            <a:srgbClr val="0000FF"/>
                          </a:solidFill>
                          <a:latin typeface="+mn-ea"/>
                          <a:ea typeface="+mn-ea"/>
                        </a:rPr>
                        <a:t>、活塞杆顶偏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b="1" kern="100" dirty="0">
                          <a:solidFill>
                            <a:srgbClr val="0000FF"/>
                          </a:solidFill>
                          <a:latin typeface="+mn-ea"/>
                          <a:ea typeface="+mn-ea"/>
                        </a:rPr>
                        <a:t>C</a:t>
                      </a:r>
                      <a:r>
                        <a:rPr lang="zh-CN" sz="1400" b="1" kern="100" dirty="0">
                          <a:solidFill>
                            <a:srgbClr val="0000FF"/>
                          </a:solidFill>
                          <a:latin typeface="+mn-ea"/>
                          <a:ea typeface="+mn-ea"/>
                        </a:rPr>
                        <a:t>、当活塞杆的球面凸</a:t>
                      </a:r>
                      <a:r>
                        <a:rPr lang="en-US" sz="1400" b="1" kern="100" dirty="0">
                          <a:solidFill>
                            <a:srgbClr val="0000FF"/>
                          </a:solidFill>
                          <a:latin typeface="+mn-ea"/>
                          <a:ea typeface="+mn-ea"/>
                        </a:rPr>
                        <a:t>R</a:t>
                      </a:r>
                      <a:r>
                        <a:rPr lang="zh-CN" sz="1400" b="1" kern="100" dirty="0">
                          <a:solidFill>
                            <a:srgbClr val="0000FF"/>
                          </a:solidFill>
                          <a:latin typeface="+mn-ea"/>
                          <a:ea typeface="+mn-ea"/>
                        </a:rPr>
                        <a:t>大于球面垫凹</a:t>
                      </a:r>
                      <a:r>
                        <a:rPr lang="en-US" sz="1400" b="1" kern="100" dirty="0">
                          <a:solidFill>
                            <a:srgbClr val="0000FF"/>
                          </a:solidFill>
                          <a:latin typeface="+mn-ea"/>
                          <a:ea typeface="+mn-ea"/>
                        </a:rPr>
                        <a:t>R</a:t>
                      </a:r>
                      <a:r>
                        <a:rPr lang="zh-CN" sz="1400" b="1" kern="100" dirty="0">
                          <a:solidFill>
                            <a:srgbClr val="0000FF"/>
                          </a:solidFill>
                          <a:latin typeface="+mn-ea"/>
                          <a:ea typeface="+mn-ea"/>
                        </a:rPr>
                        <a:t>时，应修磨球面使其小于球面垫的凹</a:t>
                      </a:r>
                      <a:r>
                        <a:rPr lang="en-US" sz="1400" b="1" kern="100" dirty="0">
                          <a:solidFill>
                            <a:srgbClr val="0000FF"/>
                          </a:solidFill>
                          <a:latin typeface="+mn-ea"/>
                          <a:ea typeface="+mn-ea"/>
                        </a:rPr>
                        <a:t>R</a:t>
                      </a:r>
                      <a:r>
                        <a:rPr lang="zh-CN" sz="1400" b="1" kern="100" dirty="0">
                          <a:solidFill>
                            <a:srgbClr val="0000FF"/>
                          </a:solidFill>
                          <a:latin typeface="+mn-ea"/>
                          <a:ea typeface="+mn-ea"/>
                        </a:rPr>
                        <a:t>。调整大梁对角线在</a:t>
                      </a:r>
                      <a:r>
                        <a:rPr lang="en-US" sz="1400" b="1" kern="100" dirty="0">
                          <a:solidFill>
                            <a:srgbClr val="0000FF"/>
                          </a:solidFill>
                          <a:latin typeface="+mn-ea"/>
                          <a:ea typeface="+mn-ea"/>
                        </a:rPr>
                        <a:t>0.05%</a:t>
                      </a:r>
                      <a:r>
                        <a:rPr lang="zh-CN" sz="1400" b="1" kern="100" dirty="0">
                          <a:solidFill>
                            <a:srgbClr val="0000FF"/>
                          </a:solidFill>
                          <a:latin typeface="+mn-ea"/>
                          <a:ea typeface="+mn-ea"/>
                        </a:rPr>
                        <a:t>以内。压紧板法兰没有焊接在中心位置，应切割下来重新找正中心焊接。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33226"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42908" y="1052511"/>
          <a:ext cx="7889904" cy="5459207"/>
        </p:xfrm>
        <a:graphic>
          <a:graphicData uri="http://schemas.openxmlformats.org/drawingml/2006/table">
            <a:tbl>
              <a:tblPr/>
              <a:tblGrid>
                <a:gridCol w="889843"/>
                <a:gridCol w="1610489"/>
                <a:gridCol w="5389572"/>
              </a:tblGrid>
              <a:tr h="312545">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故障可能原因</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相应排除方法</a:t>
                      </a: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210">
                <a:tc rowSpan="8">
                  <a:txBody>
                    <a:bodyPr/>
                    <a:lstStyle/>
                    <a:p>
                      <a:pPr algn="ctr">
                        <a:lnSpc>
                          <a:spcPct val="150000"/>
                        </a:lnSpc>
                        <a:spcAft>
                          <a:spcPts val="0"/>
                        </a:spcAft>
                      </a:pPr>
                      <a:r>
                        <a:rPr lang="en-US" sz="1400" b="1" kern="1200" dirty="0" smtClean="0">
                          <a:solidFill>
                            <a:srgbClr val="0000FF"/>
                          </a:solidFill>
                          <a:latin typeface="+mn-ea"/>
                          <a:ea typeface="+mn-ea"/>
                          <a:cs typeface="+mn-cs"/>
                        </a:rPr>
                        <a:t>10</a:t>
                      </a:r>
                      <a:endParaRPr lang="en-US" altLang="zh-CN" sz="1400" b="1" kern="1200" dirty="0" smtClean="0">
                        <a:solidFill>
                          <a:srgbClr val="0000FF"/>
                        </a:solidFill>
                        <a:latin typeface="+mn-ea"/>
                        <a:ea typeface="+mn-ea"/>
                        <a:cs typeface="+mn-cs"/>
                      </a:endParaRPr>
                    </a:p>
                    <a:p>
                      <a:pPr algn="ctr">
                        <a:lnSpc>
                          <a:spcPct val="150000"/>
                        </a:lnSpc>
                        <a:spcAft>
                          <a:spcPts val="0"/>
                        </a:spcAft>
                      </a:pPr>
                      <a:r>
                        <a:rPr lang="zh-CN" altLang="en-US" sz="1400" b="1" kern="1200" dirty="0" smtClean="0">
                          <a:solidFill>
                            <a:srgbClr val="0000FF"/>
                          </a:solidFill>
                          <a:latin typeface="+mn-ea"/>
                          <a:ea typeface="+mn-ea"/>
                          <a:cs typeface="+mn-cs"/>
                        </a:rPr>
                        <a:t>油压</a:t>
                      </a:r>
                      <a:endParaRPr lang="en-US" altLang="zh-CN" sz="1400" b="1" kern="1200" dirty="0" smtClean="0">
                        <a:solidFill>
                          <a:srgbClr val="0000FF"/>
                        </a:solidFill>
                        <a:latin typeface="+mn-ea"/>
                        <a:ea typeface="+mn-ea"/>
                        <a:cs typeface="+mn-cs"/>
                      </a:endParaRPr>
                    </a:p>
                    <a:p>
                      <a:pPr algn="ctr">
                        <a:lnSpc>
                          <a:spcPct val="150000"/>
                        </a:lnSpc>
                        <a:spcAft>
                          <a:spcPts val="0"/>
                        </a:spcAft>
                      </a:pPr>
                      <a:r>
                        <a:rPr lang="zh-CN" altLang="en-US" sz="1400" b="1" kern="1200" dirty="0" smtClean="0">
                          <a:solidFill>
                            <a:srgbClr val="0000FF"/>
                          </a:solidFill>
                          <a:latin typeface="+mn-ea"/>
                          <a:ea typeface="+mn-ea"/>
                          <a:cs typeface="+mn-cs"/>
                        </a:rPr>
                        <a:t>不足</a:t>
                      </a:r>
                      <a:endParaRPr lang="zh-CN" sz="1400" b="1" kern="100" dirty="0">
                        <a:solidFill>
                          <a:srgbClr val="0000FF"/>
                        </a:solidFill>
                        <a:latin typeface="+mn-ea"/>
                        <a:ea typeface="+mn-ea"/>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、油位不够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A</a:t>
                      </a:r>
                      <a:r>
                        <a:rPr lang="zh-CN" sz="1400" b="1" kern="100" dirty="0">
                          <a:solidFill>
                            <a:srgbClr val="0000FF"/>
                          </a:solidFill>
                          <a:latin typeface="+mn-ea"/>
                          <a:ea typeface="+mn-ea"/>
                        </a:rPr>
                        <a:t>、加</a:t>
                      </a:r>
                      <a:r>
                        <a:rPr lang="en-US" sz="1400" b="1" kern="100" dirty="0">
                          <a:solidFill>
                            <a:srgbClr val="0000FF"/>
                          </a:solidFill>
                          <a:latin typeface="+mn-ea"/>
                          <a:ea typeface="+mn-ea"/>
                        </a:rPr>
                        <a:t>32#~46#</a:t>
                      </a:r>
                      <a:r>
                        <a:rPr lang="zh-CN" sz="1400" b="1" kern="100" dirty="0">
                          <a:solidFill>
                            <a:srgbClr val="0000FF"/>
                          </a:solidFill>
                          <a:latin typeface="+mn-ea"/>
                          <a:ea typeface="+mn-ea"/>
                        </a:rPr>
                        <a:t>抗磨液压油超过油位计</a:t>
                      </a:r>
                      <a:r>
                        <a:rPr lang="en-US" sz="1400" b="1" kern="100" dirty="0">
                          <a:solidFill>
                            <a:srgbClr val="0000FF"/>
                          </a:solidFill>
                          <a:latin typeface="+mn-ea"/>
                          <a:ea typeface="+mn-ea"/>
                        </a:rPr>
                        <a:t>2/3</a:t>
                      </a:r>
                      <a:endParaRPr lang="zh-CN" sz="1400" b="1" kern="100" dirty="0">
                        <a:solidFill>
                          <a:srgbClr val="0000FF"/>
                        </a:solidFill>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5953">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mn-ea"/>
                          <a:ea typeface="+mn-ea"/>
                        </a:rPr>
                        <a:t>B</a:t>
                      </a:r>
                      <a:r>
                        <a:rPr lang="zh-CN" sz="1400" b="1" kern="100" dirty="0">
                          <a:solidFill>
                            <a:srgbClr val="0000FF"/>
                          </a:solidFill>
                          <a:latin typeface="+mn-ea"/>
                          <a:ea typeface="+mn-ea"/>
                        </a:rPr>
                        <a:t>、油粘度太大或油温太低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B</a:t>
                      </a:r>
                      <a:r>
                        <a:rPr lang="zh-CN" sz="1400" b="1" kern="100" dirty="0">
                          <a:solidFill>
                            <a:srgbClr val="0000FF"/>
                          </a:solidFill>
                          <a:latin typeface="+mn-ea"/>
                          <a:ea typeface="+mn-ea"/>
                        </a:rPr>
                        <a:t>、更换粘度较低的油或将油箱加热。</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2734">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mn-ea"/>
                          <a:ea typeface="+mn-ea"/>
                        </a:rPr>
                        <a:t>C</a:t>
                      </a:r>
                      <a:r>
                        <a:rPr lang="zh-CN" sz="1400" b="1" kern="100" dirty="0">
                          <a:solidFill>
                            <a:srgbClr val="0000FF"/>
                          </a:solidFill>
                          <a:latin typeface="+mn-ea"/>
                          <a:ea typeface="+mn-ea"/>
                        </a:rPr>
                        <a:t>、溢流阀调整不当或损坏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C</a:t>
                      </a:r>
                      <a:r>
                        <a:rPr lang="zh-CN" sz="1400" b="1" kern="100" dirty="0">
                          <a:solidFill>
                            <a:srgbClr val="0000FF"/>
                          </a:solidFill>
                          <a:latin typeface="+mn-ea"/>
                          <a:ea typeface="+mn-ea"/>
                        </a:rPr>
                        <a:t>、高压溢流阀调整得太低，使得压力不能上升到需要的压力，旋转高压溢流阀的阀门调高压力至</a:t>
                      </a:r>
                      <a:r>
                        <a:rPr lang="en-US" sz="1400" b="1" kern="100" dirty="0">
                          <a:solidFill>
                            <a:srgbClr val="0000FF"/>
                          </a:solidFill>
                          <a:latin typeface="+mn-ea"/>
                          <a:ea typeface="+mn-ea"/>
                        </a:rPr>
                        <a:t>25 </a:t>
                      </a:r>
                      <a:r>
                        <a:rPr lang="en-US" sz="1400" b="1" kern="100" dirty="0" err="1">
                          <a:solidFill>
                            <a:srgbClr val="0000FF"/>
                          </a:solidFill>
                          <a:latin typeface="+mn-ea"/>
                          <a:ea typeface="+mn-ea"/>
                        </a:rPr>
                        <a:t>Mpa</a:t>
                      </a:r>
                      <a:r>
                        <a:rPr lang="zh-CN" sz="1400" b="1" kern="100" dirty="0">
                          <a:solidFill>
                            <a:srgbClr val="0000FF"/>
                          </a:solidFill>
                          <a:latin typeface="+mn-ea"/>
                          <a:ea typeface="+mn-ea"/>
                        </a:rPr>
                        <a:t>即可。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4420">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mn-ea"/>
                          <a:ea typeface="+mn-ea"/>
                        </a:rPr>
                        <a:t>D</a:t>
                      </a:r>
                      <a:r>
                        <a:rPr lang="zh-CN" sz="1400" b="1" kern="100" dirty="0">
                          <a:solidFill>
                            <a:srgbClr val="0000FF"/>
                          </a:solidFill>
                          <a:latin typeface="+mn-ea"/>
                          <a:ea typeface="+mn-ea"/>
                        </a:rPr>
                        <a:t>、阀内泄漏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D</a:t>
                      </a:r>
                      <a:r>
                        <a:rPr lang="zh-CN" sz="1400" b="1" kern="100" dirty="0">
                          <a:solidFill>
                            <a:srgbClr val="0000FF"/>
                          </a:solidFill>
                          <a:latin typeface="+mn-ea"/>
                          <a:ea typeface="+mn-ea"/>
                        </a:rPr>
                        <a:t>、溢流阀调整正确，但压力仍上不去，可能时阀内泄漏，更换溢流阀。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5908">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mn-ea"/>
                          <a:ea typeface="+mn-ea"/>
                        </a:rPr>
                        <a:t>E</a:t>
                      </a:r>
                      <a:r>
                        <a:rPr lang="zh-CN" sz="1400" b="1" kern="100" dirty="0">
                          <a:solidFill>
                            <a:srgbClr val="0000FF"/>
                          </a:solidFill>
                          <a:latin typeface="+mn-ea"/>
                          <a:ea typeface="+mn-ea"/>
                        </a:rPr>
                        <a:t>、油缸密封圈磨损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E</a:t>
                      </a:r>
                      <a:r>
                        <a:rPr lang="zh-CN" sz="1400" b="1" kern="100" dirty="0">
                          <a:solidFill>
                            <a:srgbClr val="0000FF"/>
                          </a:solidFill>
                          <a:latin typeface="+mn-ea"/>
                          <a:ea typeface="+mn-ea"/>
                        </a:rPr>
                        <a:t>、更换密封圈</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4420">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mn-ea"/>
                          <a:ea typeface="+mn-ea"/>
                        </a:rPr>
                        <a:t>F</a:t>
                      </a:r>
                      <a:r>
                        <a:rPr lang="zh-CN" sz="1400" b="1" kern="100" dirty="0">
                          <a:solidFill>
                            <a:srgbClr val="0000FF"/>
                          </a:solidFill>
                          <a:latin typeface="+mn-ea"/>
                          <a:ea typeface="+mn-ea"/>
                        </a:rPr>
                        <a:t>、电磁阀换向不到位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F</a:t>
                      </a:r>
                      <a:r>
                        <a:rPr lang="zh-CN" sz="1400" b="1" kern="100" dirty="0">
                          <a:solidFill>
                            <a:srgbClr val="0000FF"/>
                          </a:solidFill>
                          <a:latin typeface="+mn-ea"/>
                          <a:ea typeface="+mn-ea"/>
                        </a:rPr>
                        <a:t>、修复或更换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36630">
                <a:tc vMerge="1">
                  <a:txBody>
                    <a:bodyPr/>
                    <a:lstStyle/>
                    <a:p>
                      <a:endParaRPr lang="zh-CN" altLang="en-US"/>
                    </a:p>
                  </a:txBody>
                  <a:tcPr/>
                </a:tc>
                <a:tc>
                  <a:txBody>
                    <a:bodyPr/>
                    <a:lstStyle/>
                    <a:p>
                      <a:pPr algn="just">
                        <a:lnSpc>
                          <a:spcPct val="150000"/>
                        </a:lnSpc>
                        <a:spcAft>
                          <a:spcPts val="0"/>
                        </a:spcAft>
                      </a:pPr>
                      <a:r>
                        <a:rPr lang="en-US" sz="1400" b="1" kern="100" dirty="0">
                          <a:solidFill>
                            <a:srgbClr val="0000FF"/>
                          </a:solidFill>
                          <a:latin typeface="+mn-ea"/>
                          <a:ea typeface="+mn-ea"/>
                        </a:rPr>
                        <a:t>G</a:t>
                      </a:r>
                      <a:r>
                        <a:rPr lang="zh-CN" sz="1400" b="1" kern="100" dirty="0">
                          <a:solidFill>
                            <a:srgbClr val="0000FF"/>
                          </a:solidFill>
                          <a:latin typeface="+mn-ea"/>
                          <a:ea typeface="+mn-ea"/>
                        </a:rPr>
                        <a:t>、油管、接头、管路泄漏或密封圈损坏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G</a:t>
                      </a:r>
                      <a:r>
                        <a:rPr lang="zh-CN" sz="1400" b="1" kern="100" dirty="0">
                          <a:solidFill>
                            <a:srgbClr val="0000FF"/>
                          </a:solidFill>
                          <a:latin typeface="+mn-ea"/>
                          <a:ea typeface="+mn-ea"/>
                        </a:rPr>
                        <a:t>、用清洁的黄油涂于吸入通道上各接头处检查是否漏气。</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4420">
                <a:tc vMerge="1">
                  <a:txBody>
                    <a:bodyPr/>
                    <a:lstStyle/>
                    <a:p>
                      <a:pPr algn="ctr">
                        <a:lnSpc>
                          <a:spcPct val="150000"/>
                        </a:lnSpc>
                        <a:spcAft>
                          <a:spcPts val="0"/>
                        </a:spcAft>
                      </a:pPr>
                      <a:endParaRPr lang="zh-CN" sz="1400" b="1" kern="100" dirty="0">
                        <a:solidFill>
                          <a:srgbClr val="0000FF"/>
                        </a:solidFill>
                        <a:latin typeface="Times New Roman"/>
                        <a:ea typeface="宋体"/>
                      </a:endParaRPr>
                    </a:p>
                  </a:txBody>
                  <a:tcPr marL="15631" marR="156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H</a:t>
                      </a:r>
                      <a:r>
                        <a:rPr lang="zh-CN" sz="1400" b="1" kern="100" dirty="0">
                          <a:solidFill>
                            <a:srgbClr val="0000FF"/>
                          </a:solidFill>
                          <a:latin typeface="+mn-ea"/>
                          <a:ea typeface="+mn-ea"/>
                        </a:rPr>
                        <a:t>、柱塞泵柱塞磨损严重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400" b="1" kern="100" dirty="0">
                          <a:solidFill>
                            <a:srgbClr val="0000FF"/>
                          </a:solidFill>
                          <a:latin typeface="+mn-ea"/>
                          <a:ea typeface="+mn-ea"/>
                        </a:rPr>
                        <a:t>H</a:t>
                      </a:r>
                      <a:r>
                        <a:rPr lang="zh-CN" sz="1400" b="1" kern="100" dirty="0">
                          <a:solidFill>
                            <a:srgbClr val="0000FF"/>
                          </a:solidFill>
                          <a:latin typeface="+mn-ea"/>
                          <a:ea typeface="+mn-ea"/>
                        </a:rPr>
                        <a:t>、更换柱塞泵</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33226" y="549275"/>
            <a:ext cx="3124573" cy="369332"/>
          </a:xfrm>
          <a:prstGeom prst="rect">
            <a:avLst/>
          </a:prstGeom>
        </p:spPr>
        <p:txBody>
          <a:bodyPr wrap="none">
            <a:spAutoFit/>
          </a:bodyPr>
          <a:lstStyle/>
          <a:p>
            <a:r>
              <a:rPr lang="en-US" altLang="zh-CN" dirty="0" smtClean="0"/>
              <a:t>2.10  </a:t>
            </a:r>
            <a:r>
              <a:rPr lang="zh-CN" altLang="en-US" dirty="0" smtClean="0"/>
              <a:t>压滤机常见故障（表</a:t>
            </a:r>
            <a:r>
              <a:rPr lang="en-US" altLang="zh-CN" dirty="0" smtClean="0"/>
              <a:t>1</a:t>
            </a:r>
            <a:r>
              <a:rPr lang="zh-CN" altLang="en-US" dirty="0" smtClean="0"/>
              <a:t>）</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443841"/>
            <a:ext cx="7921624" cy="2585323"/>
          </a:xfrm>
          <a:prstGeom prst="rect">
            <a:avLst/>
          </a:prstGeom>
        </p:spPr>
        <p:txBody>
          <a:bodyPr wrap="square">
            <a:spAutoFit/>
          </a:bodyPr>
          <a:lstStyle/>
          <a:p>
            <a:r>
              <a:rPr lang="en-US" altLang="zh-CN" dirty="0" smtClean="0"/>
              <a:t>2.11  </a:t>
            </a:r>
            <a:r>
              <a:rPr lang="zh-CN" altLang="en-US" dirty="0" smtClean="0"/>
              <a:t>压滤机的注意事项：</a:t>
            </a:r>
          </a:p>
          <a:p>
            <a:r>
              <a:rPr lang="en-US" altLang="zh-CN" dirty="0" smtClean="0"/>
              <a:t>1</a:t>
            </a:r>
            <a:r>
              <a:rPr lang="zh-CN" altLang="en-US" dirty="0" smtClean="0"/>
              <a:t>）使用前请认真阅读使用说明书。</a:t>
            </a:r>
          </a:p>
          <a:p>
            <a:r>
              <a:rPr lang="en-US" altLang="zh-CN" dirty="0" smtClean="0"/>
              <a:t>2</a:t>
            </a:r>
            <a:r>
              <a:rPr lang="zh-CN" altLang="en-US" dirty="0" smtClean="0"/>
              <a:t>）仔细检查滤布规格是否符合工艺要求，有无破损，安装时是否平整无折叠。</a:t>
            </a:r>
          </a:p>
          <a:p>
            <a:r>
              <a:rPr lang="en-US" altLang="zh-CN" dirty="0" smtClean="0"/>
              <a:t>3</a:t>
            </a:r>
            <a:r>
              <a:rPr lang="zh-CN" altLang="en-US" dirty="0" smtClean="0"/>
              <a:t>）检查滤板安装排列是否正确，密封面是否干净。</a:t>
            </a:r>
          </a:p>
          <a:p>
            <a:r>
              <a:rPr lang="en-US" altLang="zh-CN" dirty="0" smtClean="0"/>
              <a:t>4</a:t>
            </a:r>
            <a:r>
              <a:rPr lang="zh-CN" altLang="en-US" dirty="0" smtClean="0"/>
              <a:t>）压滤机压紧后，通过进料泵开始工作，进料压力必须控制在标牌上的额定压力以下，否则会影响压滤机的正常使用。</a:t>
            </a:r>
          </a:p>
          <a:p>
            <a:r>
              <a:rPr lang="en-US" altLang="zh-CN" dirty="0" smtClean="0"/>
              <a:t>5</a:t>
            </a:r>
            <a:r>
              <a:rPr lang="zh-CN" altLang="en-US" dirty="0" smtClean="0"/>
              <a:t>）过滤开始时，进料阀应缓慢开启，起初滤液往往较为混浊，然后转清，均属正常现象。</a:t>
            </a:r>
          </a:p>
          <a:p>
            <a:r>
              <a:rPr lang="en-US" altLang="zh-CN" dirty="0" smtClean="0"/>
              <a:t>6</a:t>
            </a:r>
            <a:r>
              <a:rPr lang="zh-CN" altLang="en-US" dirty="0" smtClean="0"/>
              <a:t>）在冲洗滤板和滤布时，注意不要把水溅到液压站和电控柜上。</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028343"/>
            <a:ext cx="7921624" cy="2862322"/>
          </a:xfrm>
          <a:prstGeom prst="rect">
            <a:avLst/>
          </a:prstGeom>
        </p:spPr>
        <p:txBody>
          <a:bodyPr wrap="square">
            <a:spAutoFit/>
          </a:bodyPr>
          <a:lstStyle/>
          <a:p>
            <a:r>
              <a:rPr lang="en-US" altLang="zh-CN" dirty="0" smtClean="0"/>
              <a:t>7</a:t>
            </a:r>
            <a:r>
              <a:rPr lang="zh-CN" altLang="en-US" dirty="0" smtClean="0"/>
              <a:t>）溢流阀在出厂前已调试好，若用户须自行调节工作压力，应把溢流阀全部调松，然后启动油泵，慢慢调整溢流阀到所需要的压力，但不能超过本机所规定的最大压力。</a:t>
            </a:r>
          </a:p>
          <a:p>
            <a:r>
              <a:rPr lang="en-US" altLang="zh-CN" dirty="0" smtClean="0"/>
              <a:t>8</a:t>
            </a:r>
            <a:r>
              <a:rPr lang="zh-CN" altLang="en-US" dirty="0" smtClean="0"/>
              <a:t>）更换滤板时，严禁碰撞，以免损坏；不可擅自取出滤板，以免活塞杆因超出行程而损坏机件；滤板损坏时应及时更换，否则会引起其它滤板的损坏。</a:t>
            </a:r>
          </a:p>
          <a:p>
            <a:r>
              <a:rPr lang="en-US" altLang="zh-CN" dirty="0" smtClean="0"/>
              <a:t>9</a:t>
            </a:r>
            <a:r>
              <a:rPr lang="zh-CN" altLang="en-US" dirty="0" smtClean="0"/>
              <a:t>）液压油用</a:t>
            </a:r>
            <a:r>
              <a:rPr lang="en-US" altLang="zh-CN" dirty="0" smtClean="0"/>
              <a:t>HM46</a:t>
            </a:r>
            <a:r>
              <a:rPr lang="zh-CN" altLang="en-US" dirty="0" smtClean="0"/>
              <a:t>或</a:t>
            </a:r>
            <a:r>
              <a:rPr lang="en-US" altLang="zh-CN" dirty="0" smtClean="0"/>
              <a:t>HM68</a:t>
            </a:r>
            <a:r>
              <a:rPr lang="zh-CN" altLang="en-US" dirty="0" smtClean="0"/>
              <a:t>号的油液，通过空气滤清器注入油箱，必须达到规定液面；油箱应封闭好，防止杂物及污水进入油箱，使液压元件生锈失灵。</a:t>
            </a:r>
          </a:p>
          <a:p>
            <a:r>
              <a:rPr lang="en-US" altLang="zh-CN" dirty="0" smtClean="0"/>
              <a:t>10</a:t>
            </a:r>
            <a:r>
              <a:rPr lang="zh-CN" altLang="en-US" dirty="0" smtClean="0"/>
              <a:t>）电控柜要保持干燥，压力表、电磁阀线圈几个电气元件要定期检查，以确保设备正常工作。</a:t>
            </a:r>
          </a:p>
          <a:p>
            <a:r>
              <a:rPr lang="en-US" altLang="zh-CN" dirty="0" smtClean="0"/>
              <a:t>11</a:t>
            </a:r>
            <a:r>
              <a:rPr lang="zh-CN" altLang="en-US" dirty="0" smtClean="0"/>
              <a:t>）工作结束后要关闭开关，切断电源，以保证安全。</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859340"/>
            <a:ext cx="7921624" cy="2031325"/>
          </a:xfrm>
          <a:prstGeom prst="rect">
            <a:avLst/>
          </a:prstGeom>
        </p:spPr>
        <p:txBody>
          <a:bodyPr wrap="square">
            <a:spAutoFit/>
          </a:bodyPr>
          <a:lstStyle/>
          <a:p>
            <a:r>
              <a:rPr lang="en-US" altLang="zh-CN" dirty="0" smtClean="0"/>
              <a:t>2.12  </a:t>
            </a:r>
            <a:r>
              <a:rPr lang="zh-CN" altLang="en-US" dirty="0" smtClean="0"/>
              <a:t>进料泵</a:t>
            </a:r>
          </a:p>
          <a:p>
            <a:r>
              <a:rPr lang="en-US" altLang="zh-CN" dirty="0" smtClean="0"/>
              <a:t>2.12.1  </a:t>
            </a:r>
            <a:r>
              <a:rPr lang="zh-CN" altLang="en-US" dirty="0" smtClean="0"/>
              <a:t>进料泵概述</a:t>
            </a:r>
          </a:p>
          <a:p>
            <a:r>
              <a:rPr lang="zh-CN" altLang="en-US" dirty="0" smtClean="0"/>
              <a:t>进料泵的作用是向压滤机滤室供给料浆。压滤机的过滤速度取决于进料压力，而进料压力又与压滤机的强度和进料泵的扬程有关。所以选择进料泵时除考虑输送料浆的性能外，还要使进料泵与压滤机相匹配。常见的进料泵有离心泵、螺杆泵、罗茨泵、隔膜泵、柱塞泵等。目前工业中生产使用的离心泵有普通水泵、不锈钢泵、泥浆泵、渣浆泵、耐腐蚀塑料泵等。</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437878"/>
            <a:ext cx="7921624" cy="3693319"/>
          </a:xfrm>
          <a:prstGeom prst="rect">
            <a:avLst/>
          </a:prstGeom>
        </p:spPr>
        <p:txBody>
          <a:bodyPr wrap="square">
            <a:spAutoFit/>
          </a:bodyPr>
          <a:lstStyle/>
          <a:p>
            <a:r>
              <a:rPr lang="en-US" altLang="zh-CN" dirty="0" smtClean="0"/>
              <a:t>2.12.2  </a:t>
            </a:r>
            <a:r>
              <a:rPr lang="zh-CN" altLang="en-US" dirty="0" smtClean="0"/>
              <a:t>泵选型原则</a:t>
            </a:r>
          </a:p>
          <a:p>
            <a:r>
              <a:rPr lang="en-US" altLang="zh-CN" dirty="0" smtClean="0"/>
              <a:t>1</a:t>
            </a:r>
            <a:r>
              <a:rPr lang="zh-CN" altLang="en-US" dirty="0" smtClean="0"/>
              <a:t>）使所选泵的型式和性能能符合装置流量、扬程、压力、温度、汽蚀流量、吸程等工艺参数的要求。</a:t>
            </a:r>
          </a:p>
          <a:p>
            <a:r>
              <a:rPr lang="en-US" altLang="zh-CN" dirty="0" smtClean="0"/>
              <a:t>2</a:t>
            </a:r>
            <a:r>
              <a:rPr lang="zh-CN" altLang="en-US" dirty="0" smtClean="0"/>
              <a:t>）必须满足介质特性要求：对于输送易燃、易爆、有毒或贵重介质的泵，要求轴封可靠或采用无泄漏泵，如磁力驱动泵、隔膜泵、屏蔽泵。对于输送腐蚀性介质的泵，要求对流部件采用耐腐蚀性材料，如</a:t>
            </a:r>
            <a:r>
              <a:rPr lang="en-US" altLang="zh-CN" dirty="0" smtClean="0"/>
              <a:t>AFB</a:t>
            </a:r>
            <a:r>
              <a:rPr lang="zh-CN" altLang="en-US" dirty="0" smtClean="0"/>
              <a:t>不锈钢耐腐蚀泵，</a:t>
            </a:r>
            <a:r>
              <a:rPr lang="en-US" altLang="zh-CN" dirty="0" smtClean="0"/>
              <a:t>CQF</a:t>
            </a:r>
            <a:r>
              <a:rPr lang="zh-CN" altLang="en-US" dirty="0" smtClean="0"/>
              <a:t>工程塑料磁力驱动泵。对于输送含固体颗粒的泵，要求对流部件采用耐磨材料，必要时轴封用清洁液冲洗。</a:t>
            </a:r>
          </a:p>
          <a:p>
            <a:r>
              <a:rPr lang="en-US" altLang="zh-CN" dirty="0" smtClean="0"/>
              <a:t>3</a:t>
            </a:r>
            <a:r>
              <a:rPr lang="zh-CN" altLang="en-US" dirty="0" smtClean="0"/>
              <a:t>）机械性能方面可靠性高、噪音低、振动小。</a:t>
            </a:r>
          </a:p>
          <a:p>
            <a:r>
              <a:rPr lang="en-US" altLang="zh-CN" dirty="0" smtClean="0"/>
              <a:t>4</a:t>
            </a:r>
            <a:r>
              <a:rPr lang="zh-CN" altLang="en-US" dirty="0" smtClean="0"/>
              <a:t>）经济上要综合考虑设备费、运转费、维修费和管理费的总成本最低。</a:t>
            </a:r>
          </a:p>
          <a:p>
            <a:r>
              <a:rPr lang="en-US" altLang="zh-CN" dirty="0" smtClean="0"/>
              <a:t>5</a:t>
            </a:r>
            <a:r>
              <a:rPr lang="zh-CN" altLang="en-US" dirty="0" smtClean="0"/>
              <a:t>）离心泵具有转速高、体积小、重量轻、效率高、流量大、结构简单、输液无脉动、性能平稳、容易操作和维修方便等特点。因此，除以下情况外，应优先尽量使用离心泵。</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305342"/>
            <a:ext cx="7921624" cy="2862322"/>
          </a:xfrm>
          <a:prstGeom prst="rect">
            <a:avLst/>
          </a:prstGeom>
        </p:spPr>
        <p:txBody>
          <a:bodyPr wrap="square">
            <a:spAutoFit/>
          </a:bodyPr>
          <a:lstStyle/>
          <a:p>
            <a:r>
              <a:rPr lang="zh-CN" altLang="en-US" dirty="0" smtClean="0"/>
              <a:t>特殊情况：</a:t>
            </a:r>
          </a:p>
          <a:p>
            <a:r>
              <a:rPr lang="en-US" altLang="zh-CN" dirty="0" smtClean="0"/>
              <a:t>1</a:t>
            </a:r>
            <a:r>
              <a:rPr lang="zh-CN" altLang="en-US" dirty="0" smtClean="0"/>
              <a:t>）有计量要求时，采用计量泵。</a:t>
            </a:r>
          </a:p>
          <a:p>
            <a:r>
              <a:rPr lang="en-US" altLang="zh-CN" dirty="0" smtClean="0"/>
              <a:t>2</a:t>
            </a:r>
            <a:r>
              <a:rPr lang="zh-CN" altLang="en-US" dirty="0" smtClean="0"/>
              <a:t>）扬程要求很高，流量很小且无合适小流量高扬程离心泵可选时，可用往复泵，如汽蚀要求不高时也可以采用旋涡泵。</a:t>
            </a:r>
          </a:p>
          <a:p>
            <a:r>
              <a:rPr lang="en-US" altLang="zh-CN" dirty="0" smtClean="0"/>
              <a:t>3</a:t>
            </a:r>
            <a:r>
              <a:rPr lang="zh-CN" altLang="en-US" dirty="0" smtClean="0"/>
              <a:t>）扬程很低，流量很大时，可选轴流泵和混流泵。</a:t>
            </a:r>
          </a:p>
          <a:p>
            <a:r>
              <a:rPr lang="en-US" altLang="zh-CN" dirty="0" smtClean="0"/>
              <a:t>4</a:t>
            </a:r>
            <a:r>
              <a:rPr lang="zh-CN" altLang="en-US" dirty="0" smtClean="0"/>
              <a:t>）介质粘度很大（大于</a:t>
            </a:r>
            <a:r>
              <a:rPr lang="en-US" altLang="zh-CN" dirty="0" smtClean="0"/>
              <a:t>650~1000m㎡/s</a:t>
            </a:r>
            <a:r>
              <a:rPr lang="zh-CN" altLang="en-US" dirty="0" smtClean="0"/>
              <a:t>）时，可考虑选用转子泵或往复泵（齿轮泵、螺杆泵）。</a:t>
            </a:r>
          </a:p>
          <a:p>
            <a:r>
              <a:rPr lang="en-US" altLang="zh-CN" dirty="0" smtClean="0"/>
              <a:t>5</a:t>
            </a:r>
            <a:r>
              <a:rPr lang="zh-CN" altLang="en-US" dirty="0" smtClean="0"/>
              <a:t>）介质含气量</a:t>
            </a:r>
            <a:r>
              <a:rPr lang="en-US" altLang="zh-CN" dirty="0" smtClean="0"/>
              <a:t>75%</a:t>
            </a:r>
            <a:r>
              <a:rPr lang="zh-CN" altLang="en-US" dirty="0" smtClean="0"/>
              <a:t>，流量较小且粘度小于</a:t>
            </a:r>
            <a:r>
              <a:rPr lang="en-US" altLang="zh-CN" dirty="0" smtClean="0"/>
              <a:t>37.4 m㎡/s</a:t>
            </a:r>
            <a:r>
              <a:rPr lang="zh-CN" altLang="en-US" dirty="0" smtClean="0"/>
              <a:t>时，可选旋涡泵。</a:t>
            </a:r>
          </a:p>
          <a:p>
            <a:r>
              <a:rPr lang="en-US" altLang="zh-CN" dirty="0" smtClean="0"/>
              <a:t>6</a:t>
            </a:r>
            <a:r>
              <a:rPr lang="zh-CN" altLang="en-US" dirty="0" smtClean="0"/>
              <a:t>）对于启动频繁或灌泵不便的场合，应选用具有自吸性能的泵，如自吸式离心泵、自吸式旋涡泵、气动（电动）隔膜泵。</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189" y="2274838"/>
            <a:ext cx="7921624" cy="1754326"/>
          </a:xfrm>
          <a:prstGeom prst="rect">
            <a:avLst/>
          </a:prstGeom>
        </p:spPr>
        <p:txBody>
          <a:bodyPr wrap="square">
            <a:spAutoFit/>
          </a:bodyPr>
          <a:lstStyle/>
          <a:p>
            <a:r>
              <a:rPr lang="en-US" altLang="zh-CN" dirty="0" smtClean="0"/>
              <a:t>2.12.3  </a:t>
            </a:r>
            <a:r>
              <a:rPr lang="zh-CN" altLang="en-US" dirty="0" smtClean="0"/>
              <a:t>泵的选型依据</a:t>
            </a:r>
          </a:p>
          <a:p>
            <a:r>
              <a:rPr lang="zh-CN" altLang="en-US" dirty="0" smtClean="0"/>
              <a:t>泵的选型依据，应根据工艺流程、给排水要求、液体输送量、装置扬程、液体性质、管路布置以及操作运转等方面加以综合考虑。</a:t>
            </a:r>
          </a:p>
          <a:p>
            <a:r>
              <a:rPr lang="en-US" altLang="zh-CN" dirty="0" smtClean="0"/>
              <a:t>1</a:t>
            </a:r>
            <a:r>
              <a:rPr lang="zh-CN" altLang="en-US" dirty="0" smtClean="0"/>
              <a:t>）流量是选泵的重要性能数据之一，它直接关系到整个装置的生产能力和输送能力。</a:t>
            </a:r>
          </a:p>
          <a:p>
            <a:r>
              <a:rPr lang="en-US" altLang="zh-CN" dirty="0" smtClean="0"/>
              <a:t>2</a:t>
            </a:r>
            <a:r>
              <a:rPr lang="zh-CN" altLang="en-US" dirty="0" smtClean="0"/>
              <a:t>）扬程也是选泵的重要数据之一，一般要用放大</a:t>
            </a:r>
            <a:r>
              <a:rPr lang="en-US" altLang="zh-CN" dirty="0" smtClean="0"/>
              <a:t>5%~10%</a:t>
            </a:r>
            <a:r>
              <a:rPr lang="zh-CN" altLang="en-US" dirty="0" smtClean="0"/>
              <a:t>余量的扬程来选泵。</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991876"/>
            <a:ext cx="7921625" cy="2585323"/>
          </a:xfrm>
          <a:prstGeom prst="rect">
            <a:avLst/>
          </a:prstGeom>
        </p:spPr>
        <p:txBody>
          <a:bodyPr wrap="square">
            <a:spAutoFit/>
          </a:bodyPr>
          <a:lstStyle/>
          <a:p>
            <a:r>
              <a:rPr lang="en-US" altLang="zh-CN" dirty="0" smtClean="0"/>
              <a:t>3</a:t>
            </a:r>
            <a:r>
              <a:rPr lang="zh-CN" altLang="en-US" dirty="0" smtClean="0"/>
              <a:t>）液体性质，包括液体介质名称、物理性质、化学性质和其他一些性质。物理性质如温度、密度、粘度、介质中固体颗粒直径、气体含量等，这涉及到系统扬程、有效汽蚀余量计算和选泵依据。化学性质，主要指液体介质的化学腐蚀性、毒性，这些涉及到泵的轴封型式。</a:t>
            </a:r>
          </a:p>
          <a:p>
            <a:r>
              <a:rPr lang="en-US" altLang="zh-CN" dirty="0" smtClean="0"/>
              <a:t>4</a:t>
            </a:r>
            <a:r>
              <a:rPr lang="zh-CN" altLang="en-US" dirty="0" smtClean="0"/>
              <a:t>）管路布置指的是送液高度、送液距离、送液走向、吸入侧最低液面、排出侧最高液面等一些数据以及管道规格和材料、长度、数量。</a:t>
            </a:r>
          </a:p>
          <a:p>
            <a:r>
              <a:rPr lang="en-US" altLang="zh-CN" dirty="0" smtClean="0"/>
              <a:t>5</a:t>
            </a:r>
            <a:r>
              <a:rPr lang="zh-CN" altLang="en-US" dirty="0" smtClean="0"/>
              <a:t>）操作条件由很多。如液体的操作</a:t>
            </a:r>
            <a:r>
              <a:rPr lang="en-US" altLang="zh-CN" dirty="0" smtClean="0"/>
              <a:t>T</a:t>
            </a:r>
            <a:r>
              <a:rPr lang="zh-CN" altLang="en-US" dirty="0" smtClean="0"/>
              <a:t>、饱和蒸汽力</a:t>
            </a:r>
            <a:r>
              <a:rPr lang="en-US" altLang="zh-CN" dirty="0" smtClean="0"/>
              <a:t>P</a:t>
            </a:r>
            <a:r>
              <a:rPr lang="zh-CN" altLang="en-US" dirty="0" smtClean="0"/>
              <a:t>、吸入侧压力</a:t>
            </a:r>
            <a:r>
              <a:rPr lang="en-US" altLang="zh-CN" dirty="0" smtClean="0"/>
              <a:t>PS</a:t>
            </a:r>
            <a:r>
              <a:rPr lang="zh-CN" altLang="en-US" dirty="0" smtClean="0"/>
              <a:t>（绝对）、排出侧容器压力</a:t>
            </a:r>
            <a:r>
              <a:rPr lang="en-US" altLang="zh-CN" dirty="0" smtClean="0"/>
              <a:t>PZ</a:t>
            </a:r>
            <a:r>
              <a:rPr lang="zh-CN" altLang="en-US" dirty="0" smtClean="0"/>
              <a:t>、海拔高度、环境温度、操作是连续式还是间断式、泵的位置是固定的还是移动的。</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2828836"/>
            <a:ext cx="7921624" cy="923330"/>
          </a:xfrm>
          <a:prstGeom prst="rect">
            <a:avLst/>
          </a:prstGeom>
        </p:spPr>
        <p:txBody>
          <a:bodyPr wrap="square">
            <a:spAutoFit/>
          </a:bodyPr>
          <a:lstStyle/>
          <a:p>
            <a:r>
              <a:rPr lang="en-US" altLang="zh-CN" dirty="0" smtClean="0"/>
              <a:t>2.13  </a:t>
            </a:r>
            <a:r>
              <a:rPr lang="zh-CN" altLang="en-US" dirty="0" smtClean="0"/>
              <a:t>压滤机防爆</a:t>
            </a:r>
          </a:p>
          <a:p>
            <a:r>
              <a:rPr lang="zh-CN" altLang="en-US" dirty="0" smtClean="0"/>
              <a:t>    爆炸指当爆炸性物质与氧气的混合浓度出于爆炸极限范围内时，若存在爆炸物质，就会发生爆炸。</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571612"/>
            <a:ext cx="7921624" cy="3416320"/>
          </a:xfrm>
          <a:prstGeom prst="rect">
            <a:avLst/>
          </a:prstGeom>
        </p:spPr>
        <p:txBody>
          <a:bodyPr wrap="square">
            <a:spAutoFit/>
          </a:bodyPr>
          <a:lstStyle/>
          <a:p>
            <a:r>
              <a:rPr lang="en-US" altLang="zh-CN" dirty="0" smtClean="0"/>
              <a:t>2.13.1  </a:t>
            </a:r>
            <a:r>
              <a:rPr lang="zh-CN" altLang="en-US" dirty="0" smtClean="0"/>
              <a:t>爆炸必须的三个条件：</a:t>
            </a:r>
          </a:p>
          <a:p>
            <a:r>
              <a:rPr lang="en-US" altLang="zh-CN" dirty="0" smtClean="0"/>
              <a:t>1</a:t>
            </a:r>
            <a:r>
              <a:rPr lang="zh-CN" altLang="en-US" dirty="0" smtClean="0"/>
              <a:t>）爆炸物质指能与氧气反应的物质，包括气体、液体、固体。（气体如：氢气、乙炔、甲烷；液体如：酒精、汽油；固体如：粉尘、纤维粉尘）</a:t>
            </a:r>
          </a:p>
          <a:p>
            <a:r>
              <a:rPr lang="en-US" altLang="zh-CN" dirty="0" smtClean="0"/>
              <a:t>2</a:t>
            </a:r>
            <a:r>
              <a:rPr lang="zh-CN" altLang="en-US" dirty="0" smtClean="0"/>
              <a:t>）空气和氧气</a:t>
            </a:r>
          </a:p>
          <a:p>
            <a:r>
              <a:rPr lang="en-US" altLang="zh-CN" dirty="0" smtClean="0"/>
              <a:t>3</a:t>
            </a:r>
            <a:r>
              <a:rPr lang="zh-CN" altLang="en-US" dirty="0" smtClean="0"/>
              <a:t>）点燃源如：明火、电气火花、机械火花、静电火花、高温、化学反应、光能等。</a:t>
            </a:r>
          </a:p>
          <a:p>
            <a:r>
              <a:rPr lang="zh-CN" altLang="en-US" dirty="0" smtClean="0"/>
              <a:t>易爆物质：很多生产场合都会产生某些可燃性物质。煤矿井下约有三分之一的场所存在爆炸性物质，化学工业中，约有</a:t>
            </a:r>
            <a:r>
              <a:rPr lang="en-US" altLang="zh-CN" dirty="0" smtClean="0"/>
              <a:t>80%</a:t>
            </a:r>
            <a:r>
              <a:rPr lang="zh-CN" altLang="en-US" dirty="0" smtClean="0"/>
              <a:t>以上的生产车间区域存在爆炸性物质。氧气更是无处不在的。点燃源：生产过程中大量使用的电气仪表，各种摩擦引起的电火花、机械磨损火花、静电火花、高温等都是不可避免。所以客观上很多工业场合都满足爆炸条件，因此采取防爆以及提高防爆意识就很必要了。</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113" y="1997839"/>
            <a:ext cx="7343775" cy="2031325"/>
          </a:xfrm>
          <a:prstGeom prst="rect">
            <a:avLst/>
          </a:prstGeom>
        </p:spPr>
        <p:txBody>
          <a:bodyPr wrap="square">
            <a:spAutoFit/>
          </a:bodyPr>
          <a:lstStyle/>
          <a:p>
            <a:r>
              <a:rPr lang="en-US" altLang="zh-CN" dirty="0" smtClean="0"/>
              <a:t>2.13.2  </a:t>
            </a:r>
            <a:r>
              <a:rPr lang="zh-CN" altLang="en-US" dirty="0" smtClean="0"/>
              <a:t>防爆</a:t>
            </a:r>
          </a:p>
          <a:p>
            <a:r>
              <a:rPr lang="zh-CN" altLang="en-US" dirty="0" smtClean="0"/>
              <a:t>防止爆炸必须从爆炸的三个必要条件着手，限制其中任何一个条件，就能避免爆炸的发生。通常工业中，从以下三方面着手对易燃易爆场合进行整理：</a:t>
            </a:r>
          </a:p>
          <a:p>
            <a:r>
              <a:rPr lang="en-US" altLang="zh-CN" dirty="0" smtClean="0"/>
              <a:t>1</a:t>
            </a:r>
            <a:r>
              <a:rPr lang="zh-CN" altLang="en-US" dirty="0" smtClean="0"/>
              <a:t>）预防或最大限度地降低易燃易爆物质泄漏的可能性。</a:t>
            </a:r>
          </a:p>
          <a:p>
            <a:r>
              <a:rPr lang="en-US" altLang="zh-CN" dirty="0" smtClean="0"/>
              <a:t>2</a:t>
            </a:r>
            <a:r>
              <a:rPr lang="zh-CN" altLang="en-US" dirty="0" smtClean="0"/>
              <a:t>）不用或尽量少用易产生电火花的电所元件。</a:t>
            </a:r>
          </a:p>
          <a:p>
            <a:r>
              <a:rPr lang="en-US" altLang="zh-CN" dirty="0" smtClean="0"/>
              <a:t>3</a:t>
            </a:r>
            <a:r>
              <a:rPr lang="zh-CN" altLang="en-US" dirty="0" smtClean="0"/>
              <a:t>）采取充氮之类的方法维持惰性状态。</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95513" y="2782669"/>
            <a:ext cx="4427815" cy="646331"/>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rPr>
              <a:t>第三章   压滤机机架</a:t>
            </a:r>
            <a:endParaRPr lang="zh-CN" altLang="en-US" sz="3600" b="1" spc="50" dirty="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2000240"/>
            <a:ext cx="7921624" cy="3139321"/>
          </a:xfrm>
          <a:prstGeom prst="rect">
            <a:avLst/>
          </a:prstGeom>
        </p:spPr>
        <p:txBody>
          <a:bodyPr wrap="square">
            <a:spAutoFit/>
          </a:bodyPr>
          <a:lstStyle/>
          <a:p>
            <a:r>
              <a:rPr lang="en-US" altLang="zh-CN" dirty="0" smtClean="0"/>
              <a:t>3.1  </a:t>
            </a:r>
            <a:r>
              <a:rPr lang="zh-CN" altLang="en-US" dirty="0" smtClean="0"/>
              <a:t>机架概述</a:t>
            </a:r>
          </a:p>
          <a:p>
            <a:r>
              <a:rPr lang="zh-CN" altLang="en-US" dirty="0" smtClean="0"/>
              <a:t>机架是压滤机整套设备的基础，它主要是用于支撑压滤机构</a:t>
            </a:r>
            <a:r>
              <a:rPr lang="en-US" altLang="zh-CN" dirty="0" smtClean="0"/>
              <a:t>(</a:t>
            </a:r>
            <a:r>
              <a:rPr lang="zh-CN" altLang="en-US" dirty="0" smtClean="0"/>
              <a:t>如油缸</a:t>
            </a:r>
            <a:r>
              <a:rPr lang="en-US" altLang="zh-CN" dirty="0" smtClean="0"/>
              <a:t>)</a:t>
            </a:r>
            <a:r>
              <a:rPr lang="zh-CN" altLang="en-US" dirty="0" smtClean="0"/>
              <a:t>、拉板机构、水洗机构、滤板和其他辅助元件。</a:t>
            </a:r>
          </a:p>
          <a:p>
            <a:r>
              <a:rPr lang="en-US" altLang="zh-CN" dirty="0" smtClean="0"/>
              <a:t>3.2  </a:t>
            </a:r>
            <a:r>
              <a:rPr lang="zh-CN" altLang="en-US" dirty="0" smtClean="0"/>
              <a:t>机架的组成</a:t>
            </a:r>
          </a:p>
          <a:p>
            <a:r>
              <a:rPr lang="zh-CN" altLang="en-US" dirty="0" smtClean="0"/>
              <a:t>机架主要由油缸座、压紧板、止推板、主梁、翻板和油缸等连接组成。</a:t>
            </a:r>
          </a:p>
          <a:p>
            <a:r>
              <a:rPr lang="en-US" altLang="zh-CN" dirty="0" smtClean="0"/>
              <a:t>3.2.1  </a:t>
            </a:r>
            <a:r>
              <a:rPr lang="zh-CN" altLang="en-US" dirty="0" smtClean="0"/>
              <a:t>油缸座</a:t>
            </a:r>
          </a:p>
          <a:p>
            <a:r>
              <a:rPr lang="zh-CN" altLang="en-US" dirty="0" smtClean="0"/>
              <a:t>油缸座是由油缸座体和支腿组成。</a:t>
            </a:r>
          </a:p>
          <a:p>
            <a:r>
              <a:rPr lang="en-US" altLang="zh-CN" dirty="0" smtClean="0"/>
              <a:t>1</a:t>
            </a:r>
            <a:r>
              <a:rPr lang="zh-CN" altLang="en-US" dirty="0" smtClean="0"/>
              <a:t>）油缸座体主要是支撑油缸和承受压紧时侧梁对油缸座的拉力，受力较大，采用优质</a:t>
            </a:r>
            <a:r>
              <a:rPr lang="en-US" altLang="zh-CN" dirty="0" smtClean="0"/>
              <a:t>Q345B</a:t>
            </a:r>
            <a:r>
              <a:rPr lang="zh-CN" altLang="en-US" dirty="0" smtClean="0"/>
              <a:t>钢板焊接而成。设计时要认真计算油缸座体的受力情况，合理布勒，采用合理的焊接工艺。</a:t>
            </a:r>
          </a:p>
          <a:p>
            <a:r>
              <a:rPr lang="en-US" altLang="zh-CN" dirty="0" smtClean="0"/>
              <a:t>2</a:t>
            </a:r>
            <a:r>
              <a:rPr lang="zh-CN" altLang="en-US" dirty="0" smtClean="0"/>
              <a:t>）支腿主要起支撑油缸座体的作用，焊接在油缸座体上。</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303437"/>
            <a:ext cx="7921624" cy="4801314"/>
          </a:xfrm>
          <a:prstGeom prst="rect">
            <a:avLst/>
          </a:prstGeom>
        </p:spPr>
        <p:txBody>
          <a:bodyPr wrap="square">
            <a:spAutoFit/>
          </a:bodyPr>
          <a:lstStyle/>
          <a:p>
            <a:r>
              <a:rPr lang="en-US" altLang="zh-CN" dirty="0" smtClean="0"/>
              <a:t>3.2.2	</a:t>
            </a:r>
            <a:r>
              <a:rPr lang="zh-CN" altLang="en-US" dirty="0" smtClean="0"/>
              <a:t>压紧板</a:t>
            </a:r>
          </a:p>
          <a:p>
            <a:r>
              <a:rPr lang="zh-CN" altLang="en-US" dirty="0" smtClean="0"/>
              <a:t>压紧板是由压紧板体和滚轮组件组成。压紧板体承受油缸推力，采用优质</a:t>
            </a:r>
            <a:r>
              <a:rPr lang="en-US" altLang="zh-CN" dirty="0" smtClean="0"/>
              <a:t>Q345B</a:t>
            </a:r>
            <a:r>
              <a:rPr lang="zh-CN" altLang="en-US" dirty="0" smtClean="0"/>
              <a:t>钢板焊接而成。压紧板由四个滚轮支撑在大梁导轨上，压紧时，在油缸压紧力作用下实现对滤板的压紧作用，拉板时，油缸卸压拉动压紧板后退实现滤板拉开落料作用。</a:t>
            </a:r>
          </a:p>
          <a:p>
            <a:r>
              <a:rPr lang="zh-CN" altLang="en-US" dirty="0" smtClean="0"/>
              <a:t>压紧板的往复运动理论上应该是直线运动，而且平行于导轨，这是保证压滤机正常工作的条件之一。现实生产中，由于两侧的滚轮与导轨间的摩擦力大小不等，压紧油缸压力作用点与理论的作用点存在制造精度差异等因素，造成压紧板在压紧时两边前进的速度不一样，压紧板会倾斜前进，造成不良后果。</a:t>
            </a:r>
          </a:p>
          <a:p>
            <a:r>
              <a:rPr lang="en-US" altLang="zh-CN" dirty="0" smtClean="0"/>
              <a:t>3.2.3	</a:t>
            </a:r>
            <a:r>
              <a:rPr lang="zh-CN" altLang="en-US" dirty="0" smtClean="0"/>
              <a:t>止推板</a:t>
            </a:r>
          </a:p>
          <a:p>
            <a:r>
              <a:rPr lang="zh-CN" altLang="en-US" dirty="0" smtClean="0"/>
              <a:t>止推板又称尾板，是由止推板体和支腿组成。止推板体主要承受压滤机的压力，顶住滤板。受力很大，采用优质</a:t>
            </a:r>
            <a:r>
              <a:rPr lang="en-US" altLang="zh-CN" dirty="0" smtClean="0"/>
              <a:t>Q345B</a:t>
            </a:r>
            <a:r>
              <a:rPr lang="zh-CN" altLang="en-US" dirty="0" smtClean="0"/>
              <a:t>钢板焊接而成，因此，必须采用合理的布勒和焊接工艺。止推板体还有进料法兰组件、水洗法兰组件。进料法兰与外界进料泵连接，起进料作用，设计时依据进料压力采用合理的法兰（详细参照化工法兰）。水洗法兰与外界水洗管路连接，起洗涤滤饼作用。设计时依据洗涤压力采用合理的法兰（参照化工法兰）。</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571612"/>
            <a:ext cx="7921624" cy="3416320"/>
          </a:xfrm>
          <a:prstGeom prst="rect">
            <a:avLst/>
          </a:prstGeom>
        </p:spPr>
        <p:txBody>
          <a:bodyPr wrap="square">
            <a:spAutoFit/>
          </a:bodyPr>
          <a:lstStyle/>
          <a:p>
            <a:r>
              <a:rPr lang="en-US" altLang="zh-CN" dirty="0" smtClean="0"/>
              <a:t>3.2.4	</a:t>
            </a:r>
            <a:r>
              <a:rPr lang="zh-CN" altLang="en-US" dirty="0" smtClean="0"/>
              <a:t>主梁</a:t>
            </a:r>
          </a:p>
          <a:p>
            <a:r>
              <a:rPr lang="zh-CN" altLang="en-US" dirty="0" smtClean="0"/>
              <a:t>压滤机的主梁置于止推板和油缸座的顶部称为高悬梁压滤机，置于两侧称为普通卧式压滤机（普通压滤机中主梁即是测梁）。主梁的作用是连接油缸座和止推板，支撑压紧板、滤板、拉板机构和承受油缸拉力以及隔膜压榨的压榨力。受力大、受力频繁。设计时主梁采用高强桥梁钢材质，具有机械强度高，抗拉、抗弯强度大的优质</a:t>
            </a:r>
            <a:r>
              <a:rPr lang="en-US" altLang="zh-CN" dirty="0" smtClean="0"/>
              <a:t>H</a:t>
            </a:r>
            <a:r>
              <a:rPr lang="zh-CN" altLang="en-US" dirty="0" smtClean="0"/>
              <a:t>钢，材质为</a:t>
            </a:r>
            <a:r>
              <a:rPr lang="en-US" altLang="zh-CN" dirty="0" smtClean="0"/>
              <a:t>Q345B</a:t>
            </a:r>
            <a:r>
              <a:rPr lang="zh-CN" altLang="en-US" dirty="0" smtClean="0"/>
              <a:t>或</a:t>
            </a:r>
            <a:r>
              <a:rPr lang="en-US" altLang="zh-CN" dirty="0" smtClean="0"/>
              <a:t>Q235A</a:t>
            </a:r>
            <a:r>
              <a:rPr lang="zh-CN" altLang="en-US" dirty="0" smtClean="0"/>
              <a:t>。</a:t>
            </a:r>
          </a:p>
          <a:p>
            <a:r>
              <a:rPr lang="en-US" altLang="zh-CN" dirty="0" smtClean="0"/>
              <a:t>3.2.5	</a:t>
            </a:r>
            <a:r>
              <a:rPr lang="zh-CN" altLang="en-US" dirty="0" smtClean="0"/>
              <a:t>翻板</a:t>
            </a:r>
          </a:p>
          <a:p>
            <a:r>
              <a:rPr lang="zh-CN" altLang="en-US" dirty="0" smtClean="0"/>
              <a:t>翻板采用双门屋檐式集液结构，常用一字型翻板和人字型翻板。翻板由上翻板、下翻版、翻板油缸组成。翻板通过翻板轴承座固定在油缸座和止推板的支腿上，置于滤板下方，翻板的下面是卸料斗，旁边是接液盘。由液压系统驱动，与压滤机的压紧、回程动作联动。压滤机开始压榨时，翻板闭合起导引滤液到接液盘；压榨完成后，翻板打开完成卸料。</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997839"/>
            <a:ext cx="7921624" cy="2308324"/>
          </a:xfrm>
          <a:prstGeom prst="rect">
            <a:avLst/>
          </a:prstGeom>
        </p:spPr>
        <p:txBody>
          <a:bodyPr wrap="square">
            <a:spAutoFit/>
          </a:bodyPr>
          <a:lstStyle/>
          <a:p>
            <a:r>
              <a:rPr lang="en-US" altLang="zh-CN" dirty="0" smtClean="0"/>
              <a:t>3.2.6	</a:t>
            </a:r>
            <a:r>
              <a:rPr lang="zh-CN" altLang="en-US" dirty="0" smtClean="0"/>
              <a:t>油缸</a:t>
            </a:r>
          </a:p>
          <a:p>
            <a:r>
              <a:rPr lang="zh-CN" altLang="en-US" dirty="0" smtClean="0"/>
              <a:t>液压缸是液压系统中的执行元件，它是一种把液体的压力能转换为机械能以实现往复直线运动的能量转换装置。液压缸结构简单、工作可靠，在液压系统中得到广泛的应用。</a:t>
            </a:r>
          </a:p>
          <a:p>
            <a:r>
              <a:rPr lang="zh-CN" altLang="en-US" dirty="0" smtClean="0"/>
              <a:t>液压缸的类型有单作用缸、双作用缸、组合式三类，我公司使用的是双作用缸。</a:t>
            </a:r>
          </a:p>
          <a:p>
            <a:r>
              <a:rPr lang="zh-CN" altLang="en-US" dirty="0" smtClean="0"/>
              <a:t>目前我公司生产的液压缸由四种规格：</a:t>
            </a:r>
            <a:r>
              <a:rPr lang="en-US" altLang="zh-CN" dirty="0" smtClean="0"/>
              <a:t>ф200</a:t>
            </a:r>
            <a:r>
              <a:rPr lang="zh-CN" altLang="en-US" dirty="0" smtClean="0"/>
              <a:t>、</a:t>
            </a:r>
            <a:r>
              <a:rPr lang="en-US" altLang="zh-CN" dirty="0" smtClean="0"/>
              <a:t>ф250</a:t>
            </a:r>
            <a:r>
              <a:rPr lang="zh-CN" altLang="en-US" dirty="0" smtClean="0"/>
              <a:t>、</a:t>
            </a:r>
            <a:r>
              <a:rPr lang="en-US" altLang="zh-CN" dirty="0" smtClean="0"/>
              <a:t>ф320</a:t>
            </a:r>
            <a:r>
              <a:rPr lang="zh-CN" altLang="en-US" dirty="0" smtClean="0"/>
              <a:t>、</a:t>
            </a:r>
            <a:r>
              <a:rPr lang="en-US" altLang="zh-CN" dirty="0" smtClean="0"/>
              <a:t>ф360</a:t>
            </a:r>
            <a:r>
              <a:rPr lang="zh-CN" altLang="en-US" dirty="0" smtClean="0"/>
              <a:t>、</a:t>
            </a:r>
            <a:r>
              <a:rPr lang="en-US" altLang="zh-CN" dirty="0" smtClean="0"/>
              <a:t>ф400</a:t>
            </a:r>
          </a:p>
          <a:p>
            <a:r>
              <a:rPr lang="zh-CN" altLang="en-US" dirty="0" smtClean="0"/>
              <a:t>液压缸由缸体、导向套、活塞、活塞杆组成。</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09952" y="2428868"/>
            <a:ext cx="2856872" cy="646331"/>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rPr>
              <a:t>第四章  过滤</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052513"/>
            <a:ext cx="7921625" cy="4247317"/>
          </a:xfrm>
          <a:prstGeom prst="rect">
            <a:avLst/>
          </a:prstGeom>
        </p:spPr>
        <p:txBody>
          <a:bodyPr wrap="square">
            <a:spAutoFit/>
          </a:bodyPr>
          <a:lstStyle/>
          <a:p>
            <a:r>
              <a:rPr lang="en-US" altLang="zh-CN" dirty="0" smtClean="0"/>
              <a:t>4.1  </a:t>
            </a:r>
            <a:r>
              <a:rPr lang="zh-CN" altLang="en-US" dirty="0" smtClean="0"/>
              <a:t>过滤的概念</a:t>
            </a:r>
          </a:p>
          <a:p>
            <a:r>
              <a:rPr lang="zh-CN" altLang="en-US" dirty="0" smtClean="0"/>
              <a:t>过滤是固液分离的组成部分，它利用过滤介质或多孔膜截留液体中难溶颗粒。有澄清过滤和滤饼过滤两种类别。压滤机中常用滤饼过滤，滤饼过滤指过滤时先由滤布截留悬浮颗粒，然后由逐渐增厚的滤饼继续截留颗粒，其操作目的是对悬浮液（含量在</a:t>
            </a:r>
            <a:r>
              <a:rPr lang="en-US" altLang="zh-CN" dirty="0" smtClean="0"/>
              <a:t>1%</a:t>
            </a:r>
            <a:r>
              <a:rPr lang="zh-CN" altLang="en-US" dirty="0" smtClean="0"/>
              <a:t>以上，颗粒直径在</a:t>
            </a:r>
            <a:r>
              <a:rPr lang="en-US" altLang="zh-CN" dirty="0" smtClean="0"/>
              <a:t>1μm</a:t>
            </a:r>
            <a:r>
              <a:rPr lang="zh-CN" altLang="en-US" dirty="0" smtClean="0"/>
              <a:t>以上）进行收缩及回收固体。</a:t>
            </a:r>
          </a:p>
          <a:p>
            <a:r>
              <a:rPr lang="en-US" altLang="zh-CN" dirty="0" smtClean="0"/>
              <a:t>4.2	</a:t>
            </a:r>
            <a:r>
              <a:rPr lang="zh-CN" altLang="en-US" dirty="0" smtClean="0"/>
              <a:t>压滤机中的过滤技术</a:t>
            </a:r>
          </a:p>
          <a:p>
            <a:r>
              <a:rPr lang="zh-CN" altLang="en-US" dirty="0" smtClean="0"/>
              <a:t>由整齐排列在主梁上的滤板和夹在滤板之间的过滤介质所组成。过滤开始时，滤浆在进料泵的推动下，经止推板的进料口进入各滤室内，滤浆借助进料泵产生的压力进行固液分离，由于过滤介质（滤布）的作用，使固体留在滤室内形成滤饼，滤液由水嘴或出液阀排出。若滤饼需要洗涤，可由止推板上的洗涤口通入洗涤水，对滤饼进行洗涤；若需要含水率较低的滤饼，可从洗涤口通入压缩空气，透过滤饼层，吹出滤饼中的一部分水分。注：压滤机的液流形式分为明流、暗流。明流是指滤液从每块滤板的出液孔直接排出机外；暗流是指各块滤板的滤液汇合起来由出液管道排出机外。过滤、冲洗原理图如下（图</a:t>
            </a:r>
            <a:r>
              <a:rPr lang="en-US" altLang="zh-CN" dirty="0" smtClean="0"/>
              <a:t>3</a:t>
            </a:r>
            <a:r>
              <a:rPr lang="zh-CN" altLang="en-US" dirty="0" smtClean="0"/>
              <a:t>、图</a:t>
            </a:r>
            <a:r>
              <a:rPr lang="en-US" altLang="zh-CN" dirty="0" smtClean="0"/>
              <a:t>4</a:t>
            </a:r>
            <a:r>
              <a:rPr lang="zh-CN" altLang="en-US" dirty="0" smtClean="0"/>
              <a:t>）：</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5537" name="Object 1"/>
          <p:cNvGraphicFramePr>
            <a:graphicFrameLocks noChangeAspect="1"/>
          </p:cNvGraphicFramePr>
          <p:nvPr/>
        </p:nvGraphicFramePr>
        <p:xfrm>
          <a:off x="611188" y="549275"/>
          <a:ext cx="7921625" cy="5377799"/>
        </p:xfrm>
        <a:graphic>
          <a:graphicData uri="http://schemas.openxmlformats.org/presentationml/2006/ole">
            <p:oleObj spid="_x0000_s65537" r:id="rId3" imgW="5543550" imgH="3905250" progId="">
              <p:embed/>
            </p:oleObj>
          </a:graphicData>
        </a:graphic>
      </p:graphicFrame>
      <p:sp>
        <p:nvSpPr>
          <p:cNvPr id="4" name="矩形 3"/>
          <p:cNvSpPr/>
          <p:nvPr/>
        </p:nvSpPr>
        <p:spPr>
          <a:xfrm>
            <a:off x="2663464" y="6012418"/>
            <a:ext cx="3817071" cy="369332"/>
          </a:xfrm>
          <a:prstGeom prst="rect">
            <a:avLst/>
          </a:prstGeom>
        </p:spPr>
        <p:txBody>
          <a:bodyPr wrap="none">
            <a:spAutoFit/>
          </a:bodyPr>
          <a:lstStyle/>
          <a:p>
            <a:r>
              <a:rPr lang="zh-CN" altLang="en-US" dirty="0" smtClean="0"/>
              <a:t>图</a:t>
            </a:r>
            <a:r>
              <a:rPr lang="en-US" altLang="zh-CN" dirty="0" smtClean="0"/>
              <a:t>3 </a:t>
            </a:r>
            <a:r>
              <a:rPr lang="zh-CN" altLang="en-US" dirty="0" smtClean="0"/>
              <a:t>板框式压滤机过滤、冲洗原理图</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4513" name="Object 1"/>
          <p:cNvGraphicFramePr>
            <a:graphicFrameLocks noChangeAspect="1"/>
          </p:cNvGraphicFramePr>
          <p:nvPr/>
        </p:nvGraphicFramePr>
        <p:xfrm>
          <a:off x="611189" y="571480"/>
          <a:ext cx="7921624" cy="5650797"/>
        </p:xfrm>
        <a:graphic>
          <a:graphicData uri="http://schemas.openxmlformats.org/presentationml/2006/ole">
            <p:oleObj spid="_x0000_s64513" r:id="rId3" imgW="5543550" imgH="3905250" progId="">
              <p:embed/>
            </p:oleObj>
          </a:graphicData>
        </a:graphic>
      </p:graphicFrame>
      <p:sp>
        <p:nvSpPr>
          <p:cNvPr id="4" name="矩形 3"/>
          <p:cNvSpPr/>
          <p:nvPr/>
        </p:nvSpPr>
        <p:spPr>
          <a:xfrm>
            <a:off x="2752431" y="6197084"/>
            <a:ext cx="3639138" cy="369332"/>
          </a:xfrm>
          <a:prstGeom prst="rect">
            <a:avLst/>
          </a:prstGeom>
        </p:spPr>
        <p:txBody>
          <a:bodyPr wrap="none">
            <a:spAutoFit/>
          </a:bodyPr>
          <a:lstStyle/>
          <a:p>
            <a:r>
              <a:rPr lang="zh-CN" altLang="en-US" dirty="0" smtClean="0"/>
              <a:t>图</a:t>
            </a:r>
            <a:r>
              <a:rPr lang="en-US" altLang="zh-CN" dirty="0" smtClean="0"/>
              <a:t>4  </a:t>
            </a:r>
            <a:r>
              <a:rPr lang="zh-CN" altLang="en-US" dirty="0" smtClean="0"/>
              <a:t>厢式压滤机过滤、冲洗原理图</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3489" name="Object 1"/>
          <p:cNvGraphicFramePr>
            <a:graphicFrameLocks noChangeAspect="1"/>
          </p:cNvGraphicFramePr>
          <p:nvPr/>
        </p:nvGraphicFramePr>
        <p:xfrm>
          <a:off x="611188" y="549274"/>
          <a:ext cx="7921625" cy="5832475"/>
        </p:xfrm>
        <a:graphic>
          <a:graphicData uri="http://schemas.openxmlformats.org/presentationml/2006/ole">
            <p:oleObj spid="_x0000_s63489" r:id="rId3" imgW="7258050" imgH="4067175" progId="">
              <p:embed/>
            </p:oleObj>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2465" name="Object 1"/>
          <p:cNvGraphicFramePr>
            <a:graphicFrameLocks noChangeAspect="1"/>
          </p:cNvGraphicFramePr>
          <p:nvPr/>
        </p:nvGraphicFramePr>
        <p:xfrm>
          <a:off x="611188" y="549274"/>
          <a:ext cx="7921625" cy="5832475"/>
        </p:xfrm>
        <a:graphic>
          <a:graphicData uri="http://schemas.openxmlformats.org/presentationml/2006/ole">
            <p:oleObj spid="_x0000_s62465" r:id="rId3" imgW="7296150" imgH="4067175" progId="">
              <p:embed/>
            </p:oleObj>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214422"/>
            <a:ext cx="7921624" cy="3693319"/>
          </a:xfrm>
          <a:prstGeom prst="rect">
            <a:avLst/>
          </a:prstGeom>
        </p:spPr>
        <p:txBody>
          <a:bodyPr wrap="square">
            <a:spAutoFit/>
          </a:bodyPr>
          <a:lstStyle/>
          <a:p>
            <a:r>
              <a:rPr lang="en-US" altLang="zh-CN" dirty="0" smtClean="0"/>
              <a:t>4.3	</a:t>
            </a:r>
            <a:r>
              <a:rPr lang="zh-CN" altLang="en-US" dirty="0" smtClean="0"/>
              <a:t>滤板</a:t>
            </a:r>
          </a:p>
          <a:p>
            <a:r>
              <a:rPr lang="zh-CN" altLang="en-US" dirty="0" smtClean="0"/>
              <a:t>滤板是压滤机过滤装置中重要的部件之一。滤板的发展经历了三个阶段：从过滤板框到厢式滤板到隔膜滤板，每个发展阶段都带动了压滤机事业的发展，从第一代的过滤板框到第二代的厢式滤板使得压滤机的半自动化卸饼称为可能，同时还避免了滤框，大大增加了过滤压力，改善了过滤效果。隔膜滤板的产生进一步的提高了压榨效果，提高了滤饼含固量等。这里介绍隔膜滤板。</a:t>
            </a:r>
          </a:p>
          <a:p>
            <a:r>
              <a:rPr lang="en-US" altLang="zh-CN" dirty="0" smtClean="0"/>
              <a:t>4.3.1	</a:t>
            </a:r>
            <a:r>
              <a:rPr lang="zh-CN" altLang="en-US" dirty="0" smtClean="0"/>
              <a:t>隔膜滤板的结构</a:t>
            </a:r>
          </a:p>
          <a:p>
            <a:r>
              <a:rPr lang="zh-CN" altLang="en-US" dirty="0" smtClean="0"/>
              <a:t>隔膜滤板由三部分组成，材质也不一样。膜片为丁腈橡胶加配方模压而成。芯板材质为改进性增强聚丙烯模压而成，然后通过数控加工成品。</a:t>
            </a:r>
          </a:p>
          <a:p>
            <a:r>
              <a:rPr lang="zh-CN" altLang="en-US" dirty="0" smtClean="0"/>
              <a:t>隔膜滤板按隔膜与隔膜滤板主体（芯板）结合结构型式分：</a:t>
            </a:r>
          </a:p>
          <a:p>
            <a:r>
              <a:rPr lang="en-US" altLang="zh-CN" dirty="0" smtClean="0"/>
              <a:t>1</a:t>
            </a:r>
            <a:r>
              <a:rPr lang="zh-CN" altLang="en-US" dirty="0" smtClean="0"/>
              <a:t>）	整体式隔膜滤板</a:t>
            </a:r>
          </a:p>
          <a:p>
            <a:r>
              <a:rPr lang="en-US" altLang="zh-CN" dirty="0" smtClean="0"/>
              <a:t>2</a:t>
            </a:r>
            <a:r>
              <a:rPr lang="zh-CN" altLang="en-US" dirty="0" smtClean="0"/>
              <a:t>）	组合式隔膜滤板</a:t>
            </a:r>
          </a:p>
          <a:p>
            <a:r>
              <a:rPr lang="en-US" altLang="zh-CN" dirty="0" smtClean="0"/>
              <a:t>3</a:t>
            </a:r>
            <a:r>
              <a:rPr lang="zh-CN" altLang="en-US" dirty="0" smtClean="0"/>
              <a:t>）	镶嵌式隔膜滤板</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113" y="683181"/>
            <a:ext cx="3995004" cy="369332"/>
          </a:xfrm>
          <a:prstGeom prst="rect">
            <a:avLst/>
          </a:prstGeom>
        </p:spPr>
        <p:txBody>
          <a:bodyPr wrap="none">
            <a:spAutoFit/>
          </a:bodyPr>
          <a:lstStyle/>
          <a:p>
            <a:r>
              <a:rPr lang="en-US" altLang="zh-CN" dirty="0" smtClean="0"/>
              <a:t>4.3.2	</a:t>
            </a:r>
            <a:r>
              <a:rPr lang="zh-CN" altLang="en-US" dirty="0" smtClean="0"/>
              <a:t>隔膜滤板的基本参数（表</a:t>
            </a:r>
            <a:r>
              <a:rPr lang="en-US" altLang="zh-CN" dirty="0" smtClean="0"/>
              <a:t>2</a:t>
            </a:r>
            <a:r>
              <a:rPr lang="zh-CN" altLang="en-US" dirty="0" smtClean="0"/>
              <a:t>）</a:t>
            </a:r>
            <a:endParaRPr lang="zh-CN" altLang="en-US" dirty="0"/>
          </a:p>
        </p:txBody>
      </p:sp>
      <p:graphicFrame>
        <p:nvGraphicFramePr>
          <p:cNvPr id="3" name="表格 2"/>
          <p:cNvGraphicFramePr>
            <a:graphicFrameLocks noGrp="1"/>
          </p:cNvGraphicFramePr>
          <p:nvPr/>
        </p:nvGraphicFramePr>
        <p:xfrm>
          <a:off x="900114" y="1571610"/>
          <a:ext cx="7343773" cy="4429160"/>
        </p:xfrm>
        <a:graphic>
          <a:graphicData uri="http://schemas.openxmlformats.org/drawingml/2006/table">
            <a:tbl>
              <a:tblPr/>
              <a:tblGrid>
                <a:gridCol w="2446945"/>
                <a:gridCol w="2448414"/>
                <a:gridCol w="2448414"/>
              </a:tblGrid>
              <a:tr h="442916">
                <a:tc>
                  <a:txBody>
                    <a:bodyPr/>
                    <a:lstStyle/>
                    <a:p>
                      <a:pPr algn="ctr">
                        <a:lnSpc>
                          <a:spcPct val="150000"/>
                        </a:lnSpc>
                        <a:spcAft>
                          <a:spcPts val="0"/>
                        </a:spcAft>
                      </a:pPr>
                      <a:r>
                        <a:rPr lang="zh-CN" sz="1600" b="1" kern="100" dirty="0">
                          <a:solidFill>
                            <a:srgbClr val="0000FF"/>
                          </a:solidFill>
                          <a:latin typeface="Times New Roman"/>
                          <a:ea typeface="宋体"/>
                        </a:rPr>
                        <a:t>滤板尺寸</a:t>
                      </a:r>
                      <a:r>
                        <a:rPr lang="en-US" sz="1600" b="1" kern="100" dirty="0">
                          <a:solidFill>
                            <a:srgbClr val="0000FF"/>
                          </a:solidFill>
                          <a:latin typeface="Times New Roman"/>
                          <a:ea typeface="宋体"/>
                        </a:rPr>
                        <a:t>(mm)</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1" kern="100">
                          <a:solidFill>
                            <a:srgbClr val="0000FF"/>
                          </a:solidFill>
                          <a:latin typeface="Times New Roman"/>
                          <a:ea typeface="宋体"/>
                        </a:rPr>
                        <a:t>滤板厚度</a:t>
                      </a:r>
                      <a:r>
                        <a:rPr lang="en-US" sz="1600" b="1" kern="100">
                          <a:solidFill>
                            <a:srgbClr val="0000FF"/>
                          </a:solidFill>
                          <a:latin typeface="Times New Roman"/>
                          <a:ea typeface="宋体"/>
                        </a:rPr>
                        <a:t>(mm)</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1" kern="100">
                          <a:solidFill>
                            <a:srgbClr val="0000FF"/>
                          </a:solidFill>
                          <a:latin typeface="Times New Roman"/>
                          <a:ea typeface="宋体"/>
                        </a:rPr>
                        <a:t>滤室深度</a:t>
                      </a:r>
                      <a:r>
                        <a:rPr lang="en-US" sz="1600" b="1" kern="100">
                          <a:solidFill>
                            <a:srgbClr val="0000FF"/>
                          </a:solidFill>
                          <a:latin typeface="Times New Roman"/>
                          <a:ea typeface="宋体"/>
                        </a:rPr>
                        <a:t>(mm)</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dirty="0">
                          <a:solidFill>
                            <a:srgbClr val="0000FF"/>
                          </a:solidFill>
                          <a:latin typeface="Times New Roman"/>
                          <a:ea typeface="宋体"/>
                        </a:rPr>
                        <a:t>630X630</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50~70</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25</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800X800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55~75</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30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1000X1000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65~85</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32</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1000X1500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75~95</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35</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1250X1250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65~90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38</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1500X1500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70~95</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40</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1500X2000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75~105</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45</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1600X1600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75~100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50</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916">
                <a:tc>
                  <a:txBody>
                    <a:bodyPr/>
                    <a:lstStyle/>
                    <a:p>
                      <a:pPr algn="ctr">
                        <a:lnSpc>
                          <a:spcPct val="150000"/>
                        </a:lnSpc>
                        <a:spcAft>
                          <a:spcPts val="0"/>
                        </a:spcAft>
                      </a:pPr>
                      <a:r>
                        <a:rPr lang="en-US" sz="1600" b="1" kern="100">
                          <a:solidFill>
                            <a:srgbClr val="0000FF"/>
                          </a:solidFill>
                          <a:latin typeface="Times New Roman"/>
                          <a:ea typeface="宋体"/>
                        </a:rPr>
                        <a:t>2000X2000</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a:solidFill>
                            <a:srgbClr val="0000FF"/>
                          </a:solidFill>
                          <a:latin typeface="Times New Roman"/>
                          <a:ea typeface="宋体"/>
                        </a:rPr>
                        <a:t>80~115</a:t>
                      </a:r>
                      <a:endParaRPr lang="zh-CN" sz="1600" b="1" kern="10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solidFill>
                            <a:srgbClr val="0000FF"/>
                          </a:solidFill>
                          <a:latin typeface="Times New Roman"/>
                          <a:ea typeface="宋体"/>
                        </a:rPr>
                        <a:t>55</a:t>
                      </a: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189" y="2274838"/>
            <a:ext cx="7921624" cy="1754326"/>
          </a:xfrm>
          <a:prstGeom prst="rect">
            <a:avLst/>
          </a:prstGeom>
        </p:spPr>
        <p:txBody>
          <a:bodyPr wrap="square">
            <a:spAutoFit/>
          </a:bodyPr>
          <a:lstStyle/>
          <a:p>
            <a:r>
              <a:rPr lang="en-US" altLang="zh-CN" dirty="0" smtClean="0"/>
              <a:t>4.3.3	</a:t>
            </a:r>
            <a:r>
              <a:rPr lang="zh-CN" altLang="en-US" dirty="0" smtClean="0"/>
              <a:t>隔膜滤板的技术要求</a:t>
            </a:r>
          </a:p>
          <a:p>
            <a:r>
              <a:rPr lang="en-US" altLang="zh-CN" dirty="0" smtClean="0"/>
              <a:t>1</a:t>
            </a:r>
            <a:r>
              <a:rPr lang="zh-CN" altLang="en-US" dirty="0" smtClean="0"/>
              <a:t>）隔膜滤板应符合</a:t>
            </a:r>
            <a:r>
              <a:rPr lang="en-US" altLang="zh-CN" dirty="0" smtClean="0"/>
              <a:t>JB/T4333.4-2005</a:t>
            </a:r>
            <a:r>
              <a:rPr lang="zh-CN" altLang="en-US" dirty="0" smtClean="0"/>
              <a:t>中要求，并按经规定程序批准的图样和技术文件制造。</a:t>
            </a:r>
          </a:p>
          <a:p>
            <a:r>
              <a:rPr lang="en-US" altLang="zh-CN" dirty="0" smtClean="0"/>
              <a:t>2</a:t>
            </a:r>
            <a:r>
              <a:rPr lang="zh-CN" altLang="en-US" dirty="0" smtClean="0"/>
              <a:t>）隔膜滤板滤室的凸台，每</a:t>
            </a:r>
            <a:r>
              <a:rPr lang="en-US" altLang="zh-CN" dirty="0" smtClean="0"/>
              <a:t>0.5㎡</a:t>
            </a:r>
            <a:r>
              <a:rPr lang="zh-CN" altLang="en-US" dirty="0" smtClean="0"/>
              <a:t>内有缺陷的凸台不能超过一个。</a:t>
            </a:r>
          </a:p>
          <a:p>
            <a:r>
              <a:rPr lang="en-US" altLang="zh-CN" dirty="0" smtClean="0"/>
              <a:t>3</a:t>
            </a:r>
            <a:r>
              <a:rPr lang="zh-CN" altLang="en-US" dirty="0" smtClean="0"/>
              <a:t>）隔膜滤板不允许有伤痕和变形。</a:t>
            </a:r>
          </a:p>
          <a:p>
            <a:r>
              <a:rPr lang="en-US" altLang="zh-CN" dirty="0" smtClean="0"/>
              <a:t>4</a:t>
            </a:r>
            <a:r>
              <a:rPr lang="zh-CN" altLang="en-US" dirty="0" smtClean="0"/>
              <a:t>）隔膜滤板用的材料，应符合相关材料标准。</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305342"/>
            <a:ext cx="7921624" cy="3139321"/>
          </a:xfrm>
          <a:prstGeom prst="rect">
            <a:avLst/>
          </a:prstGeom>
        </p:spPr>
        <p:txBody>
          <a:bodyPr wrap="square">
            <a:spAutoFit/>
          </a:bodyPr>
          <a:lstStyle/>
          <a:p>
            <a:r>
              <a:rPr lang="en-US" altLang="zh-CN" dirty="0" smtClean="0"/>
              <a:t>4.3.4  </a:t>
            </a:r>
            <a:r>
              <a:rPr lang="zh-CN" altLang="en-US" dirty="0" smtClean="0"/>
              <a:t>隔膜滤板的压榨</a:t>
            </a:r>
          </a:p>
          <a:p>
            <a:r>
              <a:rPr lang="en-US" altLang="zh-CN" dirty="0" smtClean="0"/>
              <a:t>1</a:t>
            </a:r>
            <a:r>
              <a:rPr lang="zh-CN" altLang="en-US" dirty="0" smtClean="0"/>
              <a:t>）隔膜滤板的使用压榨是在滤板的洗涤时用来压紧滤饼，在脱水时用来压出滤饼中的残留滤液。在过滤结束后用压缩空气或水进行加压，形成挤压压力，达到进一步过滤效果，降低滤饼的含水量。</a:t>
            </a:r>
          </a:p>
          <a:p>
            <a:r>
              <a:rPr lang="en-US" altLang="zh-CN" dirty="0" smtClean="0"/>
              <a:t>2</a:t>
            </a:r>
            <a:r>
              <a:rPr lang="zh-CN" altLang="en-US" dirty="0" smtClean="0"/>
              <a:t>）为了对压榨压力进行有效的限制，压缩空气或水必须经过一个节流阀后，再进入自动调节的减压阀，然后再进入压榨管道，同时，为防止压缩空气热膨胀和减压阀可能出现的故障，在通往滤板的管道上必须安装安全阀，以限制操作压力。</a:t>
            </a:r>
          </a:p>
          <a:p>
            <a:r>
              <a:rPr lang="en-US" altLang="zh-CN" dirty="0" smtClean="0"/>
              <a:t>3</a:t>
            </a:r>
            <a:r>
              <a:rPr lang="zh-CN" altLang="en-US" dirty="0" smtClean="0"/>
              <a:t>）隔膜滤板的压力一般为</a:t>
            </a:r>
            <a:r>
              <a:rPr lang="en-US" altLang="zh-CN" dirty="0" smtClean="0"/>
              <a:t>1.0Mpa</a:t>
            </a:r>
            <a:r>
              <a:rPr lang="zh-CN" altLang="en-US" dirty="0" smtClean="0"/>
              <a:t>左右（具体根据物料而定），压榨时间在</a:t>
            </a:r>
            <a:r>
              <a:rPr lang="en-US" altLang="zh-CN" dirty="0" smtClean="0"/>
              <a:t>1min</a:t>
            </a:r>
            <a:r>
              <a:rPr lang="zh-CN" altLang="en-US" dirty="0" smtClean="0"/>
              <a:t>左右。</a:t>
            </a:r>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443841"/>
            <a:ext cx="7921624" cy="2585323"/>
          </a:xfrm>
          <a:prstGeom prst="rect">
            <a:avLst/>
          </a:prstGeom>
        </p:spPr>
        <p:txBody>
          <a:bodyPr wrap="square">
            <a:spAutoFit/>
          </a:bodyPr>
          <a:lstStyle/>
          <a:p>
            <a:r>
              <a:rPr lang="en-US" altLang="zh-CN" dirty="0" smtClean="0"/>
              <a:t>4</a:t>
            </a:r>
            <a:r>
              <a:rPr lang="zh-CN" altLang="en-US" dirty="0" smtClean="0"/>
              <a:t>）隔膜滤板在压榨完成后，空气或水必须完全排出，因此在压榨分配的管道上必须安装一个大流量的排气阀，它能使空气或水迅速排出。为了使用安全，当电源切断时，阀门应出于打开状态，同时应和压滤机的连锁控制器相连。</a:t>
            </a:r>
          </a:p>
          <a:p>
            <a:r>
              <a:rPr lang="en-US" altLang="zh-CN" dirty="0" smtClean="0"/>
              <a:t>5</a:t>
            </a:r>
            <a:r>
              <a:rPr lang="zh-CN" altLang="en-US" dirty="0" smtClean="0"/>
              <a:t>）隔膜滤板的洗涤</a:t>
            </a:r>
          </a:p>
          <a:p>
            <a:r>
              <a:rPr lang="zh-CN" altLang="en-US" dirty="0" smtClean="0"/>
              <a:t>滤饼的洗涤是过滤分离过程中一个重要环节，通过洗涤，原液换成洗涤液。滤饼洗涤的目的在于：从滤饼中回收有价值的滤液，提高滤液回收率；洗涤滤饼中的杂质，提高滤饼中固体成分的纯净度；用洗涤液溶去滤饼中由价值的成分，或者有害杂质。</a:t>
            </a:r>
          </a:p>
          <a:p>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443841"/>
            <a:ext cx="7921624" cy="2585323"/>
          </a:xfrm>
          <a:prstGeom prst="rect">
            <a:avLst/>
          </a:prstGeom>
        </p:spPr>
        <p:txBody>
          <a:bodyPr wrap="square">
            <a:spAutoFit/>
          </a:bodyPr>
          <a:lstStyle/>
          <a:p>
            <a:r>
              <a:rPr lang="en-US" altLang="zh-CN" dirty="0" smtClean="0"/>
              <a:t>4.3.4	</a:t>
            </a:r>
            <a:r>
              <a:rPr lang="zh-CN" altLang="en-US" dirty="0" smtClean="0"/>
              <a:t>隔膜滤板的安装</a:t>
            </a:r>
          </a:p>
          <a:p>
            <a:r>
              <a:rPr lang="zh-CN" altLang="en-US" dirty="0" smtClean="0"/>
              <a:t>压滤机在安装隔膜滤板时，由一块厢式滤板和一块隔膜滤板交错排列。止推板和压紧板端各一块隔膜滤板。然后整齐排列在主梁上，错位最大偏移量</a:t>
            </a:r>
            <a:r>
              <a:rPr lang="en-US" altLang="zh-CN" dirty="0" smtClean="0"/>
              <a:t>5mm</a:t>
            </a:r>
            <a:r>
              <a:rPr lang="zh-CN" altLang="en-US" dirty="0" smtClean="0"/>
              <a:t>。应严格检查滤板把手有无松动，因偏移过大还会出现滤室漏液，接触面减小而导致滤板损坏，所以安装时要注意。然后是固定充气（水）管道连接，充气管道接头一定要紧固，防止漏气，否则不能正常保持压榨压力，达不到理想过滤效果。</a:t>
            </a:r>
          </a:p>
          <a:p>
            <a:r>
              <a:rPr lang="en-US" altLang="zh-CN" dirty="0" smtClean="0"/>
              <a:t>1</a:t>
            </a:r>
            <a:r>
              <a:rPr lang="zh-CN" altLang="en-US" dirty="0" smtClean="0"/>
              <a:t>）	隔膜滤板压榨压力在</a:t>
            </a:r>
            <a:r>
              <a:rPr lang="en-US" altLang="zh-CN" dirty="0" smtClean="0"/>
              <a:t>0.8Mpa</a:t>
            </a:r>
            <a:r>
              <a:rPr lang="zh-CN" altLang="en-US" dirty="0" smtClean="0"/>
              <a:t>以下时，采用空气压榨。</a:t>
            </a:r>
          </a:p>
          <a:p>
            <a:r>
              <a:rPr lang="en-US" altLang="zh-CN" dirty="0" smtClean="0"/>
              <a:t>2</a:t>
            </a:r>
            <a:r>
              <a:rPr lang="zh-CN" altLang="en-US" dirty="0" smtClean="0"/>
              <a:t>）	隔膜滤板压榨压力大于</a:t>
            </a:r>
            <a:r>
              <a:rPr lang="en-US" altLang="zh-CN" dirty="0" smtClean="0"/>
              <a:t>0.8Mpa</a:t>
            </a:r>
            <a:r>
              <a:rPr lang="zh-CN" altLang="en-US" dirty="0" smtClean="0"/>
              <a:t>时，多用水压榨。</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582341"/>
            <a:ext cx="7921624" cy="2308324"/>
          </a:xfrm>
          <a:prstGeom prst="rect">
            <a:avLst/>
          </a:prstGeom>
        </p:spPr>
        <p:txBody>
          <a:bodyPr wrap="square">
            <a:spAutoFit/>
          </a:bodyPr>
          <a:lstStyle/>
          <a:p>
            <a:r>
              <a:rPr lang="en-US" altLang="zh-CN" dirty="0" smtClean="0"/>
              <a:t>4.3.5	</a:t>
            </a:r>
            <a:r>
              <a:rPr lang="zh-CN" altLang="en-US" dirty="0" smtClean="0"/>
              <a:t>隔膜滤板的使用</a:t>
            </a:r>
          </a:p>
          <a:p>
            <a:r>
              <a:rPr lang="en-US" altLang="zh-CN" dirty="0" smtClean="0"/>
              <a:t>1</a:t>
            </a:r>
            <a:r>
              <a:rPr lang="zh-CN" altLang="en-US" dirty="0" smtClean="0"/>
              <a:t>）按正常的过滤洗涤方式进行作业，必须先打开止推板下部两个滤液阀，缓缓开启进料阀，使滤室内充满滤浆，再逐渐提高滤浆压力，一般为</a:t>
            </a:r>
            <a:r>
              <a:rPr lang="en-US" altLang="zh-CN" dirty="0" smtClean="0"/>
              <a:t>0.6Mpa</a:t>
            </a:r>
            <a:r>
              <a:rPr lang="zh-CN" altLang="en-US" dirty="0" smtClean="0"/>
              <a:t>（具体根据物料而定）</a:t>
            </a:r>
          </a:p>
          <a:p>
            <a:r>
              <a:rPr lang="en-US" altLang="zh-CN" dirty="0" smtClean="0"/>
              <a:t>2</a:t>
            </a:r>
            <a:r>
              <a:rPr lang="zh-CN" altLang="en-US" dirty="0" smtClean="0"/>
              <a:t>）过滤完成后，关闭进料阀，打开旁通的回料阀，再将压紧板的吹浆阀打开，吹入压缩空气</a:t>
            </a:r>
            <a:r>
              <a:rPr lang="en-US" altLang="zh-CN" dirty="0" smtClean="0"/>
              <a:t>2-3</a:t>
            </a:r>
            <a:r>
              <a:rPr lang="zh-CN" altLang="en-US" dirty="0" smtClean="0"/>
              <a:t>分钟，将滤板进料口出的料浆吹入回料管，流入浆筒。</a:t>
            </a:r>
          </a:p>
          <a:p>
            <a:r>
              <a:rPr lang="en-US" altLang="zh-CN" dirty="0" smtClean="0"/>
              <a:t>3</a:t>
            </a:r>
            <a:r>
              <a:rPr lang="zh-CN" altLang="en-US" dirty="0" smtClean="0"/>
              <a:t>）洗涤工序可以按双向交叉洗涤法、正洗、反洗，达到洗涤的工艺要求即可。</a:t>
            </a:r>
          </a:p>
          <a:p>
            <a:r>
              <a:rPr lang="en-US" altLang="zh-CN" dirty="0" smtClean="0"/>
              <a:t>4</a:t>
            </a:r>
            <a:r>
              <a:rPr lang="zh-CN" altLang="en-US" dirty="0" smtClean="0"/>
              <a:t>）压榨、洗涤完成后，对隔膜滤板充气（水）对滤饼进一步压榨。</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2413338"/>
            <a:ext cx="7921624" cy="1754326"/>
          </a:xfrm>
          <a:prstGeom prst="rect">
            <a:avLst/>
          </a:prstGeom>
        </p:spPr>
        <p:txBody>
          <a:bodyPr wrap="square">
            <a:spAutoFit/>
          </a:bodyPr>
          <a:lstStyle/>
          <a:p>
            <a:r>
              <a:rPr lang="en-US" altLang="zh-CN" dirty="0" smtClean="0"/>
              <a:t>4.3.6  </a:t>
            </a:r>
            <a:r>
              <a:rPr lang="zh-CN" altLang="en-US" dirty="0" smtClean="0"/>
              <a:t>隔膜滤板的注意事项：</a:t>
            </a:r>
          </a:p>
          <a:p>
            <a:r>
              <a:rPr lang="en-US" altLang="zh-CN" dirty="0" smtClean="0"/>
              <a:t>1</a:t>
            </a:r>
            <a:r>
              <a:rPr lang="zh-CN" altLang="en-US" dirty="0" smtClean="0"/>
              <a:t>）确定压榨压力不要超过滤板的承受能力</a:t>
            </a:r>
          </a:p>
          <a:p>
            <a:r>
              <a:rPr lang="en-US" altLang="zh-CN" dirty="0" smtClean="0"/>
              <a:t>2</a:t>
            </a:r>
            <a:r>
              <a:rPr lang="zh-CN" altLang="en-US" dirty="0" smtClean="0"/>
              <a:t>）物料温度应与压榨压力向匹配</a:t>
            </a:r>
          </a:p>
          <a:p>
            <a:r>
              <a:rPr lang="en-US" altLang="zh-CN" dirty="0" smtClean="0"/>
              <a:t>3</a:t>
            </a:r>
            <a:r>
              <a:rPr lang="zh-CN" altLang="en-US" dirty="0" smtClean="0"/>
              <a:t>）防止安全阀失灵或调节控制压力不当带来的压榨力超过额定值。</a:t>
            </a:r>
          </a:p>
          <a:p>
            <a:r>
              <a:rPr lang="en-US" altLang="zh-CN" dirty="0" smtClean="0"/>
              <a:t>4</a:t>
            </a:r>
            <a:r>
              <a:rPr lang="zh-CN" altLang="en-US" dirty="0" smtClean="0"/>
              <a:t>）压榨介质升压避免过快过猛。</a:t>
            </a:r>
          </a:p>
          <a:p>
            <a:r>
              <a:rPr lang="en-US" altLang="zh-CN" dirty="0" smtClean="0"/>
              <a:t>5</a:t>
            </a:r>
            <a:r>
              <a:rPr lang="zh-CN" altLang="en-US" dirty="0" smtClean="0"/>
              <a:t>）压榨水泵升压应均匀，无冲击。</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991876"/>
            <a:ext cx="7921625" cy="2308324"/>
          </a:xfrm>
          <a:prstGeom prst="rect">
            <a:avLst/>
          </a:prstGeom>
        </p:spPr>
        <p:txBody>
          <a:bodyPr wrap="square">
            <a:spAutoFit/>
          </a:bodyPr>
          <a:lstStyle/>
          <a:p>
            <a:r>
              <a:rPr lang="en-US" altLang="zh-CN" dirty="0" smtClean="0"/>
              <a:t>4.4  </a:t>
            </a:r>
            <a:r>
              <a:rPr lang="zh-CN" altLang="en-US" dirty="0" smtClean="0"/>
              <a:t>滤布的选择</a:t>
            </a:r>
          </a:p>
          <a:p>
            <a:r>
              <a:rPr lang="zh-CN" altLang="en-US" dirty="0" smtClean="0"/>
              <a:t>滤布的选择很重要，在过滤过程中起着很关键的作用，滤布性能的好坏，直接影响过滤的效果，为了达到比较理想的过滤效果和速度，需根据物料的颗粒大小、密度、粘度、化学成分和过滤工艺条件来进行选择。本公司有涤纶、丙纶、锦纶、维纶等滤布，涤纶滤布耐酸性能优良，丙纶滤布强调高、弹性好、耐酸、耐碱，锦纶和维纶耐碱性能良好，全棉滤布可耐高温，用户根据实际过滤要求而定。在裁剪滤布时，孔距不能太小，否则会堵塞进料孔；滤布上的尼龙扣排列均匀，滤布要用电络铁等专用工具剪裁，以免滤布脱线。</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113" y="683181"/>
            <a:ext cx="2484976" cy="369332"/>
          </a:xfrm>
          <a:prstGeom prst="rect">
            <a:avLst/>
          </a:prstGeom>
        </p:spPr>
        <p:txBody>
          <a:bodyPr wrap="none">
            <a:spAutoFit/>
          </a:bodyPr>
          <a:lstStyle/>
          <a:p>
            <a:r>
              <a:rPr lang="zh-CN" altLang="en-US" dirty="0" smtClean="0"/>
              <a:t>表</a:t>
            </a:r>
            <a:r>
              <a:rPr lang="en-US" altLang="zh-CN" dirty="0" smtClean="0"/>
              <a:t>3  </a:t>
            </a:r>
            <a:r>
              <a:rPr lang="zh-CN" altLang="en-US" dirty="0" smtClean="0"/>
              <a:t>常用滤布性能特点</a:t>
            </a:r>
            <a:endParaRPr lang="zh-CN" altLang="en-US" dirty="0"/>
          </a:p>
        </p:txBody>
      </p:sp>
      <p:graphicFrame>
        <p:nvGraphicFramePr>
          <p:cNvPr id="3" name="表格 2"/>
          <p:cNvGraphicFramePr>
            <a:graphicFrameLocks noGrp="1"/>
          </p:cNvGraphicFramePr>
          <p:nvPr/>
        </p:nvGraphicFramePr>
        <p:xfrm>
          <a:off x="900113" y="1053782"/>
          <a:ext cx="7343775" cy="5343813"/>
        </p:xfrm>
        <a:graphic>
          <a:graphicData uri="http://schemas.openxmlformats.org/drawingml/2006/table">
            <a:tbl>
              <a:tblPr/>
              <a:tblGrid>
                <a:gridCol w="1088347"/>
                <a:gridCol w="1446724"/>
                <a:gridCol w="1871194"/>
                <a:gridCol w="1468755"/>
                <a:gridCol w="1468755"/>
              </a:tblGrid>
              <a:tr h="532797">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性能</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涤纶</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锦纶</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丙纶</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维纶</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耐酸性</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强</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较差</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良好</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不耐酸</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耐碱性</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耐弱碱</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良好</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强</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耐强碱</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导电性</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很差</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较好</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良好</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一般</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断裂伸长</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30%~40%</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18%~45%</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大于涤纶</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FF"/>
                          </a:solidFill>
                          <a:latin typeface="黑体" pitchFamily="2" charset="-122"/>
                          <a:ea typeface="黑体" pitchFamily="2" charset="-122"/>
                        </a:rPr>
                        <a:t>12%~25%</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回复性</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很好</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在</a:t>
                      </a:r>
                      <a:r>
                        <a:rPr lang="en-US" sz="1200" b="1" kern="100">
                          <a:solidFill>
                            <a:srgbClr val="0000FF"/>
                          </a:solidFill>
                          <a:latin typeface="黑体" pitchFamily="2" charset="-122"/>
                          <a:ea typeface="黑体" pitchFamily="2" charset="-122"/>
                        </a:rPr>
                        <a:t>10%</a:t>
                      </a:r>
                      <a:r>
                        <a:rPr lang="zh-CN" sz="1200" b="1" kern="100">
                          <a:solidFill>
                            <a:srgbClr val="0000FF"/>
                          </a:solidFill>
                          <a:latin typeface="黑体" pitchFamily="2" charset="-122"/>
                          <a:ea typeface="黑体" pitchFamily="2" charset="-122"/>
                        </a:rPr>
                        <a:t>伸长时间回复率</a:t>
                      </a:r>
                      <a:r>
                        <a:rPr lang="en-US" sz="1200" b="1" kern="100">
                          <a:solidFill>
                            <a:srgbClr val="0000FF"/>
                          </a:solidFill>
                          <a:latin typeface="黑体" pitchFamily="2" charset="-122"/>
                          <a:ea typeface="黑体" pitchFamily="2" charset="-122"/>
                        </a:rPr>
                        <a:t>90%</a:t>
                      </a:r>
                      <a:r>
                        <a:rPr lang="zh-CN" sz="1200" b="1" kern="100">
                          <a:solidFill>
                            <a:srgbClr val="0000FF"/>
                          </a:solidFill>
                          <a:latin typeface="黑体" pitchFamily="2" charset="-122"/>
                          <a:ea typeface="黑体" pitchFamily="2" charset="-122"/>
                        </a:rPr>
                        <a:t>以上</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略好于涤纶</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较好</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耐磨性</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很好</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很好</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好</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200" b="1" kern="100" dirty="0">
                          <a:solidFill>
                            <a:srgbClr val="0000FF"/>
                          </a:solidFill>
                          <a:latin typeface="黑体" pitchFamily="2" charset="-122"/>
                          <a:ea typeface="黑体" pitchFamily="2" charset="-122"/>
                        </a:rPr>
                        <a:t>较好</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耐热性</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170</a:t>
                      </a:r>
                      <a:r>
                        <a:rPr lang="zh-CN" sz="1200" b="1" kern="100">
                          <a:solidFill>
                            <a:srgbClr val="0000FF"/>
                          </a:solidFill>
                          <a:latin typeface="黑体" pitchFamily="2" charset="-122"/>
                          <a:ea typeface="黑体" pitchFamily="2" charset="-122"/>
                        </a:rPr>
                        <a:t>℃</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130</a:t>
                      </a:r>
                      <a:r>
                        <a:rPr lang="zh-CN" sz="1200" b="1" kern="100">
                          <a:solidFill>
                            <a:srgbClr val="0000FF"/>
                          </a:solidFill>
                          <a:latin typeface="黑体" pitchFamily="2" charset="-122"/>
                          <a:ea typeface="黑体" pitchFamily="2" charset="-122"/>
                        </a:rPr>
                        <a:t>℃略收缩</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90</a:t>
                      </a:r>
                      <a:r>
                        <a:rPr lang="zh-CN" sz="1200" b="1" kern="100">
                          <a:solidFill>
                            <a:srgbClr val="0000FF"/>
                          </a:solidFill>
                          <a:latin typeface="黑体" pitchFamily="2" charset="-122"/>
                          <a:ea typeface="黑体" pitchFamily="2" charset="-122"/>
                        </a:rPr>
                        <a:t>℃略收缩</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FF"/>
                          </a:solidFill>
                          <a:latin typeface="黑体" pitchFamily="2" charset="-122"/>
                          <a:ea typeface="黑体" pitchFamily="2" charset="-122"/>
                        </a:rPr>
                        <a:t>100</a:t>
                      </a:r>
                      <a:r>
                        <a:rPr lang="zh-CN" sz="1200" b="1" kern="100" dirty="0">
                          <a:solidFill>
                            <a:srgbClr val="0000FF"/>
                          </a:solidFill>
                          <a:latin typeface="黑体" pitchFamily="2" charset="-122"/>
                          <a:ea typeface="黑体" pitchFamily="2" charset="-122"/>
                        </a:rPr>
                        <a:t>℃有收缩</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软化点</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230~240</a:t>
                      </a:r>
                      <a:r>
                        <a:rPr lang="zh-CN" sz="1200" b="1" kern="100">
                          <a:solidFill>
                            <a:srgbClr val="0000FF"/>
                          </a:solidFill>
                          <a:latin typeface="黑体" pitchFamily="2" charset="-122"/>
                          <a:ea typeface="黑体" pitchFamily="2" charset="-122"/>
                        </a:rPr>
                        <a:t>℃</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180</a:t>
                      </a:r>
                      <a:r>
                        <a:rPr lang="zh-CN" sz="1200" b="1" kern="100">
                          <a:solidFill>
                            <a:srgbClr val="0000FF"/>
                          </a:solidFill>
                          <a:latin typeface="黑体" pitchFamily="2" charset="-122"/>
                          <a:ea typeface="黑体" pitchFamily="2" charset="-122"/>
                        </a:rPr>
                        <a:t>℃</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140~150</a:t>
                      </a:r>
                      <a:r>
                        <a:rPr lang="zh-CN" sz="1200" b="1" kern="100">
                          <a:solidFill>
                            <a:srgbClr val="0000FF"/>
                          </a:solidFill>
                          <a:latin typeface="黑体" pitchFamily="2" charset="-122"/>
                          <a:ea typeface="黑体" pitchFamily="2" charset="-122"/>
                        </a:rPr>
                        <a:t>℃</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FF"/>
                          </a:solidFill>
                          <a:latin typeface="黑体" pitchFamily="2" charset="-122"/>
                          <a:ea typeface="黑体" pitchFamily="2" charset="-122"/>
                        </a:rPr>
                        <a:t>200</a:t>
                      </a:r>
                      <a:r>
                        <a:rPr lang="zh-CN" sz="1200" b="1" kern="100" dirty="0">
                          <a:solidFill>
                            <a:srgbClr val="0000FF"/>
                          </a:solidFill>
                          <a:latin typeface="黑体" pitchFamily="2" charset="-122"/>
                          <a:ea typeface="黑体" pitchFamily="2" charset="-122"/>
                        </a:rPr>
                        <a:t>℃</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97">
                <a:tc>
                  <a:txBody>
                    <a:bodyPr/>
                    <a:lstStyle/>
                    <a:p>
                      <a:pPr algn="ctr">
                        <a:lnSpc>
                          <a:spcPct val="150000"/>
                        </a:lnSpc>
                        <a:spcAft>
                          <a:spcPts val="0"/>
                        </a:spcAft>
                      </a:pPr>
                      <a:r>
                        <a:rPr lang="zh-CN" sz="1200" b="1" kern="100">
                          <a:solidFill>
                            <a:srgbClr val="0000FF"/>
                          </a:solidFill>
                          <a:latin typeface="黑体" pitchFamily="2" charset="-122"/>
                          <a:ea typeface="黑体" pitchFamily="2" charset="-122"/>
                        </a:rPr>
                        <a:t>融化点</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255~265</a:t>
                      </a:r>
                      <a:r>
                        <a:rPr lang="zh-CN" sz="1200" b="1" kern="100">
                          <a:solidFill>
                            <a:srgbClr val="0000FF"/>
                          </a:solidFill>
                          <a:latin typeface="黑体" pitchFamily="2" charset="-122"/>
                          <a:ea typeface="黑体" pitchFamily="2" charset="-122"/>
                        </a:rPr>
                        <a:t>℃</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210~215</a:t>
                      </a:r>
                      <a:r>
                        <a:rPr lang="zh-CN" sz="1200" b="1" kern="100">
                          <a:solidFill>
                            <a:srgbClr val="0000FF"/>
                          </a:solidFill>
                          <a:latin typeface="黑体" pitchFamily="2" charset="-122"/>
                          <a:ea typeface="黑体" pitchFamily="2" charset="-122"/>
                        </a:rPr>
                        <a:t>℃</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a:solidFill>
                            <a:srgbClr val="0000FF"/>
                          </a:solidFill>
                          <a:latin typeface="黑体" pitchFamily="2" charset="-122"/>
                          <a:ea typeface="黑体" pitchFamily="2" charset="-122"/>
                        </a:rPr>
                        <a:t>165~170</a:t>
                      </a:r>
                      <a:r>
                        <a:rPr lang="zh-CN" sz="1200" b="1" kern="100">
                          <a:solidFill>
                            <a:srgbClr val="0000FF"/>
                          </a:solidFill>
                          <a:latin typeface="黑体" pitchFamily="2" charset="-122"/>
                          <a:ea typeface="黑体" pitchFamily="2" charset="-122"/>
                        </a:rPr>
                        <a:t>℃</a:t>
                      </a:r>
                      <a:endParaRPr lang="zh-CN" sz="1050" b="1" kern="10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a:solidFill>
                            <a:srgbClr val="0000FF"/>
                          </a:solidFill>
                          <a:latin typeface="黑体" pitchFamily="2" charset="-122"/>
                          <a:ea typeface="黑体" pitchFamily="2" charset="-122"/>
                        </a:rPr>
                        <a:t>220</a:t>
                      </a:r>
                      <a:r>
                        <a:rPr lang="zh-CN" sz="1200" b="1" kern="100" dirty="0">
                          <a:solidFill>
                            <a:srgbClr val="0000FF"/>
                          </a:solidFill>
                          <a:latin typeface="黑体" pitchFamily="2" charset="-122"/>
                          <a:ea typeface="黑体" pitchFamily="2" charset="-122"/>
                        </a:rPr>
                        <a:t>℃</a:t>
                      </a:r>
                      <a:endParaRPr lang="zh-CN" sz="1050" b="1" kern="100" dirty="0">
                        <a:solidFill>
                          <a:srgbClr val="0000FF"/>
                        </a:solidFill>
                        <a:latin typeface="黑体" pitchFamily="2" charset="-122"/>
                        <a:ea typeface="黑体"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997839"/>
            <a:ext cx="7921624" cy="2031325"/>
          </a:xfrm>
          <a:prstGeom prst="rect">
            <a:avLst/>
          </a:prstGeom>
        </p:spPr>
        <p:txBody>
          <a:bodyPr wrap="square">
            <a:spAutoFit/>
          </a:bodyPr>
          <a:lstStyle/>
          <a:p>
            <a:r>
              <a:rPr lang="en-US" altLang="zh-CN" dirty="0" smtClean="0"/>
              <a:t>4.4.1  </a:t>
            </a:r>
            <a:r>
              <a:rPr lang="zh-CN" altLang="en-US" dirty="0" smtClean="0"/>
              <a:t>滤布安装：</a:t>
            </a:r>
          </a:p>
          <a:p>
            <a:r>
              <a:rPr lang="en-US" altLang="zh-CN" dirty="0" smtClean="0"/>
              <a:t>1</a:t>
            </a:r>
            <a:r>
              <a:rPr lang="zh-CN" altLang="en-US" dirty="0" smtClean="0"/>
              <a:t>）厢式压滤机滤布分普通滤布和夹布器滤布两种，普通滤布安装时将一半从进料口穿过，平整后将上面对齐垂平。夹布器滤布需用夹布器将进料孔夹紧后垂平即可。</a:t>
            </a:r>
          </a:p>
          <a:p>
            <a:r>
              <a:rPr lang="en-US" altLang="zh-CN" dirty="0" smtClean="0"/>
              <a:t>2</a:t>
            </a:r>
            <a:r>
              <a:rPr lang="zh-CN" altLang="en-US" dirty="0" smtClean="0"/>
              <a:t>）板框式滤布，可根据滤板的尺寸和进料形式，开出进料口和洗水口后折搭在滤板上，长度和宽度稍大于滤板尺寸；滤布与滤板对应孔的尺寸大小，应以对应孔径</a:t>
            </a:r>
            <a:r>
              <a:rPr lang="en-US" altLang="zh-CN" dirty="0" smtClean="0"/>
              <a:t>70%</a:t>
            </a:r>
            <a:r>
              <a:rPr lang="zh-CN" altLang="en-US" dirty="0" smtClean="0"/>
              <a:t>为宜（开孔前要进行缩水处理）。</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113" y="683181"/>
            <a:ext cx="2148345" cy="369332"/>
          </a:xfrm>
          <a:prstGeom prst="rect">
            <a:avLst/>
          </a:prstGeom>
        </p:spPr>
        <p:txBody>
          <a:bodyPr wrap="none">
            <a:spAutoFit/>
          </a:bodyPr>
          <a:lstStyle/>
          <a:p>
            <a:r>
              <a:rPr lang="en-US" altLang="zh-CN" dirty="0" smtClean="0"/>
              <a:t>3</a:t>
            </a:r>
            <a:r>
              <a:rPr lang="zh-CN" altLang="en-US" dirty="0" smtClean="0"/>
              <a:t>）滤布制作如下：</a:t>
            </a:r>
            <a:endParaRPr lang="zh-CN" altLang="en-US" dirty="0"/>
          </a:p>
        </p:txBody>
      </p:sp>
      <p:sp>
        <p:nvSpPr>
          <p:cNvPr id="849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4993" name="Object 1"/>
          <p:cNvGraphicFramePr>
            <a:graphicFrameLocks noChangeAspect="1"/>
          </p:cNvGraphicFramePr>
          <p:nvPr/>
        </p:nvGraphicFramePr>
        <p:xfrm>
          <a:off x="611189" y="1052513"/>
          <a:ext cx="7921624" cy="5329237"/>
        </p:xfrm>
        <a:graphic>
          <a:graphicData uri="http://schemas.openxmlformats.org/presentationml/2006/ole">
            <p:oleObj spid="_x0000_s84993" r:id="rId3" imgW="5543550" imgH="3905250" progId="">
              <p:embed/>
            </p:oleObj>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3969" name="Object 1"/>
          <p:cNvGraphicFramePr>
            <a:graphicFrameLocks noChangeAspect="1"/>
          </p:cNvGraphicFramePr>
          <p:nvPr/>
        </p:nvGraphicFramePr>
        <p:xfrm>
          <a:off x="611188" y="1052512"/>
          <a:ext cx="7921625" cy="5329237"/>
        </p:xfrm>
        <a:graphic>
          <a:graphicData uri="http://schemas.openxmlformats.org/presentationml/2006/ole">
            <p:oleObj spid="_x0000_s83969" r:id="rId3" imgW="5543550" imgH="3905250" progId="">
              <p:embed/>
            </p:oleObj>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2945" name="Object 1"/>
          <p:cNvGraphicFramePr>
            <a:graphicFrameLocks noChangeAspect="1"/>
          </p:cNvGraphicFramePr>
          <p:nvPr/>
        </p:nvGraphicFramePr>
        <p:xfrm>
          <a:off x="611188" y="1052513"/>
          <a:ext cx="7921625" cy="5329237"/>
        </p:xfrm>
        <a:graphic>
          <a:graphicData uri="http://schemas.openxmlformats.org/presentationml/2006/ole">
            <p:oleObj spid="_x0000_s82945" r:id="rId3" imgW="5543550" imgH="3905250" progId="">
              <p:embed/>
            </p:oleObj>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113" y="683181"/>
            <a:ext cx="3647152" cy="369332"/>
          </a:xfrm>
          <a:prstGeom prst="rect">
            <a:avLst/>
          </a:prstGeom>
        </p:spPr>
        <p:txBody>
          <a:bodyPr wrap="none">
            <a:spAutoFit/>
          </a:bodyPr>
          <a:lstStyle/>
          <a:p>
            <a:r>
              <a:rPr lang="zh-CN" altLang="en-US" dirty="0" smtClean="0"/>
              <a:t>（各压滤机的技术参数查看样本）</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09952" y="2428868"/>
            <a:ext cx="3796232" cy="646331"/>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rPr>
              <a:t>第五章  液压系统</a:t>
            </a:r>
            <a:endParaRPr lang="zh-CN" altLang="en-US" sz="3600" b="1" spc="50" dirty="0">
              <a:ln w="11430"/>
              <a:solidFill>
                <a:srgbClr val="0000FF"/>
              </a:solidFill>
              <a:effectLst>
                <a:outerShdw blurRad="76200" dist="50800" dir="5400000" algn="tl" rotWithShape="0">
                  <a:srgbClr val="000000">
                    <a:alpha val="65000"/>
                  </a:srgbClr>
                </a:outerShdw>
              </a:effectLst>
              <a:latin typeface="方正超粗黑简体" pitchFamily="65" charset="-122"/>
              <a:ea typeface="方正超粗黑简体" pitchFamily="65"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991876"/>
            <a:ext cx="7921625" cy="2585323"/>
          </a:xfrm>
          <a:prstGeom prst="rect">
            <a:avLst/>
          </a:prstGeom>
        </p:spPr>
        <p:txBody>
          <a:bodyPr wrap="square">
            <a:spAutoFit/>
          </a:bodyPr>
          <a:lstStyle/>
          <a:p>
            <a:r>
              <a:rPr lang="en-US" altLang="zh-CN" dirty="0" smtClean="0"/>
              <a:t>6.1 </a:t>
            </a:r>
            <a:r>
              <a:rPr lang="zh-CN" altLang="en-US" dirty="0" smtClean="0"/>
              <a:t>液压传动的基本原理</a:t>
            </a:r>
          </a:p>
          <a:p>
            <a:r>
              <a:rPr lang="zh-CN" altLang="en-US" dirty="0" smtClean="0"/>
              <a:t>液压传动是以液体为工介质利用液体的静压能实现信息运动和动力的传递及工程控制的技术。其工作原理基于流体力学的帕斯长原理（流体静压力传递原理）因此，又称为容积式液体传动或静液传动。</a:t>
            </a:r>
          </a:p>
          <a:p>
            <a:r>
              <a:rPr lang="zh-CN" altLang="en-US" dirty="0" smtClean="0"/>
              <a:t>液压传动的机械设备或装置中，其液压系统多数使用具有连续流动性的液压油液作为工作介质，通过液压泵将驱动泵的原动机的机械能转换成液体的压力能，然后经过封闭管路及控制阀（压力阀、流量阀、方向阀）送至执行元件（液压缸、液压马达、或摆动液压马达）中。转换为机械能去驱动负载和实现工作机构所需的直线运动或回转运动。</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437878"/>
            <a:ext cx="7921624" cy="3693319"/>
          </a:xfrm>
          <a:prstGeom prst="rect">
            <a:avLst/>
          </a:prstGeom>
        </p:spPr>
        <p:txBody>
          <a:bodyPr wrap="square">
            <a:spAutoFit/>
          </a:bodyPr>
          <a:lstStyle/>
          <a:p>
            <a:r>
              <a:rPr lang="en-US" altLang="zh-CN" dirty="0" smtClean="0"/>
              <a:t>6.2 </a:t>
            </a:r>
            <a:r>
              <a:rPr lang="zh-CN" altLang="en-US" dirty="0" smtClean="0"/>
              <a:t>液压传动技术的特征</a:t>
            </a:r>
          </a:p>
          <a:p>
            <a:r>
              <a:rPr lang="en-US" altLang="zh-CN" dirty="0" smtClean="0"/>
              <a:t>6.2.1 </a:t>
            </a:r>
            <a:r>
              <a:rPr lang="zh-CN" altLang="en-US" dirty="0" smtClean="0"/>
              <a:t>液压工作介质是在受调节和控制下工作，故不仅能作为“传动”之用，而且还能作为“控制”之用，二者很难截然分开。</a:t>
            </a:r>
          </a:p>
          <a:p>
            <a:r>
              <a:rPr lang="en-US" altLang="zh-CN" dirty="0" smtClean="0"/>
              <a:t>6.2.2 </a:t>
            </a:r>
            <a:r>
              <a:rPr lang="zh-CN" altLang="en-US" dirty="0" smtClean="0"/>
              <a:t>液压技术中，与外负载（推力</a:t>
            </a:r>
            <a:r>
              <a:rPr lang="en-US" altLang="zh-CN" dirty="0" smtClean="0"/>
              <a:t>F</a:t>
            </a:r>
            <a:r>
              <a:rPr lang="zh-CN" altLang="en-US" dirty="0" smtClean="0"/>
              <a:t>或转矩</a:t>
            </a:r>
            <a:r>
              <a:rPr lang="en-US" altLang="zh-CN" dirty="0" smtClean="0"/>
              <a:t>T</a:t>
            </a:r>
            <a:r>
              <a:rPr lang="zh-CN" altLang="en-US" dirty="0" smtClean="0"/>
              <a:t>）相对应的液体参数是压力</a:t>
            </a:r>
            <a:r>
              <a:rPr lang="en-US" altLang="zh-CN" dirty="0" smtClean="0"/>
              <a:t>P</a:t>
            </a:r>
            <a:r>
              <a:rPr lang="zh-CN" altLang="en-US" dirty="0" smtClean="0"/>
              <a:t>与动速度</a:t>
            </a:r>
            <a:r>
              <a:rPr lang="en-US" altLang="zh-CN" dirty="0" smtClean="0"/>
              <a:t>v</a:t>
            </a:r>
            <a:r>
              <a:rPr lang="zh-CN" altLang="en-US" dirty="0" smtClean="0"/>
              <a:t>（或转速</a:t>
            </a:r>
            <a:r>
              <a:rPr lang="en-US" altLang="zh-CN" dirty="0" smtClean="0"/>
              <a:t>n</a:t>
            </a:r>
            <a:r>
              <a:rPr lang="zh-CN" altLang="en-US" dirty="0" smtClean="0"/>
              <a:t>）向对应的液体参数是流量</a:t>
            </a:r>
            <a:r>
              <a:rPr lang="en-US" altLang="zh-CN" dirty="0" smtClean="0"/>
              <a:t>q</a:t>
            </a:r>
            <a:r>
              <a:rPr lang="zh-CN" altLang="en-US" dirty="0" smtClean="0"/>
              <a:t>。压力</a:t>
            </a:r>
            <a:r>
              <a:rPr lang="en-US" altLang="zh-CN" dirty="0" smtClean="0"/>
              <a:t>P</a:t>
            </a:r>
            <a:r>
              <a:rPr lang="zh-CN" altLang="en-US" dirty="0" smtClean="0"/>
              <a:t>和流量</a:t>
            </a:r>
            <a:r>
              <a:rPr lang="en-US" altLang="zh-CN" dirty="0" smtClean="0"/>
              <a:t>q</a:t>
            </a:r>
            <a:r>
              <a:rPr lang="zh-CN" altLang="en-US" dirty="0" smtClean="0"/>
              <a:t>是液压系统中两个最基本的参数。压力的高低取决于负载的大小，流量的大小取决于速度高低和执行元件的主要尺寸（液压缸径和马达排量）</a:t>
            </a:r>
          </a:p>
          <a:p>
            <a:r>
              <a:rPr lang="en-US" altLang="zh-CN" dirty="0" smtClean="0"/>
              <a:t>6.2.3 </a:t>
            </a:r>
            <a:r>
              <a:rPr lang="zh-CN" altLang="en-US" dirty="0" smtClean="0"/>
              <a:t>如果疏忽各种设备损失，液压传动的力（或转矩）与速度（或转速）彼此无关。既可实现与负载无关的任何运动规律，也可借助各种控制机构实现与负载有关的各种运动规律。</a:t>
            </a:r>
          </a:p>
          <a:p>
            <a:r>
              <a:rPr lang="en-US" altLang="zh-CN" dirty="0" smtClean="0"/>
              <a:t>6.2.4 </a:t>
            </a:r>
            <a:r>
              <a:rPr lang="zh-CN" altLang="en-US" dirty="0" smtClean="0"/>
              <a:t>液压传动是利用液体的压力能来传递动力并且符合能量守恒定律，压力</a:t>
            </a:r>
            <a:r>
              <a:rPr lang="en-US" altLang="zh-CN" dirty="0" smtClean="0"/>
              <a:t>P</a:t>
            </a:r>
            <a:r>
              <a:rPr lang="zh-CN" altLang="en-US" dirty="0" smtClean="0"/>
              <a:t>与流量</a:t>
            </a:r>
            <a:r>
              <a:rPr lang="en-US" altLang="zh-CN" dirty="0" smtClean="0"/>
              <a:t>q</a:t>
            </a:r>
            <a:r>
              <a:rPr lang="zh-CN" altLang="en-US" dirty="0" smtClean="0"/>
              <a:t>的乘积等于功率</a:t>
            </a:r>
            <a:r>
              <a:rPr lang="en-US" altLang="zh-CN" dirty="0" smtClean="0"/>
              <a:t>P</a:t>
            </a:r>
            <a:r>
              <a:rPr lang="zh-CN" altLang="en-US" dirty="0" smtClean="0"/>
              <a:t>。</a:t>
            </a:r>
          </a:p>
          <a:p>
            <a:r>
              <a:rPr lang="en-US" altLang="zh-CN" dirty="0" smtClean="0"/>
              <a:t>6.2.5 </a:t>
            </a:r>
            <a:r>
              <a:rPr lang="zh-CN" altLang="en-US" dirty="0" smtClean="0"/>
              <a:t>液压传动可省力但不省功。</a:t>
            </a:r>
            <a:endParaRPr lang="zh-CN" alt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2274838"/>
            <a:ext cx="7921624" cy="1477328"/>
          </a:xfrm>
          <a:prstGeom prst="rect">
            <a:avLst/>
          </a:prstGeom>
        </p:spPr>
        <p:txBody>
          <a:bodyPr wrap="square">
            <a:spAutoFit/>
          </a:bodyPr>
          <a:lstStyle/>
          <a:p>
            <a:r>
              <a:rPr lang="en-US" altLang="zh-CN" dirty="0" smtClean="0"/>
              <a:t>6.3  </a:t>
            </a:r>
            <a:r>
              <a:rPr lang="zh-CN" altLang="en-US" dirty="0" smtClean="0"/>
              <a:t>液压系统的组成与表示</a:t>
            </a:r>
          </a:p>
          <a:p>
            <a:r>
              <a:rPr lang="en-US" altLang="zh-CN" dirty="0" smtClean="0"/>
              <a:t>6.3.1 </a:t>
            </a:r>
            <a:r>
              <a:rPr lang="zh-CN" altLang="en-US" dirty="0" smtClean="0"/>
              <a:t>液压系统的组成</a:t>
            </a:r>
          </a:p>
          <a:p>
            <a:r>
              <a:rPr lang="zh-CN" altLang="en-US" dirty="0" smtClean="0"/>
              <a:t>液压系统通常都是由液压元件（包括能源元件、执行元件、辅助元件）和工作介质两大部分组成，各部分的功用表</a:t>
            </a:r>
            <a:r>
              <a:rPr lang="en-US" altLang="zh-CN" dirty="0" smtClean="0"/>
              <a:t>5</a:t>
            </a:r>
            <a:r>
              <a:rPr lang="zh-CN" altLang="en-US" dirty="0" smtClean="0"/>
              <a:t>。由于液压元件多数已实现了通用化、系列化和标准化，从而为液压系统的设计、制造提供了有利条件。</a:t>
            </a:r>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113" y="500042"/>
            <a:ext cx="2946640" cy="369332"/>
          </a:xfrm>
          <a:prstGeom prst="rect">
            <a:avLst/>
          </a:prstGeom>
        </p:spPr>
        <p:txBody>
          <a:bodyPr wrap="none">
            <a:spAutoFit/>
          </a:bodyPr>
          <a:lstStyle/>
          <a:p>
            <a:r>
              <a:rPr lang="zh-CN" altLang="en-US" dirty="0" smtClean="0"/>
              <a:t>表</a:t>
            </a:r>
            <a:r>
              <a:rPr lang="en-US" altLang="zh-CN" dirty="0" smtClean="0"/>
              <a:t>5  </a:t>
            </a:r>
            <a:r>
              <a:rPr lang="zh-CN" altLang="en-US" dirty="0" smtClean="0"/>
              <a:t>液压系统的组成及功用</a:t>
            </a:r>
            <a:endParaRPr lang="zh-CN" altLang="en-US" dirty="0"/>
          </a:p>
        </p:txBody>
      </p:sp>
      <p:graphicFrame>
        <p:nvGraphicFramePr>
          <p:cNvPr id="3" name="表格 2"/>
          <p:cNvGraphicFramePr>
            <a:graphicFrameLocks noGrp="1"/>
          </p:cNvGraphicFramePr>
          <p:nvPr/>
        </p:nvGraphicFramePr>
        <p:xfrm>
          <a:off x="642909" y="1052513"/>
          <a:ext cx="7889903" cy="5335973"/>
        </p:xfrm>
        <a:graphic>
          <a:graphicData uri="http://schemas.openxmlformats.org/drawingml/2006/table">
            <a:tbl>
              <a:tblPr/>
              <a:tblGrid>
                <a:gridCol w="741535"/>
                <a:gridCol w="741535"/>
                <a:gridCol w="1927990"/>
                <a:gridCol w="4478843"/>
              </a:tblGrid>
              <a:tr h="313304">
                <a:tc gridSpan="3">
                  <a:txBody>
                    <a:bodyPr/>
                    <a:lstStyle/>
                    <a:p>
                      <a:pPr algn="ctr">
                        <a:lnSpc>
                          <a:spcPct val="150000"/>
                        </a:lnSpc>
                        <a:spcAft>
                          <a:spcPts val="0"/>
                        </a:spcAft>
                      </a:pPr>
                      <a:r>
                        <a:rPr lang="zh-CN" sz="1400" b="1" kern="100" dirty="0">
                          <a:solidFill>
                            <a:srgbClr val="0000FF"/>
                          </a:solidFill>
                          <a:latin typeface="Times New Roman"/>
                          <a:ea typeface="宋体"/>
                        </a:rPr>
                        <a:t>组成部分</a:t>
                      </a:r>
                    </a:p>
                  </a:txBody>
                  <a:tcPr marL="14310" marR="14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a:txBody>
                    <a:bodyPr/>
                    <a:lstStyle/>
                    <a:p>
                      <a:pPr algn="ctr">
                        <a:lnSpc>
                          <a:spcPct val="150000"/>
                        </a:lnSpc>
                        <a:spcAft>
                          <a:spcPts val="0"/>
                        </a:spcAft>
                      </a:pPr>
                      <a:r>
                        <a:rPr lang="zh-CN" sz="1400" b="1" kern="100" dirty="0" smtClean="0">
                          <a:solidFill>
                            <a:srgbClr val="0000FF"/>
                          </a:solidFill>
                          <a:latin typeface="Times New Roman"/>
                          <a:ea typeface="宋体"/>
                        </a:rPr>
                        <a:t>功</a:t>
                      </a:r>
                      <a:r>
                        <a:rPr lang="en-US" altLang="zh-CN" sz="1400" b="1" kern="100" dirty="0" smtClean="0">
                          <a:solidFill>
                            <a:srgbClr val="0000FF"/>
                          </a:solidFill>
                          <a:latin typeface="Times New Roman"/>
                          <a:ea typeface="宋体"/>
                        </a:rPr>
                        <a:t>  </a:t>
                      </a:r>
                      <a:r>
                        <a:rPr lang="zh-CN" sz="1400" b="1" kern="100" dirty="0" smtClean="0">
                          <a:solidFill>
                            <a:srgbClr val="0000FF"/>
                          </a:solidFill>
                          <a:latin typeface="Times New Roman"/>
                          <a:ea typeface="宋体"/>
                        </a:rPr>
                        <a:t>用</a:t>
                      </a:r>
                      <a:endParaRPr lang="zh-CN" sz="1400" b="1" kern="100" dirty="0">
                        <a:solidFill>
                          <a:srgbClr val="0000FF"/>
                        </a:solidFill>
                        <a:latin typeface="Times New Roman"/>
                        <a:ea typeface="宋体"/>
                      </a:endParaRPr>
                    </a:p>
                  </a:txBody>
                  <a:tcPr marL="14310" marR="14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1934">
                <a:tc rowSpan="4">
                  <a:txBody>
                    <a:bodyPr/>
                    <a:lstStyle/>
                    <a:p>
                      <a:pPr algn="ctr">
                        <a:lnSpc>
                          <a:spcPct val="150000"/>
                        </a:lnSpc>
                        <a:spcAft>
                          <a:spcPts val="0"/>
                        </a:spcAft>
                      </a:pPr>
                      <a:r>
                        <a:rPr lang="zh-CN" sz="1400" b="1" kern="100" dirty="0" smtClean="0">
                          <a:solidFill>
                            <a:srgbClr val="0000FF"/>
                          </a:solidFill>
                          <a:latin typeface="Times New Roman"/>
                          <a:ea typeface="宋体"/>
                        </a:rPr>
                        <a:t>液压</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元件</a:t>
                      </a:r>
                      <a:endParaRPr lang="zh-CN" sz="1400" b="1" kern="100" dirty="0">
                        <a:solidFill>
                          <a:srgbClr val="0000FF"/>
                        </a:solidFill>
                        <a:latin typeface="Times New Roman"/>
                        <a:ea typeface="宋体"/>
                      </a:endParaRP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smtClean="0">
                          <a:solidFill>
                            <a:srgbClr val="0000FF"/>
                          </a:solidFill>
                          <a:latin typeface="Times New Roman"/>
                          <a:ea typeface="宋体"/>
                        </a:rPr>
                        <a:t>能源</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元件</a:t>
                      </a:r>
                      <a:endParaRPr lang="zh-CN" sz="1400" b="1" kern="100" dirty="0">
                        <a:solidFill>
                          <a:srgbClr val="0000FF"/>
                        </a:solidFill>
                        <a:latin typeface="Times New Roman"/>
                        <a:ea typeface="宋体"/>
                      </a:endParaRP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液压泵及其驱动原动机和电动机或内燃机</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将原动机产生的机械能转变为液体的压力能输出具有一定压力的油液</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54544">
                <a:tc vMerge="1">
                  <a:txBody>
                    <a:bodyPr/>
                    <a:lstStyle/>
                    <a:p>
                      <a:endParaRPr lang="zh-CN" altLang="en-US"/>
                    </a:p>
                  </a:txBody>
                  <a:tcPr/>
                </a:tc>
                <a:tc>
                  <a:txBody>
                    <a:bodyPr/>
                    <a:lstStyle/>
                    <a:p>
                      <a:pPr algn="ctr">
                        <a:lnSpc>
                          <a:spcPct val="150000"/>
                        </a:lnSpc>
                        <a:spcAft>
                          <a:spcPts val="0"/>
                        </a:spcAft>
                      </a:pPr>
                      <a:r>
                        <a:rPr lang="zh-CN" sz="1400" b="1" kern="100" dirty="0" smtClean="0">
                          <a:solidFill>
                            <a:srgbClr val="0000FF"/>
                          </a:solidFill>
                          <a:latin typeface="Times New Roman"/>
                          <a:ea typeface="宋体"/>
                        </a:rPr>
                        <a:t>控制</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元件</a:t>
                      </a:r>
                      <a:endParaRPr lang="zh-CN" sz="1400" b="1" kern="100" dirty="0">
                        <a:solidFill>
                          <a:srgbClr val="0000FF"/>
                        </a:solidFill>
                        <a:latin typeface="Times New Roman"/>
                        <a:ea typeface="宋体"/>
                      </a:endParaRP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压力阀、流量阀、方向阀、控制阀及其他控制元件</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控制调节液压系统中从泵到执行元件的油压力、流量和方向，从而控制执行器输出的力（力矩）速度（转速）和方向以保证执行器驱动的主机实现预定的运动规律</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9696">
                <a:tc vMerge="1">
                  <a:txBody>
                    <a:bodyPr/>
                    <a:lstStyle/>
                    <a:p>
                      <a:endParaRPr lang="zh-CN" altLang="en-US"/>
                    </a:p>
                  </a:txBody>
                  <a:tcPr/>
                </a:tc>
                <a:tc>
                  <a:txBody>
                    <a:bodyPr/>
                    <a:lstStyle/>
                    <a:p>
                      <a:pPr algn="ctr">
                        <a:lnSpc>
                          <a:spcPct val="150000"/>
                        </a:lnSpc>
                        <a:spcAft>
                          <a:spcPts val="0"/>
                        </a:spcAft>
                      </a:pPr>
                      <a:r>
                        <a:rPr lang="zh-CN" sz="1400" b="1" kern="100" dirty="0" smtClean="0">
                          <a:solidFill>
                            <a:srgbClr val="0000FF"/>
                          </a:solidFill>
                          <a:latin typeface="Times New Roman"/>
                          <a:ea typeface="宋体"/>
                        </a:rPr>
                        <a:t>执行</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元件</a:t>
                      </a:r>
                      <a:endParaRPr lang="zh-CN" sz="1400" b="1" kern="100" dirty="0">
                        <a:solidFill>
                          <a:srgbClr val="0000FF"/>
                        </a:solidFill>
                        <a:latin typeface="Times New Roman"/>
                        <a:ea typeface="宋体"/>
                      </a:endParaRP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液压缸、液压马达和摆动液压马达</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将液体的压力能转变为机械能，用以驱动工作机构的负载做功，实现往复直线运动，连续回转运动或摆动</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47825">
                <a:tc vMerge="1">
                  <a:txBody>
                    <a:bodyPr/>
                    <a:lstStyle/>
                    <a:p>
                      <a:endParaRPr lang="zh-CN" altLang="en-US"/>
                    </a:p>
                  </a:txBody>
                  <a:tcPr/>
                </a:tc>
                <a:tc>
                  <a:txBody>
                    <a:bodyPr/>
                    <a:lstStyle/>
                    <a:p>
                      <a:pPr algn="ctr">
                        <a:lnSpc>
                          <a:spcPct val="150000"/>
                        </a:lnSpc>
                        <a:spcAft>
                          <a:spcPts val="0"/>
                        </a:spcAft>
                      </a:pPr>
                      <a:r>
                        <a:rPr lang="zh-CN" sz="1400" b="1" kern="100" dirty="0" smtClean="0">
                          <a:solidFill>
                            <a:srgbClr val="0000FF"/>
                          </a:solidFill>
                          <a:latin typeface="Times New Roman"/>
                          <a:ea typeface="宋体"/>
                        </a:rPr>
                        <a:t>辅助</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元件</a:t>
                      </a:r>
                      <a:endParaRPr lang="zh-CN" sz="1400" b="1" kern="100" dirty="0">
                        <a:solidFill>
                          <a:srgbClr val="0000FF"/>
                        </a:solidFill>
                        <a:latin typeface="Times New Roman"/>
                        <a:ea typeface="宋体"/>
                      </a:endParaRP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油箱、管件、过滤器、热交换器、蓄能器、指示仪表等</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lnSpc>
                          <a:spcPct val="150000"/>
                        </a:lnSpc>
                        <a:spcAft>
                          <a:spcPts val="0"/>
                        </a:spcAft>
                      </a:pPr>
                      <a:r>
                        <a:rPr lang="zh-CN" sz="1400" b="1" kern="100" dirty="0">
                          <a:solidFill>
                            <a:srgbClr val="0000FF"/>
                          </a:solidFill>
                          <a:latin typeface="Times New Roman"/>
                          <a:ea typeface="宋体"/>
                        </a:rPr>
                        <a:t>用来存放提供和回收液压介质；实现液压元件之间的连接和传输载能液压介质；滤除液压介质中的杂质，保持系统正常运转所需的介质清洁度；系统加热和散热；储存、释放液压能或吸收液压脉动和冲击；显示系统压力或油温。</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1934">
                <a:tc>
                  <a:txBody>
                    <a:bodyPr/>
                    <a:lstStyle/>
                    <a:p>
                      <a:pPr algn="ctr">
                        <a:lnSpc>
                          <a:spcPct val="150000"/>
                        </a:lnSpc>
                        <a:spcAft>
                          <a:spcPts val="0"/>
                        </a:spcAft>
                      </a:pPr>
                      <a:r>
                        <a:rPr lang="zh-CN" sz="1400" b="1" kern="100" dirty="0" smtClean="0">
                          <a:solidFill>
                            <a:srgbClr val="0000FF"/>
                          </a:solidFill>
                          <a:latin typeface="Times New Roman"/>
                          <a:ea typeface="宋体"/>
                        </a:rPr>
                        <a:t>工作</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介质</a:t>
                      </a:r>
                      <a:endParaRPr lang="zh-CN" sz="1400" b="1" kern="100" dirty="0">
                        <a:solidFill>
                          <a:srgbClr val="0000FF"/>
                        </a:solidFill>
                        <a:latin typeface="Times New Roman"/>
                        <a:ea typeface="宋体"/>
                      </a:endParaRP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457200" algn="just">
                        <a:lnSpc>
                          <a:spcPct val="150000"/>
                        </a:lnSpc>
                        <a:spcAft>
                          <a:spcPts val="0"/>
                        </a:spcAft>
                      </a:pPr>
                      <a:r>
                        <a:rPr lang="zh-CN" sz="1400" b="1" kern="100" dirty="0">
                          <a:solidFill>
                            <a:srgbClr val="0000FF"/>
                          </a:solidFill>
                          <a:latin typeface="Times New Roman"/>
                          <a:ea typeface="宋体"/>
                        </a:rPr>
                        <a:t>液压油或其他合成液体</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indent="457200" algn="just">
                        <a:lnSpc>
                          <a:spcPct val="150000"/>
                        </a:lnSpc>
                        <a:spcAft>
                          <a:spcPts val="0"/>
                        </a:spcAft>
                      </a:pPr>
                      <a:r>
                        <a:rPr lang="zh-CN" sz="1400" b="1" kern="100" dirty="0">
                          <a:solidFill>
                            <a:srgbClr val="0000FF"/>
                          </a:solidFill>
                          <a:latin typeface="Times New Roman"/>
                          <a:ea typeface="宋体"/>
                        </a:rPr>
                        <a:t>作为系统的载能介质，在传递能量的同时并起润滑冷却作用</a:t>
                      </a:r>
                    </a:p>
                  </a:txBody>
                  <a:tcPr marL="14310" marR="14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9" y="1720840"/>
            <a:ext cx="7921624" cy="3416320"/>
          </a:xfrm>
          <a:prstGeom prst="rect">
            <a:avLst/>
          </a:prstGeom>
        </p:spPr>
        <p:txBody>
          <a:bodyPr wrap="square">
            <a:spAutoFit/>
          </a:bodyPr>
          <a:lstStyle/>
          <a:p>
            <a:r>
              <a:rPr lang="en-US" altLang="zh-CN" dirty="0" smtClean="0"/>
              <a:t>6.4	 </a:t>
            </a:r>
            <a:r>
              <a:rPr lang="zh-CN" altLang="en-US" dirty="0" smtClean="0"/>
              <a:t>公司使用泵站的基本常识</a:t>
            </a:r>
          </a:p>
          <a:p>
            <a:r>
              <a:rPr lang="en-US" altLang="zh-CN" dirty="0" smtClean="0"/>
              <a:t>6.4.1	</a:t>
            </a:r>
            <a:r>
              <a:rPr lang="zh-CN" altLang="en-US" dirty="0" smtClean="0"/>
              <a:t>泵站的种类</a:t>
            </a:r>
          </a:p>
          <a:p>
            <a:r>
              <a:rPr lang="zh-CN" altLang="en-US" dirty="0" smtClean="0"/>
              <a:t>（</a:t>
            </a:r>
            <a:r>
              <a:rPr lang="en-US" altLang="zh-CN" dirty="0" smtClean="0"/>
              <a:t>1</a:t>
            </a:r>
            <a:r>
              <a:rPr lang="zh-CN" altLang="en-US" dirty="0" smtClean="0"/>
              <a:t>） </a:t>
            </a:r>
            <a:r>
              <a:rPr lang="en-US" altLang="zh-CN" dirty="0" smtClean="0"/>
              <a:t>1250</a:t>
            </a:r>
            <a:r>
              <a:rPr lang="zh-CN" altLang="en-US" dirty="0" smtClean="0"/>
              <a:t>半自动</a:t>
            </a:r>
          </a:p>
          <a:p>
            <a:r>
              <a:rPr lang="zh-CN" altLang="en-US" dirty="0" smtClean="0"/>
              <a:t>（</a:t>
            </a:r>
            <a:r>
              <a:rPr lang="en-US" altLang="zh-CN" dirty="0" smtClean="0"/>
              <a:t>2</a:t>
            </a:r>
            <a:r>
              <a:rPr lang="zh-CN" altLang="en-US" dirty="0" smtClean="0"/>
              <a:t>） </a:t>
            </a:r>
            <a:r>
              <a:rPr lang="en-US" altLang="zh-CN" dirty="0" smtClean="0"/>
              <a:t>1250</a:t>
            </a:r>
            <a:r>
              <a:rPr lang="zh-CN" altLang="en-US" dirty="0" smtClean="0"/>
              <a:t>翻板一体</a:t>
            </a:r>
          </a:p>
          <a:p>
            <a:r>
              <a:rPr lang="zh-CN" altLang="en-US" dirty="0" smtClean="0"/>
              <a:t>（</a:t>
            </a:r>
            <a:r>
              <a:rPr lang="en-US" altLang="zh-CN" dirty="0" smtClean="0"/>
              <a:t>3</a:t>
            </a:r>
            <a:r>
              <a:rPr lang="zh-CN" altLang="en-US" dirty="0" smtClean="0"/>
              <a:t>） </a:t>
            </a:r>
            <a:r>
              <a:rPr lang="en-US" altLang="zh-CN" dirty="0" smtClean="0"/>
              <a:t>1500</a:t>
            </a:r>
            <a:r>
              <a:rPr lang="zh-CN" altLang="en-US" dirty="0" smtClean="0"/>
              <a:t>半自动</a:t>
            </a:r>
          </a:p>
          <a:p>
            <a:r>
              <a:rPr lang="zh-CN" altLang="en-US" dirty="0" smtClean="0"/>
              <a:t>（</a:t>
            </a:r>
            <a:r>
              <a:rPr lang="en-US" altLang="zh-CN" dirty="0" smtClean="0"/>
              <a:t>4</a:t>
            </a:r>
            <a:r>
              <a:rPr lang="zh-CN" altLang="en-US" dirty="0" smtClean="0"/>
              <a:t>） </a:t>
            </a:r>
            <a:r>
              <a:rPr lang="en-US" altLang="zh-CN" dirty="0" smtClean="0"/>
              <a:t>1500</a:t>
            </a:r>
            <a:r>
              <a:rPr lang="zh-CN" altLang="en-US" dirty="0" smtClean="0"/>
              <a:t>翻板一体</a:t>
            </a:r>
          </a:p>
          <a:p>
            <a:r>
              <a:rPr lang="zh-CN" altLang="en-US" dirty="0" smtClean="0"/>
              <a:t>（</a:t>
            </a:r>
            <a:r>
              <a:rPr lang="en-US" altLang="zh-CN" dirty="0" smtClean="0"/>
              <a:t>5</a:t>
            </a:r>
            <a:r>
              <a:rPr lang="zh-CN" altLang="en-US" dirty="0" smtClean="0"/>
              <a:t>） </a:t>
            </a:r>
            <a:r>
              <a:rPr lang="en-US" altLang="zh-CN" dirty="0" smtClean="0"/>
              <a:t>1500</a:t>
            </a:r>
            <a:r>
              <a:rPr lang="zh-CN" altLang="en-US" dirty="0" smtClean="0"/>
              <a:t>快开</a:t>
            </a:r>
          </a:p>
          <a:p>
            <a:r>
              <a:rPr lang="zh-CN" altLang="en-US" dirty="0" smtClean="0"/>
              <a:t>（</a:t>
            </a:r>
            <a:r>
              <a:rPr lang="en-US" altLang="zh-CN" dirty="0" smtClean="0"/>
              <a:t>6</a:t>
            </a:r>
            <a:r>
              <a:rPr lang="zh-CN" altLang="en-US" dirty="0" smtClean="0"/>
              <a:t>） </a:t>
            </a:r>
            <a:r>
              <a:rPr lang="en-US" altLang="zh-CN" dirty="0" smtClean="0"/>
              <a:t>1500</a:t>
            </a:r>
            <a:r>
              <a:rPr lang="zh-CN" altLang="en-US" dirty="0" smtClean="0"/>
              <a:t>快开翻板一体</a:t>
            </a:r>
          </a:p>
          <a:p>
            <a:r>
              <a:rPr lang="zh-CN" altLang="en-US" dirty="0" smtClean="0"/>
              <a:t>（</a:t>
            </a:r>
            <a:r>
              <a:rPr lang="en-US" altLang="zh-CN" dirty="0" smtClean="0"/>
              <a:t>7</a:t>
            </a:r>
            <a:r>
              <a:rPr lang="zh-CN" altLang="en-US" dirty="0" smtClean="0"/>
              <a:t>） </a:t>
            </a:r>
            <a:r>
              <a:rPr lang="en-US" altLang="zh-CN" dirty="0" smtClean="0"/>
              <a:t>2000</a:t>
            </a:r>
            <a:r>
              <a:rPr lang="zh-CN" altLang="en-US" dirty="0" smtClean="0"/>
              <a:t>快开</a:t>
            </a:r>
          </a:p>
          <a:p>
            <a:r>
              <a:rPr lang="zh-CN" altLang="en-US" dirty="0" smtClean="0"/>
              <a:t>（</a:t>
            </a:r>
            <a:r>
              <a:rPr lang="en-US" altLang="zh-CN" dirty="0" smtClean="0"/>
              <a:t>9</a:t>
            </a:r>
            <a:r>
              <a:rPr lang="zh-CN" altLang="en-US" dirty="0" smtClean="0"/>
              <a:t>） </a:t>
            </a:r>
            <a:r>
              <a:rPr lang="en-US" altLang="zh-CN" dirty="0" smtClean="0"/>
              <a:t>2000</a:t>
            </a:r>
            <a:r>
              <a:rPr lang="zh-CN" altLang="en-US" dirty="0" smtClean="0"/>
              <a:t>快开翻板一体</a:t>
            </a:r>
          </a:p>
          <a:p>
            <a:r>
              <a:rPr lang="zh-CN" altLang="en-US" dirty="0" smtClean="0"/>
              <a:t>（</a:t>
            </a:r>
            <a:r>
              <a:rPr lang="en-US" altLang="zh-CN" dirty="0" smtClean="0"/>
              <a:t>10</a:t>
            </a:r>
            <a:r>
              <a:rPr lang="zh-CN" altLang="en-US" dirty="0" smtClean="0"/>
              <a:t>）水洗振打</a:t>
            </a:r>
          </a:p>
          <a:p>
            <a:r>
              <a:rPr lang="zh-CN" altLang="en-US" dirty="0" smtClean="0"/>
              <a:t>（</a:t>
            </a:r>
            <a:r>
              <a:rPr lang="en-US" altLang="zh-CN" dirty="0" smtClean="0"/>
              <a:t>11</a:t>
            </a:r>
            <a:r>
              <a:rPr lang="zh-CN" altLang="en-US" dirty="0" smtClean="0"/>
              <a:t>）高悬梁泵站</a:t>
            </a:r>
            <a:endParaRPr lang="zh-CN" alt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052513"/>
            <a:ext cx="7921625" cy="1200329"/>
          </a:xfrm>
          <a:prstGeom prst="rect">
            <a:avLst/>
          </a:prstGeom>
        </p:spPr>
        <p:txBody>
          <a:bodyPr wrap="square">
            <a:spAutoFit/>
          </a:bodyPr>
          <a:lstStyle/>
          <a:p>
            <a:r>
              <a:rPr lang="en-US" altLang="zh-CN" dirty="0" smtClean="0"/>
              <a:t>6.4.2  </a:t>
            </a:r>
            <a:r>
              <a:rPr lang="zh-CN" altLang="en-US" dirty="0" smtClean="0"/>
              <a:t>液压泵站的组成部分</a:t>
            </a:r>
          </a:p>
          <a:p>
            <a:r>
              <a:rPr lang="zh-CN" altLang="en-US" dirty="0" smtClean="0"/>
              <a:t>液压泵站通常由液压泵组、油箱组件、控温组件、过滤器组件、蓄能器组件、基成块体及控制元件组成。</a:t>
            </a:r>
          </a:p>
          <a:p>
            <a:r>
              <a:rPr lang="zh-CN" altLang="en-US" dirty="0" smtClean="0"/>
              <a:t>液压泵站各组成元件的作用 见表</a:t>
            </a:r>
            <a:r>
              <a:rPr lang="en-US" altLang="zh-CN" dirty="0" smtClean="0"/>
              <a:t>6</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71471" y="1052513"/>
          <a:ext cx="7961341" cy="5329239"/>
        </p:xfrm>
        <a:graphic>
          <a:graphicData uri="http://schemas.openxmlformats.org/drawingml/2006/table">
            <a:tbl>
              <a:tblPr/>
              <a:tblGrid>
                <a:gridCol w="1428761"/>
                <a:gridCol w="6532580"/>
              </a:tblGrid>
              <a:tr h="417943">
                <a:tc>
                  <a:txBody>
                    <a:bodyPr/>
                    <a:lstStyle/>
                    <a:p>
                      <a:pPr algn="ctr">
                        <a:lnSpc>
                          <a:spcPct val="150000"/>
                        </a:lnSpc>
                        <a:spcAft>
                          <a:spcPts val="0"/>
                        </a:spcAft>
                      </a:pPr>
                      <a:r>
                        <a:rPr lang="zh-CN" sz="1400" b="1" kern="100" dirty="0">
                          <a:solidFill>
                            <a:srgbClr val="0000FF"/>
                          </a:solidFill>
                          <a:latin typeface="Times New Roman"/>
                          <a:ea typeface="宋体"/>
                        </a:rPr>
                        <a:t>组件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作用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7943">
                <a:tc>
                  <a:txBody>
                    <a:bodyPr/>
                    <a:lstStyle/>
                    <a:p>
                      <a:pPr algn="ctr">
                        <a:lnSpc>
                          <a:spcPct val="150000"/>
                        </a:lnSpc>
                        <a:spcAft>
                          <a:spcPts val="0"/>
                        </a:spcAft>
                      </a:pPr>
                      <a:r>
                        <a:rPr lang="zh-CN" sz="1400" b="1" kern="100" dirty="0">
                          <a:solidFill>
                            <a:srgbClr val="0000FF"/>
                          </a:solidFill>
                          <a:latin typeface="Times New Roman"/>
                          <a:ea typeface="宋体"/>
                        </a:rPr>
                        <a:t>电磁换向阀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是电磁铁操作的换向滑阀，用来控制液流的开启、停止和方向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7943">
                <a:tc>
                  <a:txBody>
                    <a:bodyPr/>
                    <a:lstStyle/>
                    <a:p>
                      <a:pPr algn="ctr">
                        <a:lnSpc>
                          <a:spcPct val="150000"/>
                        </a:lnSpc>
                        <a:spcAft>
                          <a:spcPts val="0"/>
                        </a:spcAft>
                      </a:pPr>
                      <a:r>
                        <a:rPr lang="zh-CN" sz="1400" b="1" kern="100" dirty="0">
                          <a:solidFill>
                            <a:srgbClr val="0000FF"/>
                          </a:solidFill>
                          <a:latin typeface="Times New Roman"/>
                          <a:ea typeface="宋体"/>
                        </a:rPr>
                        <a:t>单向阀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油液可以由</a:t>
                      </a: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至</a:t>
                      </a: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自由流动，通过向控制口</a:t>
                      </a:r>
                      <a:r>
                        <a:rPr lang="en-US" sz="1400" b="1" kern="100" dirty="0">
                          <a:solidFill>
                            <a:srgbClr val="0000FF"/>
                          </a:solidFill>
                          <a:latin typeface="Times New Roman"/>
                          <a:ea typeface="宋体"/>
                        </a:rPr>
                        <a:t>X</a:t>
                      </a:r>
                      <a:r>
                        <a:rPr lang="zh-CN" sz="1400" b="1" kern="100" dirty="0">
                          <a:solidFill>
                            <a:srgbClr val="0000FF"/>
                          </a:solidFill>
                          <a:latin typeface="Times New Roman"/>
                          <a:ea typeface="宋体"/>
                        </a:rPr>
                        <a:t>提供压力。油液由</a:t>
                      </a: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至</a:t>
                      </a: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流动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7943">
                <a:tc>
                  <a:txBody>
                    <a:bodyPr/>
                    <a:lstStyle/>
                    <a:p>
                      <a:pPr algn="ctr">
                        <a:lnSpc>
                          <a:spcPct val="150000"/>
                        </a:lnSpc>
                        <a:spcAft>
                          <a:spcPts val="0"/>
                        </a:spcAft>
                      </a:pPr>
                      <a:r>
                        <a:rPr lang="zh-CN" sz="1400" b="1" kern="100">
                          <a:solidFill>
                            <a:srgbClr val="0000FF"/>
                          </a:solidFill>
                          <a:latin typeface="Times New Roman"/>
                          <a:ea typeface="宋体"/>
                        </a:rPr>
                        <a:t>球阀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用于限制系统压力</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9061">
                <a:tc>
                  <a:txBody>
                    <a:bodyPr/>
                    <a:lstStyle/>
                    <a:p>
                      <a:pPr algn="ctr">
                        <a:lnSpc>
                          <a:spcPct val="150000"/>
                        </a:lnSpc>
                        <a:spcAft>
                          <a:spcPts val="0"/>
                        </a:spcAft>
                      </a:pPr>
                      <a:r>
                        <a:rPr lang="zh-CN" sz="1400" b="1" kern="100">
                          <a:solidFill>
                            <a:srgbClr val="0000FF"/>
                          </a:solidFill>
                          <a:latin typeface="Times New Roman"/>
                          <a:ea typeface="宋体"/>
                        </a:rPr>
                        <a:t>电液换向阀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是用电磁换向阀作为先导控制的滑阀式换向阀，用于控制液流的通断和流动方向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401">
                <a:tc>
                  <a:txBody>
                    <a:bodyPr/>
                    <a:lstStyle/>
                    <a:p>
                      <a:pPr algn="ctr">
                        <a:lnSpc>
                          <a:spcPct val="150000"/>
                        </a:lnSpc>
                        <a:spcAft>
                          <a:spcPts val="0"/>
                        </a:spcAft>
                      </a:pPr>
                      <a:r>
                        <a:rPr lang="zh-CN" sz="1400" b="1" kern="100">
                          <a:solidFill>
                            <a:srgbClr val="0000FF"/>
                          </a:solidFill>
                          <a:latin typeface="Times New Roman"/>
                          <a:ea typeface="宋体"/>
                        </a:rPr>
                        <a:t>电磁溢流阀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用电磁铁限制及卸荷系统压力</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401">
                <a:tc>
                  <a:txBody>
                    <a:bodyPr/>
                    <a:lstStyle/>
                    <a:p>
                      <a:pPr algn="ctr">
                        <a:lnSpc>
                          <a:spcPct val="150000"/>
                        </a:lnSpc>
                        <a:spcAft>
                          <a:spcPts val="0"/>
                        </a:spcAft>
                      </a:pPr>
                      <a:r>
                        <a:rPr lang="zh-CN" sz="1400" b="1" kern="100">
                          <a:solidFill>
                            <a:srgbClr val="0000FF"/>
                          </a:solidFill>
                          <a:latin typeface="Times New Roman"/>
                          <a:ea typeface="宋体"/>
                        </a:rPr>
                        <a:t>减压阀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用于二次油路控制压力，起减压作用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401">
                <a:tc>
                  <a:txBody>
                    <a:bodyPr/>
                    <a:lstStyle/>
                    <a:p>
                      <a:pPr algn="ctr">
                        <a:lnSpc>
                          <a:spcPct val="150000"/>
                        </a:lnSpc>
                        <a:spcAft>
                          <a:spcPts val="0"/>
                        </a:spcAft>
                      </a:pPr>
                      <a:r>
                        <a:rPr lang="zh-CN" sz="1400" b="1" kern="100">
                          <a:solidFill>
                            <a:srgbClr val="0000FF"/>
                          </a:solidFill>
                          <a:latin typeface="Times New Roman"/>
                          <a:ea typeface="宋体"/>
                        </a:rPr>
                        <a:t>调速阀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两通的流量控制阀</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401">
                <a:tc>
                  <a:txBody>
                    <a:bodyPr/>
                    <a:lstStyle/>
                    <a:p>
                      <a:pPr algn="ctr">
                        <a:lnSpc>
                          <a:spcPct val="150000"/>
                        </a:lnSpc>
                        <a:spcAft>
                          <a:spcPts val="0"/>
                        </a:spcAft>
                      </a:pPr>
                      <a:r>
                        <a:rPr lang="zh-CN" sz="1400" b="1" kern="100">
                          <a:solidFill>
                            <a:srgbClr val="0000FF"/>
                          </a:solidFill>
                          <a:latin typeface="Times New Roman"/>
                          <a:ea typeface="宋体"/>
                        </a:rPr>
                        <a:t>滤油器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过滤油液中的杂质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401">
                <a:tc>
                  <a:txBody>
                    <a:bodyPr/>
                    <a:lstStyle/>
                    <a:p>
                      <a:pPr algn="ctr">
                        <a:lnSpc>
                          <a:spcPct val="150000"/>
                        </a:lnSpc>
                        <a:spcAft>
                          <a:spcPts val="0"/>
                        </a:spcAft>
                      </a:pPr>
                      <a:r>
                        <a:rPr lang="zh-CN" sz="1400" b="1" kern="100">
                          <a:solidFill>
                            <a:srgbClr val="0000FF"/>
                          </a:solidFill>
                          <a:latin typeface="Times New Roman"/>
                          <a:ea typeface="宋体"/>
                        </a:rPr>
                        <a:t>滤位计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用于显示液压油的容量和温度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401">
                <a:tc>
                  <a:txBody>
                    <a:bodyPr/>
                    <a:lstStyle/>
                    <a:p>
                      <a:pPr algn="ctr">
                        <a:lnSpc>
                          <a:spcPct val="150000"/>
                        </a:lnSpc>
                        <a:spcAft>
                          <a:spcPts val="0"/>
                        </a:spcAft>
                      </a:pPr>
                      <a:r>
                        <a:rPr lang="zh-CN" sz="1400" b="1" kern="100" dirty="0">
                          <a:solidFill>
                            <a:srgbClr val="0000FF"/>
                          </a:solidFill>
                          <a:latin typeface="Times New Roman"/>
                          <a:ea typeface="宋体"/>
                        </a:rPr>
                        <a:t>空气滤清器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用于过滤加注的液压油</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11188" y="428604"/>
            <a:ext cx="2946640" cy="369332"/>
          </a:xfrm>
          <a:prstGeom prst="rect">
            <a:avLst/>
          </a:prstGeom>
        </p:spPr>
        <p:txBody>
          <a:bodyPr wrap="none">
            <a:spAutoFit/>
          </a:bodyPr>
          <a:lstStyle/>
          <a:p>
            <a:r>
              <a:rPr lang="zh-CN" altLang="en-US" dirty="0" smtClean="0"/>
              <a:t>表</a:t>
            </a:r>
            <a:r>
              <a:rPr lang="en-US" altLang="zh-CN" dirty="0" smtClean="0"/>
              <a:t>6  </a:t>
            </a:r>
            <a:r>
              <a:rPr lang="zh-CN" altLang="en-US" dirty="0" smtClean="0"/>
              <a:t>液压泵站各组件的作用</a:t>
            </a:r>
            <a:endParaRPr lang="zh-CN" alt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2361208"/>
            <a:ext cx="7921625" cy="923330"/>
          </a:xfrm>
          <a:prstGeom prst="rect">
            <a:avLst/>
          </a:prstGeom>
        </p:spPr>
        <p:txBody>
          <a:bodyPr wrap="square">
            <a:spAutoFit/>
          </a:bodyPr>
          <a:lstStyle/>
          <a:p>
            <a:r>
              <a:rPr lang="en-US" altLang="zh-CN" dirty="0" smtClean="0"/>
              <a:t>6.4.3  </a:t>
            </a:r>
            <a:r>
              <a:rPr lang="zh-CN" altLang="en-US" dirty="0" smtClean="0"/>
              <a:t>公司各种液压泵站所用阀件型号 见表</a:t>
            </a:r>
            <a:r>
              <a:rPr lang="en-US" altLang="zh-CN" dirty="0" smtClean="0"/>
              <a:t>7</a:t>
            </a:r>
          </a:p>
          <a:p>
            <a:endParaRPr lang="en-US" altLang="zh-CN" dirty="0" smtClean="0"/>
          </a:p>
          <a:p>
            <a:r>
              <a:rPr lang="zh-CN" altLang="en-US" dirty="0" smtClean="0"/>
              <a:t>表</a:t>
            </a:r>
            <a:r>
              <a:rPr lang="en-US" altLang="zh-CN" dirty="0" smtClean="0"/>
              <a:t>7  </a:t>
            </a:r>
            <a:r>
              <a:rPr lang="zh-CN" altLang="en-US" dirty="0" smtClean="0"/>
              <a:t>液压泵站阀件型号</a:t>
            </a:r>
            <a:endParaRPr lang="zh-CN" alt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428604"/>
            <a:ext cx="4570482" cy="369332"/>
          </a:xfrm>
          <a:prstGeom prst="rect">
            <a:avLst/>
          </a:prstGeom>
        </p:spPr>
        <p:txBody>
          <a:bodyPr wrap="none">
            <a:spAutoFit/>
          </a:bodyPr>
          <a:lstStyle/>
          <a:p>
            <a:r>
              <a:rPr lang="en-US" altLang="zh-CN" dirty="0" smtClean="0"/>
              <a:t>6.4.4	</a:t>
            </a:r>
            <a:r>
              <a:rPr lang="zh-CN" altLang="en-US" dirty="0" smtClean="0"/>
              <a:t>泵站中可能出现的故障及解决措施</a:t>
            </a:r>
            <a:endParaRPr lang="zh-CN" altLang="en-US" dirty="0"/>
          </a:p>
        </p:txBody>
      </p:sp>
      <p:graphicFrame>
        <p:nvGraphicFramePr>
          <p:cNvPr id="3" name="表格 2"/>
          <p:cNvGraphicFramePr>
            <a:graphicFrameLocks noGrp="1"/>
          </p:cNvGraphicFramePr>
          <p:nvPr/>
        </p:nvGraphicFramePr>
        <p:xfrm>
          <a:off x="611190" y="1071546"/>
          <a:ext cx="7921624" cy="5310204"/>
        </p:xfrm>
        <a:graphic>
          <a:graphicData uri="http://schemas.openxmlformats.org/drawingml/2006/table">
            <a:tbl>
              <a:tblPr/>
              <a:tblGrid>
                <a:gridCol w="1603356"/>
                <a:gridCol w="3159134"/>
                <a:gridCol w="3159134"/>
              </a:tblGrid>
              <a:tr h="630208">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出现故障的原因</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解决措施</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47119">
                <a:tc rowSpan="9">
                  <a:txBody>
                    <a:bodyPr/>
                    <a:lstStyle/>
                    <a:p>
                      <a:pPr algn="l">
                        <a:lnSpc>
                          <a:spcPct val="150000"/>
                        </a:lnSpc>
                        <a:spcAft>
                          <a:spcPts val="0"/>
                        </a:spcAft>
                      </a:pPr>
                      <a:r>
                        <a:rPr lang="zh-CN" sz="1400" b="1" kern="100" dirty="0">
                          <a:solidFill>
                            <a:srgbClr val="0000FF"/>
                          </a:solidFill>
                          <a:latin typeface="Times New Roman"/>
                          <a:ea typeface="宋体"/>
                        </a:rPr>
                        <a:t>油泵建立不起压力，流量不足</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是否泄油管泄油过多</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拧开泄油管目测判断，泄油如呈喷射状，则说明效率降低</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47119">
                <a:tc vMerge="1">
                  <a:txBody>
                    <a:bodyPr/>
                    <a:lstStyle/>
                    <a:p>
                      <a:endParaRPr lang="zh-CN" altLang="en-US"/>
                    </a:p>
                  </a:txBody>
                  <a:tcPr/>
                </a:tc>
                <a:tc>
                  <a:txBody>
                    <a:bodyPr/>
                    <a:lstStyle/>
                    <a:p>
                      <a:pPr algn="l">
                        <a:lnSpc>
                          <a:spcPct val="150000"/>
                        </a:lnSpc>
                        <a:spcAft>
                          <a:spcPts val="0"/>
                        </a:spcAft>
                      </a:pPr>
                      <a:r>
                        <a:rPr lang="zh-CN" sz="1400" b="1" kern="100" dirty="0">
                          <a:solidFill>
                            <a:srgbClr val="0000FF"/>
                          </a:solidFill>
                          <a:latin typeface="Times New Roman"/>
                          <a:ea typeface="宋体"/>
                        </a:rPr>
                        <a:t>油液中进水或混有杂质</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油液中进水呈乳白色，劣质油呈酱色或黑色柏油状</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304">
                <a:tc vMerge="1">
                  <a:txBody>
                    <a:bodyPr/>
                    <a:lstStyle/>
                    <a:p>
                      <a:endParaRPr lang="zh-CN" altLang="en-US"/>
                    </a:p>
                  </a:txBody>
                  <a:tcPr/>
                </a:tc>
                <a:tc>
                  <a:txBody>
                    <a:bodyPr/>
                    <a:lstStyle/>
                    <a:p>
                      <a:pPr algn="l">
                        <a:lnSpc>
                          <a:spcPct val="150000"/>
                        </a:lnSpc>
                        <a:spcAft>
                          <a:spcPts val="0"/>
                        </a:spcAft>
                      </a:pPr>
                      <a:r>
                        <a:rPr lang="zh-CN" sz="1400" b="1" kern="100">
                          <a:solidFill>
                            <a:srgbClr val="0000FF"/>
                          </a:solidFill>
                          <a:latin typeface="Times New Roman"/>
                          <a:ea typeface="宋体"/>
                        </a:rPr>
                        <a:t>进油口上安装的滤网堵塞</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清洗滤网</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6609">
                <a:tc vMerge="1">
                  <a:txBody>
                    <a:bodyPr/>
                    <a:lstStyle/>
                    <a:p>
                      <a:endParaRPr lang="zh-CN" altLang="en-US"/>
                    </a:p>
                  </a:txBody>
                  <a:tcPr/>
                </a:tc>
                <a:tc>
                  <a:txBody>
                    <a:bodyPr/>
                    <a:lstStyle/>
                    <a:p>
                      <a:pPr algn="l">
                        <a:lnSpc>
                          <a:spcPct val="150000"/>
                        </a:lnSpc>
                        <a:spcAft>
                          <a:spcPts val="0"/>
                        </a:spcAft>
                      </a:pPr>
                      <a:r>
                        <a:rPr lang="zh-CN" sz="1400" b="1" kern="100">
                          <a:solidFill>
                            <a:srgbClr val="0000FF"/>
                          </a:solidFill>
                          <a:latin typeface="Times New Roman"/>
                          <a:ea typeface="宋体"/>
                        </a:rPr>
                        <a:t>进油管道上漏气或有裂纹</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涂黄油检查，发现声音减小说明管道漏气</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559">
                <a:tc vMerge="1">
                  <a:txBody>
                    <a:bodyPr/>
                    <a:lstStyle/>
                    <a:p>
                      <a:endParaRPr lang="zh-CN" altLang="en-US"/>
                    </a:p>
                  </a:txBody>
                  <a:tcPr/>
                </a:tc>
                <a:tc>
                  <a:txBody>
                    <a:bodyPr/>
                    <a:lstStyle/>
                    <a:p>
                      <a:pPr algn="l">
                        <a:lnSpc>
                          <a:spcPct val="150000"/>
                        </a:lnSpc>
                        <a:spcAft>
                          <a:spcPts val="0"/>
                        </a:spcAft>
                      </a:pPr>
                      <a:r>
                        <a:rPr lang="zh-CN" sz="1400" b="1" kern="100">
                          <a:solidFill>
                            <a:srgbClr val="0000FF"/>
                          </a:solidFill>
                          <a:latin typeface="Times New Roman"/>
                          <a:ea typeface="宋体"/>
                        </a:rPr>
                        <a:t>油箱内油液不足</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按油箱要求加满油</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47119">
                <a:tc vMerge="1">
                  <a:txBody>
                    <a:bodyPr/>
                    <a:lstStyle/>
                    <a:p>
                      <a:endParaRPr lang="zh-CN" altLang="en-US"/>
                    </a:p>
                  </a:txBody>
                  <a:tcPr/>
                </a:tc>
                <a:tc>
                  <a:txBody>
                    <a:bodyPr/>
                    <a:lstStyle/>
                    <a:p>
                      <a:pPr algn="l">
                        <a:lnSpc>
                          <a:spcPct val="150000"/>
                        </a:lnSpc>
                        <a:spcAft>
                          <a:spcPts val="0"/>
                        </a:spcAft>
                      </a:pPr>
                      <a:r>
                        <a:rPr lang="zh-CN" sz="1400" b="1" kern="100">
                          <a:solidFill>
                            <a:srgbClr val="0000FF"/>
                          </a:solidFill>
                          <a:latin typeface="Times New Roman"/>
                          <a:ea typeface="宋体"/>
                        </a:rPr>
                        <a:t>溢流阀调整不当或阀及油缸内泄漏过大</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调整溢流阀或更换，油缸内泄漏过大表现为活塞杆爬行现象</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304">
                <a:tc vMerge="1">
                  <a:txBody>
                    <a:bodyPr/>
                    <a:lstStyle/>
                    <a:p>
                      <a:endParaRPr lang="zh-CN" altLang="en-US"/>
                    </a:p>
                  </a:txBody>
                  <a:tcPr/>
                </a:tc>
                <a:tc>
                  <a:txBody>
                    <a:bodyPr/>
                    <a:lstStyle/>
                    <a:p>
                      <a:pPr algn="l">
                        <a:lnSpc>
                          <a:spcPct val="150000"/>
                        </a:lnSpc>
                        <a:spcAft>
                          <a:spcPts val="0"/>
                        </a:spcAft>
                      </a:pPr>
                      <a:r>
                        <a:rPr lang="zh-CN" sz="1400" b="1" kern="100">
                          <a:solidFill>
                            <a:srgbClr val="0000FF"/>
                          </a:solidFill>
                          <a:latin typeface="Times New Roman"/>
                          <a:ea typeface="宋体"/>
                        </a:rPr>
                        <a:t>电磁换向阀不换向</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调换或更换</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559">
                <a:tc vMerge="1">
                  <a:txBody>
                    <a:bodyPr/>
                    <a:lstStyle/>
                    <a:p>
                      <a:endParaRPr lang="zh-CN" altLang="en-US"/>
                    </a:p>
                  </a:txBody>
                  <a:tcPr/>
                </a:tc>
                <a:tc>
                  <a:txBody>
                    <a:bodyPr/>
                    <a:lstStyle/>
                    <a:p>
                      <a:pPr algn="l">
                        <a:lnSpc>
                          <a:spcPct val="150000"/>
                        </a:lnSpc>
                        <a:spcAft>
                          <a:spcPts val="0"/>
                        </a:spcAft>
                      </a:pPr>
                      <a:r>
                        <a:rPr lang="zh-CN" sz="1400" b="1" kern="100">
                          <a:solidFill>
                            <a:srgbClr val="0000FF"/>
                          </a:solidFill>
                          <a:latin typeface="Times New Roman"/>
                          <a:ea typeface="宋体"/>
                        </a:rPr>
                        <a:t>油液粘度过大或油温过低</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更换粘度较低的油或将油箱加热</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304">
                <a:tc vMerge="1">
                  <a:txBody>
                    <a:bodyPr/>
                    <a:lstStyle/>
                    <a:p>
                      <a:endParaRPr lang="zh-CN" altLang="en-US"/>
                    </a:p>
                  </a:txBody>
                  <a:tcPr/>
                </a:tc>
                <a:tc>
                  <a:txBody>
                    <a:bodyPr/>
                    <a:lstStyle/>
                    <a:p>
                      <a:pPr algn="l">
                        <a:lnSpc>
                          <a:spcPct val="150000"/>
                        </a:lnSpc>
                        <a:spcAft>
                          <a:spcPts val="0"/>
                        </a:spcAft>
                      </a:pPr>
                      <a:r>
                        <a:rPr lang="zh-CN" sz="1400" b="1" kern="100">
                          <a:solidFill>
                            <a:srgbClr val="0000FF"/>
                          </a:solidFill>
                          <a:latin typeface="Times New Roman"/>
                          <a:ea typeface="宋体"/>
                        </a:rPr>
                        <a:t>电器部分故障</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400" b="1" kern="100" dirty="0">
                          <a:solidFill>
                            <a:srgbClr val="0000FF"/>
                          </a:solidFill>
                          <a:latin typeface="Times New Roman"/>
                          <a:ea typeface="宋体"/>
                        </a:rPr>
                        <a:t>电工修理</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1052513"/>
          <a:ext cx="7961342" cy="5263416"/>
        </p:xfrm>
        <a:graphic>
          <a:graphicData uri="http://schemas.openxmlformats.org/drawingml/2006/table">
            <a:tbl>
              <a:tblPr/>
              <a:tblGrid>
                <a:gridCol w="1603358"/>
                <a:gridCol w="3178992"/>
                <a:gridCol w="3178992"/>
              </a:tblGrid>
              <a:tr h="905440">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出现故障的原因</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解决措施</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17400">
                <a:tc rowSpan="5">
                  <a:txBody>
                    <a:bodyPr/>
                    <a:lstStyle/>
                    <a:p>
                      <a:pPr algn="ctr">
                        <a:lnSpc>
                          <a:spcPct val="150000"/>
                        </a:lnSpc>
                        <a:spcAft>
                          <a:spcPts val="0"/>
                        </a:spcAft>
                      </a:pPr>
                      <a:r>
                        <a:rPr lang="zh-CN" sz="1600" b="1" kern="100" dirty="0">
                          <a:solidFill>
                            <a:srgbClr val="0000FF"/>
                          </a:solidFill>
                          <a:latin typeface="Times New Roman"/>
                          <a:ea typeface="宋体"/>
                        </a:rPr>
                        <a:t>不保压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液控单向阀内有赃物或磨损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用柴油清洗或更换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6523">
                <a:tc vMerge="1">
                  <a:txBody>
                    <a:bodyPr/>
                    <a:lstStyle/>
                    <a:p>
                      <a:endParaRPr lang="zh-CN" altLang="en-US"/>
                    </a:p>
                  </a:txBody>
                  <a:tcPr/>
                </a:tc>
                <a:tc>
                  <a:txBody>
                    <a:bodyPr/>
                    <a:lstStyle/>
                    <a:p>
                      <a:pPr algn="just">
                        <a:lnSpc>
                          <a:spcPct val="150000"/>
                        </a:lnSpc>
                        <a:spcAft>
                          <a:spcPts val="0"/>
                        </a:spcAft>
                      </a:pPr>
                      <a:r>
                        <a:rPr lang="zh-CN" sz="1600" b="1" kern="100" dirty="0">
                          <a:solidFill>
                            <a:srgbClr val="0000FF"/>
                          </a:solidFill>
                          <a:latin typeface="Times New Roman"/>
                          <a:ea typeface="宋体"/>
                        </a:rPr>
                        <a:t>球阀内有赃物或磨损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用柴油清洗或更换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17400">
                <a:tc vMerge="1">
                  <a:txBody>
                    <a:bodyPr/>
                    <a:lstStyle/>
                    <a:p>
                      <a:endParaRPr lang="zh-CN" altLang="en-US"/>
                    </a:p>
                  </a:txBody>
                  <a:tcPr/>
                </a:tc>
                <a:tc>
                  <a:txBody>
                    <a:bodyPr/>
                    <a:lstStyle/>
                    <a:p>
                      <a:pPr algn="just">
                        <a:lnSpc>
                          <a:spcPct val="150000"/>
                        </a:lnSpc>
                        <a:spcAft>
                          <a:spcPts val="0"/>
                        </a:spcAft>
                      </a:pPr>
                      <a:r>
                        <a:rPr lang="zh-CN" sz="1600" b="1" kern="100" dirty="0">
                          <a:solidFill>
                            <a:srgbClr val="0000FF"/>
                          </a:solidFill>
                          <a:latin typeface="Times New Roman"/>
                          <a:ea typeface="宋体"/>
                        </a:rPr>
                        <a:t>油缸内活塞杆部分油封磨损或活塞杆与活塞之间连接处</a:t>
                      </a:r>
                      <a:r>
                        <a:rPr lang="en-US" sz="1600" b="1" kern="100" dirty="0">
                          <a:solidFill>
                            <a:srgbClr val="0000FF"/>
                          </a:solidFill>
                          <a:latin typeface="Times New Roman"/>
                          <a:ea typeface="宋体"/>
                        </a:rPr>
                        <a:t>O</a:t>
                      </a:r>
                      <a:r>
                        <a:rPr lang="zh-CN" sz="1600" b="1" kern="100" dirty="0">
                          <a:solidFill>
                            <a:srgbClr val="0000FF"/>
                          </a:solidFill>
                          <a:latin typeface="Times New Roman"/>
                          <a:ea typeface="宋体"/>
                        </a:rPr>
                        <a:t>型圈损坏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更换油封或</a:t>
                      </a:r>
                      <a:r>
                        <a:rPr lang="en-US" sz="1600" b="1" kern="100" dirty="0">
                          <a:solidFill>
                            <a:srgbClr val="0000FF"/>
                          </a:solidFill>
                          <a:latin typeface="Times New Roman"/>
                          <a:ea typeface="宋体"/>
                        </a:rPr>
                        <a:t>O</a:t>
                      </a:r>
                      <a:r>
                        <a:rPr lang="zh-CN" sz="1600" b="1" kern="100" dirty="0">
                          <a:solidFill>
                            <a:srgbClr val="0000FF"/>
                          </a:solidFill>
                          <a:latin typeface="Times New Roman"/>
                          <a:ea typeface="宋体"/>
                        </a:rPr>
                        <a:t>型圈</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9253">
                <a:tc vMerge="1">
                  <a:txBody>
                    <a:bodyPr/>
                    <a:lstStyle/>
                    <a:p>
                      <a:endParaRPr lang="zh-CN" altLang="en-US"/>
                    </a:p>
                  </a:txBody>
                  <a:tcPr/>
                </a:tc>
                <a:tc>
                  <a:txBody>
                    <a:bodyPr/>
                    <a:lstStyle/>
                    <a:p>
                      <a:pPr algn="just">
                        <a:lnSpc>
                          <a:spcPct val="150000"/>
                        </a:lnSpc>
                        <a:spcAft>
                          <a:spcPts val="0"/>
                        </a:spcAft>
                      </a:pPr>
                      <a:r>
                        <a:rPr lang="zh-CN" sz="1600" b="1" kern="100">
                          <a:solidFill>
                            <a:srgbClr val="0000FF"/>
                          </a:solidFill>
                          <a:latin typeface="Times New Roman"/>
                          <a:ea typeface="宋体"/>
                        </a:rPr>
                        <a:t>管路泄漏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检查管路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17400">
                <a:tc vMerge="1">
                  <a:txBody>
                    <a:bodyPr/>
                    <a:lstStyle/>
                    <a:p>
                      <a:endParaRPr lang="zh-CN" altLang="en-US"/>
                    </a:p>
                  </a:txBody>
                  <a:tcPr/>
                </a:tc>
                <a:tc>
                  <a:txBody>
                    <a:bodyPr/>
                    <a:lstStyle/>
                    <a:p>
                      <a:pPr algn="just">
                        <a:lnSpc>
                          <a:spcPct val="150000"/>
                        </a:lnSpc>
                        <a:spcAft>
                          <a:spcPts val="0"/>
                        </a:spcAft>
                      </a:pPr>
                      <a:r>
                        <a:rPr lang="zh-CN" sz="1600" b="1" kern="100">
                          <a:solidFill>
                            <a:srgbClr val="0000FF"/>
                          </a:solidFill>
                          <a:latin typeface="Times New Roman"/>
                          <a:ea typeface="宋体"/>
                        </a:rPr>
                        <a:t>油路</a:t>
                      </a:r>
                      <a:r>
                        <a:rPr lang="en-US" sz="1600" b="1" kern="100">
                          <a:solidFill>
                            <a:srgbClr val="0000FF"/>
                          </a:solidFill>
                          <a:latin typeface="Times New Roman"/>
                          <a:ea typeface="宋体"/>
                        </a:rPr>
                        <a:t>A</a:t>
                      </a:r>
                      <a:r>
                        <a:rPr lang="zh-CN" sz="1600" b="1" kern="100">
                          <a:solidFill>
                            <a:srgbClr val="0000FF"/>
                          </a:solidFill>
                          <a:latin typeface="Times New Roman"/>
                          <a:ea typeface="宋体"/>
                        </a:rPr>
                        <a:t>、</a:t>
                      </a:r>
                      <a:r>
                        <a:rPr lang="en-US" sz="1600" b="1" kern="100">
                          <a:solidFill>
                            <a:srgbClr val="0000FF"/>
                          </a:solidFill>
                          <a:latin typeface="Times New Roman"/>
                          <a:ea typeface="宋体"/>
                        </a:rPr>
                        <a:t>B</a:t>
                      </a:r>
                      <a:r>
                        <a:rPr lang="zh-CN" sz="1600" b="1" kern="100">
                          <a:solidFill>
                            <a:srgbClr val="0000FF"/>
                          </a:solidFill>
                          <a:latin typeface="Times New Roman"/>
                          <a:ea typeface="宋体"/>
                        </a:rPr>
                        <a:t>接反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纠正</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11188" y="500042"/>
            <a:ext cx="4570482" cy="369332"/>
          </a:xfrm>
          <a:prstGeom prst="rect">
            <a:avLst/>
          </a:prstGeom>
        </p:spPr>
        <p:txBody>
          <a:bodyPr wrap="none">
            <a:spAutoFit/>
          </a:bodyPr>
          <a:lstStyle/>
          <a:p>
            <a:r>
              <a:rPr lang="en-US" altLang="zh-CN" dirty="0" smtClean="0"/>
              <a:t>6.4.4	</a:t>
            </a:r>
            <a:r>
              <a:rPr lang="zh-CN" altLang="en-US" dirty="0" smtClean="0"/>
              <a:t>泵站中可能出现的故障及解决措施</a:t>
            </a:r>
            <a:endParaRPr lang="zh-CN" alt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1052513"/>
          <a:ext cx="7961341" cy="5224537"/>
        </p:xfrm>
        <a:graphic>
          <a:graphicData uri="http://schemas.openxmlformats.org/drawingml/2006/table">
            <a:tbl>
              <a:tblPr/>
              <a:tblGrid>
                <a:gridCol w="1643075"/>
                <a:gridCol w="3159133"/>
                <a:gridCol w="3159133"/>
              </a:tblGrid>
              <a:tr h="590537">
                <a:tc>
                  <a:txBody>
                    <a:bodyPr/>
                    <a:lstStyle/>
                    <a:p>
                      <a:pPr algn="ctr">
                        <a:lnSpc>
                          <a:spcPct val="150000"/>
                        </a:lnSpc>
                        <a:spcAft>
                          <a:spcPts val="0"/>
                        </a:spcAft>
                      </a:pPr>
                      <a:r>
                        <a:rPr lang="zh-CN" sz="1400" b="1" kern="100" dirty="0">
                          <a:solidFill>
                            <a:srgbClr val="0000FF"/>
                          </a:solidFill>
                          <a:latin typeface="Times New Roman"/>
                          <a:ea typeface="宋体"/>
                        </a:rPr>
                        <a:t>故障</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出现故障的原因</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解决措施</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8">
                <a:tc rowSpan="8">
                  <a:txBody>
                    <a:bodyPr/>
                    <a:lstStyle/>
                    <a:p>
                      <a:pPr algn="ctr">
                        <a:lnSpc>
                          <a:spcPct val="150000"/>
                        </a:lnSpc>
                        <a:spcAft>
                          <a:spcPts val="0"/>
                        </a:spcAft>
                      </a:pPr>
                      <a:r>
                        <a:rPr lang="zh-CN" sz="1600" b="1" kern="100" dirty="0">
                          <a:solidFill>
                            <a:srgbClr val="0000FF"/>
                          </a:solidFill>
                          <a:latin typeface="Times New Roman"/>
                          <a:ea typeface="宋体"/>
                        </a:rPr>
                        <a:t>油泵噪音过大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油泵内油液未加或未加满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重新加油</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91055">
                <a:tc vMerge="1">
                  <a:txBody>
                    <a:bodyPr/>
                    <a:lstStyle/>
                    <a:p>
                      <a:endParaRPr lang="zh-CN" altLang="en-US"/>
                    </a:p>
                  </a:txBody>
                  <a:tcPr/>
                </a:tc>
                <a:tc>
                  <a:txBody>
                    <a:bodyPr/>
                    <a:lstStyle/>
                    <a:p>
                      <a:pPr algn="just">
                        <a:lnSpc>
                          <a:spcPct val="150000"/>
                        </a:lnSpc>
                        <a:spcAft>
                          <a:spcPts val="0"/>
                        </a:spcAft>
                      </a:pPr>
                      <a:r>
                        <a:rPr lang="zh-CN" sz="1600" b="1" kern="100" dirty="0">
                          <a:solidFill>
                            <a:srgbClr val="0000FF"/>
                          </a:solidFill>
                          <a:latin typeface="Times New Roman"/>
                          <a:ea typeface="宋体"/>
                        </a:rPr>
                        <a:t>油液粘度过大，油温低于允许的工作温度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更换合适粘度的油液或起动前预热油液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0352">
                <a:tc vMerge="1">
                  <a:txBody>
                    <a:bodyPr/>
                    <a:lstStyle/>
                    <a:p>
                      <a:endParaRPr lang="zh-CN" altLang="en-US"/>
                    </a:p>
                  </a:txBody>
                  <a:tcPr/>
                </a:tc>
                <a:tc>
                  <a:txBody>
                    <a:bodyPr/>
                    <a:lstStyle/>
                    <a:p>
                      <a:pPr algn="just">
                        <a:lnSpc>
                          <a:spcPct val="150000"/>
                        </a:lnSpc>
                        <a:spcAft>
                          <a:spcPts val="0"/>
                        </a:spcAft>
                      </a:pPr>
                      <a:r>
                        <a:rPr lang="zh-CN" sz="1600" b="1" kern="100">
                          <a:solidFill>
                            <a:srgbClr val="0000FF"/>
                          </a:solidFill>
                          <a:latin typeface="Times New Roman"/>
                          <a:ea typeface="宋体"/>
                        </a:rPr>
                        <a:t>油液进水或混有杂质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更换油液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0705">
                <a:tc vMerge="1">
                  <a:txBody>
                    <a:bodyPr/>
                    <a:lstStyle/>
                    <a:p>
                      <a:endParaRPr lang="zh-CN" altLang="en-US"/>
                    </a:p>
                  </a:txBody>
                  <a:tcPr/>
                </a:tc>
                <a:tc>
                  <a:txBody>
                    <a:bodyPr/>
                    <a:lstStyle/>
                    <a:p>
                      <a:pPr algn="just">
                        <a:lnSpc>
                          <a:spcPct val="150000"/>
                        </a:lnSpc>
                        <a:spcAft>
                          <a:spcPts val="0"/>
                        </a:spcAft>
                      </a:pPr>
                      <a:r>
                        <a:rPr lang="zh-CN" sz="1600" b="1" kern="100">
                          <a:solidFill>
                            <a:srgbClr val="0000FF"/>
                          </a:solidFill>
                          <a:latin typeface="Times New Roman"/>
                          <a:ea typeface="宋体"/>
                        </a:rPr>
                        <a:t>吸入通道上阻力太大，过滤网部分堵塞</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减少吸入通道阻力，更换清洗滤网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5528">
                <a:tc vMerge="1">
                  <a:txBody>
                    <a:bodyPr/>
                    <a:lstStyle/>
                    <a:p>
                      <a:endParaRPr lang="zh-CN" altLang="en-US"/>
                    </a:p>
                  </a:txBody>
                  <a:tcPr/>
                </a:tc>
                <a:tc>
                  <a:txBody>
                    <a:bodyPr/>
                    <a:lstStyle/>
                    <a:p>
                      <a:pPr algn="just">
                        <a:lnSpc>
                          <a:spcPct val="150000"/>
                        </a:lnSpc>
                        <a:spcAft>
                          <a:spcPts val="0"/>
                        </a:spcAft>
                      </a:pPr>
                      <a:r>
                        <a:rPr lang="zh-CN" sz="1600" b="1" kern="100">
                          <a:solidFill>
                            <a:srgbClr val="0000FF"/>
                          </a:solidFill>
                          <a:latin typeface="Times New Roman"/>
                          <a:ea typeface="宋体"/>
                        </a:rPr>
                        <a:t>吸入通道上漏气</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排除漏气（用黄油检查）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01852">
                <a:tc vMerge="1">
                  <a:txBody>
                    <a:bodyPr/>
                    <a:lstStyle/>
                    <a:p>
                      <a:endParaRPr lang="zh-CN" altLang="en-US"/>
                    </a:p>
                  </a:txBody>
                  <a:tcPr>
                    <a:lnT w="12700" cap="flat" cmpd="sng" algn="ctr">
                      <a:solidFill>
                        <a:srgbClr val="000000"/>
                      </a:solidFill>
                      <a:prstDash val="solid"/>
                      <a:round/>
                      <a:headEnd type="none" w="med" len="med"/>
                      <a:tailEnd type="none" w="med" len="med"/>
                    </a:lnT>
                  </a:tcPr>
                </a:tc>
                <a:tc>
                  <a:txBody>
                    <a:bodyPr/>
                    <a:lstStyle/>
                    <a:p>
                      <a:pPr algn="just">
                        <a:lnSpc>
                          <a:spcPct val="150000"/>
                        </a:lnSpc>
                        <a:spcAft>
                          <a:spcPts val="0"/>
                        </a:spcAft>
                      </a:pPr>
                      <a:r>
                        <a:rPr lang="zh-CN" sz="1600" b="1" kern="100">
                          <a:solidFill>
                            <a:srgbClr val="0000FF"/>
                          </a:solidFill>
                          <a:latin typeface="Times New Roman"/>
                          <a:ea typeface="宋体"/>
                        </a:rPr>
                        <a:t>油箱中油液不足或泄漏管没有插到液面以下</a:t>
                      </a: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适当增加油液，使液面在规定范围内，将泄油管插到液面下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0352">
                <a:tc vMerge="1">
                  <a:txBody>
                    <a:bodyPr/>
                    <a:lstStyle/>
                    <a:p>
                      <a:endParaRPr lang="zh-CN" altLang="en-US"/>
                    </a:p>
                  </a:txBody>
                  <a:tcPr/>
                </a:tc>
                <a:tc>
                  <a:txBody>
                    <a:bodyPr/>
                    <a:lstStyle/>
                    <a:p>
                      <a:pPr algn="just">
                        <a:lnSpc>
                          <a:spcPct val="150000"/>
                        </a:lnSpc>
                        <a:spcAft>
                          <a:spcPts val="0"/>
                        </a:spcAft>
                      </a:pPr>
                      <a:r>
                        <a:rPr lang="zh-CN" sz="1600" b="1" kern="100">
                          <a:solidFill>
                            <a:srgbClr val="0000FF"/>
                          </a:solidFill>
                          <a:latin typeface="Times New Roman"/>
                          <a:ea typeface="宋体"/>
                        </a:rPr>
                        <a:t>油管中通气孔被堵</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清洗油箱上的通气孔</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5528">
                <a:tc vMerge="1">
                  <a:txBody>
                    <a:bodyPr/>
                    <a:lstStyle/>
                    <a:p>
                      <a:endParaRPr lang="zh-CN" altLang="en-US"/>
                    </a:p>
                  </a:txBody>
                  <a:tcPr/>
                </a:tc>
                <a:tc>
                  <a:txBody>
                    <a:bodyPr/>
                    <a:lstStyle/>
                    <a:p>
                      <a:pPr algn="just">
                        <a:lnSpc>
                          <a:spcPct val="150000"/>
                        </a:lnSpc>
                        <a:spcAft>
                          <a:spcPts val="0"/>
                        </a:spcAft>
                      </a:pPr>
                      <a:r>
                        <a:rPr lang="zh-CN" sz="1600" b="1" kern="100">
                          <a:solidFill>
                            <a:srgbClr val="0000FF"/>
                          </a:solidFill>
                          <a:latin typeface="Times New Roman"/>
                          <a:ea typeface="宋体"/>
                        </a:rPr>
                        <a:t>系统管路振动频繁</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600" b="1" kern="100" dirty="0">
                          <a:solidFill>
                            <a:srgbClr val="0000FF"/>
                          </a:solidFill>
                          <a:latin typeface="Times New Roman"/>
                          <a:ea typeface="宋体"/>
                        </a:rPr>
                        <a:t>减振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11188" y="500042"/>
            <a:ext cx="4570482" cy="369332"/>
          </a:xfrm>
          <a:prstGeom prst="rect">
            <a:avLst/>
          </a:prstGeom>
        </p:spPr>
        <p:txBody>
          <a:bodyPr wrap="none">
            <a:spAutoFit/>
          </a:bodyPr>
          <a:lstStyle/>
          <a:p>
            <a:r>
              <a:rPr lang="en-US" altLang="zh-CN" dirty="0" smtClean="0"/>
              <a:t>6.4.4	</a:t>
            </a:r>
            <a:r>
              <a:rPr lang="zh-CN" altLang="en-US" dirty="0" smtClean="0"/>
              <a:t>泵站中可能出现的故障及解决措施</a:t>
            </a:r>
            <a:endParaRPr lang="zh-CN" alt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91329" y="1060402"/>
          <a:ext cx="7961341" cy="5321348"/>
        </p:xfrm>
        <a:graphic>
          <a:graphicData uri="http://schemas.openxmlformats.org/drawingml/2006/table">
            <a:tbl>
              <a:tblPr/>
              <a:tblGrid>
                <a:gridCol w="1551779"/>
                <a:gridCol w="3204781"/>
                <a:gridCol w="3204781"/>
              </a:tblGrid>
              <a:tr h="559199">
                <a:tc>
                  <a:txBody>
                    <a:bodyPr/>
                    <a:lstStyle/>
                    <a:p>
                      <a:pPr algn="ctr">
                        <a:lnSpc>
                          <a:spcPct val="150000"/>
                        </a:lnSpc>
                        <a:spcAft>
                          <a:spcPts val="0"/>
                        </a:spcAft>
                      </a:pPr>
                      <a:r>
                        <a:rPr lang="zh-CN" sz="1400" b="1" kern="100" dirty="0" smtClean="0">
                          <a:solidFill>
                            <a:srgbClr val="0000FF"/>
                          </a:solidFill>
                          <a:latin typeface="Times New Roman"/>
                          <a:ea typeface="宋体"/>
                        </a:rPr>
                        <a:t>故</a:t>
                      </a:r>
                      <a:r>
                        <a:rPr lang="en-US" altLang="zh-CN" sz="1400" b="1" kern="100" dirty="0" smtClean="0">
                          <a:solidFill>
                            <a:srgbClr val="0000FF"/>
                          </a:solidFill>
                          <a:latin typeface="Times New Roman"/>
                          <a:ea typeface="宋体"/>
                        </a:rPr>
                        <a:t>  </a:t>
                      </a:r>
                      <a:r>
                        <a:rPr lang="zh-CN" sz="1400" b="1" kern="100" dirty="0" smtClean="0">
                          <a:solidFill>
                            <a:srgbClr val="0000FF"/>
                          </a:solidFill>
                          <a:latin typeface="Times New Roman"/>
                          <a:ea typeface="宋体"/>
                        </a:rPr>
                        <a:t>障</a:t>
                      </a:r>
                      <a:endParaRPr lang="zh-CN" sz="1400" b="1" kern="100" dirty="0">
                        <a:solidFill>
                          <a:srgbClr val="0000FF"/>
                        </a:solidFill>
                        <a:latin typeface="Times New Roman"/>
                        <a:ea typeface="宋体"/>
                      </a:endParaRP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出现故障的原因</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解决措施</a:t>
                      </a:r>
                    </a:p>
                  </a:txBody>
                  <a:tcPr marL="44174" marR="441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97191">
                <a:tc>
                  <a:txBody>
                    <a:bodyPr/>
                    <a:lstStyle/>
                    <a:p>
                      <a:pPr algn="ctr">
                        <a:lnSpc>
                          <a:spcPct val="150000"/>
                        </a:lnSpc>
                        <a:spcAft>
                          <a:spcPts val="0"/>
                        </a:spcAft>
                      </a:pPr>
                      <a:r>
                        <a:rPr lang="zh-CN" sz="1400" b="1" kern="100" dirty="0">
                          <a:solidFill>
                            <a:srgbClr val="0000FF"/>
                          </a:solidFill>
                          <a:latin typeface="Times New Roman"/>
                          <a:ea typeface="宋体"/>
                        </a:rPr>
                        <a:t>正常工作过程中</a:t>
                      </a:r>
                      <a:r>
                        <a:rPr lang="zh-CN" sz="1400" b="1" kern="100" dirty="0" smtClean="0">
                          <a:solidFill>
                            <a:srgbClr val="0000FF"/>
                          </a:solidFill>
                          <a:latin typeface="Times New Roman"/>
                          <a:ea typeface="宋体"/>
                        </a:rPr>
                        <a:t>油泵</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突然</a:t>
                      </a:r>
                      <a:r>
                        <a:rPr lang="zh-CN" sz="1400" b="1" kern="100" dirty="0">
                          <a:solidFill>
                            <a:srgbClr val="0000FF"/>
                          </a:solidFill>
                          <a:latin typeface="Times New Roman"/>
                          <a:ea typeface="宋体"/>
                        </a:rPr>
                        <a:t>噪音增大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多数因为柱塞和滑靴铆合松动，或油泵内部零件损坏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400" b="1" kern="100" dirty="0">
                          <a:solidFill>
                            <a:srgbClr val="0000FF"/>
                          </a:solidFill>
                          <a:latin typeface="Times New Roman"/>
                          <a:ea typeface="宋体"/>
                        </a:rPr>
                        <a:t>请制造厂检修，或由经验的技术人员拆开修理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1800">
                <a:tc>
                  <a:txBody>
                    <a:bodyPr/>
                    <a:lstStyle/>
                    <a:p>
                      <a:pPr algn="ctr">
                        <a:lnSpc>
                          <a:spcPct val="150000"/>
                        </a:lnSpc>
                        <a:spcAft>
                          <a:spcPts val="0"/>
                        </a:spcAft>
                      </a:pPr>
                      <a:r>
                        <a:rPr lang="zh-CN" sz="1400" b="1" kern="100" dirty="0">
                          <a:solidFill>
                            <a:srgbClr val="0000FF"/>
                          </a:solidFill>
                          <a:latin typeface="Times New Roman"/>
                          <a:ea typeface="宋体"/>
                        </a:rPr>
                        <a:t>油液或</a:t>
                      </a:r>
                      <a:r>
                        <a:rPr lang="zh-CN" sz="1400" b="1" kern="100" dirty="0" smtClean="0">
                          <a:solidFill>
                            <a:srgbClr val="0000FF"/>
                          </a:solidFill>
                          <a:latin typeface="Times New Roman"/>
                          <a:ea typeface="宋体"/>
                        </a:rPr>
                        <a:t>油泵</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温升</a:t>
                      </a:r>
                      <a:r>
                        <a:rPr lang="zh-CN" sz="1400" b="1" kern="100" dirty="0">
                          <a:solidFill>
                            <a:srgbClr val="0000FF"/>
                          </a:solidFill>
                          <a:latin typeface="Times New Roman"/>
                          <a:ea typeface="宋体"/>
                        </a:rPr>
                        <a:t>太高</a:t>
                      </a:r>
                    </a:p>
                  </a:txBody>
                  <a:tcPr marL="68580" marR="68580" marT="0" marB="0" anchor="ctr">
                    <a:lnT w="12700" cap="flat" cmpd="sng" algn="ctr">
                      <a:solidFill>
                        <a:srgbClr val="000000"/>
                      </a:solidFill>
                      <a:prstDash val="solid"/>
                      <a:round/>
                      <a:headEnd type="none" w="med" len="med"/>
                      <a:tailEnd type="none" w="med" len="med"/>
                    </a:lnT>
                  </a:tcPr>
                </a:tc>
                <a:tc>
                  <a:txBody>
                    <a:bodyPr/>
                    <a:lstStyle/>
                    <a:p>
                      <a:pPr algn="l">
                        <a:lnSpc>
                          <a:spcPct val="150000"/>
                        </a:lnSpc>
                        <a:spcAft>
                          <a:spcPts val="0"/>
                        </a:spcAft>
                      </a:pPr>
                      <a:r>
                        <a:rPr lang="zh-CN" sz="1400" b="1" kern="100" dirty="0">
                          <a:solidFill>
                            <a:srgbClr val="0000FF"/>
                          </a:solidFill>
                          <a:latin typeface="Times New Roman"/>
                          <a:ea typeface="宋体"/>
                        </a:rPr>
                        <a:t>油的粘度过大</a:t>
                      </a: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更换油液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5376">
                <a:tc>
                  <a:txBody>
                    <a:bodyPr/>
                    <a:lstStyle/>
                    <a:p>
                      <a:pPr algn="ctr">
                        <a:lnSpc>
                          <a:spcPct val="150000"/>
                        </a:lnSpc>
                        <a:spcAft>
                          <a:spcPts val="0"/>
                        </a:spcAft>
                      </a:pPr>
                      <a:r>
                        <a:rPr lang="zh-CN" sz="1400" b="1" kern="100" dirty="0">
                          <a:solidFill>
                            <a:srgbClr val="0000FF"/>
                          </a:solidFill>
                          <a:latin typeface="Times New Roman"/>
                          <a:ea typeface="宋体"/>
                        </a:rPr>
                        <a:t>油缸内</a:t>
                      </a:r>
                      <a:r>
                        <a:rPr lang="zh-CN" sz="1400" b="1" kern="100" dirty="0" smtClean="0">
                          <a:solidFill>
                            <a:srgbClr val="0000FF"/>
                          </a:solidFill>
                          <a:latin typeface="Times New Roman"/>
                          <a:ea typeface="宋体"/>
                        </a:rPr>
                        <a:t>空气</a:t>
                      </a:r>
                      <a:endParaRPr lang="en-US" altLang="zh-CN" sz="1400" b="1" kern="100" dirty="0" smtClean="0">
                        <a:solidFill>
                          <a:srgbClr val="0000FF"/>
                        </a:solidFill>
                        <a:latin typeface="Times New Roman"/>
                        <a:ea typeface="宋体"/>
                      </a:endParaRPr>
                    </a:p>
                    <a:p>
                      <a:pPr algn="ctr">
                        <a:lnSpc>
                          <a:spcPct val="150000"/>
                        </a:lnSpc>
                        <a:spcAft>
                          <a:spcPts val="0"/>
                        </a:spcAft>
                      </a:pPr>
                      <a:r>
                        <a:rPr lang="zh-CN" sz="1400" b="1" kern="100" dirty="0" smtClean="0">
                          <a:solidFill>
                            <a:srgbClr val="0000FF"/>
                          </a:solidFill>
                          <a:latin typeface="Times New Roman"/>
                          <a:ea typeface="宋体"/>
                        </a:rPr>
                        <a:t>排</a:t>
                      </a:r>
                      <a:r>
                        <a:rPr lang="zh-CN" sz="1400" b="1" kern="100" dirty="0">
                          <a:solidFill>
                            <a:srgbClr val="0000FF"/>
                          </a:solidFill>
                          <a:latin typeface="Times New Roman"/>
                          <a:ea typeface="宋体"/>
                        </a:rPr>
                        <a:t>不净</a:t>
                      </a:r>
                    </a:p>
                  </a:txBody>
                  <a:tcPr marL="68580" marR="68580" marT="0" marB="0" anchor="ctr"/>
                </a:tc>
                <a:tc>
                  <a:txBody>
                    <a:bodyPr/>
                    <a:lstStyle/>
                    <a:p>
                      <a:pPr algn="just">
                        <a:lnSpc>
                          <a:spcPct val="150000"/>
                        </a:lnSpc>
                        <a:spcAft>
                          <a:spcPts val="0"/>
                        </a:spcAft>
                      </a:pPr>
                      <a:r>
                        <a:rPr lang="zh-CN" sz="1400" b="1" kern="100">
                          <a:solidFill>
                            <a:srgbClr val="0000FF"/>
                          </a:solidFill>
                          <a:latin typeface="Times New Roman"/>
                          <a:ea typeface="宋体"/>
                        </a:rPr>
                        <a:t>回油管不够长，密封圈损坏</a:t>
                      </a: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加长回油管，更换密封圈</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1993">
                <a:tc>
                  <a:txBody>
                    <a:bodyPr/>
                    <a:lstStyle/>
                    <a:p>
                      <a:pPr algn="ctr">
                        <a:lnSpc>
                          <a:spcPct val="150000"/>
                        </a:lnSpc>
                        <a:spcAft>
                          <a:spcPts val="0"/>
                        </a:spcAft>
                      </a:pPr>
                      <a:r>
                        <a:rPr lang="zh-CN" sz="1400" b="1" kern="100">
                          <a:solidFill>
                            <a:srgbClr val="0000FF"/>
                          </a:solidFill>
                          <a:latin typeface="Times New Roman"/>
                          <a:ea typeface="宋体"/>
                        </a:rPr>
                        <a:t>电机泵组补压时电机起动不起来</a:t>
                      </a:r>
                    </a:p>
                  </a:txBody>
                  <a:tcPr marL="68580" marR="68580" marT="0" marB="0" anchor="ctr"/>
                </a:tc>
                <a:tc>
                  <a:txBody>
                    <a:bodyPr/>
                    <a:lstStyle/>
                    <a:p>
                      <a:pPr algn="ctr">
                        <a:lnSpc>
                          <a:spcPct val="150000"/>
                        </a:lnSpc>
                        <a:spcAft>
                          <a:spcPts val="0"/>
                        </a:spcAft>
                      </a:pPr>
                      <a:endParaRPr lang="en-US" sz="1400" b="1" kern="100">
                        <a:solidFill>
                          <a:srgbClr val="0000FF"/>
                        </a:solidFill>
                        <a:latin typeface="Times New Roman"/>
                        <a:ea typeface="宋体"/>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调整变量头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24210">
                <a:tc>
                  <a:txBody>
                    <a:bodyPr/>
                    <a:lstStyle/>
                    <a:p>
                      <a:pPr algn="ctr">
                        <a:lnSpc>
                          <a:spcPct val="150000"/>
                        </a:lnSpc>
                        <a:spcAft>
                          <a:spcPts val="0"/>
                        </a:spcAft>
                      </a:pPr>
                      <a:r>
                        <a:rPr lang="zh-CN" sz="1400" b="1" kern="100">
                          <a:solidFill>
                            <a:srgbClr val="0000FF"/>
                          </a:solidFill>
                          <a:latin typeface="Times New Roman"/>
                          <a:ea typeface="宋体"/>
                        </a:rPr>
                        <a:t>快开止推销不保压、下调</a:t>
                      </a:r>
                    </a:p>
                  </a:txBody>
                  <a:tcPr marL="68580" marR="68580" marT="0" marB="0" anchor="ctr"/>
                </a:tc>
                <a:tc>
                  <a:txBody>
                    <a:bodyPr/>
                    <a:lstStyle/>
                    <a:p>
                      <a:pPr algn="ctr">
                        <a:lnSpc>
                          <a:spcPct val="150000"/>
                        </a:lnSpc>
                        <a:spcAft>
                          <a:spcPts val="0"/>
                        </a:spcAft>
                      </a:pPr>
                      <a:endParaRPr lang="en-US" sz="1400" b="1" kern="100">
                        <a:solidFill>
                          <a:srgbClr val="0000FF"/>
                        </a:solidFill>
                        <a:latin typeface="Times New Roman"/>
                        <a:ea typeface="宋体"/>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更换单向阀，检查管路</a:t>
                      </a:r>
                      <a:r>
                        <a:rPr lang="en-US" sz="1400" b="1" kern="100" dirty="0">
                          <a:solidFill>
                            <a:srgbClr val="0000FF"/>
                          </a:solidFill>
                          <a:latin typeface="Times New Roman"/>
                          <a:ea typeface="宋体"/>
                        </a:rPr>
                        <a:t>A</a:t>
                      </a:r>
                      <a:r>
                        <a:rPr lang="zh-CN" sz="1400" b="1" kern="100" dirty="0">
                          <a:solidFill>
                            <a:srgbClr val="0000FF"/>
                          </a:solidFill>
                          <a:latin typeface="Times New Roman"/>
                          <a:ea typeface="宋体"/>
                        </a:rPr>
                        <a:t>、</a:t>
                      </a:r>
                      <a:r>
                        <a:rPr lang="en-US" sz="1400" b="1" kern="100" dirty="0">
                          <a:solidFill>
                            <a:srgbClr val="0000FF"/>
                          </a:solidFill>
                          <a:latin typeface="Times New Roman"/>
                          <a:ea typeface="宋体"/>
                        </a:rPr>
                        <a:t>B</a:t>
                      </a:r>
                      <a:r>
                        <a:rPr lang="zh-CN" sz="1400" b="1" kern="100" dirty="0">
                          <a:solidFill>
                            <a:srgbClr val="0000FF"/>
                          </a:solidFill>
                          <a:latin typeface="Times New Roman"/>
                          <a:ea typeface="宋体"/>
                        </a:rPr>
                        <a:t>口是否接反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1579">
                <a:tc gridSpan="3">
                  <a:txBody>
                    <a:bodyPr/>
                    <a:lstStyle/>
                    <a:p>
                      <a:r>
                        <a:rPr lang="zh-CN" altLang="en-US" sz="1400" b="1" kern="1200" dirty="0" smtClean="0">
                          <a:solidFill>
                            <a:srgbClr val="0000FF"/>
                          </a:solidFill>
                          <a:latin typeface="+mn-lt"/>
                          <a:ea typeface="+mn-ea"/>
                          <a:cs typeface="+mn-cs"/>
                        </a:rPr>
                        <a:t>变量头的调试：顺时针调节，增加流量；逆时针调节，减小流量</a:t>
                      </a:r>
                      <a:endParaRPr lang="zh-CN" altLang="en-US" sz="1400" b="1" dirty="0">
                        <a:solidFill>
                          <a:srgbClr val="0000FF"/>
                        </a:solidFill>
                      </a:endParaRPr>
                    </a:p>
                  </a:txBody>
                  <a:tcPr>
                    <a:lnR w="12700" cap="flat" cmpd="sng" algn="ctr">
                      <a:solidFill>
                        <a:srgbClr val="000000"/>
                      </a:solidFill>
                      <a:prstDash val="solid"/>
                      <a:round/>
                      <a:headEnd type="none" w="med" len="med"/>
                      <a:tailEnd type="none" w="med" len="med"/>
                    </a:lnR>
                  </a:tcPr>
                </a:tc>
                <a:tc hMerge="1">
                  <a:txBody>
                    <a:bodyPr/>
                    <a:lstStyle/>
                    <a:p>
                      <a:pPr algn="just">
                        <a:lnSpc>
                          <a:spcPct val="150000"/>
                        </a:lnSpc>
                        <a:spcAft>
                          <a:spcPts val="0"/>
                        </a:spcAft>
                      </a:pP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just">
                        <a:lnSpc>
                          <a:spcPct val="150000"/>
                        </a:lnSpc>
                        <a:spcAft>
                          <a:spcPts val="0"/>
                        </a:spcAft>
                      </a:pPr>
                      <a:endParaRPr lang="zh-CN" sz="1600" b="1" kern="100" dirty="0">
                        <a:solidFill>
                          <a:srgbClr val="0000FF"/>
                        </a:solidFill>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11188" y="428604"/>
            <a:ext cx="4570482" cy="369332"/>
          </a:xfrm>
          <a:prstGeom prst="rect">
            <a:avLst/>
          </a:prstGeom>
        </p:spPr>
        <p:txBody>
          <a:bodyPr wrap="none">
            <a:spAutoFit/>
          </a:bodyPr>
          <a:lstStyle/>
          <a:p>
            <a:r>
              <a:rPr lang="en-US" altLang="zh-CN" dirty="0" smtClean="0"/>
              <a:t>6.4.4	</a:t>
            </a:r>
            <a:r>
              <a:rPr lang="zh-CN" altLang="en-US" dirty="0" smtClean="0"/>
              <a:t>泵站中可能出现的故障及解决措施</a:t>
            </a:r>
            <a:endParaRPr lang="zh-CN" alt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188" y="1859340"/>
            <a:ext cx="7921625" cy="2585323"/>
          </a:xfrm>
          <a:prstGeom prst="rect">
            <a:avLst/>
          </a:prstGeom>
        </p:spPr>
        <p:txBody>
          <a:bodyPr wrap="square">
            <a:spAutoFit/>
          </a:bodyPr>
          <a:lstStyle/>
          <a:p>
            <a:r>
              <a:rPr lang="en-US" altLang="zh-CN" dirty="0" smtClean="0"/>
              <a:t>6.5  </a:t>
            </a:r>
            <a:r>
              <a:rPr lang="zh-CN" altLang="en-US" dirty="0" smtClean="0"/>
              <a:t>液压缸</a:t>
            </a:r>
          </a:p>
          <a:p>
            <a:r>
              <a:rPr lang="zh-CN" altLang="en-US" dirty="0" smtClean="0"/>
              <a:t>液压缸是液压系统中的执行元件，它是一种把液体的压力能转换为机械能以实现往复直线运动的能量转换装置。液压缸结构简单、工作可靠，在液压系统中得到广泛的应用。</a:t>
            </a:r>
          </a:p>
          <a:p>
            <a:r>
              <a:rPr lang="zh-CN" altLang="en-US" dirty="0" smtClean="0"/>
              <a:t>液压缸的类型有单作用缸、双作用缸、组合式三类，我公司使用的是双作用缸。</a:t>
            </a:r>
          </a:p>
          <a:p>
            <a:r>
              <a:rPr lang="zh-CN" altLang="en-US" dirty="0" smtClean="0"/>
              <a:t>目前我公司生产的液压缸由四种规格：</a:t>
            </a:r>
            <a:r>
              <a:rPr lang="en-US" altLang="zh-CN" dirty="0" smtClean="0"/>
              <a:t>ф200</a:t>
            </a:r>
            <a:r>
              <a:rPr lang="zh-CN" altLang="en-US" dirty="0" smtClean="0"/>
              <a:t>、</a:t>
            </a:r>
            <a:r>
              <a:rPr lang="en-US" altLang="zh-CN" dirty="0" smtClean="0"/>
              <a:t>ф250</a:t>
            </a:r>
            <a:r>
              <a:rPr lang="zh-CN" altLang="en-US" dirty="0" smtClean="0"/>
              <a:t>、</a:t>
            </a:r>
            <a:r>
              <a:rPr lang="en-US" altLang="zh-CN" dirty="0" smtClean="0"/>
              <a:t>ф320</a:t>
            </a:r>
            <a:r>
              <a:rPr lang="zh-CN" altLang="en-US" dirty="0" smtClean="0"/>
              <a:t>、</a:t>
            </a:r>
            <a:r>
              <a:rPr lang="en-US" altLang="zh-CN" dirty="0" smtClean="0"/>
              <a:t>ф360</a:t>
            </a:r>
          </a:p>
          <a:p>
            <a:r>
              <a:rPr lang="zh-CN" altLang="en-US" dirty="0" smtClean="0"/>
              <a:t>液压缸由缸体、导向套、活塞、活塞杆组成。</a:t>
            </a:r>
          </a:p>
          <a:p>
            <a:r>
              <a:rPr lang="zh-CN" altLang="en-US" dirty="0" smtClean="0"/>
              <a:t>我公司的液压缸主要参数如下表</a:t>
            </a:r>
            <a:r>
              <a:rPr lang="en-US" altLang="zh-CN" dirty="0" smtClean="0"/>
              <a:t>8</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91329" y="1000108"/>
          <a:ext cx="7961342" cy="5381642"/>
        </p:xfrm>
        <a:graphic>
          <a:graphicData uri="http://schemas.openxmlformats.org/drawingml/2006/table">
            <a:tbl>
              <a:tblPr/>
              <a:tblGrid>
                <a:gridCol w="1240237"/>
                <a:gridCol w="1240237"/>
                <a:gridCol w="1826956"/>
                <a:gridCol w="1826956"/>
                <a:gridCol w="1826956"/>
              </a:tblGrid>
              <a:tr h="487532">
                <a:tc>
                  <a:txBody>
                    <a:bodyPr/>
                    <a:lstStyle/>
                    <a:p>
                      <a:pPr algn="ctr">
                        <a:lnSpc>
                          <a:spcPct val="150000"/>
                        </a:lnSpc>
                        <a:spcAft>
                          <a:spcPts val="0"/>
                        </a:spcAft>
                      </a:pPr>
                      <a:r>
                        <a:rPr lang="zh-CN" sz="1400" b="1" kern="100" dirty="0">
                          <a:solidFill>
                            <a:srgbClr val="0000FF"/>
                          </a:solidFill>
                          <a:latin typeface="Times New Roman"/>
                          <a:ea typeface="宋体"/>
                        </a:rPr>
                        <a:t>缸径</a:t>
                      </a:r>
                      <a:r>
                        <a:rPr lang="en-US" sz="1400" b="1" kern="100" dirty="0">
                          <a:solidFill>
                            <a:srgbClr val="0000FF"/>
                          </a:solidFill>
                          <a:latin typeface="Times New Roman"/>
                          <a:ea typeface="宋体"/>
                        </a:rPr>
                        <a:t>(mm)</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行程</a:t>
                      </a:r>
                      <a:r>
                        <a:rPr lang="en-US" sz="1400" b="1" kern="100" dirty="0">
                          <a:solidFill>
                            <a:srgbClr val="0000FF"/>
                          </a:solidFill>
                          <a:latin typeface="Times New Roman"/>
                          <a:ea typeface="宋体"/>
                        </a:rPr>
                        <a:t>(mm)</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零件名称</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a:solidFill>
                            <a:srgbClr val="0000FF"/>
                          </a:solidFill>
                          <a:latin typeface="Times New Roman"/>
                          <a:ea typeface="宋体"/>
                        </a:rPr>
                        <a:t>尺寸</a:t>
                      </a:r>
                      <a:r>
                        <a:rPr lang="en-US" sz="1400" b="1" kern="100">
                          <a:solidFill>
                            <a:srgbClr val="0000FF"/>
                          </a:solidFill>
                          <a:latin typeface="Times New Roman"/>
                          <a:ea typeface="宋体"/>
                        </a:rPr>
                        <a:t>(mm)</a:t>
                      </a:r>
                      <a:endParaRPr lang="zh-CN" sz="1400" b="1" kern="10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a:solidFill>
                            <a:srgbClr val="0000FF"/>
                          </a:solidFill>
                          <a:latin typeface="Times New Roman"/>
                          <a:ea typeface="宋体"/>
                        </a:rPr>
                        <a:t>材料</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037">
                <a:tc rowSpan="14">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200</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14">
                  <a:txBody>
                    <a:bodyPr/>
                    <a:lstStyle/>
                    <a:p>
                      <a:pPr algn="ctr">
                        <a:lnSpc>
                          <a:spcPct val="150000"/>
                        </a:lnSpc>
                        <a:spcAft>
                          <a:spcPts val="0"/>
                        </a:spcAft>
                      </a:pPr>
                      <a:r>
                        <a:rPr lang="en-US" sz="1400" b="1" kern="100" dirty="0">
                          <a:solidFill>
                            <a:srgbClr val="0000FF"/>
                          </a:solidFill>
                          <a:latin typeface="Times New Roman"/>
                          <a:ea typeface="宋体"/>
                        </a:rPr>
                        <a:t>650</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缸筒</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245*193</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Q235-A</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037">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导向套</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260*</a:t>
                      </a: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110*120</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HT200</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037">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法兰</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360*</a:t>
                      </a: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240*55</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Q235-A</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037">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缸底</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200*60*M203X3</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Q235-A</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519">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活塞杆</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110*1080</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45#</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037">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活塞</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a:solidFill>
                            <a:srgbClr val="0000FF"/>
                          </a:solidFill>
                          <a:latin typeface="Times New Roman"/>
                          <a:ea typeface="宋体"/>
                        </a:rPr>
                        <a:t>φ</a:t>
                      </a:r>
                      <a:r>
                        <a:rPr lang="en-US" sz="1400" b="1" kern="100">
                          <a:solidFill>
                            <a:srgbClr val="0000FF"/>
                          </a:solidFill>
                          <a:latin typeface="Times New Roman"/>
                          <a:ea typeface="宋体"/>
                        </a:rPr>
                        <a:t>200*</a:t>
                      </a:r>
                      <a:r>
                        <a:rPr lang="zh-CN" sz="1400" b="1" kern="100">
                          <a:solidFill>
                            <a:srgbClr val="0000FF"/>
                          </a:solidFill>
                          <a:latin typeface="Times New Roman"/>
                          <a:ea typeface="宋体"/>
                        </a:rPr>
                        <a:t>φ</a:t>
                      </a:r>
                      <a:r>
                        <a:rPr lang="en-US" sz="1400" b="1" kern="100">
                          <a:solidFill>
                            <a:srgbClr val="0000FF"/>
                          </a:solidFill>
                          <a:latin typeface="Times New Roman"/>
                          <a:ea typeface="宋体"/>
                        </a:rPr>
                        <a:t>80*</a:t>
                      </a:r>
                      <a:endParaRPr lang="zh-CN" sz="1400" b="1" kern="10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QT400</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519">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锁母</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a:solidFill>
                            <a:srgbClr val="0000FF"/>
                          </a:solidFill>
                          <a:latin typeface="Times New Roman"/>
                          <a:ea typeface="宋体"/>
                        </a:rPr>
                        <a:t>110*33*M76X2</a:t>
                      </a:r>
                      <a:endParaRPr lang="zh-CN" sz="1400" b="1" kern="10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45#</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519">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减磨环</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a:solidFill>
                            <a:srgbClr val="0000FF"/>
                          </a:solidFill>
                          <a:latin typeface="Times New Roman"/>
                          <a:ea typeface="宋体"/>
                        </a:rPr>
                        <a:t>φ</a:t>
                      </a:r>
                      <a:r>
                        <a:rPr lang="en-US" sz="1400" b="1" kern="100">
                          <a:solidFill>
                            <a:srgbClr val="0000FF"/>
                          </a:solidFill>
                          <a:latin typeface="Times New Roman"/>
                          <a:ea typeface="宋体"/>
                        </a:rPr>
                        <a:t>200*</a:t>
                      </a:r>
                      <a:r>
                        <a:rPr lang="zh-CN" sz="1400" b="1" kern="100">
                          <a:solidFill>
                            <a:srgbClr val="0000FF"/>
                          </a:solidFill>
                          <a:latin typeface="Times New Roman"/>
                          <a:ea typeface="宋体"/>
                        </a:rPr>
                        <a:t>φ</a:t>
                      </a:r>
                      <a:r>
                        <a:rPr lang="en-US" sz="1400" b="1" kern="100">
                          <a:solidFill>
                            <a:srgbClr val="0000FF"/>
                          </a:solidFill>
                          <a:latin typeface="Times New Roman"/>
                          <a:ea typeface="宋体"/>
                        </a:rPr>
                        <a:t>194*20</a:t>
                      </a:r>
                      <a:endParaRPr lang="zh-CN" sz="1400" b="1" kern="10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尼龙</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519">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dirty="0">
                          <a:solidFill>
                            <a:srgbClr val="0000FF"/>
                          </a:solidFill>
                          <a:latin typeface="Times New Roman"/>
                          <a:ea typeface="宋体"/>
                        </a:rPr>
                        <a:t>支撑环</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200*</a:t>
                      </a: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110*8</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尼龙</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5778">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a:solidFill>
                            <a:srgbClr val="0000FF"/>
                          </a:solidFill>
                          <a:latin typeface="Times New Roman"/>
                          <a:ea typeface="宋体"/>
                        </a:rPr>
                        <a:t>防尘圈</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FA110*125*9</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聚氨酯</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5778">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a:solidFill>
                            <a:srgbClr val="0000FF"/>
                          </a:solidFill>
                          <a:latin typeface="Times New Roman"/>
                          <a:ea typeface="宋体"/>
                        </a:rPr>
                        <a:t>轴用</a:t>
                      </a:r>
                      <a:r>
                        <a:rPr lang="en-US" sz="1400" b="1" kern="100">
                          <a:solidFill>
                            <a:srgbClr val="0000FF"/>
                          </a:solidFill>
                          <a:latin typeface="Times New Roman"/>
                          <a:ea typeface="宋体"/>
                        </a:rPr>
                        <a:t>YX</a:t>
                      </a:r>
                      <a:r>
                        <a:rPr lang="zh-CN" sz="1400" b="1" kern="100">
                          <a:solidFill>
                            <a:srgbClr val="0000FF"/>
                          </a:solidFill>
                          <a:latin typeface="Times New Roman"/>
                          <a:ea typeface="宋体"/>
                        </a:rPr>
                        <a:t>密封</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d110</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聚氨酯</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6815">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en-US" sz="1400" b="1" kern="100">
                          <a:solidFill>
                            <a:srgbClr val="0000FF"/>
                          </a:solidFill>
                          <a:latin typeface="Times New Roman"/>
                          <a:ea typeface="宋体"/>
                        </a:rPr>
                        <a:t>O</a:t>
                      </a:r>
                      <a:r>
                        <a:rPr lang="zh-CN" sz="1400" b="1" kern="100">
                          <a:solidFill>
                            <a:srgbClr val="0000FF"/>
                          </a:solidFill>
                          <a:latin typeface="Times New Roman"/>
                          <a:ea typeface="宋体"/>
                        </a:rPr>
                        <a:t>型圈</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190*7</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耐油橡胶</a:t>
                      </a:r>
                      <a:r>
                        <a:rPr lang="en-US" sz="1400" b="1" kern="100" dirty="0">
                          <a:solidFill>
                            <a:srgbClr val="0000FF"/>
                          </a:solidFill>
                          <a:latin typeface="Times New Roman"/>
                          <a:ea typeface="宋体"/>
                        </a:rPr>
                        <a:t>-1-4</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037">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zh-CN" sz="1400" b="1" kern="100">
                          <a:solidFill>
                            <a:srgbClr val="0000FF"/>
                          </a:solidFill>
                          <a:latin typeface="Times New Roman"/>
                          <a:ea typeface="宋体"/>
                        </a:rPr>
                        <a:t>孔用</a:t>
                      </a:r>
                      <a:r>
                        <a:rPr lang="en-US" sz="1400" b="1" kern="100">
                          <a:solidFill>
                            <a:srgbClr val="0000FF"/>
                          </a:solidFill>
                          <a:latin typeface="Times New Roman"/>
                          <a:ea typeface="宋体"/>
                        </a:rPr>
                        <a:t>YX</a:t>
                      </a:r>
                      <a:r>
                        <a:rPr lang="zh-CN" sz="1400" b="1" kern="100">
                          <a:solidFill>
                            <a:srgbClr val="0000FF"/>
                          </a:solidFill>
                          <a:latin typeface="Times New Roman"/>
                          <a:ea typeface="宋体"/>
                        </a:rPr>
                        <a:t>密封</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400" b="1" kern="100" dirty="0">
                          <a:solidFill>
                            <a:srgbClr val="0000FF"/>
                          </a:solidFill>
                          <a:latin typeface="Times New Roman"/>
                          <a:ea typeface="宋体"/>
                        </a:rPr>
                        <a:t>D200*2T</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聚氨酯</a:t>
                      </a:r>
                      <a:r>
                        <a:rPr lang="en-US" sz="1400" b="1" kern="100" dirty="0">
                          <a:solidFill>
                            <a:srgbClr val="0000FF"/>
                          </a:solidFill>
                          <a:latin typeface="Times New Roman"/>
                          <a:ea typeface="宋体"/>
                        </a:rPr>
                        <a:t>-4</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6815">
                <a:tc vMerge="1">
                  <a:txBody>
                    <a:bodyPr/>
                    <a:lstStyle/>
                    <a:p>
                      <a:endParaRPr lang="zh-CN" altLang="en-US"/>
                    </a:p>
                  </a:txBody>
                  <a:tcPr/>
                </a:tc>
                <a:tc vMerge="1">
                  <a:txBody>
                    <a:bodyPr/>
                    <a:lstStyle/>
                    <a:p>
                      <a:endParaRPr lang="zh-CN" altLang="en-US"/>
                    </a:p>
                  </a:txBody>
                  <a:tcPr/>
                </a:tc>
                <a:tc>
                  <a:txBody>
                    <a:bodyPr/>
                    <a:lstStyle/>
                    <a:p>
                      <a:pPr algn="ctr">
                        <a:lnSpc>
                          <a:spcPct val="150000"/>
                        </a:lnSpc>
                        <a:spcAft>
                          <a:spcPts val="0"/>
                        </a:spcAft>
                      </a:pPr>
                      <a:r>
                        <a:rPr lang="en-US" sz="1400" b="1" kern="100">
                          <a:solidFill>
                            <a:srgbClr val="0000FF"/>
                          </a:solidFill>
                          <a:latin typeface="Times New Roman"/>
                          <a:ea typeface="宋体"/>
                        </a:rPr>
                        <a:t>O</a:t>
                      </a:r>
                      <a:r>
                        <a:rPr lang="zh-CN" sz="1400" b="1" kern="100">
                          <a:solidFill>
                            <a:srgbClr val="0000FF"/>
                          </a:solidFill>
                          <a:latin typeface="Times New Roman"/>
                          <a:ea typeface="宋体"/>
                        </a:rPr>
                        <a:t>型密封圈</a:t>
                      </a: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φ</a:t>
                      </a:r>
                      <a:r>
                        <a:rPr lang="en-US" sz="1400" b="1" kern="100" dirty="0">
                          <a:solidFill>
                            <a:srgbClr val="0000FF"/>
                          </a:solidFill>
                          <a:latin typeface="Times New Roman"/>
                          <a:ea typeface="宋体"/>
                        </a:rPr>
                        <a:t>71*5.3</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400" b="1" kern="100" dirty="0">
                          <a:solidFill>
                            <a:srgbClr val="0000FF"/>
                          </a:solidFill>
                          <a:latin typeface="Times New Roman"/>
                          <a:ea typeface="宋体"/>
                        </a:rPr>
                        <a:t>耐油橡胶</a:t>
                      </a:r>
                      <a:r>
                        <a:rPr lang="en-US" sz="1400" b="1" kern="100" dirty="0">
                          <a:solidFill>
                            <a:srgbClr val="0000FF"/>
                          </a:solidFill>
                          <a:latin typeface="Times New Roman"/>
                          <a:ea typeface="宋体"/>
                        </a:rPr>
                        <a:t>-1-4</a:t>
                      </a:r>
                      <a:endParaRPr lang="zh-CN" sz="1400" b="1" kern="100" dirty="0">
                        <a:solidFill>
                          <a:srgbClr val="0000FF"/>
                        </a:solidFill>
                        <a:latin typeface="Times New Roman"/>
                        <a:ea typeface="宋体"/>
                      </a:endParaRPr>
                    </a:p>
                  </a:txBody>
                  <a:tcPr marL="18815" marR="18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20072" y="428604"/>
            <a:ext cx="5024132" cy="369332"/>
          </a:xfrm>
          <a:prstGeom prst="rect">
            <a:avLst/>
          </a:prstGeom>
        </p:spPr>
        <p:txBody>
          <a:bodyPr wrap="none">
            <a:spAutoFit/>
          </a:bodyPr>
          <a:lstStyle/>
          <a:p>
            <a:r>
              <a:rPr lang="zh-CN" altLang="en-US" dirty="0" smtClean="0"/>
              <a:t>表</a:t>
            </a:r>
            <a:r>
              <a:rPr lang="en-US" altLang="zh-CN" dirty="0" smtClean="0"/>
              <a:t>8  </a:t>
            </a:r>
            <a:r>
              <a:rPr lang="zh-CN" altLang="en-US" dirty="0" smtClean="0"/>
              <a:t>山西分公司赤泥车间液压缸材料型号及尺寸</a:t>
            </a:r>
            <a:endParaRPr lang="zh-CN" alt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42910" y="459695"/>
          <a:ext cx="7889903" cy="5938609"/>
        </p:xfrm>
        <a:graphic>
          <a:graphicData uri="http://schemas.openxmlformats.org/drawingml/2006/table">
            <a:tbl>
              <a:tblPr/>
              <a:tblGrid>
                <a:gridCol w="1554781"/>
                <a:gridCol w="3627700"/>
                <a:gridCol w="1109921"/>
                <a:gridCol w="1597501"/>
              </a:tblGrid>
              <a:tr h="500062">
                <a:tc>
                  <a:txBody>
                    <a:bodyPr/>
                    <a:lstStyle/>
                    <a:p>
                      <a:pPr algn="ctr">
                        <a:lnSpc>
                          <a:spcPts val="1200"/>
                        </a:lnSpc>
                        <a:spcAft>
                          <a:spcPts val="0"/>
                        </a:spcAft>
                      </a:pPr>
                      <a:r>
                        <a:rPr lang="zh-CN" sz="1400" b="1" kern="100" dirty="0">
                          <a:solidFill>
                            <a:srgbClr val="0000FF"/>
                          </a:solidFill>
                          <a:latin typeface="Times New Roman"/>
                          <a:ea typeface="宋体"/>
                          <a:cs typeface="宋体"/>
                        </a:rPr>
                        <a:t>设备名称</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型号</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数量（台）</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生产厂家</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689">
                <a:tc>
                  <a:txBody>
                    <a:bodyPr/>
                    <a:lstStyle/>
                    <a:p>
                      <a:pPr algn="ctr">
                        <a:lnSpc>
                          <a:spcPts val="1200"/>
                        </a:lnSpc>
                        <a:spcAft>
                          <a:spcPts val="0"/>
                        </a:spcAft>
                      </a:pPr>
                      <a:r>
                        <a:rPr lang="zh-CN" sz="1400" b="1" kern="100" dirty="0">
                          <a:solidFill>
                            <a:srgbClr val="0000FF"/>
                          </a:solidFill>
                          <a:latin typeface="Times New Roman"/>
                          <a:ea typeface="宋体"/>
                          <a:cs typeface="宋体"/>
                        </a:rPr>
                        <a:t>压滤机</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dirty="0">
                          <a:solidFill>
                            <a:srgbClr val="0000FF"/>
                          </a:solidFill>
                          <a:latin typeface="Times New Roman"/>
                          <a:ea typeface="宋体"/>
                          <a:cs typeface="宋体"/>
                        </a:rPr>
                        <a:t>KXMZCS450/2000</a:t>
                      </a:r>
                      <a:endParaRPr lang="zh-CN" sz="1400" b="1" kern="100" dirty="0">
                        <a:solidFill>
                          <a:srgbClr val="0000FF"/>
                        </a:solidFill>
                        <a:latin typeface="Times New Roman"/>
                        <a:ea typeface="宋体"/>
                        <a:cs typeface="Times New Roman"/>
                      </a:endParaRPr>
                    </a:p>
                    <a:p>
                      <a:pPr algn="ctr">
                        <a:lnSpc>
                          <a:spcPts val="1200"/>
                        </a:lnSpc>
                        <a:spcAft>
                          <a:spcPts val="0"/>
                        </a:spcAft>
                      </a:pPr>
                      <a:r>
                        <a:rPr lang="zh-CN" sz="1400" b="1" kern="100" dirty="0">
                          <a:solidFill>
                            <a:srgbClr val="0000FF"/>
                          </a:solidFill>
                          <a:latin typeface="Times New Roman"/>
                          <a:ea typeface="宋体"/>
                          <a:cs typeface="宋体"/>
                        </a:rPr>
                        <a:t>过滤面积450立方，滤室容积9.14立方</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dirty="0">
                          <a:solidFill>
                            <a:srgbClr val="0000FF"/>
                          </a:solidFill>
                          <a:latin typeface="Times New Roman"/>
                          <a:ea typeface="宋体"/>
                          <a:cs typeface="宋体"/>
                        </a:rPr>
                        <a:t>7</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中大贝莱特</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螺杆式空气压缩机</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dirty="0">
                          <a:solidFill>
                            <a:srgbClr val="0000FF"/>
                          </a:solidFill>
                          <a:latin typeface="Times New Roman"/>
                          <a:ea typeface="宋体"/>
                          <a:cs typeface="宋体"/>
                        </a:rPr>
                        <a:t>GS355-13 SA</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dirty="0">
                          <a:solidFill>
                            <a:srgbClr val="0000FF"/>
                          </a:solidFill>
                          <a:latin typeface="Times New Roman"/>
                          <a:ea typeface="宋体"/>
                          <a:cs typeface="宋体"/>
                        </a:rPr>
                        <a:t>2</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altLang="en-US" sz="1100" b="1" kern="100" dirty="0" smtClean="0">
                          <a:solidFill>
                            <a:srgbClr val="0000FF"/>
                          </a:solidFill>
                          <a:latin typeface="Times New Roman"/>
                          <a:ea typeface="+mn-ea"/>
                          <a:cs typeface="宋体"/>
                        </a:rPr>
                        <a:t>阿特拉斯</a:t>
                      </a:r>
                      <a:endParaRPr lang="zh-CN" sz="1100" b="1" kern="100" dirty="0">
                        <a:solidFill>
                          <a:srgbClr val="0000FF"/>
                        </a:solidFill>
                        <a:latin typeface="Times New Roman"/>
                        <a:ea typeface="宋体"/>
                        <a:cs typeface="宋体"/>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微式再生干燥器</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SLAD-50MXF</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dirty="0">
                          <a:solidFill>
                            <a:srgbClr val="0000FF"/>
                          </a:solidFill>
                          <a:latin typeface="Times New Roman"/>
                          <a:ea typeface="宋体"/>
                          <a:cs typeface="宋体"/>
                        </a:rPr>
                        <a:t>2</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陕西世腾科技有限公司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999">
                <a:tc>
                  <a:txBody>
                    <a:bodyPr/>
                    <a:lstStyle/>
                    <a:p>
                      <a:pPr algn="ctr">
                        <a:lnSpc>
                          <a:spcPts val="1200"/>
                        </a:lnSpc>
                        <a:spcAft>
                          <a:spcPts val="0"/>
                        </a:spcAft>
                      </a:pPr>
                      <a:r>
                        <a:rPr lang="zh-CN" sz="1400" b="1" kern="100">
                          <a:solidFill>
                            <a:srgbClr val="0000FF"/>
                          </a:solidFill>
                          <a:latin typeface="Times New Roman"/>
                          <a:ea typeface="宋体"/>
                          <a:cs typeface="宋体"/>
                        </a:rPr>
                        <a:t>喂料槽</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φ5m*8m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dirty="0">
                          <a:solidFill>
                            <a:srgbClr val="0000FF"/>
                          </a:solidFill>
                          <a:latin typeface="Times New Roman"/>
                          <a:ea typeface="宋体"/>
                          <a:cs typeface="宋体"/>
                        </a:rPr>
                        <a:t>3</a:t>
                      </a:r>
                      <a:endParaRPr lang="zh-CN" sz="14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晋铝建安公司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滤液槽</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φ5m*6m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2</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晋铝建安公司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洗水槽</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φ4m*4m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晋铝建安公司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喂料泵</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endParaRPr lang="zh-CN" sz="1400" b="1" kern="100">
                        <a:solidFill>
                          <a:srgbClr val="0000FF"/>
                        </a:solidFill>
                        <a:latin typeface="Times New Roman"/>
                        <a:ea typeface="宋体"/>
                        <a:cs typeface="宋体"/>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7</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压滤机自带</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滤液泵</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75KW Q=170/ m³/h,H=70m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2</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山东双轮股份有限公司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洗水泵</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18.5KW Q=10/ m³/h,H=5Map</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山东双轮股份有限公司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污水泵</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18.5KW Q=100H=19.5</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2</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山东双轮股份有限公司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压缩空气缓冲罐</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φ2200*5812mm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2</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晋铝建安公司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压缩空气缓冲罐</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φ900*1890mm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晋铝建安公司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污水槽</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φ4*4m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晋铝建安公司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电液动颚式闸板阀</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3.38*1.8m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14</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endParaRPr lang="zh-CN" sz="1100" b="1" kern="100" dirty="0">
                        <a:solidFill>
                          <a:srgbClr val="0000FF"/>
                        </a:solidFill>
                        <a:latin typeface="Times New Roman"/>
                        <a:ea typeface="宋体"/>
                        <a:cs typeface="宋体"/>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143">
                <a:tc>
                  <a:txBody>
                    <a:bodyPr/>
                    <a:lstStyle/>
                    <a:p>
                      <a:pPr algn="ctr">
                        <a:lnSpc>
                          <a:spcPts val="1200"/>
                        </a:lnSpc>
                        <a:spcAft>
                          <a:spcPts val="0"/>
                        </a:spcAft>
                      </a:pPr>
                      <a:r>
                        <a:rPr lang="zh-CN" sz="1400" b="1" kern="100">
                          <a:solidFill>
                            <a:srgbClr val="0000FF"/>
                          </a:solidFill>
                          <a:latin typeface="Times New Roman"/>
                          <a:ea typeface="宋体"/>
                          <a:cs typeface="宋体"/>
                        </a:rPr>
                        <a:t>电动单梁起重机</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Q=5T H=18m LK=16.5m</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400" b="1" kern="100">
                          <a:solidFill>
                            <a:srgbClr val="0000FF"/>
                          </a:solidFill>
                          <a:latin typeface="Times New Roman"/>
                          <a:ea typeface="宋体"/>
                          <a:cs typeface="宋体"/>
                        </a:rPr>
                        <a:t>1台</a:t>
                      </a:r>
                      <a:endParaRPr lang="zh-CN" sz="1400" b="1" kern="10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1100" b="1" kern="100" dirty="0">
                          <a:solidFill>
                            <a:srgbClr val="0000FF"/>
                          </a:solidFill>
                          <a:latin typeface="Times New Roman"/>
                          <a:ea typeface="宋体"/>
                          <a:cs typeface="宋体"/>
                        </a:rPr>
                        <a:t>河南凯起重机有限公司</a:t>
                      </a:r>
                      <a:endParaRPr lang="zh-CN" sz="1100" b="1" kern="100" dirty="0">
                        <a:solidFill>
                          <a:srgbClr val="0000FF"/>
                        </a:solidFill>
                        <a:latin typeface="Times New Roman"/>
                        <a:ea typeface="宋体"/>
                        <a:cs typeface="Times New Roman"/>
                      </a:endParaRPr>
                    </a:p>
                  </a:txBody>
                  <a:tcPr marL="42325" marR="423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89138" y="2659559"/>
            <a:ext cx="4940316" cy="1569660"/>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lvl="0" algn="ctr" fontAlgn="base">
              <a:spcBef>
                <a:spcPct val="0"/>
              </a:spcBef>
              <a:spcAft>
                <a:spcPct val="0"/>
              </a:spcAft>
            </a:pPr>
            <a:r>
              <a:rPr lang="zh-CN" altLang="en-US"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cs typeface="Times New Roman" pitchFamily="18" charset="0"/>
              </a:rPr>
              <a:t>压滤机安全</a:t>
            </a:r>
            <a:endParaRPr lang="en-US" altLang="zh-CN"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cs typeface="Times New Roman" pitchFamily="18" charset="0"/>
            </a:endParaRPr>
          </a:p>
          <a:p>
            <a:pPr lvl="0" algn="ctr" fontAlgn="base">
              <a:spcBef>
                <a:spcPct val="0"/>
              </a:spcBef>
              <a:spcAft>
                <a:spcPct val="0"/>
              </a:spcAft>
            </a:pPr>
            <a:r>
              <a:rPr lang="zh-CN" altLang="en-US"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cs typeface="Times New Roman" pitchFamily="18" charset="0"/>
              </a:rPr>
              <a:t>操作规程</a:t>
            </a:r>
            <a:endParaRPr lang="zh-CN" altLang="en-US"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1188" y="1341438"/>
            <a:ext cx="7848600" cy="2862322"/>
          </a:xfrm>
          <a:prstGeom prst="rect">
            <a:avLst/>
          </a:prstGeom>
        </p:spPr>
        <p:txBody>
          <a:bodyPr wrap="square">
            <a:spAutoFit/>
          </a:bodyPr>
          <a:lstStyle/>
          <a:p>
            <a:r>
              <a:rPr lang="zh-CN" altLang="en-US" dirty="0" smtClean="0"/>
              <a:t>一、开机前准备工作： </a:t>
            </a:r>
          </a:p>
          <a:p>
            <a:r>
              <a:rPr lang="en-US" altLang="zh-CN" dirty="0" smtClean="0"/>
              <a:t>1. </a:t>
            </a:r>
            <a:r>
              <a:rPr lang="zh-CN" altLang="en-US" dirty="0" smtClean="0"/>
              <a:t>检查液压泵站油位（油位过低及时补油）和各种压力表、液压元件及管路系统有无损坏、 泄漏、堵塞。  </a:t>
            </a:r>
          </a:p>
          <a:p>
            <a:r>
              <a:rPr lang="en-US" altLang="zh-CN" dirty="0" smtClean="0"/>
              <a:t>2. </a:t>
            </a:r>
            <a:r>
              <a:rPr lang="zh-CN" altLang="en-US" dirty="0" smtClean="0"/>
              <a:t>检查滤板有无破裂，隔膜板有无撕裂。检查滤布干净无破损，滤布密封面无残渣，中心 孔通畅。  </a:t>
            </a:r>
          </a:p>
          <a:p>
            <a:r>
              <a:rPr lang="en-US" altLang="zh-CN" dirty="0" smtClean="0"/>
              <a:t>3. </a:t>
            </a:r>
            <a:r>
              <a:rPr lang="zh-CN" altLang="en-US" dirty="0" smtClean="0"/>
              <a:t>检查电控柜的仪表、指示灯、元器件及各管路阀门，以保障运行安全，若有异常情况及 时排除，并保持电控柜清洁。  </a:t>
            </a:r>
          </a:p>
          <a:p>
            <a:r>
              <a:rPr lang="en-US" altLang="zh-CN" dirty="0" smtClean="0"/>
              <a:t>4. </a:t>
            </a:r>
            <a:r>
              <a:rPr lang="zh-CN" altLang="en-US" dirty="0" smtClean="0"/>
              <a:t>检查机器的各连接部件是否完好，链轮传动系统和卸料机构如轴承、链轮、链条等润滑 应良好。  </a:t>
            </a:r>
          </a:p>
          <a:p>
            <a:r>
              <a:rPr lang="en-US" altLang="zh-CN" dirty="0" smtClean="0"/>
              <a:t>5. </a:t>
            </a:r>
            <a:r>
              <a:rPr lang="zh-CN" altLang="en-US" dirty="0" smtClean="0"/>
              <a:t>检查空压机系统及进料系统是否运行正常，各阀门处于要求合闭状态。</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305342"/>
            <a:ext cx="7848600" cy="2585323"/>
          </a:xfrm>
          <a:prstGeom prst="rect">
            <a:avLst/>
          </a:prstGeom>
        </p:spPr>
        <p:txBody>
          <a:bodyPr wrap="square">
            <a:spAutoFit/>
          </a:bodyPr>
          <a:lstStyle/>
          <a:p>
            <a:r>
              <a:rPr lang="en-US" altLang="zh-CN" dirty="0" smtClean="0"/>
              <a:t>1. </a:t>
            </a:r>
            <a:r>
              <a:rPr lang="zh-CN" altLang="en-US" dirty="0" smtClean="0"/>
              <a:t>将“自动、手动”按钮打到自动位置。 </a:t>
            </a:r>
          </a:p>
          <a:p>
            <a:r>
              <a:rPr lang="en-US" altLang="zh-CN" dirty="0" smtClean="0"/>
              <a:t>2. </a:t>
            </a:r>
            <a:r>
              <a:rPr lang="zh-CN" altLang="en-US" dirty="0" smtClean="0"/>
              <a:t>将油缸按钮打到“压紧”，油缸开始压紧，屏幕“保压”指示亮。 </a:t>
            </a:r>
          </a:p>
          <a:p>
            <a:r>
              <a:rPr lang="en-US" altLang="zh-CN" dirty="0" smtClean="0"/>
              <a:t>3. </a:t>
            </a:r>
            <a:r>
              <a:rPr lang="zh-CN" altLang="en-US" dirty="0" smtClean="0"/>
              <a:t>按“进料”按钮，进料气动闸阀开，开给料泵，开始给压滤机给料。  </a:t>
            </a:r>
          </a:p>
          <a:p>
            <a:r>
              <a:rPr lang="en-US" altLang="zh-CN" dirty="0" smtClean="0"/>
              <a:t>4. </a:t>
            </a:r>
            <a:r>
              <a:rPr lang="zh-CN" altLang="en-US" dirty="0" smtClean="0"/>
              <a:t>待滤板阀门无水流或水流很小时，或给料压力达到</a:t>
            </a:r>
            <a:r>
              <a:rPr lang="en-US" altLang="zh-CN" dirty="0" smtClean="0"/>
              <a:t>0.7MPa</a:t>
            </a:r>
            <a:r>
              <a:rPr lang="zh-CN" altLang="en-US" dirty="0" smtClean="0"/>
              <a:t>，关闭给料泵，入料泵停止 给料，按“进料”按钮，进料气动闸阀关闭，入料结束。 </a:t>
            </a:r>
          </a:p>
          <a:p>
            <a:r>
              <a:rPr lang="en-US" altLang="zh-CN" dirty="0" smtClean="0"/>
              <a:t>5. </a:t>
            </a:r>
            <a:r>
              <a:rPr lang="zh-CN" altLang="en-US" dirty="0" smtClean="0"/>
              <a:t>打开空气管路阀门。  </a:t>
            </a:r>
          </a:p>
          <a:p>
            <a:r>
              <a:rPr lang="en-US" altLang="zh-CN" dirty="0" smtClean="0"/>
              <a:t>6. </a:t>
            </a:r>
            <a:r>
              <a:rPr lang="zh-CN" altLang="en-US" dirty="0" smtClean="0"/>
              <a:t>按“反吹”按钮，反吹气动球阀开启，回流气动闸板阀开启，开始反吹，待回流管路无 矿浆流出，按“反吹”按钮，反吹气动球阀及回流闸板阀关闭，结束反吹。 </a:t>
            </a:r>
            <a:endParaRPr lang="zh-CN" altLang="en-US" dirty="0"/>
          </a:p>
        </p:txBody>
      </p:sp>
      <p:sp>
        <p:nvSpPr>
          <p:cNvPr id="3" name="矩形 2"/>
          <p:cNvSpPr/>
          <p:nvPr/>
        </p:nvSpPr>
        <p:spPr>
          <a:xfrm>
            <a:off x="611188" y="549275"/>
            <a:ext cx="3249612" cy="369332"/>
          </a:xfrm>
          <a:prstGeom prst="rect">
            <a:avLst/>
          </a:prstGeom>
        </p:spPr>
        <p:txBody>
          <a:bodyPr wrap="square">
            <a:spAutoFit/>
          </a:bodyPr>
          <a:lstStyle/>
          <a:p>
            <a:pPr lvl="0"/>
            <a:r>
              <a:rPr lang="zh-CN" altLang="en-US" dirty="0" smtClean="0">
                <a:solidFill>
                  <a:prstClr val="black"/>
                </a:solidFill>
              </a:rPr>
              <a:t>二、操作及运行中检查：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549275"/>
            <a:ext cx="3249612" cy="369332"/>
          </a:xfrm>
          <a:prstGeom prst="rect">
            <a:avLst/>
          </a:prstGeom>
        </p:spPr>
        <p:txBody>
          <a:bodyPr wrap="square">
            <a:spAutoFit/>
          </a:bodyPr>
          <a:lstStyle/>
          <a:p>
            <a:pPr lvl="0"/>
            <a:r>
              <a:rPr lang="zh-CN" altLang="en-US" dirty="0" smtClean="0">
                <a:solidFill>
                  <a:prstClr val="black"/>
                </a:solidFill>
              </a:rPr>
              <a:t>二、操作及运行中检查：  </a:t>
            </a:r>
          </a:p>
        </p:txBody>
      </p:sp>
      <p:sp>
        <p:nvSpPr>
          <p:cNvPr id="3" name="矩形 2"/>
          <p:cNvSpPr/>
          <p:nvPr/>
        </p:nvSpPr>
        <p:spPr>
          <a:xfrm>
            <a:off x="611188" y="1997839"/>
            <a:ext cx="7848600" cy="2862322"/>
          </a:xfrm>
          <a:prstGeom prst="rect">
            <a:avLst/>
          </a:prstGeom>
        </p:spPr>
        <p:txBody>
          <a:bodyPr wrap="square">
            <a:spAutoFit/>
          </a:bodyPr>
          <a:lstStyle/>
          <a:p>
            <a:r>
              <a:rPr lang="en-US" altLang="zh-CN" dirty="0" smtClean="0"/>
              <a:t>7. </a:t>
            </a:r>
            <a:r>
              <a:rPr lang="zh-CN" altLang="en-US" dirty="0" smtClean="0"/>
              <a:t>按“压榨”按钮</a:t>
            </a:r>
            <a:r>
              <a:rPr lang="en-US" altLang="zh-CN" dirty="0" smtClean="0"/>
              <a:t>5-6</a:t>
            </a:r>
            <a:r>
              <a:rPr lang="zh-CN" altLang="en-US" dirty="0" smtClean="0"/>
              <a:t>秒钟，压榨气动球阀开启，撤压榨气动球阀关闭，开始压榨。待滤 板阀门无明显水流流出，按“压榨”按钮</a:t>
            </a:r>
            <a:r>
              <a:rPr lang="en-US" altLang="zh-CN" dirty="0" smtClean="0"/>
              <a:t>5-6</a:t>
            </a:r>
            <a:r>
              <a:rPr lang="zh-CN" altLang="en-US" dirty="0" smtClean="0"/>
              <a:t>秒钟，压榨气动球阀关闭，按“撤压榨”按钮，撤压榨阀门开，结束压榨。 </a:t>
            </a:r>
          </a:p>
          <a:p>
            <a:r>
              <a:rPr lang="en-US" altLang="zh-CN" dirty="0" smtClean="0"/>
              <a:t>8. </a:t>
            </a:r>
            <a:r>
              <a:rPr lang="zh-CN" altLang="en-US" dirty="0" smtClean="0"/>
              <a:t>按“中洗饼”按钮，中洗饼气动球阀开启，开始中洗饼，待滤板阀门无水流流出，按“中 洗饼”按钮，中洗饼气动球阀关闭，结束中洗饼。  </a:t>
            </a:r>
          </a:p>
          <a:p>
            <a:r>
              <a:rPr lang="en-US" altLang="zh-CN" dirty="0" smtClean="0"/>
              <a:t>9. </a:t>
            </a:r>
            <a:r>
              <a:rPr lang="zh-CN" altLang="en-US" dirty="0" smtClean="0"/>
              <a:t>按“右吹”按钮，右吹气动球阀开启，开始右吹，待滤板阀门无水流流出，按“右吹” 按钮，右吹气动球阀关闭，结束右吹。 </a:t>
            </a:r>
          </a:p>
          <a:p>
            <a:r>
              <a:rPr lang="en-US" altLang="zh-CN" dirty="0" smtClean="0"/>
              <a:t>10. </a:t>
            </a:r>
            <a:r>
              <a:rPr lang="zh-CN" altLang="en-US" dirty="0" smtClean="0"/>
              <a:t>关闭空气管路阀门。  </a:t>
            </a:r>
          </a:p>
          <a:p>
            <a:r>
              <a:rPr lang="en-US" altLang="zh-CN" dirty="0" smtClean="0"/>
              <a:t>11. </a:t>
            </a:r>
            <a:r>
              <a:rPr lang="zh-CN" altLang="en-US" dirty="0" smtClean="0"/>
              <a:t>按“松开”按钮，油缸泄压，翻板打开，小车开始自动拉板取板，开始卸料过程。</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2428868"/>
            <a:ext cx="7848600" cy="2308324"/>
          </a:xfrm>
          <a:prstGeom prst="rect">
            <a:avLst/>
          </a:prstGeom>
        </p:spPr>
        <p:txBody>
          <a:bodyPr wrap="square">
            <a:spAutoFit/>
          </a:bodyPr>
          <a:lstStyle/>
          <a:p>
            <a:r>
              <a:rPr lang="en-US" altLang="zh-CN" dirty="0" smtClean="0"/>
              <a:t>1. </a:t>
            </a:r>
            <a:r>
              <a:rPr lang="zh-CN" altLang="en-US" dirty="0" smtClean="0"/>
              <a:t>设备运行过程中注意观察，发现问题及时解决。观察压力表显示是否正常，指示灯是否 正常。入料时，有喷料发生，应立即停止入料泵，停车处理。  </a:t>
            </a:r>
          </a:p>
          <a:p>
            <a:r>
              <a:rPr lang="en-US" altLang="zh-CN" dirty="0" smtClean="0"/>
              <a:t>2. </a:t>
            </a:r>
            <a:r>
              <a:rPr lang="zh-CN" altLang="en-US" dirty="0" smtClean="0"/>
              <a:t>每班清理一次滤布，确保滤布干净。入料过程中，发现滤液排黑水时，检查滤布是否损 坏，发现损坏立即更换。  </a:t>
            </a:r>
          </a:p>
          <a:p>
            <a:r>
              <a:rPr lang="en-US" altLang="zh-CN" dirty="0" smtClean="0"/>
              <a:t>3. </a:t>
            </a:r>
            <a:r>
              <a:rPr lang="zh-CN" altLang="en-US" dirty="0" smtClean="0"/>
              <a:t>严禁空腔压榨，防止隔膜板损坏，厢式板和隔膜板是间隔布置的，不得随意颠倒顺序和 减少滤板使用，且两种滤板的安装方向不能颠倒。  </a:t>
            </a:r>
          </a:p>
          <a:p>
            <a:r>
              <a:rPr lang="en-US" altLang="zh-CN" dirty="0" smtClean="0"/>
              <a:t>4. </a:t>
            </a:r>
            <a:r>
              <a:rPr lang="zh-CN" altLang="en-US" dirty="0" smtClean="0"/>
              <a:t>应对设备进行定期维护保养，对各链轮、链条、轴承及滚动轮定期加油，注意各部件的 松动情况，处理存在问题</a:t>
            </a:r>
            <a:endParaRPr lang="zh-CN" altLang="en-US" dirty="0"/>
          </a:p>
        </p:txBody>
      </p:sp>
      <p:sp>
        <p:nvSpPr>
          <p:cNvPr id="3" name="矩形 2"/>
          <p:cNvSpPr/>
          <p:nvPr/>
        </p:nvSpPr>
        <p:spPr>
          <a:xfrm>
            <a:off x="611188" y="549275"/>
            <a:ext cx="2367956" cy="369332"/>
          </a:xfrm>
          <a:prstGeom prst="rect">
            <a:avLst/>
          </a:prstGeom>
        </p:spPr>
        <p:txBody>
          <a:bodyPr wrap="none">
            <a:spAutoFit/>
          </a:bodyPr>
          <a:lstStyle/>
          <a:p>
            <a:pPr lvl="0"/>
            <a:r>
              <a:rPr lang="zh-CN" altLang="en-US" dirty="0" smtClean="0">
                <a:solidFill>
                  <a:prstClr val="black"/>
                </a:solidFill>
              </a:rPr>
              <a:t>三、操作注意事项：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descr="C:\Documents and Settings\Administrator\桌面\压滤机.png"/>
          <p:cNvPicPr>
            <a:picLocks noChangeAspect="1" noChangeArrowheads="1"/>
          </p:cNvPicPr>
          <p:nvPr/>
        </p:nvPicPr>
        <p:blipFill>
          <a:blip r:embed="rId2"/>
          <a:srcRect/>
          <a:stretch>
            <a:fillRect/>
          </a:stretch>
        </p:blipFill>
        <p:spPr bwMode="auto">
          <a:xfrm>
            <a:off x="611188" y="1643050"/>
            <a:ext cx="7848600" cy="4143404"/>
          </a:xfrm>
          <a:prstGeom prst="rect">
            <a:avLst/>
          </a:prstGeom>
          <a:noFill/>
        </p:spPr>
      </p:pic>
      <p:sp>
        <p:nvSpPr>
          <p:cNvPr id="6" name="TextBox 5"/>
          <p:cNvSpPr txBox="1"/>
          <p:nvPr/>
        </p:nvSpPr>
        <p:spPr>
          <a:xfrm>
            <a:off x="2195513" y="1691243"/>
            <a:ext cx="1107996" cy="369332"/>
          </a:xfrm>
          <a:prstGeom prst="rect">
            <a:avLst/>
          </a:prstGeom>
          <a:noFill/>
        </p:spPr>
        <p:txBody>
          <a:bodyPr wrap="none" rtlCol="0">
            <a:spAutoFit/>
          </a:bodyPr>
          <a:lstStyle/>
          <a:p>
            <a:r>
              <a:rPr lang="zh-CN" altLang="en-US" dirty="0" smtClean="0"/>
              <a:t>小车链条</a:t>
            </a:r>
            <a:endParaRPr lang="zh-CN" altLang="en-US" dirty="0"/>
          </a:p>
        </p:txBody>
      </p:sp>
      <p:sp>
        <p:nvSpPr>
          <p:cNvPr id="7" name="TextBox 6"/>
          <p:cNvSpPr txBox="1"/>
          <p:nvPr/>
        </p:nvSpPr>
        <p:spPr>
          <a:xfrm>
            <a:off x="3714744" y="1156772"/>
            <a:ext cx="1338828" cy="369332"/>
          </a:xfrm>
          <a:prstGeom prst="rect">
            <a:avLst/>
          </a:prstGeom>
          <a:noFill/>
        </p:spPr>
        <p:txBody>
          <a:bodyPr wrap="none" rtlCol="0">
            <a:spAutoFit/>
          </a:bodyPr>
          <a:lstStyle/>
          <a:p>
            <a:r>
              <a:rPr lang="zh-CN" altLang="en-US" dirty="0" smtClean="0"/>
              <a:t>滤板行走轮</a:t>
            </a:r>
            <a:endParaRPr lang="zh-CN" altLang="en-US" dirty="0"/>
          </a:p>
        </p:txBody>
      </p:sp>
      <p:sp>
        <p:nvSpPr>
          <p:cNvPr id="8" name="TextBox 7"/>
          <p:cNvSpPr txBox="1"/>
          <p:nvPr/>
        </p:nvSpPr>
        <p:spPr>
          <a:xfrm>
            <a:off x="5286380" y="1156772"/>
            <a:ext cx="1800493" cy="369332"/>
          </a:xfrm>
          <a:prstGeom prst="rect">
            <a:avLst/>
          </a:prstGeom>
          <a:noFill/>
        </p:spPr>
        <p:txBody>
          <a:bodyPr wrap="none" rtlCol="0">
            <a:spAutoFit/>
          </a:bodyPr>
          <a:lstStyle/>
          <a:p>
            <a:r>
              <a:rPr lang="zh-CN" altLang="en-US" dirty="0" smtClean="0"/>
              <a:t>滤板行走轮导轨</a:t>
            </a:r>
            <a:endParaRPr lang="zh-CN" altLang="en-US" dirty="0"/>
          </a:p>
        </p:txBody>
      </p:sp>
      <p:sp>
        <p:nvSpPr>
          <p:cNvPr id="9" name="TextBox 8"/>
          <p:cNvSpPr txBox="1"/>
          <p:nvPr/>
        </p:nvSpPr>
        <p:spPr>
          <a:xfrm>
            <a:off x="439817" y="1691243"/>
            <a:ext cx="1800493" cy="369332"/>
          </a:xfrm>
          <a:prstGeom prst="rect">
            <a:avLst/>
          </a:prstGeom>
          <a:noFill/>
        </p:spPr>
        <p:txBody>
          <a:bodyPr wrap="none" rtlCol="0">
            <a:spAutoFit/>
          </a:bodyPr>
          <a:lstStyle/>
          <a:p>
            <a:r>
              <a:rPr lang="zh-CN" altLang="en-US" dirty="0" smtClean="0"/>
              <a:t>小车链条驱动轮</a:t>
            </a:r>
            <a:endParaRPr lang="zh-CN" altLang="en-US" dirty="0"/>
          </a:p>
        </p:txBody>
      </p:sp>
      <p:sp>
        <p:nvSpPr>
          <p:cNvPr id="10" name="TextBox 9"/>
          <p:cNvSpPr txBox="1"/>
          <p:nvPr/>
        </p:nvSpPr>
        <p:spPr>
          <a:xfrm>
            <a:off x="3000364" y="5429264"/>
            <a:ext cx="1338828" cy="369332"/>
          </a:xfrm>
          <a:prstGeom prst="rect">
            <a:avLst/>
          </a:prstGeom>
          <a:noFill/>
        </p:spPr>
        <p:txBody>
          <a:bodyPr wrap="none" rtlCol="0">
            <a:spAutoFit/>
          </a:bodyPr>
          <a:lstStyle/>
          <a:p>
            <a:r>
              <a:rPr lang="zh-CN" altLang="en-US" dirty="0" smtClean="0"/>
              <a:t>各部分铰链</a:t>
            </a:r>
            <a:endParaRPr lang="zh-CN" altLang="en-US" dirty="0"/>
          </a:p>
        </p:txBody>
      </p:sp>
      <p:sp>
        <p:nvSpPr>
          <p:cNvPr id="11" name="TextBox 3"/>
          <p:cNvSpPr txBox="1"/>
          <p:nvPr/>
        </p:nvSpPr>
        <p:spPr>
          <a:xfrm>
            <a:off x="4357686" y="4714884"/>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smtClean="0"/>
              <a:t>拉板器机构</a:t>
            </a:r>
            <a:endParaRPr lang="zh-CN" altLang="en-US" dirty="0"/>
          </a:p>
        </p:txBody>
      </p:sp>
      <p:sp>
        <p:nvSpPr>
          <p:cNvPr id="12" name="TextBox 3"/>
          <p:cNvSpPr txBox="1"/>
          <p:nvPr/>
        </p:nvSpPr>
        <p:spPr>
          <a:xfrm>
            <a:off x="611188" y="5000636"/>
            <a:ext cx="110799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smtClean="0"/>
              <a:t>翻板轴承</a:t>
            </a:r>
            <a:endParaRPr lang="zh-CN" altLang="en-US" dirty="0"/>
          </a:p>
        </p:txBody>
      </p:sp>
      <p:sp>
        <p:nvSpPr>
          <p:cNvPr id="13" name="矩形 12"/>
          <p:cNvSpPr/>
          <p:nvPr/>
        </p:nvSpPr>
        <p:spPr>
          <a:xfrm>
            <a:off x="611188" y="549275"/>
            <a:ext cx="1617751" cy="36933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rPr>
              <a:t>压滤机润滑图</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1341439"/>
          <a:ext cx="7848600" cy="5040311"/>
        </p:xfrm>
        <a:graphic>
          <a:graphicData uri="http://schemas.openxmlformats.org/drawingml/2006/table">
            <a:tbl>
              <a:tblPr/>
              <a:tblGrid>
                <a:gridCol w="531788"/>
                <a:gridCol w="785818"/>
                <a:gridCol w="928694"/>
                <a:gridCol w="785818"/>
                <a:gridCol w="857256"/>
                <a:gridCol w="1357322"/>
                <a:gridCol w="1214446"/>
                <a:gridCol w="1387458"/>
              </a:tblGrid>
              <a:tr h="565543">
                <a:tc>
                  <a:txBody>
                    <a:bodyPr/>
                    <a:lstStyle/>
                    <a:p>
                      <a:pPr algn="ctr">
                        <a:spcAft>
                          <a:spcPts val="0"/>
                        </a:spcAft>
                      </a:pPr>
                      <a:r>
                        <a:rPr lang="zh-CN" sz="1800" b="1" kern="100" dirty="0" smtClean="0">
                          <a:solidFill>
                            <a:srgbClr val="0000FF"/>
                          </a:solidFill>
                          <a:latin typeface="Calibri"/>
                          <a:ea typeface="宋体"/>
                          <a:cs typeface="Times New Roman"/>
                        </a:rPr>
                        <a:t>五</a:t>
                      </a:r>
                      <a:r>
                        <a:rPr lang="en-US" altLang="zh-CN" sz="1800" b="1" kern="100" dirty="0" smtClean="0">
                          <a:solidFill>
                            <a:srgbClr val="0000FF"/>
                          </a:solidFill>
                          <a:latin typeface="Calibri"/>
                          <a:ea typeface="宋体"/>
                          <a:cs typeface="Times New Roman"/>
                        </a:rPr>
                        <a:t>  </a:t>
                      </a:r>
                      <a:r>
                        <a:rPr lang="zh-CN" sz="1800" b="1" kern="100" dirty="0" smtClean="0">
                          <a:solidFill>
                            <a:srgbClr val="0000FF"/>
                          </a:solidFill>
                          <a:latin typeface="Calibri"/>
                          <a:ea typeface="宋体"/>
                          <a:cs typeface="Times New Roman"/>
                        </a:rPr>
                        <a:t>定</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zh-CN" sz="1800" b="1" kern="100" dirty="0" smtClean="0">
                          <a:solidFill>
                            <a:srgbClr val="0000FF"/>
                          </a:solidFill>
                          <a:latin typeface="Calibri"/>
                          <a:ea typeface="宋体"/>
                          <a:cs typeface="Times New Roman"/>
                        </a:rPr>
                        <a:t>定</a:t>
                      </a:r>
                      <a:r>
                        <a:rPr lang="en-US" altLang="zh-CN" sz="1800" b="1" kern="100" dirty="0" smtClean="0">
                          <a:solidFill>
                            <a:srgbClr val="0000FF"/>
                          </a:solidFill>
                          <a:latin typeface="Calibri"/>
                          <a:ea typeface="宋体"/>
                          <a:cs typeface="Times New Roman"/>
                        </a:rPr>
                        <a:t>  </a:t>
                      </a:r>
                      <a:r>
                        <a:rPr lang="zh-CN" sz="1800" b="1" kern="100" dirty="0" smtClean="0">
                          <a:solidFill>
                            <a:srgbClr val="0000FF"/>
                          </a:solidFill>
                          <a:latin typeface="Calibri"/>
                          <a:ea typeface="宋体"/>
                          <a:cs typeface="Times New Roman"/>
                        </a:rPr>
                        <a:t>点</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zh-CN" sz="1800" b="1" kern="100" dirty="0" smtClean="0">
                          <a:solidFill>
                            <a:srgbClr val="0000FF"/>
                          </a:solidFill>
                          <a:latin typeface="Calibri"/>
                          <a:ea typeface="宋体"/>
                          <a:cs typeface="Times New Roman"/>
                        </a:rPr>
                        <a:t>定</a:t>
                      </a:r>
                      <a:r>
                        <a:rPr lang="en-US" altLang="zh-CN" sz="1800" b="1" kern="100" dirty="0" smtClean="0">
                          <a:solidFill>
                            <a:srgbClr val="0000FF"/>
                          </a:solidFill>
                          <a:latin typeface="Calibri"/>
                          <a:ea typeface="宋体"/>
                          <a:cs typeface="Times New Roman"/>
                        </a:rPr>
                        <a:t>  </a:t>
                      </a:r>
                      <a:r>
                        <a:rPr lang="zh-CN" sz="1800" b="1" kern="100" dirty="0" smtClean="0">
                          <a:solidFill>
                            <a:srgbClr val="0000FF"/>
                          </a:solidFill>
                          <a:latin typeface="Calibri"/>
                          <a:ea typeface="宋体"/>
                          <a:cs typeface="Times New Roman"/>
                        </a:rPr>
                        <a:t>期</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smtClean="0">
                          <a:solidFill>
                            <a:srgbClr val="0000FF"/>
                          </a:solidFill>
                          <a:latin typeface="Calibri"/>
                          <a:ea typeface="宋体"/>
                          <a:cs typeface="Times New Roman"/>
                        </a:rPr>
                        <a:t>定</a:t>
                      </a:r>
                      <a:r>
                        <a:rPr lang="en-US" altLang="zh-CN" sz="1800" b="1" kern="100" dirty="0" smtClean="0">
                          <a:solidFill>
                            <a:srgbClr val="0000FF"/>
                          </a:solidFill>
                          <a:latin typeface="Calibri"/>
                          <a:ea typeface="宋体"/>
                          <a:cs typeface="Times New Roman"/>
                        </a:rPr>
                        <a:t>  </a:t>
                      </a:r>
                      <a:r>
                        <a:rPr lang="zh-CN" sz="1800" b="1" kern="100" dirty="0" smtClean="0">
                          <a:solidFill>
                            <a:srgbClr val="0000FF"/>
                          </a:solidFill>
                          <a:latin typeface="Calibri"/>
                          <a:ea typeface="宋体"/>
                          <a:cs typeface="Times New Roman"/>
                        </a:rPr>
                        <a:t>质</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smtClean="0">
                          <a:solidFill>
                            <a:srgbClr val="0000FF"/>
                          </a:solidFill>
                          <a:latin typeface="Calibri"/>
                          <a:ea typeface="宋体"/>
                          <a:cs typeface="Times New Roman"/>
                        </a:rPr>
                        <a:t>定</a:t>
                      </a:r>
                      <a:r>
                        <a:rPr lang="en-US" altLang="zh-CN" sz="1800" b="1" kern="100" dirty="0" smtClean="0">
                          <a:solidFill>
                            <a:srgbClr val="0000FF"/>
                          </a:solidFill>
                          <a:latin typeface="Calibri"/>
                          <a:ea typeface="宋体"/>
                          <a:cs typeface="Times New Roman"/>
                        </a:rPr>
                        <a:t>  </a:t>
                      </a:r>
                      <a:r>
                        <a:rPr lang="zh-CN" sz="1800" b="1" kern="100" dirty="0" smtClean="0">
                          <a:solidFill>
                            <a:srgbClr val="0000FF"/>
                          </a:solidFill>
                          <a:latin typeface="Calibri"/>
                          <a:ea typeface="宋体"/>
                          <a:cs typeface="Times New Roman"/>
                        </a:rPr>
                        <a:t>量</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smtClean="0">
                          <a:solidFill>
                            <a:srgbClr val="0000FF"/>
                          </a:solidFill>
                          <a:latin typeface="Calibri"/>
                          <a:ea typeface="宋体"/>
                          <a:cs typeface="Times New Roman"/>
                        </a:rPr>
                        <a:t>定</a:t>
                      </a:r>
                      <a:r>
                        <a:rPr lang="en-US" altLang="zh-CN" sz="1800" b="1" kern="100" dirty="0" smtClean="0">
                          <a:solidFill>
                            <a:srgbClr val="0000FF"/>
                          </a:solidFill>
                          <a:latin typeface="Calibri"/>
                          <a:ea typeface="宋体"/>
                          <a:cs typeface="Times New Roman"/>
                        </a:rPr>
                        <a:t>  </a:t>
                      </a:r>
                      <a:r>
                        <a:rPr lang="zh-CN" sz="1800" b="1" kern="100" dirty="0" smtClean="0">
                          <a:solidFill>
                            <a:srgbClr val="0000FF"/>
                          </a:solidFill>
                          <a:latin typeface="Calibri"/>
                          <a:ea typeface="宋体"/>
                          <a:cs typeface="Times New Roman"/>
                        </a:rPr>
                        <a:t>人</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31087">
                <a:tc>
                  <a:txBody>
                    <a:bodyPr/>
                    <a:lstStyle/>
                    <a:p>
                      <a:pPr algn="ctr">
                        <a:spcAft>
                          <a:spcPts val="0"/>
                        </a:spcAft>
                      </a:pPr>
                      <a:r>
                        <a:rPr lang="zh-CN" sz="1800" b="1" kern="100" dirty="0" smtClean="0">
                          <a:solidFill>
                            <a:srgbClr val="0000FF"/>
                          </a:solidFill>
                          <a:latin typeface="Calibri"/>
                          <a:ea typeface="宋体"/>
                          <a:cs typeface="Times New Roman"/>
                        </a:rPr>
                        <a:t>序</a:t>
                      </a:r>
                      <a:r>
                        <a:rPr lang="en-US" altLang="zh-CN" sz="1800" b="1" kern="100" dirty="0" smtClean="0">
                          <a:solidFill>
                            <a:srgbClr val="0000FF"/>
                          </a:solidFill>
                          <a:latin typeface="Calibri"/>
                          <a:ea typeface="宋体"/>
                          <a:cs typeface="Times New Roman"/>
                        </a:rPr>
                        <a:t>  </a:t>
                      </a:r>
                      <a:r>
                        <a:rPr lang="zh-CN" sz="1800" b="1" kern="100" dirty="0" smtClean="0">
                          <a:solidFill>
                            <a:srgbClr val="0000FF"/>
                          </a:solidFill>
                          <a:latin typeface="Calibri"/>
                          <a:ea typeface="宋体"/>
                          <a:cs typeface="Times New Roman"/>
                        </a:rPr>
                        <a:t>号</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润滑</a:t>
                      </a:r>
                    </a:p>
                    <a:p>
                      <a:pPr algn="ctr">
                        <a:spcAft>
                          <a:spcPts val="0"/>
                        </a:spcAft>
                      </a:pPr>
                      <a:r>
                        <a:rPr lang="zh-CN" sz="1800" b="1" kern="100" dirty="0">
                          <a:solidFill>
                            <a:srgbClr val="0000FF"/>
                          </a:solidFill>
                          <a:latin typeface="Calibri"/>
                          <a:ea typeface="宋体"/>
                          <a:cs typeface="Times New Roman"/>
                        </a:rPr>
                        <a:t>部位</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加油</a:t>
                      </a:r>
                    </a:p>
                    <a:p>
                      <a:pPr algn="ctr">
                        <a:spcAft>
                          <a:spcPts val="0"/>
                        </a:spcAft>
                      </a:pPr>
                      <a:r>
                        <a:rPr lang="zh-CN" sz="1800" b="1" kern="100" dirty="0">
                          <a:solidFill>
                            <a:srgbClr val="0000FF"/>
                          </a:solidFill>
                          <a:latin typeface="Calibri"/>
                          <a:ea typeface="宋体"/>
                          <a:cs typeface="Times New Roman"/>
                        </a:rPr>
                        <a:t>方法</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润滑</a:t>
                      </a:r>
                    </a:p>
                    <a:p>
                      <a:pPr algn="ctr">
                        <a:spcAft>
                          <a:spcPts val="0"/>
                        </a:spcAft>
                      </a:pPr>
                      <a:r>
                        <a:rPr lang="zh-CN" sz="1800" b="1" kern="100" dirty="0">
                          <a:solidFill>
                            <a:srgbClr val="0000FF"/>
                          </a:solidFill>
                          <a:latin typeface="Calibri"/>
                          <a:ea typeface="宋体"/>
                          <a:cs typeface="Times New Roman"/>
                        </a:rPr>
                        <a:t>点数</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润滑</a:t>
                      </a:r>
                    </a:p>
                    <a:p>
                      <a:pPr algn="ctr">
                        <a:spcAft>
                          <a:spcPts val="0"/>
                        </a:spcAft>
                      </a:pPr>
                      <a:r>
                        <a:rPr lang="zh-CN" sz="1800" b="1" kern="100" dirty="0">
                          <a:solidFill>
                            <a:srgbClr val="0000FF"/>
                          </a:solidFill>
                          <a:latin typeface="Calibri"/>
                          <a:ea typeface="宋体"/>
                          <a:cs typeface="Times New Roman"/>
                        </a:rPr>
                        <a:t>周期</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润滑</a:t>
                      </a:r>
                    </a:p>
                    <a:p>
                      <a:pPr algn="ctr">
                        <a:spcAft>
                          <a:spcPts val="0"/>
                        </a:spcAft>
                      </a:pPr>
                      <a:r>
                        <a:rPr lang="zh-CN" sz="1800" b="1" kern="100" dirty="0">
                          <a:solidFill>
                            <a:srgbClr val="0000FF"/>
                          </a:solidFill>
                          <a:latin typeface="Calibri"/>
                          <a:ea typeface="宋体"/>
                          <a:cs typeface="Times New Roman"/>
                        </a:rPr>
                        <a:t>油类</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加油量</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800" b="1" kern="100" dirty="0" smtClean="0">
                          <a:solidFill>
                            <a:srgbClr val="0000FF"/>
                          </a:solidFill>
                          <a:latin typeface="Calibri"/>
                          <a:ea typeface="宋体"/>
                          <a:cs typeface="Times New Roman"/>
                        </a:rPr>
                        <a:t>责任</a:t>
                      </a:r>
                      <a:r>
                        <a:rPr lang="zh-CN" sz="1800" b="1" kern="100" dirty="0" smtClean="0">
                          <a:solidFill>
                            <a:srgbClr val="0000FF"/>
                          </a:solidFill>
                          <a:latin typeface="Calibri"/>
                          <a:ea typeface="宋体"/>
                          <a:cs typeface="Times New Roman"/>
                        </a:rPr>
                        <a:t>人员</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96632">
                <a:tc>
                  <a:txBody>
                    <a:bodyPr/>
                    <a:lstStyle/>
                    <a:p>
                      <a:pPr algn="ctr">
                        <a:spcAft>
                          <a:spcPts val="0"/>
                        </a:spcAft>
                      </a:pPr>
                      <a:r>
                        <a:rPr lang="en-US" sz="1800" b="1" kern="100" dirty="0">
                          <a:solidFill>
                            <a:srgbClr val="0000FF"/>
                          </a:solidFill>
                          <a:latin typeface="Calibri"/>
                          <a:ea typeface="宋体"/>
                          <a:cs typeface="Times New Roman"/>
                        </a:rPr>
                        <a:t>1</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翻板</a:t>
                      </a:r>
                    </a:p>
                    <a:p>
                      <a:pPr algn="ctr">
                        <a:spcAft>
                          <a:spcPts val="0"/>
                        </a:spcAft>
                      </a:pPr>
                      <a:r>
                        <a:rPr lang="zh-CN" sz="1800" b="1" kern="100">
                          <a:solidFill>
                            <a:srgbClr val="0000FF"/>
                          </a:solidFill>
                          <a:latin typeface="Calibri"/>
                          <a:ea typeface="宋体"/>
                          <a:cs typeface="Times New Roman"/>
                        </a:rPr>
                        <a:t>轴承</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手工</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rgbClr val="0000FF"/>
                          </a:solidFill>
                          <a:latin typeface="Calibri"/>
                          <a:ea typeface="宋体"/>
                          <a:cs typeface="Times New Roman"/>
                        </a:rPr>
                        <a:t>4</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每周</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rgbClr val="0000FF"/>
                          </a:solidFill>
                          <a:latin typeface="Calibri"/>
                          <a:ea typeface="宋体"/>
                          <a:cs typeface="Times New Roman"/>
                        </a:rPr>
                        <a:t>2</a:t>
                      </a:r>
                      <a:r>
                        <a:rPr lang="zh-CN" sz="1800" b="1" kern="100" dirty="0" smtClean="0">
                          <a:solidFill>
                            <a:srgbClr val="0000FF"/>
                          </a:solidFill>
                          <a:latin typeface="Calibri"/>
                          <a:ea typeface="宋体"/>
                          <a:cs typeface="Times New Roman"/>
                        </a:rPr>
                        <a:t>号锂基</a:t>
                      </a:r>
                      <a:endParaRPr lang="en-US" altLang="zh-CN" sz="1800" b="1" kern="100" dirty="0" smtClean="0">
                        <a:solidFill>
                          <a:srgbClr val="0000FF"/>
                        </a:solidFill>
                        <a:latin typeface="Calibri"/>
                        <a:ea typeface="宋体"/>
                        <a:cs typeface="Times New Roman"/>
                      </a:endParaRPr>
                    </a:p>
                    <a:p>
                      <a:pPr algn="ctr">
                        <a:spcAft>
                          <a:spcPts val="0"/>
                        </a:spcAft>
                      </a:pPr>
                      <a:r>
                        <a:rPr lang="zh-CN" sz="1800" b="1" kern="100" dirty="0" smtClean="0">
                          <a:solidFill>
                            <a:srgbClr val="0000FF"/>
                          </a:solidFill>
                          <a:latin typeface="Calibri"/>
                          <a:ea typeface="宋体"/>
                          <a:cs typeface="Times New Roman"/>
                        </a:rPr>
                        <a:t>润滑脂</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rgbClr val="0000FF"/>
                          </a:solidFill>
                          <a:latin typeface="Calibri"/>
                          <a:ea typeface="宋体"/>
                          <a:cs typeface="Times New Roman"/>
                        </a:rPr>
                        <a:t>2</a:t>
                      </a:r>
                      <a:r>
                        <a:rPr lang="zh-CN" sz="1800" b="1" kern="100" dirty="0">
                          <a:solidFill>
                            <a:srgbClr val="0000FF"/>
                          </a:solidFill>
                          <a:latin typeface="Calibri"/>
                          <a:ea typeface="宋体"/>
                          <a:cs typeface="Times New Roman"/>
                        </a:rPr>
                        <a:t>克</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47049">
                <a:tc>
                  <a:txBody>
                    <a:bodyPr/>
                    <a:lstStyle/>
                    <a:p>
                      <a:pPr algn="ctr">
                        <a:spcAft>
                          <a:spcPts val="0"/>
                        </a:spcAft>
                      </a:pPr>
                      <a:r>
                        <a:rPr lang="en-US" sz="1800" b="1" kern="100">
                          <a:solidFill>
                            <a:srgbClr val="0000FF"/>
                          </a:solidFill>
                          <a:latin typeface="Calibri"/>
                          <a:ea typeface="宋体"/>
                          <a:cs typeface="Times New Roman"/>
                        </a:rPr>
                        <a:t>2</a:t>
                      </a:r>
                      <a:endParaRPr lang="zh-CN" sz="1800" b="1" kern="10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液压</a:t>
                      </a:r>
                    </a:p>
                    <a:p>
                      <a:pPr algn="ctr">
                        <a:spcAft>
                          <a:spcPts val="0"/>
                        </a:spcAft>
                      </a:pPr>
                      <a:r>
                        <a:rPr lang="zh-CN" sz="1800" b="1" kern="100">
                          <a:solidFill>
                            <a:srgbClr val="0000FF"/>
                          </a:solidFill>
                          <a:latin typeface="Calibri"/>
                          <a:ea typeface="宋体"/>
                          <a:cs typeface="Times New Roman"/>
                        </a:rPr>
                        <a:t>油站</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手工</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rgbClr val="0000FF"/>
                          </a:solidFill>
                          <a:latin typeface="Calibri"/>
                          <a:ea typeface="宋体"/>
                          <a:cs typeface="Times New Roman"/>
                        </a:rPr>
                        <a:t>1</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半年</a:t>
                      </a: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rgbClr val="0000FF"/>
                          </a:solidFill>
                          <a:latin typeface="Calibri"/>
                          <a:ea typeface="宋体"/>
                          <a:cs typeface="Times New Roman"/>
                        </a:rPr>
                        <a:t>HM68</a:t>
                      </a:r>
                      <a:r>
                        <a:rPr lang="zh-CN" sz="1800" b="1" kern="100" dirty="0" smtClean="0">
                          <a:solidFill>
                            <a:srgbClr val="0000FF"/>
                          </a:solidFill>
                          <a:latin typeface="Calibri"/>
                          <a:ea typeface="宋体"/>
                          <a:cs typeface="Times New Roman"/>
                        </a:rPr>
                        <a:t>号</a:t>
                      </a:r>
                      <a:endParaRPr lang="en-US" altLang="zh-CN" sz="1800" b="1" kern="100" dirty="0" smtClean="0">
                        <a:solidFill>
                          <a:srgbClr val="0000FF"/>
                        </a:solidFill>
                        <a:latin typeface="Calibri"/>
                        <a:ea typeface="宋体"/>
                        <a:cs typeface="Times New Roman"/>
                      </a:endParaRPr>
                    </a:p>
                    <a:p>
                      <a:pPr algn="ctr">
                        <a:spcAft>
                          <a:spcPts val="0"/>
                        </a:spcAft>
                      </a:pPr>
                      <a:r>
                        <a:rPr lang="zh-CN" sz="1800" b="1" kern="100" dirty="0" smtClean="0">
                          <a:solidFill>
                            <a:srgbClr val="0000FF"/>
                          </a:solidFill>
                          <a:latin typeface="Calibri"/>
                          <a:ea typeface="宋体"/>
                          <a:cs typeface="Times New Roman"/>
                        </a:rPr>
                        <a:t>液压油</a:t>
                      </a:r>
                      <a:endParaRPr lang="zh-CN"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rgbClr val="0000FF"/>
                          </a:solidFill>
                          <a:latin typeface="Calibri"/>
                          <a:ea typeface="宋体"/>
                          <a:cs typeface="Times New Roman"/>
                        </a:rPr>
                        <a:t>200L</a:t>
                      </a:r>
                      <a:endParaRPr lang="zh-CN" sz="1800" b="1" kern="10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b="1" kern="100" dirty="0">
                        <a:solidFill>
                          <a:srgbClr val="0000FF"/>
                        </a:solidFill>
                        <a:latin typeface="Calibri"/>
                        <a:ea typeface="宋体"/>
                        <a:cs typeface="Times New Roman"/>
                      </a:endParaRPr>
                    </a:p>
                  </a:txBody>
                  <a:tcPr marL="66576" marR="6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TextBox 2"/>
          <p:cNvSpPr txBox="1"/>
          <p:nvPr/>
        </p:nvSpPr>
        <p:spPr>
          <a:xfrm>
            <a:off x="611188" y="714356"/>
            <a:ext cx="1800493" cy="369332"/>
          </a:xfrm>
          <a:prstGeom prst="rect">
            <a:avLst/>
          </a:prstGeom>
          <a:noFill/>
        </p:spPr>
        <p:txBody>
          <a:bodyPr wrap="none" rtlCol="0">
            <a:spAutoFit/>
          </a:bodyPr>
          <a:lstStyle/>
          <a:p>
            <a:r>
              <a:rPr lang="zh-CN" altLang="en-US" dirty="0" smtClean="0"/>
              <a:t>润滑工作五定：</a:t>
            </a:r>
            <a:endParaRPr lang="zh-CN" alt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04442" y="2659559"/>
            <a:ext cx="5811206" cy="830997"/>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rPr>
              <a:t>压滤机维护检修规程</a:t>
            </a:r>
            <a:endParaRPr lang="zh-CN" altLang="en-US" sz="4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方正正粗黑简体" pitchFamily="2" charset="-122"/>
              <a:ea typeface="方正正粗黑简体" pitchFamily="2" charset="-122"/>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1341438"/>
            <a:ext cx="7848600" cy="3139321"/>
          </a:xfrm>
          <a:prstGeom prst="rect">
            <a:avLst/>
          </a:prstGeom>
        </p:spPr>
        <p:txBody>
          <a:bodyPr wrap="square">
            <a:spAutoFit/>
          </a:bodyPr>
          <a:lstStyle/>
          <a:p>
            <a:r>
              <a:rPr lang="en-US" altLang="zh-CN" dirty="0" smtClean="0"/>
              <a:t>1. </a:t>
            </a:r>
            <a:r>
              <a:rPr lang="zh-CN" altLang="en-US" dirty="0" smtClean="0"/>
              <a:t>使用时做好运行记录，对设备的运转情况及所出现的问题记录备案，并应及时对设备的 故障进行维修。   </a:t>
            </a:r>
          </a:p>
          <a:p>
            <a:r>
              <a:rPr lang="en-US" altLang="zh-CN" dirty="0" smtClean="0"/>
              <a:t>2. </a:t>
            </a:r>
            <a:r>
              <a:rPr lang="zh-CN" altLang="en-US" dirty="0" smtClean="0"/>
              <a:t>保持各配合部位的清洁，并补充适量的润滑油以保证其润滑性能。 </a:t>
            </a:r>
          </a:p>
          <a:p>
            <a:r>
              <a:rPr lang="en-US" altLang="zh-CN" dirty="0" smtClean="0"/>
              <a:t>3. </a:t>
            </a:r>
            <a:r>
              <a:rPr lang="zh-CN" altLang="en-US" dirty="0" smtClean="0"/>
              <a:t>对电控系统，要进行绝缘性试验和动作可靠性试验，对动作不灵活或动准确性差的元件 一经发现，及时进行修理或更换。   </a:t>
            </a:r>
          </a:p>
          <a:p>
            <a:r>
              <a:rPr lang="en-US" altLang="zh-CN" dirty="0" smtClean="0"/>
              <a:t>4. </a:t>
            </a:r>
            <a:r>
              <a:rPr lang="zh-CN" altLang="en-US" dirty="0" smtClean="0"/>
              <a:t>经常检查滤板的密封面，保证其光洁、干净，检查滤布有否折叠，保证其平整、完好。  </a:t>
            </a:r>
          </a:p>
          <a:p>
            <a:r>
              <a:rPr lang="en-US" altLang="zh-CN" dirty="0" smtClean="0"/>
              <a:t>5. </a:t>
            </a:r>
            <a:r>
              <a:rPr lang="zh-CN" altLang="en-US" dirty="0" smtClean="0"/>
              <a:t>液压系统的保养，主要是对油箱液面、液压元件各个连接口密封性的检查和保养，并保 证液压油的清洁度。   </a:t>
            </a:r>
          </a:p>
          <a:p>
            <a:r>
              <a:rPr lang="en-US" altLang="zh-CN" dirty="0" smtClean="0"/>
              <a:t>6. </a:t>
            </a:r>
            <a:r>
              <a:rPr lang="zh-CN" altLang="en-US" dirty="0" smtClean="0"/>
              <a:t>如设备长期不使用，应将滤板清洗干净，滤布清洗后晾干。将滤板清洗干净后整齐排放 在压滤机机架上，用</a:t>
            </a:r>
            <a:r>
              <a:rPr lang="en-US" altLang="zh-CN" dirty="0" smtClean="0"/>
              <a:t>1-5Mpa</a:t>
            </a:r>
            <a:r>
              <a:rPr lang="zh-CN" altLang="en-US" dirty="0" smtClean="0"/>
              <a:t>压力压紧，活塞外露部分涂抹黄油。</a:t>
            </a:r>
            <a:endParaRPr lang="zh-CN" altLang="en-US" dirty="0"/>
          </a:p>
        </p:txBody>
      </p:sp>
      <p:sp>
        <p:nvSpPr>
          <p:cNvPr id="3" name="矩形 2"/>
          <p:cNvSpPr/>
          <p:nvPr/>
        </p:nvSpPr>
        <p:spPr>
          <a:xfrm>
            <a:off x="611188" y="549275"/>
            <a:ext cx="2190023" cy="369332"/>
          </a:xfrm>
          <a:prstGeom prst="rect">
            <a:avLst/>
          </a:prstGeom>
        </p:spPr>
        <p:txBody>
          <a:bodyPr wrap="none">
            <a:spAutoFit/>
          </a:bodyPr>
          <a:lstStyle/>
          <a:p>
            <a:r>
              <a:rPr lang="zh-CN" altLang="en-US" dirty="0" smtClean="0"/>
              <a:t>一、日常维护保养   </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188" y="549275"/>
            <a:ext cx="2262158" cy="369332"/>
          </a:xfrm>
          <a:prstGeom prst="rect">
            <a:avLst/>
          </a:prstGeom>
        </p:spPr>
        <p:txBody>
          <a:bodyPr wrap="none">
            <a:spAutoFit/>
          </a:bodyPr>
          <a:lstStyle/>
          <a:p>
            <a:r>
              <a:rPr lang="zh-CN" altLang="en-US" dirty="0" smtClean="0"/>
              <a:t>二、常见故障及排除</a:t>
            </a:r>
            <a:endParaRPr lang="zh-CN" altLang="en-US" dirty="0"/>
          </a:p>
        </p:txBody>
      </p:sp>
      <p:graphicFrame>
        <p:nvGraphicFramePr>
          <p:cNvPr id="3" name="表格 2"/>
          <p:cNvGraphicFramePr>
            <a:graphicFrameLocks noGrp="1"/>
          </p:cNvGraphicFramePr>
          <p:nvPr/>
        </p:nvGraphicFramePr>
        <p:xfrm>
          <a:off x="611186" y="1052509"/>
          <a:ext cx="7848601" cy="5321021"/>
        </p:xfrm>
        <a:graphic>
          <a:graphicData uri="http://schemas.openxmlformats.org/drawingml/2006/table">
            <a:tbl>
              <a:tblPr/>
              <a:tblGrid>
                <a:gridCol w="535402"/>
                <a:gridCol w="904235"/>
                <a:gridCol w="3373431"/>
                <a:gridCol w="3035533"/>
              </a:tblGrid>
              <a:tr h="876293">
                <a:tc>
                  <a:txBody>
                    <a:bodyPr/>
                    <a:lstStyle/>
                    <a:p>
                      <a:pPr algn="ctr">
                        <a:spcAft>
                          <a:spcPts val="0"/>
                        </a:spcAft>
                      </a:pPr>
                      <a:r>
                        <a:rPr lang="zh-CN" sz="1600" b="1" kern="100" dirty="0">
                          <a:solidFill>
                            <a:srgbClr val="0000FF"/>
                          </a:solidFill>
                          <a:latin typeface="Calibri"/>
                          <a:ea typeface="宋体"/>
                          <a:cs typeface="Times New Roman"/>
                        </a:rPr>
                        <a:t>序号</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a:ea typeface="宋体"/>
                          <a:cs typeface="Times New Roman"/>
                        </a:rPr>
                        <a:t>故障</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a:ea typeface="宋体"/>
                          <a:cs typeface="Times New Roman"/>
                        </a:rPr>
                        <a:t>产生的原因</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a:ea typeface="宋体"/>
                          <a:cs typeface="Times New Roman"/>
                        </a:rPr>
                        <a:t>排除方法</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71636">
                <a:tc>
                  <a:txBody>
                    <a:bodyPr/>
                    <a:lstStyle/>
                    <a:p>
                      <a:pPr algn="ctr">
                        <a:spcAft>
                          <a:spcPts val="0"/>
                        </a:spcAft>
                      </a:pPr>
                      <a:r>
                        <a:rPr lang="en-US" sz="1600" b="1" kern="100">
                          <a:solidFill>
                            <a:srgbClr val="0000FF"/>
                          </a:solidFill>
                          <a:latin typeface="Calibri"/>
                          <a:ea typeface="宋体"/>
                          <a:cs typeface="Times New Roman"/>
                        </a:rPr>
                        <a:t>1</a:t>
                      </a:r>
                      <a:endParaRPr lang="zh-CN" sz="1600" b="1" kern="100">
                        <a:solidFill>
                          <a:srgbClr val="0000FF"/>
                        </a:solidFill>
                        <a:latin typeface="Calibri"/>
                        <a:ea typeface="宋体"/>
                        <a:cs typeface="Times New Roman"/>
                      </a:endParaRP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a:solidFill>
                            <a:srgbClr val="0000FF"/>
                          </a:solidFill>
                          <a:latin typeface="Calibri"/>
                          <a:ea typeface="宋体"/>
                          <a:cs typeface="Times New Roman"/>
                        </a:rPr>
                        <a:t>压力</a:t>
                      </a:r>
                    </a:p>
                    <a:p>
                      <a:pPr algn="ctr">
                        <a:spcAft>
                          <a:spcPts val="0"/>
                        </a:spcAft>
                      </a:pPr>
                      <a:r>
                        <a:rPr lang="zh-CN" sz="1600" b="1" kern="100">
                          <a:solidFill>
                            <a:srgbClr val="0000FF"/>
                          </a:solidFill>
                          <a:latin typeface="Calibri"/>
                          <a:ea typeface="宋体"/>
                          <a:cs typeface="Times New Roman"/>
                        </a:rPr>
                        <a:t>不足</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b="1" kern="100" dirty="0">
                          <a:solidFill>
                            <a:srgbClr val="0000FF"/>
                          </a:solidFill>
                          <a:latin typeface="Calibri"/>
                          <a:ea typeface="宋体"/>
                          <a:cs typeface="Times New Roman"/>
                        </a:rPr>
                        <a:t>1. </a:t>
                      </a:r>
                      <a:r>
                        <a:rPr lang="zh-CN" sz="1600" b="1" kern="100" dirty="0">
                          <a:solidFill>
                            <a:srgbClr val="0000FF"/>
                          </a:solidFill>
                          <a:latin typeface="Calibri"/>
                          <a:ea typeface="宋体"/>
                          <a:cs typeface="Times New Roman"/>
                        </a:rPr>
                        <a:t>溢流阀调整不当或损坏 </a:t>
                      </a:r>
                    </a:p>
                    <a:p>
                      <a:pPr algn="just">
                        <a:spcAft>
                          <a:spcPts val="0"/>
                        </a:spcAft>
                      </a:pPr>
                      <a:r>
                        <a:rPr lang="en-US" sz="1600" b="1" kern="100" dirty="0">
                          <a:solidFill>
                            <a:srgbClr val="0000FF"/>
                          </a:solidFill>
                          <a:latin typeface="Calibri"/>
                          <a:ea typeface="宋体"/>
                          <a:cs typeface="Times New Roman"/>
                        </a:rPr>
                        <a:t>2. </a:t>
                      </a:r>
                      <a:r>
                        <a:rPr lang="zh-CN" sz="1600" b="1" kern="100" dirty="0">
                          <a:solidFill>
                            <a:srgbClr val="0000FF"/>
                          </a:solidFill>
                          <a:latin typeface="Calibri"/>
                          <a:ea typeface="宋体"/>
                          <a:cs typeface="Times New Roman"/>
                        </a:rPr>
                        <a:t>油位不够 </a:t>
                      </a:r>
                    </a:p>
                    <a:p>
                      <a:pPr algn="just">
                        <a:spcAft>
                          <a:spcPts val="0"/>
                        </a:spcAft>
                      </a:pPr>
                      <a:r>
                        <a:rPr lang="en-US" sz="1600" b="1" kern="100" dirty="0">
                          <a:solidFill>
                            <a:srgbClr val="0000FF"/>
                          </a:solidFill>
                          <a:latin typeface="Calibri"/>
                          <a:ea typeface="宋体"/>
                          <a:cs typeface="Times New Roman"/>
                        </a:rPr>
                        <a:t>3. </a:t>
                      </a:r>
                      <a:r>
                        <a:rPr lang="zh-CN" sz="1600" b="1" kern="100" dirty="0">
                          <a:solidFill>
                            <a:srgbClr val="0000FF"/>
                          </a:solidFill>
                          <a:latin typeface="Calibri"/>
                          <a:ea typeface="宋体"/>
                          <a:cs typeface="Times New Roman"/>
                        </a:rPr>
                        <a:t>油泵损坏</a:t>
                      </a:r>
                      <a:r>
                        <a:rPr lang="en-US" sz="1600" b="1" kern="100" dirty="0">
                          <a:solidFill>
                            <a:srgbClr val="0000FF"/>
                          </a:solidFill>
                          <a:latin typeface="Calibri"/>
                          <a:ea typeface="宋体"/>
                          <a:cs typeface="Times New Roman"/>
                        </a:rPr>
                        <a:t>  </a:t>
                      </a:r>
                      <a:endParaRPr lang="zh-CN" sz="1600" b="1" kern="100" dirty="0">
                        <a:solidFill>
                          <a:srgbClr val="0000FF"/>
                        </a:solidFill>
                        <a:latin typeface="Calibri"/>
                        <a:ea typeface="宋体"/>
                        <a:cs typeface="Times New Roman"/>
                      </a:endParaRPr>
                    </a:p>
                    <a:p>
                      <a:pPr algn="just">
                        <a:spcAft>
                          <a:spcPts val="0"/>
                        </a:spcAft>
                      </a:pPr>
                      <a:r>
                        <a:rPr lang="en-US" sz="1600" b="1" kern="100" dirty="0">
                          <a:solidFill>
                            <a:srgbClr val="0000FF"/>
                          </a:solidFill>
                          <a:latin typeface="Calibri"/>
                          <a:ea typeface="宋体"/>
                          <a:cs typeface="Times New Roman"/>
                        </a:rPr>
                        <a:t>4. </a:t>
                      </a:r>
                      <a:r>
                        <a:rPr lang="zh-CN" sz="1600" b="1" kern="100" dirty="0">
                          <a:solidFill>
                            <a:srgbClr val="0000FF"/>
                          </a:solidFill>
                          <a:latin typeface="Calibri"/>
                          <a:ea typeface="宋体"/>
                          <a:cs typeface="Times New Roman"/>
                        </a:rPr>
                        <a:t>阀块和接头处漏油 </a:t>
                      </a:r>
                    </a:p>
                    <a:p>
                      <a:pPr algn="just">
                        <a:spcAft>
                          <a:spcPts val="0"/>
                        </a:spcAft>
                      </a:pPr>
                      <a:r>
                        <a:rPr lang="en-US" sz="1600" b="1" kern="100" dirty="0">
                          <a:solidFill>
                            <a:srgbClr val="0000FF"/>
                          </a:solidFill>
                          <a:latin typeface="Calibri"/>
                          <a:ea typeface="宋体"/>
                          <a:cs typeface="Times New Roman"/>
                        </a:rPr>
                        <a:t>5. </a:t>
                      </a:r>
                      <a:r>
                        <a:rPr lang="zh-CN" sz="1600" b="1" kern="100" dirty="0">
                          <a:solidFill>
                            <a:srgbClr val="0000FF"/>
                          </a:solidFill>
                          <a:latin typeface="Calibri"/>
                          <a:ea typeface="宋体"/>
                          <a:cs typeface="Times New Roman"/>
                        </a:rPr>
                        <a:t>油缸密封圈磨损 </a:t>
                      </a:r>
                    </a:p>
                    <a:p>
                      <a:pPr algn="just">
                        <a:spcAft>
                          <a:spcPts val="0"/>
                        </a:spcAft>
                      </a:pPr>
                      <a:r>
                        <a:rPr lang="en-US" sz="1600" b="1" kern="100" dirty="0">
                          <a:solidFill>
                            <a:srgbClr val="0000FF"/>
                          </a:solidFill>
                          <a:latin typeface="Calibri"/>
                          <a:ea typeface="宋体"/>
                          <a:cs typeface="Times New Roman"/>
                        </a:rPr>
                        <a:t>6. </a:t>
                      </a:r>
                      <a:r>
                        <a:rPr lang="zh-CN" sz="1600" b="1" kern="100" dirty="0">
                          <a:solidFill>
                            <a:srgbClr val="0000FF"/>
                          </a:solidFill>
                          <a:latin typeface="Calibri"/>
                          <a:ea typeface="宋体"/>
                          <a:cs typeface="Times New Roman"/>
                        </a:rPr>
                        <a:t>阀内泄漏</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b="1" kern="100" dirty="0">
                          <a:solidFill>
                            <a:srgbClr val="0000FF"/>
                          </a:solidFill>
                          <a:latin typeface="Calibri"/>
                          <a:ea typeface="宋体"/>
                          <a:cs typeface="Times New Roman"/>
                        </a:rPr>
                        <a:t>1. </a:t>
                      </a:r>
                      <a:r>
                        <a:rPr lang="zh-CN" sz="1600" b="1" kern="100" dirty="0">
                          <a:solidFill>
                            <a:srgbClr val="0000FF"/>
                          </a:solidFill>
                          <a:latin typeface="Calibri"/>
                          <a:ea typeface="宋体"/>
                          <a:cs typeface="Times New Roman"/>
                        </a:rPr>
                        <a:t>调整或更换 </a:t>
                      </a:r>
                    </a:p>
                    <a:p>
                      <a:pPr algn="just">
                        <a:spcAft>
                          <a:spcPts val="0"/>
                        </a:spcAft>
                      </a:pPr>
                      <a:r>
                        <a:rPr lang="en-US" sz="1600" b="1" kern="100" dirty="0">
                          <a:solidFill>
                            <a:srgbClr val="0000FF"/>
                          </a:solidFill>
                          <a:latin typeface="Calibri"/>
                          <a:ea typeface="宋体"/>
                          <a:cs typeface="Times New Roman"/>
                        </a:rPr>
                        <a:t>2. </a:t>
                      </a:r>
                      <a:r>
                        <a:rPr lang="zh-CN" sz="1600" b="1" kern="100" dirty="0">
                          <a:solidFill>
                            <a:srgbClr val="0000FF"/>
                          </a:solidFill>
                          <a:latin typeface="Calibri"/>
                          <a:ea typeface="宋体"/>
                          <a:cs typeface="Times New Roman"/>
                        </a:rPr>
                        <a:t>补充液压油 </a:t>
                      </a:r>
                    </a:p>
                    <a:p>
                      <a:pPr algn="just">
                        <a:spcAft>
                          <a:spcPts val="0"/>
                        </a:spcAft>
                      </a:pPr>
                      <a:r>
                        <a:rPr lang="en-US" sz="1600" b="1" kern="100" dirty="0">
                          <a:solidFill>
                            <a:srgbClr val="0000FF"/>
                          </a:solidFill>
                          <a:latin typeface="Calibri"/>
                          <a:ea typeface="宋体"/>
                          <a:cs typeface="Times New Roman"/>
                        </a:rPr>
                        <a:t>3. </a:t>
                      </a:r>
                      <a:r>
                        <a:rPr lang="zh-CN" sz="1600" b="1" kern="100" dirty="0">
                          <a:solidFill>
                            <a:srgbClr val="0000FF"/>
                          </a:solidFill>
                          <a:latin typeface="Calibri"/>
                          <a:ea typeface="宋体"/>
                          <a:cs typeface="Times New Roman"/>
                        </a:rPr>
                        <a:t>更换油泵</a:t>
                      </a:r>
                      <a:r>
                        <a:rPr lang="en-US" sz="1600" b="1" kern="100" dirty="0">
                          <a:solidFill>
                            <a:srgbClr val="0000FF"/>
                          </a:solidFill>
                          <a:latin typeface="Calibri"/>
                          <a:ea typeface="宋体"/>
                          <a:cs typeface="Times New Roman"/>
                        </a:rPr>
                        <a:t>  </a:t>
                      </a:r>
                      <a:endParaRPr lang="zh-CN" sz="1600" b="1" kern="100" dirty="0">
                        <a:solidFill>
                          <a:srgbClr val="0000FF"/>
                        </a:solidFill>
                        <a:latin typeface="Calibri"/>
                        <a:ea typeface="宋体"/>
                        <a:cs typeface="Times New Roman"/>
                      </a:endParaRPr>
                    </a:p>
                    <a:p>
                      <a:pPr algn="just">
                        <a:spcAft>
                          <a:spcPts val="0"/>
                        </a:spcAft>
                      </a:pPr>
                      <a:r>
                        <a:rPr lang="en-US" sz="1600" b="1" kern="100" dirty="0">
                          <a:solidFill>
                            <a:srgbClr val="0000FF"/>
                          </a:solidFill>
                          <a:latin typeface="Calibri"/>
                          <a:ea typeface="宋体"/>
                          <a:cs typeface="Times New Roman"/>
                        </a:rPr>
                        <a:t>4. </a:t>
                      </a:r>
                      <a:r>
                        <a:rPr lang="zh-CN" sz="1600" b="1" kern="100" dirty="0">
                          <a:solidFill>
                            <a:srgbClr val="0000FF"/>
                          </a:solidFill>
                          <a:latin typeface="Calibri"/>
                          <a:ea typeface="宋体"/>
                          <a:cs typeface="Times New Roman"/>
                        </a:rPr>
                        <a:t>拧紧或更换</a:t>
                      </a:r>
                      <a:r>
                        <a:rPr lang="en-US" sz="1600" b="1" kern="100" dirty="0">
                          <a:solidFill>
                            <a:srgbClr val="0000FF"/>
                          </a:solidFill>
                          <a:latin typeface="Calibri"/>
                          <a:ea typeface="宋体"/>
                          <a:cs typeface="Times New Roman"/>
                        </a:rPr>
                        <a:t>O</a:t>
                      </a:r>
                      <a:r>
                        <a:rPr lang="zh-CN" sz="1600" b="1" kern="100" dirty="0">
                          <a:solidFill>
                            <a:srgbClr val="0000FF"/>
                          </a:solidFill>
                          <a:latin typeface="Calibri"/>
                          <a:ea typeface="宋体"/>
                          <a:cs typeface="Times New Roman"/>
                        </a:rPr>
                        <a:t>型圈 </a:t>
                      </a:r>
                    </a:p>
                    <a:p>
                      <a:pPr algn="just">
                        <a:spcAft>
                          <a:spcPts val="0"/>
                        </a:spcAft>
                      </a:pPr>
                      <a:r>
                        <a:rPr lang="en-US" sz="1600" b="1" kern="100" dirty="0">
                          <a:solidFill>
                            <a:srgbClr val="0000FF"/>
                          </a:solidFill>
                          <a:latin typeface="Calibri"/>
                          <a:ea typeface="宋体"/>
                          <a:cs typeface="Times New Roman"/>
                        </a:rPr>
                        <a:t>5. </a:t>
                      </a:r>
                      <a:r>
                        <a:rPr lang="zh-CN" sz="1600" b="1" kern="100" dirty="0">
                          <a:solidFill>
                            <a:srgbClr val="0000FF"/>
                          </a:solidFill>
                          <a:latin typeface="Calibri"/>
                          <a:ea typeface="宋体"/>
                          <a:cs typeface="Times New Roman"/>
                        </a:rPr>
                        <a:t>更换密封圈 </a:t>
                      </a:r>
                    </a:p>
                    <a:p>
                      <a:pPr algn="just">
                        <a:spcAft>
                          <a:spcPts val="0"/>
                        </a:spcAft>
                      </a:pPr>
                      <a:r>
                        <a:rPr lang="en-US" sz="1600" b="1" kern="100" dirty="0">
                          <a:solidFill>
                            <a:srgbClr val="0000FF"/>
                          </a:solidFill>
                          <a:latin typeface="Calibri"/>
                          <a:ea typeface="宋体"/>
                          <a:cs typeface="Times New Roman"/>
                        </a:rPr>
                        <a:t>6. </a:t>
                      </a:r>
                      <a:r>
                        <a:rPr lang="zh-CN" sz="1600" b="1" kern="100" dirty="0">
                          <a:solidFill>
                            <a:srgbClr val="0000FF"/>
                          </a:solidFill>
                          <a:latin typeface="Calibri"/>
                          <a:ea typeface="宋体"/>
                          <a:cs typeface="Times New Roman"/>
                        </a:rPr>
                        <a:t>调整或更换</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36546">
                <a:tc>
                  <a:txBody>
                    <a:bodyPr/>
                    <a:lstStyle/>
                    <a:p>
                      <a:pPr algn="ctr">
                        <a:spcAft>
                          <a:spcPts val="0"/>
                        </a:spcAft>
                      </a:pPr>
                      <a:r>
                        <a:rPr lang="en-US" sz="1600" b="1" kern="100">
                          <a:solidFill>
                            <a:srgbClr val="0000FF"/>
                          </a:solidFill>
                          <a:latin typeface="Calibri"/>
                          <a:ea typeface="宋体"/>
                          <a:cs typeface="Times New Roman"/>
                        </a:rPr>
                        <a:t>2</a:t>
                      </a:r>
                      <a:endParaRPr lang="zh-CN" sz="1600" b="1" kern="100">
                        <a:solidFill>
                          <a:srgbClr val="0000FF"/>
                        </a:solidFill>
                        <a:latin typeface="Calibri"/>
                        <a:ea typeface="宋体"/>
                        <a:cs typeface="Times New Roman"/>
                      </a:endParaRP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a:solidFill>
                            <a:srgbClr val="0000FF"/>
                          </a:solidFill>
                          <a:latin typeface="Calibri"/>
                          <a:ea typeface="宋体"/>
                          <a:cs typeface="Times New Roman"/>
                        </a:rPr>
                        <a:t>保压</a:t>
                      </a:r>
                    </a:p>
                    <a:p>
                      <a:pPr algn="ctr">
                        <a:spcAft>
                          <a:spcPts val="0"/>
                        </a:spcAft>
                      </a:pPr>
                      <a:r>
                        <a:rPr lang="zh-CN" sz="1600" b="1" kern="100">
                          <a:solidFill>
                            <a:srgbClr val="0000FF"/>
                          </a:solidFill>
                          <a:latin typeface="Calibri"/>
                          <a:ea typeface="宋体"/>
                          <a:cs typeface="Times New Roman"/>
                        </a:rPr>
                        <a:t>不佳</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b="1" kern="100">
                          <a:solidFill>
                            <a:srgbClr val="0000FF"/>
                          </a:solidFill>
                          <a:latin typeface="Calibri"/>
                          <a:ea typeface="宋体"/>
                          <a:cs typeface="Times New Roman"/>
                        </a:rPr>
                        <a:t>1. </a:t>
                      </a:r>
                      <a:r>
                        <a:rPr lang="zh-CN" sz="1600" b="1" kern="100">
                          <a:solidFill>
                            <a:srgbClr val="0000FF"/>
                          </a:solidFill>
                          <a:latin typeface="Calibri"/>
                          <a:ea typeface="宋体"/>
                          <a:cs typeface="Times New Roman"/>
                        </a:rPr>
                        <a:t>活塞密封圈损坏 </a:t>
                      </a:r>
                    </a:p>
                    <a:p>
                      <a:pPr algn="just">
                        <a:spcAft>
                          <a:spcPts val="0"/>
                        </a:spcAft>
                      </a:pPr>
                      <a:r>
                        <a:rPr lang="en-US" sz="1600" b="1" kern="100">
                          <a:solidFill>
                            <a:srgbClr val="0000FF"/>
                          </a:solidFill>
                          <a:latin typeface="Calibri"/>
                          <a:ea typeface="宋体"/>
                          <a:cs typeface="Times New Roman"/>
                        </a:rPr>
                        <a:t>2. </a:t>
                      </a:r>
                      <a:r>
                        <a:rPr lang="zh-CN" sz="1600" b="1" kern="100">
                          <a:solidFill>
                            <a:srgbClr val="0000FF"/>
                          </a:solidFill>
                          <a:latin typeface="Calibri"/>
                          <a:ea typeface="宋体"/>
                          <a:cs typeface="Times New Roman"/>
                        </a:rPr>
                        <a:t>油路泄漏</a:t>
                      </a:r>
                      <a:r>
                        <a:rPr lang="en-US" sz="1600" b="1" kern="100">
                          <a:solidFill>
                            <a:srgbClr val="0000FF"/>
                          </a:solidFill>
                          <a:latin typeface="Calibri"/>
                          <a:ea typeface="宋体"/>
                          <a:cs typeface="Times New Roman"/>
                        </a:rPr>
                        <a:t>  </a:t>
                      </a:r>
                      <a:endParaRPr lang="zh-CN" sz="1600" b="1" kern="100">
                        <a:solidFill>
                          <a:srgbClr val="0000FF"/>
                        </a:solidFill>
                        <a:latin typeface="Calibri"/>
                        <a:ea typeface="宋体"/>
                        <a:cs typeface="Times New Roman"/>
                      </a:endParaRPr>
                    </a:p>
                    <a:p>
                      <a:pPr algn="just">
                        <a:spcAft>
                          <a:spcPts val="0"/>
                        </a:spcAft>
                      </a:pPr>
                      <a:r>
                        <a:rPr lang="en-US" sz="1600" b="1" kern="100">
                          <a:solidFill>
                            <a:srgbClr val="0000FF"/>
                          </a:solidFill>
                          <a:latin typeface="Calibri"/>
                          <a:ea typeface="宋体"/>
                          <a:cs typeface="Times New Roman"/>
                        </a:rPr>
                        <a:t>3. </a:t>
                      </a:r>
                      <a:r>
                        <a:rPr lang="zh-CN" sz="1600" b="1" kern="100">
                          <a:solidFill>
                            <a:srgbClr val="0000FF"/>
                          </a:solidFill>
                          <a:latin typeface="Calibri"/>
                          <a:ea typeface="宋体"/>
                          <a:cs typeface="Times New Roman"/>
                        </a:rPr>
                        <a:t>液控单向阀堵塞或磨损 </a:t>
                      </a:r>
                    </a:p>
                    <a:p>
                      <a:pPr algn="just">
                        <a:spcAft>
                          <a:spcPts val="0"/>
                        </a:spcAft>
                      </a:pPr>
                      <a:r>
                        <a:rPr lang="en-US" sz="1600" b="1" kern="100">
                          <a:solidFill>
                            <a:srgbClr val="0000FF"/>
                          </a:solidFill>
                          <a:latin typeface="Calibri"/>
                          <a:ea typeface="宋体"/>
                          <a:cs typeface="Times New Roman"/>
                        </a:rPr>
                        <a:t>4. </a:t>
                      </a:r>
                      <a:r>
                        <a:rPr lang="zh-CN" sz="1600" b="1" kern="100">
                          <a:solidFill>
                            <a:srgbClr val="0000FF"/>
                          </a:solidFill>
                          <a:latin typeface="Calibri"/>
                          <a:ea typeface="宋体"/>
                          <a:cs typeface="Times New Roman"/>
                        </a:rPr>
                        <a:t>电磁球阀堵塞或磨损</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b="1" kern="100" dirty="0">
                          <a:solidFill>
                            <a:srgbClr val="0000FF"/>
                          </a:solidFill>
                          <a:latin typeface="Calibri"/>
                          <a:ea typeface="宋体"/>
                          <a:cs typeface="Times New Roman"/>
                        </a:rPr>
                        <a:t>1. </a:t>
                      </a:r>
                      <a:r>
                        <a:rPr lang="zh-CN" sz="1600" b="1" kern="100" dirty="0">
                          <a:solidFill>
                            <a:srgbClr val="0000FF"/>
                          </a:solidFill>
                          <a:latin typeface="Calibri"/>
                          <a:ea typeface="宋体"/>
                          <a:cs typeface="Times New Roman"/>
                        </a:rPr>
                        <a:t>更换密封圈 </a:t>
                      </a:r>
                    </a:p>
                    <a:p>
                      <a:pPr algn="just">
                        <a:spcAft>
                          <a:spcPts val="0"/>
                        </a:spcAft>
                      </a:pPr>
                      <a:r>
                        <a:rPr lang="en-US" sz="1600" b="1" kern="100" dirty="0">
                          <a:solidFill>
                            <a:srgbClr val="0000FF"/>
                          </a:solidFill>
                          <a:latin typeface="Calibri"/>
                          <a:ea typeface="宋体"/>
                          <a:cs typeface="Times New Roman"/>
                        </a:rPr>
                        <a:t>2. </a:t>
                      </a:r>
                      <a:r>
                        <a:rPr lang="zh-CN" sz="1600" b="1" kern="100" dirty="0">
                          <a:solidFill>
                            <a:srgbClr val="0000FF"/>
                          </a:solidFill>
                          <a:latin typeface="Calibri"/>
                          <a:ea typeface="宋体"/>
                          <a:cs typeface="Times New Roman"/>
                        </a:rPr>
                        <a:t>检修油路 </a:t>
                      </a:r>
                    </a:p>
                    <a:p>
                      <a:pPr algn="just">
                        <a:spcAft>
                          <a:spcPts val="0"/>
                        </a:spcAft>
                      </a:pPr>
                      <a:r>
                        <a:rPr lang="en-US" sz="1600" b="1" kern="100" dirty="0">
                          <a:solidFill>
                            <a:srgbClr val="0000FF"/>
                          </a:solidFill>
                          <a:latin typeface="Calibri"/>
                          <a:ea typeface="宋体"/>
                          <a:cs typeface="Times New Roman"/>
                        </a:rPr>
                        <a:t>3. </a:t>
                      </a:r>
                      <a:r>
                        <a:rPr lang="zh-CN" sz="1600" b="1" kern="100" dirty="0">
                          <a:solidFill>
                            <a:srgbClr val="0000FF"/>
                          </a:solidFill>
                          <a:latin typeface="Calibri"/>
                          <a:ea typeface="宋体"/>
                          <a:cs typeface="Times New Roman"/>
                        </a:rPr>
                        <a:t>清洗或更换 </a:t>
                      </a:r>
                    </a:p>
                    <a:p>
                      <a:pPr algn="just">
                        <a:spcAft>
                          <a:spcPts val="0"/>
                        </a:spcAft>
                      </a:pPr>
                      <a:r>
                        <a:rPr lang="en-US" sz="1600" b="1" kern="100" dirty="0">
                          <a:solidFill>
                            <a:srgbClr val="0000FF"/>
                          </a:solidFill>
                          <a:latin typeface="Calibri"/>
                          <a:ea typeface="宋体"/>
                          <a:cs typeface="Times New Roman"/>
                        </a:rPr>
                        <a:t>4. </a:t>
                      </a:r>
                      <a:r>
                        <a:rPr lang="zh-CN" sz="1600" b="1" kern="100" dirty="0">
                          <a:solidFill>
                            <a:srgbClr val="0000FF"/>
                          </a:solidFill>
                          <a:latin typeface="Calibri"/>
                          <a:ea typeface="宋体"/>
                          <a:cs typeface="Times New Roman"/>
                        </a:rPr>
                        <a:t>清洗或更换</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36546">
                <a:tc>
                  <a:txBody>
                    <a:bodyPr/>
                    <a:lstStyle/>
                    <a:p>
                      <a:pPr algn="ctr">
                        <a:spcAft>
                          <a:spcPts val="0"/>
                        </a:spcAft>
                      </a:pPr>
                      <a:r>
                        <a:rPr lang="en-US" sz="1600" b="1" kern="100">
                          <a:solidFill>
                            <a:srgbClr val="0000FF"/>
                          </a:solidFill>
                          <a:latin typeface="Calibri"/>
                          <a:ea typeface="宋体"/>
                          <a:cs typeface="Times New Roman"/>
                        </a:rPr>
                        <a:t>3</a:t>
                      </a:r>
                      <a:endParaRPr lang="zh-CN" sz="1600" b="1" kern="100">
                        <a:solidFill>
                          <a:srgbClr val="0000FF"/>
                        </a:solidFill>
                        <a:latin typeface="Calibri"/>
                        <a:ea typeface="宋体"/>
                        <a:cs typeface="Times New Roman"/>
                      </a:endParaRP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a:solidFill>
                            <a:srgbClr val="0000FF"/>
                          </a:solidFill>
                          <a:latin typeface="Calibri"/>
                          <a:ea typeface="宋体"/>
                          <a:cs typeface="Times New Roman"/>
                        </a:rPr>
                        <a:t>滤板间漏料</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b="1" kern="100" dirty="0">
                          <a:solidFill>
                            <a:srgbClr val="0000FF"/>
                          </a:solidFill>
                          <a:latin typeface="Calibri"/>
                          <a:ea typeface="宋体"/>
                          <a:cs typeface="Times New Roman"/>
                        </a:rPr>
                        <a:t>1. </a:t>
                      </a:r>
                      <a:r>
                        <a:rPr lang="zh-CN" sz="1600" b="1" kern="100" dirty="0">
                          <a:solidFill>
                            <a:srgbClr val="0000FF"/>
                          </a:solidFill>
                          <a:latin typeface="Calibri"/>
                          <a:ea typeface="宋体"/>
                          <a:cs typeface="Times New Roman"/>
                        </a:rPr>
                        <a:t>料泵压力流量超高 </a:t>
                      </a:r>
                    </a:p>
                    <a:p>
                      <a:pPr algn="just">
                        <a:spcAft>
                          <a:spcPts val="0"/>
                        </a:spcAft>
                      </a:pPr>
                      <a:r>
                        <a:rPr lang="en-US" sz="1600" b="1" kern="100" dirty="0">
                          <a:solidFill>
                            <a:srgbClr val="0000FF"/>
                          </a:solidFill>
                          <a:latin typeface="Calibri"/>
                          <a:ea typeface="宋体"/>
                          <a:cs typeface="Times New Roman"/>
                        </a:rPr>
                        <a:t>2. </a:t>
                      </a:r>
                      <a:r>
                        <a:rPr lang="zh-CN" sz="1600" b="1" kern="100" dirty="0">
                          <a:solidFill>
                            <a:srgbClr val="0000FF"/>
                          </a:solidFill>
                          <a:latin typeface="Calibri"/>
                          <a:ea typeface="宋体"/>
                          <a:cs typeface="Times New Roman"/>
                        </a:rPr>
                        <a:t>滤板密封面夹有杂物 </a:t>
                      </a:r>
                    </a:p>
                    <a:p>
                      <a:pPr algn="just">
                        <a:spcAft>
                          <a:spcPts val="0"/>
                        </a:spcAft>
                      </a:pPr>
                      <a:r>
                        <a:rPr lang="en-US" sz="1600" b="1" kern="100" dirty="0">
                          <a:solidFill>
                            <a:srgbClr val="0000FF"/>
                          </a:solidFill>
                          <a:latin typeface="Calibri"/>
                          <a:ea typeface="宋体"/>
                          <a:cs typeface="Times New Roman"/>
                        </a:rPr>
                        <a:t>3. </a:t>
                      </a:r>
                      <a:r>
                        <a:rPr lang="zh-CN" sz="1600" b="1" kern="100" dirty="0">
                          <a:solidFill>
                            <a:srgbClr val="0000FF"/>
                          </a:solidFill>
                          <a:latin typeface="Calibri"/>
                          <a:ea typeface="宋体"/>
                          <a:cs typeface="Times New Roman"/>
                        </a:rPr>
                        <a:t>滤布不平整，有折叠 </a:t>
                      </a:r>
                    </a:p>
                    <a:p>
                      <a:pPr algn="just">
                        <a:spcAft>
                          <a:spcPts val="0"/>
                        </a:spcAft>
                      </a:pPr>
                      <a:r>
                        <a:rPr lang="en-US" sz="1600" b="1" kern="100" dirty="0">
                          <a:solidFill>
                            <a:srgbClr val="0000FF"/>
                          </a:solidFill>
                          <a:latin typeface="Calibri"/>
                          <a:ea typeface="宋体"/>
                          <a:cs typeface="Times New Roman"/>
                        </a:rPr>
                        <a:t>4.  </a:t>
                      </a:r>
                      <a:r>
                        <a:rPr lang="zh-CN" sz="1600" b="1" kern="100" dirty="0">
                          <a:solidFill>
                            <a:srgbClr val="0000FF"/>
                          </a:solidFill>
                          <a:latin typeface="Calibri"/>
                          <a:ea typeface="宋体"/>
                          <a:cs typeface="Times New Roman"/>
                        </a:rPr>
                        <a:t>压力不足</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b="1" kern="100" dirty="0">
                          <a:solidFill>
                            <a:srgbClr val="0000FF"/>
                          </a:solidFill>
                          <a:latin typeface="Calibri"/>
                          <a:ea typeface="宋体"/>
                          <a:cs typeface="Times New Roman"/>
                        </a:rPr>
                        <a:t>1. </a:t>
                      </a:r>
                      <a:r>
                        <a:rPr lang="zh-CN" sz="1600" b="1" kern="100" dirty="0">
                          <a:solidFill>
                            <a:srgbClr val="0000FF"/>
                          </a:solidFill>
                          <a:latin typeface="Calibri"/>
                          <a:ea typeface="宋体"/>
                          <a:cs typeface="Times New Roman"/>
                        </a:rPr>
                        <a:t>调整回流阀 </a:t>
                      </a:r>
                    </a:p>
                    <a:p>
                      <a:pPr algn="just">
                        <a:spcAft>
                          <a:spcPts val="0"/>
                        </a:spcAft>
                      </a:pPr>
                      <a:r>
                        <a:rPr lang="en-US" sz="1600" b="1" kern="100" dirty="0">
                          <a:solidFill>
                            <a:srgbClr val="0000FF"/>
                          </a:solidFill>
                          <a:latin typeface="Calibri"/>
                          <a:ea typeface="宋体"/>
                          <a:cs typeface="Times New Roman"/>
                        </a:rPr>
                        <a:t>2. </a:t>
                      </a:r>
                      <a:r>
                        <a:rPr lang="zh-CN" sz="1600" b="1" kern="100" dirty="0">
                          <a:solidFill>
                            <a:srgbClr val="0000FF"/>
                          </a:solidFill>
                          <a:latin typeface="Calibri"/>
                          <a:ea typeface="宋体"/>
                          <a:cs typeface="Times New Roman"/>
                        </a:rPr>
                        <a:t>清理干净 </a:t>
                      </a:r>
                    </a:p>
                    <a:p>
                      <a:pPr algn="just">
                        <a:spcAft>
                          <a:spcPts val="0"/>
                        </a:spcAft>
                      </a:pPr>
                      <a:r>
                        <a:rPr lang="en-US" sz="1600" b="1" kern="100" dirty="0">
                          <a:solidFill>
                            <a:srgbClr val="0000FF"/>
                          </a:solidFill>
                          <a:latin typeface="Calibri"/>
                          <a:ea typeface="宋体"/>
                          <a:cs typeface="Times New Roman"/>
                        </a:rPr>
                        <a:t>3. </a:t>
                      </a:r>
                      <a:r>
                        <a:rPr lang="zh-CN" sz="1600" b="1" kern="100" dirty="0">
                          <a:solidFill>
                            <a:srgbClr val="0000FF"/>
                          </a:solidFill>
                          <a:latin typeface="Calibri"/>
                          <a:ea typeface="宋体"/>
                          <a:cs typeface="Times New Roman"/>
                        </a:rPr>
                        <a:t>整理滤布 </a:t>
                      </a:r>
                    </a:p>
                    <a:p>
                      <a:pPr algn="just">
                        <a:spcAft>
                          <a:spcPts val="0"/>
                        </a:spcAft>
                      </a:pPr>
                      <a:r>
                        <a:rPr lang="en-US" sz="1600" b="1" kern="100" dirty="0">
                          <a:solidFill>
                            <a:srgbClr val="0000FF"/>
                          </a:solidFill>
                          <a:latin typeface="Calibri"/>
                          <a:ea typeface="宋体"/>
                          <a:cs typeface="Times New Roman"/>
                        </a:rPr>
                        <a:t>4.  </a:t>
                      </a:r>
                      <a:r>
                        <a:rPr lang="zh-CN" sz="1600" b="1" kern="100" dirty="0">
                          <a:solidFill>
                            <a:srgbClr val="0000FF"/>
                          </a:solidFill>
                          <a:latin typeface="Calibri"/>
                          <a:ea typeface="宋体"/>
                          <a:cs typeface="Times New Roman"/>
                        </a:rPr>
                        <a:t>调整压力</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6" y="1052513"/>
          <a:ext cx="7848601" cy="5329236"/>
        </p:xfrm>
        <a:graphic>
          <a:graphicData uri="http://schemas.openxmlformats.org/drawingml/2006/table">
            <a:tbl>
              <a:tblPr/>
              <a:tblGrid>
                <a:gridCol w="535402"/>
                <a:gridCol w="904235"/>
                <a:gridCol w="3373431"/>
                <a:gridCol w="3035533"/>
              </a:tblGrid>
              <a:tr h="903683">
                <a:tc>
                  <a:txBody>
                    <a:bodyPr/>
                    <a:lstStyle/>
                    <a:p>
                      <a:pPr algn="ctr">
                        <a:spcAft>
                          <a:spcPts val="0"/>
                        </a:spcAft>
                      </a:pPr>
                      <a:r>
                        <a:rPr lang="zh-CN" sz="1800" b="1" kern="100" dirty="0">
                          <a:solidFill>
                            <a:srgbClr val="0000FF"/>
                          </a:solidFill>
                          <a:latin typeface="Calibri"/>
                          <a:ea typeface="宋体"/>
                          <a:cs typeface="Times New Roman"/>
                        </a:rPr>
                        <a:t>序号</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故障</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产生的原因</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排除方法</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06969">
                <a:tc>
                  <a:txBody>
                    <a:bodyPr/>
                    <a:lstStyle/>
                    <a:p>
                      <a:pPr algn="ctr">
                        <a:spcAft>
                          <a:spcPts val="0"/>
                        </a:spcAft>
                      </a:pPr>
                      <a:r>
                        <a:rPr lang="en-US" sz="1800" b="1" kern="100" dirty="0">
                          <a:solidFill>
                            <a:srgbClr val="0000FF"/>
                          </a:solidFill>
                          <a:latin typeface="Calibri"/>
                          <a:ea typeface="宋体"/>
                          <a:cs typeface="Times New Roman"/>
                        </a:rPr>
                        <a:t>4</a:t>
                      </a:r>
                      <a:endParaRPr lang="zh-CN" sz="1800" b="1" kern="100" dirty="0">
                        <a:solidFill>
                          <a:srgbClr val="0000FF"/>
                        </a:solidFill>
                        <a:latin typeface="Calibri"/>
                        <a:ea typeface="宋体"/>
                        <a:cs typeface="Times New Roman"/>
                      </a:endParaRP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solidFill>
                            <a:srgbClr val="0000FF"/>
                          </a:solidFill>
                          <a:latin typeface="Calibri"/>
                          <a:ea typeface="宋体"/>
                          <a:cs typeface="Times New Roman"/>
                        </a:rPr>
                        <a:t>滤板</a:t>
                      </a:r>
                    </a:p>
                    <a:p>
                      <a:pPr algn="ctr">
                        <a:spcAft>
                          <a:spcPts val="0"/>
                        </a:spcAft>
                      </a:pPr>
                      <a:r>
                        <a:rPr lang="zh-CN" sz="1800" b="1" kern="100" dirty="0">
                          <a:solidFill>
                            <a:srgbClr val="0000FF"/>
                          </a:solidFill>
                          <a:latin typeface="Calibri"/>
                          <a:ea typeface="宋体"/>
                          <a:cs typeface="Times New Roman"/>
                        </a:rPr>
                        <a:t>破裂</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dirty="0">
                          <a:solidFill>
                            <a:srgbClr val="0000FF"/>
                          </a:solidFill>
                          <a:latin typeface="Calibri"/>
                          <a:ea typeface="宋体"/>
                          <a:cs typeface="Times New Roman"/>
                        </a:rPr>
                        <a:t>1. </a:t>
                      </a:r>
                      <a:r>
                        <a:rPr lang="zh-CN" sz="1800" b="1" kern="100" dirty="0">
                          <a:solidFill>
                            <a:srgbClr val="0000FF"/>
                          </a:solidFill>
                          <a:latin typeface="Calibri"/>
                          <a:ea typeface="宋体"/>
                          <a:cs typeface="Times New Roman"/>
                        </a:rPr>
                        <a:t>过滤时进料压力过高 </a:t>
                      </a:r>
                    </a:p>
                    <a:p>
                      <a:pPr algn="just">
                        <a:spcAft>
                          <a:spcPts val="0"/>
                        </a:spcAft>
                      </a:pPr>
                      <a:r>
                        <a:rPr lang="en-US" sz="1800" b="1" kern="100" dirty="0">
                          <a:solidFill>
                            <a:srgbClr val="0000FF"/>
                          </a:solidFill>
                          <a:latin typeface="Calibri"/>
                          <a:ea typeface="宋体"/>
                          <a:cs typeface="Times New Roman"/>
                        </a:rPr>
                        <a:t>2. </a:t>
                      </a:r>
                      <a:r>
                        <a:rPr lang="zh-CN" sz="1800" b="1" kern="100" dirty="0">
                          <a:solidFill>
                            <a:srgbClr val="0000FF"/>
                          </a:solidFill>
                          <a:latin typeface="Calibri"/>
                          <a:ea typeface="宋体"/>
                          <a:cs typeface="Times New Roman"/>
                        </a:rPr>
                        <a:t>滤板进料口堵塞 </a:t>
                      </a:r>
                    </a:p>
                    <a:p>
                      <a:pPr algn="just">
                        <a:spcAft>
                          <a:spcPts val="0"/>
                        </a:spcAft>
                      </a:pPr>
                      <a:r>
                        <a:rPr lang="en-US" sz="1800" b="1" kern="100" dirty="0">
                          <a:solidFill>
                            <a:srgbClr val="0000FF"/>
                          </a:solidFill>
                          <a:latin typeface="Calibri"/>
                          <a:ea typeface="宋体"/>
                          <a:cs typeface="Times New Roman"/>
                        </a:rPr>
                        <a:t>3. </a:t>
                      </a:r>
                      <a:r>
                        <a:rPr lang="zh-CN" sz="1800" b="1" kern="100" dirty="0">
                          <a:solidFill>
                            <a:srgbClr val="0000FF"/>
                          </a:solidFill>
                          <a:latin typeface="Calibri"/>
                          <a:ea typeface="宋体"/>
                          <a:cs typeface="Times New Roman"/>
                        </a:rPr>
                        <a:t>滤布破损，出液口堵</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dirty="0">
                          <a:solidFill>
                            <a:srgbClr val="0000FF"/>
                          </a:solidFill>
                          <a:latin typeface="Calibri"/>
                          <a:ea typeface="宋体"/>
                          <a:cs typeface="Times New Roman"/>
                        </a:rPr>
                        <a:t>1. </a:t>
                      </a:r>
                      <a:r>
                        <a:rPr lang="zh-CN" sz="1800" b="1" kern="100" dirty="0">
                          <a:solidFill>
                            <a:srgbClr val="0000FF"/>
                          </a:solidFill>
                          <a:latin typeface="Calibri"/>
                          <a:ea typeface="宋体"/>
                          <a:cs typeface="Times New Roman"/>
                        </a:rPr>
                        <a:t>调整进料压力 </a:t>
                      </a:r>
                    </a:p>
                    <a:p>
                      <a:pPr algn="just">
                        <a:spcAft>
                          <a:spcPts val="0"/>
                        </a:spcAft>
                      </a:pPr>
                      <a:r>
                        <a:rPr lang="en-US" sz="1800" b="1" kern="100" dirty="0">
                          <a:solidFill>
                            <a:srgbClr val="0000FF"/>
                          </a:solidFill>
                          <a:latin typeface="Calibri"/>
                          <a:ea typeface="宋体"/>
                          <a:cs typeface="Times New Roman"/>
                        </a:rPr>
                        <a:t>2. </a:t>
                      </a:r>
                      <a:r>
                        <a:rPr lang="zh-CN" sz="1800" b="1" kern="100" dirty="0">
                          <a:solidFill>
                            <a:srgbClr val="0000FF"/>
                          </a:solidFill>
                          <a:latin typeface="Calibri"/>
                          <a:ea typeface="宋体"/>
                          <a:cs typeface="Times New Roman"/>
                        </a:rPr>
                        <a:t>清理进料口</a:t>
                      </a:r>
                      <a:r>
                        <a:rPr lang="en-US" sz="1800" b="1" kern="100" dirty="0">
                          <a:solidFill>
                            <a:srgbClr val="0000FF"/>
                          </a:solidFill>
                          <a:latin typeface="Calibri"/>
                          <a:ea typeface="宋体"/>
                          <a:cs typeface="Times New Roman"/>
                        </a:rPr>
                        <a:t>  </a:t>
                      </a:r>
                      <a:endParaRPr lang="zh-CN" sz="1800" b="1" kern="100" dirty="0">
                        <a:solidFill>
                          <a:srgbClr val="0000FF"/>
                        </a:solidFill>
                        <a:latin typeface="Calibri"/>
                        <a:ea typeface="宋体"/>
                        <a:cs typeface="Times New Roman"/>
                      </a:endParaRPr>
                    </a:p>
                    <a:p>
                      <a:pPr algn="just">
                        <a:spcAft>
                          <a:spcPts val="0"/>
                        </a:spcAft>
                      </a:pPr>
                      <a:r>
                        <a:rPr lang="en-US" sz="1800" b="1" kern="100" dirty="0">
                          <a:solidFill>
                            <a:srgbClr val="0000FF"/>
                          </a:solidFill>
                          <a:latin typeface="Calibri"/>
                          <a:ea typeface="宋体"/>
                          <a:cs typeface="Times New Roman"/>
                        </a:rPr>
                        <a:t>3. </a:t>
                      </a:r>
                      <a:r>
                        <a:rPr lang="zh-CN" sz="1800" b="1" kern="100" dirty="0">
                          <a:solidFill>
                            <a:srgbClr val="0000FF"/>
                          </a:solidFill>
                          <a:latin typeface="Calibri"/>
                          <a:ea typeface="宋体"/>
                          <a:cs typeface="Times New Roman"/>
                        </a:rPr>
                        <a:t>更换滤布，清理干净</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04646">
                <a:tc>
                  <a:txBody>
                    <a:bodyPr/>
                    <a:lstStyle/>
                    <a:p>
                      <a:pPr algn="ctr">
                        <a:spcAft>
                          <a:spcPts val="0"/>
                        </a:spcAft>
                      </a:pPr>
                      <a:r>
                        <a:rPr lang="en-US" sz="1800" b="1" kern="100">
                          <a:solidFill>
                            <a:srgbClr val="0000FF"/>
                          </a:solidFill>
                          <a:latin typeface="Calibri"/>
                          <a:ea typeface="宋体"/>
                          <a:cs typeface="Times New Roman"/>
                        </a:rPr>
                        <a:t>5</a:t>
                      </a:r>
                      <a:endParaRPr lang="zh-CN" sz="1800" b="1" kern="100">
                        <a:solidFill>
                          <a:srgbClr val="0000FF"/>
                        </a:solidFill>
                        <a:latin typeface="Calibri"/>
                        <a:ea typeface="宋体"/>
                        <a:cs typeface="Times New Roman"/>
                      </a:endParaRP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滤液</a:t>
                      </a:r>
                    </a:p>
                    <a:p>
                      <a:pPr algn="ctr">
                        <a:spcAft>
                          <a:spcPts val="0"/>
                        </a:spcAft>
                      </a:pPr>
                      <a:r>
                        <a:rPr lang="zh-CN" sz="1800" b="1" kern="100">
                          <a:solidFill>
                            <a:srgbClr val="0000FF"/>
                          </a:solidFill>
                          <a:latin typeface="Calibri"/>
                          <a:ea typeface="宋体"/>
                          <a:cs typeface="Times New Roman"/>
                        </a:rPr>
                        <a:t>不清</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a:solidFill>
                            <a:srgbClr val="0000FF"/>
                          </a:solidFill>
                          <a:latin typeface="Calibri"/>
                          <a:ea typeface="宋体"/>
                          <a:cs typeface="Times New Roman"/>
                        </a:rPr>
                        <a:t>1. </a:t>
                      </a:r>
                      <a:r>
                        <a:rPr lang="zh-CN" sz="1800" b="1" kern="100">
                          <a:solidFill>
                            <a:srgbClr val="0000FF"/>
                          </a:solidFill>
                          <a:latin typeface="Calibri"/>
                          <a:ea typeface="宋体"/>
                          <a:cs typeface="Times New Roman"/>
                        </a:rPr>
                        <a:t>滤布破裂</a:t>
                      </a:r>
                      <a:r>
                        <a:rPr lang="en-US" sz="1800" b="1" kern="100">
                          <a:solidFill>
                            <a:srgbClr val="0000FF"/>
                          </a:solidFill>
                          <a:latin typeface="Calibri"/>
                          <a:ea typeface="宋体"/>
                          <a:cs typeface="Times New Roman"/>
                        </a:rPr>
                        <a:t>  </a:t>
                      </a:r>
                      <a:endParaRPr lang="zh-CN" sz="1800" b="1" kern="100">
                        <a:solidFill>
                          <a:srgbClr val="0000FF"/>
                        </a:solidFill>
                        <a:latin typeface="Calibri"/>
                        <a:ea typeface="宋体"/>
                        <a:cs typeface="Times New Roman"/>
                      </a:endParaRPr>
                    </a:p>
                    <a:p>
                      <a:pPr algn="just">
                        <a:spcAft>
                          <a:spcPts val="0"/>
                        </a:spcAft>
                      </a:pPr>
                      <a:r>
                        <a:rPr lang="en-US" sz="1800" b="1" kern="100">
                          <a:solidFill>
                            <a:srgbClr val="0000FF"/>
                          </a:solidFill>
                          <a:latin typeface="Calibri"/>
                          <a:ea typeface="宋体"/>
                          <a:cs typeface="Times New Roman"/>
                        </a:rPr>
                        <a:t>2. </a:t>
                      </a:r>
                      <a:r>
                        <a:rPr lang="zh-CN" sz="1800" b="1" kern="100">
                          <a:solidFill>
                            <a:srgbClr val="0000FF"/>
                          </a:solidFill>
                          <a:latin typeface="Calibri"/>
                          <a:ea typeface="宋体"/>
                          <a:cs typeface="Times New Roman"/>
                        </a:rPr>
                        <a:t>滤布缝合处开线</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dirty="0">
                          <a:solidFill>
                            <a:srgbClr val="0000FF"/>
                          </a:solidFill>
                          <a:latin typeface="Calibri"/>
                          <a:ea typeface="宋体"/>
                          <a:cs typeface="Times New Roman"/>
                        </a:rPr>
                        <a:t>1. </a:t>
                      </a:r>
                      <a:r>
                        <a:rPr lang="zh-CN" sz="1800" b="1" kern="100" dirty="0">
                          <a:solidFill>
                            <a:srgbClr val="0000FF"/>
                          </a:solidFill>
                          <a:latin typeface="Calibri"/>
                          <a:ea typeface="宋体"/>
                          <a:cs typeface="Times New Roman"/>
                        </a:rPr>
                        <a:t>更换滤布 </a:t>
                      </a:r>
                    </a:p>
                    <a:p>
                      <a:pPr algn="just">
                        <a:spcAft>
                          <a:spcPts val="0"/>
                        </a:spcAft>
                      </a:pPr>
                      <a:r>
                        <a:rPr lang="en-US" sz="1800" b="1" kern="100" dirty="0">
                          <a:solidFill>
                            <a:srgbClr val="0000FF"/>
                          </a:solidFill>
                          <a:latin typeface="Calibri"/>
                          <a:ea typeface="宋体"/>
                          <a:cs typeface="Times New Roman"/>
                        </a:rPr>
                        <a:t>2. </a:t>
                      </a:r>
                      <a:r>
                        <a:rPr lang="zh-CN" sz="1800" b="1" kern="100" dirty="0">
                          <a:solidFill>
                            <a:srgbClr val="0000FF"/>
                          </a:solidFill>
                          <a:latin typeface="Calibri"/>
                          <a:ea typeface="宋体"/>
                          <a:cs typeface="Times New Roman"/>
                        </a:rPr>
                        <a:t>重新缝合</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06969">
                <a:tc>
                  <a:txBody>
                    <a:bodyPr/>
                    <a:lstStyle/>
                    <a:p>
                      <a:pPr algn="ctr">
                        <a:spcAft>
                          <a:spcPts val="0"/>
                        </a:spcAft>
                      </a:pPr>
                      <a:r>
                        <a:rPr lang="en-US" sz="1800" b="1" kern="100">
                          <a:solidFill>
                            <a:srgbClr val="0000FF"/>
                          </a:solidFill>
                          <a:latin typeface="Calibri"/>
                          <a:ea typeface="宋体"/>
                          <a:cs typeface="Times New Roman"/>
                        </a:rPr>
                        <a:t>6</a:t>
                      </a:r>
                      <a:endParaRPr lang="zh-CN" sz="1800" b="1" kern="100">
                        <a:solidFill>
                          <a:srgbClr val="0000FF"/>
                        </a:solidFill>
                        <a:latin typeface="Calibri"/>
                        <a:ea typeface="宋体"/>
                        <a:cs typeface="Times New Roman"/>
                      </a:endParaRP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液压系统有</a:t>
                      </a:r>
                    </a:p>
                    <a:p>
                      <a:pPr algn="ctr">
                        <a:spcAft>
                          <a:spcPts val="0"/>
                        </a:spcAft>
                      </a:pPr>
                      <a:r>
                        <a:rPr lang="zh-CN" sz="1800" b="1" kern="100">
                          <a:solidFill>
                            <a:srgbClr val="0000FF"/>
                          </a:solidFill>
                          <a:latin typeface="Calibri"/>
                          <a:ea typeface="宋体"/>
                          <a:cs typeface="Times New Roman"/>
                        </a:rPr>
                        <a:t>噪音</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a:solidFill>
                            <a:srgbClr val="0000FF"/>
                          </a:solidFill>
                          <a:latin typeface="Calibri"/>
                          <a:ea typeface="宋体"/>
                          <a:cs typeface="Times New Roman"/>
                        </a:rPr>
                        <a:t>1. </a:t>
                      </a:r>
                      <a:r>
                        <a:rPr lang="zh-CN" sz="1800" b="1" kern="100">
                          <a:solidFill>
                            <a:srgbClr val="0000FF"/>
                          </a:solidFill>
                          <a:latin typeface="Calibri"/>
                          <a:ea typeface="宋体"/>
                          <a:cs typeface="Times New Roman"/>
                        </a:rPr>
                        <a:t>吸入空气 </a:t>
                      </a:r>
                    </a:p>
                    <a:p>
                      <a:pPr algn="just">
                        <a:spcAft>
                          <a:spcPts val="0"/>
                        </a:spcAft>
                      </a:pPr>
                      <a:r>
                        <a:rPr lang="en-US" sz="1800" b="1" kern="100">
                          <a:solidFill>
                            <a:srgbClr val="0000FF"/>
                          </a:solidFill>
                          <a:latin typeface="Calibri"/>
                          <a:ea typeface="宋体"/>
                          <a:cs typeface="Times New Roman"/>
                        </a:rPr>
                        <a:t>2. </a:t>
                      </a:r>
                      <a:r>
                        <a:rPr lang="zh-CN" sz="1800" b="1" kern="100">
                          <a:solidFill>
                            <a:srgbClr val="0000FF"/>
                          </a:solidFill>
                          <a:latin typeface="Calibri"/>
                          <a:ea typeface="宋体"/>
                          <a:cs typeface="Times New Roman"/>
                        </a:rPr>
                        <a:t>紧固件松动</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dirty="0">
                          <a:solidFill>
                            <a:srgbClr val="0000FF"/>
                          </a:solidFill>
                          <a:latin typeface="Calibri"/>
                          <a:ea typeface="宋体"/>
                          <a:cs typeface="Times New Roman"/>
                        </a:rPr>
                        <a:t>1. </a:t>
                      </a:r>
                      <a:r>
                        <a:rPr lang="zh-CN" sz="1800" b="1" kern="100" dirty="0">
                          <a:solidFill>
                            <a:srgbClr val="0000FF"/>
                          </a:solidFill>
                          <a:latin typeface="Calibri"/>
                          <a:ea typeface="宋体"/>
                          <a:cs typeface="Times New Roman"/>
                        </a:rPr>
                        <a:t>松开放气阀放气 </a:t>
                      </a:r>
                    </a:p>
                    <a:p>
                      <a:pPr algn="just">
                        <a:spcAft>
                          <a:spcPts val="0"/>
                        </a:spcAft>
                      </a:pPr>
                      <a:r>
                        <a:rPr lang="en-US" sz="1800" b="1" kern="100" dirty="0">
                          <a:solidFill>
                            <a:srgbClr val="0000FF"/>
                          </a:solidFill>
                          <a:latin typeface="Calibri"/>
                          <a:ea typeface="宋体"/>
                          <a:cs typeface="Times New Roman"/>
                        </a:rPr>
                        <a:t>2. </a:t>
                      </a:r>
                      <a:r>
                        <a:rPr lang="zh-CN" sz="1800" b="1" kern="100" dirty="0">
                          <a:solidFill>
                            <a:srgbClr val="0000FF"/>
                          </a:solidFill>
                          <a:latin typeface="Calibri"/>
                          <a:ea typeface="宋体"/>
                          <a:cs typeface="Times New Roman"/>
                        </a:rPr>
                        <a:t>将紧固件紧固</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06969">
                <a:tc>
                  <a:txBody>
                    <a:bodyPr/>
                    <a:lstStyle/>
                    <a:p>
                      <a:pPr algn="ctr">
                        <a:spcAft>
                          <a:spcPts val="0"/>
                        </a:spcAft>
                      </a:pPr>
                      <a:r>
                        <a:rPr lang="en-US" sz="1800" b="1" kern="100">
                          <a:solidFill>
                            <a:srgbClr val="0000FF"/>
                          </a:solidFill>
                          <a:latin typeface="Calibri"/>
                          <a:ea typeface="宋体"/>
                          <a:cs typeface="Times New Roman"/>
                        </a:rPr>
                        <a:t>7</a:t>
                      </a:r>
                      <a:endParaRPr lang="zh-CN" sz="1800" b="1" kern="100">
                        <a:solidFill>
                          <a:srgbClr val="0000FF"/>
                        </a:solidFill>
                        <a:latin typeface="Calibri"/>
                        <a:ea typeface="宋体"/>
                        <a:cs typeface="Times New Roman"/>
                      </a:endParaRP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solidFill>
                            <a:srgbClr val="0000FF"/>
                          </a:solidFill>
                          <a:latin typeface="Calibri"/>
                          <a:ea typeface="宋体"/>
                          <a:cs typeface="Times New Roman"/>
                        </a:rPr>
                        <a:t>主梁</a:t>
                      </a:r>
                    </a:p>
                    <a:p>
                      <a:pPr algn="ctr">
                        <a:spcAft>
                          <a:spcPts val="0"/>
                        </a:spcAft>
                      </a:pPr>
                      <a:r>
                        <a:rPr lang="zh-CN" sz="1800" b="1" kern="100">
                          <a:solidFill>
                            <a:srgbClr val="0000FF"/>
                          </a:solidFill>
                          <a:latin typeface="Calibri"/>
                          <a:ea typeface="宋体"/>
                          <a:cs typeface="Times New Roman"/>
                        </a:rPr>
                        <a:t>弯曲</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dirty="0">
                          <a:solidFill>
                            <a:srgbClr val="0000FF"/>
                          </a:solidFill>
                          <a:latin typeface="Calibri"/>
                          <a:ea typeface="宋体"/>
                          <a:cs typeface="Times New Roman"/>
                        </a:rPr>
                        <a:t>1. </a:t>
                      </a:r>
                      <a:r>
                        <a:rPr lang="zh-CN" sz="1800" b="1" kern="100" dirty="0">
                          <a:solidFill>
                            <a:srgbClr val="0000FF"/>
                          </a:solidFill>
                          <a:latin typeface="Calibri"/>
                          <a:ea typeface="宋体"/>
                          <a:cs typeface="Times New Roman"/>
                        </a:rPr>
                        <a:t>机座端地基粗糙，自由度不够</a:t>
                      </a:r>
                      <a:r>
                        <a:rPr lang="en-US" sz="1800" b="1" kern="100" dirty="0">
                          <a:solidFill>
                            <a:srgbClr val="0000FF"/>
                          </a:solidFill>
                          <a:latin typeface="Calibri"/>
                          <a:ea typeface="宋体"/>
                          <a:cs typeface="Times New Roman"/>
                        </a:rPr>
                        <a:t>  </a:t>
                      </a:r>
                      <a:endParaRPr lang="zh-CN" sz="1800" b="1" kern="100" dirty="0">
                        <a:solidFill>
                          <a:srgbClr val="0000FF"/>
                        </a:solidFill>
                        <a:latin typeface="Calibri"/>
                        <a:ea typeface="宋体"/>
                        <a:cs typeface="Times New Roman"/>
                      </a:endParaRPr>
                    </a:p>
                    <a:p>
                      <a:pPr algn="just">
                        <a:spcAft>
                          <a:spcPts val="0"/>
                        </a:spcAft>
                      </a:pPr>
                      <a:r>
                        <a:rPr lang="en-US" sz="1800" b="1" kern="100" dirty="0">
                          <a:solidFill>
                            <a:srgbClr val="0000FF"/>
                          </a:solidFill>
                          <a:latin typeface="Calibri"/>
                          <a:ea typeface="宋体"/>
                          <a:cs typeface="Times New Roman"/>
                        </a:rPr>
                        <a:t>2. </a:t>
                      </a:r>
                      <a:r>
                        <a:rPr lang="zh-CN" sz="1800" b="1" kern="100" dirty="0">
                          <a:solidFill>
                            <a:srgbClr val="0000FF"/>
                          </a:solidFill>
                          <a:latin typeface="Calibri"/>
                          <a:ea typeface="宋体"/>
                          <a:cs typeface="Times New Roman"/>
                        </a:rPr>
                        <a:t>滤板排列不平行，拉板不同步</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b="1" kern="100" dirty="0">
                          <a:solidFill>
                            <a:srgbClr val="0000FF"/>
                          </a:solidFill>
                          <a:latin typeface="Calibri"/>
                          <a:ea typeface="宋体"/>
                          <a:cs typeface="Times New Roman"/>
                        </a:rPr>
                        <a:t>1. </a:t>
                      </a:r>
                      <a:r>
                        <a:rPr lang="zh-CN" sz="1800" b="1" kern="100" dirty="0">
                          <a:solidFill>
                            <a:srgbClr val="0000FF"/>
                          </a:solidFill>
                          <a:latin typeface="Calibri"/>
                          <a:ea typeface="宋体"/>
                          <a:cs typeface="Times New Roman"/>
                        </a:rPr>
                        <a:t>重新安装</a:t>
                      </a:r>
                      <a:r>
                        <a:rPr lang="en-US" sz="1800" b="1" kern="100" dirty="0">
                          <a:solidFill>
                            <a:srgbClr val="0000FF"/>
                          </a:solidFill>
                          <a:latin typeface="Calibri"/>
                          <a:ea typeface="宋体"/>
                          <a:cs typeface="Times New Roman"/>
                        </a:rPr>
                        <a:t>  </a:t>
                      </a:r>
                      <a:endParaRPr lang="zh-CN" sz="1800" b="1" kern="100" dirty="0">
                        <a:solidFill>
                          <a:srgbClr val="0000FF"/>
                        </a:solidFill>
                        <a:latin typeface="Calibri"/>
                        <a:ea typeface="宋体"/>
                        <a:cs typeface="Times New Roman"/>
                      </a:endParaRPr>
                    </a:p>
                    <a:p>
                      <a:pPr algn="just">
                        <a:spcAft>
                          <a:spcPts val="0"/>
                        </a:spcAft>
                      </a:pPr>
                      <a:r>
                        <a:rPr lang="en-US" sz="1800" b="1" kern="100" dirty="0">
                          <a:solidFill>
                            <a:srgbClr val="0000FF"/>
                          </a:solidFill>
                          <a:latin typeface="Calibri"/>
                          <a:ea typeface="宋体"/>
                          <a:cs typeface="Times New Roman"/>
                        </a:rPr>
                        <a:t>2. </a:t>
                      </a:r>
                      <a:r>
                        <a:rPr lang="zh-CN" sz="1800" b="1" kern="100" dirty="0">
                          <a:solidFill>
                            <a:srgbClr val="0000FF"/>
                          </a:solidFill>
                          <a:latin typeface="Calibri"/>
                          <a:ea typeface="宋体"/>
                          <a:cs typeface="Times New Roman"/>
                        </a:rPr>
                        <a:t>重新排列滤板</a:t>
                      </a:r>
                      <a:r>
                        <a:rPr lang="en-US" sz="1800" b="1" kern="100" dirty="0">
                          <a:solidFill>
                            <a:srgbClr val="0000FF"/>
                          </a:solidFill>
                          <a:latin typeface="Calibri"/>
                          <a:ea typeface="宋体"/>
                          <a:cs typeface="Times New Roman"/>
                        </a:rPr>
                        <a:t>  </a:t>
                      </a:r>
                      <a:endParaRPr lang="zh-CN" sz="1800" b="1" kern="100" dirty="0">
                        <a:solidFill>
                          <a:srgbClr val="0000FF"/>
                        </a:solidFill>
                        <a:latin typeface="Calibri"/>
                        <a:ea typeface="宋体"/>
                        <a:cs typeface="Times New Roman"/>
                      </a:endParaRPr>
                    </a:p>
                    <a:p>
                      <a:pPr algn="just">
                        <a:spcAft>
                          <a:spcPts val="0"/>
                        </a:spcAft>
                      </a:pPr>
                      <a:r>
                        <a:rPr lang="en-US" sz="1800" b="1" kern="100" dirty="0">
                          <a:solidFill>
                            <a:srgbClr val="0000FF"/>
                          </a:solidFill>
                          <a:latin typeface="Calibri"/>
                          <a:ea typeface="宋体"/>
                          <a:cs typeface="Times New Roman"/>
                        </a:rPr>
                        <a:t>3. </a:t>
                      </a:r>
                      <a:r>
                        <a:rPr lang="zh-CN" sz="1800" b="1" kern="100" dirty="0">
                          <a:solidFill>
                            <a:srgbClr val="0000FF"/>
                          </a:solidFill>
                          <a:latin typeface="Calibri"/>
                          <a:ea typeface="宋体"/>
                          <a:cs typeface="Times New Roman"/>
                        </a:rPr>
                        <a:t>调整拉板小车同步性</a:t>
                      </a:r>
                    </a:p>
                  </a:txBody>
                  <a:tcPr marL="66535" marR="665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矩形 2"/>
          <p:cNvSpPr/>
          <p:nvPr/>
        </p:nvSpPr>
        <p:spPr>
          <a:xfrm>
            <a:off x="611188" y="549275"/>
            <a:ext cx="2262158" cy="369332"/>
          </a:xfrm>
          <a:prstGeom prst="rect">
            <a:avLst/>
          </a:prstGeom>
        </p:spPr>
        <p:txBody>
          <a:bodyPr wrap="none">
            <a:spAutoFit/>
          </a:bodyPr>
          <a:lstStyle/>
          <a:p>
            <a:r>
              <a:rPr lang="zh-CN" altLang="en-US" dirty="0" smtClean="0"/>
              <a:t>二、常见故障及排除</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847</TotalTime>
  <Words>10591</Words>
  <PresentationFormat>全屏显示(4:3)</PresentationFormat>
  <Paragraphs>1014</Paragraphs>
  <Slides>100</Slides>
  <Notes>0</Notes>
  <HiddenSlides>0</HiddenSlides>
  <MMClips>0</MMClips>
  <ScaleCrop>false</ScaleCrop>
  <HeadingPairs>
    <vt:vector size="6" baseType="variant">
      <vt:variant>
        <vt:lpstr>主题</vt:lpstr>
      </vt:variant>
      <vt:variant>
        <vt:i4>1</vt:i4>
      </vt:variant>
      <vt:variant>
        <vt:lpstr>嵌入 OLE 服务器</vt:lpstr>
      </vt:variant>
      <vt:variant>
        <vt:i4>0</vt:i4>
      </vt:variant>
      <vt:variant>
        <vt:lpstr>幻灯片标题</vt:lpstr>
      </vt:variant>
      <vt:variant>
        <vt:i4>100</vt:i4>
      </vt:variant>
    </vt:vector>
  </HeadingPairs>
  <TitlesOfParts>
    <vt:vector size="101"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幻灯片 99</vt:lpstr>
      <vt:lpstr>幻灯片 100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压滤机培训教材</dc:title>
  <cp:lastModifiedBy>微软用户</cp:lastModifiedBy>
  <cp:revision>87</cp:revision>
  <dcterms:modified xsi:type="dcterms:W3CDTF">2014-09-24T05:08:28Z</dcterms:modified>
</cp:coreProperties>
</file>
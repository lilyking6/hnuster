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20" userDrawn="1">
          <p15:clr>
            <a:srgbClr val="747775"/>
          </p15:clr>
        </p15:guide>
        <p15:guide id="2" pos="289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20"/>
        <p:guide pos="289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svg"/><Relationship Id="rId8" Type="http://schemas.openxmlformats.org/officeDocument/2006/relationships/image" Target="../media/image16.png"/><Relationship Id="rId7" Type="http://schemas.openxmlformats.org/officeDocument/2006/relationships/image" Target="../media/image15.svg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8.pn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svg"/><Relationship Id="rId8" Type="http://schemas.openxmlformats.org/officeDocument/2006/relationships/image" Target="../media/image25.png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7.pn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svg"/><Relationship Id="rId8" Type="http://schemas.openxmlformats.org/officeDocument/2006/relationships/image" Target="../media/image34.png"/><Relationship Id="rId7" Type="http://schemas.openxmlformats.org/officeDocument/2006/relationships/image" Target="../media/image33.svg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39.svg"/><Relationship Id="rId12" Type="http://schemas.openxmlformats.org/officeDocument/2006/relationships/image" Target="../media/image38.png"/><Relationship Id="rId11" Type="http://schemas.openxmlformats.org/officeDocument/2006/relationships/image" Target="../media/image37.svg"/><Relationship Id="rId10" Type="http://schemas.openxmlformats.org/officeDocument/2006/relationships/image" Target="../media/image36.pn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svg"/><Relationship Id="rId8" Type="http://schemas.openxmlformats.org/officeDocument/2006/relationships/image" Target="../media/image46.png"/><Relationship Id="rId7" Type="http://schemas.openxmlformats.org/officeDocument/2006/relationships/image" Target="../media/image45.svg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3" Type="http://schemas.openxmlformats.org/officeDocument/2006/relationships/image" Target="../media/image41.svg"/><Relationship Id="rId27" Type="http://schemas.openxmlformats.org/officeDocument/2006/relationships/notesSlide" Target="../notesSlides/notesSlide8.xml"/><Relationship Id="rId26" Type="http://schemas.openxmlformats.org/officeDocument/2006/relationships/slideLayout" Target="../slideLayouts/slideLayout12.xml"/><Relationship Id="rId25" Type="http://schemas.openxmlformats.org/officeDocument/2006/relationships/image" Target="../media/image62.svg"/><Relationship Id="rId24" Type="http://schemas.openxmlformats.org/officeDocument/2006/relationships/image" Target="../media/image61.png"/><Relationship Id="rId23" Type="http://schemas.openxmlformats.org/officeDocument/2006/relationships/image" Target="../media/image60.svg"/><Relationship Id="rId22" Type="http://schemas.openxmlformats.org/officeDocument/2006/relationships/image" Target="../media/image59.png"/><Relationship Id="rId21" Type="http://schemas.openxmlformats.org/officeDocument/2006/relationships/image" Target="../media/image58.svg"/><Relationship Id="rId20" Type="http://schemas.openxmlformats.org/officeDocument/2006/relationships/image" Target="../media/image57.png"/><Relationship Id="rId2" Type="http://schemas.openxmlformats.org/officeDocument/2006/relationships/image" Target="../media/image40.png"/><Relationship Id="rId19" Type="http://schemas.openxmlformats.org/officeDocument/2006/relationships/image" Target="../media/image56.svg"/><Relationship Id="rId18" Type="http://schemas.openxmlformats.org/officeDocument/2006/relationships/image" Target="../media/image55.png"/><Relationship Id="rId17" Type="http://schemas.openxmlformats.org/officeDocument/2006/relationships/image" Target="../media/image54.svg"/><Relationship Id="rId16" Type="http://schemas.openxmlformats.org/officeDocument/2006/relationships/image" Target="../media/image53.png"/><Relationship Id="rId15" Type="http://schemas.openxmlformats.org/officeDocument/2006/relationships/image" Target="../media/image52.svg"/><Relationship Id="rId14" Type="http://schemas.openxmlformats.org/officeDocument/2006/relationships/image" Target="../media/image51.png"/><Relationship Id="rId13" Type="http://schemas.openxmlformats.org/officeDocument/2006/relationships/image" Target="../media/image11.svg"/><Relationship Id="rId12" Type="http://schemas.openxmlformats.org/officeDocument/2006/relationships/image" Target="../media/image50.png"/><Relationship Id="rId11" Type="http://schemas.openxmlformats.org/officeDocument/2006/relationships/image" Target="../media/image49.svg"/><Relationship Id="rId10" Type="http://schemas.openxmlformats.org/officeDocument/2006/relationships/image" Target="../media/image48.pn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A5298">
                  <a:alpha val="100000"/>
                </a:srgbClr>
              </a:gs>
              <a:gs pos="100000">
                <a:srgbClr val="667EEA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81000" y="1651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i="0" u="none" strike="noStrike">
                <a:solidFill>
                  <a:srgbClr val="FFFFFF"/>
                </a:solidFill>
                <a:latin typeface="思源黑体 CN" panose="020B0500000000000000" charset="-122"/>
                <a:ea typeface="思源黑体 CN" panose="020B0500000000000000" charset="-122"/>
                <a:cs typeface="Noto Sans SC" panose="020B0200000000000000" charset="-122"/>
                <a:sym typeface="Noto Sans SC" panose="020B0200000000000000" charset="-122"/>
              </a:rPr>
              <a:t>1.0M LiPF₆ in DMC</a:t>
            </a: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电解液性能分析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7188">
            <a:off x="4826016" y="31686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2286000" y="4159885"/>
            <a:ext cx="7620000" cy="1047115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6070" y="4572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302000" y="444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演讲者</a:t>
            </a: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：Lily King</a:t>
            </a:r>
            <a:endParaRPr lang="en-US" altLang="zh-CN" sz="1600" b="0" i="0" u="none" strike="noStrike">
              <a:solidFill>
                <a:srgbClr val="E5E7EB"/>
              </a:solidFill>
              <a:latin typeface="Noto Sans SC" panose="020B0200000000000000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45085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858000" y="444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日期：2026年4月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2A529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667E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2540000" y="1524000"/>
            <a:ext cx="3937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0E6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2A5298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2540000" y="1524000"/>
            <a:ext cx="76200" cy="952500"/>
          </a:xfrm>
          <a:prstGeom prst="roundRect">
            <a:avLst>
              <a:gd name="adj" fmla="val 0"/>
            </a:avLst>
          </a:prstGeom>
          <a:solidFill>
            <a:srgbClr val="2A529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2730500" y="17526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302000" y="1714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研究背景与DMC简介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540000" y="2667000"/>
            <a:ext cx="3937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0E6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2A5298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2540000" y="2667000"/>
            <a:ext cx="76200" cy="952500"/>
          </a:xfrm>
          <a:prstGeom prst="roundRect">
            <a:avLst>
              <a:gd name="adj" fmla="val 0"/>
            </a:avLst>
          </a:prstGeom>
          <a:solidFill>
            <a:srgbClr val="2A529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2730500" y="28956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302000" y="2857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DMC物理化学性质分析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540000" y="3810000"/>
            <a:ext cx="3937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0E6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2A5298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2540000" y="3810000"/>
            <a:ext cx="76200" cy="952500"/>
          </a:xfrm>
          <a:prstGeom prst="roundRect">
            <a:avLst>
              <a:gd name="adj" fmla="val 0"/>
            </a:avLst>
          </a:prstGeom>
          <a:solidFill>
            <a:srgbClr val="2A529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2730500" y="40386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302000" y="4000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1.0M LiPF₆ in DMC性能优势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731000" y="1524000"/>
            <a:ext cx="3937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0E6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2A5298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731000" y="1524000"/>
            <a:ext cx="76200" cy="952500"/>
          </a:xfrm>
          <a:prstGeom prst="roundRect">
            <a:avLst>
              <a:gd name="adj" fmla="val 0"/>
            </a:avLst>
          </a:prstGeom>
          <a:solidFill>
            <a:srgbClr val="667E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921500" y="17526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667EE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493000" y="1714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单一DMC体系致命缺陷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731000" y="2667000"/>
            <a:ext cx="3937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0E6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2A5298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731000" y="2667000"/>
            <a:ext cx="76200" cy="952500"/>
          </a:xfrm>
          <a:prstGeom prst="roundRect">
            <a:avLst>
              <a:gd name="adj" fmla="val 0"/>
            </a:avLst>
          </a:prstGeom>
          <a:solidFill>
            <a:srgbClr val="667E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921500" y="28956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667EE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493000" y="2857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改进方案：混合溶剂设计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731000" y="3810000"/>
            <a:ext cx="3937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0E6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2A5298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731000" y="3810000"/>
            <a:ext cx="76200" cy="952500"/>
          </a:xfrm>
          <a:prstGeom prst="roundRect">
            <a:avLst>
              <a:gd name="adj" fmla="val 0"/>
            </a:avLst>
          </a:prstGeom>
          <a:solidFill>
            <a:srgbClr val="667E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921500" y="40386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667EE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493000" y="4000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结论与展望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研究背景与DMC简介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667EEA">
              <a:alpha val="8000"/>
            </a:srgbClr>
          </a:solidFill>
          <a:ln w="12700" cap="flat" cmpd="sng">
            <a:solidFill>
              <a:srgbClr val="667EE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4986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研究背景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18415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理解单一组分溶剂的行为是设计多元电解液体系的基础。DMC作为最常用的电解液共溶剂，其单独使用时的性能边界对配方设计具有重要指导意义。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634615"/>
            <a:ext cx="5334000" cy="2091690"/>
          </a:xfrm>
          <a:prstGeom prst="roundRect">
            <a:avLst>
              <a:gd name="adj" fmla="val 8333"/>
            </a:avLst>
          </a:prstGeom>
          <a:solidFill>
            <a:srgbClr val="667EEA">
              <a:alpha val="8000"/>
            </a:srgbClr>
          </a:solidFill>
          <a:ln w="12700" cap="flat" cmpd="sng">
            <a:solidFill>
              <a:srgbClr val="667EE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9000" y="280035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DMC 基本信息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3167380"/>
            <a:ext cx="5080000" cy="13976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1450" indent="-171450" algn="l">
              <a:lnSpc>
                <a:spcPct val="10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化学名称：碳酸二甲酯 </a:t>
            </a:r>
            <a:r>
              <a:rPr lang="en-US" sz="12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(Dimethyl Carbonate)</a:t>
            </a: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sz="12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分子式：</a:t>
            </a:r>
            <a:r>
              <a:rPr lang="en-US" altLang="zh-CN" sz="1100"/>
              <a:t>C</a:t>
            </a:r>
            <a:r>
              <a:rPr lang="en-US" altLang="en-US" sz="1100"/>
              <a:t>₃</a:t>
            </a:r>
            <a:r>
              <a:rPr lang="en-US" altLang="zh-CN" sz="1100"/>
              <a:t>H</a:t>
            </a:r>
            <a:r>
              <a:rPr lang="en-US" altLang="en-US" sz="1100"/>
              <a:t>₆</a:t>
            </a:r>
            <a:r>
              <a:rPr lang="en-US" altLang="zh-CN" sz="1100"/>
              <a:t>O</a:t>
            </a:r>
            <a:r>
              <a:rPr lang="en-US" altLang="en-US" sz="1100"/>
              <a:t>₃</a:t>
            </a:r>
            <a:r>
              <a:rPr lang="en-US" altLang="zh-CN" sz="1100"/>
              <a:t> </a:t>
            </a:r>
            <a:r>
              <a:rPr lang="zh-CN" altLang="en-US" sz="1100"/>
              <a:t>或</a:t>
            </a:r>
            <a:r>
              <a:rPr lang="en-US" altLang="zh-CN" sz="1100"/>
              <a:t> CH</a:t>
            </a:r>
            <a:r>
              <a:rPr lang="en-US" altLang="en-US" sz="1100"/>
              <a:t>₃</a:t>
            </a:r>
            <a:r>
              <a:rPr lang="en-US" altLang="zh-CN" sz="1100"/>
              <a:t>OCOOCH</a:t>
            </a:r>
            <a:r>
              <a:rPr lang="en-US" altLang="en-US" sz="1100"/>
              <a:t>₃</a:t>
            </a:r>
            <a:endParaRPr lang="en-US" altLang="en-US" sz="1100"/>
          </a:p>
          <a:p>
            <a:pPr marL="171450" indent="-171450" algn="l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分子量：</a:t>
            </a:r>
            <a:r>
              <a:rPr lang="en-US" sz="1200" b="1" i="0" u="none" strike="noStrike">
                <a:solidFill>
                  <a:srgbClr val="3C3C3C"/>
                </a:solidFill>
                <a:latin typeface="思源黑体 CN" panose="020B0500000000000000" charset="-122"/>
                <a:ea typeface="思源黑体 CN" panose="020B0500000000000000" charset="-122"/>
                <a:cs typeface="Noto Sans SC" panose="020B0200000000000000" charset="-122"/>
                <a:sym typeface="Noto Sans SC" panose="020B0200000000000000" charset="-122"/>
              </a:rPr>
              <a:t>90.08 g/mol</a:t>
            </a:r>
            <a:r>
              <a:rPr lang="en-US" sz="1200" b="0" i="0" u="none" strike="noStrike">
                <a:solidFill>
                  <a:srgbClr val="3C3C3C"/>
                </a:solidFill>
                <a:latin typeface="思源黑体 CN" panose="020B0500000000000000" charset="-122"/>
                <a:ea typeface="思源黑体 CN" panose="020B0500000000000000" charset="-122"/>
                <a:cs typeface="Noto Sans SC" panose="020B0200000000000000" charset="-122"/>
                <a:sym typeface="Noto Sans SC" panose="020B0200000000000000" charset="-122"/>
              </a:rPr>
              <a:t> | </a:t>
            </a:r>
            <a:endParaRPr lang="en-US" sz="12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结构类型：链状线性碳酸酯</a:t>
            </a:r>
            <a:endParaRPr lang="en-US" sz="12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外观状态：无色透明液体，</a:t>
            </a:r>
            <a:r>
              <a:rPr lang="zh-CN" alt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具有轻微气味</a:t>
            </a:r>
            <a:endParaRPr lang="zh-CN" altLang="en-US" sz="12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核心特征：粘度</a:t>
            </a:r>
            <a:r>
              <a:rPr lang="en-US" sz="12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(0.59 mPa·s)</a:t>
            </a: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与介电常数</a:t>
            </a:r>
            <a:r>
              <a:rPr lang="en-US" sz="12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(3.1)</a:t>
            </a: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“双低”</a:t>
            </a:r>
            <a:r>
              <a:rPr lang="zh-CN" alt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，这一</a:t>
            </a:r>
            <a:r>
              <a:rPr lang="en-US" altLang="zh-CN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"</a:t>
            </a:r>
            <a:r>
              <a:rPr lang="zh-CN" alt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双低</a:t>
            </a:r>
            <a:r>
              <a:rPr lang="en-US" altLang="zh-CN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"</a:t>
            </a:r>
            <a:r>
              <a:rPr lang="zh-CN" alt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特性决定了其在电解液中的特殊角色</a:t>
            </a:r>
            <a:endParaRPr lang="zh-CN" altLang="en-US" sz="1200" b="0" i="0" u="none" strike="noStrike">
              <a:solidFill>
                <a:srgbClr val="3C3C3C"/>
              </a:solidFill>
              <a:latin typeface="Noto Sans SC" panose="020B0200000000000000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826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667EEA">
              <a:alpha val="8000"/>
            </a:srgbClr>
          </a:solidFill>
          <a:ln w="12700" cap="flat" cmpd="sng">
            <a:solidFill>
              <a:srgbClr val="667EE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89000" y="49276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分子结构特点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9000" y="52705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对称的线性结构，包含两个甲氧基</a:t>
            </a:r>
            <a:r>
              <a:rPr lang="en-US" sz="12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(-OCH₃)</a:t>
            </a: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和一个羰基</a:t>
            </a:r>
            <a:r>
              <a:rPr lang="en-US" sz="12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(C=O)</a:t>
            </a: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；无环状张力，分子柔性好，这是其“双低”特性的结构根源。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112000" y="3683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  <a:sym typeface="Noto Sans SC" panose="020B0200000000000000" charset="-122"/>
              </a:rPr>
              <a:t>图1 DMC分子结构式示意图</a:t>
            </a:r>
            <a:endParaRPr lang="en-US" sz="110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112000" y="4318000"/>
            <a:ext cx="3810000" cy="114300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2A5298">
                  <a:alpha val="100000"/>
                </a:srgbClr>
              </a:gs>
              <a:gs pos="100000">
                <a:srgbClr val="667EEA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239000" y="44450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核心特性总结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39000" y="4826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粘度最低 + 介电常数最低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决定了其在电解液中的稀释与助溶角色</a:t>
            </a:r>
            <a:endParaRPr lang="en-US" sz="12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2A529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080" y="1972310"/>
            <a:ext cx="3227705" cy="14566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444500"/>
            <a:ext cx="1066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DMC物理化学性质分析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基础物性参数对比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1651000"/>
          <a:ext cx="4572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1016000"/>
                <a:gridCol w="1016000"/>
                <a:gridCol w="1270000"/>
              </a:tblGrid>
              <a:tr h="4064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性质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529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DMC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529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EC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529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评价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5298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熔点 </a:t>
                      </a: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(°C)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BF5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3~4.6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BF5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36.4</a:t>
                      </a:r>
                      <a:endParaRPr lang="en-US" sz="1300" b="1" i="0" u="none" strike="noStrike">
                        <a:solidFill>
                          <a:srgbClr val="3333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BF5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A529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DMC低温优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BF5">
                        <a:alpha val="50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沸点 </a:t>
                      </a: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(°C)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90~91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248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99999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DMC高温差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粘度 </a:t>
                      </a: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(mPa·s)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BF5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0.59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BF5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1.90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BF5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A529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DMC极低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BF5">
                        <a:alpha val="50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介电常数 </a:t>
                      </a: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(ε)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3.1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89.6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99999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DMC极低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闪点 </a:t>
                      </a: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(°C)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BF5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15~18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BF5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143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BF5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99999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DMC易燃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BF5">
                        <a:alpha val="50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密度 </a:t>
                      </a: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(g/cm³)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1.07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1.32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99999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-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6604000" y="1270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关键参数可视化对比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1651000"/>
            <a:ext cx="2286000" cy="1905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651000"/>
            <a:ext cx="2286000" cy="1905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0" name="AutoShape 10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20000"/>
            </a:avLst>
          </a:prstGeom>
          <a:solidFill>
            <a:srgbClr val="2A5298">
              <a:alpha val="8000"/>
            </a:srgbClr>
          </a:solidFill>
          <a:ln w="12700" cap="flat" cmpd="sng">
            <a:solidFill>
              <a:srgbClr val="2A5298">
                <a:alpha val="100000"/>
              </a:srgbClr>
            </a:solidFill>
            <a:prstDash val="solid"/>
            <a:round/>
          </a:ln>
        </p:spPr>
        <p:txBody>
          <a:bodyPr vert="horz" wrap="square" lIns="254000" tIns="190500" rIns="254000" bIns="1905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物性分析结论：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DMC的“双低”特性（低粘度、低介电常数）是一把双刃剑：低粘度有利于离子传输，但低介电常数严重限制了其溶解锂盐和形成SEI膜的能力。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058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1.0M LiPF₆ in DMC性能优势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3048000" cy="1143000"/>
          </a:xfrm>
          <a:prstGeom prst="roundRect">
            <a:avLst>
              <a:gd name="adj" fmla="val 11111"/>
            </a:avLst>
          </a:prstGeom>
          <a:solidFill>
            <a:srgbClr val="F0F4FA">
              <a:alpha val="100000"/>
            </a:srgbClr>
          </a:solidFill>
          <a:ln w="12700" cap="flat" cmpd="sng">
            <a:solidFill>
              <a:srgbClr val="667EE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587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52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卓越低温性能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460500" y="1905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熔点仅</a:t>
            </a:r>
            <a:r>
              <a:rPr lang="en-US" sz="13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3~4°C，-20°C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仍保持液态流动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000500" y="1397000"/>
            <a:ext cx="3048000" cy="1143000"/>
          </a:xfrm>
          <a:prstGeom prst="roundRect">
            <a:avLst>
              <a:gd name="adj" fmla="val 11111"/>
            </a:avLst>
          </a:prstGeom>
          <a:solidFill>
            <a:srgbClr val="F0F4FA">
              <a:alpha val="100000"/>
            </a:srgbClr>
          </a:solidFill>
          <a:ln w="12700" cap="flat" cmpd="sng">
            <a:solidFill>
              <a:srgbClr val="667EE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1000" y="1587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699000" y="152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极低粘度特性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1905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粘度</a:t>
            </a:r>
            <a:r>
              <a:rPr lang="en-US" sz="13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0.59 mPa·s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，Li⁺迁移速率显著提升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2730500"/>
            <a:ext cx="3048000" cy="1143000"/>
          </a:xfrm>
          <a:prstGeom prst="roundRect">
            <a:avLst>
              <a:gd name="adj" fmla="val 11111"/>
            </a:avLst>
          </a:prstGeom>
          <a:solidFill>
            <a:srgbClr val="F0F4FA">
              <a:alpha val="100000"/>
            </a:srgbClr>
          </a:solidFill>
          <a:ln w="12700" cap="flat" cmpd="sng">
            <a:solidFill>
              <a:srgbClr val="667EE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2921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2857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优异快充适应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460500" y="3238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降低电荷转移阻抗，支持5C以上高倍率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000500" y="2730500"/>
            <a:ext cx="3048000" cy="1143000"/>
          </a:xfrm>
          <a:prstGeom prst="roundRect">
            <a:avLst>
              <a:gd name="adj" fmla="val 11111"/>
            </a:avLst>
          </a:prstGeom>
          <a:solidFill>
            <a:srgbClr val="F0F4FA">
              <a:alpha val="100000"/>
            </a:srgbClr>
          </a:solidFill>
          <a:ln w="12700" cap="flat" cmpd="sng">
            <a:solidFill>
              <a:srgbClr val="667EE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91000" y="2921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699000" y="2857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环境友好经济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699000" y="3238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无毒可降解，合成工艺成熟成本更低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064000"/>
            <a:ext cx="6286500" cy="1016000"/>
          </a:xfrm>
          <a:prstGeom prst="roundRect">
            <a:avLst>
              <a:gd name="adj" fmla="val 12500"/>
            </a:avLst>
          </a:prstGeom>
          <a:solidFill>
            <a:srgbClr val="2A5298">
              <a:alpha val="8000"/>
            </a:srgbClr>
          </a:solidFill>
          <a:ln w="12700" cap="flat" cmpd="sng">
            <a:solidFill>
              <a:srgbClr val="2A5298">
                <a:alpha val="3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89000" y="4191000"/>
            <a:ext cx="603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粘度与电导率关系推导：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89000" y="4572000"/>
            <a:ext cx="603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公式：σ = Σ(nᵢqᵢμᵢ)，其中 μ ∝ 1/η →</a:t>
            </a:r>
            <a:r>
              <a:rPr lang="en-US" sz="1400" b="1" i="0" u="none" strike="noStrike">
                <a:solidFill>
                  <a:srgbClr val="667EE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粘度越低，电导率越大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493000" y="3492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</a:t>
            </a:r>
            <a:r>
              <a:rPr lang="en-US" sz="1200" b="0" i="0" u="none" strike="noStrike">
                <a:solidFill>
                  <a:srgbClr val="646464"/>
                </a:solidFill>
                <a:latin typeface="思源黑体 CN" panose="020B0500000000000000" charset="-122"/>
                <a:ea typeface="思源黑体 CN" panose="020B05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锂离子电池电解液配制与组成示意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493000" y="4000500"/>
            <a:ext cx="3556000" cy="1079500"/>
          </a:xfrm>
          <a:prstGeom prst="roundRect">
            <a:avLst>
              <a:gd name="adj" fmla="val 11764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620000" y="4127500"/>
            <a:ext cx="330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DMC凭借其独特的物理化学性质，在动力电池和低温储能领域具有极高的应用潜力，是配制高性能电解液的关键溶剂之一。</a:t>
            </a:r>
            <a:endParaRPr lang="en-US" sz="12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9500" y="953135"/>
            <a:ext cx="3900170" cy="2285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单一DMC体系致命缺陷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667EE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7272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524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无法形成有效SEI膜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460500" y="1905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LUMO能级高，还原稳定性强，难以在石墨负极表面分解，无法形成致密稳定的SEI膜。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6035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667EE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9337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2730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石墨层剥离与结构破坏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460500" y="31115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DMC随锂离子共嵌入石墨层间，导致层间距膨胀剥离，负极结构坍塌，容量快速衰减。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8100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667EE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1402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3937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热稳定性差，安全隐患大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460500" y="4318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沸点仅90°C，闪点低，高温或过充下易挥发产生蒸汽压，增加热失控风险。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0165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667EE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3467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460500" y="5143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锂盐溶解能力不足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460500" y="55245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介电常数仅3.1，难以有效解离LiPF₆，导致自由离子浓度低，电导率受限。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604000" y="4076700"/>
            <a:ext cx="4318000" cy="1765300"/>
          </a:xfrm>
          <a:prstGeom prst="roundRect">
            <a:avLst>
              <a:gd name="adj" fmla="val 7194"/>
            </a:avLst>
          </a:prstGeom>
          <a:solidFill>
            <a:srgbClr val="2A5298">
              <a:alpha val="8000"/>
            </a:srgbClr>
          </a:solidFill>
          <a:ln w="12700" cap="flat" cmpd="sng">
            <a:solidFill>
              <a:srgbClr val="2A5298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731000" y="42037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核心结论与机理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731000" y="45847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单一DMC不可商用：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无SEI膜导致溶剂共嵌入，破坏石墨层状结构。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正常情况需EC分解形成SEI膜，物理隔离溶剂与负极，确保循环稳定。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3225" y="508000"/>
            <a:ext cx="4676775" cy="284797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7366000" y="345567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图</a:t>
            </a:r>
            <a:r>
              <a:rPr lang="en-US" altLang="zh-CN" sz="120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3 SEI</a:t>
            </a:r>
            <a:r>
              <a:rPr lang="zh-CN" altLang="en-US" sz="120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膜在石墨负极表面形成机理示意图</a:t>
            </a:r>
            <a:endParaRPr lang="zh-CN" altLang="en-US" sz="120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04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改进方案：混合溶剂设计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EC 与 DMC 特性互补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5080000" cy="1714500"/>
          </a:xfrm>
          <a:prstGeom prst="roundRect">
            <a:avLst>
              <a:gd name="adj" fmla="val 7407"/>
            </a:avLst>
          </a:prstGeom>
          <a:solidFill>
            <a:srgbClr val="2A5298">
              <a:alpha val="8000"/>
            </a:srgbClr>
          </a:solidFill>
          <a:ln w="12700" cap="flat" cmpd="sng">
            <a:solidFill>
              <a:srgbClr val="2A529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57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20066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碳酸乙烯酯 (EC)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413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高介电常数(89.6)，强极性，能有效溶解锂盐；高还原活性，易形成稳定SEI膜；热稳定性优异。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劣势：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粘度较高(1.90 mPa·s)，熔点高(36°C)，低温性能受限。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746500"/>
            <a:ext cx="5080000" cy="1714500"/>
          </a:xfrm>
          <a:prstGeom prst="roundRect">
            <a:avLst>
              <a:gd name="adj" fmla="val 7407"/>
            </a:avLst>
          </a:prstGeom>
          <a:solidFill>
            <a:srgbClr val="667EEA">
              <a:alpha val="8000"/>
            </a:srgbClr>
          </a:solidFill>
          <a:ln w="12700" cap="flat" cmpd="sng">
            <a:solidFill>
              <a:srgbClr val="667EE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8989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38481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67EE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碳酸二甲酯 (DMC)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4254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粘度极低(0.59 mPa·s)，有效降低电解液粘度；低温流动性好，显著改善倍率性能。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劣势：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介电常数低(3.1)，无法单独溶解锂盐；还原稳定性差，无法单独成膜。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1397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常用配方设计</a:t>
            </a:r>
            <a:endParaRPr lang="en-US" sz="1100"/>
          </a:p>
        </p:txBody>
      </p: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6223000" y="1905000"/>
          <a:ext cx="4699000" cy="1930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1778000"/>
                <a:gridCol w="1651000"/>
              </a:tblGrid>
              <a:tr h="4064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配方类型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529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比例 (v/v)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529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适用场景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5298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基础型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5298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EC : DMC = 1 : 1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5298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常规锂离子电池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5298">
                        <a:alpha val="10000"/>
                      </a:srgbClr>
                    </a:solidFill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低温型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EC : DMC = 3 : 7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低温环境应用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高电压型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5298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EC:EMC:DMC=1:1:1</a:t>
                      </a:r>
                      <a:endParaRPr lang="en-US" sz="1300" b="1" i="0" u="none" strike="noStrike">
                        <a:solidFill>
                          <a:srgbClr val="3333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5298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高电压正极体系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5298">
                        <a:alpha val="10000"/>
                      </a:srgbClr>
                    </a:solidFill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快充型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EC:DEC:DMC=1:1:1</a:t>
                      </a:r>
                      <a:endParaRPr lang="en-US" sz="1100" b="1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快充动力电池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" name="AutoShape 16"/>
          <p:cNvSpPr/>
          <p:nvPr/>
        </p:nvSpPr>
        <p:spPr>
          <a:xfrm>
            <a:off x="6223000" y="419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协同效应机理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4699000"/>
            <a:ext cx="2349500" cy="762000"/>
          </a:xfrm>
          <a:prstGeom prst="roundRect">
            <a:avLst>
              <a:gd name="adj" fmla="val 8333"/>
            </a:avLst>
          </a:prstGeom>
          <a:solidFill>
            <a:srgbClr val="F0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0000" y="49276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731000" y="47625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溶解-传输协同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EC解离锂盐，DMC加速迁移</a:t>
            </a:r>
            <a:endParaRPr lang="en-US" sz="11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699500" y="4699000"/>
            <a:ext cx="2349500" cy="762000"/>
          </a:xfrm>
          <a:prstGeom prst="roundRect">
            <a:avLst>
              <a:gd name="adj" fmla="val 8333"/>
            </a:avLst>
          </a:prstGeom>
          <a:solidFill>
            <a:srgbClr val="F0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26500" y="49276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207500" y="47625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成膜-保护协同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EC致密成膜，DMC提供通道</a:t>
            </a:r>
            <a:endParaRPr lang="en-US" sz="11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223000" y="5588000"/>
            <a:ext cx="2349500" cy="762000"/>
          </a:xfrm>
          <a:prstGeom prst="roundRect">
            <a:avLst>
              <a:gd name="adj" fmla="val 8333"/>
            </a:avLst>
          </a:prstGeom>
          <a:solidFill>
            <a:srgbClr val="F0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0" y="58166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731000" y="56515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温度适应协同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EC耐高温，DMC耐低温</a:t>
            </a:r>
            <a:endParaRPr lang="en-US" sz="11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8699500" y="5588000"/>
            <a:ext cx="2349500" cy="762000"/>
          </a:xfrm>
          <a:prstGeom prst="roundRect">
            <a:avLst>
              <a:gd name="adj" fmla="val 8333"/>
            </a:avLst>
          </a:prstGeom>
          <a:solidFill>
            <a:srgbClr val="F0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26500" y="58166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207500" y="56515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安全-性能平衡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提升闪点同时改善动力学</a:t>
            </a:r>
            <a:endParaRPr lang="en-US" sz="11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3517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结论与展望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6604000" cy="1397000"/>
          </a:xfrm>
          <a:prstGeom prst="roundRect">
            <a:avLst>
              <a:gd name="adj" fmla="val 9090"/>
            </a:avLst>
          </a:prstGeom>
          <a:solidFill>
            <a:srgbClr val="FFF5F5">
              <a:alpha val="100000"/>
            </a:srgbClr>
          </a:solidFill>
          <a:ln w="12700" cap="flat" cmpd="sng">
            <a:solidFill>
              <a:srgbClr val="E74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3716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74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单一DMC：不可直接应用的缺陷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78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1752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成膜失效：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无法形成稳定SEI膜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7000" y="1778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254500" y="1752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热稳定差：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低沸点/闪点，隐患大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21590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2133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溶解不足：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介电常数低，解离弱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37000" y="21590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254500" y="2133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寿命极短：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首效&lt;50%，快速失效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2794000"/>
            <a:ext cx="6604000" cy="1397000"/>
          </a:xfrm>
          <a:prstGeom prst="roundRect">
            <a:avLst>
              <a:gd name="adj" fmla="val 9090"/>
            </a:avLst>
          </a:prstGeom>
          <a:solidFill>
            <a:srgbClr val="F0F8FF">
              <a:alpha val="100000"/>
            </a:srgbClr>
          </a:solidFill>
          <a:ln w="12700" cap="flat" cmpd="sng">
            <a:solidFill>
              <a:srgbClr val="2A529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28956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作为共溶剂：不可替代的价值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33020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33500" y="3276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粘度调节：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显著降低体系粘度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37000" y="33020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254500" y="3276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低温改进：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降低凝固点，提升低温性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6000" y="36830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333500" y="3657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倍率提升：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支持高倍率充放电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37000" y="36830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4254500" y="3657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成本优化：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绿色无毒，原料易得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4318000"/>
            <a:ext cx="6604000" cy="1016000"/>
          </a:xfrm>
          <a:prstGeom prst="roundRect">
            <a:avLst>
              <a:gd name="adj" fmla="val 12500"/>
            </a:avLst>
          </a:prstGeom>
          <a:solidFill>
            <a:srgbClr val="2A529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2A5298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16000" y="46228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524000" y="4445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核心结论：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DMC是优秀的共溶剂，但绝不能单一使用！实际应用必须与EC等环状碳酸酯配合（推荐比例 1:1）。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0" y="1270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未来研究方向展望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0" y="1778000"/>
            <a:ext cx="355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810500" y="2120900"/>
            <a:ext cx="457200" cy="4572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8382000" y="1905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新型添加剂开发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开发能在DMC基体系中有效成膜的专用添加剂。</a:t>
            </a:r>
            <a:endParaRPr lang="en-US" sz="13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7620000" y="3048000"/>
            <a:ext cx="355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810500" y="3390900"/>
            <a:ext cx="457200" cy="4572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8382000" y="3175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高浓度锂盐体系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探索高浓度LiPF₆或局部高浓度体系，改善界面稳定性。</a:t>
            </a:r>
            <a:endParaRPr lang="en-US" sz="13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7620000" y="4318000"/>
            <a:ext cx="355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810500" y="4660900"/>
            <a:ext cx="457200" cy="4572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8382000" y="4445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新型负极匹配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研究DMC与硅基负极、钛酸锂负极等新材料的兼容性。</a:t>
            </a:r>
            <a:endParaRPr lang="en-US" sz="13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8" name="Connector 38"/>
          <p:cNvCxnSpPr/>
          <p:nvPr/>
        </p:nvCxnSpPr>
        <p:spPr>
          <a:xfrm rot="-4092">
            <a:off x="762004" y="583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主要参考文献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079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667E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[1]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Xu K. Nonaqueous Liquid Electrolytes for Lithium-Based Rechargeable Batteries.</a:t>
            </a:r>
            <a:r>
              <a:rPr lang="en-US" sz="1300" b="0" i="1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Chem. Rev.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2014, 114, 11503.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79959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[2]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Zhang S. A review on electrolyte additives.</a:t>
            </a:r>
            <a:r>
              <a:rPr lang="en-US" sz="1300" b="0" i="1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J. Power Sources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2006, 162, 1379.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26568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[3]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Ding M. Insight into solid electrolyte interphase.</a:t>
            </a:r>
            <a:r>
              <a:rPr lang="en-US" sz="1300" b="0" i="1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Electrochim. Acta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2014, 138, 266.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[4]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Tighineanu A. Electrolyte formulations.</a:t>
            </a:r>
            <a:r>
              <a:rPr lang="en-US" sz="1300" b="0" i="1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eTransportation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2024, 21, 100352.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175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[5]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戴梦等. 锂离子电池电解液研究进展.</a:t>
            </a:r>
            <a:r>
              <a:rPr lang="en-US" sz="1300" b="0" i="1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储能科学与技术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2024, 13, 1429.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556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[6]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马国强等. 广州化工, 2011, 39(21): 41-42.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89636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[7]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CIC化工信息网. DMC物性数据表.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381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[8]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王等. 电源技术, 2020, 44(8): 1121-1124.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1333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[9]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Peled E. Journal of The Electrochemical Society, 1979, 126(12): 2047.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1714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[10]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Zhang L. Journal of Power Sources, 2014, 256: 138-148.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2095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[11]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戴梦等. 储能科学与技术, 2024, 13(5): 1429-1438.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2476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[12]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Zhang L. Journal of Power Sources, 2014, 256: 138-148.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2857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[13]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Xu K. Chemical Reviews, 2014.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3238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[14]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Yamada Y. Journal of The Electrochemical Society, 2015, 162(14): A2409.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3619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529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[15]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Wang J. Advanced Energy Materials, 2020, 10(35): 2001235.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2A529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A5298">
                  <a:alpha val="100000"/>
                </a:srgbClr>
              </a:gs>
              <a:gs pos="100000">
                <a:srgbClr val="667EEA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241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谢谢聆听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0" y="3658870"/>
            <a:ext cx="762000" cy="25400"/>
          </a:xfrm>
          <a:prstGeom prst="roundRect">
            <a:avLst>
              <a:gd name="adj" fmla="val 0"/>
            </a:avLst>
          </a:prstGeom>
          <a:solidFill>
            <a:srgbClr val="9999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-69215" y="444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欢迎各位老师同学提问指正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A5298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2928</Words>
  <Application>WPS 演示</Application>
  <PresentationFormat/>
  <Paragraphs>305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Arial</vt:lpstr>
      <vt:lpstr>思源黑体 CN</vt:lpstr>
      <vt:lpstr>黑体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金玲利</cp:lastModifiedBy>
  <cp:revision>29</cp:revision>
  <dcterms:created xsi:type="dcterms:W3CDTF">2026-04-06T16:09:00Z</dcterms:created>
  <dcterms:modified xsi:type="dcterms:W3CDTF">2026-06-26T09:56:59Z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62FB2D5F4C501F7125D5D369E280B2D8_42</vt:lpwstr>
  </property>
  <property fmtid="{D5CDD505-2E9C-101B-9397-08002B2CF9AE}" pid="3" name="KSOProductBuildVer">
    <vt:lpwstr>2052-12.1.0.26895</vt:lpwstr>
  </property>
</Properties>
</file>
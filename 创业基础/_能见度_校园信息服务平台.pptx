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MiSans" charset="-122" pitchFamily="34"/>
      <p:regular r:id="rId19"/>
    </p:embeddedFont>
    <p:embeddedFont>
      <p:font typeface="阿里妈妈数黑体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gd-hbimg.huaban.com/8badc83274b5295ad46033b4d2bde6949cfcbf12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28898" b="2889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3C8082">
                  <a:alpha val="25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10281523" y="461010"/>
            <a:ext cx="1522095" cy="388620"/>
          </a:xfrm>
          <a:custGeom>
            <a:avLst/>
            <a:gdLst/>
            <a:ahLst/>
            <a:cxnLst/>
            <a:rect l="l" t="t" r="r" b="b"/>
            <a:pathLst>
              <a:path w="1522095" h="388620">
                <a:moveTo>
                  <a:pt x="194310" y="0"/>
                </a:moveTo>
                <a:lnTo>
                  <a:pt x="1327785" y="0"/>
                </a:lnTo>
                <a:cubicBezTo>
                  <a:pt x="1435099" y="0"/>
                  <a:pt x="1522095" y="86996"/>
                  <a:pt x="1522095" y="194310"/>
                </a:cubicBezTo>
                <a:lnTo>
                  <a:pt x="1522095" y="194310"/>
                </a:lnTo>
                <a:cubicBezTo>
                  <a:pt x="1522095" y="301624"/>
                  <a:pt x="1435099" y="388620"/>
                  <a:pt x="1327785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 w="10160">
            <a:solidFill>
              <a:srgbClr val="3C808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75834" y="571500"/>
            <a:ext cx="1203722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D9A4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创业路演 · 2025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4810" y="1013460"/>
            <a:ext cx="1874520" cy="502920"/>
          </a:xfrm>
          <a:custGeom>
            <a:avLst/>
            <a:gdLst/>
            <a:ahLst/>
            <a:cxnLst/>
            <a:rect l="l" t="t" r="r" b="b"/>
            <a:pathLst>
              <a:path w="1874520" h="502920">
                <a:moveTo>
                  <a:pt x="76202" y="0"/>
                </a:moveTo>
                <a:lnTo>
                  <a:pt x="1798318" y="0"/>
                </a:lnTo>
                <a:cubicBezTo>
                  <a:pt x="1840403" y="0"/>
                  <a:pt x="1874520" y="34117"/>
                  <a:pt x="1874520" y="76202"/>
                </a:cubicBezTo>
                <a:lnTo>
                  <a:pt x="1874520" y="426718"/>
                </a:lnTo>
                <a:cubicBezTo>
                  <a:pt x="1874520" y="468803"/>
                  <a:pt x="1840403" y="502920"/>
                  <a:pt x="1798318" y="502920"/>
                </a:cubicBezTo>
                <a:lnTo>
                  <a:pt x="76202" y="502920"/>
                </a:lnTo>
                <a:cubicBezTo>
                  <a:pt x="34117" y="502920"/>
                  <a:pt x="0" y="468803"/>
                  <a:pt x="0" y="4267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3C8082">
              <a:alpha val="30196"/>
            </a:srgbClr>
          </a:solidFill>
          <a:ln w="10160">
            <a:solidFill>
              <a:srgbClr val="3C8082">
                <a:alpha val="50196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7220" y="1154430"/>
            <a:ext cx="149566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D9A4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能见度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2053590"/>
            <a:ext cx="1188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"能见度"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校园信息服务平台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4796790"/>
            <a:ext cx="1066800" cy="38100"/>
          </a:xfrm>
          <a:custGeom>
            <a:avLst/>
            <a:gdLst/>
            <a:ahLst/>
            <a:cxnLst/>
            <a:rect l="l" t="t" r="r" b="b"/>
            <a:pathLst>
              <a:path w="1066800" h="38100">
                <a:moveTo>
                  <a:pt x="0" y="0"/>
                </a:moveTo>
                <a:lnTo>
                  <a:pt x="1066800" y="0"/>
                </a:lnTo>
                <a:lnTo>
                  <a:pt x="1066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10" name="Text 7"/>
          <p:cNvSpPr/>
          <p:nvPr/>
        </p:nvSpPr>
        <p:spPr>
          <a:xfrm>
            <a:off x="1676400" y="4644390"/>
            <a:ext cx="3286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让校园数码服务清晰可见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8150" y="538734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78581" y="157163"/>
                </a:moveTo>
                <a:lnTo>
                  <a:pt x="92869" y="157163"/>
                </a:lnTo>
                <a:cubicBezTo>
                  <a:pt x="100772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64294" y="207169"/>
                </a:lnTo>
                <a:lnTo>
                  <a:pt x="64294" y="171450"/>
                </a:lnTo>
                <a:cubicBezTo>
                  <a:pt x="64294" y="163547"/>
                  <a:pt x="70678" y="157163"/>
                  <a:pt x="78581" y="157163"/>
                </a:cubicBezTo>
                <a:close/>
                <a:moveTo>
                  <a:pt x="42863" y="50006"/>
                </a:moveTo>
                <a:cubicBezTo>
                  <a:pt x="42863" y="46077"/>
                  <a:pt x="46077" y="42863"/>
                  <a:pt x="50006" y="42863"/>
                </a:cubicBezTo>
                <a:lnTo>
                  <a:pt x="64294" y="42863"/>
                </a:lnTo>
                <a:cubicBezTo>
                  <a:pt x="68223" y="42863"/>
                  <a:pt x="71438" y="46077"/>
                  <a:pt x="71438" y="50006"/>
                </a:cubicBezTo>
                <a:lnTo>
                  <a:pt x="71438" y="64294"/>
                </a:lnTo>
                <a:cubicBezTo>
                  <a:pt x="71438" y="68223"/>
                  <a:pt x="68223" y="71438"/>
                  <a:pt x="64294" y="71438"/>
                </a:cubicBezTo>
                <a:lnTo>
                  <a:pt x="50006" y="71438"/>
                </a:lnTo>
                <a:cubicBezTo>
                  <a:pt x="46077" y="71438"/>
                  <a:pt x="42863" y="68223"/>
                  <a:pt x="42863" y="64294"/>
                </a:cubicBezTo>
                <a:lnTo>
                  <a:pt x="42863" y="50006"/>
                </a:lnTo>
                <a:close/>
                <a:moveTo>
                  <a:pt x="107156" y="42863"/>
                </a:moveTo>
                <a:lnTo>
                  <a:pt x="121444" y="42863"/>
                </a:lnTo>
                <a:cubicBezTo>
                  <a:pt x="125373" y="42863"/>
                  <a:pt x="128588" y="46077"/>
                  <a:pt x="128588" y="50006"/>
                </a:cubicBezTo>
                <a:lnTo>
                  <a:pt x="128588" y="64294"/>
                </a:lnTo>
                <a:cubicBezTo>
                  <a:pt x="128588" y="68223"/>
                  <a:pt x="125373" y="71438"/>
                  <a:pt x="121444" y="71438"/>
                </a:cubicBezTo>
                <a:lnTo>
                  <a:pt x="107156" y="71438"/>
                </a:lnTo>
                <a:cubicBezTo>
                  <a:pt x="103227" y="71438"/>
                  <a:pt x="100013" y="68223"/>
                  <a:pt x="100013" y="64294"/>
                </a:cubicBezTo>
                <a:lnTo>
                  <a:pt x="100013" y="50006"/>
                </a:lnTo>
                <a:cubicBezTo>
                  <a:pt x="100013" y="46077"/>
                  <a:pt x="103227" y="42863"/>
                  <a:pt x="107156" y="42863"/>
                </a:cubicBezTo>
                <a:close/>
                <a:moveTo>
                  <a:pt x="42863" y="107156"/>
                </a:moveTo>
                <a:cubicBezTo>
                  <a:pt x="42863" y="103227"/>
                  <a:pt x="46077" y="100013"/>
                  <a:pt x="50006" y="100013"/>
                </a:cubicBezTo>
                <a:lnTo>
                  <a:pt x="64294" y="100013"/>
                </a:lnTo>
                <a:cubicBezTo>
                  <a:pt x="68223" y="100013"/>
                  <a:pt x="71438" y="103227"/>
                  <a:pt x="71438" y="107156"/>
                </a:cubicBezTo>
                <a:lnTo>
                  <a:pt x="71438" y="121444"/>
                </a:lnTo>
                <a:cubicBezTo>
                  <a:pt x="71438" y="125373"/>
                  <a:pt x="68223" y="128588"/>
                  <a:pt x="64294" y="128588"/>
                </a:cubicBezTo>
                <a:lnTo>
                  <a:pt x="50006" y="128588"/>
                </a:lnTo>
                <a:cubicBezTo>
                  <a:pt x="46077" y="128588"/>
                  <a:pt x="42863" y="125373"/>
                  <a:pt x="42863" y="121444"/>
                </a:cubicBezTo>
                <a:lnTo>
                  <a:pt x="42863" y="107156"/>
                </a:lnTo>
                <a:close/>
                <a:moveTo>
                  <a:pt x="107156" y="100013"/>
                </a:moveTo>
                <a:lnTo>
                  <a:pt x="121444" y="100013"/>
                </a:lnTo>
                <a:cubicBezTo>
                  <a:pt x="125373" y="100013"/>
                  <a:pt x="128588" y="103227"/>
                  <a:pt x="128588" y="107156"/>
                </a:cubicBezTo>
                <a:lnTo>
                  <a:pt x="128588" y="121444"/>
                </a:lnTo>
                <a:cubicBezTo>
                  <a:pt x="128588" y="125373"/>
                  <a:pt x="125373" y="128588"/>
                  <a:pt x="121444" y="128588"/>
                </a:cubicBezTo>
                <a:lnTo>
                  <a:pt x="107156" y="128588"/>
                </a:lnTo>
                <a:cubicBezTo>
                  <a:pt x="103227" y="128588"/>
                  <a:pt x="100013" y="125373"/>
                  <a:pt x="100013" y="121444"/>
                </a:cubicBezTo>
                <a:lnTo>
                  <a:pt x="100013" y="107156"/>
                </a:lnTo>
                <a:cubicBezTo>
                  <a:pt x="100013" y="103227"/>
                  <a:pt x="103227" y="100013"/>
                  <a:pt x="107156" y="100013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12" name="Text 9"/>
          <p:cNvSpPr/>
          <p:nvPr/>
        </p:nvSpPr>
        <p:spPr>
          <a:xfrm>
            <a:off x="781050" y="5368290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湘潭智维校园有限公司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186113" y="538734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14" name="Text 11"/>
          <p:cNvSpPr/>
          <p:nvPr/>
        </p:nvSpPr>
        <p:spPr>
          <a:xfrm>
            <a:off x="3543300" y="536829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路演人：金玲利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81000" y="6438900"/>
            <a:ext cx="533400" cy="38100"/>
          </a:xfrm>
          <a:custGeom>
            <a:avLst/>
            <a:gdLst/>
            <a:ahLst/>
            <a:cxnLst/>
            <a:rect l="l" t="t" r="r" b="b"/>
            <a:pathLst>
              <a:path w="533400" h="38100">
                <a:moveTo>
                  <a:pt x="0" y="0"/>
                </a:moveTo>
                <a:lnTo>
                  <a:pt x="533400" y="0"/>
                </a:lnTo>
                <a:lnTo>
                  <a:pt x="533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16" name="Shape 13"/>
          <p:cNvSpPr/>
          <p:nvPr/>
        </p:nvSpPr>
        <p:spPr>
          <a:xfrm>
            <a:off x="1028700" y="6438900"/>
            <a:ext cx="304800" cy="38100"/>
          </a:xfrm>
          <a:custGeom>
            <a:avLst/>
            <a:gdLst/>
            <a:ahLst/>
            <a:cxnLst/>
            <a:rect l="l" t="t" r="r" b="b"/>
            <a:pathLst>
              <a:path w="304800" h="38100">
                <a:moveTo>
                  <a:pt x="0" y="0"/>
                </a:moveTo>
                <a:lnTo>
                  <a:pt x="304800" y="0"/>
                </a:lnTo>
                <a:lnTo>
                  <a:pt x="304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17" name="Shape 14"/>
          <p:cNvSpPr/>
          <p:nvPr/>
        </p:nvSpPr>
        <p:spPr>
          <a:xfrm>
            <a:off x="1447800" y="6438900"/>
            <a:ext cx="190500" cy="38100"/>
          </a:xfrm>
          <a:custGeom>
            <a:avLst/>
            <a:gdLst/>
            <a:ahLst/>
            <a:cxnLst/>
            <a:rect l="l" t="t" r="r" b="b"/>
            <a:pathLst>
              <a:path w="190500" h="38100">
                <a:moveTo>
                  <a:pt x="0" y="0"/>
                </a:moveTo>
                <a:lnTo>
                  <a:pt x="190500" y="0"/>
                </a:lnTo>
                <a:lnTo>
                  <a:pt x="1905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18" name="Text 15"/>
          <p:cNvSpPr/>
          <p:nvPr/>
        </p:nvSpPr>
        <p:spPr>
          <a:xfrm>
            <a:off x="8687514" y="6248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湖南科技大学 · 材料科学与工程学院 · 2023级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381000"/>
            <a:ext cx="119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75" kern="0" dirty="0">
                <a:solidFill>
                  <a:srgbClr val="D9A4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718310"/>
            <a:ext cx="3598545" cy="2255520"/>
          </a:xfrm>
          <a:custGeom>
            <a:avLst/>
            <a:gdLst/>
            <a:ahLst/>
            <a:cxnLst/>
            <a:rect l="l" t="t" r="r" b="b"/>
            <a:pathLst>
              <a:path w="3598545" h="2255520">
                <a:moveTo>
                  <a:pt x="114310" y="0"/>
                </a:moveTo>
                <a:lnTo>
                  <a:pt x="3484235" y="0"/>
                </a:lnTo>
                <a:cubicBezTo>
                  <a:pt x="3547367" y="0"/>
                  <a:pt x="3598545" y="51178"/>
                  <a:pt x="3598545" y="114310"/>
                </a:cubicBezTo>
                <a:lnTo>
                  <a:pt x="3598545" y="2141210"/>
                </a:lnTo>
                <a:cubicBezTo>
                  <a:pt x="3598545" y="2204342"/>
                  <a:pt x="3547367" y="2255520"/>
                  <a:pt x="3484235" y="2255520"/>
                </a:cubicBezTo>
                <a:lnTo>
                  <a:pt x="114310" y="2255520"/>
                </a:lnTo>
                <a:cubicBezTo>
                  <a:pt x="51178" y="2255520"/>
                  <a:pt x="0" y="2204342"/>
                  <a:pt x="0" y="2141210"/>
                </a:cubicBezTo>
                <a:lnTo>
                  <a:pt x="0" y="114310"/>
                </a:lnTo>
                <a:cubicBezTo>
                  <a:pt x="0" y="51220"/>
                  <a:pt x="51220" y="0"/>
                  <a:pt x="11431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8082">
                  <a:alpha val="20000"/>
                </a:srgbClr>
              </a:gs>
              <a:gs pos="100000">
                <a:srgbClr val="3C8082">
                  <a:alpha val="5000"/>
                </a:srgbClr>
              </a:gs>
            </a:gsLst>
            <a:lin ang="2700000" scaled="1"/>
          </a:gradFill>
          <a:ln w="1016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9507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7" name="Text 5"/>
          <p:cNvSpPr/>
          <p:nvPr/>
        </p:nvSpPr>
        <p:spPr>
          <a:xfrm>
            <a:off x="753427" y="208407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9220" y="202692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" y="2712720"/>
            <a:ext cx="3248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项目背景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220" y="3093601"/>
            <a:ext cx="3209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痛点分析与市场机遇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96370" y="1718310"/>
            <a:ext cx="3598545" cy="2255520"/>
          </a:xfrm>
          <a:custGeom>
            <a:avLst/>
            <a:gdLst/>
            <a:ahLst/>
            <a:cxnLst/>
            <a:rect l="l" t="t" r="r" b="b"/>
            <a:pathLst>
              <a:path w="3598545" h="2255520">
                <a:moveTo>
                  <a:pt x="114310" y="0"/>
                </a:moveTo>
                <a:lnTo>
                  <a:pt x="3484235" y="0"/>
                </a:lnTo>
                <a:cubicBezTo>
                  <a:pt x="3547367" y="0"/>
                  <a:pt x="3598545" y="51178"/>
                  <a:pt x="3598545" y="114310"/>
                </a:cubicBezTo>
                <a:lnTo>
                  <a:pt x="3598545" y="2141210"/>
                </a:lnTo>
                <a:cubicBezTo>
                  <a:pt x="3598545" y="2204342"/>
                  <a:pt x="3547367" y="2255520"/>
                  <a:pt x="3484235" y="2255520"/>
                </a:cubicBezTo>
                <a:lnTo>
                  <a:pt x="114310" y="2255520"/>
                </a:lnTo>
                <a:cubicBezTo>
                  <a:pt x="51178" y="2255520"/>
                  <a:pt x="0" y="2204342"/>
                  <a:pt x="0" y="2141210"/>
                </a:cubicBezTo>
                <a:lnTo>
                  <a:pt x="0" y="114310"/>
                </a:lnTo>
                <a:cubicBezTo>
                  <a:pt x="0" y="51220"/>
                  <a:pt x="51220" y="0"/>
                  <a:pt x="11431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8082">
                  <a:alpha val="20000"/>
                </a:srgbClr>
              </a:gs>
              <a:gs pos="100000">
                <a:srgbClr val="3C8082">
                  <a:alpha val="5000"/>
                </a:srgbClr>
              </a:gs>
            </a:gsLst>
            <a:lin ang="2700000" scaled="1"/>
          </a:gradFill>
          <a:ln w="1016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8780" y="19507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13" name="Text 11"/>
          <p:cNvSpPr/>
          <p:nvPr/>
        </p:nvSpPr>
        <p:spPr>
          <a:xfrm>
            <a:off x="4664988" y="208407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90781" y="202692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15" name="Text 13"/>
          <p:cNvSpPr/>
          <p:nvPr/>
        </p:nvSpPr>
        <p:spPr>
          <a:xfrm>
            <a:off x="4528780" y="2712720"/>
            <a:ext cx="3248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28780" y="3093601"/>
            <a:ext cx="3209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产品服务与技术路径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07931" y="1718310"/>
            <a:ext cx="3598545" cy="2255520"/>
          </a:xfrm>
          <a:custGeom>
            <a:avLst/>
            <a:gdLst/>
            <a:ahLst/>
            <a:cxnLst/>
            <a:rect l="l" t="t" r="r" b="b"/>
            <a:pathLst>
              <a:path w="3598545" h="2255520">
                <a:moveTo>
                  <a:pt x="114310" y="0"/>
                </a:moveTo>
                <a:lnTo>
                  <a:pt x="3484235" y="0"/>
                </a:lnTo>
                <a:cubicBezTo>
                  <a:pt x="3547367" y="0"/>
                  <a:pt x="3598545" y="51178"/>
                  <a:pt x="3598545" y="114310"/>
                </a:cubicBezTo>
                <a:lnTo>
                  <a:pt x="3598545" y="2141210"/>
                </a:lnTo>
                <a:cubicBezTo>
                  <a:pt x="3598545" y="2204342"/>
                  <a:pt x="3547367" y="2255520"/>
                  <a:pt x="3484235" y="2255520"/>
                </a:cubicBezTo>
                <a:lnTo>
                  <a:pt x="114310" y="2255520"/>
                </a:lnTo>
                <a:cubicBezTo>
                  <a:pt x="51178" y="2255520"/>
                  <a:pt x="0" y="2204342"/>
                  <a:pt x="0" y="2141210"/>
                </a:cubicBezTo>
                <a:lnTo>
                  <a:pt x="0" y="114310"/>
                </a:lnTo>
                <a:cubicBezTo>
                  <a:pt x="0" y="51220"/>
                  <a:pt x="51220" y="0"/>
                  <a:pt x="11431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8082">
                  <a:alpha val="20000"/>
                </a:srgbClr>
              </a:gs>
              <a:gs pos="100000">
                <a:srgbClr val="3C8082">
                  <a:alpha val="5000"/>
                </a:srgbClr>
              </a:gs>
            </a:gsLst>
            <a:lin ang="2700000" scaled="1"/>
          </a:gradFill>
          <a:ln w="1016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40341" y="19507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19" name="Text 17"/>
          <p:cNvSpPr/>
          <p:nvPr/>
        </p:nvSpPr>
        <p:spPr>
          <a:xfrm>
            <a:off x="8576548" y="208407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202341" y="202692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21" name="Text 19"/>
          <p:cNvSpPr/>
          <p:nvPr/>
        </p:nvSpPr>
        <p:spPr>
          <a:xfrm>
            <a:off x="8440341" y="2712720"/>
            <a:ext cx="3248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市场评估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40341" y="3093601"/>
            <a:ext cx="3209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竞争格局与优势分析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4810" y="4213860"/>
            <a:ext cx="3598545" cy="2255520"/>
          </a:xfrm>
          <a:custGeom>
            <a:avLst/>
            <a:gdLst/>
            <a:ahLst/>
            <a:cxnLst/>
            <a:rect l="l" t="t" r="r" b="b"/>
            <a:pathLst>
              <a:path w="3598545" h="2255520">
                <a:moveTo>
                  <a:pt x="114310" y="0"/>
                </a:moveTo>
                <a:lnTo>
                  <a:pt x="3484235" y="0"/>
                </a:lnTo>
                <a:cubicBezTo>
                  <a:pt x="3547367" y="0"/>
                  <a:pt x="3598545" y="51178"/>
                  <a:pt x="3598545" y="114310"/>
                </a:cubicBezTo>
                <a:lnTo>
                  <a:pt x="3598545" y="2141210"/>
                </a:lnTo>
                <a:cubicBezTo>
                  <a:pt x="3598545" y="2204342"/>
                  <a:pt x="3547367" y="2255520"/>
                  <a:pt x="3484235" y="2255520"/>
                </a:cubicBezTo>
                <a:lnTo>
                  <a:pt x="114310" y="2255520"/>
                </a:lnTo>
                <a:cubicBezTo>
                  <a:pt x="51178" y="2255520"/>
                  <a:pt x="0" y="2204342"/>
                  <a:pt x="0" y="2141210"/>
                </a:cubicBezTo>
                <a:lnTo>
                  <a:pt x="0" y="114310"/>
                </a:lnTo>
                <a:cubicBezTo>
                  <a:pt x="0" y="51220"/>
                  <a:pt x="51220" y="0"/>
                  <a:pt x="11431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8082">
                  <a:alpha val="20000"/>
                </a:srgbClr>
              </a:gs>
              <a:gs pos="100000">
                <a:srgbClr val="3C8082">
                  <a:alpha val="5000"/>
                </a:srgbClr>
              </a:gs>
            </a:gsLst>
            <a:lin ang="2700000" scaled="1"/>
          </a:gradFill>
          <a:ln w="1016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" y="444627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25" name="Text 23"/>
          <p:cNvSpPr/>
          <p:nvPr/>
        </p:nvSpPr>
        <p:spPr>
          <a:xfrm>
            <a:off x="753427" y="457962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379220" y="452247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" y="5208270"/>
            <a:ext cx="3248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商业模式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7220" y="5589151"/>
            <a:ext cx="3209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盈利路径与营销策略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96370" y="4213860"/>
            <a:ext cx="3598545" cy="2255520"/>
          </a:xfrm>
          <a:custGeom>
            <a:avLst/>
            <a:gdLst/>
            <a:ahLst/>
            <a:cxnLst/>
            <a:rect l="l" t="t" r="r" b="b"/>
            <a:pathLst>
              <a:path w="3598545" h="2255520">
                <a:moveTo>
                  <a:pt x="114310" y="0"/>
                </a:moveTo>
                <a:lnTo>
                  <a:pt x="3484235" y="0"/>
                </a:lnTo>
                <a:cubicBezTo>
                  <a:pt x="3547367" y="0"/>
                  <a:pt x="3598545" y="51178"/>
                  <a:pt x="3598545" y="114310"/>
                </a:cubicBezTo>
                <a:lnTo>
                  <a:pt x="3598545" y="2141210"/>
                </a:lnTo>
                <a:cubicBezTo>
                  <a:pt x="3598545" y="2204342"/>
                  <a:pt x="3547367" y="2255520"/>
                  <a:pt x="3484235" y="2255520"/>
                </a:cubicBezTo>
                <a:lnTo>
                  <a:pt x="114310" y="2255520"/>
                </a:lnTo>
                <a:cubicBezTo>
                  <a:pt x="51178" y="2255520"/>
                  <a:pt x="0" y="2204342"/>
                  <a:pt x="0" y="2141210"/>
                </a:cubicBezTo>
                <a:lnTo>
                  <a:pt x="0" y="114310"/>
                </a:lnTo>
                <a:cubicBezTo>
                  <a:pt x="0" y="51220"/>
                  <a:pt x="51220" y="0"/>
                  <a:pt x="11431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8082">
                  <a:alpha val="20000"/>
                </a:srgbClr>
              </a:gs>
              <a:gs pos="100000">
                <a:srgbClr val="3C8082">
                  <a:alpha val="5000"/>
                </a:srgbClr>
              </a:gs>
            </a:gsLst>
            <a:lin ang="2700000" scaled="1"/>
          </a:gradFill>
          <a:ln w="1016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28780" y="444627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1" name="Text 29"/>
          <p:cNvSpPr/>
          <p:nvPr/>
        </p:nvSpPr>
        <p:spPr>
          <a:xfrm>
            <a:off x="4664988" y="457962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90781" y="452247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33" name="Text 31"/>
          <p:cNvSpPr/>
          <p:nvPr/>
        </p:nvSpPr>
        <p:spPr>
          <a:xfrm>
            <a:off x="4528780" y="5208270"/>
            <a:ext cx="3248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团队介绍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28780" y="5589151"/>
            <a:ext cx="3209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核心成员与组织架构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07931" y="4213860"/>
            <a:ext cx="3598545" cy="2255520"/>
          </a:xfrm>
          <a:custGeom>
            <a:avLst/>
            <a:gdLst/>
            <a:ahLst/>
            <a:cxnLst/>
            <a:rect l="l" t="t" r="r" b="b"/>
            <a:pathLst>
              <a:path w="3598545" h="2255520">
                <a:moveTo>
                  <a:pt x="114310" y="0"/>
                </a:moveTo>
                <a:lnTo>
                  <a:pt x="3484235" y="0"/>
                </a:lnTo>
                <a:cubicBezTo>
                  <a:pt x="3547367" y="0"/>
                  <a:pt x="3598545" y="51178"/>
                  <a:pt x="3598545" y="114310"/>
                </a:cubicBezTo>
                <a:lnTo>
                  <a:pt x="3598545" y="2141210"/>
                </a:lnTo>
                <a:cubicBezTo>
                  <a:pt x="3598545" y="2204342"/>
                  <a:pt x="3547367" y="2255520"/>
                  <a:pt x="3484235" y="2255520"/>
                </a:cubicBezTo>
                <a:lnTo>
                  <a:pt x="114310" y="2255520"/>
                </a:lnTo>
                <a:cubicBezTo>
                  <a:pt x="51178" y="2255520"/>
                  <a:pt x="0" y="2204342"/>
                  <a:pt x="0" y="2141210"/>
                </a:cubicBezTo>
                <a:lnTo>
                  <a:pt x="0" y="114310"/>
                </a:lnTo>
                <a:cubicBezTo>
                  <a:pt x="0" y="51220"/>
                  <a:pt x="51220" y="0"/>
                  <a:pt x="11431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8082">
                  <a:alpha val="20000"/>
                </a:srgbClr>
              </a:gs>
              <a:gs pos="100000">
                <a:srgbClr val="3C8082">
                  <a:alpha val="5000"/>
                </a:srgbClr>
              </a:gs>
            </a:gsLst>
            <a:lin ang="2700000" scaled="1"/>
          </a:gradFill>
          <a:ln w="1016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40341" y="444627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7" name="Text 35"/>
          <p:cNvSpPr/>
          <p:nvPr/>
        </p:nvSpPr>
        <p:spPr>
          <a:xfrm>
            <a:off x="8576548" y="457962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202341" y="452247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39" name="Text 37"/>
          <p:cNvSpPr/>
          <p:nvPr/>
        </p:nvSpPr>
        <p:spPr>
          <a:xfrm>
            <a:off x="8440341" y="5208270"/>
            <a:ext cx="3248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财务预测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40341" y="5589151"/>
            <a:ext cx="3209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融资需求与发展规划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0578" y="481751"/>
            <a:ext cx="444693" cy="37058"/>
          </a:xfrm>
          <a:custGeom>
            <a:avLst/>
            <a:gdLst/>
            <a:ahLst/>
            <a:cxnLst/>
            <a:rect l="l" t="t" r="r" b="b"/>
            <a:pathLst>
              <a:path w="444693" h="37058">
                <a:moveTo>
                  <a:pt x="0" y="0"/>
                </a:moveTo>
                <a:lnTo>
                  <a:pt x="444693" y="0"/>
                </a:lnTo>
                <a:lnTo>
                  <a:pt x="444693" y="37058"/>
                </a:lnTo>
                <a:lnTo>
                  <a:pt x="0" y="37058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" name="Text 1"/>
          <p:cNvSpPr/>
          <p:nvPr/>
        </p:nvSpPr>
        <p:spPr>
          <a:xfrm>
            <a:off x="963502" y="370578"/>
            <a:ext cx="1324815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spc="66" kern="0" dirty="0">
                <a:solidFill>
                  <a:srgbClr val="D9A4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0578" y="704097"/>
            <a:ext cx="11673191" cy="444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02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项目背景：校园"柠檬市场"困局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9106" y="1371137"/>
            <a:ext cx="5595720" cy="1889945"/>
          </a:xfrm>
          <a:custGeom>
            <a:avLst/>
            <a:gdLst/>
            <a:ahLst/>
            <a:cxnLst/>
            <a:rect l="l" t="t" r="r" b="b"/>
            <a:pathLst>
              <a:path w="5595720" h="1889945">
                <a:moveTo>
                  <a:pt x="37058" y="0"/>
                </a:moveTo>
                <a:lnTo>
                  <a:pt x="5484554" y="0"/>
                </a:lnTo>
                <a:cubicBezTo>
                  <a:pt x="5545949" y="0"/>
                  <a:pt x="5595720" y="49771"/>
                  <a:pt x="5595720" y="111167"/>
                </a:cubicBezTo>
                <a:lnTo>
                  <a:pt x="5595720" y="1778779"/>
                </a:lnTo>
                <a:cubicBezTo>
                  <a:pt x="5595720" y="1840174"/>
                  <a:pt x="5545949" y="1889945"/>
                  <a:pt x="5484554" y="1889945"/>
                </a:cubicBezTo>
                <a:lnTo>
                  <a:pt x="37058" y="1889945"/>
                </a:lnTo>
                <a:cubicBezTo>
                  <a:pt x="16591" y="1889945"/>
                  <a:pt x="0" y="1873354"/>
                  <a:pt x="0" y="1852888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gradFill rotWithShape="1" flip="none">
            <a:gsLst>
              <a:gs pos="0">
                <a:srgbClr val="D9A477">
                  <a:alpha val="15000"/>
                </a:srgbClr>
              </a:gs>
              <a:gs pos="100000">
                <a:srgbClr val="D9A477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9106" y="1371137"/>
            <a:ext cx="37058" cy="1889945"/>
          </a:xfrm>
          <a:custGeom>
            <a:avLst/>
            <a:gdLst/>
            <a:ahLst/>
            <a:cxnLst/>
            <a:rect l="l" t="t" r="r" b="b"/>
            <a:pathLst>
              <a:path w="37058" h="1889945">
                <a:moveTo>
                  <a:pt x="37058" y="0"/>
                </a:moveTo>
                <a:lnTo>
                  <a:pt x="37058" y="0"/>
                </a:lnTo>
                <a:lnTo>
                  <a:pt x="37058" y="1889945"/>
                </a:lnTo>
                <a:lnTo>
                  <a:pt x="37058" y="1889945"/>
                </a:lnTo>
                <a:cubicBezTo>
                  <a:pt x="16591" y="1889945"/>
                  <a:pt x="0" y="1873354"/>
                  <a:pt x="0" y="1852888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7" name="Shape 5"/>
          <p:cNvSpPr/>
          <p:nvPr/>
        </p:nvSpPr>
        <p:spPr>
          <a:xfrm>
            <a:off x="629982" y="1593483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259404" y="0"/>
                </a:moveTo>
                <a:lnTo>
                  <a:pt x="259404" y="0"/>
                </a:lnTo>
                <a:cubicBezTo>
                  <a:pt x="402669" y="0"/>
                  <a:pt x="518809" y="116139"/>
                  <a:pt x="518809" y="259404"/>
                </a:cubicBezTo>
                <a:lnTo>
                  <a:pt x="518809" y="259404"/>
                </a:lnTo>
                <a:cubicBezTo>
                  <a:pt x="518809" y="402669"/>
                  <a:pt x="402669" y="518809"/>
                  <a:pt x="259404" y="518809"/>
                </a:cubicBezTo>
                <a:lnTo>
                  <a:pt x="259404" y="518809"/>
                </a:lnTo>
                <a:cubicBezTo>
                  <a:pt x="116139" y="518809"/>
                  <a:pt x="0" y="402669"/>
                  <a:pt x="0" y="259404"/>
                </a:cubicBezTo>
                <a:lnTo>
                  <a:pt x="0" y="259404"/>
                </a:lnTo>
                <a:cubicBezTo>
                  <a:pt x="0" y="116139"/>
                  <a:pt x="116139" y="0"/>
                  <a:pt x="259404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8" name="Shape 6"/>
          <p:cNvSpPr/>
          <p:nvPr/>
        </p:nvSpPr>
        <p:spPr>
          <a:xfrm>
            <a:off x="778213" y="1741714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111173" y="0"/>
                </a:moveTo>
                <a:cubicBezTo>
                  <a:pt x="117557" y="0"/>
                  <a:pt x="123420" y="3518"/>
                  <a:pt x="126460" y="9120"/>
                </a:cubicBezTo>
                <a:lnTo>
                  <a:pt x="220262" y="182828"/>
                </a:lnTo>
                <a:cubicBezTo>
                  <a:pt x="223172" y="188213"/>
                  <a:pt x="223041" y="194727"/>
                  <a:pt x="219915" y="199982"/>
                </a:cubicBezTo>
                <a:cubicBezTo>
                  <a:pt x="216788" y="205236"/>
                  <a:pt x="211099" y="208450"/>
                  <a:pt x="204976" y="208450"/>
                </a:cubicBezTo>
                <a:lnTo>
                  <a:pt x="17371" y="208450"/>
                </a:lnTo>
                <a:cubicBezTo>
                  <a:pt x="11248" y="208450"/>
                  <a:pt x="5602" y="205236"/>
                  <a:pt x="2432" y="199982"/>
                </a:cubicBezTo>
                <a:cubicBezTo>
                  <a:pt x="-738" y="194727"/>
                  <a:pt x="-825" y="188213"/>
                  <a:pt x="2084" y="182828"/>
                </a:cubicBezTo>
                <a:lnTo>
                  <a:pt x="95887" y="9120"/>
                </a:lnTo>
                <a:cubicBezTo>
                  <a:pt x="98927" y="3518"/>
                  <a:pt x="104789" y="0"/>
                  <a:pt x="111173" y="0"/>
                </a:cubicBezTo>
                <a:close/>
                <a:moveTo>
                  <a:pt x="111173" y="72957"/>
                </a:moveTo>
                <a:cubicBezTo>
                  <a:pt x="105397" y="72957"/>
                  <a:pt x="100751" y="77604"/>
                  <a:pt x="100751" y="83380"/>
                </a:cubicBezTo>
                <a:lnTo>
                  <a:pt x="100751" y="132018"/>
                </a:lnTo>
                <a:cubicBezTo>
                  <a:pt x="100751" y="137794"/>
                  <a:pt x="105397" y="142441"/>
                  <a:pt x="111173" y="142441"/>
                </a:cubicBezTo>
                <a:cubicBezTo>
                  <a:pt x="116949" y="142441"/>
                  <a:pt x="121596" y="137794"/>
                  <a:pt x="121596" y="132018"/>
                </a:cubicBezTo>
                <a:lnTo>
                  <a:pt x="121596" y="83380"/>
                </a:lnTo>
                <a:cubicBezTo>
                  <a:pt x="121596" y="77604"/>
                  <a:pt x="116949" y="72957"/>
                  <a:pt x="111173" y="72957"/>
                </a:cubicBezTo>
                <a:close/>
                <a:moveTo>
                  <a:pt x="122768" y="166760"/>
                </a:moveTo>
                <a:cubicBezTo>
                  <a:pt x="123032" y="162456"/>
                  <a:pt x="120886" y="158361"/>
                  <a:pt x="117196" y="156129"/>
                </a:cubicBezTo>
                <a:cubicBezTo>
                  <a:pt x="113507" y="153898"/>
                  <a:pt x="108883" y="153898"/>
                  <a:pt x="105194" y="156129"/>
                </a:cubicBezTo>
                <a:cubicBezTo>
                  <a:pt x="101504" y="158361"/>
                  <a:pt x="99358" y="162456"/>
                  <a:pt x="99622" y="166760"/>
                </a:cubicBezTo>
                <a:cubicBezTo>
                  <a:pt x="99358" y="171064"/>
                  <a:pt x="101504" y="175159"/>
                  <a:pt x="105194" y="177390"/>
                </a:cubicBezTo>
                <a:cubicBezTo>
                  <a:pt x="108883" y="179622"/>
                  <a:pt x="113507" y="179622"/>
                  <a:pt x="117196" y="177390"/>
                </a:cubicBezTo>
                <a:cubicBezTo>
                  <a:pt x="120886" y="175159"/>
                  <a:pt x="123032" y="171064"/>
                  <a:pt x="122768" y="16676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1297021" y="1593483"/>
            <a:ext cx="4576632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"柠檬市场"效应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7021" y="2001003"/>
            <a:ext cx="4539574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当前校园电子产品服务市场存在典型的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D9A477"/>
                </a:solidFill>
                <a:highlight>
                  <a:srgbClr val="D9A477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"柠檬市场"效应 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（Lemon Market Theory），即买卖双方信息极度不对称。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7021" y="2556869"/>
            <a:ext cx="4539574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大学生普遍对电脑硬件知识匮乏，校外维修店常利用信息差进行"小病大修"、偷换零件或漫天要价，导致学生信任缺失。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9106" y="3446255"/>
            <a:ext cx="5595720" cy="1889945"/>
          </a:xfrm>
          <a:custGeom>
            <a:avLst/>
            <a:gdLst/>
            <a:ahLst/>
            <a:cxnLst/>
            <a:rect l="l" t="t" r="r" b="b"/>
            <a:pathLst>
              <a:path w="5595720" h="1889945">
                <a:moveTo>
                  <a:pt x="37058" y="0"/>
                </a:moveTo>
                <a:lnTo>
                  <a:pt x="5484554" y="0"/>
                </a:lnTo>
                <a:cubicBezTo>
                  <a:pt x="5545949" y="0"/>
                  <a:pt x="5595720" y="49771"/>
                  <a:pt x="5595720" y="111167"/>
                </a:cubicBezTo>
                <a:lnTo>
                  <a:pt x="5595720" y="1778779"/>
                </a:lnTo>
                <a:cubicBezTo>
                  <a:pt x="5595720" y="1840174"/>
                  <a:pt x="5545949" y="1889945"/>
                  <a:pt x="5484554" y="1889945"/>
                </a:cubicBezTo>
                <a:lnTo>
                  <a:pt x="37058" y="1889945"/>
                </a:lnTo>
                <a:cubicBezTo>
                  <a:pt x="16591" y="1889945"/>
                  <a:pt x="0" y="1873354"/>
                  <a:pt x="0" y="1852888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gradFill rotWithShape="1" flip="none">
            <a:gsLst>
              <a:gs pos="0">
                <a:srgbClr val="3C8082">
                  <a:alpha val="15000"/>
                </a:srgbClr>
              </a:gs>
              <a:gs pos="100000">
                <a:srgbClr val="3C8082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389106" y="3446255"/>
            <a:ext cx="37058" cy="1889945"/>
          </a:xfrm>
          <a:custGeom>
            <a:avLst/>
            <a:gdLst/>
            <a:ahLst/>
            <a:cxnLst/>
            <a:rect l="l" t="t" r="r" b="b"/>
            <a:pathLst>
              <a:path w="37058" h="1889945">
                <a:moveTo>
                  <a:pt x="37058" y="0"/>
                </a:moveTo>
                <a:lnTo>
                  <a:pt x="37058" y="0"/>
                </a:lnTo>
                <a:lnTo>
                  <a:pt x="37058" y="1889945"/>
                </a:lnTo>
                <a:lnTo>
                  <a:pt x="37058" y="1889945"/>
                </a:lnTo>
                <a:cubicBezTo>
                  <a:pt x="16591" y="1889945"/>
                  <a:pt x="0" y="1873354"/>
                  <a:pt x="0" y="1852888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14" name="Shape 12"/>
          <p:cNvSpPr/>
          <p:nvPr/>
        </p:nvSpPr>
        <p:spPr>
          <a:xfrm>
            <a:off x="629982" y="3668602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259404" y="0"/>
                </a:moveTo>
                <a:lnTo>
                  <a:pt x="259404" y="0"/>
                </a:lnTo>
                <a:cubicBezTo>
                  <a:pt x="402669" y="0"/>
                  <a:pt x="518809" y="116139"/>
                  <a:pt x="518809" y="259404"/>
                </a:cubicBezTo>
                <a:lnTo>
                  <a:pt x="518809" y="259404"/>
                </a:lnTo>
                <a:cubicBezTo>
                  <a:pt x="518809" y="402669"/>
                  <a:pt x="402669" y="518809"/>
                  <a:pt x="259404" y="518809"/>
                </a:cubicBezTo>
                <a:lnTo>
                  <a:pt x="259404" y="518809"/>
                </a:lnTo>
                <a:cubicBezTo>
                  <a:pt x="116139" y="518809"/>
                  <a:pt x="0" y="402669"/>
                  <a:pt x="0" y="259404"/>
                </a:cubicBezTo>
                <a:lnTo>
                  <a:pt x="0" y="259404"/>
                </a:lnTo>
                <a:cubicBezTo>
                  <a:pt x="0" y="116139"/>
                  <a:pt x="116139" y="0"/>
                  <a:pt x="259404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15" name="Shape 13"/>
          <p:cNvSpPr/>
          <p:nvPr/>
        </p:nvSpPr>
        <p:spPr>
          <a:xfrm>
            <a:off x="778213" y="3816833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218264" y="65401"/>
                </a:moveTo>
                <a:lnTo>
                  <a:pt x="176574" y="107091"/>
                </a:lnTo>
                <a:cubicBezTo>
                  <a:pt x="172579" y="111086"/>
                  <a:pt x="166630" y="112259"/>
                  <a:pt x="161418" y="110088"/>
                </a:cubicBezTo>
                <a:cubicBezTo>
                  <a:pt x="156207" y="107916"/>
                  <a:pt x="152863" y="102879"/>
                  <a:pt x="152863" y="97277"/>
                </a:cubicBezTo>
                <a:lnTo>
                  <a:pt x="152863" y="69483"/>
                </a:lnTo>
                <a:lnTo>
                  <a:pt x="13897" y="69483"/>
                </a:lnTo>
                <a:cubicBezTo>
                  <a:pt x="6210" y="69483"/>
                  <a:pt x="0" y="63273"/>
                  <a:pt x="0" y="55587"/>
                </a:cubicBezTo>
                <a:cubicBezTo>
                  <a:pt x="0" y="47900"/>
                  <a:pt x="6210" y="41690"/>
                  <a:pt x="13897" y="41690"/>
                </a:cubicBezTo>
                <a:lnTo>
                  <a:pt x="152863" y="41690"/>
                </a:lnTo>
                <a:lnTo>
                  <a:pt x="152863" y="13897"/>
                </a:lnTo>
                <a:cubicBezTo>
                  <a:pt x="152863" y="8295"/>
                  <a:pt x="156251" y="3214"/>
                  <a:pt x="161462" y="1042"/>
                </a:cubicBezTo>
                <a:cubicBezTo>
                  <a:pt x="166673" y="-1129"/>
                  <a:pt x="172623" y="87"/>
                  <a:pt x="176618" y="4039"/>
                </a:cubicBezTo>
                <a:lnTo>
                  <a:pt x="218308" y="45729"/>
                </a:lnTo>
                <a:cubicBezTo>
                  <a:pt x="223736" y="51157"/>
                  <a:pt x="223736" y="59973"/>
                  <a:pt x="218308" y="65401"/>
                </a:cubicBezTo>
                <a:close/>
                <a:moveTo>
                  <a:pt x="45729" y="218264"/>
                </a:moveTo>
                <a:lnTo>
                  <a:pt x="4039" y="176574"/>
                </a:lnTo>
                <a:cubicBezTo>
                  <a:pt x="-1390" y="171146"/>
                  <a:pt x="-1390" y="162330"/>
                  <a:pt x="4039" y="156902"/>
                </a:cubicBezTo>
                <a:lnTo>
                  <a:pt x="45729" y="115212"/>
                </a:lnTo>
                <a:cubicBezTo>
                  <a:pt x="49724" y="111217"/>
                  <a:pt x="55673" y="110044"/>
                  <a:pt x="60885" y="112216"/>
                </a:cubicBezTo>
                <a:cubicBezTo>
                  <a:pt x="66096" y="114387"/>
                  <a:pt x="69483" y="119468"/>
                  <a:pt x="69483" y="125070"/>
                </a:cubicBezTo>
                <a:lnTo>
                  <a:pt x="69483" y="152863"/>
                </a:lnTo>
                <a:lnTo>
                  <a:pt x="208450" y="152863"/>
                </a:lnTo>
                <a:cubicBezTo>
                  <a:pt x="216136" y="152863"/>
                  <a:pt x="222347" y="159073"/>
                  <a:pt x="222347" y="166760"/>
                </a:cubicBezTo>
                <a:cubicBezTo>
                  <a:pt x="222347" y="174446"/>
                  <a:pt x="216136" y="180657"/>
                  <a:pt x="208450" y="180657"/>
                </a:cubicBezTo>
                <a:lnTo>
                  <a:pt x="69483" y="180657"/>
                </a:lnTo>
                <a:lnTo>
                  <a:pt x="69483" y="208450"/>
                </a:lnTo>
                <a:cubicBezTo>
                  <a:pt x="69483" y="214052"/>
                  <a:pt x="66096" y="219133"/>
                  <a:pt x="60885" y="221304"/>
                </a:cubicBezTo>
                <a:cubicBezTo>
                  <a:pt x="55673" y="223476"/>
                  <a:pt x="49724" y="222260"/>
                  <a:pt x="45729" y="218308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6" name="Text 14"/>
          <p:cNvSpPr/>
          <p:nvPr/>
        </p:nvSpPr>
        <p:spPr>
          <a:xfrm>
            <a:off x="1297021" y="3668602"/>
            <a:ext cx="4576632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二手交易困境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97021" y="4076121"/>
            <a:ext cx="4539574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校园二手交易（如毕业季跳蚤市场）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3C8082"/>
                </a:solidFill>
                <a:highlight>
                  <a:srgbClr val="3C8082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缺乏质量标准 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，买家不敢买，卖家卖不出，且售后无门。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97021" y="4631988"/>
            <a:ext cx="4539574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交易双方缺乏信任机制，没有专业的质检和定价标准，导致大量闲置设备无法有效流转。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9106" y="5521374"/>
            <a:ext cx="5595720" cy="1334079"/>
          </a:xfrm>
          <a:custGeom>
            <a:avLst/>
            <a:gdLst/>
            <a:ahLst/>
            <a:cxnLst/>
            <a:rect l="l" t="t" r="r" b="b"/>
            <a:pathLst>
              <a:path w="5595720" h="1334079">
                <a:moveTo>
                  <a:pt x="37058" y="0"/>
                </a:moveTo>
                <a:lnTo>
                  <a:pt x="5484552" y="0"/>
                </a:lnTo>
                <a:cubicBezTo>
                  <a:pt x="5545948" y="0"/>
                  <a:pt x="5595720" y="49772"/>
                  <a:pt x="5595720" y="111169"/>
                </a:cubicBezTo>
                <a:lnTo>
                  <a:pt x="5595720" y="1222910"/>
                </a:lnTo>
                <a:cubicBezTo>
                  <a:pt x="5595720" y="1284307"/>
                  <a:pt x="5545948" y="1334079"/>
                  <a:pt x="5484552" y="1334079"/>
                </a:cubicBezTo>
                <a:lnTo>
                  <a:pt x="37058" y="1334079"/>
                </a:lnTo>
                <a:cubicBezTo>
                  <a:pt x="16591" y="1334079"/>
                  <a:pt x="0" y="1317488"/>
                  <a:pt x="0" y="1297021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gradFill rotWithShape="1" flip="none">
            <a:gsLst>
              <a:gs pos="0">
                <a:srgbClr val="5C6B73">
                  <a:alpha val="15000"/>
                </a:srgbClr>
              </a:gs>
              <a:gs pos="100000">
                <a:srgbClr val="5C6B73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389106" y="5521374"/>
            <a:ext cx="37058" cy="1334079"/>
          </a:xfrm>
          <a:custGeom>
            <a:avLst/>
            <a:gdLst/>
            <a:ahLst/>
            <a:cxnLst/>
            <a:rect l="l" t="t" r="r" b="b"/>
            <a:pathLst>
              <a:path w="37058" h="1334079">
                <a:moveTo>
                  <a:pt x="37058" y="0"/>
                </a:moveTo>
                <a:lnTo>
                  <a:pt x="37058" y="0"/>
                </a:lnTo>
                <a:lnTo>
                  <a:pt x="37058" y="1334079"/>
                </a:lnTo>
                <a:lnTo>
                  <a:pt x="37058" y="1334079"/>
                </a:lnTo>
                <a:cubicBezTo>
                  <a:pt x="16591" y="1334079"/>
                  <a:pt x="0" y="1317488"/>
                  <a:pt x="0" y="1297021"/>
                </a:cubicBezTo>
                <a:lnTo>
                  <a:pt x="0" y="37058"/>
                </a:lnTo>
                <a:cubicBezTo>
                  <a:pt x="0" y="16591"/>
                  <a:pt x="16591" y="0"/>
                  <a:pt x="37058" y="0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21" name="Shape 19"/>
          <p:cNvSpPr/>
          <p:nvPr/>
        </p:nvSpPr>
        <p:spPr>
          <a:xfrm>
            <a:off x="629982" y="5743721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259404" y="0"/>
                </a:moveTo>
                <a:lnTo>
                  <a:pt x="259404" y="0"/>
                </a:lnTo>
                <a:cubicBezTo>
                  <a:pt x="402669" y="0"/>
                  <a:pt x="518809" y="116139"/>
                  <a:pt x="518809" y="259404"/>
                </a:cubicBezTo>
                <a:lnTo>
                  <a:pt x="518809" y="259404"/>
                </a:lnTo>
                <a:cubicBezTo>
                  <a:pt x="518809" y="402669"/>
                  <a:pt x="402669" y="518809"/>
                  <a:pt x="259404" y="518809"/>
                </a:cubicBezTo>
                <a:lnTo>
                  <a:pt x="259404" y="518809"/>
                </a:lnTo>
                <a:cubicBezTo>
                  <a:pt x="116139" y="518809"/>
                  <a:pt x="0" y="402669"/>
                  <a:pt x="0" y="259404"/>
                </a:cubicBezTo>
                <a:lnTo>
                  <a:pt x="0" y="259404"/>
                </a:lnTo>
                <a:cubicBezTo>
                  <a:pt x="0" y="116139"/>
                  <a:pt x="116139" y="0"/>
                  <a:pt x="259404" y="0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22" name="Shape 20"/>
          <p:cNvSpPr/>
          <p:nvPr/>
        </p:nvSpPr>
        <p:spPr>
          <a:xfrm>
            <a:off x="750419" y="5891952"/>
            <a:ext cx="277933" cy="222347"/>
          </a:xfrm>
          <a:custGeom>
            <a:avLst/>
            <a:gdLst/>
            <a:ahLst/>
            <a:cxnLst/>
            <a:rect l="l" t="t" r="r" b="b"/>
            <a:pathLst>
              <a:path w="277933" h="222347">
                <a:moveTo>
                  <a:pt x="138967" y="6948"/>
                </a:moveTo>
                <a:cubicBezTo>
                  <a:pt x="163893" y="6948"/>
                  <a:pt x="184131" y="27186"/>
                  <a:pt x="184131" y="52112"/>
                </a:cubicBezTo>
                <a:cubicBezTo>
                  <a:pt x="184131" y="77039"/>
                  <a:pt x="163893" y="97277"/>
                  <a:pt x="138967" y="97277"/>
                </a:cubicBezTo>
                <a:cubicBezTo>
                  <a:pt x="114040" y="97277"/>
                  <a:pt x="93802" y="77039"/>
                  <a:pt x="93802" y="52112"/>
                </a:cubicBezTo>
                <a:cubicBezTo>
                  <a:pt x="93802" y="27186"/>
                  <a:pt x="114040" y="6948"/>
                  <a:pt x="138967" y="6948"/>
                </a:cubicBezTo>
                <a:close/>
                <a:moveTo>
                  <a:pt x="41690" y="38216"/>
                </a:moveTo>
                <a:cubicBezTo>
                  <a:pt x="58947" y="38216"/>
                  <a:pt x="72957" y="52226"/>
                  <a:pt x="72957" y="69483"/>
                </a:cubicBezTo>
                <a:cubicBezTo>
                  <a:pt x="72957" y="86740"/>
                  <a:pt x="58947" y="100751"/>
                  <a:pt x="41690" y="100751"/>
                </a:cubicBezTo>
                <a:cubicBezTo>
                  <a:pt x="24433" y="100751"/>
                  <a:pt x="10422" y="86740"/>
                  <a:pt x="10422" y="69483"/>
                </a:cubicBezTo>
                <a:cubicBezTo>
                  <a:pt x="10422" y="52226"/>
                  <a:pt x="24433" y="38216"/>
                  <a:pt x="41690" y="38216"/>
                </a:cubicBezTo>
                <a:close/>
                <a:moveTo>
                  <a:pt x="0" y="180657"/>
                </a:moveTo>
                <a:cubicBezTo>
                  <a:pt x="0" y="149954"/>
                  <a:pt x="24884" y="125070"/>
                  <a:pt x="55587" y="125070"/>
                </a:cubicBezTo>
                <a:cubicBezTo>
                  <a:pt x="61145" y="125070"/>
                  <a:pt x="66530" y="125895"/>
                  <a:pt x="71611" y="127415"/>
                </a:cubicBezTo>
                <a:cubicBezTo>
                  <a:pt x="57324" y="143396"/>
                  <a:pt x="48638" y="164502"/>
                  <a:pt x="48638" y="187605"/>
                </a:cubicBezTo>
                <a:lnTo>
                  <a:pt x="48638" y="194553"/>
                </a:lnTo>
                <a:cubicBezTo>
                  <a:pt x="48638" y="199504"/>
                  <a:pt x="49681" y="204194"/>
                  <a:pt x="51548" y="208450"/>
                </a:cubicBezTo>
                <a:lnTo>
                  <a:pt x="13897" y="208450"/>
                </a:lnTo>
                <a:cubicBezTo>
                  <a:pt x="6210" y="208450"/>
                  <a:pt x="0" y="202240"/>
                  <a:pt x="0" y="194553"/>
                </a:cubicBezTo>
                <a:lnTo>
                  <a:pt x="0" y="180657"/>
                </a:lnTo>
                <a:close/>
                <a:moveTo>
                  <a:pt x="226385" y="208450"/>
                </a:moveTo>
                <a:cubicBezTo>
                  <a:pt x="228253" y="204194"/>
                  <a:pt x="229295" y="199504"/>
                  <a:pt x="229295" y="194553"/>
                </a:cubicBezTo>
                <a:lnTo>
                  <a:pt x="229295" y="187605"/>
                </a:lnTo>
                <a:cubicBezTo>
                  <a:pt x="229295" y="164502"/>
                  <a:pt x="220609" y="143396"/>
                  <a:pt x="206322" y="127415"/>
                </a:cubicBezTo>
                <a:cubicBezTo>
                  <a:pt x="211403" y="125895"/>
                  <a:pt x="216788" y="125070"/>
                  <a:pt x="222347" y="125070"/>
                </a:cubicBezTo>
                <a:cubicBezTo>
                  <a:pt x="253049" y="125070"/>
                  <a:pt x="277933" y="149954"/>
                  <a:pt x="277933" y="180657"/>
                </a:cubicBezTo>
                <a:lnTo>
                  <a:pt x="277933" y="194553"/>
                </a:lnTo>
                <a:cubicBezTo>
                  <a:pt x="277933" y="202240"/>
                  <a:pt x="271723" y="208450"/>
                  <a:pt x="264036" y="208450"/>
                </a:cubicBezTo>
                <a:lnTo>
                  <a:pt x="226385" y="208450"/>
                </a:lnTo>
                <a:close/>
                <a:moveTo>
                  <a:pt x="204976" y="69483"/>
                </a:moveTo>
                <a:cubicBezTo>
                  <a:pt x="204976" y="52226"/>
                  <a:pt x="218986" y="38216"/>
                  <a:pt x="236243" y="38216"/>
                </a:cubicBezTo>
                <a:cubicBezTo>
                  <a:pt x="253500" y="38216"/>
                  <a:pt x="267511" y="52226"/>
                  <a:pt x="267511" y="69483"/>
                </a:cubicBezTo>
                <a:cubicBezTo>
                  <a:pt x="267511" y="86740"/>
                  <a:pt x="253500" y="100751"/>
                  <a:pt x="236243" y="100751"/>
                </a:cubicBezTo>
                <a:cubicBezTo>
                  <a:pt x="218986" y="100751"/>
                  <a:pt x="204976" y="86740"/>
                  <a:pt x="204976" y="69483"/>
                </a:cubicBezTo>
                <a:close/>
                <a:moveTo>
                  <a:pt x="69483" y="187605"/>
                </a:moveTo>
                <a:cubicBezTo>
                  <a:pt x="69483" y="149215"/>
                  <a:pt x="100577" y="118122"/>
                  <a:pt x="138967" y="118122"/>
                </a:cubicBezTo>
                <a:cubicBezTo>
                  <a:pt x="177356" y="118122"/>
                  <a:pt x="208450" y="149215"/>
                  <a:pt x="208450" y="187605"/>
                </a:cubicBezTo>
                <a:lnTo>
                  <a:pt x="208450" y="194553"/>
                </a:lnTo>
                <a:cubicBezTo>
                  <a:pt x="208450" y="202240"/>
                  <a:pt x="202240" y="208450"/>
                  <a:pt x="194553" y="208450"/>
                </a:cubicBezTo>
                <a:lnTo>
                  <a:pt x="83380" y="208450"/>
                </a:lnTo>
                <a:cubicBezTo>
                  <a:pt x="75693" y="208450"/>
                  <a:pt x="69483" y="202240"/>
                  <a:pt x="69483" y="194553"/>
                </a:cubicBezTo>
                <a:lnTo>
                  <a:pt x="69483" y="187605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3" name="Text 21"/>
          <p:cNvSpPr/>
          <p:nvPr/>
        </p:nvSpPr>
        <p:spPr>
          <a:xfrm>
            <a:off x="1297021" y="5743721"/>
            <a:ext cx="4576632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用户痛点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97021" y="6151241"/>
            <a:ext cx="4539574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文科院系女生占比60%，遇到电脑蓝屏、卡顿等疑难杂症问题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5C6B73"/>
                </a:solidFill>
                <a:highlight>
                  <a:srgbClr val="5C6B73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束手无策 </a:t>
            </a:r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，急需便捷、靠谱的上门服务。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08795" y="1374843"/>
            <a:ext cx="5603132" cy="4389491"/>
          </a:xfrm>
          <a:custGeom>
            <a:avLst/>
            <a:gdLst/>
            <a:ahLst/>
            <a:cxnLst/>
            <a:rect l="l" t="t" r="r" b="b"/>
            <a:pathLst>
              <a:path w="5603132" h="4389491">
                <a:moveTo>
                  <a:pt x="111186" y="0"/>
                </a:moveTo>
                <a:lnTo>
                  <a:pt x="5491946" y="0"/>
                </a:lnTo>
                <a:cubicBezTo>
                  <a:pt x="5553352" y="0"/>
                  <a:pt x="5603132" y="49780"/>
                  <a:pt x="5603132" y="111186"/>
                </a:cubicBezTo>
                <a:lnTo>
                  <a:pt x="5603132" y="4278305"/>
                </a:lnTo>
                <a:cubicBezTo>
                  <a:pt x="5603132" y="4339711"/>
                  <a:pt x="5553352" y="4389491"/>
                  <a:pt x="5491946" y="4389491"/>
                </a:cubicBezTo>
                <a:lnTo>
                  <a:pt x="111186" y="4389491"/>
                </a:lnTo>
                <a:cubicBezTo>
                  <a:pt x="49780" y="4389491"/>
                  <a:pt x="0" y="4339711"/>
                  <a:pt x="0" y="4278305"/>
                </a:cubicBezTo>
                <a:lnTo>
                  <a:pt x="0" y="111186"/>
                </a:lnTo>
                <a:cubicBezTo>
                  <a:pt x="0" y="49821"/>
                  <a:pt x="49821" y="0"/>
                  <a:pt x="111186" y="0"/>
                </a:cubicBezTo>
                <a:close/>
              </a:path>
            </a:pathLst>
          </a:custGeom>
          <a:gradFill rotWithShape="1" flip="none">
            <a:gsLst>
              <a:gs pos="0">
                <a:srgbClr val="3C8082">
                  <a:alpha val="20000"/>
                </a:srgbClr>
              </a:gs>
              <a:gs pos="100000">
                <a:srgbClr val="3C8082">
                  <a:alpha val="5000"/>
                </a:srgbClr>
              </a:gs>
            </a:gsLst>
            <a:lin ang="2700000" scaled="1"/>
          </a:gradFill>
          <a:ln w="10160">
            <a:solidFill>
              <a:srgbClr val="3C8082">
                <a:alpha val="5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34847" y="1600895"/>
            <a:ext cx="444693" cy="444693"/>
          </a:xfrm>
          <a:custGeom>
            <a:avLst/>
            <a:gdLst/>
            <a:ahLst/>
            <a:cxnLst/>
            <a:rect l="l" t="t" r="r" b="b"/>
            <a:pathLst>
              <a:path w="444693" h="444693">
                <a:moveTo>
                  <a:pt x="74117" y="0"/>
                </a:moveTo>
                <a:lnTo>
                  <a:pt x="370576" y="0"/>
                </a:lnTo>
                <a:cubicBezTo>
                  <a:pt x="411482" y="0"/>
                  <a:pt x="444693" y="33211"/>
                  <a:pt x="444693" y="74117"/>
                </a:cubicBezTo>
                <a:lnTo>
                  <a:pt x="444693" y="370576"/>
                </a:lnTo>
                <a:cubicBezTo>
                  <a:pt x="444693" y="411482"/>
                  <a:pt x="411482" y="444693"/>
                  <a:pt x="370576" y="444693"/>
                </a:cubicBezTo>
                <a:lnTo>
                  <a:pt x="74117" y="444693"/>
                </a:lnTo>
                <a:cubicBezTo>
                  <a:pt x="33211" y="444693"/>
                  <a:pt x="0" y="411482"/>
                  <a:pt x="0" y="370576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27" name="Shape 25"/>
          <p:cNvSpPr/>
          <p:nvPr/>
        </p:nvSpPr>
        <p:spPr>
          <a:xfrm>
            <a:off x="6573813" y="1712069"/>
            <a:ext cx="166760" cy="222347"/>
          </a:xfrm>
          <a:custGeom>
            <a:avLst/>
            <a:gdLst/>
            <a:ahLst/>
            <a:cxnLst/>
            <a:rect l="l" t="t" r="r" b="b"/>
            <a:pathLst>
              <a:path w="166760" h="222347">
                <a:moveTo>
                  <a:pt x="127198" y="166760"/>
                </a:moveTo>
                <a:cubicBezTo>
                  <a:pt x="130368" y="157076"/>
                  <a:pt x="136708" y="148303"/>
                  <a:pt x="143874" y="140747"/>
                </a:cubicBezTo>
                <a:cubicBezTo>
                  <a:pt x="158074" y="125808"/>
                  <a:pt x="166760" y="105615"/>
                  <a:pt x="166760" y="83380"/>
                </a:cubicBezTo>
                <a:cubicBezTo>
                  <a:pt x="166760" y="37347"/>
                  <a:pt x="129413" y="0"/>
                  <a:pt x="83380" y="0"/>
                </a:cubicBezTo>
                <a:cubicBezTo>
                  <a:pt x="37347" y="0"/>
                  <a:pt x="0" y="37347"/>
                  <a:pt x="0" y="83380"/>
                </a:cubicBezTo>
                <a:cubicBezTo>
                  <a:pt x="0" y="105615"/>
                  <a:pt x="8685" y="125808"/>
                  <a:pt x="22886" y="140747"/>
                </a:cubicBezTo>
                <a:cubicBezTo>
                  <a:pt x="30052" y="148303"/>
                  <a:pt x="36435" y="157076"/>
                  <a:pt x="39562" y="166760"/>
                </a:cubicBezTo>
                <a:lnTo>
                  <a:pt x="127154" y="166760"/>
                </a:lnTo>
                <a:close/>
                <a:moveTo>
                  <a:pt x="125070" y="187605"/>
                </a:moveTo>
                <a:lnTo>
                  <a:pt x="41690" y="187605"/>
                </a:lnTo>
                <a:lnTo>
                  <a:pt x="41690" y="194553"/>
                </a:lnTo>
                <a:cubicBezTo>
                  <a:pt x="41690" y="213748"/>
                  <a:pt x="57237" y="229295"/>
                  <a:pt x="76432" y="229295"/>
                </a:cubicBezTo>
                <a:lnTo>
                  <a:pt x="90328" y="229295"/>
                </a:lnTo>
                <a:cubicBezTo>
                  <a:pt x="109523" y="229295"/>
                  <a:pt x="125070" y="213748"/>
                  <a:pt x="125070" y="194553"/>
                </a:cubicBezTo>
                <a:lnTo>
                  <a:pt x="125070" y="187605"/>
                </a:lnTo>
                <a:close/>
                <a:moveTo>
                  <a:pt x="79906" y="48638"/>
                </a:moveTo>
                <a:cubicBezTo>
                  <a:pt x="62622" y="48638"/>
                  <a:pt x="48638" y="62622"/>
                  <a:pt x="48638" y="79906"/>
                </a:cubicBezTo>
                <a:cubicBezTo>
                  <a:pt x="48638" y="85682"/>
                  <a:pt x="43992" y="90328"/>
                  <a:pt x="38216" y="90328"/>
                </a:cubicBezTo>
                <a:cubicBezTo>
                  <a:pt x="32440" y="90328"/>
                  <a:pt x="27793" y="85682"/>
                  <a:pt x="27793" y="79906"/>
                </a:cubicBezTo>
                <a:cubicBezTo>
                  <a:pt x="27793" y="51114"/>
                  <a:pt x="51114" y="27793"/>
                  <a:pt x="79906" y="27793"/>
                </a:cubicBezTo>
                <a:cubicBezTo>
                  <a:pt x="85682" y="27793"/>
                  <a:pt x="90328" y="32440"/>
                  <a:pt x="90328" y="38216"/>
                </a:cubicBezTo>
                <a:cubicBezTo>
                  <a:pt x="90328" y="43992"/>
                  <a:pt x="85682" y="48638"/>
                  <a:pt x="79906" y="4863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Text 26"/>
          <p:cNvSpPr/>
          <p:nvPr/>
        </p:nvSpPr>
        <p:spPr>
          <a:xfrm>
            <a:off x="6990713" y="1675011"/>
            <a:ext cx="1222906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我们的洞察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34847" y="2267935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148231" y="0"/>
                </a:moveTo>
                <a:lnTo>
                  <a:pt x="148231" y="0"/>
                </a:lnTo>
                <a:cubicBezTo>
                  <a:pt x="230097" y="0"/>
                  <a:pt x="296462" y="66365"/>
                  <a:pt x="296462" y="148231"/>
                </a:cubicBezTo>
                <a:lnTo>
                  <a:pt x="296462" y="148231"/>
                </a:lnTo>
                <a:cubicBezTo>
                  <a:pt x="296462" y="230097"/>
                  <a:pt x="230097" y="296462"/>
                  <a:pt x="148231" y="296462"/>
                </a:cubicBezTo>
                <a:lnTo>
                  <a:pt x="148231" y="296462"/>
                </a:lnTo>
                <a:cubicBezTo>
                  <a:pt x="66365" y="296462"/>
                  <a:pt x="0" y="230097"/>
                  <a:pt x="0" y="148231"/>
                </a:cubicBezTo>
                <a:lnTo>
                  <a:pt x="0" y="148231"/>
                </a:lnTo>
                <a:cubicBezTo>
                  <a:pt x="0" y="66365"/>
                  <a:pt x="66365" y="0"/>
                  <a:pt x="148231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0" name="Text 28"/>
          <p:cNvSpPr/>
          <p:nvPr/>
        </p:nvSpPr>
        <p:spPr>
          <a:xfrm>
            <a:off x="6553895" y="2304993"/>
            <a:ext cx="129702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42482" y="2230877"/>
            <a:ext cx="4826772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技术背景优势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42482" y="2527339"/>
            <a:ext cx="4817508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基于计算机专业的技术积累，我们希望构建一个"技术驱动+信用担保"的校园O2O服务平台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34847" y="3194379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148231" y="0"/>
                </a:moveTo>
                <a:lnTo>
                  <a:pt x="148231" y="0"/>
                </a:lnTo>
                <a:cubicBezTo>
                  <a:pt x="230097" y="0"/>
                  <a:pt x="296462" y="66365"/>
                  <a:pt x="296462" y="148231"/>
                </a:cubicBezTo>
                <a:lnTo>
                  <a:pt x="296462" y="148231"/>
                </a:lnTo>
                <a:cubicBezTo>
                  <a:pt x="296462" y="230097"/>
                  <a:pt x="230097" y="296462"/>
                  <a:pt x="148231" y="296462"/>
                </a:cubicBezTo>
                <a:lnTo>
                  <a:pt x="148231" y="296462"/>
                </a:lnTo>
                <a:cubicBezTo>
                  <a:pt x="66365" y="296462"/>
                  <a:pt x="0" y="230097"/>
                  <a:pt x="0" y="148231"/>
                </a:cubicBezTo>
                <a:lnTo>
                  <a:pt x="0" y="148231"/>
                </a:lnTo>
                <a:cubicBezTo>
                  <a:pt x="0" y="66365"/>
                  <a:pt x="66365" y="0"/>
                  <a:pt x="148231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4" name="Text 32"/>
          <p:cNvSpPr/>
          <p:nvPr/>
        </p:nvSpPr>
        <p:spPr>
          <a:xfrm>
            <a:off x="6541388" y="3231436"/>
            <a:ext cx="157495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42482" y="3157321"/>
            <a:ext cx="4826772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打破信息壁垒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42482" y="3453783"/>
            <a:ext cx="4817508" cy="48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通过开发微信小程序实现服务标准化、价格透明化，打破信息壁垒，建立校内电子产品服务的信任闭环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34847" y="4120822"/>
            <a:ext cx="296462" cy="296462"/>
          </a:xfrm>
          <a:custGeom>
            <a:avLst/>
            <a:gdLst/>
            <a:ahLst/>
            <a:cxnLst/>
            <a:rect l="l" t="t" r="r" b="b"/>
            <a:pathLst>
              <a:path w="296462" h="296462">
                <a:moveTo>
                  <a:pt x="148231" y="0"/>
                </a:moveTo>
                <a:lnTo>
                  <a:pt x="148231" y="0"/>
                </a:lnTo>
                <a:cubicBezTo>
                  <a:pt x="230097" y="0"/>
                  <a:pt x="296462" y="66365"/>
                  <a:pt x="296462" y="148231"/>
                </a:cubicBezTo>
                <a:lnTo>
                  <a:pt x="296462" y="148231"/>
                </a:lnTo>
                <a:cubicBezTo>
                  <a:pt x="296462" y="230097"/>
                  <a:pt x="230097" y="296462"/>
                  <a:pt x="148231" y="296462"/>
                </a:cubicBezTo>
                <a:lnTo>
                  <a:pt x="148231" y="296462"/>
                </a:lnTo>
                <a:cubicBezTo>
                  <a:pt x="66365" y="296462"/>
                  <a:pt x="0" y="230097"/>
                  <a:pt x="0" y="148231"/>
                </a:cubicBezTo>
                <a:lnTo>
                  <a:pt x="0" y="148231"/>
                </a:lnTo>
                <a:cubicBezTo>
                  <a:pt x="0" y="66365"/>
                  <a:pt x="66365" y="0"/>
                  <a:pt x="148231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8" name="Text 36"/>
          <p:cNvSpPr/>
          <p:nvPr/>
        </p:nvSpPr>
        <p:spPr>
          <a:xfrm>
            <a:off x="6539419" y="4157880"/>
            <a:ext cx="157495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42482" y="4083765"/>
            <a:ext cx="4678541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实战转化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42482" y="4380227"/>
            <a:ext cx="4669277" cy="240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这不仅能解决同学们的实际困难，也是对我们专业技能的一次实战转化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08795" y="5954834"/>
            <a:ext cx="1767655" cy="896798"/>
          </a:xfrm>
          <a:custGeom>
            <a:avLst/>
            <a:gdLst/>
            <a:ahLst/>
            <a:cxnLst/>
            <a:rect l="l" t="t" r="r" b="b"/>
            <a:pathLst>
              <a:path w="1767655" h="896798">
                <a:moveTo>
                  <a:pt x="74111" y="0"/>
                </a:moveTo>
                <a:lnTo>
                  <a:pt x="1693543" y="0"/>
                </a:lnTo>
                <a:cubicBezTo>
                  <a:pt x="1734474" y="0"/>
                  <a:pt x="1767655" y="33181"/>
                  <a:pt x="1767655" y="74111"/>
                </a:cubicBezTo>
                <a:lnTo>
                  <a:pt x="1767655" y="822686"/>
                </a:lnTo>
                <a:cubicBezTo>
                  <a:pt x="1767655" y="863617"/>
                  <a:pt x="1734474" y="896798"/>
                  <a:pt x="1693543" y="896798"/>
                </a:cubicBezTo>
                <a:lnTo>
                  <a:pt x="74111" y="896798"/>
                </a:lnTo>
                <a:cubicBezTo>
                  <a:pt x="33181" y="896798"/>
                  <a:pt x="0" y="863617"/>
                  <a:pt x="0" y="822686"/>
                </a:cubicBezTo>
                <a:lnTo>
                  <a:pt x="0" y="74111"/>
                </a:lnTo>
                <a:cubicBezTo>
                  <a:pt x="0" y="33208"/>
                  <a:pt x="33208" y="0"/>
                  <a:pt x="74111" y="0"/>
                </a:cubicBezTo>
                <a:close/>
              </a:path>
            </a:pathLst>
          </a:custGeom>
          <a:solidFill>
            <a:srgbClr val="D9A477">
              <a:alpha val="14902"/>
            </a:srgbClr>
          </a:solidFill>
          <a:ln w="10160">
            <a:solidFill>
              <a:srgbClr val="D9A477">
                <a:alpha val="30196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77351" y="6106771"/>
            <a:ext cx="1630541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26" b="1" dirty="0">
                <a:solidFill>
                  <a:srgbClr val="D9A47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60%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28306" y="6514406"/>
            <a:ext cx="1528632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技术小白用户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28849" y="5954834"/>
            <a:ext cx="1767655" cy="896798"/>
          </a:xfrm>
          <a:custGeom>
            <a:avLst/>
            <a:gdLst/>
            <a:ahLst/>
            <a:cxnLst/>
            <a:rect l="l" t="t" r="r" b="b"/>
            <a:pathLst>
              <a:path w="1767655" h="896798">
                <a:moveTo>
                  <a:pt x="74111" y="0"/>
                </a:moveTo>
                <a:lnTo>
                  <a:pt x="1693543" y="0"/>
                </a:lnTo>
                <a:cubicBezTo>
                  <a:pt x="1734474" y="0"/>
                  <a:pt x="1767655" y="33181"/>
                  <a:pt x="1767655" y="74111"/>
                </a:cubicBezTo>
                <a:lnTo>
                  <a:pt x="1767655" y="822686"/>
                </a:lnTo>
                <a:cubicBezTo>
                  <a:pt x="1767655" y="863617"/>
                  <a:pt x="1734474" y="896798"/>
                  <a:pt x="1693543" y="896798"/>
                </a:cubicBezTo>
                <a:lnTo>
                  <a:pt x="74111" y="896798"/>
                </a:lnTo>
                <a:cubicBezTo>
                  <a:pt x="33181" y="896798"/>
                  <a:pt x="0" y="863617"/>
                  <a:pt x="0" y="822686"/>
                </a:cubicBezTo>
                <a:lnTo>
                  <a:pt x="0" y="74111"/>
                </a:lnTo>
                <a:cubicBezTo>
                  <a:pt x="0" y="33208"/>
                  <a:pt x="33208" y="0"/>
                  <a:pt x="74111" y="0"/>
                </a:cubicBezTo>
                <a:close/>
              </a:path>
            </a:pathLst>
          </a:custGeom>
          <a:solidFill>
            <a:srgbClr val="3C8082">
              <a:alpha val="14902"/>
            </a:srgbClr>
          </a:solidFill>
          <a:ln w="1016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97406" y="6106771"/>
            <a:ext cx="1630541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26" b="1" dirty="0">
                <a:solidFill>
                  <a:srgbClr val="3C8082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20%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48361" y="6514406"/>
            <a:ext cx="1528632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年故障率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049020" y="5954834"/>
            <a:ext cx="1767655" cy="896798"/>
          </a:xfrm>
          <a:custGeom>
            <a:avLst/>
            <a:gdLst/>
            <a:ahLst/>
            <a:cxnLst/>
            <a:rect l="l" t="t" r="r" b="b"/>
            <a:pathLst>
              <a:path w="1767655" h="896798">
                <a:moveTo>
                  <a:pt x="74111" y="0"/>
                </a:moveTo>
                <a:lnTo>
                  <a:pt x="1693543" y="0"/>
                </a:lnTo>
                <a:cubicBezTo>
                  <a:pt x="1734474" y="0"/>
                  <a:pt x="1767655" y="33181"/>
                  <a:pt x="1767655" y="74111"/>
                </a:cubicBezTo>
                <a:lnTo>
                  <a:pt x="1767655" y="822686"/>
                </a:lnTo>
                <a:cubicBezTo>
                  <a:pt x="1767655" y="863617"/>
                  <a:pt x="1734474" y="896798"/>
                  <a:pt x="1693543" y="896798"/>
                </a:cubicBezTo>
                <a:lnTo>
                  <a:pt x="74111" y="896798"/>
                </a:lnTo>
                <a:cubicBezTo>
                  <a:pt x="33181" y="896798"/>
                  <a:pt x="0" y="863617"/>
                  <a:pt x="0" y="822686"/>
                </a:cubicBezTo>
                <a:lnTo>
                  <a:pt x="0" y="74111"/>
                </a:lnTo>
                <a:cubicBezTo>
                  <a:pt x="0" y="33208"/>
                  <a:pt x="33208" y="0"/>
                  <a:pt x="74111" y="0"/>
                </a:cubicBezTo>
                <a:close/>
              </a:path>
            </a:pathLst>
          </a:custGeom>
          <a:solidFill>
            <a:srgbClr val="5C6B73">
              <a:alpha val="14902"/>
            </a:srgbClr>
          </a:solidFill>
          <a:ln w="10160">
            <a:solidFill>
              <a:srgbClr val="5C6B73">
                <a:alpha val="30196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17577" y="6106771"/>
            <a:ext cx="1630541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26" b="1" dirty="0">
                <a:solidFill>
                  <a:srgbClr val="5C6B73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15%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168531" y="6514406"/>
            <a:ext cx="1528632" cy="18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1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二手市场增速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0296" y="481385"/>
            <a:ext cx="444355" cy="37030"/>
          </a:xfrm>
          <a:custGeom>
            <a:avLst/>
            <a:gdLst/>
            <a:ahLst/>
            <a:cxnLst/>
            <a:rect l="l" t="t" r="r" b="b"/>
            <a:pathLst>
              <a:path w="444355" h="37030">
                <a:moveTo>
                  <a:pt x="0" y="0"/>
                </a:moveTo>
                <a:lnTo>
                  <a:pt x="444355" y="0"/>
                </a:lnTo>
                <a:lnTo>
                  <a:pt x="444355" y="37030"/>
                </a:lnTo>
                <a:lnTo>
                  <a:pt x="0" y="3703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" name="Text 1"/>
          <p:cNvSpPr/>
          <p:nvPr/>
        </p:nvSpPr>
        <p:spPr>
          <a:xfrm>
            <a:off x="962770" y="370296"/>
            <a:ext cx="981285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2" b="1" spc="66" kern="0" dirty="0">
                <a:solidFill>
                  <a:srgbClr val="D9A4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0296" y="703563"/>
            <a:ext cx="11618041" cy="37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4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解决方案：技术驱动+信用担保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3999" y="1225680"/>
            <a:ext cx="5645164" cy="1655224"/>
          </a:xfrm>
          <a:custGeom>
            <a:avLst/>
            <a:gdLst/>
            <a:ahLst/>
            <a:cxnLst/>
            <a:rect l="l" t="t" r="r" b="b"/>
            <a:pathLst>
              <a:path w="5645164" h="1655224">
                <a:moveTo>
                  <a:pt x="111082" y="0"/>
                </a:moveTo>
                <a:lnTo>
                  <a:pt x="5534082" y="0"/>
                </a:lnTo>
                <a:cubicBezTo>
                  <a:pt x="5595431" y="0"/>
                  <a:pt x="5645164" y="49733"/>
                  <a:pt x="5645164" y="111082"/>
                </a:cubicBezTo>
                <a:lnTo>
                  <a:pt x="5645164" y="1544142"/>
                </a:lnTo>
                <a:cubicBezTo>
                  <a:pt x="5645164" y="1605491"/>
                  <a:pt x="5595431" y="1655224"/>
                  <a:pt x="5534082" y="1655224"/>
                </a:cubicBezTo>
                <a:lnTo>
                  <a:pt x="111082" y="1655224"/>
                </a:lnTo>
                <a:cubicBezTo>
                  <a:pt x="49733" y="1655224"/>
                  <a:pt x="0" y="1605491"/>
                  <a:pt x="0" y="1544142"/>
                </a:cubicBezTo>
                <a:lnTo>
                  <a:pt x="0" y="111082"/>
                </a:lnTo>
                <a:cubicBezTo>
                  <a:pt x="0" y="49733"/>
                  <a:pt x="49733" y="0"/>
                  <a:pt x="111082" y="0"/>
                </a:cubicBezTo>
                <a:close/>
              </a:path>
            </a:pathLst>
          </a:custGeom>
          <a:gradFill rotWithShape="1" flip="none">
            <a:gsLst>
              <a:gs pos="0">
                <a:srgbClr val="D9A477">
                  <a:alpha val="20000"/>
                </a:srgbClr>
              </a:gs>
              <a:gs pos="100000">
                <a:srgbClr val="D9A477">
                  <a:alpha val="5000"/>
                </a:srgbClr>
              </a:gs>
            </a:gsLst>
            <a:lin ang="2700000" scaled="1"/>
          </a:gradFill>
          <a:ln w="10160">
            <a:solidFill>
              <a:srgbClr val="D9A47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5820" y="1377502"/>
            <a:ext cx="444355" cy="444355"/>
          </a:xfrm>
          <a:custGeom>
            <a:avLst/>
            <a:gdLst/>
            <a:ahLst/>
            <a:cxn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7" name="Shape 5"/>
          <p:cNvSpPr/>
          <p:nvPr/>
        </p:nvSpPr>
        <p:spPr>
          <a:xfrm>
            <a:off x="636909" y="1488591"/>
            <a:ext cx="222178" cy="222178"/>
          </a:xfrm>
          <a:custGeom>
            <a:avLst/>
            <a:gdLst/>
            <a:ahLst/>
            <a:cxnLst/>
            <a:rect l="l" t="t" r="r" b="b"/>
            <a:pathLst>
              <a:path w="222178" h="222178">
                <a:moveTo>
                  <a:pt x="111089" y="0"/>
                </a:moveTo>
                <a:cubicBezTo>
                  <a:pt x="113085" y="0"/>
                  <a:pt x="115081" y="434"/>
                  <a:pt x="116904" y="1258"/>
                </a:cubicBezTo>
                <a:lnTo>
                  <a:pt x="198658" y="35930"/>
                </a:lnTo>
                <a:cubicBezTo>
                  <a:pt x="208205" y="39966"/>
                  <a:pt x="215321" y="49382"/>
                  <a:pt x="215278" y="60752"/>
                </a:cubicBezTo>
                <a:cubicBezTo>
                  <a:pt x="215061" y="103799"/>
                  <a:pt x="197356" y="182559"/>
                  <a:pt x="122588" y="218359"/>
                </a:cubicBezTo>
                <a:cubicBezTo>
                  <a:pt x="115341" y="221831"/>
                  <a:pt x="106923" y="221831"/>
                  <a:pt x="99676" y="218359"/>
                </a:cubicBezTo>
                <a:cubicBezTo>
                  <a:pt x="24865" y="182559"/>
                  <a:pt x="7203" y="103799"/>
                  <a:pt x="6986" y="60752"/>
                </a:cubicBezTo>
                <a:cubicBezTo>
                  <a:pt x="6943" y="49382"/>
                  <a:pt x="14060" y="39966"/>
                  <a:pt x="23606" y="35930"/>
                </a:cubicBezTo>
                <a:lnTo>
                  <a:pt x="105317" y="1258"/>
                </a:lnTo>
                <a:cubicBezTo>
                  <a:pt x="107140" y="434"/>
                  <a:pt x="109093" y="0"/>
                  <a:pt x="111089" y="0"/>
                </a:cubicBezTo>
                <a:close/>
                <a:moveTo>
                  <a:pt x="111089" y="28987"/>
                </a:moveTo>
                <a:lnTo>
                  <a:pt x="111089" y="193060"/>
                </a:lnTo>
                <a:cubicBezTo>
                  <a:pt x="170973" y="164073"/>
                  <a:pt x="187072" y="99850"/>
                  <a:pt x="187462" y="61403"/>
                </a:cubicBezTo>
                <a:lnTo>
                  <a:pt x="111089" y="29031"/>
                </a:lnTo>
                <a:lnTo>
                  <a:pt x="111089" y="29031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1081265" y="1470076"/>
            <a:ext cx="1018314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透明化维修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5820" y="1932946"/>
            <a:ext cx="5415581" cy="240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E0E2E5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</a:t>
            </a:r>
            <a:pPr>
              <a:lnSpc>
                <a:spcPct val="140000"/>
              </a:lnSpc>
            </a:pPr>
            <a:r>
              <a:rPr lang="en-US" sz="1166" dirty="0">
                <a:solidFill>
                  <a:srgbClr val="D9A477"/>
                </a:solidFill>
                <a:highlight>
                  <a:srgbClr val="D9A477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上门/到店双模式 </a:t>
            </a:r>
            <a:pPr>
              <a:lnSpc>
                <a:spcPct val="140000"/>
              </a:lnSpc>
            </a:pPr>
            <a:r>
              <a:rPr lang="en-US" sz="1166" dirty="0">
                <a:solidFill>
                  <a:srgbClr val="E0E2E5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，维修过程可全程录像，杜绝偷换零件。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5820" y="2247698"/>
            <a:ext cx="5415581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用户可通过小程序实时查看维修进度，每一个操作环节都清晰可见，彻底解决传统维修店的"黑箱操作"问题。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3999" y="2999400"/>
            <a:ext cx="5645164" cy="1895916"/>
          </a:xfrm>
          <a:custGeom>
            <a:avLst/>
            <a:gdLst/>
            <a:ahLst/>
            <a:cxnLst/>
            <a:rect l="l" t="t" r="r" b="b"/>
            <a:pathLst>
              <a:path w="5645164" h="1895916">
                <a:moveTo>
                  <a:pt x="111082" y="0"/>
                </a:moveTo>
                <a:lnTo>
                  <a:pt x="5534083" y="0"/>
                </a:lnTo>
                <a:cubicBezTo>
                  <a:pt x="5595431" y="0"/>
                  <a:pt x="5645164" y="49733"/>
                  <a:pt x="5645164" y="111082"/>
                </a:cubicBezTo>
                <a:lnTo>
                  <a:pt x="5645164" y="1784834"/>
                </a:lnTo>
                <a:cubicBezTo>
                  <a:pt x="5645164" y="1846183"/>
                  <a:pt x="5595431" y="1895916"/>
                  <a:pt x="5534083" y="1895916"/>
                </a:cubicBezTo>
                <a:lnTo>
                  <a:pt x="111082" y="1895916"/>
                </a:lnTo>
                <a:cubicBezTo>
                  <a:pt x="49733" y="1895916"/>
                  <a:pt x="0" y="1846183"/>
                  <a:pt x="0" y="1784834"/>
                </a:cubicBezTo>
                <a:lnTo>
                  <a:pt x="0" y="111082"/>
                </a:lnTo>
                <a:cubicBezTo>
                  <a:pt x="0" y="49774"/>
                  <a:pt x="49774" y="0"/>
                  <a:pt x="111082" y="0"/>
                </a:cubicBezTo>
                <a:close/>
              </a:path>
            </a:pathLst>
          </a:custGeom>
          <a:gradFill rotWithShape="1" flip="none">
            <a:gsLst>
              <a:gs pos="0">
                <a:srgbClr val="3C8082">
                  <a:alpha val="20000"/>
                </a:srgbClr>
              </a:gs>
              <a:gs pos="100000">
                <a:srgbClr val="3C8082">
                  <a:alpha val="5000"/>
                </a:srgbClr>
              </a:gs>
            </a:gsLst>
            <a:lin ang="2700000" scaled="1"/>
          </a:gradFill>
          <a:ln w="10160">
            <a:solidFill>
              <a:srgbClr val="3C8082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5820" y="3151219"/>
            <a:ext cx="444355" cy="444355"/>
          </a:xfrm>
          <a:custGeom>
            <a:avLst/>
            <a:gdLst/>
            <a:ahLst/>
            <a:cxn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13" name="Shape 11"/>
          <p:cNvSpPr/>
          <p:nvPr/>
        </p:nvSpPr>
        <p:spPr>
          <a:xfrm>
            <a:off x="664682" y="3262308"/>
            <a:ext cx="166633" cy="222178"/>
          </a:xfrm>
          <a:custGeom>
            <a:avLst/>
            <a:gdLst/>
            <a:ahLst/>
            <a:cxnLst/>
            <a:rect l="l" t="t" r="r" b="b"/>
            <a:pathLst>
              <a:path w="166633" h="222178">
                <a:moveTo>
                  <a:pt x="135129" y="13886"/>
                </a:moveTo>
                <a:lnTo>
                  <a:pt x="138861" y="13886"/>
                </a:lnTo>
                <a:cubicBezTo>
                  <a:pt x="154179" y="13886"/>
                  <a:pt x="166633" y="26340"/>
                  <a:pt x="166633" y="41658"/>
                </a:cubicBezTo>
                <a:lnTo>
                  <a:pt x="166633" y="194405"/>
                </a:lnTo>
                <a:cubicBezTo>
                  <a:pt x="166633" y="209724"/>
                  <a:pt x="154179" y="222178"/>
                  <a:pt x="138861" y="222178"/>
                </a:cubicBezTo>
                <a:lnTo>
                  <a:pt x="27772" y="222178"/>
                </a:lnTo>
                <a:cubicBezTo>
                  <a:pt x="12454" y="222178"/>
                  <a:pt x="0" y="209724"/>
                  <a:pt x="0" y="194405"/>
                </a:cubicBezTo>
                <a:lnTo>
                  <a:pt x="0" y="41658"/>
                </a:lnTo>
                <a:cubicBezTo>
                  <a:pt x="0" y="26340"/>
                  <a:pt x="12454" y="13886"/>
                  <a:pt x="27772" y="13886"/>
                </a:cubicBezTo>
                <a:lnTo>
                  <a:pt x="31504" y="13886"/>
                </a:lnTo>
                <a:cubicBezTo>
                  <a:pt x="36277" y="5598"/>
                  <a:pt x="45260" y="0"/>
                  <a:pt x="55544" y="0"/>
                </a:cubicBezTo>
                <a:lnTo>
                  <a:pt x="111089" y="0"/>
                </a:lnTo>
                <a:cubicBezTo>
                  <a:pt x="121373" y="0"/>
                  <a:pt x="130356" y="5598"/>
                  <a:pt x="135129" y="13886"/>
                </a:cubicBezTo>
                <a:close/>
                <a:moveTo>
                  <a:pt x="107617" y="48601"/>
                </a:moveTo>
                <a:cubicBezTo>
                  <a:pt x="113389" y="48601"/>
                  <a:pt x="118032" y="43958"/>
                  <a:pt x="118032" y="38187"/>
                </a:cubicBezTo>
                <a:cubicBezTo>
                  <a:pt x="118032" y="32415"/>
                  <a:pt x="113389" y="27772"/>
                  <a:pt x="107617" y="27772"/>
                </a:cubicBezTo>
                <a:lnTo>
                  <a:pt x="59016" y="27772"/>
                </a:lnTo>
                <a:cubicBezTo>
                  <a:pt x="53245" y="27772"/>
                  <a:pt x="48601" y="32415"/>
                  <a:pt x="48601" y="38187"/>
                </a:cubicBezTo>
                <a:cubicBezTo>
                  <a:pt x="48601" y="43958"/>
                  <a:pt x="53245" y="48601"/>
                  <a:pt x="59016" y="48601"/>
                </a:cubicBezTo>
                <a:lnTo>
                  <a:pt x="107617" y="48601"/>
                </a:lnTo>
                <a:close/>
                <a:moveTo>
                  <a:pt x="119941" y="113128"/>
                </a:moveTo>
                <a:cubicBezTo>
                  <a:pt x="122979" y="108268"/>
                  <a:pt x="121503" y="101846"/>
                  <a:pt x="116643" y="98765"/>
                </a:cubicBezTo>
                <a:cubicBezTo>
                  <a:pt x="111783" y="95684"/>
                  <a:pt x="105361" y="97203"/>
                  <a:pt x="102280" y="102063"/>
                </a:cubicBezTo>
                <a:lnTo>
                  <a:pt x="75636" y="144719"/>
                </a:lnTo>
                <a:lnTo>
                  <a:pt x="63919" y="129097"/>
                </a:lnTo>
                <a:cubicBezTo>
                  <a:pt x="60448" y="124498"/>
                  <a:pt x="53939" y="123543"/>
                  <a:pt x="49339" y="127014"/>
                </a:cubicBezTo>
                <a:cubicBezTo>
                  <a:pt x="44739" y="130486"/>
                  <a:pt x="43785" y="136995"/>
                  <a:pt x="47256" y="141595"/>
                </a:cubicBezTo>
                <a:lnTo>
                  <a:pt x="68085" y="169367"/>
                </a:lnTo>
                <a:cubicBezTo>
                  <a:pt x="70125" y="172101"/>
                  <a:pt x="73423" y="173663"/>
                  <a:pt x="76851" y="173533"/>
                </a:cubicBezTo>
                <a:cubicBezTo>
                  <a:pt x="80279" y="173403"/>
                  <a:pt x="83403" y="171580"/>
                  <a:pt x="85226" y="168629"/>
                </a:cubicBezTo>
                <a:lnTo>
                  <a:pt x="119941" y="113085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4" name="Text 12"/>
          <p:cNvSpPr/>
          <p:nvPr/>
        </p:nvSpPr>
        <p:spPr>
          <a:xfrm>
            <a:off x="1081265" y="3243793"/>
            <a:ext cx="1573759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二手分级标准体系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5820" y="3706663"/>
            <a:ext cx="5415581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E0E2E5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独创</a:t>
            </a:r>
            <a:pPr>
              <a:lnSpc>
                <a:spcPct val="140000"/>
              </a:lnSpc>
            </a:pPr>
            <a:r>
              <a:rPr lang="en-US" sz="1166" dirty="0">
                <a:solidFill>
                  <a:srgbClr val="3C8082"/>
                </a:solidFill>
                <a:highlight>
                  <a:srgbClr val="3C8082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校园二手分级标准 </a:t>
            </a:r>
            <a:pPr>
              <a:lnSpc>
                <a:spcPct val="140000"/>
              </a:lnSpc>
            </a:pPr>
            <a:r>
              <a:rPr lang="en-US" sz="1166" dirty="0">
                <a:solidFill>
                  <a:srgbClr val="E0E2E5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（如S级、A级、B级），每台机器出具包含32项检测指标的电子"体检报告"。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5820" y="4262108"/>
            <a:ext cx="5415581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明确标注划痕、电池寿命等细节，让买家清楚了解设备状况，让卖家获得公允定价。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3999" y="5013809"/>
            <a:ext cx="5645164" cy="1655224"/>
          </a:xfrm>
          <a:custGeom>
            <a:avLst/>
            <a:gdLst/>
            <a:ahLst/>
            <a:cxnLst/>
            <a:rect l="l" t="t" r="r" b="b"/>
            <a:pathLst>
              <a:path w="5645164" h="1655224">
                <a:moveTo>
                  <a:pt x="111082" y="0"/>
                </a:moveTo>
                <a:lnTo>
                  <a:pt x="5534082" y="0"/>
                </a:lnTo>
                <a:cubicBezTo>
                  <a:pt x="5595431" y="0"/>
                  <a:pt x="5645164" y="49733"/>
                  <a:pt x="5645164" y="111082"/>
                </a:cubicBezTo>
                <a:lnTo>
                  <a:pt x="5645164" y="1544142"/>
                </a:lnTo>
                <a:cubicBezTo>
                  <a:pt x="5645164" y="1605491"/>
                  <a:pt x="5595431" y="1655224"/>
                  <a:pt x="5534082" y="1655224"/>
                </a:cubicBezTo>
                <a:lnTo>
                  <a:pt x="111082" y="1655224"/>
                </a:lnTo>
                <a:cubicBezTo>
                  <a:pt x="49733" y="1655224"/>
                  <a:pt x="0" y="1605491"/>
                  <a:pt x="0" y="1544142"/>
                </a:cubicBezTo>
                <a:lnTo>
                  <a:pt x="0" y="111082"/>
                </a:lnTo>
                <a:cubicBezTo>
                  <a:pt x="0" y="49733"/>
                  <a:pt x="49733" y="0"/>
                  <a:pt x="111082" y="0"/>
                </a:cubicBezTo>
                <a:close/>
              </a:path>
            </a:pathLst>
          </a:custGeom>
          <a:gradFill rotWithShape="1" flip="none">
            <a:gsLst>
              <a:gs pos="0">
                <a:srgbClr val="5C6B73">
                  <a:alpha val="20000"/>
                </a:srgbClr>
              </a:gs>
              <a:gs pos="100000">
                <a:srgbClr val="5C6B73">
                  <a:alpha val="5000"/>
                </a:srgbClr>
              </a:gs>
            </a:gsLst>
            <a:lin ang="2700000" scaled="1"/>
          </a:gradFill>
          <a:ln w="10160">
            <a:solidFill>
              <a:srgbClr val="5C6B73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5820" y="5165631"/>
            <a:ext cx="444355" cy="444355"/>
          </a:xfrm>
          <a:custGeom>
            <a:avLst/>
            <a:gdLst/>
            <a:ahLst/>
            <a:cxn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19" name="Shape 17"/>
          <p:cNvSpPr/>
          <p:nvPr/>
        </p:nvSpPr>
        <p:spPr>
          <a:xfrm>
            <a:off x="664682" y="5276720"/>
            <a:ext cx="166633" cy="222178"/>
          </a:xfrm>
          <a:custGeom>
            <a:avLst/>
            <a:gdLst/>
            <a:ahLst/>
            <a:cxnLst/>
            <a:rect l="l" t="t" r="r" b="b"/>
            <a:pathLst>
              <a:path w="166633" h="222178">
                <a:moveTo>
                  <a:pt x="55544" y="41658"/>
                </a:moveTo>
                <a:lnTo>
                  <a:pt x="55544" y="69431"/>
                </a:lnTo>
                <a:lnTo>
                  <a:pt x="111089" y="69431"/>
                </a:lnTo>
                <a:lnTo>
                  <a:pt x="111089" y="41658"/>
                </a:lnTo>
                <a:cubicBezTo>
                  <a:pt x="111089" y="26340"/>
                  <a:pt x="98635" y="13886"/>
                  <a:pt x="83317" y="13886"/>
                </a:cubicBezTo>
                <a:cubicBezTo>
                  <a:pt x="67999" y="13886"/>
                  <a:pt x="55544" y="26340"/>
                  <a:pt x="55544" y="41658"/>
                </a:cubicBezTo>
                <a:close/>
                <a:moveTo>
                  <a:pt x="27772" y="69431"/>
                </a:moveTo>
                <a:lnTo>
                  <a:pt x="27772" y="41658"/>
                </a:lnTo>
                <a:cubicBezTo>
                  <a:pt x="27772" y="10979"/>
                  <a:pt x="52637" y="-13886"/>
                  <a:pt x="83317" y="-13886"/>
                </a:cubicBezTo>
                <a:cubicBezTo>
                  <a:pt x="113996" y="-13886"/>
                  <a:pt x="138861" y="10979"/>
                  <a:pt x="138861" y="41658"/>
                </a:cubicBezTo>
                <a:lnTo>
                  <a:pt x="138861" y="69431"/>
                </a:lnTo>
                <a:cubicBezTo>
                  <a:pt x="154179" y="69431"/>
                  <a:pt x="166633" y="81885"/>
                  <a:pt x="166633" y="97203"/>
                </a:cubicBezTo>
                <a:lnTo>
                  <a:pt x="166633" y="194405"/>
                </a:lnTo>
                <a:cubicBezTo>
                  <a:pt x="166633" y="209724"/>
                  <a:pt x="154179" y="222178"/>
                  <a:pt x="138861" y="222178"/>
                </a:cubicBezTo>
                <a:lnTo>
                  <a:pt x="27772" y="222178"/>
                </a:lnTo>
                <a:cubicBezTo>
                  <a:pt x="12454" y="222178"/>
                  <a:pt x="0" y="209724"/>
                  <a:pt x="0" y="194405"/>
                </a:cubicBezTo>
                <a:lnTo>
                  <a:pt x="0" y="97203"/>
                </a:lnTo>
                <a:cubicBezTo>
                  <a:pt x="0" y="81885"/>
                  <a:pt x="12454" y="69431"/>
                  <a:pt x="27772" y="69431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0" name="Text 18"/>
          <p:cNvSpPr/>
          <p:nvPr/>
        </p:nvSpPr>
        <p:spPr>
          <a:xfrm>
            <a:off x="1081265" y="5258205"/>
            <a:ext cx="1203462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数据安全服务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5820" y="5721075"/>
            <a:ext cx="5415581" cy="240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E0E2E5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</a:t>
            </a:r>
            <a:pPr>
              <a:lnSpc>
                <a:spcPct val="140000"/>
              </a:lnSpc>
            </a:pPr>
            <a:r>
              <a:rPr lang="en-US" sz="1166" dirty="0">
                <a:solidFill>
                  <a:srgbClr val="5C6B73"/>
                </a:solidFill>
                <a:highlight>
                  <a:srgbClr val="5C6B73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"硬盘当面拆卸封存" </a:t>
            </a:r>
            <a:pPr>
              <a:lnSpc>
                <a:spcPct val="140000"/>
              </a:lnSpc>
            </a:pPr>
            <a:r>
              <a:rPr lang="en-US" sz="1166" dirty="0">
                <a:solidFill>
                  <a:srgbClr val="E0E2E5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服务，解决学生维修时对隐私泄露的担忧。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5820" y="6035827"/>
            <a:ext cx="5415581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用户的个人数据安全是我们的首要责任，通过标准化的操作流程和隐私保护措施，确保数据零泄露风险。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5267" y="1225680"/>
            <a:ext cx="5645164" cy="3969574"/>
          </a:xfrm>
          <a:custGeom>
            <a:avLst/>
            <a:gdLst/>
            <a:ahLst/>
            <a:cxnLst/>
            <a:rect l="l" t="t" r="r" b="b"/>
            <a:pathLst>
              <a:path w="5645164" h="3969574">
                <a:moveTo>
                  <a:pt x="111108" y="0"/>
                </a:moveTo>
                <a:lnTo>
                  <a:pt x="5534056" y="0"/>
                </a:lnTo>
                <a:cubicBezTo>
                  <a:pt x="5595420" y="0"/>
                  <a:pt x="5645164" y="49745"/>
                  <a:pt x="5645164" y="111108"/>
                </a:cubicBezTo>
                <a:lnTo>
                  <a:pt x="5645164" y="3858466"/>
                </a:lnTo>
                <a:cubicBezTo>
                  <a:pt x="5645164" y="3919830"/>
                  <a:pt x="5595420" y="3969574"/>
                  <a:pt x="5534056" y="3969574"/>
                </a:cubicBezTo>
                <a:lnTo>
                  <a:pt x="111108" y="3969574"/>
                </a:lnTo>
                <a:cubicBezTo>
                  <a:pt x="49745" y="3969574"/>
                  <a:pt x="0" y="3919830"/>
                  <a:pt x="0" y="3858466"/>
                </a:cubicBezTo>
                <a:lnTo>
                  <a:pt x="0" y="111108"/>
                </a:lnTo>
                <a:cubicBezTo>
                  <a:pt x="0" y="49786"/>
                  <a:pt x="49786" y="0"/>
                  <a:pt x="111108" y="0"/>
                </a:cubicBezTo>
                <a:close/>
              </a:path>
            </a:pathLst>
          </a:custGeom>
          <a:gradFill rotWithShape="1" flip="none">
            <a:gsLst>
              <a:gs pos="0">
                <a:srgbClr val="3C8082">
                  <a:alpha val="25000"/>
                </a:srgbClr>
              </a:gs>
              <a:gs pos="100000">
                <a:srgbClr val="3C8082">
                  <a:alpha val="5000"/>
                </a:srgbClr>
              </a:gs>
            </a:gsLst>
            <a:lin ang="2700000" scaled="1"/>
          </a:gradFill>
          <a:ln w="10160">
            <a:solidFill>
              <a:srgbClr val="3C8082">
                <a:alpha val="5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088" y="1377502"/>
            <a:ext cx="518415" cy="518415"/>
          </a:xfrm>
          <a:custGeom>
            <a:avLst/>
            <a:gdLst/>
            <a:ahLst/>
            <a:cxnLst/>
            <a:rect l="l" t="t" r="r" b="b"/>
            <a:pathLst>
              <a:path w="518415" h="518415">
                <a:moveTo>
                  <a:pt x="74061" y="0"/>
                </a:moveTo>
                <a:lnTo>
                  <a:pt x="444354" y="0"/>
                </a:lnTo>
                <a:cubicBezTo>
                  <a:pt x="485229" y="0"/>
                  <a:pt x="518415" y="33185"/>
                  <a:pt x="518415" y="74061"/>
                </a:cubicBezTo>
                <a:lnTo>
                  <a:pt x="518415" y="444354"/>
                </a:lnTo>
                <a:cubicBezTo>
                  <a:pt x="518415" y="485256"/>
                  <a:pt x="485256" y="518415"/>
                  <a:pt x="444354" y="518415"/>
                </a:cubicBezTo>
                <a:lnTo>
                  <a:pt x="74061" y="518415"/>
                </a:lnTo>
                <a:cubicBezTo>
                  <a:pt x="33185" y="518415"/>
                  <a:pt x="0" y="485229"/>
                  <a:pt x="0" y="444354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25" name="Shape 23"/>
          <p:cNvSpPr/>
          <p:nvPr/>
        </p:nvSpPr>
        <p:spPr>
          <a:xfrm>
            <a:off x="6502979" y="1525620"/>
            <a:ext cx="166633" cy="222178"/>
          </a:xfrm>
          <a:custGeom>
            <a:avLst/>
            <a:gdLst/>
            <a:ahLst/>
            <a:cxnLst/>
            <a:rect l="l" t="t" r="r" b="b"/>
            <a:pathLst>
              <a:path w="166633" h="222178">
                <a:moveTo>
                  <a:pt x="6943" y="27772"/>
                </a:moveTo>
                <a:cubicBezTo>
                  <a:pt x="6943" y="12454"/>
                  <a:pt x="19397" y="0"/>
                  <a:pt x="34715" y="0"/>
                </a:cubicBezTo>
                <a:lnTo>
                  <a:pt x="131918" y="0"/>
                </a:lnTo>
                <a:cubicBezTo>
                  <a:pt x="147236" y="0"/>
                  <a:pt x="159690" y="12454"/>
                  <a:pt x="159690" y="27772"/>
                </a:cubicBezTo>
                <a:lnTo>
                  <a:pt x="159690" y="194405"/>
                </a:lnTo>
                <a:cubicBezTo>
                  <a:pt x="159690" y="209724"/>
                  <a:pt x="147236" y="222178"/>
                  <a:pt x="131918" y="222178"/>
                </a:cubicBezTo>
                <a:lnTo>
                  <a:pt x="34715" y="222178"/>
                </a:lnTo>
                <a:cubicBezTo>
                  <a:pt x="19397" y="222178"/>
                  <a:pt x="6943" y="209724"/>
                  <a:pt x="6943" y="194405"/>
                </a:cubicBezTo>
                <a:lnTo>
                  <a:pt x="6943" y="27772"/>
                </a:lnTo>
                <a:close/>
                <a:moveTo>
                  <a:pt x="34715" y="27772"/>
                </a:moveTo>
                <a:lnTo>
                  <a:pt x="34715" y="159690"/>
                </a:lnTo>
                <a:lnTo>
                  <a:pt x="131918" y="159690"/>
                </a:lnTo>
                <a:lnTo>
                  <a:pt x="131918" y="27772"/>
                </a:lnTo>
                <a:lnTo>
                  <a:pt x="34715" y="27772"/>
                </a:lnTo>
                <a:close/>
                <a:moveTo>
                  <a:pt x="83317" y="204820"/>
                </a:moveTo>
                <a:cubicBezTo>
                  <a:pt x="90997" y="204820"/>
                  <a:pt x="97203" y="198615"/>
                  <a:pt x="97203" y="190934"/>
                </a:cubicBezTo>
                <a:cubicBezTo>
                  <a:pt x="97203" y="183253"/>
                  <a:pt x="90997" y="177048"/>
                  <a:pt x="83317" y="177048"/>
                </a:cubicBezTo>
                <a:cubicBezTo>
                  <a:pt x="75636" y="177048"/>
                  <a:pt x="69431" y="183253"/>
                  <a:pt x="69431" y="190934"/>
                </a:cubicBezTo>
                <a:cubicBezTo>
                  <a:pt x="69431" y="198615"/>
                  <a:pt x="75636" y="204820"/>
                  <a:pt x="83317" y="20482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Text 24"/>
          <p:cNvSpPr/>
          <p:nvPr/>
        </p:nvSpPr>
        <p:spPr>
          <a:xfrm>
            <a:off x="6956592" y="1507106"/>
            <a:ext cx="1203462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线上预约平台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27088" y="2007005"/>
            <a:ext cx="5415581" cy="481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dirty="0">
                <a:solidFill>
                  <a:srgbClr val="E0E2E5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开发微信小程序，实现一键报修、价格查询、进度追踪，让用户享受便捷的服务体验。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27088" y="2599479"/>
            <a:ext cx="5341522" cy="555444"/>
          </a:xfrm>
          <a:custGeom>
            <a:avLst/>
            <a:gdLst/>
            <a:ahLst/>
            <a:cxnLst/>
            <a:rect l="l" t="t" r="r" b="b"/>
            <a:pathLst>
              <a:path w="5341522" h="555444">
                <a:moveTo>
                  <a:pt x="74057" y="0"/>
                </a:moveTo>
                <a:lnTo>
                  <a:pt x="5267464" y="0"/>
                </a:lnTo>
                <a:cubicBezTo>
                  <a:pt x="5308365" y="0"/>
                  <a:pt x="5341522" y="33157"/>
                  <a:pt x="5341522" y="74057"/>
                </a:cubicBezTo>
                <a:lnTo>
                  <a:pt x="5341522" y="481387"/>
                </a:lnTo>
                <a:cubicBezTo>
                  <a:pt x="5341522" y="522288"/>
                  <a:pt x="5308365" y="555444"/>
                  <a:pt x="5267464" y="555444"/>
                </a:cubicBezTo>
                <a:lnTo>
                  <a:pt x="74057" y="555444"/>
                </a:lnTo>
                <a:cubicBezTo>
                  <a:pt x="33184" y="555444"/>
                  <a:pt x="0" y="522260"/>
                  <a:pt x="0" y="481387"/>
                </a:cubicBezTo>
                <a:lnTo>
                  <a:pt x="0" y="74057"/>
                </a:lnTo>
                <a:cubicBezTo>
                  <a:pt x="0" y="33184"/>
                  <a:pt x="33184" y="0"/>
                  <a:pt x="74057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424291" y="2710568"/>
            <a:ext cx="166633" cy="166633"/>
          </a:xfrm>
          <a:custGeom>
            <a:avLst/>
            <a:gdLst/>
            <a:ahLst/>
            <a:cxnLst/>
            <a:rect l="l" t="t" r="r" b="b"/>
            <a:pathLst>
              <a:path w="166633" h="166633">
                <a:moveTo>
                  <a:pt x="83317" y="166633"/>
                </a:moveTo>
                <a:cubicBezTo>
                  <a:pt x="129300" y="166633"/>
                  <a:pt x="166633" y="129300"/>
                  <a:pt x="166633" y="83317"/>
                </a:cubicBezTo>
                <a:cubicBezTo>
                  <a:pt x="166633" y="37333"/>
                  <a:pt x="129300" y="0"/>
                  <a:pt x="83317" y="0"/>
                </a:cubicBezTo>
                <a:cubicBezTo>
                  <a:pt x="37333" y="0"/>
                  <a:pt x="0" y="37333"/>
                  <a:pt x="0" y="83317"/>
                </a:cubicBezTo>
                <a:cubicBezTo>
                  <a:pt x="0" y="129300"/>
                  <a:pt x="37333" y="166633"/>
                  <a:pt x="83317" y="166633"/>
                </a:cubicBezTo>
                <a:close/>
                <a:moveTo>
                  <a:pt x="110785" y="69224"/>
                </a:moveTo>
                <a:lnTo>
                  <a:pt x="84749" y="110883"/>
                </a:lnTo>
                <a:cubicBezTo>
                  <a:pt x="83382" y="113063"/>
                  <a:pt x="81038" y="114430"/>
                  <a:pt x="78467" y="114560"/>
                </a:cubicBezTo>
                <a:cubicBezTo>
                  <a:pt x="75896" y="114691"/>
                  <a:pt x="73423" y="113519"/>
                  <a:pt x="71893" y="111436"/>
                </a:cubicBezTo>
                <a:lnTo>
                  <a:pt x="56271" y="90607"/>
                </a:lnTo>
                <a:cubicBezTo>
                  <a:pt x="53668" y="87157"/>
                  <a:pt x="54384" y="82275"/>
                  <a:pt x="57833" y="79672"/>
                </a:cubicBezTo>
                <a:cubicBezTo>
                  <a:pt x="61283" y="77068"/>
                  <a:pt x="66165" y="77784"/>
                  <a:pt x="68769" y="81234"/>
                </a:cubicBezTo>
                <a:lnTo>
                  <a:pt x="77556" y="92950"/>
                </a:lnTo>
                <a:lnTo>
                  <a:pt x="97539" y="60958"/>
                </a:lnTo>
                <a:cubicBezTo>
                  <a:pt x="99817" y="57313"/>
                  <a:pt x="104634" y="56174"/>
                  <a:pt x="108312" y="58484"/>
                </a:cubicBezTo>
                <a:cubicBezTo>
                  <a:pt x="111989" y="60795"/>
                  <a:pt x="113096" y="65579"/>
                  <a:pt x="110785" y="69257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528" y="2673538"/>
            <a:ext cx="2277321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一键报修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20528" y="2895716"/>
            <a:ext cx="2268064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快速填写故障信息，自动匹配技术师傅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27088" y="3228983"/>
            <a:ext cx="5341522" cy="555444"/>
          </a:xfrm>
          <a:custGeom>
            <a:avLst/>
            <a:gdLst/>
            <a:ahLst/>
            <a:cxnLst/>
            <a:rect l="l" t="t" r="r" b="b"/>
            <a:pathLst>
              <a:path w="5341522" h="555444">
                <a:moveTo>
                  <a:pt x="74057" y="0"/>
                </a:moveTo>
                <a:lnTo>
                  <a:pt x="5267464" y="0"/>
                </a:lnTo>
                <a:cubicBezTo>
                  <a:pt x="5308365" y="0"/>
                  <a:pt x="5341522" y="33157"/>
                  <a:pt x="5341522" y="74057"/>
                </a:cubicBezTo>
                <a:lnTo>
                  <a:pt x="5341522" y="481387"/>
                </a:lnTo>
                <a:cubicBezTo>
                  <a:pt x="5341522" y="522288"/>
                  <a:pt x="5308365" y="555444"/>
                  <a:pt x="5267464" y="555444"/>
                </a:cubicBezTo>
                <a:lnTo>
                  <a:pt x="74057" y="555444"/>
                </a:lnTo>
                <a:cubicBezTo>
                  <a:pt x="33184" y="555444"/>
                  <a:pt x="0" y="522260"/>
                  <a:pt x="0" y="481387"/>
                </a:cubicBezTo>
                <a:lnTo>
                  <a:pt x="0" y="74057"/>
                </a:lnTo>
                <a:cubicBezTo>
                  <a:pt x="0" y="33184"/>
                  <a:pt x="33184" y="0"/>
                  <a:pt x="74057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424291" y="3340072"/>
            <a:ext cx="166633" cy="166633"/>
          </a:xfrm>
          <a:custGeom>
            <a:avLst/>
            <a:gdLst/>
            <a:ahLst/>
            <a:cxnLst/>
            <a:rect l="l" t="t" r="r" b="b"/>
            <a:pathLst>
              <a:path w="166633" h="166633">
                <a:moveTo>
                  <a:pt x="83317" y="166633"/>
                </a:moveTo>
                <a:cubicBezTo>
                  <a:pt x="129300" y="166633"/>
                  <a:pt x="166633" y="129300"/>
                  <a:pt x="166633" y="83317"/>
                </a:cubicBezTo>
                <a:cubicBezTo>
                  <a:pt x="166633" y="37333"/>
                  <a:pt x="129300" y="0"/>
                  <a:pt x="83317" y="0"/>
                </a:cubicBezTo>
                <a:cubicBezTo>
                  <a:pt x="37333" y="0"/>
                  <a:pt x="0" y="37333"/>
                  <a:pt x="0" y="83317"/>
                </a:cubicBezTo>
                <a:cubicBezTo>
                  <a:pt x="0" y="129300"/>
                  <a:pt x="37333" y="166633"/>
                  <a:pt x="83317" y="166633"/>
                </a:cubicBezTo>
                <a:close/>
                <a:moveTo>
                  <a:pt x="110785" y="69224"/>
                </a:moveTo>
                <a:lnTo>
                  <a:pt x="84749" y="110883"/>
                </a:lnTo>
                <a:cubicBezTo>
                  <a:pt x="83382" y="113063"/>
                  <a:pt x="81038" y="114430"/>
                  <a:pt x="78467" y="114560"/>
                </a:cubicBezTo>
                <a:cubicBezTo>
                  <a:pt x="75896" y="114691"/>
                  <a:pt x="73423" y="113519"/>
                  <a:pt x="71893" y="111436"/>
                </a:cubicBezTo>
                <a:lnTo>
                  <a:pt x="56271" y="90607"/>
                </a:lnTo>
                <a:cubicBezTo>
                  <a:pt x="53668" y="87157"/>
                  <a:pt x="54384" y="82275"/>
                  <a:pt x="57833" y="79672"/>
                </a:cubicBezTo>
                <a:cubicBezTo>
                  <a:pt x="61283" y="77068"/>
                  <a:pt x="66165" y="77784"/>
                  <a:pt x="68769" y="81234"/>
                </a:cubicBezTo>
                <a:lnTo>
                  <a:pt x="77556" y="92950"/>
                </a:lnTo>
                <a:lnTo>
                  <a:pt x="97539" y="60958"/>
                </a:lnTo>
                <a:cubicBezTo>
                  <a:pt x="99817" y="57313"/>
                  <a:pt x="104634" y="56174"/>
                  <a:pt x="108312" y="58484"/>
                </a:cubicBezTo>
                <a:cubicBezTo>
                  <a:pt x="111989" y="60795"/>
                  <a:pt x="113096" y="65579"/>
                  <a:pt x="110785" y="69257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528" y="3303042"/>
            <a:ext cx="2018114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价格查询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20528" y="3525220"/>
            <a:ext cx="2008856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服务价格透明公开，杜绝临时加价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27088" y="3858486"/>
            <a:ext cx="5341522" cy="555444"/>
          </a:xfrm>
          <a:custGeom>
            <a:avLst/>
            <a:gdLst/>
            <a:ahLst/>
            <a:cxnLst/>
            <a:rect l="l" t="t" r="r" b="b"/>
            <a:pathLst>
              <a:path w="5341522" h="555444">
                <a:moveTo>
                  <a:pt x="74057" y="0"/>
                </a:moveTo>
                <a:lnTo>
                  <a:pt x="5267464" y="0"/>
                </a:lnTo>
                <a:cubicBezTo>
                  <a:pt x="5308365" y="0"/>
                  <a:pt x="5341522" y="33157"/>
                  <a:pt x="5341522" y="74057"/>
                </a:cubicBezTo>
                <a:lnTo>
                  <a:pt x="5341522" y="481387"/>
                </a:lnTo>
                <a:cubicBezTo>
                  <a:pt x="5341522" y="522288"/>
                  <a:pt x="5308365" y="555444"/>
                  <a:pt x="5267464" y="555444"/>
                </a:cubicBezTo>
                <a:lnTo>
                  <a:pt x="74057" y="555444"/>
                </a:lnTo>
                <a:cubicBezTo>
                  <a:pt x="33184" y="555444"/>
                  <a:pt x="0" y="522260"/>
                  <a:pt x="0" y="481387"/>
                </a:cubicBezTo>
                <a:lnTo>
                  <a:pt x="0" y="74057"/>
                </a:lnTo>
                <a:cubicBezTo>
                  <a:pt x="0" y="33184"/>
                  <a:pt x="33184" y="0"/>
                  <a:pt x="74057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24291" y="3969575"/>
            <a:ext cx="166633" cy="166633"/>
          </a:xfrm>
          <a:custGeom>
            <a:avLst/>
            <a:gdLst/>
            <a:ahLst/>
            <a:cxnLst/>
            <a:rect l="l" t="t" r="r" b="b"/>
            <a:pathLst>
              <a:path w="166633" h="166633">
                <a:moveTo>
                  <a:pt x="83317" y="166633"/>
                </a:moveTo>
                <a:cubicBezTo>
                  <a:pt x="129300" y="166633"/>
                  <a:pt x="166633" y="129300"/>
                  <a:pt x="166633" y="83317"/>
                </a:cubicBezTo>
                <a:cubicBezTo>
                  <a:pt x="166633" y="37333"/>
                  <a:pt x="129300" y="0"/>
                  <a:pt x="83317" y="0"/>
                </a:cubicBezTo>
                <a:cubicBezTo>
                  <a:pt x="37333" y="0"/>
                  <a:pt x="0" y="37333"/>
                  <a:pt x="0" y="83317"/>
                </a:cubicBezTo>
                <a:cubicBezTo>
                  <a:pt x="0" y="129300"/>
                  <a:pt x="37333" y="166633"/>
                  <a:pt x="83317" y="166633"/>
                </a:cubicBezTo>
                <a:close/>
                <a:moveTo>
                  <a:pt x="110785" y="69224"/>
                </a:moveTo>
                <a:lnTo>
                  <a:pt x="84749" y="110883"/>
                </a:lnTo>
                <a:cubicBezTo>
                  <a:pt x="83382" y="113063"/>
                  <a:pt x="81038" y="114430"/>
                  <a:pt x="78467" y="114560"/>
                </a:cubicBezTo>
                <a:cubicBezTo>
                  <a:pt x="75896" y="114691"/>
                  <a:pt x="73423" y="113519"/>
                  <a:pt x="71893" y="111436"/>
                </a:cubicBezTo>
                <a:lnTo>
                  <a:pt x="56271" y="90607"/>
                </a:lnTo>
                <a:cubicBezTo>
                  <a:pt x="53668" y="87157"/>
                  <a:pt x="54384" y="82275"/>
                  <a:pt x="57833" y="79672"/>
                </a:cubicBezTo>
                <a:cubicBezTo>
                  <a:pt x="61283" y="77068"/>
                  <a:pt x="66165" y="77784"/>
                  <a:pt x="68769" y="81234"/>
                </a:cubicBezTo>
                <a:lnTo>
                  <a:pt x="77556" y="92950"/>
                </a:lnTo>
                <a:lnTo>
                  <a:pt x="97539" y="60958"/>
                </a:lnTo>
                <a:cubicBezTo>
                  <a:pt x="99817" y="57313"/>
                  <a:pt x="104634" y="56174"/>
                  <a:pt x="108312" y="58484"/>
                </a:cubicBezTo>
                <a:cubicBezTo>
                  <a:pt x="111989" y="60795"/>
                  <a:pt x="113096" y="65579"/>
                  <a:pt x="110785" y="69257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8" name="Text 36"/>
          <p:cNvSpPr/>
          <p:nvPr/>
        </p:nvSpPr>
        <p:spPr>
          <a:xfrm>
            <a:off x="6720528" y="3932545"/>
            <a:ext cx="2147718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进度追踪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20528" y="4154723"/>
            <a:ext cx="2138460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实时查看维修进度，全程录像可追溯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27088" y="4487990"/>
            <a:ext cx="5341522" cy="555444"/>
          </a:xfrm>
          <a:custGeom>
            <a:avLst/>
            <a:gdLst/>
            <a:ahLst/>
            <a:cxnLst/>
            <a:rect l="l" t="t" r="r" b="b"/>
            <a:pathLst>
              <a:path w="5341522" h="555444">
                <a:moveTo>
                  <a:pt x="74057" y="0"/>
                </a:moveTo>
                <a:lnTo>
                  <a:pt x="5267464" y="0"/>
                </a:lnTo>
                <a:cubicBezTo>
                  <a:pt x="5308365" y="0"/>
                  <a:pt x="5341522" y="33157"/>
                  <a:pt x="5341522" y="74057"/>
                </a:cubicBezTo>
                <a:lnTo>
                  <a:pt x="5341522" y="481387"/>
                </a:lnTo>
                <a:cubicBezTo>
                  <a:pt x="5341522" y="522288"/>
                  <a:pt x="5308365" y="555444"/>
                  <a:pt x="5267464" y="555444"/>
                </a:cubicBezTo>
                <a:lnTo>
                  <a:pt x="74057" y="555444"/>
                </a:lnTo>
                <a:cubicBezTo>
                  <a:pt x="33184" y="555444"/>
                  <a:pt x="0" y="522260"/>
                  <a:pt x="0" y="481387"/>
                </a:cubicBezTo>
                <a:lnTo>
                  <a:pt x="0" y="74057"/>
                </a:lnTo>
                <a:cubicBezTo>
                  <a:pt x="0" y="33184"/>
                  <a:pt x="33184" y="0"/>
                  <a:pt x="74057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424291" y="4599078"/>
            <a:ext cx="166633" cy="166633"/>
          </a:xfrm>
          <a:custGeom>
            <a:avLst/>
            <a:gdLst/>
            <a:ahLst/>
            <a:cxnLst/>
            <a:rect l="l" t="t" r="r" b="b"/>
            <a:pathLst>
              <a:path w="166633" h="166633">
                <a:moveTo>
                  <a:pt x="83317" y="166633"/>
                </a:moveTo>
                <a:cubicBezTo>
                  <a:pt x="129300" y="166633"/>
                  <a:pt x="166633" y="129300"/>
                  <a:pt x="166633" y="83317"/>
                </a:cubicBezTo>
                <a:cubicBezTo>
                  <a:pt x="166633" y="37333"/>
                  <a:pt x="129300" y="0"/>
                  <a:pt x="83317" y="0"/>
                </a:cubicBezTo>
                <a:cubicBezTo>
                  <a:pt x="37333" y="0"/>
                  <a:pt x="0" y="37333"/>
                  <a:pt x="0" y="83317"/>
                </a:cubicBezTo>
                <a:cubicBezTo>
                  <a:pt x="0" y="129300"/>
                  <a:pt x="37333" y="166633"/>
                  <a:pt x="83317" y="166633"/>
                </a:cubicBezTo>
                <a:close/>
                <a:moveTo>
                  <a:pt x="110785" y="69224"/>
                </a:moveTo>
                <a:lnTo>
                  <a:pt x="84749" y="110883"/>
                </a:lnTo>
                <a:cubicBezTo>
                  <a:pt x="83382" y="113063"/>
                  <a:pt x="81038" y="114430"/>
                  <a:pt x="78467" y="114560"/>
                </a:cubicBezTo>
                <a:cubicBezTo>
                  <a:pt x="75896" y="114691"/>
                  <a:pt x="73423" y="113519"/>
                  <a:pt x="71893" y="111436"/>
                </a:cubicBezTo>
                <a:lnTo>
                  <a:pt x="56271" y="90607"/>
                </a:lnTo>
                <a:cubicBezTo>
                  <a:pt x="53668" y="87157"/>
                  <a:pt x="54384" y="82275"/>
                  <a:pt x="57833" y="79672"/>
                </a:cubicBezTo>
                <a:cubicBezTo>
                  <a:pt x="61283" y="77068"/>
                  <a:pt x="66165" y="77784"/>
                  <a:pt x="68769" y="81234"/>
                </a:cubicBezTo>
                <a:lnTo>
                  <a:pt x="77556" y="92950"/>
                </a:lnTo>
                <a:lnTo>
                  <a:pt x="97539" y="60958"/>
                </a:lnTo>
                <a:cubicBezTo>
                  <a:pt x="99817" y="57313"/>
                  <a:pt x="104634" y="56174"/>
                  <a:pt x="108312" y="58484"/>
                </a:cubicBezTo>
                <a:cubicBezTo>
                  <a:pt x="111989" y="60795"/>
                  <a:pt x="113096" y="65579"/>
                  <a:pt x="110785" y="69257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42" name="Text 40"/>
          <p:cNvSpPr/>
          <p:nvPr/>
        </p:nvSpPr>
        <p:spPr>
          <a:xfrm>
            <a:off x="6720528" y="4562049"/>
            <a:ext cx="1888510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在线支付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20528" y="4784226"/>
            <a:ext cx="1879253" cy="185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1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维修完成后在线支付，安全便捷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75267" y="5313750"/>
            <a:ext cx="5645164" cy="1544135"/>
          </a:xfrm>
          <a:custGeom>
            <a:avLst/>
            <a:gdLst/>
            <a:ahLst/>
            <a:cxnLst/>
            <a:rect l="l" t="t" r="r" b="b"/>
            <a:pathLst>
              <a:path w="5645164" h="1544135">
                <a:moveTo>
                  <a:pt x="111085" y="0"/>
                </a:moveTo>
                <a:lnTo>
                  <a:pt x="5534079" y="0"/>
                </a:lnTo>
                <a:cubicBezTo>
                  <a:pt x="5595430" y="0"/>
                  <a:pt x="5645164" y="49734"/>
                  <a:pt x="5645164" y="111085"/>
                </a:cubicBezTo>
                <a:lnTo>
                  <a:pt x="5645164" y="1433050"/>
                </a:lnTo>
                <a:cubicBezTo>
                  <a:pt x="5645164" y="1494400"/>
                  <a:pt x="5595430" y="1544135"/>
                  <a:pt x="5534079" y="1544135"/>
                </a:cubicBezTo>
                <a:lnTo>
                  <a:pt x="111085" y="1544135"/>
                </a:lnTo>
                <a:cubicBezTo>
                  <a:pt x="49734" y="1544135"/>
                  <a:pt x="0" y="1494400"/>
                  <a:pt x="0" y="1433050"/>
                </a:cubicBezTo>
                <a:lnTo>
                  <a:pt x="0" y="111085"/>
                </a:lnTo>
                <a:cubicBezTo>
                  <a:pt x="0" y="49776"/>
                  <a:pt x="49776" y="0"/>
                  <a:pt x="111085" y="0"/>
                </a:cubicBezTo>
                <a:close/>
              </a:path>
            </a:pathLst>
          </a:custGeom>
          <a:gradFill rotWithShape="1" flip="none">
            <a:gsLst>
              <a:gs pos="0">
                <a:srgbClr val="D9A477">
                  <a:alpha val="25000"/>
                </a:srgbClr>
              </a:gs>
              <a:gs pos="100000">
                <a:srgbClr val="D9A477">
                  <a:alpha val="5000"/>
                </a:srgbClr>
              </a:gs>
            </a:gsLst>
            <a:lin ang="2700000" scaled="1"/>
          </a:gradFill>
          <a:ln w="10160">
            <a:solidFill>
              <a:srgbClr val="D9A477">
                <a:alpha val="5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61803" y="5502600"/>
            <a:ext cx="162005" cy="185148"/>
          </a:xfrm>
          <a:custGeom>
            <a:avLst/>
            <a:gdLst/>
            <a:ahLst/>
            <a:cxnLst/>
            <a:rect l="l" t="t" r="r" b="b"/>
            <a:pathLst>
              <a:path w="162005" h="185148">
                <a:moveTo>
                  <a:pt x="23144" y="11572"/>
                </a:moveTo>
                <a:cubicBezTo>
                  <a:pt x="23144" y="5171"/>
                  <a:pt x="17972" y="0"/>
                  <a:pt x="11572" y="0"/>
                </a:cubicBezTo>
                <a:cubicBezTo>
                  <a:pt x="5171" y="0"/>
                  <a:pt x="0" y="5171"/>
                  <a:pt x="0" y="11572"/>
                </a:cubicBezTo>
                <a:lnTo>
                  <a:pt x="0" y="173576"/>
                </a:lnTo>
                <a:cubicBezTo>
                  <a:pt x="0" y="179977"/>
                  <a:pt x="5171" y="185148"/>
                  <a:pt x="11572" y="185148"/>
                </a:cubicBezTo>
                <a:cubicBezTo>
                  <a:pt x="17972" y="185148"/>
                  <a:pt x="23144" y="179977"/>
                  <a:pt x="23144" y="173576"/>
                </a:cubicBezTo>
                <a:lnTo>
                  <a:pt x="23144" y="129604"/>
                </a:lnTo>
                <a:lnTo>
                  <a:pt x="45817" y="122805"/>
                </a:lnTo>
                <a:cubicBezTo>
                  <a:pt x="60969" y="118249"/>
                  <a:pt x="77314" y="119659"/>
                  <a:pt x="91453" y="126747"/>
                </a:cubicBezTo>
                <a:cubicBezTo>
                  <a:pt x="106894" y="134485"/>
                  <a:pt x="124903" y="135426"/>
                  <a:pt x="141067" y="129351"/>
                </a:cubicBezTo>
                <a:lnTo>
                  <a:pt x="154483" y="124324"/>
                </a:lnTo>
                <a:cubicBezTo>
                  <a:pt x="159003" y="122624"/>
                  <a:pt x="162005" y="118321"/>
                  <a:pt x="162005" y="113476"/>
                </a:cubicBezTo>
                <a:lnTo>
                  <a:pt x="162005" y="23903"/>
                </a:lnTo>
                <a:cubicBezTo>
                  <a:pt x="162005" y="15586"/>
                  <a:pt x="153253" y="10161"/>
                  <a:pt x="145804" y="13886"/>
                </a:cubicBezTo>
                <a:lnTo>
                  <a:pt x="141537" y="16020"/>
                </a:lnTo>
                <a:cubicBezTo>
                  <a:pt x="125300" y="24156"/>
                  <a:pt x="106171" y="24156"/>
                  <a:pt x="89898" y="16020"/>
                </a:cubicBezTo>
                <a:cubicBezTo>
                  <a:pt x="76735" y="9438"/>
                  <a:pt x="61583" y="8136"/>
                  <a:pt x="47517" y="12367"/>
                </a:cubicBezTo>
                <a:lnTo>
                  <a:pt x="23144" y="19672"/>
                </a:lnTo>
                <a:lnTo>
                  <a:pt x="23144" y="11572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46" name="Text 44"/>
          <p:cNvSpPr/>
          <p:nvPr/>
        </p:nvSpPr>
        <p:spPr>
          <a:xfrm>
            <a:off x="6558523" y="5465570"/>
            <a:ext cx="5202661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8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企业愿景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27088" y="5909925"/>
            <a:ext cx="74059" cy="74059"/>
          </a:xfrm>
          <a:custGeom>
            <a:avLst/>
            <a:gdLst/>
            <a:ahLst/>
            <a:cxnLst/>
            <a:rect l="l" t="t" r="r" b="b"/>
            <a:pathLst>
              <a:path w="74059" h="74059">
                <a:moveTo>
                  <a:pt x="37030" y="0"/>
                </a:moveTo>
                <a:lnTo>
                  <a:pt x="37030" y="0"/>
                </a:lnTo>
                <a:cubicBezTo>
                  <a:pt x="57481" y="0"/>
                  <a:pt x="74059" y="16579"/>
                  <a:pt x="74059" y="37030"/>
                </a:cubicBezTo>
                <a:lnTo>
                  <a:pt x="74059" y="37030"/>
                </a:lnTo>
                <a:cubicBezTo>
                  <a:pt x="74059" y="57481"/>
                  <a:pt x="57481" y="74059"/>
                  <a:pt x="37030" y="74059"/>
                </a:cubicBezTo>
                <a:lnTo>
                  <a:pt x="37030" y="74059"/>
                </a:lnTo>
                <a:cubicBezTo>
                  <a:pt x="16579" y="74059"/>
                  <a:pt x="0" y="57481"/>
                  <a:pt x="0" y="37030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48" name="Text 46"/>
          <p:cNvSpPr/>
          <p:nvPr/>
        </p:nvSpPr>
        <p:spPr>
          <a:xfrm>
            <a:off x="6512236" y="5835866"/>
            <a:ext cx="4073257" cy="240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短期目标：</a:t>
            </a:r>
            <a:pPr>
              <a:lnSpc>
                <a:spcPct val="140000"/>
              </a:lnSpc>
            </a:pPr>
            <a:r>
              <a:rPr lang="en-US" sz="1166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成为本校师生解决电脑维修与二手置换的首选平台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27088" y="6224677"/>
            <a:ext cx="74059" cy="74059"/>
          </a:xfrm>
          <a:custGeom>
            <a:avLst/>
            <a:gdLst/>
            <a:ahLst/>
            <a:cxnLst/>
            <a:rect l="l" t="t" r="r" b="b"/>
            <a:pathLst>
              <a:path w="74059" h="74059">
                <a:moveTo>
                  <a:pt x="37030" y="0"/>
                </a:moveTo>
                <a:lnTo>
                  <a:pt x="37030" y="0"/>
                </a:lnTo>
                <a:cubicBezTo>
                  <a:pt x="57481" y="0"/>
                  <a:pt x="74059" y="16579"/>
                  <a:pt x="74059" y="37030"/>
                </a:cubicBezTo>
                <a:lnTo>
                  <a:pt x="74059" y="37030"/>
                </a:lnTo>
                <a:cubicBezTo>
                  <a:pt x="74059" y="57481"/>
                  <a:pt x="57481" y="74059"/>
                  <a:pt x="37030" y="74059"/>
                </a:cubicBezTo>
                <a:lnTo>
                  <a:pt x="37030" y="74059"/>
                </a:lnTo>
                <a:cubicBezTo>
                  <a:pt x="16579" y="74059"/>
                  <a:pt x="0" y="57481"/>
                  <a:pt x="0" y="37030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50" name="Text 48"/>
          <p:cNvSpPr/>
          <p:nvPr/>
        </p:nvSpPr>
        <p:spPr>
          <a:xfrm>
            <a:off x="6512236" y="6150618"/>
            <a:ext cx="4369494" cy="240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长期愿景：</a:t>
            </a:r>
            <a:pPr>
              <a:lnSpc>
                <a:spcPct val="140000"/>
              </a:lnSpc>
            </a:pPr>
            <a:r>
              <a:rPr lang="en-US" sz="1166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输出标准化的校园技术服务模式，向周边高校复制推广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27088" y="6539429"/>
            <a:ext cx="74059" cy="74059"/>
          </a:xfrm>
          <a:custGeom>
            <a:avLst/>
            <a:gdLst/>
            <a:ahLst/>
            <a:cxnLst/>
            <a:rect l="l" t="t" r="r" b="b"/>
            <a:pathLst>
              <a:path w="74059" h="74059">
                <a:moveTo>
                  <a:pt x="37030" y="0"/>
                </a:moveTo>
                <a:lnTo>
                  <a:pt x="37030" y="0"/>
                </a:lnTo>
                <a:cubicBezTo>
                  <a:pt x="57481" y="0"/>
                  <a:pt x="74059" y="16579"/>
                  <a:pt x="74059" y="37030"/>
                </a:cubicBezTo>
                <a:lnTo>
                  <a:pt x="74059" y="37030"/>
                </a:lnTo>
                <a:cubicBezTo>
                  <a:pt x="74059" y="57481"/>
                  <a:pt x="57481" y="74059"/>
                  <a:pt x="37030" y="74059"/>
                </a:cubicBezTo>
                <a:lnTo>
                  <a:pt x="37030" y="74059"/>
                </a:lnTo>
                <a:cubicBezTo>
                  <a:pt x="16579" y="74059"/>
                  <a:pt x="0" y="57481"/>
                  <a:pt x="0" y="37030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52" name="Text 50"/>
          <p:cNvSpPr/>
          <p:nvPr/>
        </p:nvSpPr>
        <p:spPr>
          <a:xfrm>
            <a:off x="6512236" y="6465369"/>
            <a:ext cx="3332665" cy="240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6" b="1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终极使命：</a:t>
            </a:r>
            <a:pPr>
              <a:lnSpc>
                <a:spcPct val="140000"/>
              </a:lnSpc>
            </a:pPr>
            <a:r>
              <a:rPr lang="en-US" sz="1166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构建区域性的大学生数码生活服务网络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406" y="494527"/>
            <a:ext cx="456487" cy="38041"/>
          </a:xfrm>
          <a:custGeom>
            <a:avLst/>
            <a:gdLst/>
            <a:ahLst/>
            <a:cxnLst/>
            <a:rect l="l" t="t" r="r" b="b"/>
            <a:pathLst>
              <a:path w="456487" h="38041">
                <a:moveTo>
                  <a:pt x="0" y="0"/>
                </a:moveTo>
                <a:lnTo>
                  <a:pt x="456487" y="0"/>
                </a:lnTo>
                <a:lnTo>
                  <a:pt x="456487" y="38041"/>
                </a:lnTo>
                <a:lnTo>
                  <a:pt x="0" y="38041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" name="Text 1"/>
          <p:cNvSpPr/>
          <p:nvPr/>
        </p:nvSpPr>
        <p:spPr>
          <a:xfrm>
            <a:off x="989055" y="380406"/>
            <a:ext cx="817872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8" b="1" spc="67" kern="0" dirty="0">
                <a:solidFill>
                  <a:srgbClr val="D9A4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0406" y="722771"/>
            <a:ext cx="11602371" cy="38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96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市场规模与目标用户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210" y="1259143"/>
            <a:ext cx="3697543" cy="3450279"/>
          </a:xfrm>
          <a:custGeom>
            <a:avLst/>
            <a:gdLst/>
            <a:ahLst/>
            <a:cxnLst/>
            <a:rect l="l" t="t" r="r" b="b"/>
            <a:pathLst>
              <a:path w="3697543" h="3450279">
                <a:moveTo>
                  <a:pt x="114135" y="0"/>
                </a:moveTo>
                <a:lnTo>
                  <a:pt x="3583407" y="0"/>
                </a:lnTo>
                <a:cubicBezTo>
                  <a:pt x="3646443" y="0"/>
                  <a:pt x="3697543" y="51100"/>
                  <a:pt x="3697543" y="114135"/>
                </a:cubicBezTo>
                <a:lnTo>
                  <a:pt x="3697543" y="3336144"/>
                </a:lnTo>
                <a:cubicBezTo>
                  <a:pt x="3697543" y="3399179"/>
                  <a:pt x="3646443" y="3450279"/>
                  <a:pt x="3583407" y="3450279"/>
                </a:cubicBezTo>
                <a:lnTo>
                  <a:pt x="114135" y="3450279"/>
                </a:lnTo>
                <a:cubicBezTo>
                  <a:pt x="51100" y="3450279"/>
                  <a:pt x="0" y="3399179"/>
                  <a:pt x="0" y="3336144"/>
                </a:cubicBezTo>
                <a:lnTo>
                  <a:pt x="0" y="114135"/>
                </a:lnTo>
                <a:cubicBezTo>
                  <a:pt x="0" y="51142"/>
                  <a:pt x="51142" y="0"/>
                  <a:pt x="114135" y="0"/>
                </a:cubicBezTo>
                <a:close/>
              </a:path>
            </a:pathLst>
          </a:custGeom>
          <a:gradFill rotWithShape="1" flip="none">
            <a:gsLst>
              <a:gs pos="0">
                <a:srgbClr val="3C8082">
                  <a:alpha val="20000"/>
                </a:srgbClr>
              </a:gs>
              <a:gs pos="100000">
                <a:srgbClr val="3C8082">
                  <a:alpha val="5000"/>
                </a:srgbClr>
              </a:gs>
            </a:gsLst>
            <a:lin ang="2700000" scaled="1"/>
          </a:gradFill>
          <a:ln w="10160">
            <a:solidFill>
              <a:srgbClr val="3C8082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3951" y="1453150"/>
            <a:ext cx="190203" cy="190203"/>
          </a:xfrm>
          <a:custGeom>
            <a:avLst/>
            <a:gdLst/>
            <a:ahLst/>
            <a:cxnLst/>
            <a:rect l="l" t="t" r="r" b="b"/>
            <a:pathLst>
              <a:path w="190203" h="190203">
                <a:moveTo>
                  <a:pt x="23775" y="23775"/>
                </a:moveTo>
                <a:cubicBezTo>
                  <a:pt x="23775" y="17200"/>
                  <a:pt x="18463" y="11888"/>
                  <a:pt x="11888" y="11888"/>
                </a:cubicBezTo>
                <a:cubicBezTo>
                  <a:pt x="5312" y="11888"/>
                  <a:pt x="0" y="17200"/>
                  <a:pt x="0" y="23775"/>
                </a:cubicBezTo>
                <a:lnTo>
                  <a:pt x="0" y="148596"/>
                </a:lnTo>
                <a:cubicBezTo>
                  <a:pt x="0" y="165016"/>
                  <a:pt x="13299" y="178315"/>
                  <a:pt x="29719" y="178315"/>
                </a:cubicBezTo>
                <a:lnTo>
                  <a:pt x="178315" y="178315"/>
                </a:lnTo>
                <a:cubicBezTo>
                  <a:pt x="184891" y="178315"/>
                  <a:pt x="190203" y="173003"/>
                  <a:pt x="190203" y="166427"/>
                </a:cubicBezTo>
                <a:cubicBezTo>
                  <a:pt x="190203" y="159852"/>
                  <a:pt x="184891" y="154540"/>
                  <a:pt x="178315" y="154540"/>
                </a:cubicBezTo>
                <a:lnTo>
                  <a:pt x="29719" y="154540"/>
                </a:lnTo>
                <a:cubicBezTo>
                  <a:pt x="26450" y="154540"/>
                  <a:pt x="23775" y="151865"/>
                  <a:pt x="23775" y="148596"/>
                </a:cubicBezTo>
                <a:lnTo>
                  <a:pt x="23775" y="23775"/>
                </a:lnTo>
                <a:close/>
                <a:moveTo>
                  <a:pt x="174823" y="55946"/>
                </a:moveTo>
                <a:cubicBezTo>
                  <a:pt x="179467" y="51303"/>
                  <a:pt x="179467" y="43762"/>
                  <a:pt x="174823" y="39118"/>
                </a:cubicBezTo>
                <a:cubicBezTo>
                  <a:pt x="170180" y="34474"/>
                  <a:pt x="162638" y="34474"/>
                  <a:pt x="157995" y="39118"/>
                </a:cubicBezTo>
                <a:lnTo>
                  <a:pt x="118877" y="78273"/>
                </a:lnTo>
                <a:lnTo>
                  <a:pt x="97553" y="56987"/>
                </a:lnTo>
                <a:cubicBezTo>
                  <a:pt x="92910" y="52343"/>
                  <a:pt x="85368" y="52343"/>
                  <a:pt x="80725" y="56987"/>
                </a:cubicBezTo>
                <a:lnTo>
                  <a:pt x="45062" y="92650"/>
                </a:lnTo>
                <a:cubicBezTo>
                  <a:pt x="40418" y="97293"/>
                  <a:pt x="40418" y="104834"/>
                  <a:pt x="45062" y="109478"/>
                </a:cubicBezTo>
                <a:cubicBezTo>
                  <a:pt x="49705" y="114122"/>
                  <a:pt x="57247" y="114122"/>
                  <a:pt x="61890" y="109478"/>
                </a:cubicBezTo>
                <a:lnTo>
                  <a:pt x="89158" y="82211"/>
                </a:lnTo>
                <a:lnTo>
                  <a:pt x="110481" y="103534"/>
                </a:lnTo>
                <a:cubicBezTo>
                  <a:pt x="115125" y="108178"/>
                  <a:pt x="122666" y="108178"/>
                  <a:pt x="127310" y="103534"/>
                </a:cubicBezTo>
                <a:lnTo>
                  <a:pt x="174860" y="55984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7" name="Text 5"/>
          <p:cNvSpPr/>
          <p:nvPr/>
        </p:nvSpPr>
        <p:spPr>
          <a:xfrm>
            <a:off x="777929" y="1415109"/>
            <a:ext cx="3242958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8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市场容量与趋势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0176" y="1795515"/>
            <a:ext cx="380406" cy="380406"/>
          </a:xfrm>
          <a:custGeom>
            <a:avLst/>
            <a:gdLst/>
            <a:ahLst/>
            <a:cxnLst/>
            <a:rect l="l" t="t" r="r" b="b"/>
            <a:pathLst>
              <a:path w="380406" h="380406">
                <a:moveTo>
                  <a:pt x="76081" y="0"/>
                </a:moveTo>
                <a:lnTo>
                  <a:pt x="304324" y="0"/>
                </a:lnTo>
                <a:cubicBezTo>
                  <a:pt x="346343" y="0"/>
                  <a:pt x="380406" y="34063"/>
                  <a:pt x="380406" y="76081"/>
                </a:cubicBezTo>
                <a:lnTo>
                  <a:pt x="380406" y="304324"/>
                </a:lnTo>
                <a:cubicBezTo>
                  <a:pt x="380406" y="346343"/>
                  <a:pt x="346343" y="380406"/>
                  <a:pt x="304324" y="380406"/>
                </a:cubicBezTo>
                <a:lnTo>
                  <a:pt x="76081" y="380406"/>
                </a:lnTo>
                <a:cubicBezTo>
                  <a:pt x="34063" y="380406"/>
                  <a:pt x="0" y="346343"/>
                  <a:pt x="0" y="304324"/>
                </a:cubicBezTo>
                <a:lnTo>
                  <a:pt x="0" y="76081"/>
                </a:lnTo>
                <a:cubicBezTo>
                  <a:pt x="0" y="34091"/>
                  <a:pt x="34091" y="0"/>
                  <a:pt x="76081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9" name="Shape 7"/>
          <p:cNvSpPr/>
          <p:nvPr/>
        </p:nvSpPr>
        <p:spPr>
          <a:xfrm>
            <a:off x="657864" y="1900127"/>
            <a:ext cx="149785" cy="171183"/>
          </a:xfrm>
          <a:custGeom>
            <a:avLst/>
            <a:gdLst/>
            <a:ahLst/>
            <a:cxnLst/>
            <a:rect l="l" t="t" r="r" b="b"/>
            <a:pathLst>
              <a:path w="149785" h="171183">
                <a:moveTo>
                  <a:pt x="149785" y="68807"/>
                </a:moveTo>
                <a:cubicBezTo>
                  <a:pt x="144836" y="72084"/>
                  <a:pt x="139153" y="74725"/>
                  <a:pt x="133235" y="76832"/>
                </a:cubicBezTo>
                <a:cubicBezTo>
                  <a:pt x="117521" y="82448"/>
                  <a:pt x="96892" y="85591"/>
                  <a:pt x="74892" y="85591"/>
                </a:cubicBezTo>
                <a:cubicBezTo>
                  <a:pt x="52893" y="85591"/>
                  <a:pt x="32230" y="82415"/>
                  <a:pt x="16550" y="76832"/>
                </a:cubicBezTo>
                <a:cubicBezTo>
                  <a:pt x="10665" y="74725"/>
                  <a:pt x="4948" y="72084"/>
                  <a:pt x="0" y="68807"/>
                </a:cubicBezTo>
                <a:lnTo>
                  <a:pt x="0" y="96290"/>
                </a:lnTo>
                <a:cubicBezTo>
                  <a:pt x="0" y="111068"/>
                  <a:pt x="33534" y="123037"/>
                  <a:pt x="74892" y="123037"/>
                </a:cubicBezTo>
                <a:cubicBezTo>
                  <a:pt x="116250" y="123037"/>
                  <a:pt x="149785" y="111068"/>
                  <a:pt x="149785" y="96290"/>
                </a:cubicBezTo>
                <a:lnTo>
                  <a:pt x="149785" y="68807"/>
                </a:lnTo>
                <a:close/>
                <a:moveTo>
                  <a:pt x="149785" y="42796"/>
                </a:moveTo>
                <a:lnTo>
                  <a:pt x="149785" y="26747"/>
                </a:lnTo>
                <a:cubicBezTo>
                  <a:pt x="149785" y="11969"/>
                  <a:pt x="116250" y="0"/>
                  <a:pt x="74892" y="0"/>
                </a:cubicBezTo>
                <a:cubicBezTo>
                  <a:pt x="33534" y="0"/>
                  <a:pt x="0" y="11969"/>
                  <a:pt x="0" y="26747"/>
                </a:cubicBezTo>
                <a:lnTo>
                  <a:pt x="0" y="42796"/>
                </a:lnTo>
                <a:cubicBezTo>
                  <a:pt x="0" y="57573"/>
                  <a:pt x="33534" y="69543"/>
                  <a:pt x="74892" y="69543"/>
                </a:cubicBezTo>
                <a:cubicBezTo>
                  <a:pt x="116250" y="69543"/>
                  <a:pt x="149785" y="57573"/>
                  <a:pt x="149785" y="42796"/>
                </a:cubicBezTo>
                <a:close/>
                <a:moveTo>
                  <a:pt x="133235" y="130326"/>
                </a:moveTo>
                <a:cubicBezTo>
                  <a:pt x="117554" y="135910"/>
                  <a:pt x="96925" y="139086"/>
                  <a:pt x="74892" y="139086"/>
                </a:cubicBezTo>
                <a:cubicBezTo>
                  <a:pt x="52859" y="139086"/>
                  <a:pt x="32230" y="135910"/>
                  <a:pt x="16550" y="130326"/>
                </a:cubicBezTo>
                <a:cubicBezTo>
                  <a:pt x="10665" y="128220"/>
                  <a:pt x="4948" y="125578"/>
                  <a:pt x="0" y="122302"/>
                </a:cubicBezTo>
                <a:lnTo>
                  <a:pt x="0" y="144435"/>
                </a:lnTo>
                <a:cubicBezTo>
                  <a:pt x="0" y="159213"/>
                  <a:pt x="33534" y="171183"/>
                  <a:pt x="74892" y="171183"/>
                </a:cubicBezTo>
                <a:cubicBezTo>
                  <a:pt x="116250" y="171183"/>
                  <a:pt x="149785" y="159213"/>
                  <a:pt x="149785" y="144435"/>
                </a:cubicBezTo>
                <a:lnTo>
                  <a:pt x="149785" y="122302"/>
                </a:lnTo>
                <a:cubicBezTo>
                  <a:pt x="144836" y="125578"/>
                  <a:pt x="139153" y="128220"/>
                  <a:pt x="133235" y="13032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" name="Text 8"/>
          <p:cNvSpPr/>
          <p:nvPr/>
        </p:nvSpPr>
        <p:spPr>
          <a:xfrm>
            <a:off x="1034703" y="1795515"/>
            <a:ext cx="2967164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存量巨大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4703" y="2061799"/>
            <a:ext cx="2967164" cy="741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8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湖南科技大学全日制在校生</a:t>
            </a:r>
            <a:pPr>
              <a:lnSpc>
                <a:spcPct val="140000"/>
              </a:lnSpc>
            </a:pPr>
            <a:r>
              <a:rPr lang="en-US" sz="1198" b="1" dirty="0">
                <a:solidFill>
                  <a:srgbClr val="D9A4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数万人</a:t>
            </a:r>
            <a:pPr>
              <a:lnSpc>
                <a:spcPct val="140000"/>
              </a:lnSpc>
            </a:pPr>
            <a:r>
              <a:rPr lang="en-US" sz="1198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，按人均拥有1台电脑、1部手机计算，数码终端保有量巨大。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0176" y="2917712"/>
            <a:ext cx="380406" cy="380406"/>
          </a:xfrm>
          <a:custGeom>
            <a:avLst/>
            <a:gdLst/>
            <a:ahLst/>
            <a:cxnLst/>
            <a:rect l="l" t="t" r="r" b="b"/>
            <a:pathLst>
              <a:path w="380406" h="380406">
                <a:moveTo>
                  <a:pt x="76081" y="0"/>
                </a:moveTo>
                <a:lnTo>
                  <a:pt x="304324" y="0"/>
                </a:lnTo>
                <a:cubicBezTo>
                  <a:pt x="346343" y="0"/>
                  <a:pt x="380406" y="34063"/>
                  <a:pt x="380406" y="76081"/>
                </a:cubicBezTo>
                <a:lnTo>
                  <a:pt x="380406" y="304324"/>
                </a:lnTo>
                <a:cubicBezTo>
                  <a:pt x="380406" y="346343"/>
                  <a:pt x="346343" y="380406"/>
                  <a:pt x="304324" y="380406"/>
                </a:cubicBezTo>
                <a:lnTo>
                  <a:pt x="76081" y="380406"/>
                </a:lnTo>
                <a:cubicBezTo>
                  <a:pt x="34063" y="380406"/>
                  <a:pt x="0" y="346343"/>
                  <a:pt x="0" y="304324"/>
                </a:cubicBezTo>
                <a:lnTo>
                  <a:pt x="0" y="76081"/>
                </a:lnTo>
                <a:cubicBezTo>
                  <a:pt x="0" y="34091"/>
                  <a:pt x="34091" y="0"/>
                  <a:pt x="76081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165" y="3022323"/>
            <a:ext cx="171183" cy="171183"/>
          </a:xfrm>
          <a:custGeom>
            <a:avLst/>
            <a:gdLst/>
            <a:ahLst/>
            <a:cxnLst/>
            <a:rect l="l" t="t" r="r" b="b"/>
            <a:pathLst>
              <a:path w="171183" h="171183">
                <a:moveTo>
                  <a:pt x="50920" y="20060"/>
                </a:moveTo>
                <a:cubicBezTo>
                  <a:pt x="66367" y="-6687"/>
                  <a:pt x="104983" y="-6687"/>
                  <a:pt x="120430" y="20060"/>
                </a:cubicBezTo>
                <a:lnTo>
                  <a:pt x="132900" y="41659"/>
                </a:lnTo>
                <a:lnTo>
                  <a:pt x="142162" y="36309"/>
                </a:lnTo>
                <a:cubicBezTo>
                  <a:pt x="144970" y="34671"/>
                  <a:pt x="148481" y="34905"/>
                  <a:pt x="151055" y="36878"/>
                </a:cubicBezTo>
                <a:cubicBezTo>
                  <a:pt x="153630" y="38850"/>
                  <a:pt x="154766" y="42194"/>
                  <a:pt x="153931" y="45337"/>
                </a:cubicBezTo>
                <a:lnTo>
                  <a:pt x="146074" y="74558"/>
                </a:lnTo>
                <a:cubicBezTo>
                  <a:pt x="144937" y="78838"/>
                  <a:pt x="140523" y="81379"/>
                  <a:pt x="136244" y="80242"/>
                </a:cubicBezTo>
                <a:lnTo>
                  <a:pt x="107023" y="72418"/>
                </a:lnTo>
                <a:cubicBezTo>
                  <a:pt x="103880" y="71582"/>
                  <a:pt x="101573" y="68941"/>
                  <a:pt x="101138" y="65731"/>
                </a:cubicBezTo>
                <a:cubicBezTo>
                  <a:pt x="100703" y="62522"/>
                  <a:pt x="102275" y="59346"/>
                  <a:pt x="105083" y="57741"/>
                </a:cubicBezTo>
                <a:lnTo>
                  <a:pt x="114345" y="52391"/>
                </a:lnTo>
                <a:lnTo>
                  <a:pt x="101874" y="30793"/>
                </a:lnTo>
                <a:cubicBezTo>
                  <a:pt x="94652" y="18322"/>
                  <a:pt x="76664" y="18322"/>
                  <a:pt x="69443" y="30793"/>
                </a:cubicBezTo>
                <a:lnTo>
                  <a:pt x="67671" y="33835"/>
                </a:lnTo>
                <a:cubicBezTo>
                  <a:pt x="64728" y="38951"/>
                  <a:pt x="58175" y="40689"/>
                  <a:pt x="53060" y="37747"/>
                </a:cubicBezTo>
                <a:cubicBezTo>
                  <a:pt x="47944" y="34805"/>
                  <a:pt x="46206" y="28252"/>
                  <a:pt x="49148" y="23103"/>
                </a:cubicBezTo>
                <a:lnTo>
                  <a:pt x="50920" y="20060"/>
                </a:lnTo>
                <a:close/>
                <a:moveTo>
                  <a:pt x="150353" y="93315"/>
                </a:moveTo>
                <a:cubicBezTo>
                  <a:pt x="155469" y="90372"/>
                  <a:pt x="162022" y="92111"/>
                  <a:pt x="164964" y="97226"/>
                </a:cubicBezTo>
                <a:lnTo>
                  <a:pt x="166736" y="100269"/>
                </a:lnTo>
                <a:cubicBezTo>
                  <a:pt x="182182" y="127016"/>
                  <a:pt x="162891" y="160450"/>
                  <a:pt x="131998" y="160450"/>
                </a:cubicBezTo>
                <a:lnTo>
                  <a:pt x="107056" y="160450"/>
                </a:lnTo>
                <a:lnTo>
                  <a:pt x="107056" y="171149"/>
                </a:lnTo>
                <a:cubicBezTo>
                  <a:pt x="107056" y="174392"/>
                  <a:pt x="105117" y="177334"/>
                  <a:pt x="102108" y="178571"/>
                </a:cubicBezTo>
                <a:cubicBezTo>
                  <a:pt x="99099" y="179809"/>
                  <a:pt x="95655" y="179140"/>
                  <a:pt x="93348" y="176833"/>
                </a:cubicBezTo>
                <a:lnTo>
                  <a:pt x="71950" y="155435"/>
                </a:lnTo>
                <a:cubicBezTo>
                  <a:pt x="68807" y="152292"/>
                  <a:pt x="68807" y="147210"/>
                  <a:pt x="71950" y="144101"/>
                </a:cubicBezTo>
                <a:lnTo>
                  <a:pt x="93348" y="122703"/>
                </a:lnTo>
                <a:cubicBezTo>
                  <a:pt x="95655" y="120396"/>
                  <a:pt x="99099" y="119727"/>
                  <a:pt x="102108" y="120965"/>
                </a:cubicBezTo>
                <a:cubicBezTo>
                  <a:pt x="105117" y="122202"/>
                  <a:pt x="107056" y="125144"/>
                  <a:pt x="107056" y="128387"/>
                </a:cubicBezTo>
                <a:lnTo>
                  <a:pt x="107056" y="139086"/>
                </a:lnTo>
                <a:lnTo>
                  <a:pt x="131998" y="139086"/>
                </a:lnTo>
                <a:cubicBezTo>
                  <a:pt x="146408" y="139086"/>
                  <a:pt x="155435" y="123472"/>
                  <a:pt x="148213" y="111001"/>
                </a:cubicBezTo>
                <a:lnTo>
                  <a:pt x="146441" y="107959"/>
                </a:lnTo>
                <a:cubicBezTo>
                  <a:pt x="143499" y="102843"/>
                  <a:pt x="145238" y="96290"/>
                  <a:pt x="150353" y="93348"/>
                </a:cubicBezTo>
                <a:close/>
                <a:moveTo>
                  <a:pt x="17051" y="78704"/>
                </a:moveTo>
                <a:lnTo>
                  <a:pt x="7790" y="73354"/>
                </a:lnTo>
                <a:cubicBezTo>
                  <a:pt x="4982" y="71716"/>
                  <a:pt x="3410" y="68573"/>
                  <a:pt x="3845" y="65364"/>
                </a:cubicBezTo>
                <a:cubicBezTo>
                  <a:pt x="4280" y="62154"/>
                  <a:pt x="6587" y="59513"/>
                  <a:pt x="9729" y="58677"/>
                </a:cubicBezTo>
                <a:lnTo>
                  <a:pt x="38951" y="50820"/>
                </a:lnTo>
                <a:cubicBezTo>
                  <a:pt x="43230" y="49683"/>
                  <a:pt x="47644" y="52224"/>
                  <a:pt x="48780" y="56504"/>
                </a:cubicBezTo>
                <a:lnTo>
                  <a:pt x="56604" y="85725"/>
                </a:lnTo>
                <a:cubicBezTo>
                  <a:pt x="57440" y="88868"/>
                  <a:pt x="56303" y="92178"/>
                  <a:pt x="53729" y="94184"/>
                </a:cubicBezTo>
                <a:cubicBezTo>
                  <a:pt x="51154" y="96190"/>
                  <a:pt x="47644" y="96390"/>
                  <a:pt x="44835" y="94752"/>
                </a:cubicBezTo>
                <a:lnTo>
                  <a:pt x="35574" y="89403"/>
                </a:lnTo>
                <a:lnTo>
                  <a:pt x="23103" y="111001"/>
                </a:lnTo>
                <a:cubicBezTo>
                  <a:pt x="15881" y="123472"/>
                  <a:pt x="24908" y="139086"/>
                  <a:pt x="39318" y="139086"/>
                </a:cubicBezTo>
                <a:lnTo>
                  <a:pt x="42863" y="139086"/>
                </a:lnTo>
                <a:cubicBezTo>
                  <a:pt x="48780" y="139086"/>
                  <a:pt x="53561" y="143867"/>
                  <a:pt x="53561" y="149785"/>
                </a:cubicBezTo>
                <a:cubicBezTo>
                  <a:pt x="53561" y="155703"/>
                  <a:pt x="48780" y="160484"/>
                  <a:pt x="42863" y="160484"/>
                </a:cubicBezTo>
                <a:lnTo>
                  <a:pt x="39318" y="160484"/>
                </a:lnTo>
                <a:cubicBezTo>
                  <a:pt x="8459" y="160484"/>
                  <a:pt x="-10833" y="127050"/>
                  <a:pt x="4614" y="100302"/>
                </a:cubicBezTo>
                <a:lnTo>
                  <a:pt x="17051" y="78704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4" name="Text 12"/>
          <p:cNvSpPr/>
          <p:nvPr/>
        </p:nvSpPr>
        <p:spPr>
          <a:xfrm>
            <a:off x="1034703" y="2917712"/>
            <a:ext cx="2967164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循环经济趋势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4703" y="3183995"/>
            <a:ext cx="2967164" cy="494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8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随着"绿色消费"理念普及，校园二手交易市场正以</a:t>
            </a:r>
            <a:pPr>
              <a:lnSpc>
                <a:spcPct val="140000"/>
              </a:lnSpc>
            </a:pPr>
            <a:r>
              <a:rPr lang="en-US" sz="1198" b="1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每年15%</a:t>
            </a:r>
            <a:pPr>
              <a:lnSpc>
                <a:spcPct val="140000"/>
              </a:lnSpc>
            </a:pPr>
            <a:r>
              <a:rPr lang="en-US" sz="1198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的速度增长。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0176" y="3792644"/>
            <a:ext cx="380406" cy="380406"/>
          </a:xfrm>
          <a:custGeom>
            <a:avLst/>
            <a:gdLst/>
            <a:ahLst/>
            <a:cxnLst/>
            <a:rect l="l" t="t" r="r" b="b"/>
            <a:pathLst>
              <a:path w="380406" h="380406">
                <a:moveTo>
                  <a:pt x="76081" y="0"/>
                </a:moveTo>
                <a:lnTo>
                  <a:pt x="304324" y="0"/>
                </a:lnTo>
                <a:cubicBezTo>
                  <a:pt x="346343" y="0"/>
                  <a:pt x="380406" y="34063"/>
                  <a:pt x="380406" y="76081"/>
                </a:cubicBezTo>
                <a:lnTo>
                  <a:pt x="380406" y="304324"/>
                </a:lnTo>
                <a:cubicBezTo>
                  <a:pt x="380406" y="346343"/>
                  <a:pt x="346343" y="380406"/>
                  <a:pt x="304324" y="380406"/>
                </a:cubicBezTo>
                <a:lnTo>
                  <a:pt x="76081" y="380406"/>
                </a:lnTo>
                <a:cubicBezTo>
                  <a:pt x="34063" y="380406"/>
                  <a:pt x="0" y="346343"/>
                  <a:pt x="0" y="304324"/>
                </a:cubicBezTo>
                <a:lnTo>
                  <a:pt x="0" y="76081"/>
                </a:lnTo>
                <a:cubicBezTo>
                  <a:pt x="0" y="34091"/>
                  <a:pt x="34091" y="0"/>
                  <a:pt x="76081" y="0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17" name="Shape 15"/>
          <p:cNvSpPr/>
          <p:nvPr/>
        </p:nvSpPr>
        <p:spPr>
          <a:xfrm>
            <a:off x="636466" y="3897256"/>
            <a:ext cx="192580" cy="171183"/>
          </a:xfrm>
          <a:custGeom>
            <a:avLst/>
            <a:gdLst/>
            <a:ahLst/>
            <a:cxnLst/>
            <a:rect l="l" t="t" r="r" b="b"/>
            <a:pathLst>
              <a:path w="192580" h="171183">
                <a:moveTo>
                  <a:pt x="170313" y="32966"/>
                </a:moveTo>
                <a:cubicBezTo>
                  <a:pt x="172854" y="30425"/>
                  <a:pt x="177100" y="31060"/>
                  <a:pt x="178371" y="34404"/>
                </a:cubicBezTo>
                <a:cubicBezTo>
                  <a:pt x="180644" y="40322"/>
                  <a:pt x="181881" y="46774"/>
                  <a:pt x="181881" y="53495"/>
                </a:cubicBezTo>
                <a:cubicBezTo>
                  <a:pt x="181881" y="83050"/>
                  <a:pt x="157943" y="106989"/>
                  <a:pt x="128387" y="106989"/>
                </a:cubicBezTo>
                <a:cubicBezTo>
                  <a:pt x="122536" y="106989"/>
                  <a:pt x="116886" y="106053"/>
                  <a:pt x="111603" y="104314"/>
                </a:cubicBezTo>
                <a:lnTo>
                  <a:pt x="49115" y="166803"/>
                </a:lnTo>
                <a:cubicBezTo>
                  <a:pt x="39720" y="176198"/>
                  <a:pt x="24474" y="176198"/>
                  <a:pt x="15079" y="166803"/>
                </a:cubicBezTo>
                <a:cubicBezTo>
                  <a:pt x="5684" y="157408"/>
                  <a:pt x="5684" y="142162"/>
                  <a:pt x="15079" y="132767"/>
                </a:cubicBezTo>
                <a:lnTo>
                  <a:pt x="77567" y="70278"/>
                </a:lnTo>
                <a:cubicBezTo>
                  <a:pt x="75829" y="64996"/>
                  <a:pt x="74892" y="59379"/>
                  <a:pt x="74892" y="53495"/>
                </a:cubicBezTo>
                <a:cubicBezTo>
                  <a:pt x="74892" y="23939"/>
                  <a:pt x="98831" y="0"/>
                  <a:pt x="128387" y="0"/>
                </a:cubicBezTo>
                <a:cubicBezTo>
                  <a:pt x="135107" y="0"/>
                  <a:pt x="141560" y="1237"/>
                  <a:pt x="147478" y="3511"/>
                </a:cubicBezTo>
                <a:cubicBezTo>
                  <a:pt x="150821" y="4781"/>
                  <a:pt x="151423" y="9027"/>
                  <a:pt x="148915" y="11568"/>
                </a:cubicBezTo>
                <a:lnTo>
                  <a:pt x="119259" y="41224"/>
                </a:lnTo>
                <a:cubicBezTo>
                  <a:pt x="118256" y="42227"/>
                  <a:pt x="117688" y="43598"/>
                  <a:pt x="117688" y="45002"/>
                </a:cubicBezTo>
                <a:lnTo>
                  <a:pt x="117688" y="58844"/>
                </a:lnTo>
                <a:cubicBezTo>
                  <a:pt x="117688" y="61786"/>
                  <a:pt x="120095" y="64193"/>
                  <a:pt x="123037" y="64193"/>
                </a:cubicBezTo>
                <a:lnTo>
                  <a:pt x="136879" y="64193"/>
                </a:lnTo>
                <a:cubicBezTo>
                  <a:pt x="138283" y="64193"/>
                  <a:pt x="139654" y="63625"/>
                  <a:pt x="140657" y="62622"/>
                </a:cubicBezTo>
                <a:lnTo>
                  <a:pt x="170313" y="32966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8" name="Text 16"/>
          <p:cNvSpPr/>
          <p:nvPr/>
        </p:nvSpPr>
        <p:spPr>
          <a:xfrm>
            <a:off x="1034703" y="3792644"/>
            <a:ext cx="2967164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刚需高频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34703" y="4058928"/>
            <a:ext cx="2967164" cy="494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8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调查显示，大学生电脑年故障率约为</a:t>
            </a:r>
            <a:pPr>
              <a:lnSpc>
                <a:spcPct val="140000"/>
              </a:lnSpc>
            </a:pPr>
            <a:r>
              <a:rPr lang="en-US" sz="1198" b="1" dirty="0">
                <a:solidFill>
                  <a:srgbClr val="5C6B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20%</a:t>
            </a:r>
            <a:pPr>
              <a:lnSpc>
                <a:spcPct val="140000"/>
              </a:lnSpc>
            </a:pPr>
            <a:r>
              <a:rPr lang="en-US" sz="1198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，每年有数千次的维修需求。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4210" y="4869190"/>
            <a:ext cx="3697543" cy="1985717"/>
          </a:xfrm>
          <a:custGeom>
            <a:avLst/>
            <a:gdLst/>
            <a:ahLst/>
            <a:cxnLst/>
            <a:rect l="l" t="t" r="r" b="b"/>
            <a:pathLst>
              <a:path w="3697543" h="1985717">
                <a:moveTo>
                  <a:pt x="114119" y="0"/>
                </a:moveTo>
                <a:lnTo>
                  <a:pt x="3583423" y="0"/>
                </a:lnTo>
                <a:cubicBezTo>
                  <a:pt x="3646450" y="0"/>
                  <a:pt x="3697543" y="51093"/>
                  <a:pt x="3697543" y="114119"/>
                </a:cubicBezTo>
                <a:lnTo>
                  <a:pt x="3697543" y="1871598"/>
                </a:lnTo>
                <a:cubicBezTo>
                  <a:pt x="3697543" y="1934624"/>
                  <a:pt x="3646450" y="1985717"/>
                  <a:pt x="3583423" y="1985717"/>
                </a:cubicBezTo>
                <a:lnTo>
                  <a:pt x="114119" y="1985717"/>
                </a:lnTo>
                <a:cubicBezTo>
                  <a:pt x="51093" y="1985717"/>
                  <a:pt x="0" y="1934624"/>
                  <a:pt x="0" y="1871598"/>
                </a:cubicBezTo>
                <a:lnTo>
                  <a:pt x="0" y="114119"/>
                </a:lnTo>
                <a:cubicBezTo>
                  <a:pt x="0" y="51093"/>
                  <a:pt x="51093" y="0"/>
                  <a:pt x="114119" y="0"/>
                </a:cubicBezTo>
                <a:close/>
              </a:path>
            </a:pathLst>
          </a:custGeom>
          <a:gradFill rotWithShape="1" flip="none">
            <a:gsLst>
              <a:gs pos="0">
                <a:srgbClr val="D9A477">
                  <a:alpha val="20000"/>
                </a:srgbClr>
              </a:gs>
              <a:gs pos="100000">
                <a:srgbClr val="D9A477">
                  <a:alpha val="5000"/>
                </a:srgbClr>
              </a:gs>
            </a:gsLst>
            <a:lin ang="2700000" scaled="1"/>
          </a:gradFill>
          <a:ln w="10160">
            <a:solidFill>
              <a:srgbClr val="D9A477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3951" y="5063198"/>
            <a:ext cx="190203" cy="190203"/>
          </a:xfrm>
          <a:custGeom>
            <a:avLst/>
            <a:gdLst/>
            <a:ahLst/>
            <a:cxnLst/>
            <a:rect l="l" t="t" r="r" b="b"/>
            <a:pathLst>
              <a:path w="190203" h="190203">
                <a:moveTo>
                  <a:pt x="166427" y="95101"/>
                </a:moveTo>
                <a:cubicBezTo>
                  <a:pt x="166427" y="55735"/>
                  <a:pt x="134467" y="23775"/>
                  <a:pt x="95101" y="23775"/>
                </a:cubicBezTo>
                <a:cubicBezTo>
                  <a:pt x="55735" y="23775"/>
                  <a:pt x="23775" y="55735"/>
                  <a:pt x="23775" y="95101"/>
                </a:cubicBezTo>
                <a:cubicBezTo>
                  <a:pt x="23775" y="134467"/>
                  <a:pt x="55735" y="166427"/>
                  <a:pt x="95101" y="166427"/>
                </a:cubicBezTo>
                <a:cubicBezTo>
                  <a:pt x="134467" y="166427"/>
                  <a:pt x="166427" y="134467"/>
                  <a:pt x="166427" y="95101"/>
                </a:cubicBezTo>
                <a:close/>
                <a:moveTo>
                  <a:pt x="0" y="95101"/>
                </a:moveTo>
                <a:cubicBezTo>
                  <a:pt x="0" y="42614"/>
                  <a:pt x="42614" y="0"/>
                  <a:pt x="95101" y="0"/>
                </a:cubicBezTo>
                <a:cubicBezTo>
                  <a:pt x="147589" y="0"/>
                  <a:pt x="190203" y="42614"/>
                  <a:pt x="190203" y="95101"/>
                </a:cubicBezTo>
                <a:cubicBezTo>
                  <a:pt x="190203" y="147589"/>
                  <a:pt x="147589" y="190203"/>
                  <a:pt x="95101" y="190203"/>
                </a:cubicBezTo>
                <a:cubicBezTo>
                  <a:pt x="42614" y="190203"/>
                  <a:pt x="0" y="147589"/>
                  <a:pt x="0" y="95101"/>
                </a:cubicBezTo>
                <a:close/>
                <a:moveTo>
                  <a:pt x="95101" y="124821"/>
                </a:moveTo>
                <a:cubicBezTo>
                  <a:pt x="111504" y="124821"/>
                  <a:pt x="124821" y="111504"/>
                  <a:pt x="124821" y="95101"/>
                </a:cubicBezTo>
                <a:cubicBezTo>
                  <a:pt x="124821" y="78699"/>
                  <a:pt x="111504" y="65382"/>
                  <a:pt x="95101" y="65382"/>
                </a:cubicBezTo>
                <a:cubicBezTo>
                  <a:pt x="78699" y="65382"/>
                  <a:pt x="65382" y="78699"/>
                  <a:pt x="65382" y="95101"/>
                </a:cubicBezTo>
                <a:cubicBezTo>
                  <a:pt x="65382" y="111504"/>
                  <a:pt x="78699" y="124821"/>
                  <a:pt x="95101" y="124821"/>
                </a:cubicBezTo>
                <a:close/>
                <a:moveTo>
                  <a:pt x="95101" y="41607"/>
                </a:moveTo>
                <a:cubicBezTo>
                  <a:pt x="124626" y="41607"/>
                  <a:pt x="148596" y="65577"/>
                  <a:pt x="148596" y="95101"/>
                </a:cubicBezTo>
                <a:cubicBezTo>
                  <a:pt x="148596" y="124626"/>
                  <a:pt x="124626" y="148596"/>
                  <a:pt x="95101" y="148596"/>
                </a:cubicBezTo>
                <a:cubicBezTo>
                  <a:pt x="65577" y="148596"/>
                  <a:pt x="41607" y="124626"/>
                  <a:pt x="41607" y="95101"/>
                </a:cubicBezTo>
                <a:cubicBezTo>
                  <a:pt x="41607" y="65577"/>
                  <a:pt x="65577" y="41607"/>
                  <a:pt x="95101" y="41607"/>
                </a:cubicBezTo>
                <a:close/>
                <a:moveTo>
                  <a:pt x="83214" y="95101"/>
                </a:moveTo>
                <a:cubicBezTo>
                  <a:pt x="83214" y="88540"/>
                  <a:pt x="88540" y="83214"/>
                  <a:pt x="95101" y="83214"/>
                </a:cubicBezTo>
                <a:cubicBezTo>
                  <a:pt x="101662" y="83214"/>
                  <a:pt x="106989" y="88540"/>
                  <a:pt x="106989" y="95101"/>
                </a:cubicBezTo>
                <a:cubicBezTo>
                  <a:pt x="106989" y="101662"/>
                  <a:pt x="101662" y="106989"/>
                  <a:pt x="95101" y="106989"/>
                </a:cubicBezTo>
                <a:cubicBezTo>
                  <a:pt x="88540" y="106989"/>
                  <a:pt x="83214" y="101662"/>
                  <a:pt x="83214" y="95101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22" name="Text 20"/>
          <p:cNvSpPr/>
          <p:nvPr/>
        </p:nvSpPr>
        <p:spPr>
          <a:xfrm>
            <a:off x="777929" y="5025157"/>
            <a:ext cx="3242958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8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预计市场占有率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0176" y="5405563"/>
            <a:ext cx="3385610" cy="608649"/>
          </a:xfrm>
          <a:custGeom>
            <a:avLst/>
            <a:gdLst/>
            <a:ahLst/>
            <a:cxnLst/>
            <a:rect l="l" t="t" r="r" b="b"/>
            <a:pathLst>
              <a:path w="3385610" h="608649">
                <a:moveTo>
                  <a:pt x="76081" y="0"/>
                </a:moveTo>
                <a:lnTo>
                  <a:pt x="3309529" y="0"/>
                </a:lnTo>
                <a:cubicBezTo>
                  <a:pt x="3351547" y="0"/>
                  <a:pt x="3385610" y="34063"/>
                  <a:pt x="3385610" y="76081"/>
                </a:cubicBezTo>
                <a:lnTo>
                  <a:pt x="3385610" y="532568"/>
                </a:lnTo>
                <a:cubicBezTo>
                  <a:pt x="3385610" y="574586"/>
                  <a:pt x="3351547" y="608649"/>
                  <a:pt x="3309529" y="608649"/>
                </a:cubicBezTo>
                <a:lnTo>
                  <a:pt x="76081" y="608649"/>
                </a:lnTo>
                <a:cubicBezTo>
                  <a:pt x="34063" y="608649"/>
                  <a:pt x="0" y="574586"/>
                  <a:pt x="0" y="532568"/>
                </a:cubicBezTo>
                <a:lnTo>
                  <a:pt x="0" y="76081"/>
                </a:lnTo>
                <a:cubicBezTo>
                  <a:pt x="0" y="34091"/>
                  <a:pt x="34091" y="0"/>
                  <a:pt x="76081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16257" y="5557725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152162" y="0"/>
                </a:moveTo>
                <a:lnTo>
                  <a:pt x="152162" y="0"/>
                </a:lnTo>
                <a:cubicBezTo>
                  <a:pt x="236143" y="0"/>
                  <a:pt x="304324" y="68182"/>
                  <a:pt x="304324" y="152162"/>
                </a:cubicBezTo>
                <a:lnTo>
                  <a:pt x="304324" y="152162"/>
                </a:lnTo>
                <a:cubicBezTo>
                  <a:pt x="304324" y="236143"/>
                  <a:pt x="236143" y="304324"/>
                  <a:pt x="152162" y="304324"/>
                </a:cubicBezTo>
                <a:lnTo>
                  <a:pt x="152162" y="304324"/>
                </a:lnTo>
                <a:cubicBezTo>
                  <a:pt x="68182" y="304324"/>
                  <a:pt x="0" y="236143"/>
                  <a:pt x="0" y="152162"/>
                </a:cubicBezTo>
                <a:lnTo>
                  <a:pt x="0" y="152162"/>
                </a:lnTo>
                <a:cubicBezTo>
                  <a:pt x="0" y="68182"/>
                  <a:pt x="68182" y="0"/>
                  <a:pt x="152162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25" name="Text 23"/>
          <p:cNvSpPr/>
          <p:nvPr/>
        </p:nvSpPr>
        <p:spPr>
          <a:xfrm>
            <a:off x="742148" y="5614786"/>
            <a:ext cx="123632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6663" y="5500664"/>
            <a:ext cx="1407501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第1年（初期）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96663" y="5728908"/>
            <a:ext cx="1397991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聚焦湘潭、长沙、株洲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25126" y="5481644"/>
            <a:ext cx="627669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98" b="1" dirty="0">
                <a:solidFill>
                  <a:srgbClr val="D9A47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20%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53657" y="5747928"/>
            <a:ext cx="599139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48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维修市场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0176" y="6090293"/>
            <a:ext cx="3385610" cy="608649"/>
          </a:xfrm>
          <a:custGeom>
            <a:avLst/>
            <a:gdLst/>
            <a:ahLst/>
            <a:cxnLst/>
            <a:rect l="l" t="t" r="r" b="b"/>
            <a:pathLst>
              <a:path w="3385610" h="608649">
                <a:moveTo>
                  <a:pt x="76081" y="0"/>
                </a:moveTo>
                <a:lnTo>
                  <a:pt x="3309529" y="0"/>
                </a:lnTo>
                <a:cubicBezTo>
                  <a:pt x="3351547" y="0"/>
                  <a:pt x="3385610" y="34063"/>
                  <a:pt x="3385610" y="76081"/>
                </a:cubicBezTo>
                <a:lnTo>
                  <a:pt x="3385610" y="532568"/>
                </a:lnTo>
                <a:cubicBezTo>
                  <a:pt x="3385610" y="574586"/>
                  <a:pt x="3351547" y="608649"/>
                  <a:pt x="3309529" y="608649"/>
                </a:cubicBezTo>
                <a:lnTo>
                  <a:pt x="76081" y="608649"/>
                </a:lnTo>
                <a:cubicBezTo>
                  <a:pt x="34063" y="608649"/>
                  <a:pt x="0" y="574586"/>
                  <a:pt x="0" y="532568"/>
                </a:cubicBezTo>
                <a:lnTo>
                  <a:pt x="0" y="76081"/>
                </a:lnTo>
                <a:cubicBezTo>
                  <a:pt x="0" y="34091"/>
                  <a:pt x="34091" y="0"/>
                  <a:pt x="76081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16257" y="6242455"/>
            <a:ext cx="304324" cy="304324"/>
          </a:xfrm>
          <a:custGeom>
            <a:avLst/>
            <a:gdLst/>
            <a:ahLst/>
            <a:cxnLst/>
            <a:rect l="l" t="t" r="r" b="b"/>
            <a:pathLst>
              <a:path w="304324" h="304324">
                <a:moveTo>
                  <a:pt x="152162" y="0"/>
                </a:moveTo>
                <a:lnTo>
                  <a:pt x="152162" y="0"/>
                </a:lnTo>
                <a:cubicBezTo>
                  <a:pt x="236143" y="0"/>
                  <a:pt x="304324" y="68182"/>
                  <a:pt x="304324" y="152162"/>
                </a:cubicBezTo>
                <a:lnTo>
                  <a:pt x="304324" y="152162"/>
                </a:lnTo>
                <a:cubicBezTo>
                  <a:pt x="304324" y="236143"/>
                  <a:pt x="236143" y="304324"/>
                  <a:pt x="152162" y="304324"/>
                </a:cubicBezTo>
                <a:lnTo>
                  <a:pt x="152162" y="304324"/>
                </a:lnTo>
                <a:cubicBezTo>
                  <a:pt x="68182" y="304324"/>
                  <a:pt x="0" y="236143"/>
                  <a:pt x="0" y="152162"/>
                </a:cubicBezTo>
                <a:lnTo>
                  <a:pt x="0" y="152162"/>
                </a:lnTo>
                <a:cubicBezTo>
                  <a:pt x="0" y="68182"/>
                  <a:pt x="68182" y="0"/>
                  <a:pt x="152162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32" name="Text 30"/>
          <p:cNvSpPr/>
          <p:nvPr/>
        </p:nvSpPr>
        <p:spPr>
          <a:xfrm>
            <a:off x="729190" y="6299516"/>
            <a:ext cx="142652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6663" y="6185394"/>
            <a:ext cx="1084156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第3年（中期）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96663" y="6413638"/>
            <a:ext cx="1074646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覆盖周边3所高校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091984" y="6166374"/>
            <a:ext cx="760811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98" b="1" dirty="0">
                <a:solidFill>
                  <a:srgbClr val="3C8082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40%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120515" y="6432658"/>
            <a:ext cx="732281" cy="190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48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市场占有率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44614" y="1259143"/>
            <a:ext cx="7558660" cy="5599571"/>
          </a:xfrm>
          <a:custGeom>
            <a:avLst/>
            <a:gdLst/>
            <a:ahLst/>
            <a:cxnLst/>
            <a:rect l="l" t="t" r="r" b="b"/>
            <a:pathLst>
              <a:path w="7558660" h="5599571">
                <a:moveTo>
                  <a:pt x="114119" y="0"/>
                </a:moveTo>
                <a:lnTo>
                  <a:pt x="7444540" y="0"/>
                </a:lnTo>
                <a:cubicBezTo>
                  <a:pt x="7507567" y="0"/>
                  <a:pt x="7558660" y="51093"/>
                  <a:pt x="7558660" y="114119"/>
                </a:cubicBezTo>
                <a:lnTo>
                  <a:pt x="7558660" y="5485451"/>
                </a:lnTo>
                <a:cubicBezTo>
                  <a:pt x="7558660" y="5548478"/>
                  <a:pt x="7507567" y="5599571"/>
                  <a:pt x="7444540" y="5599571"/>
                </a:cubicBezTo>
                <a:lnTo>
                  <a:pt x="114119" y="5599571"/>
                </a:lnTo>
                <a:cubicBezTo>
                  <a:pt x="51093" y="5599571"/>
                  <a:pt x="0" y="5548478"/>
                  <a:pt x="0" y="5485451"/>
                </a:cubicBezTo>
                <a:lnTo>
                  <a:pt x="0" y="114119"/>
                </a:lnTo>
                <a:cubicBezTo>
                  <a:pt x="0" y="51135"/>
                  <a:pt x="51135" y="0"/>
                  <a:pt x="114119" y="0"/>
                </a:cubicBezTo>
                <a:close/>
              </a:path>
            </a:pathLst>
          </a:custGeom>
          <a:gradFill rotWithShape="1" flip="none">
            <a:gsLst>
              <a:gs pos="0">
                <a:srgbClr val="3C8082">
                  <a:alpha val="25000"/>
                </a:srgbClr>
              </a:gs>
              <a:gs pos="100000">
                <a:srgbClr val="3C8082">
                  <a:alpha val="5000"/>
                </a:srgbClr>
              </a:gs>
            </a:gsLst>
            <a:lin ang="2700000" scaled="1"/>
          </a:gradFill>
          <a:ln w="10160">
            <a:solidFill>
              <a:srgbClr val="3C8082">
                <a:alpha val="5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00580" y="1453029"/>
            <a:ext cx="285304" cy="228243"/>
          </a:xfrm>
          <a:custGeom>
            <a:avLst/>
            <a:gdLst/>
            <a:ahLst/>
            <a:cxnLst/>
            <a:rect l="l" t="t" r="r" b="b"/>
            <a:pathLst>
              <a:path w="285304" h="228243">
                <a:moveTo>
                  <a:pt x="142652" y="7133"/>
                </a:moveTo>
                <a:cubicBezTo>
                  <a:pt x="168240" y="7133"/>
                  <a:pt x="189014" y="27907"/>
                  <a:pt x="189014" y="53495"/>
                </a:cubicBezTo>
                <a:cubicBezTo>
                  <a:pt x="189014" y="79082"/>
                  <a:pt x="168240" y="99856"/>
                  <a:pt x="142652" y="99856"/>
                </a:cubicBezTo>
                <a:cubicBezTo>
                  <a:pt x="117064" y="99856"/>
                  <a:pt x="96290" y="79082"/>
                  <a:pt x="96290" y="53495"/>
                </a:cubicBezTo>
                <a:cubicBezTo>
                  <a:pt x="96290" y="27907"/>
                  <a:pt x="117064" y="7133"/>
                  <a:pt x="142652" y="7133"/>
                </a:cubicBezTo>
                <a:close/>
                <a:moveTo>
                  <a:pt x="42796" y="39229"/>
                </a:moveTo>
                <a:cubicBezTo>
                  <a:pt x="60510" y="39229"/>
                  <a:pt x="74892" y="53611"/>
                  <a:pt x="74892" y="71326"/>
                </a:cubicBezTo>
                <a:cubicBezTo>
                  <a:pt x="74892" y="89041"/>
                  <a:pt x="60510" y="103423"/>
                  <a:pt x="42796" y="103423"/>
                </a:cubicBezTo>
                <a:cubicBezTo>
                  <a:pt x="25081" y="103423"/>
                  <a:pt x="10699" y="89041"/>
                  <a:pt x="10699" y="71326"/>
                </a:cubicBezTo>
                <a:cubicBezTo>
                  <a:pt x="10699" y="53611"/>
                  <a:pt x="25081" y="39229"/>
                  <a:pt x="42796" y="39229"/>
                </a:cubicBezTo>
                <a:close/>
                <a:moveTo>
                  <a:pt x="0" y="185448"/>
                </a:moveTo>
                <a:cubicBezTo>
                  <a:pt x="0" y="153931"/>
                  <a:pt x="25544" y="128387"/>
                  <a:pt x="57061" y="128387"/>
                </a:cubicBezTo>
                <a:cubicBezTo>
                  <a:pt x="62767" y="128387"/>
                  <a:pt x="68295" y="129234"/>
                  <a:pt x="73510" y="130794"/>
                </a:cubicBezTo>
                <a:cubicBezTo>
                  <a:pt x="58844" y="147199"/>
                  <a:pt x="49928" y="168864"/>
                  <a:pt x="49928" y="192580"/>
                </a:cubicBezTo>
                <a:lnTo>
                  <a:pt x="49928" y="199713"/>
                </a:lnTo>
                <a:cubicBezTo>
                  <a:pt x="49928" y="204795"/>
                  <a:pt x="50998" y="209609"/>
                  <a:pt x="52915" y="213978"/>
                </a:cubicBezTo>
                <a:lnTo>
                  <a:pt x="14265" y="213978"/>
                </a:lnTo>
                <a:cubicBezTo>
                  <a:pt x="6375" y="213978"/>
                  <a:pt x="0" y="207603"/>
                  <a:pt x="0" y="199713"/>
                </a:cubicBezTo>
                <a:lnTo>
                  <a:pt x="0" y="185448"/>
                </a:lnTo>
                <a:close/>
                <a:moveTo>
                  <a:pt x="232389" y="213978"/>
                </a:moveTo>
                <a:cubicBezTo>
                  <a:pt x="234306" y="209609"/>
                  <a:pt x="235376" y="204795"/>
                  <a:pt x="235376" y="199713"/>
                </a:cubicBezTo>
                <a:lnTo>
                  <a:pt x="235376" y="192580"/>
                </a:lnTo>
                <a:cubicBezTo>
                  <a:pt x="235376" y="168864"/>
                  <a:pt x="226460" y="147199"/>
                  <a:pt x="211794" y="130794"/>
                </a:cubicBezTo>
                <a:cubicBezTo>
                  <a:pt x="217010" y="129234"/>
                  <a:pt x="222537" y="128387"/>
                  <a:pt x="228243" y="128387"/>
                </a:cubicBezTo>
                <a:cubicBezTo>
                  <a:pt x="259761" y="128387"/>
                  <a:pt x="285304" y="153931"/>
                  <a:pt x="285304" y="185448"/>
                </a:cubicBezTo>
                <a:lnTo>
                  <a:pt x="285304" y="199713"/>
                </a:lnTo>
                <a:cubicBezTo>
                  <a:pt x="285304" y="207603"/>
                  <a:pt x="278929" y="213978"/>
                  <a:pt x="271039" y="213978"/>
                </a:cubicBezTo>
                <a:lnTo>
                  <a:pt x="232389" y="213978"/>
                </a:lnTo>
                <a:close/>
                <a:moveTo>
                  <a:pt x="210412" y="71326"/>
                </a:moveTo>
                <a:cubicBezTo>
                  <a:pt x="210412" y="53611"/>
                  <a:pt x="224794" y="39229"/>
                  <a:pt x="242509" y="39229"/>
                </a:cubicBezTo>
                <a:cubicBezTo>
                  <a:pt x="260223" y="39229"/>
                  <a:pt x="274605" y="53611"/>
                  <a:pt x="274605" y="71326"/>
                </a:cubicBezTo>
                <a:cubicBezTo>
                  <a:pt x="274605" y="89041"/>
                  <a:pt x="260223" y="103423"/>
                  <a:pt x="242509" y="103423"/>
                </a:cubicBezTo>
                <a:cubicBezTo>
                  <a:pt x="224794" y="103423"/>
                  <a:pt x="210412" y="89041"/>
                  <a:pt x="210412" y="71326"/>
                </a:cubicBezTo>
                <a:close/>
                <a:moveTo>
                  <a:pt x="71326" y="192580"/>
                </a:moveTo>
                <a:cubicBezTo>
                  <a:pt x="71326" y="153173"/>
                  <a:pt x="103244" y="121254"/>
                  <a:pt x="142652" y="121254"/>
                </a:cubicBezTo>
                <a:cubicBezTo>
                  <a:pt x="182060" y="121254"/>
                  <a:pt x="213978" y="153173"/>
                  <a:pt x="213978" y="192580"/>
                </a:cubicBezTo>
                <a:lnTo>
                  <a:pt x="213978" y="199713"/>
                </a:lnTo>
                <a:cubicBezTo>
                  <a:pt x="213978" y="207603"/>
                  <a:pt x="207603" y="213978"/>
                  <a:pt x="199713" y="213978"/>
                </a:cubicBezTo>
                <a:lnTo>
                  <a:pt x="85591" y="213978"/>
                </a:lnTo>
                <a:cubicBezTo>
                  <a:pt x="77701" y="213978"/>
                  <a:pt x="71326" y="207603"/>
                  <a:pt x="71326" y="199713"/>
                </a:cubicBezTo>
                <a:lnTo>
                  <a:pt x="71326" y="192580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9" name="Text 37"/>
          <p:cNvSpPr/>
          <p:nvPr/>
        </p:nvSpPr>
        <p:spPr>
          <a:xfrm>
            <a:off x="4685884" y="1415109"/>
            <a:ext cx="7075544" cy="304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7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目标顾客画像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400580" y="1852455"/>
            <a:ext cx="2339495" cy="4241523"/>
          </a:xfrm>
          <a:custGeom>
            <a:avLst/>
            <a:gdLst/>
            <a:ahLst/>
            <a:cxnLst/>
            <a:rect l="l" t="t" r="r" b="b"/>
            <a:pathLst>
              <a:path w="2339495" h="4241523">
                <a:moveTo>
                  <a:pt x="38041" y="0"/>
                </a:moveTo>
                <a:lnTo>
                  <a:pt x="2301454" y="0"/>
                </a:lnTo>
                <a:cubicBezTo>
                  <a:pt x="2322463" y="0"/>
                  <a:pt x="2339495" y="17031"/>
                  <a:pt x="2339495" y="38041"/>
                </a:cubicBezTo>
                <a:lnTo>
                  <a:pt x="2339495" y="4127402"/>
                </a:lnTo>
                <a:cubicBezTo>
                  <a:pt x="2339495" y="4190429"/>
                  <a:pt x="2288401" y="4241523"/>
                  <a:pt x="2225374" y="4241523"/>
                </a:cubicBezTo>
                <a:lnTo>
                  <a:pt x="114121" y="4241523"/>
                </a:lnTo>
                <a:cubicBezTo>
                  <a:pt x="51094" y="4241523"/>
                  <a:pt x="0" y="4190429"/>
                  <a:pt x="0" y="4127402"/>
                </a:cubicBez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400580" y="1852455"/>
            <a:ext cx="2339495" cy="38041"/>
          </a:xfrm>
          <a:custGeom>
            <a:avLst/>
            <a:gdLst/>
            <a:ahLst/>
            <a:cxnLst/>
            <a:rect l="l" t="t" r="r" b="b"/>
            <a:pathLst>
              <a:path w="2339495" h="38041">
                <a:moveTo>
                  <a:pt x="38041" y="0"/>
                </a:moveTo>
                <a:lnTo>
                  <a:pt x="2301454" y="0"/>
                </a:lnTo>
                <a:cubicBezTo>
                  <a:pt x="2322463" y="0"/>
                  <a:pt x="2339495" y="17031"/>
                  <a:pt x="2339495" y="38041"/>
                </a:cubicBezTo>
                <a:lnTo>
                  <a:pt x="2339495" y="38041"/>
                </a:lnTo>
                <a:lnTo>
                  <a:pt x="0" y="38041"/>
                </a:ln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42" name="Shape 40"/>
          <p:cNvSpPr/>
          <p:nvPr/>
        </p:nvSpPr>
        <p:spPr>
          <a:xfrm>
            <a:off x="4514701" y="1985597"/>
            <a:ext cx="532568" cy="532568"/>
          </a:xfrm>
          <a:custGeom>
            <a:avLst/>
            <a:gdLst/>
            <a:ahLst/>
            <a:cxnLst/>
            <a:rect l="l" t="t" r="r" b="b"/>
            <a:pathLst>
              <a:path w="532568" h="532568">
                <a:moveTo>
                  <a:pt x="266284" y="0"/>
                </a:moveTo>
                <a:lnTo>
                  <a:pt x="266284" y="0"/>
                </a:lnTo>
                <a:cubicBezTo>
                  <a:pt x="413250" y="0"/>
                  <a:pt x="532568" y="119318"/>
                  <a:pt x="532568" y="266284"/>
                </a:cubicBezTo>
                <a:lnTo>
                  <a:pt x="532568" y="266284"/>
                </a:lnTo>
                <a:cubicBezTo>
                  <a:pt x="532568" y="413250"/>
                  <a:pt x="413250" y="532568"/>
                  <a:pt x="266284" y="532568"/>
                </a:cubicBezTo>
                <a:lnTo>
                  <a:pt x="266284" y="532568"/>
                </a:lnTo>
                <a:cubicBezTo>
                  <a:pt x="119318" y="532568"/>
                  <a:pt x="0" y="413250"/>
                  <a:pt x="0" y="266284"/>
                </a:cubicBezTo>
                <a:lnTo>
                  <a:pt x="0" y="266284"/>
                </a:lnTo>
                <a:cubicBezTo>
                  <a:pt x="0" y="119318"/>
                  <a:pt x="119318" y="0"/>
                  <a:pt x="266284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43" name="Text 41"/>
          <p:cNvSpPr/>
          <p:nvPr/>
        </p:nvSpPr>
        <p:spPr>
          <a:xfrm>
            <a:off x="4494017" y="2080698"/>
            <a:ext cx="713261" cy="342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6" b="1" dirty="0">
                <a:solidFill>
                  <a:srgbClr val="1A1D21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60%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161391" y="2118739"/>
            <a:ext cx="1207788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8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"技术小白"型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524212" y="3374078"/>
            <a:ext cx="133142" cy="152162"/>
          </a:xfrm>
          <a:custGeom>
            <a:avLst/>
            <a:gdLst/>
            <a:ahLst/>
            <a:cxnLst/>
            <a:rect l="l" t="t" r="r" b="b"/>
            <a:pathLst>
              <a:path w="133142" h="152162">
                <a:moveTo>
                  <a:pt x="66571" y="73704"/>
                </a:moveTo>
                <a:cubicBezTo>
                  <a:pt x="86254" y="73704"/>
                  <a:pt x="102234" y="57724"/>
                  <a:pt x="102234" y="38041"/>
                </a:cubicBezTo>
                <a:cubicBezTo>
                  <a:pt x="102234" y="18358"/>
                  <a:pt x="86254" y="2378"/>
                  <a:pt x="66571" y="2378"/>
                </a:cubicBezTo>
                <a:cubicBezTo>
                  <a:pt x="46888" y="2378"/>
                  <a:pt x="30908" y="18358"/>
                  <a:pt x="30908" y="38041"/>
                </a:cubicBezTo>
                <a:cubicBezTo>
                  <a:pt x="30908" y="57724"/>
                  <a:pt x="46888" y="73704"/>
                  <a:pt x="66571" y="73704"/>
                </a:cubicBezTo>
                <a:close/>
                <a:moveTo>
                  <a:pt x="57744" y="90346"/>
                </a:moveTo>
                <a:cubicBezTo>
                  <a:pt x="28471" y="90346"/>
                  <a:pt x="4755" y="114062"/>
                  <a:pt x="4755" y="143336"/>
                </a:cubicBezTo>
                <a:cubicBezTo>
                  <a:pt x="4755" y="148210"/>
                  <a:pt x="8708" y="152162"/>
                  <a:pt x="13582" y="152162"/>
                </a:cubicBezTo>
                <a:lnTo>
                  <a:pt x="119560" y="152162"/>
                </a:lnTo>
                <a:cubicBezTo>
                  <a:pt x="124434" y="152162"/>
                  <a:pt x="128387" y="148210"/>
                  <a:pt x="128387" y="143336"/>
                </a:cubicBezTo>
                <a:cubicBezTo>
                  <a:pt x="128387" y="114062"/>
                  <a:pt x="104671" y="90346"/>
                  <a:pt x="75398" y="90346"/>
                </a:cubicBezTo>
                <a:lnTo>
                  <a:pt x="57744" y="90346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46" name="Text 44"/>
          <p:cNvSpPr/>
          <p:nvPr/>
        </p:nvSpPr>
        <p:spPr>
          <a:xfrm>
            <a:off x="4742945" y="3336037"/>
            <a:ext cx="1959089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人群特征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742945" y="3564280"/>
            <a:ext cx="1949579" cy="38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文科院系女生为主，对电脑硬件知识匮乏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514701" y="4020767"/>
            <a:ext cx="152162" cy="152162"/>
          </a:xfrm>
          <a:custGeom>
            <a:avLst/>
            <a:gdLst/>
            <a:ahLst/>
            <a:cxnLst/>
            <a:rect l="l" t="t" r="r" b="b"/>
            <a:pathLst>
              <a:path w="152162" h="152162">
                <a:moveTo>
                  <a:pt x="76081" y="152162"/>
                </a:moveTo>
                <a:cubicBezTo>
                  <a:pt x="118071" y="152162"/>
                  <a:pt x="152162" y="118071"/>
                  <a:pt x="152162" y="76081"/>
                </a:cubicBezTo>
                <a:cubicBezTo>
                  <a:pt x="152162" y="34091"/>
                  <a:pt x="118071" y="0"/>
                  <a:pt x="76081" y="0"/>
                </a:cubicBezTo>
                <a:cubicBezTo>
                  <a:pt x="34091" y="0"/>
                  <a:pt x="0" y="34091"/>
                  <a:pt x="0" y="76081"/>
                </a:cubicBezTo>
                <a:cubicBezTo>
                  <a:pt x="0" y="118071"/>
                  <a:pt x="34091" y="152162"/>
                  <a:pt x="76081" y="152162"/>
                </a:cubicBezTo>
                <a:close/>
                <a:moveTo>
                  <a:pt x="76081" y="40418"/>
                </a:moveTo>
                <a:cubicBezTo>
                  <a:pt x="80034" y="40418"/>
                  <a:pt x="83214" y="43598"/>
                  <a:pt x="83214" y="47551"/>
                </a:cubicBezTo>
                <a:lnTo>
                  <a:pt x="83214" y="80836"/>
                </a:lnTo>
                <a:cubicBezTo>
                  <a:pt x="83214" y="84789"/>
                  <a:pt x="80034" y="87969"/>
                  <a:pt x="76081" y="87969"/>
                </a:cubicBezTo>
                <a:cubicBezTo>
                  <a:pt x="72128" y="87969"/>
                  <a:pt x="68949" y="84789"/>
                  <a:pt x="68949" y="80836"/>
                </a:cubicBezTo>
                <a:lnTo>
                  <a:pt x="68949" y="47551"/>
                </a:lnTo>
                <a:cubicBezTo>
                  <a:pt x="68949" y="43598"/>
                  <a:pt x="72128" y="40418"/>
                  <a:pt x="76081" y="40418"/>
                </a:cubicBezTo>
                <a:close/>
                <a:moveTo>
                  <a:pt x="68146" y="104612"/>
                </a:moveTo>
                <a:cubicBezTo>
                  <a:pt x="67966" y="101666"/>
                  <a:pt x="69434" y="98864"/>
                  <a:pt x="71959" y="97337"/>
                </a:cubicBezTo>
                <a:cubicBezTo>
                  <a:pt x="74484" y="95809"/>
                  <a:pt x="77648" y="95809"/>
                  <a:pt x="80173" y="97337"/>
                </a:cubicBezTo>
                <a:cubicBezTo>
                  <a:pt x="82698" y="98864"/>
                  <a:pt x="84167" y="101666"/>
                  <a:pt x="83986" y="104612"/>
                </a:cubicBezTo>
                <a:cubicBezTo>
                  <a:pt x="84167" y="107557"/>
                  <a:pt x="82698" y="110359"/>
                  <a:pt x="80173" y="111886"/>
                </a:cubicBezTo>
                <a:cubicBezTo>
                  <a:pt x="77648" y="113414"/>
                  <a:pt x="74484" y="113414"/>
                  <a:pt x="71959" y="111886"/>
                </a:cubicBezTo>
                <a:cubicBezTo>
                  <a:pt x="69434" y="110359"/>
                  <a:pt x="67966" y="107557"/>
                  <a:pt x="68146" y="104612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49" name="Text 47"/>
          <p:cNvSpPr/>
          <p:nvPr/>
        </p:nvSpPr>
        <p:spPr>
          <a:xfrm>
            <a:off x="4742945" y="3982727"/>
            <a:ext cx="1959089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核心痛点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742945" y="4210970"/>
            <a:ext cx="1949579" cy="38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遇到电脑问题束手无策，急需便捷、靠谱的上门服务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514701" y="4667457"/>
            <a:ext cx="152162" cy="152162"/>
          </a:xfrm>
          <a:custGeom>
            <a:avLst/>
            <a:gdLst/>
            <a:ahLst/>
            <a:cxnLst/>
            <a:rect l="l" t="t" r="r" b="b"/>
            <a:pathLst>
              <a:path w="152162" h="152162">
                <a:moveTo>
                  <a:pt x="76081" y="152162"/>
                </a:moveTo>
                <a:cubicBezTo>
                  <a:pt x="118071" y="152162"/>
                  <a:pt x="152162" y="118071"/>
                  <a:pt x="152162" y="76081"/>
                </a:cubicBezTo>
                <a:cubicBezTo>
                  <a:pt x="152162" y="34091"/>
                  <a:pt x="118071" y="0"/>
                  <a:pt x="76081" y="0"/>
                </a:cubicBezTo>
                <a:cubicBezTo>
                  <a:pt x="34091" y="0"/>
                  <a:pt x="0" y="34091"/>
                  <a:pt x="0" y="76081"/>
                </a:cubicBezTo>
                <a:cubicBezTo>
                  <a:pt x="0" y="118071"/>
                  <a:pt x="34091" y="152162"/>
                  <a:pt x="76081" y="152162"/>
                </a:cubicBezTo>
                <a:close/>
                <a:moveTo>
                  <a:pt x="101164" y="63213"/>
                </a:moveTo>
                <a:lnTo>
                  <a:pt x="77389" y="101253"/>
                </a:lnTo>
                <a:cubicBezTo>
                  <a:pt x="76141" y="103244"/>
                  <a:pt x="74001" y="104493"/>
                  <a:pt x="71653" y="104612"/>
                </a:cubicBezTo>
                <a:cubicBezTo>
                  <a:pt x="69305" y="104730"/>
                  <a:pt x="67046" y="103661"/>
                  <a:pt x="65650" y="101759"/>
                </a:cubicBezTo>
                <a:lnTo>
                  <a:pt x="51384" y="82738"/>
                </a:lnTo>
                <a:cubicBezTo>
                  <a:pt x="49007" y="79588"/>
                  <a:pt x="49661" y="75130"/>
                  <a:pt x="52811" y="72753"/>
                </a:cubicBezTo>
                <a:cubicBezTo>
                  <a:pt x="55961" y="70375"/>
                  <a:pt x="60419" y="71029"/>
                  <a:pt x="62797" y="74179"/>
                </a:cubicBezTo>
                <a:lnTo>
                  <a:pt x="70821" y="84878"/>
                </a:lnTo>
                <a:lnTo>
                  <a:pt x="89068" y="55664"/>
                </a:lnTo>
                <a:cubicBezTo>
                  <a:pt x="91149" y="52335"/>
                  <a:pt x="95547" y="51295"/>
                  <a:pt x="98905" y="53405"/>
                </a:cubicBezTo>
                <a:cubicBezTo>
                  <a:pt x="102264" y="55515"/>
                  <a:pt x="103274" y="59884"/>
                  <a:pt x="101164" y="63242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52" name="Text 50"/>
          <p:cNvSpPr/>
          <p:nvPr/>
        </p:nvSpPr>
        <p:spPr>
          <a:xfrm>
            <a:off x="4742945" y="4629416"/>
            <a:ext cx="1959089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需求场景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742945" y="4857659"/>
            <a:ext cx="1949579" cy="38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系统重装、病毒查杀、软件调试等基础维护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854909" y="1852455"/>
            <a:ext cx="2339495" cy="4241523"/>
          </a:xfrm>
          <a:custGeom>
            <a:avLst/>
            <a:gdLst/>
            <a:ahLst/>
            <a:cxnLst/>
            <a:rect l="l" t="t" r="r" b="b"/>
            <a:pathLst>
              <a:path w="2339495" h="4241523">
                <a:moveTo>
                  <a:pt x="38041" y="0"/>
                </a:moveTo>
                <a:lnTo>
                  <a:pt x="2301454" y="0"/>
                </a:lnTo>
                <a:cubicBezTo>
                  <a:pt x="2322463" y="0"/>
                  <a:pt x="2339495" y="17031"/>
                  <a:pt x="2339495" y="38041"/>
                </a:cubicBezTo>
                <a:lnTo>
                  <a:pt x="2339495" y="4127402"/>
                </a:lnTo>
                <a:cubicBezTo>
                  <a:pt x="2339495" y="4190429"/>
                  <a:pt x="2288401" y="4241523"/>
                  <a:pt x="2225374" y="4241523"/>
                </a:cubicBezTo>
                <a:lnTo>
                  <a:pt x="114121" y="4241523"/>
                </a:lnTo>
                <a:cubicBezTo>
                  <a:pt x="51094" y="4241523"/>
                  <a:pt x="0" y="4190429"/>
                  <a:pt x="0" y="4127402"/>
                </a:cubicBez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854909" y="1852455"/>
            <a:ext cx="2339495" cy="38041"/>
          </a:xfrm>
          <a:custGeom>
            <a:avLst/>
            <a:gdLst/>
            <a:ahLst/>
            <a:cxnLst/>
            <a:rect l="l" t="t" r="r" b="b"/>
            <a:pathLst>
              <a:path w="2339495" h="38041">
                <a:moveTo>
                  <a:pt x="38041" y="0"/>
                </a:moveTo>
                <a:lnTo>
                  <a:pt x="2301454" y="0"/>
                </a:lnTo>
                <a:cubicBezTo>
                  <a:pt x="2322463" y="0"/>
                  <a:pt x="2339495" y="17031"/>
                  <a:pt x="2339495" y="38041"/>
                </a:cubicBezTo>
                <a:lnTo>
                  <a:pt x="2339495" y="38041"/>
                </a:lnTo>
                <a:lnTo>
                  <a:pt x="0" y="38041"/>
                </a:ln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56" name="Shape 54"/>
          <p:cNvSpPr/>
          <p:nvPr/>
        </p:nvSpPr>
        <p:spPr>
          <a:xfrm>
            <a:off x="6969031" y="1985597"/>
            <a:ext cx="532568" cy="532568"/>
          </a:xfrm>
          <a:custGeom>
            <a:avLst/>
            <a:gdLst/>
            <a:ahLst/>
            <a:cxnLst/>
            <a:rect l="l" t="t" r="r" b="b"/>
            <a:pathLst>
              <a:path w="532568" h="532568">
                <a:moveTo>
                  <a:pt x="266284" y="0"/>
                </a:moveTo>
                <a:lnTo>
                  <a:pt x="266284" y="0"/>
                </a:lnTo>
                <a:cubicBezTo>
                  <a:pt x="413250" y="0"/>
                  <a:pt x="532568" y="119318"/>
                  <a:pt x="532568" y="266284"/>
                </a:cubicBezTo>
                <a:lnTo>
                  <a:pt x="532568" y="266284"/>
                </a:lnTo>
                <a:cubicBezTo>
                  <a:pt x="532568" y="413250"/>
                  <a:pt x="413250" y="532568"/>
                  <a:pt x="266284" y="532568"/>
                </a:cubicBezTo>
                <a:lnTo>
                  <a:pt x="266284" y="532568"/>
                </a:lnTo>
                <a:cubicBezTo>
                  <a:pt x="119318" y="532568"/>
                  <a:pt x="0" y="413250"/>
                  <a:pt x="0" y="266284"/>
                </a:cubicBezTo>
                <a:lnTo>
                  <a:pt x="0" y="266284"/>
                </a:lnTo>
                <a:cubicBezTo>
                  <a:pt x="0" y="119318"/>
                  <a:pt x="119318" y="0"/>
                  <a:pt x="266284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57" name="Text 55"/>
          <p:cNvSpPr/>
          <p:nvPr/>
        </p:nvSpPr>
        <p:spPr>
          <a:xfrm>
            <a:off x="6948346" y="2080698"/>
            <a:ext cx="713261" cy="342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6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30%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615720" y="2118739"/>
            <a:ext cx="1397991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8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"性价比追求"型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978541" y="3374078"/>
            <a:ext cx="133142" cy="152162"/>
          </a:xfrm>
          <a:custGeom>
            <a:avLst/>
            <a:gdLst/>
            <a:ahLst/>
            <a:cxnLst/>
            <a:rect l="l" t="t" r="r" b="b"/>
            <a:pathLst>
              <a:path w="133142" h="152162">
                <a:moveTo>
                  <a:pt x="66571" y="73704"/>
                </a:moveTo>
                <a:cubicBezTo>
                  <a:pt x="86254" y="73704"/>
                  <a:pt x="102234" y="57724"/>
                  <a:pt x="102234" y="38041"/>
                </a:cubicBezTo>
                <a:cubicBezTo>
                  <a:pt x="102234" y="18358"/>
                  <a:pt x="86254" y="2378"/>
                  <a:pt x="66571" y="2378"/>
                </a:cubicBezTo>
                <a:cubicBezTo>
                  <a:pt x="46888" y="2378"/>
                  <a:pt x="30908" y="18358"/>
                  <a:pt x="30908" y="38041"/>
                </a:cubicBezTo>
                <a:cubicBezTo>
                  <a:pt x="30908" y="57724"/>
                  <a:pt x="46888" y="73704"/>
                  <a:pt x="66571" y="73704"/>
                </a:cubicBezTo>
                <a:close/>
                <a:moveTo>
                  <a:pt x="57744" y="90346"/>
                </a:moveTo>
                <a:cubicBezTo>
                  <a:pt x="28471" y="90346"/>
                  <a:pt x="4755" y="114062"/>
                  <a:pt x="4755" y="143336"/>
                </a:cubicBezTo>
                <a:cubicBezTo>
                  <a:pt x="4755" y="148210"/>
                  <a:pt x="8708" y="152162"/>
                  <a:pt x="13582" y="152162"/>
                </a:cubicBezTo>
                <a:lnTo>
                  <a:pt x="119560" y="152162"/>
                </a:lnTo>
                <a:cubicBezTo>
                  <a:pt x="124434" y="152162"/>
                  <a:pt x="128387" y="148210"/>
                  <a:pt x="128387" y="143336"/>
                </a:cubicBezTo>
                <a:cubicBezTo>
                  <a:pt x="128387" y="114062"/>
                  <a:pt x="104671" y="90346"/>
                  <a:pt x="75398" y="90346"/>
                </a:cubicBezTo>
                <a:lnTo>
                  <a:pt x="57744" y="90346"/>
                </a:ln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60" name="Text 58"/>
          <p:cNvSpPr/>
          <p:nvPr/>
        </p:nvSpPr>
        <p:spPr>
          <a:xfrm>
            <a:off x="7197274" y="3336037"/>
            <a:ext cx="1959089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人群特征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197274" y="3564280"/>
            <a:ext cx="1949579" cy="38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预算有限，家庭月收入&lt;8000元学生占比60%以上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969031" y="4020767"/>
            <a:ext cx="152162" cy="152162"/>
          </a:xfrm>
          <a:custGeom>
            <a:avLst/>
            <a:gdLst/>
            <a:ahLst/>
            <a:cxnLst/>
            <a:rect l="l" t="t" r="r" b="b"/>
            <a:pathLst>
              <a:path w="152162" h="152162">
                <a:moveTo>
                  <a:pt x="76081" y="152162"/>
                </a:moveTo>
                <a:cubicBezTo>
                  <a:pt x="118071" y="152162"/>
                  <a:pt x="152162" y="118071"/>
                  <a:pt x="152162" y="76081"/>
                </a:cubicBezTo>
                <a:cubicBezTo>
                  <a:pt x="152162" y="34091"/>
                  <a:pt x="118071" y="0"/>
                  <a:pt x="76081" y="0"/>
                </a:cubicBezTo>
                <a:cubicBezTo>
                  <a:pt x="34091" y="0"/>
                  <a:pt x="0" y="34091"/>
                  <a:pt x="0" y="76081"/>
                </a:cubicBezTo>
                <a:cubicBezTo>
                  <a:pt x="0" y="118071"/>
                  <a:pt x="34091" y="152162"/>
                  <a:pt x="76081" y="152162"/>
                </a:cubicBezTo>
                <a:close/>
                <a:moveTo>
                  <a:pt x="76081" y="40418"/>
                </a:moveTo>
                <a:cubicBezTo>
                  <a:pt x="80034" y="40418"/>
                  <a:pt x="83214" y="43598"/>
                  <a:pt x="83214" y="47551"/>
                </a:cubicBezTo>
                <a:lnTo>
                  <a:pt x="83214" y="80836"/>
                </a:lnTo>
                <a:cubicBezTo>
                  <a:pt x="83214" y="84789"/>
                  <a:pt x="80034" y="87969"/>
                  <a:pt x="76081" y="87969"/>
                </a:cubicBezTo>
                <a:cubicBezTo>
                  <a:pt x="72128" y="87969"/>
                  <a:pt x="68949" y="84789"/>
                  <a:pt x="68949" y="80836"/>
                </a:cubicBezTo>
                <a:lnTo>
                  <a:pt x="68949" y="47551"/>
                </a:lnTo>
                <a:cubicBezTo>
                  <a:pt x="68949" y="43598"/>
                  <a:pt x="72128" y="40418"/>
                  <a:pt x="76081" y="40418"/>
                </a:cubicBezTo>
                <a:close/>
                <a:moveTo>
                  <a:pt x="68146" y="104612"/>
                </a:moveTo>
                <a:cubicBezTo>
                  <a:pt x="67966" y="101666"/>
                  <a:pt x="69434" y="98864"/>
                  <a:pt x="71959" y="97337"/>
                </a:cubicBezTo>
                <a:cubicBezTo>
                  <a:pt x="74484" y="95809"/>
                  <a:pt x="77648" y="95809"/>
                  <a:pt x="80173" y="97337"/>
                </a:cubicBezTo>
                <a:cubicBezTo>
                  <a:pt x="82698" y="98864"/>
                  <a:pt x="84167" y="101666"/>
                  <a:pt x="83986" y="104612"/>
                </a:cubicBezTo>
                <a:cubicBezTo>
                  <a:pt x="84167" y="107557"/>
                  <a:pt x="82698" y="110359"/>
                  <a:pt x="80173" y="111886"/>
                </a:cubicBezTo>
                <a:cubicBezTo>
                  <a:pt x="77648" y="113414"/>
                  <a:pt x="74484" y="113414"/>
                  <a:pt x="71959" y="111886"/>
                </a:cubicBezTo>
                <a:cubicBezTo>
                  <a:pt x="69434" y="110359"/>
                  <a:pt x="67966" y="107557"/>
                  <a:pt x="68146" y="104612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63" name="Text 61"/>
          <p:cNvSpPr/>
          <p:nvPr/>
        </p:nvSpPr>
        <p:spPr>
          <a:xfrm>
            <a:off x="7197274" y="3982727"/>
            <a:ext cx="1959089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核心痛点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197274" y="4210970"/>
            <a:ext cx="1949579" cy="38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追求高性价比，希望获得实惠的维修和二手产品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969031" y="4667457"/>
            <a:ext cx="152162" cy="152162"/>
          </a:xfrm>
          <a:custGeom>
            <a:avLst/>
            <a:gdLst/>
            <a:ahLst/>
            <a:cxnLst/>
            <a:rect l="l" t="t" r="r" b="b"/>
            <a:pathLst>
              <a:path w="152162" h="152162">
                <a:moveTo>
                  <a:pt x="76081" y="152162"/>
                </a:moveTo>
                <a:cubicBezTo>
                  <a:pt x="118071" y="152162"/>
                  <a:pt x="152162" y="118071"/>
                  <a:pt x="152162" y="76081"/>
                </a:cubicBezTo>
                <a:cubicBezTo>
                  <a:pt x="152162" y="34091"/>
                  <a:pt x="118071" y="0"/>
                  <a:pt x="76081" y="0"/>
                </a:cubicBezTo>
                <a:cubicBezTo>
                  <a:pt x="34091" y="0"/>
                  <a:pt x="0" y="34091"/>
                  <a:pt x="0" y="76081"/>
                </a:cubicBezTo>
                <a:cubicBezTo>
                  <a:pt x="0" y="118071"/>
                  <a:pt x="34091" y="152162"/>
                  <a:pt x="76081" y="152162"/>
                </a:cubicBezTo>
                <a:close/>
                <a:moveTo>
                  <a:pt x="101164" y="63213"/>
                </a:moveTo>
                <a:lnTo>
                  <a:pt x="77389" y="101253"/>
                </a:lnTo>
                <a:cubicBezTo>
                  <a:pt x="76141" y="103244"/>
                  <a:pt x="74001" y="104493"/>
                  <a:pt x="71653" y="104612"/>
                </a:cubicBezTo>
                <a:cubicBezTo>
                  <a:pt x="69305" y="104730"/>
                  <a:pt x="67046" y="103661"/>
                  <a:pt x="65650" y="101759"/>
                </a:cubicBezTo>
                <a:lnTo>
                  <a:pt x="51384" y="82738"/>
                </a:lnTo>
                <a:cubicBezTo>
                  <a:pt x="49007" y="79588"/>
                  <a:pt x="49661" y="75130"/>
                  <a:pt x="52811" y="72753"/>
                </a:cubicBezTo>
                <a:cubicBezTo>
                  <a:pt x="55961" y="70375"/>
                  <a:pt x="60419" y="71029"/>
                  <a:pt x="62797" y="74179"/>
                </a:cubicBezTo>
                <a:lnTo>
                  <a:pt x="70821" y="84878"/>
                </a:lnTo>
                <a:lnTo>
                  <a:pt x="89068" y="55664"/>
                </a:lnTo>
                <a:cubicBezTo>
                  <a:pt x="91149" y="52335"/>
                  <a:pt x="95547" y="51295"/>
                  <a:pt x="98905" y="53405"/>
                </a:cubicBezTo>
                <a:cubicBezTo>
                  <a:pt x="102264" y="55515"/>
                  <a:pt x="103274" y="59884"/>
                  <a:pt x="101164" y="63242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66" name="Text 64"/>
          <p:cNvSpPr/>
          <p:nvPr/>
        </p:nvSpPr>
        <p:spPr>
          <a:xfrm>
            <a:off x="7197274" y="4629416"/>
            <a:ext cx="1959089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需求场景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197274" y="4857659"/>
            <a:ext cx="1949579" cy="38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二手设备购买、配件升级等性价比优先的服务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309358" y="1852455"/>
            <a:ext cx="2339495" cy="4241523"/>
          </a:xfrm>
          <a:custGeom>
            <a:avLst/>
            <a:gdLst/>
            <a:ahLst/>
            <a:cxnLst/>
            <a:rect l="l" t="t" r="r" b="b"/>
            <a:pathLst>
              <a:path w="2339495" h="4241523">
                <a:moveTo>
                  <a:pt x="38041" y="0"/>
                </a:moveTo>
                <a:lnTo>
                  <a:pt x="2301454" y="0"/>
                </a:lnTo>
                <a:cubicBezTo>
                  <a:pt x="2322463" y="0"/>
                  <a:pt x="2339495" y="17031"/>
                  <a:pt x="2339495" y="38041"/>
                </a:cubicBezTo>
                <a:lnTo>
                  <a:pt x="2339495" y="4127402"/>
                </a:lnTo>
                <a:cubicBezTo>
                  <a:pt x="2339495" y="4190429"/>
                  <a:pt x="2288401" y="4241523"/>
                  <a:pt x="2225374" y="4241523"/>
                </a:cubicBezTo>
                <a:lnTo>
                  <a:pt x="114121" y="4241523"/>
                </a:lnTo>
                <a:cubicBezTo>
                  <a:pt x="51094" y="4241523"/>
                  <a:pt x="0" y="4190429"/>
                  <a:pt x="0" y="4127402"/>
                </a:cubicBez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309358" y="1852455"/>
            <a:ext cx="2339495" cy="38041"/>
          </a:xfrm>
          <a:custGeom>
            <a:avLst/>
            <a:gdLst/>
            <a:ahLst/>
            <a:cxnLst/>
            <a:rect l="l" t="t" r="r" b="b"/>
            <a:pathLst>
              <a:path w="2339495" h="38041">
                <a:moveTo>
                  <a:pt x="38041" y="0"/>
                </a:moveTo>
                <a:lnTo>
                  <a:pt x="2301454" y="0"/>
                </a:lnTo>
                <a:cubicBezTo>
                  <a:pt x="2322463" y="0"/>
                  <a:pt x="2339495" y="17031"/>
                  <a:pt x="2339495" y="38041"/>
                </a:cubicBezTo>
                <a:lnTo>
                  <a:pt x="2339495" y="38041"/>
                </a:lnTo>
                <a:lnTo>
                  <a:pt x="0" y="38041"/>
                </a:lnTo>
                <a:lnTo>
                  <a:pt x="0" y="38041"/>
                </a:lnTo>
                <a:cubicBezTo>
                  <a:pt x="0" y="17045"/>
                  <a:pt x="17045" y="0"/>
                  <a:pt x="38041" y="0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70" name="Shape 68"/>
          <p:cNvSpPr/>
          <p:nvPr/>
        </p:nvSpPr>
        <p:spPr>
          <a:xfrm>
            <a:off x="9423479" y="1985597"/>
            <a:ext cx="532568" cy="532568"/>
          </a:xfrm>
          <a:custGeom>
            <a:avLst/>
            <a:gdLst/>
            <a:ahLst/>
            <a:cxnLst/>
            <a:rect l="l" t="t" r="r" b="b"/>
            <a:pathLst>
              <a:path w="532568" h="532568">
                <a:moveTo>
                  <a:pt x="266284" y="0"/>
                </a:moveTo>
                <a:lnTo>
                  <a:pt x="266284" y="0"/>
                </a:lnTo>
                <a:cubicBezTo>
                  <a:pt x="413250" y="0"/>
                  <a:pt x="532568" y="119318"/>
                  <a:pt x="532568" y="266284"/>
                </a:cubicBezTo>
                <a:lnTo>
                  <a:pt x="532568" y="266284"/>
                </a:lnTo>
                <a:cubicBezTo>
                  <a:pt x="532568" y="413250"/>
                  <a:pt x="413250" y="532568"/>
                  <a:pt x="266284" y="532568"/>
                </a:cubicBezTo>
                <a:lnTo>
                  <a:pt x="266284" y="532568"/>
                </a:lnTo>
                <a:cubicBezTo>
                  <a:pt x="119318" y="532568"/>
                  <a:pt x="0" y="413250"/>
                  <a:pt x="0" y="266284"/>
                </a:cubicBezTo>
                <a:lnTo>
                  <a:pt x="0" y="266284"/>
                </a:lnTo>
                <a:cubicBezTo>
                  <a:pt x="0" y="119318"/>
                  <a:pt x="119318" y="0"/>
                  <a:pt x="266284" y="0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71" name="Text 69"/>
          <p:cNvSpPr/>
          <p:nvPr/>
        </p:nvSpPr>
        <p:spPr>
          <a:xfrm>
            <a:off x="9402795" y="2080698"/>
            <a:ext cx="713261" cy="342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46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10%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0070169" y="2118739"/>
            <a:ext cx="1493092" cy="26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8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"高性能/游戏"型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432990" y="3374078"/>
            <a:ext cx="133142" cy="152162"/>
          </a:xfrm>
          <a:custGeom>
            <a:avLst/>
            <a:gdLst/>
            <a:ahLst/>
            <a:cxnLst/>
            <a:rect l="l" t="t" r="r" b="b"/>
            <a:pathLst>
              <a:path w="133142" h="152162">
                <a:moveTo>
                  <a:pt x="66571" y="73704"/>
                </a:moveTo>
                <a:cubicBezTo>
                  <a:pt x="86254" y="73704"/>
                  <a:pt x="102234" y="57724"/>
                  <a:pt x="102234" y="38041"/>
                </a:cubicBezTo>
                <a:cubicBezTo>
                  <a:pt x="102234" y="18358"/>
                  <a:pt x="86254" y="2378"/>
                  <a:pt x="66571" y="2378"/>
                </a:cubicBezTo>
                <a:cubicBezTo>
                  <a:pt x="46888" y="2378"/>
                  <a:pt x="30908" y="18358"/>
                  <a:pt x="30908" y="38041"/>
                </a:cubicBezTo>
                <a:cubicBezTo>
                  <a:pt x="30908" y="57724"/>
                  <a:pt x="46888" y="73704"/>
                  <a:pt x="66571" y="73704"/>
                </a:cubicBezTo>
                <a:close/>
                <a:moveTo>
                  <a:pt x="57744" y="90346"/>
                </a:moveTo>
                <a:cubicBezTo>
                  <a:pt x="28471" y="90346"/>
                  <a:pt x="4755" y="114062"/>
                  <a:pt x="4755" y="143336"/>
                </a:cubicBezTo>
                <a:cubicBezTo>
                  <a:pt x="4755" y="148210"/>
                  <a:pt x="8708" y="152162"/>
                  <a:pt x="13582" y="152162"/>
                </a:cubicBezTo>
                <a:lnTo>
                  <a:pt x="119560" y="152162"/>
                </a:lnTo>
                <a:cubicBezTo>
                  <a:pt x="124434" y="152162"/>
                  <a:pt x="128387" y="148210"/>
                  <a:pt x="128387" y="143336"/>
                </a:cubicBezTo>
                <a:cubicBezTo>
                  <a:pt x="128387" y="114062"/>
                  <a:pt x="104671" y="90346"/>
                  <a:pt x="75398" y="90346"/>
                </a:cubicBezTo>
                <a:lnTo>
                  <a:pt x="57744" y="90346"/>
                </a:ln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74" name="Text 72"/>
          <p:cNvSpPr/>
          <p:nvPr/>
        </p:nvSpPr>
        <p:spPr>
          <a:xfrm>
            <a:off x="9651723" y="3336037"/>
            <a:ext cx="1959089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人群特征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9651723" y="3564280"/>
            <a:ext cx="1949579" cy="38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对电脑性能有高要求，计算机相关专业为主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9423479" y="4020767"/>
            <a:ext cx="152162" cy="152162"/>
          </a:xfrm>
          <a:custGeom>
            <a:avLst/>
            <a:gdLst/>
            <a:ahLst/>
            <a:cxnLst/>
            <a:rect l="l" t="t" r="r" b="b"/>
            <a:pathLst>
              <a:path w="152162" h="152162">
                <a:moveTo>
                  <a:pt x="76081" y="152162"/>
                </a:moveTo>
                <a:cubicBezTo>
                  <a:pt x="118071" y="152162"/>
                  <a:pt x="152162" y="118071"/>
                  <a:pt x="152162" y="76081"/>
                </a:cubicBezTo>
                <a:cubicBezTo>
                  <a:pt x="152162" y="34091"/>
                  <a:pt x="118071" y="0"/>
                  <a:pt x="76081" y="0"/>
                </a:cubicBezTo>
                <a:cubicBezTo>
                  <a:pt x="34091" y="0"/>
                  <a:pt x="0" y="34091"/>
                  <a:pt x="0" y="76081"/>
                </a:cubicBezTo>
                <a:cubicBezTo>
                  <a:pt x="0" y="118071"/>
                  <a:pt x="34091" y="152162"/>
                  <a:pt x="76081" y="152162"/>
                </a:cubicBezTo>
                <a:close/>
                <a:moveTo>
                  <a:pt x="76081" y="40418"/>
                </a:moveTo>
                <a:cubicBezTo>
                  <a:pt x="80034" y="40418"/>
                  <a:pt x="83214" y="43598"/>
                  <a:pt x="83214" y="47551"/>
                </a:cubicBezTo>
                <a:lnTo>
                  <a:pt x="83214" y="80836"/>
                </a:lnTo>
                <a:cubicBezTo>
                  <a:pt x="83214" y="84789"/>
                  <a:pt x="80034" y="87969"/>
                  <a:pt x="76081" y="87969"/>
                </a:cubicBezTo>
                <a:cubicBezTo>
                  <a:pt x="72128" y="87969"/>
                  <a:pt x="68949" y="84789"/>
                  <a:pt x="68949" y="80836"/>
                </a:cubicBezTo>
                <a:lnTo>
                  <a:pt x="68949" y="47551"/>
                </a:lnTo>
                <a:cubicBezTo>
                  <a:pt x="68949" y="43598"/>
                  <a:pt x="72128" y="40418"/>
                  <a:pt x="76081" y="40418"/>
                </a:cubicBezTo>
                <a:close/>
                <a:moveTo>
                  <a:pt x="68146" y="104612"/>
                </a:moveTo>
                <a:cubicBezTo>
                  <a:pt x="67966" y="101666"/>
                  <a:pt x="69434" y="98864"/>
                  <a:pt x="71959" y="97337"/>
                </a:cubicBezTo>
                <a:cubicBezTo>
                  <a:pt x="74484" y="95809"/>
                  <a:pt x="77648" y="95809"/>
                  <a:pt x="80173" y="97337"/>
                </a:cubicBezTo>
                <a:cubicBezTo>
                  <a:pt x="82698" y="98864"/>
                  <a:pt x="84167" y="101666"/>
                  <a:pt x="83986" y="104612"/>
                </a:cubicBezTo>
                <a:cubicBezTo>
                  <a:pt x="84167" y="107557"/>
                  <a:pt x="82698" y="110359"/>
                  <a:pt x="80173" y="111886"/>
                </a:cubicBezTo>
                <a:cubicBezTo>
                  <a:pt x="77648" y="113414"/>
                  <a:pt x="74484" y="113414"/>
                  <a:pt x="71959" y="111886"/>
                </a:cubicBezTo>
                <a:cubicBezTo>
                  <a:pt x="69434" y="110359"/>
                  <a:pt x="67966" y="107557"/>
                  <a:pt x="68146" y="104612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77" name="Text 75"/>
          <p:cNvSpPr/>
          <p:nvPr/>
        </p:nvSpPr>
        <p:spPr>
          <a:xfrm>
            <a:off x="9651723" y="3982727"/>
            <a:ext cx="1959089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核心痛点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9651723" y="4210970"/>
            <a:ext cx="1949579" cy="38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需要定期清灰、更换高性能硅脂或升级硬件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9423479" y="4667457"/>
            <a:ext cx="152162" cy="152162"/>
          </a:xfrm>
          <a:custGeom>
            <a:avLst/>
            <a:gdLst/>
            <a:ahLst/>
            <a:cxnLst/>
            <a:rect l="l" t="t" r="r" b="b"/>
            <a:pathLst>
              <a:path w="152162" h="152162">
                <a:moveTo>
                  <a:pt x="76081" y="152162"/>
                </a:moveTo>
                <a:cubicBezTo>
                  <a:pt x="118071" y="152162"/>
                  <a:pt x="152162" y="118071"/>
                  <a:pt x="152162" y="76081"/>
                </a:cubicBezTo>
                <a:cubicBezTo>
                  <a:pt x="152162" y="34091"/>
                  <a:pt x="118071" y="0"/>
                  <a:pt x="76081" y="0"/>
                </a:cubicBezTo>
                <a:cubicBezTo>
                  <a:pt x="34091" y="0"/>
                  <a:pt x="0" y="34091"/>
                  <a:pt x="0" y="76081"/>
                </a:cubicBezTo>
                <a:cubicBezTo>
                  <a:pt x="0" y="118071"/>
                  <a:pt x="34091" y="152162"/>
                  <a:pt x="76081" y="152162"/>
                </a:cubicBezTo>
                <a:close/>
                <a:moveTo>
                  <a:pt x="101164" y="63213"/>
                </a:moveTo>
                <a:lnTo>
                  <a:pt x="77389" y="101253"/>
                </a:lnTo>
                <a:cubicBezTo>
                  <a:pt x="76141" y="103244"/>
                  <a:pt x="74001" y="104493"/>
                  <a:pt x="71653" y="104612"/>
                </a:cubicBezTo>
                <a:cubicBezTo>
                  <a:pt x="69305" y="104730"/>
                  <a:pt x="67046" y="103661"/>
                  <a:pt x="65650" y="101759"/>
                </a:cubicBezTo>
                <a:lnTo>
                  <a:pt x="51384" y="82738"/>
                </a:lnTo>
                <a:cubicBezTo>
                  <a:pt x="49007" y="79588"/>
                  <a:pt x="49661" y="75130"/>
                  <a:pt x="52811" y="72753"/>
                </a:cubicBezTo>
                <a:cubicBezTo>
                  <a:pt x="55961" y="70375"/>
                  <a:pt x="60419" y="71029"/>
                  <a:pt x="62797" y="74179"/>
                </a:cubicBezTo>
                <a:lnTo>
                  <a:pt x="70821" y="84878"/>
                </a:lnTo>
                <a:lnTo>
                  <a:pt x="89068" y="55664"/>
                </a:lnTo>
                <a:cubicBezTo>
                  <a:pt x="91149" y="52335"/>
                  <a:pt x="95547" y="51295"/>
                  <a:pt x="98905" y="53405"/>
                </a:cubicBezTo>
                <a:cubicBezTo>
                  <a:pt x="102264" y="55515"/>
                  <a:pt x="103274" y="59884"/>
                  <a:pt x="101164" y="63242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80" name="Text 78"/>
          <p:cNvSpPr/>
          <p:nvPr/>
        </p:nvSpPr>
        <p:spPr>
          <a:xfrm>
            <a:off x="9651723" y="4629416"/>
            <a:ext cx="1959089" cy="228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需求场景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9651723" y="4857659"/>
            <a:ext cx="1949579" cy="380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8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硬件升级、性能优化、散热改造等专业服务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4404384" y="6212024"/>
            <a:ext cx="7244825" cy="483115"/>
          </a:xfrm>
          <a:custGeom>
            <a:avLst/>
            <a:gdLst/>
            <a:ahLst/>
            <a:cxnLst/>
            <a:rect l="l" t="t" r="r" b="b"/>
            <a:pathLst>
              <a:path w="7244825" h="483115">
                <a:moveTo>
                  <a:pt x="76081" y="0"/>
                </a:moveTo>
                <a:lnTo>
                  <a:pt x="7168744" y="0"/>
                </a:lnTo>
                <a:cubicBezTo>
                  <a:pt x="7210762" y="0"/>
                  <a:pt x="7244825" y="34063"/>
                  <a:pt x="7244825" y="76081"/>
                </a:cubicBezTo>
                <a:lnTo>
                  <a:pt x="7244825" y="407034"/>
                </a:lnTo>
                <a:cubicBezTo>
                  <a:pt x="7244825" y="449053"/>
                  <a:pt x="7210762" y="483115"/>
                  <a:pt x="7168744" y="483115"/>
                </a:cubicBezTo>
                <a:lnTo>
                  <a:pt x="76081" y="483115"/>
                </a:lnTo>
                <a:cubicBezTo>
                  <a:pt x="34063" y="483115"/>
                  <a:pt x="0" y="449053"/>
                  <a:pt x="0" y="407034"/>
                </a:cubicBezTo>
                <a:lnTo>
                  <a:pt x="0" y="76081"/>
                </a:lnTo>
                <a:cubicBezTo>
                  <a:pt x="0" y="34091"/>
                  <a:pt x="34091" y="0"/>
                  <a:pt x="76081" y="0"/>
                </a:cubicBezTo>
                <a:close/>
              </a:path>
            </a:pathLst>
          </a:custGeom>
          <a:gradFill rotWithShape="1" flip="none">
            <a:gsLst>
              <a:gs pos="0">
                <a:srgbClr val="D9A477">
                  <a:alpha val="20000"/>
                </a:srgbClr>
              </a:gs>
              <a:gs pos="100000">
                <a:srgbClr val="3C8082">
                  <a:alpha val="20000"/>
                </a:srgbClr>
              </a:gs>
            </a:gsLst>
            <a:lin ang="0" scaled="1"/>
          </a:gradFill>
          <a:ln w="10160">
            <a:solidFill>
              <a:srgbClr val="D9A477">
                <a:alpha val="30196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541330" y="6377499"/>
            <a:ext cx="152162" cy="152162"/>
          </a:xfrm>
          <a:custGeom>
            <a:avLst/>
            <a:gdLst/>
            <a:ahLst/>
            <a:cxnLst/>
            <a:rect l="l" t="t" r="r" b="b"/>
            <a:pathLst>
              <a:path w="152162" h="152162">
                <a:moveTo>
                  <a:pt x="76081" y="152162"/>
                </a:moveTo>
                <a:cubicBezTo>
                  <a:pt x="118071" y="152162"/>
                  <a:pt x="152162" y="118071"/>
                  <a:pt x="152162" y="76081"/>
                </a:cubicBezTo>
                <a:cubicBezTo>
                  <a:pt x="152162" y="34091"/>
                  <a:pt x="118071" y="0"/>
                  <a:pt x="76081" y="0"/>
                </a:cubicBezTo>
                <a:cubicBezTo>
                  <a:pt x="34091" y="0"/>
                  <a:pt x="0" y="34091"/>
                  <a:pt x="0" y="76081"/>
                </a:cubicBezTo>
                <a:cubicBezTo>
                  <a:pt x="0" y="118071"/>
                  <a:pt x="34091" y="152162"/>
                  <a:pt x="76081" y="152162"/>
                </a:cubicBezTo>
                <a:close/>
                <a:moveTo>
                  <a:pt x="66571" y="47551"/>
                </a:moveTo>
                <a:cubicBezTo>
                  <a:pt x="66571" y="42302"/>
                  <a:pt x="70832" y="38041"/>
                  <a:pt x="76081" y="38041"/>
                </a:cubicBezTo>
                <a:cubicBezTo>
                  <a:pt x="81330" y="38041"/>
                  <a:pt x="85591" y="42302"/>
                  <a:pt x="85591" y="47551"/>
                </a:cubicBezTo>
                <a:cubicBezTo>
                  <a:pt x="85591" y="52799"/>
                  <a:pt x="81330" y="57061"/>
                  <a:pt x="76081" y="57061"/>
                </a:cubicBezTo>
                <a:cubicBezTo>
                  <a:pt x="70832" y="57061"/>
                  <a:pt x="66571" y="52799"/>
                  <a:pt x="66571" y="47551"/>
                </a:cubicBezTo>
                <a:close/>
                <a:moveTo>
                  <a:pt x="64193" y="66571"/>
                </a:moveTo>
                <a:lnTo>
                  <a:pt x="78459" y="66571"/>
                </a:lnTo>
                <a:cubicBezTo>
                  <a:pt x="82411" y="66571"/>
                  <a:pt x="85591" y="69751"/>
                  <a:pt x="85591" y="73704"/>
                </a:cubicBezTo>
                <a:lnTo>
                  <a:pt x="85591" y="99856"/>
                </a:lnTo>
                <a:lnTo>
                  <a:pt x="87969" y="99856"/>
                </a:lnTo>
                <a:cubicBezTo>
                  <a:pt x="91921" y="99856"/>
                  <a:pt x="95101" y="103036"/>
                  <a:pt x="95101" y="106989"/>
                </a:cubicBezTo>
                <a:cubicBezTo>
                  <a:pt x="95101" y="110942"/>
                  <a:pt x="91921" y="114122"/>
                  <a:pt x="87969" y="114122"/>
                </a:cubicBezTo>
                <a:lnTo>
                  <a:pt x="64193" y="114122"/>
                </a:lnTo>
                <a:cubicBezTo>
                  <a:pt x="60241" y="114122"/>
                  <a:pt x="57061" y="110942"/>
                  <a:pt x="57061" y="106989"/>
                </a:cubicBezTo>
                <a:cubicBezTo>
                  <a:pt x="57061" y="103036"/>
                  <a:pt x="60241" y="99856"/>
                  <a:pt x="64193" y="99856"/>
                </a:cubicBezTo>
                <a:lnTo>
                  <a:pt x="71326" y="99856"/>
                </a:lnTo>
                <a:lnTo>
                  <a:pt x="71326" y="80836"/>
                </a:lnTo>
                <a:lnTo>
                  <a:pt x="64193" y="80836"/>
                </a:lnTo>
                <a:cubicBezTo>
                  <a:pt x="60241" y="80836"/>
                  <a:pt x="57061" y="77656"/>
                  <a:pt x="57061" y="73704"/>
                </a:cubicBezTo>
                <a:cubicBezTo>
                  <a:pt x="57061" y="69751"/>
                  <a:pt x="60241" y="66571"/>
                  <a:pt x="64193" y="66571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84" name="Text 82"/>
          <p:cNvSpPr/>
          <p:nvPr/>
        </p:nvSpPr>
        <p:spPr>
          <a:xfrm>
            <a:off x="4788593" y="6329948"/>
            <a:ext cx="6466895" cy="24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8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核心用户精准定位：本校及大学城周边的在校大学生，数码设备保有量高，服务需求刚需且高频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381000"/>
            <a:ext cx="2457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D9A4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COMPETITIVE ADVANTAGE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竞争优势分析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61110"/>
            <a:ext cx="5627370" cy="4512945"/>
          </a:xfrm>
          <a:custGeom>
            <a:avLst/>
            <a:gdLst/>
            <a:ahLst/>
            <a:cxnLst/>
            <a:rect l="l" t="t" r="r" b="b"/>
            <a:pathLst>
              <a:path w="5627370" h="4512945">
                <a:moveTo>
                  <a:pt x="114313" y="0"/>
                </a:moveTo>
                <a:lnTo>
                  <a:pt x="5513057" y="0"/>
                </a:lnTo>
                <a:cubicBezTo>
                  <a:pt x="5576190" y="0"/>
                  <a:pt x="5627370" y="51180"/>
                  <a:pt x="5627370" y="114313"/>
                </a:cubicBezTo>
                <a:lnTo>
                  <a:pt x="5627370" y="4398632"/>
                </a:lnTo>
                <a:cubicBezTo>
                  <a:pt x="5627370" y="4461765"/>
                  <a:pt x="5576190" y="4512945"/>
                  <a:pt x="5513057" y="4512945"/>
                </a:cubicBezTo>
                <a:lnTo>
                  <a:pt x="114313" y="4512945"/>
                </a:lnTo>
                <a:cubicBezTo>
                  <a:pt x="51180" y="4512945"/>
                  <a:pt x="0" y="4461765"/>
                  <a:pt x="0" y="4398632"/>
                </a:cubicBezTo>
                <a:lnTo>
                  <a:pt x="0" y="114313"/>
                </a:lnTo>
                <a:cubicBezTo>
                  <a:pt x="0" y="51222"/>
                  <a:pt x="51222" y="0"/>
                  <a:pt x="114313" y="0"/>
                </a:cubicBezTo>
                <a:close/>
              </a:path>
            </a:pathLst>
          </a:custGeom>
          <a:gradFill rotWithShape="1" flip="none">
            <a:gsLst>
              <a:gs pos="0">
                <a:srgbClr val="D9A477">
                  <a:alpha val="20000"/>
                </a:srgbClr>
              </a:gs>
              <a:gs pos="100000">
                <a:srgbClr val="D9A477">
                  <a:alpha val="5000"/>
                </a:srgbClr>
              </a:gs>
            </a:gsLst>
            <a:lin ang="2700000" scaled="1"/>
          </a:gradFill>
          <a:ln w="10160">
            <a:solidFill>
              <a:srgbClr val="D9A477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1020" y="1417320"/>
            <a:ext cx="5429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本企业核心优势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0070" y="1988818"/>
            <a:ext cx="5295900" cy="1028700"/>
          </a:xfrm>
          <a:custGeom>
            <a:avLst/>
            <a:gdLst/>
            <a:ahLst/>
            <a:cxnLst/>
            <a:rect l="l" t="t" r="r" b="b"/>
            <a:pathLst>
              <a:path w="5295900" h="1028700">
                <a:moveTo>
                  <a:pt x="38100" y="0"/>
                </a:moveTo>
                <a:lnTo>
                  <a:pt x="5181601" y="0"/>
                </a:lnTo>
                <a:cubicBezTo>
                  <a:pt x="5244727" y="0"/>
                  <a:pt x="5295900" y="51173"/>
                  <a:pt x="5295900" y="114299"/>
                </a:cubicBezTo>
                <a:lnTo>
                  <a:pt x="5295900" y="914401"/>
                </a:lnTo>
                <a:cubicBezTo>
                  <a:pt x="5295900" y="977527"/>
                  <a:pt x="5244727" y="1028700"/>
                  <a:pt x="5181601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60070" y="1988818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9" name="Shape 7"/>
          <p:cNvSpPr/>
          <p:nvPr/>
        </p:nvSpPr>
        <p:spPr>
          <a:xfrm>
            <a:off x="693420" y="21031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10" name="Shape 8"/>
          <p:cNvSpPr/>
          <p:nvPr/>
        </p:nvSpPr>
        <p:spPr>
          <a:xfrm>
            <a:off x="789861" y="2207893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0045" y="28530"/>
                </a:moveTo>
                <a:lnTo>
                  <a:pt x="51000" y="71929"/>
                </a:lnTo>
                <a:cubicBezTo>
                  <a:pt x="49459" y="73636"/>
                  <a:pt x="49526" y="76282"/>
                  <a:pt x="51167" y="77923"/>
                </a:cubicBezTo>
                <a:cubicBezTo>
                  <a:pt x="61380" y="88136"/>
                  <a:pt x="77956" y="88136"/>
                  <a:pt x="88170" y="77923"/>
                </a:cubicBezTo>
                <a:lnTo>
                  <a:pt x="98818" y="67274"/>
                </a:lnTo>
                <a:cubicBezTo>
                  <a:pt x="100225" y="65868"/>
                  <a:pt x="101999" y="65097"/>
                  <a:pt x="103808" y="64963"/>
                </a:cubicBezTo>
                <a:cubicBezTo>
                  <a:pt x="106085" y="64763"/>
                  <a:pt x="108429" y="65533"/>
                  <a:pt x="110170" y="67274"/>
                </a:cubicBezTo>
                <a:lnTo>
                  <a:pt x="169307" y="125909"/>
                </a:lnTo>
                <a:lnTo>
                  <a:pt x="192881" y="107156"/>
                </a:lnTo>
                <a:lnTo>
                  <a:pt x="192881" y="10716"/>
                </a:lnTo>
                <a:lnTo>
                  <a:pt x="155377" y="32147"/>
                </a:lnTo>
                <a:lnTo>
                  <a:pt x="147407" y="26823"/>
                </a:lnTo>
                <a:cubicBezTo>
                  <a:pt x="142116" y="23306"/>
                  <a:pt x="135921" y="21431"/>
                  <a:pt x="129559" y="21431"/>
                </a:cubicBezTo>
                <a:lnTo>
                  <a:pt x="105984" y="21431"/>
                </a:lnTo>
                <a:cubicBezTo>
                  <a:pt x="105616" y="21431"/>
                  <a:pt x="105214" y="21431"/>
                  <a:pt x="104846" y="21465"/>
                </a:cubicBezTo>
                <a:cubicBezTo>
                  <a:pt x="99187" y="21766"/>
                  <a:pt x="93862" y="24311"/>
                  <a:pt x="90045" y="28530"/>
                </a:cubicBezTo>
                <a:close/>
                <a:moveTo>
                  <a:pt x="39045" y="61180"/>
                </a:moveTo>
                <a:lnTo>
                  <a:pt x="74808" y="21431"/>
                </a:lnTo>
                <a:lnTo>
                  <a:pt x="61548" y="21431"/>
                </a:lnTo>
                <a:cubicBezTo>
                  <a:pt x="53009" y="21431"/>
                  <a:pt x="44838" y="24813"/>
                  <a:pt x="38811" y="30841"/>
                </a:cubicBezTo>
                <a:lnTo>
                  <a:pt x="37505" y="32147"/>
                </a:lnTo>
                <a:lnTo>
                  <a:pt x="0" y="10716"/>
                </a:lnTo>
                <a:lnTo>
                  <a:pt x="0" y="107156"/>
                </a:lnTo>
                <a:lnTo>
                  <a:pt x="52373" y="150789"/>
                </a:lnTo>
                <a:cubicBezTo>
                  <a:pt x="60074" y="157218"/>
                  <a:pt x="69786" y="160734"/>
                  <a:pt x="79798" y="160734"/>
                </a:cubicBezTo>
                <a:lnTo>
                  <a:pt x="85055" y="160734"/>
                </a:lnTo>
                <a:lnTo>
                  <a:pt x="82711" y="158390"/>
                </a:lnTo>
                <a:cubicBezTo>
                  <a:pt x="79564" y="155243"/>
                  <a:pt x="79564" y="150153"/>
                  <a:pt x="82711" y="147038"/>
                </a:cubicBezTo>
                <a:cubicBezTo>
                  <a:pt x="85859" y="143924"/>
                  <a:pt x="90949" y="143891"/>
                  <a:pt x="94063" y="147038"/>
                </a:cubicBezTo>
                <a:lnTo>
                  <a:pt x="107792" y="160768"/>
                </a:lnTo>
                <a:lnTo>
                  <a:pt x="110806" y="160768"/>
                </a:lnTo>
                <a:cubicBezTo>
                  <a:pt x="117202" y="160768"/>
                  <a:pt x="123464" y="159328"/>
                  <a:pt x="129157" y="156649"/>
                </a:cubicBezTo>
                <a:lnTo>
                  <a:pt x="120216" y="147675"/>
                </a:lnTo>
                <a:cubicBezTo>
                  <a:pt x="117068" y="144527"/>
                  <a:pt x="117068" y="139437"/>
                  <a:pt x="120216" y="136323"/>
                </a:cubicBezTo>
                <a:cubicBezTo>
                  <a:pt x="123364" y="133209"/>
                  <a:pt x="128454" y="133175"/>
                  <a:pt x="131568" y="136323"/>
                </a:cubicBezTo>
                <a:lnTo>
                  <a:pt x="142283" y="147038"/>
                </a:lnTo>
                <a:lnTo>
                  <a:pt x="148144" y="141178"/>
                </a:lnTo>
                <a:cubicBezTo>
                  <a:pt x="151124" y="138198"/>
                  <a:pt x="151994" y="133878"/>
                  <a:pt x="150688" y="130094"/>
                </a:cubicBezTo>
                <a:lnTo>
                  <a:pt x="104511" y="84285"/>
                </a:lnTo>
                <a:lnTo>
                  <a:pt x="99521" y="89275"/>
                </a:lnTo>
                <a:cubicBezTo>
                  <a:pt x="83013" y="105783"/>
                  <a:pt x="56291" y="105783"/>
                  <a:pt x="39782" y="89275"/>
                </a:cubicBezTo>
                <a:cubicBezTo>
                  <a:pt x="32080" y="81573"/>
                  <a:pt x="31779" y="69216"/>
                  <a:pt x="39045" y="6114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103118"/>
            <a:ext cx="463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信任优势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407918"/>
            <a:ext cx="4629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根植校园，实名创业，校方背书。团队成员均为在校学生，与目标用户群体高度重合，天然具备信任基础。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0070" y="3131818"/>
            <a:ext cx="5295900" cy="1028700"/>
          </a:xfrm>
          <a:custGeom>
            <a:avLst/>
            <a:gdLst/>
            <a:ahLst/>
            <a:cxnLst/>
            <a:rect l="l" t="t" r="r" b="b"/>
            <a:pathLst>
              <a:path w="5295900" h="1028700">
                <a:moveTo>
                  <a:pt x="38100" y="0"/>
                </a:moveTo>
                <a:lnTo>
                  <a:pt x="5181601" y="0"/>
                </a:lnTo>
                <a:cubicBezTo>
                  <a:pt x="5244727" y="0"/>
                  <a:pt x="5295900" y="51173"/>
                  <a:pt x="5295900" y="114299"/>
                </a:cubicBezTo>
                <a:lnTo>
                  <a:pt x="5295900" y="914401"/>
                </a:lnTo>
                <a:cubicBezTo>
                  <a:pt x="5295900" y="977527"/>
                  <a:pt x="5244727" y="1028700"/>
                  <a:pt x="5181601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60070" y="3131818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15" name="Shape 13"/>
          <p:cNvSpPr/>
          <p:nvPr/>
        </p:nvSpPr>
        <p:spPr>
          <a:xfrm>
            <a:off x="693420" y="32461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16" name="Shape 14"/>
          <p:cNvSpPr/>
          <p:nvPr/>
        </p:nvSpPr>
        <p:spPr>
          <a:xfrm>
            <a:off x="800576" y="335089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58936" y="8037"/>
                </a:moveTo>
                <a:cubicBezTo>
                  <a:pt x="58936" y="3583"/>
                  <a:pt x="55353" y="0"/>
                  <a:pt x="50899" y="0"/>
                </a:cubicBezTo>
                <a:cubicBezTo>
                  <a:pt x="46446" y="0"/>
                  <a:pt x="42863" y="3583"/>
                  <a:pt x="42863" y="8037"/>
                </a:cubicBezTo>
                <a:lnTo>
                  <a:pt x="42863" y="21431"/>
                </a:lnTo>
                <a:cubicBezTo>
                  <a:pt x="31042" y="21431"/>
                  <a:pt x="21431" y="31042"/>
                  <a:pt x="21431" y="42863"/>
                </a:cubicBezTo>
                <a:lnTo>
                  <a:pt x="8037" y="42863"/>
                </a:lnTo>
                <a:cubicBezTo>
                  <a:pt x="3583" y="42863"/>
                  <a:pt x="0" y="46446"/>
                  <a:pt x="0" y="50899"/>
                </a:cubicBezTo>
                <a:cubicBezTo>
                  <a:pt x="0" y="55353"/>
                  <a:pt x="3583" y="58936"/>
                  <a:pt x="8037" y="58936"/>
                </a:cubicBezTo>
                <a:lnTo>
                  <a:pt x="21431" y="58936"/>
                </a:lnTo>
                <a:lnTo>
                  <a:pt x="21431" y="77688"/>
                </a:lnTo>
                <a:lnTo>
                  <a:pt x="8037" y="77688"/>
                </a:lnTo>
                <a:cubicBezTo>
                  <a:pt x="3583" y="77688"/>
                  <a:pt x="0" y="81271"/>
                  <a:pt x="0" y="85725"/>
                </a:cubicBezTo>
                <a:cubicBezTo>
                  <a:pt x="0" y="90179"/>
                  <a:pt x="3583" y="93762"/>
                  <a:pt x="8037" y="93762"/>
                </a:cubicBezTo>
                <a:lnTo>
                  <a:pt x="21431" y="93762"/>
                </a:lnTo>
                <a:lnTo>
                  <a:pt x="21431" y="112514"/>
                </a:lnTo>
                <a:lnTo>
                  <a:pt x="8037" y="112514"/>
                </a:lnTo>
                <a:cubicBezTo>
                  <a:pt x="3583" y="112514"/>
                  <a:pt x="0" y="116097"/>
                  <a:pt x="0" y="120551"/>
                </a:cubicBezTo>
                <a:cubicBezTo>
                  <a:pt x="0" y="125004"/>
                  <a:pt x="3583" y="128588"/>
                  <a:pt x="8037" y="128588"/>
                </a:cubicBezTo>
                <a:lnTo>
                  <a:pt x="21431" y="128588"/>
                </a:lnTo>
                <a:cubicBezTo>
                  <a:pt x="21431" y="140408"/>
                  <a:pt x="31042" y="150019"/>
                  <a:pt x="42863" y="150019"/>
                </a:cubicBezTo>
                <a:lnTo>
                  <a:pt x="42863" y="163413"/>
                </a:lnTo>
                <a:cubicBezTo>
                  <a:pt x="42863" y="167867"/>
                  <a:pt x="46446" y="171450"/>
                  <a:pt x="50899" y="171450"/>
                </a:cubicBezTo>
                <a:cubicBezTo>
                  <a:pt x="55353" y="171450"/>
                  <a:pt x="58936" y="167867"/>
                  <a:pt x="58936" y="163413"/>
                </a:cubicBezTo>
                <a:lnTo>
                  <a:pt x="58936" y="150019"/>
                </a:lnTo>
                <a:lnTo>
                  <a:pt x="77688" y="150019"/>
                </a:lnTo>
                <a:lnTo>
                  <a:pt x="77688" y="163413"/>
                </a:lnTo>
                <a:cubicBezTo>
                  <a:pt x="77688" y="167867"/>
                  <a:pt x="81271" y="171450"/>
                  <a:pt x="85725" y="171450"/>
                </a:cubicBezTo>
                <a:cubicBezTo>
                  <a:pt x="90179" y="171450"/>
                  <a:pt x="93762" y="167867"/>
                  <a:pt x="93762" y="163413"/>
                </a:cubicBezTo>
                <a:lnTo>
                  <a:pt x="93762" y="150019"/>
                </a:lnTo>
                <a:lnTo>
                  <a:pt x="112514" y="150019"/>
                </a:lnTo>
                <a:lnTo>
                  <a:pt x="112514" y="163413"/>
                </a:lnTo>
                <a:cubicBezTo>
                  <a:pt x="112514" y="167867"/>
                  <a:pt x="116097" y="171450"/>
                  <a:pt x="120551" y="171450"/>
                </a:cubicBezTo>
                <a:cubicBezTo>
                  <a:pt x="125004" y="171450"/>
                  <a:pt x="128588" y="167867"/>
                  <a:pt x="128588" y="163413"/>
                </a:cubicBezTo>
                <a:lnTo>
                  <a:pt x="128588" y="150019"/>
                </a:lnTo>
                <a:cubicBezTo>
                  <a:pt x="140408" y="150019"/>
                  <a:pt x="150019" y="140408"/>
                  <a:pt x="150019" y="128588"/>
                </a:cubicBezTo>
                <a:lnTo>
                  <a:pt x="163413" y="128588"/>
                </a:lnTo>
                <a:cubicBezTo>
                  <a:pt x="167867" y="128588"/>
                  <a:pt x="171450" y="125004"/>
                  <a:pt x="171450" y="120551"/>
                </a:cubicBezTo>
                <a:cubicBezTo>
                  <a:pt x="171450" y="116097"/>
                  <a:pt x="167867" y="112514"/>
                  <a:pt x="163413" y="112514"/>
                </a:cubicBezTo>
                <a:lnTo>
                  <a:pt x="150019" y="112514"/>
                </a:lnTo>
                <a:lnTo>
                  <a:pt x="150019" y="93762"/>
                </a:lnTo>
                <a:lnTo>
                  <a:pt x="163413" y="93762"/>
                </a:lnTo>
                <a:cubicBezTo>
                  <a:pt x="167867" y="93762"/>
                  <a:pt x="171450" y="90179"/>
                  <a:pt x="171450" y="85725"/>
                </a:cubicBezTo>
                <a:cubicBezTo>
                  <a:pt x="171450" y="81271"/>
                  <a:pt x="167867" y="77688"/>
                  <a:pt x="163413" y="77688"/>
                </a:cubicBezTo>
                <a:lnTo>
                  <a:pt x="150019" y="77688"/>
                </a:lnTo>
                <a:lnTo>
                  <a:pt x="150019" y="58936"/>
                </a:lnTo>
                <a:lnTo>
                  <a:pt x="163413" y="58936"/>
                </a:lnTo>
                <a:cubicBezTo>
                  <a:pt x="167867" y="58936"/>
                  <a:pt x="171450" y="55353"/>
                  <a:pt x="171450" y="50899"/>
                </a:cubicBezTo>
                <a:cubicBezTo>
                  <a:pt x="171450" y="46446"/>
                  <a:pt x="167867" y="42863"/>
                  <a:pt x="163413" y="42863"/>
                </a:cubicBezTo>
                <a:lnTo>
                  <a:pt x="150019" y="42863"/>
                </a:lnTo>
                <a:cubicBezTo>
                  <a:pt x="150019" y="31042"/>
                  <a:pt x="140408" y="21431"/>
                  <a:pt x="128588" y="21431"/>
                </a:cubicBezTo>
                <a:lnTo>
                  <a:pt x="128588" y="8037"/>
                </a:lnTo>
                <a:cubicBezTo>
                  <a:pt x="128588" y="3583"/>
                  <a:pt x="125004" y="0"/>
                  <a:pt x="120551" y="0"/>
                </a:cubicBezTo>
                <a:cubicBezTo>
                  <a:pt x="116097" y="0"/>
                  <a:pt x="112514" y="3583"/>
                  <a:pt x="112514" y="8037"/>
                </a:cubicBezTo>
                <a:lnTo>
                  <a:pt x="112514" y="21431"/>
                </a:lnTo>
                <a:lnTo>
                  <a:pt x="93762" y="21431"/>
                </a:lnTo>
                <a:lnTo>
                  <a:pt x="93762" y="8037"/>
                </a:lnTo>
                <a:cubicBezTo>
                  <a:pt x="93762" y="3583"/>
                  <a:pt x="90179" y="0"/>
                  <a:pt x="85725" y="0"/>
                </a:cubicBezTo>
                <a:cubicBezTo>
                  <a:pt x="81271" y="0"/>
                  <a:pt x="77688" y="3583"/>
                  <a:pt x="77688" y="8037"/>
                </a:cubicBezTo>
                <a:lnTo>
                  <a:pt x="77688" y="21431"/>
                </a:lnTo>
                <a:lnTo>
                  <a:pt x="58936" y="21431"/>
                </a:lnTo>
                <a:lnTo>
                  <a:pt x="58936" y="8037"/>
                </a:lnTo>
                <a:close/>
                <a:moveTo>
                  <a:pt x="53578" y="42863"/>
                </a:moveTo>
                <a:lnTo>
                  <a:pt x="117872" y="42863"/>
                </a:lnTo>
                <a:cubicBezTo>
                  <a:pt x="123799" y="42863"/>
                  <a:pt x="128588" y="47651"/>
                  <a:pt x="128588" y="53578"/>
                </a:cubicBezTo>
                <a:lnTo>
                  <a:pt x="128588" y="117872"/>
                </a:lnTo>
                <a:cubicBezTo>
                  <a:pt x="128588" y="123799"/>
                  <a:pt x="123799" y="128588"/>
                  <a:pt x="117872" y="128588"/>
                </a:cubicBezTo>
                <a:lnTo>
                  <a:pt x="53578" y="128588"/>
                </a:lnTo>
                <a:cubicBezTo>
                  <a:pt x="47651" y="128588"/>
                  <a:pt x="42863" y="123799"/>
                  <a:pt x="42863" y="117872"/>
                </a:cubicBezTo>
                <a:lnTo>
                  <a:pt x="42863" y="53578"/>
                </a:lnTo>
                <a:cubicBezTo>
                  <a:pt x="42863" y="47651"/>
                  <a:pt x="47651" y="42863"/>
                  <a:pt x="53578" y="42863"/>
                </a:cubicBezTo>
                <a:close/>
                <a:moveTo>
                  <a:pt x="58936" y="58936"/>
                </a:moveTo>
                <a:lnTo>
                  <a:pt x="58936" y="112514"/>
                </a:lnTo>
                <a:lnTo>
                  <a:pt x="112514" y="112514"/>
                </a:lnTo>
                <a:lnTo>
                  <a:pt x="112514" y="58936"/>
                </a:lnTo>
                <a:lnTo>
                  <a:pt x="58936" y="58936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3246118"/>
            <a:ext cx="463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技术优势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550918"/>
            <a:ext cx="4629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自研小程序实现"全程录像、进度可查"，打破黑箱操作。价格透明度更好，用户体验佳。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0070" y="4274818"/>
            <a:ext cx="5295900" cy="1028700"/>
          </a:xfrm>
          <a:custGeom>
            <a:avLst/>
            <a:gdLst/>
            <a:ahLst/>
            <a:cxnLst/>
            <a:rect l="l" t="t" r="r" b="b"/>
            <a:pathLst>
              <a:path w="5295900" h="1028700">
                <a:moveTo>
                  <a:pt x="38100" y="0"/>
                </a:moveTo>
                <a:lnTo>
                  <a:pt x="5181601" y="0"/>
                </a:lnTo>
                <a:cubicBezTo>
                  <a:pt x="5244727" y="0"/>
                  <a:pt x="5295900" y="51173"/>
                  <a:pt x="5295900" y="114299"/>
                </a:cubicBezTo>
                <a:lnTo>
                  <a:pt x="5295900" y="914401"/>
                </a:lnTo>
                <a:cubicBezTo>
                  <a:pt x="5295900" y="977527"/>
                  <a:pt x="5244727" y="1028700"/>
                  <a:pt x="5181601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60070" y="4274818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21" name="Shape 19"/>
          <p:cNvSpPr/>
          <p:nvPr/>
        </p:nvSpPr>
        <p:spPr>
          <a:xfrm>
            <a:off x="693420" y="438911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22" name="Shape 20"/>
          <p:cNvSpPr/>
          <p:nvPr/>
        </p:nvSpPr>
        <p:spPr>
          <a:xfrm>
            <a:off x="811292" y="4493893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4389118"/>
            <a:ext cx="463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便捷优势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4693918"/>
            <a:ext cx="4629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提供宿舍上门服务，响应速度快。校内选址，学生上下课必经之地，随时可送修和取机。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6010" y="1261110"/>
            <a:ext cx="5627370" cy="4512945"/>
          </a:xfrm>
          <a:custGeom>
            <a:avLst/>
            <a:gdLst/>
            <a:ahLst/>
            <a:cxnLst/>
            <a:rect l="l" t="t" r="r" b="b"/>
            <a:pathLst>
              <a:path w="5627370" h="4512945">
                <a:moveTo>
                  <a:pt x="114313" y="0"/>
                </a:moveTo>
                <a:lnTo>
                  <a:pt x="5513057" y="0"/>
                </a:lnTo>
                <a:cubicBezTo>
                  <a:pt x="5576190" y="0"/>
                  <a:pt x="5627370" y="51180"/>
                  <a:pt x="5627370" y="114313"/>
                </a:cubicBezTo>
                <a:lnTo>
                  <a:pt x="5627370" y="4398632"/>
                </a:lnTo>
                <a:cubicBezTo>
                  <a:pt x="5627370" y="4461765"/>
                  <a:pt x="5576190" y="4512945"/>
                  <a:pt x="5513057" y="4512945"/>
                </a:cubicBezTo>
                <a:lnTo>
                  <a:pt x="114313" y="4512945"/>
                </a:lnTo>
                <a:cubicBezTo>
                  <a:pt x="51180" y="4512945"/>
                  <a:pt x="0" y="4461765"/>
                  <a:pt x="0" y="4398632"/>
                </a:cubicBezTo>
                <a:lnTo>
                  <a:pt x="0" y="114313"/>
                </a:lnTo>
                <a:cubicBezTo>
                  <a:pt x="0" y="51222"/>
                  <a:pt x="51222" y="0"/>
                  <a:pt x="114313" y="0"/>
                </a:cubicBezTo>
                <a:close/>
              </a:path>
            </a:pathLst>
          </a:custGeom>
          <a:gradFill rotWithShape="1" flip="none">
            <a:gsLst>
              <a:gs pos="0">
                <a:srgbClr val="5C6B73">
                  <a:alpha val="20000"/>
                </a:srgbClr>
              </a:gs>
              <a:gs pos="100000">
                <a:srgbClr val="5C6B73">
                  <a:alpha val="5000"/>
                </a:srgbClr>
              </a:gs>
            </a:gsLst>
            <a:lin ang="2700000" scaled="1"/>
          </a:gradFill>
          <a:ln w="10160">
            <a:solidFill>
              <a:srgbClr val="5C6B73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2220" y="1417320"/>
            <a:ext cx="5429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竞争对手劣势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36030" y="1992628"/>
            <a:ext cx="5313045" cy="1341120"/>
          </a:xfrm>
          <a:custGeom>
            <a:avLst/>
            <a:gdLst/>
            <a:ahLst/>
            <a:cxnLst/>
            <a:rect l="l" t="t" r="r" b="b"/>
            <a:pathLst>
              <a:path w="5313045" h="1341120">
                <a:moveTo>
                  <a:pt x="114304" y="0"/>
                </a:moveTo>
                <a:lnTo>
                  <a:pt x="5198741" y="0"/>
                </a:lnTo>
                <a:cubicBezTo>
                  <a:pt x="5261870" y="0"/>
                  <a:pt x="5313045" y="51175"/>
                  <a:pt x="5313045" y="114304"/>
                </a:cubicBezTo>
                <a:lnTo>
                  <a:pt x="5313045" y="1226816"/>
                </a:lnTo>
                <a:cubicBezTo>
                  <a:pt x="5313045" y="1289945"/>
                  <a:pt x="5261870" y="1341120"/>
                  <a:pt x="5198741" y="1341120"/>
                </a:cubicBezTo>
                <a:lnTo>
                  <a:pt x="114304" y="1341120"/>
                </a:lnTo>
                <a:cubicBezTo>
                  <a:pt x="51175" y="1341120"/>
                  <a:pt x="0" y="1289945"/>
                  <a:pt x="0" y="12268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0160">
            <a:solidFill>
              <a:srgbClr val="D9A477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77953" y="215836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280" y="24211"/>
                </a:moveTo>
                <a:cubicBezTo>
                  <a:pt x="12591" y="16207"/>
                  <a:pt x="19924" y="10716"/>
                  <a:pt x="28262" y="10716"/>
                </a:cubicBezTo>
                <a:lnTo>
                  <a:pt x="143455" y="10716"/>
                </a:lnTo>
                <a:cubicBezTo>
                  <a:pt x="151794" y="10716"/>
                  <a:pt x="159127" y="16207"/>
                  <a:pt x="161471" y="24211"/>
                </a:cubicBezTo>
                <a:lnTo>
                  <a:pt x="169307" y="51067"/>
                </a:lnTo>
                <a:cubicBezTo>
                  <a:pt x="173593" y="65700"/>
                  <a:pt x="162576" y="80367"/>
                  <a:pt x="147340" y="80367"/>
                </a:cubicBezTo>
                <a:cubicBezTo>
                  <a:pt x="138533" y="80367"/>
                  <a:pt x="130798" y="75378"/>
                  <a:pt x="126980" y="67944"/>
                </a:cubicBezTo>
                <a:cubicBezTo>
                  <a:pt x="123096" y="75277"/>
                  <a:pt x="115394" y="80367"/>
                  <a:pt x="106420" y="80367"/>
                </a:cubicBezTo>
                <a:cubicBezTo>
                  <a:pt x="97512" y="80367"/>
                  <a:pt x="89777" y="75344"/>
                  <a:pt x="85892" y="67977"/>
                </a:cubicBezTo>
                <a:cubicBezTo>
                  <a:pt x="82008" y="75344"/>
                  <a:pt x="74273" y="80367"/>
                  <a:pt x="65365" y="80367"/>
                </a:cubicBezTo>
                <a:cubicBezTo>
                  <a:pt x="56391" y="80367"/>
                  <a:pt x="48689" y="75311"/>
                  <a:pt x="44805" y="67944"/>
                </a:cubicBezTo>
                <a:cubicBezTo>
                  <a:pt x="40987" y="75344"/>
                  <a:pt x="33252" y="80367"/>
                  <a:pt x="24445" y="80367"/>
                </a:cubicBezTo>
                <a:cubicBezTo>
                  <a:pt x="9175" y="80367"/>
                  <a:pt x="-1808" y="65734"/>
                  <a:pt x="2478" y="51067"/>
                </a:cubicBezTo>
                <a:lnTo>
                  <a:pt x="10280" y="24211"/>
                </a:lnTo>
                <a:close/>
                <a:moveTo>
                  <a:pt x="32281" y="117872"/>
                </a:moveTo>
                <a:lnTo>
                  <a:pt x="139437" y="117872"/>
                </a:lnTo>
                <a:lnTo>
                  <a:pt x="139437" y="95637"/>
                </a:lnTo>
                <a:cubicBezTo>
                  <a:pt x="141982" y="96173"/>
                  <a:pt x="144627" y="96441"/>
                  <a:pt x="147306" y="96441"/>
                </a:cubicBezTo>
                <a:cubicBezTo>
                  <a:pt x="152095" y="96441"/>
                  <a:pt x="156683" y="95570"/>
                  <a:pt x="160868" y="94030"/>
                </a:cubicBezTo>
                <a:lnTo>
                  <a:pt x="160868" y="144661"/>
                </a:lnTo>
                <a:cubicBezTo>
                  <a:pt x="160868" y="153535"/>
                  <a:pt x="153669" y="160734"/>
                  <a:pt x="144795" y="160734"/>
                </a:cubicBezTo>
                <a:lnTo>
                  <a:pt x="26923" y="160734"/>
                </a:lnTo>
                <a:cubicBezTo>
                  <a:pt x="18049" y="160734"/>
                  <a:pt x="10850" y="153535"/>
                  <a:pt x="10850" y="144661"/>
                </a:cubicBezTo>
                <a:lnTo>
                  <a:pt x="10850" y="94030"/>
                </a:lnTo>
                <a:cubicBezTo>
                  <a:pt x="15035" y="95570"/>
                  <a:pt x="19590" y="96441"/>
                  <a:pt x="24412" y="96441"/>
                </a:cubicBezTo>
                <a:cubicBezTo>
                  <a:pt x="27124" y="96441"/>
                  <a:pt x="29736" y="96173"/>
                  <a:pt x="32281" y="95637"/>
                </a:cubicBezTo>
                <a:lnTo>
                  <a:pt x="32281" y="117872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29" name="Text 27"/>
          <p:cNvSpPr/>
          <p:nvPr/>
        </p:nvSpPr>
        <p:spPr>
          <a:xfrm>
            <a:off x="6673215" y="2110741"/>
            <a:ext cx="494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校外维修店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54140" y="2491741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A4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10708" y="2453641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距离远，搬运不便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54140" y="2758441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A4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×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10708" y="2720341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价格存在欺诈风险，"小病大修"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54140" y="3025141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9A4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×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10708" y="2987041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偷换零件，缺乏质保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36030" y="3455669"/>
            <a:ext cx="5313045" cy="1341120"/>
          </a:xfrm>
          <a:custGeom>
            <a:avLst/>
            <a:gdLst/>
            <a:ahLst/>
            <a:cxnLst/>
            <a:rect l="l" t="t" r="r" b="b"/>
            <a:pathLst>
              <a:path w="5313045" h="1341120">
                <a:moveTo>
                  <a:pt x="114304" y="0"/>
                </a:moveTo>
                <a:lnTo>
                  <a:pt x="5198741" y="0"/>
                </a:lnTo>
                <a:cubicBezTo>
                  <a:pt x="5261870" y="0"/>
                  <a:pt x="5313045" y="51175"/>
                  <a:pt x="5313045" y="114304"/>
                </a:cubicBezTo>
                <a:lnTo>
                  <a:pt x="5313045" y="1226816"/>
                </a:lnTo>
                <a:cubicBezTo>
                  <a:pt x="5313045" y="1289945"/>
                  <a:pt x="5261870" y="1341120"/>
                  <a:pt x="5198741" y="1341120"/>
                </a:cubicBezTo>
                <a:lnTo>
                  <a:pt x="114304" y="1341120"/>
                </a:lnTo>
                <a:cubicBezTo>
                  <a:pt x="51175" y="1341120"/>
                  <a:pt x="0" y="1289945"/>
                  <a:pt x="0" y="12268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016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99384" y="3621407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5358" y="21431"/>
                </a:moveTo>
                <a:cubicBezTo>
                  <a:pt x="5358" y="9611"/>
                  <a:pt x="14968" y="0"/>
                  <a:pt x="26789" y="0"/>
                </a:cubicBezTo>
                <a:lnTo>
                  <a:pt x="101798" y="0"/>
                </a:lnTo>
                <a:cubicBezTo>
                  <a:pt x="113619" y="0"/>
                  <a:pt x="123230" y="9611"/>
                  <a:pt x="123230" y="21431"/>
                </a:cubicBezTo>
                <a:lnTo>
                  <a:pt x="123230" y="150019"/>
                </a:lnTo>
                <a:cubicBezTo>
                  <a:pt x="123230" y="161839"/>
                  <a:pt x="113619" y="171450"/>
                  <a:pt x="101798" y="171450"/>
                </a:cubicBezTo>
                <a:lnTo>
                  <a:pt x="26789" y="171450"/>
                </a:lnTo>
                <a:cubicBezTo>
                  <a:pt x="14968" y="171450"/>
                  <a:pt x="5358" y="161839"/>
                  <a:pt x="5358" y="150019"/>
                </a:cubicBezTo>
                <a:lnTo>
                  <a:pt x="5358" y="21431"/>
                </a:lnTo>
                <a:close/>
                <a:moveTo>
                  <a:pt x="26789" y="21431"/>
                </a:moveTo>
                <a:lnTo>
                  <a:pt x="26789" y="123230"/>
                </a:lnTo>
                <a:lnTo>
                  <a:pt x="101798" y="123230"/>
                </a:lnTo>
                <a:lnTo>
                  <a:pt x="101798" y="21431"/>
                </a:lnTo>
                <a:lnTo>
                  <a:pt x="26789" y="21431"/>
                </a:lnTo>
                <a:close/>
                <a:moveTo>
                  <a:pt x="64294" y="158055"/>
                </a:moveTo>
                <a:cubicBezTo>
                  <a:pt x="70221" y="158055"/>
                  <a:pt x="75009" y="153267"/>
                  <a:pt x="75009" y="147340"/>
                </a:cubicBezTo>
                <a:cubicBezTo>
                  <a:pt x="75009" y="141413"/>
                  <a:pt x="70221" y="136624"/>
                  <a:pt x="64294" y="136624"/>
                </a:cubicBezTo>
                <a:cubicBezTo>
                  <a:pt x="58367" y="136624"/>
                  <a:pt x="53578" y="141413"/>
                  <a:pt x="53578" y="147340"/>
                </a:cubicBezTo>
                <a:cubicBezTo>
                  <a:pt x="53578" y="153267"/>
                  <a:pt x="58367" y="158055"/>
                  <a:pt x="64294" y="158055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38" name="Text 36"/>
          <p:cNvSpPr/>
          <p:nvPr/>
        </p:nvSpPr>
        <p:spPr>
          <a:xfrm>
            <a:off x="6673215" y="3573782"/>
            <a:ext cx="494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二手交易平台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54140" y="3954782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×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10708" y="3916682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缺乏信任，无法提供售后质保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54140" y="4221482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×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10708" y="4183382"/>
            <a:ext cx="2200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易买到翻新机，质检标准无书面协议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54140" y="4488182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C808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×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10708" y="4450082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交易纠纷难以解决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36030" y="4918710"/>
            <a:ext cx="5313045" cy="693420"/>
          </a:xfrm>
          <a:custGeom>
            <a:avLst/>
            <a:gdLst/>
            <a:ahLst/>
            <a:cxnLst/>
            <a:rect l="l" t="t" r="r" b="b"/>
            <a:pathLst>
              <a:path w="5313045" h="693420">
                <a:moveTo>
                  <a:pt x="114303" y="0"/>
                </a:moveTo>
                <a:lnTo>
                  <a:pt x="5198742" y="0"/>
                </a:lnTo>
                <a:cubicBezTo>
                  <a:pt x="5261870" y="0"/>
                  <a:pt x="5313045" y="51175"/>
                  <a:pt x="5313045" y="114303"/>
                </a:cubicBezTo>
                <a:lnTo>
                  <a:pt x="5313045" y="579117"/>
                </a:lnTo>
                <a:cubicBezTo>
                  <a:pt x="5313045" y="642245"/>
                  <a:pt x="5261870" y="693420"/>
                  <a:pt x="5198742" y="693420"/>
                </a:cubicBezTo>
                <a:lnTo>
                  <a:pt x="114303" y="693420"/>
                </a:lnTo>
                <a:cubicBezTo>
                  <a:pt x="51218" y="693420"/>
                  <a:pt x="0" y="642202"/>
                  <a:pt x="0" y="579117"/>
                </a:cubicBezTo>
                <a:lnTo>
                  <a:pt x="0" y="114303"/>
                </a:lnTo>
                <a:cubicBezTo>
                  <a:pt x="0" y="51218"/>
                  <a:pt x="51218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D9A477">
                  <a:alpha val="15000"/>
                </a:srgbClr>
              </a:gs>
              <a:gs pos="100000">
                <a:srgbClr val="3C8082">
                  <a:alpha val="15000"/>
                </a:srgbClr>
              </a:gs>
            </a:gsLst>
            <a:lin ang="0" scaled="1"/>
          </a:gradFill>
          <a:ln w="10160">
            <a:solidFill>
              <a:srgbClr val="D9A477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73190" y="5189218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47" name="Text 45"/>
          <p:cNvSpPr/>
          <p:nvPr/>
        </p:nvSpPr>
        <p:spPr>
          <a:xfrm>
            <a:off x="6682740" y="5036818"/>
            <a:ext cx="49244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市场机会：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信息不对称导致用户对现有服务不满意，市场急需透明、可信赖的校园数码服务平台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84810" y="5932169"/>
            <a:ext cx="3703320" cy="807720"/>
          </a:xfrm>
          <a:custGeom>
            <a:avLst/>
            <a:gdLst/>
            <a:ahLst/>
            <a:cxnLst/>
            <a:rect l="l" t="t" r="r" b="b"/>
            <a:pathLst>
              <a:path w="3703320" h="807720">
                <a:moveTo>
                  <a:pt x="76200" y="0"/>
                </a:moveTo>
                <a:lnTo>
                  <a:pt x="3627120" y="0"/>
                </a:lnTo>
                <a:cubicBezTo>
                  <a:pt x="3669204" y="0"/>
                  <a:pt x="3703320" y="34116"/>
                  <a:pt x="3703320" y="76200"/>
                </a:cubicBezTo>
                <a:lnTo>
                  <a:pt x="3703320" y="731520"/>
                </a:lnTo>
                <a:cubicBezTo>
                  <a:pt x="3703320" y="773604"/>
                  <a:pt x="3669204" y="807720"/>
                  <a:pt x="362712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D9A477">
              <a:alpha val="14902"/>
            </a:srgbClr>
          </a:solidFill>
          <a:ln w="10160">
            <a:solidFill>
              <a:srgbClr val="D9A477">
                <a:alpha val="30196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1482" y="6050282"/>
            <a:ext cx="3609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9A47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20%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69582" y="6431282"/>
            <a:ext cx="3533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首年维修市场占有率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245531" y="5932169"/>
            <a:ext cx="3703320" cy="807720"/>
          </a:xfrm>
          <a:custGeom>
            <a:avLst/>
            <a:gdLst/>
            <a:ahLst/>
            <a:cxnLst/>
            <a:rect l="l" t="t" r="r" b="b"/>
            <a:pathLst>
              <a:path w="3703320" h="807720">
                <a:moveTo>
                  <a:pt x="76200" y="0"/>
                </a:moveTo>
                <a:lnTo>
                  <a:pt x="3627120" y="0"/>
                </a:lnTo>
                <a:cubicBezTo>
                  <a:pt x="3669204" y="0"/>
                  <a:pt x="3703320" y="34116"/>
                  <a:pt x="3703320" y="76200"/>
                </a:cubicBezTo>
                <a:lnTo>
                  <a:pt x="3703320" y="731520"/>
                </a:lnTo>
                <a:cubicBezTo>
                  <a:pt x="3703320" y="773604"/>
                  <a:pt x="3669204" y="807720"/>
                  <a:pt x="362712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3C8082">
              <a:alpha val="14902"/>
            </a:srgbClr>
          </a:solidFill>
          <a:ln w="1016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92203" y="6050282"/>
            <a:ext cx="3609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C8082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10%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330303" y="6431282"/>
            <a:ext cx="3533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首年二手交易市场份额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106371" y="5932169"/>
            <a:ext cx="3703320" cy="807720"/>
          </a:xfrm>
          <a:custGeom>
            <a:avLst/>
            <a:gdLst/>
            <a:ahLst/>
            <a:cxnLst/>
            <a:rect l="l" t="t" r="r" b="b"/>
            <a:pathLst>
              <a:path w="3703320" h="807720">
                <a:moveTo>
                  <a:pt x="76200" y="0"/>
                </a:moveTo>
                <a:lnTo>
                  <a:pt x="3627120" y="0"/>
                </a:lnTo>
                <a:cubicBezTo>
                  <a:pt x="3669204" y="0"/>
                  <a:pt x="3703320" y="34116"/>
                  <a:pt x="3703320" y="76200"/>
                </a:cubicBezTo>
                <a:lnTo>
                  <a:pt x="3703320" y="731520"/>
                </a:lnTo>
                <a:cubicBezTo>
                  <a:pt x="3703320" y="773604"/>
                  <a:pt x="3669204" y="807720"/>
                  <a:pt x="362712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5C6B73">
              <a:alpha val="14902"/>
            </a:srgbClr>
          </a:solidFill>
          <a:ln w="10160">
            <a:solidFill>
              <a:srgbClr val="5C6B73">
                <a:alpha val="30196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53043" y="6050282"/>
            <a:ext cx="3609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C6B73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40%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191143" y="6431282"/>
            <a:ext cx="3533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第3年市场占有率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381000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D9A4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 &amp; SERVICE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产品与服务矩阵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61110"/>
            <a:ext cx="3703320" cy="4055745"/>
          </a:xfrm>
          <a:custGeom>
            <a:avLst/>
            <a:gdLst/>
            <a:ahLst/>
            <a:cxnLst/>
            <a:rect l="l" t="t" r="r" b="b"/>
            <a:pathLst>
              <a:path w="3703320" h="4055745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3941461"/>
                </a:lnTo>
                <a:cubicBezTo>
                  <a:pt x="3703320" y="4004578"/>
                  <a:pt x="3652153" y="4055745"/>
                  <a:pt x="3589036" y="4055745"/>
                </a:cubicBezTo>
                <a:lnTo>
                  <a:pt x="114284" y="4055745"/>
                </a:lnTo>
                <a:cubicBezTo>
                  <a:pt x="51167" y="4055745"/>
                  <a:pt x="0" y="4004578"/>
                  <a:pt x="0" y="394146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gradFill rotWithShape="1" flip="none">
            <a:gsLst>
              <a:gs pos="0">
                <a:srgbClr val="D9A477">
                  <a:alpha val="20000"/>
                </a:srgbClr>
              </a:gs>
              <a:gs pos="100000">
                <a:srgbClr val="D9A477">
                  <a:alpha val="5000"/>
                </a:srgbClr>
              </a:gs>
            </a:gsLst>
            <a:lin ang="2700000" scaled="1"/>
          </a:gradFill>
          <a:ln w="10160">
            <a:solidFill>
              <a:srgbClr val="D9A47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020" y="14173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7" name="Shape 5"/>
          <p:cNvSpPr/>
          <p:nvPr/>
        </p:nvSpPr>
        <p:spPr>
          <a:xfrm>
            <a:off x="641033" y="153161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00057" y="43354"/>
                </a:moveTo>
                <a:lnTo>
                  <a:pt x="100057" y="65499"/>
                </a:lnTo>
                <a:lnTo>
                  <a:pt x="100280" y="65723"/>
                </a:lnTo>
                <a:cubicBezTo>
                  <a:pt x="103183" y="28932"/>
                  <a:pt x="133945" y="0"/>
                  <a:pt x="171495" y="0"/>
                </a:cubicBezTo>
                <a:cubicBezTo>
                  <a:pt x="180469" y="0"/>
                  <a:pt x="189086" y="1652"/>
                  <a:pt x="196989" y="4688"/>
                </a:cubicBezTo>
                <a:cubicBezTo>
                  <a:pt x="201454" y="6385"/>
                  <a:pt x="202257" y="12055"/>
                  <a:pt x="198909" y="15448"/>
                </a:cubicBezTo>
                <a:lnTo>
                  <a:pt x="159306" y="55052"/>
                </a:lnTo>
                <a:cubicBezTo>
                  <a:pt x="157966" y="56391"/>
                  <a:pt x="157207" y="58222"/>
                  <a:pt x="157207" y="60097"/>
                </a:cubicBezTo>
                <a:lnTo>
                  <a:pt x="157207" y="78581"/>
                </a:lnTo>
                <a:cubicBezTo>
                  <a:pt x="157207" y="82510"/>
                  <a:pt x="160422" y="85725"/>
                  <a:pt x="164351" y="85725"/>
                </a:cubicBezTo>
                <a:lnTo>
                  <a:pt x="182835" y="85725"/>
                </a:lnTo>
                <a:cubicBezTo>
                  <a:pt x="184711" y="85725"/>
                  <a:pt x="186541" y="84966"/>
                  <a:pt x="187881" y="83627"/>
                </a:cubicBezTo>
                <a:lnTo>
                  <a:pt x="227484" y="44023"/>
                </a:lnTo>
                <a:cubicBezTo>
                  <a:pt x="230877" y="40630"/>
                  <a:pt x="236547" y="41478"/>
                  <a:pt x="238244" y="45943"/>
                </a:cubicBezTo>
                <a:cubicBezTo>
                  <a:pt x="241280" y="53846"/>
                  <a:pt x="242932" y="62463"/>
                  <a:pt x="242932" y="71438"/>
                </a:cubicBezTo>
                <a:cubicBezTo>
                  <a:pt x="242932" y="98494"/>
                  <a:pt x="227886" y="122069"/>
                  <a:pt x="205651" y="134169"/>
                </a:cubicBezTo>
                <a:lnTo>
                  <a:pt x="242039" y="170557"/>
                </a:lnTo>
                <a:cubicBezTo>
                  <a:pt x="250388" y="178906"/>
                  <a:pt x="250388" y="192479"/>
                  <a:pt x="242039" y="200873"/>
                </a:cubicBezTo>
                <a:lnTo>
                  <a:pt x="215205" y="227707"/>
                </a:lnTo>
                <a:cubicBezTo>
                  <a:pt x="206856" y="236056"/>
                  <a:pt x="193283" y="236056"/>
                  <a:pt x="184889" y="227707"/>
                </a:cubicBezTo>
                <a:lnTo>
                  <a:pt x="128632" y="171450"/>
                </a:lnTo>
                <a:cubicBezTo>
                  <a:pt x="116398" y="159216"/>
                  <a:pt x="113630" y="141134"/>
                  <a:pt x="120372" y="126221"/>
                </a:cubicBezTo>
                <a:lnTo>
                  <a:pt x="79876" y="85725"/>
                </a:lnTo>
                <a:lnTo>
                  <a:pt x="57730" y="85725"/>
                </a:lnTo>
                <a:cubicBezTo>
                  <a:pt x="52953" y="85725"/>
                  <a:pt x="48488" y="83359"/>
                  <a:pt x="45854" y="79385"/>
                </a:cubicBezTo>
                <a:lnTo>
                  <a:pt x="10448" y="26298"/>
                </a:lnTo>
                <a:cubicBezTo>
                  <a:pt x="8573" y="23485"/>
                  <a:pt x="8930" y="19690"/>
                  <a:pt x="11341" y="17279"/>
                </a:cubicBezTo>
                <a:lnTo>
                  <a:pt x="31611" y="-2991"/>
                </a:lnTo>
                <a:cubicBezTo>
                  <a:pt x="34022" y="-5402"/>
                  <a:pt x="37773" y="-5760"/>
                  <a:pt x="40630" y="-3884"/>
                </a:cubicBezTo>
                <a:lnTo>
                  <a:pt x="93717" y="31477"/>
                </a:lnTo>
                <a:cubicBezTo>
                  <a:pt x="97691" y="34111"/>
                  <a:pt x="100057" y="38576"/>
                  <a:pt x="100057" y="43354"/>
                </a:cubicBezTo>
                <a:close/>
                <a:moveTo>
                  <a:pt x="96262" y="132427"/>
                </a:moveTo>
                <a:cubicBezTo>
                  <a:pt x="93449" y="148947"/>
                  <a:pt x="97334" y="166405"/>
                  <a:pt x="108049" y="180380"/>
                </a:cubicBezTo>
                <a:lnTo>
                  <a:pt x="65633" y="222751"/>
                </a:lnTo>
                <a:cubicBezTo>
                  <a:pt x="53087" y="235297"/>
                  <a:pt x="32727" y="235297"/>
                  <a:pt x="20181" y="222751"/>
                </a:cubicBezTo>
                <a:cubicBezTo>
                  <a:pt x="7635" y="210205"/>
                  <a:pt x="7635" y="189845"/>
                  <a:pt x="20181" y="177299"/>
                </a:cubicBezTo>
                <a:lnTo>
                  <a:pt x="80635" y="116845"/>
                </a:lnTo>
                <a:lnTo>
                  <a:pt x="96262" y="132472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1112520" y="1512568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透明化维修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1020" y="20650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10" name="Text 8"/>
          <p:cNvSpPr/>
          <p:nvPr/>
        </p:nvSpPr>
        <p:spPr>
          <a:xfrm>
            <a:off x="769620" y="2026918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服务范围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9620" y="2255518"/>
            <a:ext cx="32289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电脑/手机的软件系统维护（重装、杀毒、数据恢复）、硬件故障排除（清灰、换屏、升级内存/硬盘）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0545" y="28413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13" name="Text 11"/>
          <p:cNvSpPr/>
          <p:nvPr/>
        </p:nvSpPr>
        <p:spPr>
          <a:xfrm>
            <a:off x="787241" y="2803206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服务模式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7241" y="3031806"/>
            <a:ext cx="32099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提供上门/到店双模式，维修过程可全程录像，杜绝偷换零件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1020" y="361759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16" name="Text 14"/>
          <p:cNvSpPr/>
          <p:nvPr/>
        </p:nvSpPr>
        <p:spPr>
          <a:xfrm>
            <a:off x="772716" y="3579493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透明保障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2716" y="3808093"/>
            <a:ext cx="3219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用户可通过小程序实时查看维修进度，每一个操作环节都清晰可见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1020" y="4713563"/>
            <a:ext cx="3390900" cy="447675"/>
          </a:xfrm>
          <a:custGeom>
            <a:avLst/>
            <a:gdLst/>
            <a:ahLst/>
            <a:cxnLst/>
            <a:rect l="l" t="t" r="r" b="b"/>
            <a:pathLst>
              <a:path w="3390900" h="447675">
                <a:moveTo>
                  <a:pt x="76199" y="0"/>
                </a:moveTo>
                <a:lnTo>
                  <a:pt x="3314701" y="0"/>
                </a:lnTo>
                <a:cubicBezTo>
                  <a:pt x="3356785" y="0"/>
                  <a:pt x="3390900" y="34115"/>
                  <a:pt x="3390900" y="76199"/>
                </a:cubicBezTo>
                <a:lnTo>
                  <a:pt x="3390900" y="371476"/>
                </a:lnTo>
                <a:cubicBezTo>
                  <a:pt x="3390900" y="413560"/>
                  <a:pt x="3356785" y="447675"/>
                  <a:pt x="3314701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21983" y="4827863"/>
            <a:ext cx="32289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解决传统维修店的"黑箱操作"问题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45531" y="1261110"/>
            <a:ext cx="3703320" cy="4055745"/>
          </a:xfrm>
          <a:custGeom>
            <a:avLst/>
            <a:gdLst/>
            <a:ahLst/>
            <a:cxnLst/>
            <a:rect l="l" t="t" r="r" b="b"/>
            <a:pathLst>
              <a:path w="3703320" h="4055745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3941461"/>
                </a:lnTo>
                <a:cubicBezTo>
                  <a:pt x="3703320" y="4004578"/>
                  <a:pt x="3652153" y="4055745"/>
                  <a:pt x="3589036" y="4055745"/>
                </a:cubicBezTo>
                <a:lnTo>
                  <a:pt x="114284" y="4055745"/>
                </a:lnTo>
                <a:cubicBezTo>
                  <a:pt x="51167" y="4055745"/>
                  <a:pt x="0" y="4004578"/>
                  <a:pt x="0" y="394146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gradFill rotWithShape="1" flip="none">
            <a:gsLst>
              <a:gs pos="0">
                <a:srgbClr val="3C8082">
                  <a:alpha val="20000"/>
                </a:srgbClr>
              </a:gs>
              <a:gs pos="100000">
                <a:srgbClr val="3C8082">
                  <a:alpha val="5000"/>
                </a:srgbClr>
              </a:gs>
            </a:gsLst>
            <a:lin ang="2700000" scaled="1"/>
          </a:gradFill>
          <a:ln w="10160">
            <a:solidFill>
              <a:srgbClr val="3C8082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01741" y="14173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22" name="Shape 20"/>
          <p:cNvSpPr/>
          <p:nvPr/>
        </p:nvSpPr>
        <p:spPr>
          <a:xfrm>
            <a:off x="4516041" y="15316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8000" y="26789"/>
                </a:moveTo>
                <a:cubicBezTo>
                  <a:pt x="88627" y="-8930"/>
                  <a:pt x="140196" y="-8930"/>
                  <a:pt x="160824" y="26789"/>
                </a:cubicBezTo>
                <a:lnTo>
                  <a:pt x="177478" y="55632"/>
                </a:lnTo>
                <a:lnTo>
                  <a:pt x="189845" y="48488"/>
                </a:lnTo>
                <a:cubicBezTo>
                  <a:pt x="193596" y="46300"/>
                  <a:pt x="198284" y="46613"/>
                  <a:pt x="201722" y="49247"/>
                </a:cubicBezTo>
                <a:cubicBezTo>
                  <a:pt x="205160" y="51881"/>
                  <a:pt x="206678" y="56346"/>
                  <a:pt x="205561" y="60543"/>
                </a:cubicBezTo>
                <a:lnTo>
                  <a:pt x="195069" y="99566"/>
                </a:lnTo>
                <a:cubicBezTo>
                  <a:pt x="193551" y="105281"/>
                  <a:pt x="187657" y="108674"/>
                  <a:pt x="181942" y="107156"/>
                </a:cubicBezTo>
                <a:lnTo>
                  <a:pt x="142920" y="96709"/>
                </a:lnTo>
                <a:cubicBezTo>
                  <a:pt x="138723" y="95592"/>
                  <a:pt x="135642" y="92065"/>
                  <a:pt x="135062" y="87779"/>
                </a:cubicBezTo>
                <a:cubicBezTo>
                  <a:pt x="134481" y="83493"/>
                  <a:pt x="136580" y="79251"/>
                  <a:pt x="140330" y="77108"/>
                </a:cubicBezTo>
                <a:lnTo>
                  <a:pt x="152698" y="69964"/>
                </a:lnTo>
                <a:lnTo>
                  <a:pt x="136044" y="41121"/>
                </a:lnTo>
                <a:cubicBezTo>
                  <a:pt x="126400" y="24467"/>
                  <a:pt x="102379" y="24467"/>
                  <a:pt x="92735" y="41121"/>
                </a:cubicBezTo>
                <a:lnTo>
                  <a:pt x="90368" y="45184"/>
                </a:lnTo>
                <a:cubicBezTo>
                  <a:pt x="86439" y="52015"/>
                  <a:pt x="77688" y="54337"/>
                  <a:pt x="70857" y="50408"/>
                </a:cubicBezTo>
                <a:cubicBezTo>
                  <a:pt x="64026" y="46479"/>
                  <a:pt x="61704" y="37728"/>
                  <a:pt x="65633" y="30852"/>
                </a:cubicBezTo>
                <a:lnTo>
                  <a:pt x="68000" y="26789"/>
                </a:lnTo>
                <a:close/>
                <a:moveTo>
                  <a:pt x="200784" y="124614"/>
                </a:moveTo>
                <a:cubicBezTo>
                  <a:pt x="207615" y="120685"/>
                  <a:pt x="216366" y="123006"/>
                  <a:pt x="220295" y="129838"/>
                </a:cubicBezTo>
                <a:lnTo>
                  <a:pt x="222662" y="133901"/>
                </a:lnTo>
                <a:cubicBezTo>
                  <a:pt x="243289" y="169619"/>
                  <a:pt x="217527" y="214268"/>
                  <a:pt x="176272" y="214268"/>
                </a:cubicBezTo>
                <a:lnTo>
                  <a:pt x="142964" y="214268"/>
                </a:lnTo>
                <a:lnTo>
                  <a:pt x="142964" y="228555"/>
                </a:lnTo>
                <a:cubicBezTo>
                  <a:pt x="142964" y="232886"/>
                  <a:pt x="140375" y="236815"/>
                  <a:pt x="136356" y="238467"/>
                </a:cubicBezTo>
                <a:cubicBezTo>
                  <a:pt x="132338" y="240119"/>
                  <a:pt x="127739" y="239226"/>
                  <a:pt x="124658" y="236146"/>
                </a:cubicBezTo>
                <a:lnTo>
                  <a:pt x="96083" y="207571"/>
                </a:lnTo>
                <a:cubicBezTo>
                  <a:pt x="91886" y="203374"/>
                  <a:pt x="91886" y="196587"/>
                  <a:pt x="96083" y="192435"/>
                </a:cubicBezTo>
                <a:lnTo>
                  <a:pt x="124658" y="163860"/>
                </a:lnTo>
                <a:cubicBezTo>
                  <a:pt x="127739" y="160779"/>
                  <a:pt x="132338" y="159886"/>
                  <a:pt x="136356" y="161538"/>
                </a:cubicBezTo>
                <a:cubicBezTo>
                  <a:pt x="140375" y="163190"/>
                  <a:pt x="142964" y="167119"/>
                  <a:pt x="142964" y="171450"/>
                </a:cubicBezTo>
                <a:lnTo>
                  <a:pt x="142964" y="185738"/>
                </a:lnTo>
                <a:lnTo>
                  <a:pt x="176272" y="185738"/>
                </a:lnTo>
                <a:cubicBezTo>
                  <a:pt x="195516" y="185738"/>
                  <a:pt x="207571" y="164887"/>
                  <a:pt x="197927" y="148233"/>
                </a:cubicBezTo>
                <a:lnTo>
                  <a:pt x="195560" y="144170"/>
                </a:lnTo>
                <a:cubicBezTo>
                  <a:pt x="191631" y="137339"/>
                  <a:pt x="193953" y="128588"/>
                  <a:pt x="200784" y="124658"/>
                </a:cubicBezTo>
                <a:close/>
                <a:moveTo>
                  <a:pt x="22771" y="105102"/>
                </a:moveTo>
                <a:lnTo>
                  <a:pt x="10403" y="97959"/>
                </a:lnTo>
                <a:cubicBezTo>
                  <a:pt x="6653" y="95771"/>
                  <a:pt x="4554" y="91574"/>
                  <a:pt x="5135" y="87288"/>
                </a:cubicBezTo>
                <a:cubicBezTo>
                  <a:pt x="5715" y="83001"/>
                  <a:pt x="8796" y="79474"/>
                  <a:pt x="12993" y="78358"/>
                </a:cubicBezTo>
                <a:lnTo>
                  <a:pt x="52015" y="67866"/>
                </a:lnTo>
                <a:cubicBezTo>
                  <a:pt x="57730" y="66348"/>
                  <a:pt x="63624" y="69741"/>
                  <a:pt x="65142" y="75456"/>
                </a:cubicBezTo>
                <a:lnTo>
                  <a:pt x="75590" y="114479"/>
                </a:lnTo>
                <a:cubicBezTo>
                  <a:pt x="76706" y="118676"/>
                  <a:pt x="75188" y="123096"/>
                  <a:pt x="71750" y="125775"/>
                </a:cubicBezTo>
                <a:cubicBezTo>
                  <a:pt x="68312" y="128454"/>
                  <a:pt x="63624" y="128721"/>
                  <a:pt x="59874" y="126534"/>
                </a:cubicBezTo>
                <a:lnTo>
                  <a:pt x="47506" y="119390"/>
                </a:lnTo>
                <a:lnTo>
                  <a:pt x="30852" y="148233"/>
                </a:lnTo>
                <a:cubicBezTo>
                  <a:pt x="21208" y="164887"/>
                  <a:pt x="33263" y="185738"/>
                  <a:pt x="52507" y="185738"/>
                </a:cubicBezTo>
                <a:lnTo>
                  <a:pt x="57239" y="185738"/>
                </a:lnTo>
                <a:cubicBezTo>
                  <a:pt x="65142" y="185738"/>
                  <a:pt x="71527" y="192122"/>
                  <a:pt x="71527" y="200025"/>
                </a:cubicBezTo>
                <a:cubicBezTo>
                  <a:pt x="71527" y="207928"/>
                  <a:pt x="65142" y="214313"/>
                  <a:pt x="57239" y="214313"/>
                </a:cubicBezTo>
                <a:lnTo>
                  <a:pt x="52507" y="214313"/>
                </a:lnTo>
                <a:cubicBezTo>
                  <a:pt x="11296" y="214313"/>
                  <a:pt x="-14466" y="169664"/>
                  <a:pt x="6161" y="133945"/>
                </a:cubicBezTo>
                <a:lnTo>
                  <a:pt x="22771" y="105102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3" name="Text 21"/>
          <p:cNvSpPr/>
          <p:nvPr/>
        </p:nvSpPr>
        <p:spPr>
          <a:xfrm>
            <a:off x="4973241" y="1512568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二手优品流转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01741" y="20650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25" name="Text 23"/>
          <p:cNvSpPr/>
          <p:nvPr/>
        </p:nvSpPr>
        <p:spPr>
          <a:xfrm>
            <a:off x="4630341" y="2026918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分级标准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30341" y="2255518"/>
            <a:ext cx="32289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独创校园二手分级标准（S级、A级、B级），每台机器出具包含32项检测指标的电子"体检报告"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11266" y="28413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28" name="Text 26"/>
          <p:cNvSpPr/>
          <p:nvPr/>
        </p:nvSpPr>
        <p:spPr>
          <a:xfrm>
            <a:off x="4650462" y="2803206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服务流程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50462" y="3031806"/>
            <a:ext cx="32099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二手电子产品的回收、专业质检定级、翻新清洗与再次销售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11266" y="361759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31" name="Text 29"/>
          <p:cNvSpPr/>
          <p:nvPr/>
        </p:nvSpPr>
        <p:spPr>
          <a:xfrm>
            <a:off x="4650462" y="3579493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透明细节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50462" y="3808093"/>
            <a:ext cx="32099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明确标注划痕、电池寿命等细节，让买家清楚了解设备状况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01741" y="4713563"/>
            <a:ext cx="3390900" cy="447675"/>
          </a:xfrm>
          <a:custGeom>
            <a:avLst/>
            <a:gdLst/>
            <a:ahLst/>
            <a:cxnLst/>
            <a:rect l="l" t="t" r="r" b="b"/>
            <a:pathLst>
              <a:path w="3390900" h="447675">
                <a:moveTo>
                  <a:pt x="76199" y="0"/>
                </a:moveTo>
                <a:lnTo>
                  <a:pt x="3314701" y="0"/>
                </a:lnTo>
                <a:cubicBezTo>
                  <a:pt x="3356785" y="0"/>
                  <a:pt x="3390900" y="34115"/>
                  <a:pt x="3390900" y="76199"/>
                </a:cubicBezTo>
                <a:lnTo>
                  <a:pt x="3390900" y="371476"/>
                </a:lnTo>
                <a:cubicBezTo>
                  <a:pt x="3390900" y="413560"/>
                  <a:pt x="3356785" y="447675"/>
                  <a:pt x="3314701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482703" y="4827863"/>
            <a:ext cx="32289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让买家放心，卖家获得公允定价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06371" y="1261110"/>
            <a:ext cx="3703320" cy="4055745"/>
          </a:xfrm>
          <a:custGeom>
            <a:avLst/>
            <a:gdLst/>
            <a:ahLst/>
            <a:cxnLst/>
            <a:rect l="l" t="t" r="r" b="b"/>
            <a:pathLst>
              <a:path w="3703320" h="4055745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3941461"/>
                </a:lnTo>
                <a:cubicBezTo>
                  <a:pt x="3703320" y="4004578"/>
                  <a:pt x="3652153" y="4055745"/>
                  <a:pt x="3589036" y="4055745"/>
                </a:cubicBezTo>
                <a:lnTo>
                  <a:pt x="114284" y="4055745"/>
                </a:lnTo>
                <a:cubicBezTo>
                  <a:pt x="51167" y="4055745"/>
                  <a:pt x="0" y="4004578"/>
                  <a:pt x="0" y="394146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gradFill rotWithShape="1" flip="none">
            <a:gsLst>
              <a:gs pos="0">
                <a:srgbClr val="5C6B73">
                  <a:alpha val="20000"/>
                </a:srgbClr>
              </a:gs>
              <a:gs pos="100000">
                <a:srgbClr val="5C6B73">
                  <a:alpha val="5000"/>
                </a:srgbClr>
              </a:gs>
            </a:gsLst>
            <a:lin ang="2700000" scaled="1"/>
          </a:gradFill>
          <a:ln w="10160">
            <a:solidFill>
              <a:srgbClr val="5C6B73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62581" y="14173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37" name="Shape 35"/>
          <p:cNvSpPr/>
          <p:nvPr/>
        </p:nvSpPr>
        <p:spPr>
          <a:xfrm>
            <a:off x="8362593" y="153161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38" name="Text 36"/>
          <p:cNvSpPr/>
          <p:nvPr/>
        </p:nvSpPr>
        <p:spPr>
          <a:xfrm>
            <a:off x="8834081" y="1512568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IT技术咨询与培训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81631" y="20650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40" name="Text 38"/>
          <p:cNvSpPr/>
          <p:nvPr/>
        </p:nvSpPr>
        <p:spPr>
          <a:xfrm>
            <a:off x="8529281" y="2026918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服务对象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529281" y="2255518"/>
            <a:ext cx="28670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针对新生的计算机基础技能培训及购机防坑咨询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67343" y="262461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43" name="Text 41"/>
          <p:cNvSpPr/>
          <p:nvPr/>
        </p:nvSpPr>
        <p:spPr>
          <a:xfrm>
            <a:off x="8505230" y="2586512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培训内容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05230" y="2815112"/>
            <a:ext cx="32099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系统使用技巧、软件安装配置、硬件选购指南、防骗知识普及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81631" y="340089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46" name="Text 44"/>
          <p:cNvSpPr/>
          <p:nvPr/>
        </p:nvSpPr>
        <p:spPr>
          <a:xfrm>
            <a:off x="8529281" y="3362799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价值主张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529281" y="3591399"/>
            <a:ext cx="23336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提升用户数字素养，建立长期信任关系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62581" y="4713563"/>
            <a:ext cx="3390900" cy="447675"/>
          </a:xfrm>
          <a:custGeom>
            <a:avLst/>
            <a:gdLst/>
            <a:ahLst/>
            <a:cxnLst/>
            <a:rect l="l" t="t" r="r" b="b"/>
            <a:pathLst>
              <a:path w="3390900" h="447675">
                <a:moveTo>
                  <a:pt x="76199" y="0"/>
                </a:moveTo>
                <a:lnTo>
                  <a:pt x="3314701" y="0"/>
                </a:lnTo>
                <a:cubicBezTo>
                  <a:pt x="3356785" y="0"/>
                  <a:pt x="3390900" y="34115"/>
                  <a:pt x="3390900" y="76199"/>
                </a:cubicBezTo>
                <a:lnTo>
                  <a:pt x="3390900" y="371476"/>
                </a:lnTo>
                <a:cubicBezTo>
                  <a:pt x="3390900" y="413560"/>
                  <a:pt x="3356785" y="447675"/>
                  <a:pt x="3314701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343543" y="4827863"/>
            <a:ext cx="32289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打造校园数码服务生态圈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4810" y="5475090"/>
            <a:ext cx="2160270" cy="998220"/>
          </a:xfrm>
          <a:custGeom>
            <a:avLst/>
            <a:gdLst/>
            <a:ahLst/>
            <a:cxnLst/>
            <a:rect l="l" t="t" r="r" b="b"/>
            <a:pathLst>
              <a:path w="2160270" h="998220">
                <a:moveTo>
                  <a:pt x="76204" y="0"/>
                </a:moveTo>
                <a:lnTo>
                  <a:pt x="2084066" y="0"/>
                </a:lnTo>
                <a:cubicBezTo>
                  <a:pt x="2126152" y="0"/>
                  <a:pt x="2160270" y="34118"/>
                  <a:pt x="2160270" y="76204"/>
                </a:cubicBezTo>
                <a:lnTo>
                  <a:pt x="2160270" y="922016"/>
                </a:lnTo>
                <a:cubicBezTo>
                  <a:pt x="2160270" y="964102"/>
                  <a:pt x="2126152" y="998220"/>
                  <a:pt x="2084066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D9A477">
              <a:alpha val="14902"/>
            </a:srgbClr>
          </a:solidFill>
          <a:ln w="10160">
            <a:solidFill>
              <a:srgbClr val="D9A477">
                <a:alpha val="30196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9582" y="5593198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系统重装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31482" y="5821798"/>
            <a:ext cx="2066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9A47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29.9元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74345" y="6202798"/>
            <a:ext cx="1981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校外50-80元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2701290" y="5475090"/>
            <a:ext cx="2160270" cy="998220"/>
          </a:xfrm>
          <a:custGeom>
            <a:avLst/>
            <a:gdLst/>
            <a:ahLst/>
            <a:cxnLst/>
            <a:rect l="l" t="t" r="r" b="b"/>
            <a:pathLst>
              <a:path w="2160270" h="998220">
                <a:moveTo>
                  <a:pt x="76204" y="0"/>
                </a:moveTo>
                <a:lnTo>
                  <a:pt x="2084066" y="0"/>
                </a:lnTo>
                <a:cubicBezTo>
                  <a:pt x="2126152" y="0"/>
                  <a:pt x="2160270" y="34118"/>
                  <a:pt x="2160270" y="76204"/>
                </a:cubicBezTo>
                <a:lnTo>
                  <a:pt x="2160270" y="922016"/>
                </a:lnTo>
                <a:cubicBezTo>
                  <a:pt x="2160270" y="964102"/>
                  <a:pt x="2126152" y="998220"/>
                  <a:pt x="2084066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3C8082">
              <a:alpha val="14902"/>
            </a:srgbClr>
          </a:solidFill>
          <a:ln w="1016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86063" y="5593198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清灰换硅脂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2747963" y="5821798"/>
            <a:ext cx="2066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C8082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49.9元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2790825" y="6202798"/>
            <a:ext cx="1981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校外80-120元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017770" y="5475090"/>
            <a:ext cx="2160270" cy="998220"/>
          </a:xfrm>
          <a:custGeom>
            <a:avLst/>
            <a:gdLst/>
            <a:ahLst/>
            <a:cxnLst/>
            <a:rect l="l" t="t" r="r" b="b"/>
            <a:pathLst>
              <a:path w="2160270" h="998220">
                <a:moveTo>
                  <a:pt x="76204" y="0"/>
                </a:moveTo>
                <a:lnTo>
                  <a:pt x="2084066" y="0"/>
                </a:lnTo>
                <a:cubicBezTo>
                  <a:pt x="2126152" y="0"/>
                  <a:pt x="2160270" y="34118"/>
                  <a:pt x="2160270" y="76204"/>
                </a:cubicBezTo>
                <a:lnTo>
                  <a:pt x="2160270" y="922016"/>
                </a:lnTo>
                <a:cubicBezTo>
                  <a:pt x="2160270" y="964102"/>
                  <a:pt x="2126152" y="998220"/>
                  <a:pt x="2084066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5C6B73">
              <a:alpha val="14902"/>
            </a:srgbClr>
          </a:solidFill>
          <a:ln w="10160">
            <a:solidFill>
              <a:srgbClr val="5C6B73">
                <a:alpha val="30196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02543" y="5593198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二手服务费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064443" y="5821798"/>
            <a:ext cx="2066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C6B73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+15%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5107305" y="6202798"/>
            <a:ext cx="1981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校外30%以上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334250" y="5475090"/>
            <a:ext cx="2160270" cy="998220"/>
          </a:xfrm>
          <a:custGeom>
            <a:avLst/>
            <a:gdLst/>
            <a:ahLst/>
            <a:cxnLst/>
            <a:rect l="l" t="t" r="r" b="b"/>
            <a:pathLst>
              <a:path w="2160270" h="998220">
                <a:moveTo>
                  <a:pt x="76204" y="0"/>
                </a:moveTo>
                <a:lnTo>
                  <a:pt x="2084066" y="0"/>
                </a:lnTo>
                <a:cubicBezTo>
                  <a:pt x="2126152" y="0"/>
                  <a:pt x="2160270" y="34118"/>
                  <a:pt x="2160270" y="76204"/>
                </a:cubicBezTo>
                <a:lnTo>
                  <a:pt x="2160270" y="922016"/>
                </a:lnTo>
                <a:cubicBezTo>
                  <a:pt x="2160270" y="964102"/>
                  <a:pt x="2126152" y="998220"/>
                  <a:pt x="2084066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D9A477">
              <a:alpha val="14902"/>
            </a:srgbClr>
          </a:solidFill>
          <a:ln w="10160">
            <a:solidFill>
              <a:srgbClr val="D9A477">
                <a:alpha val="30196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19023" y="5593198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手工费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380923" y="5821798"/>
            <a:ext cx="2066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9A47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+20元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423785" y="6202798"/>
            <a:ext cx="1981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校外50元以上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650730" y="5475090"/>
            <a:ext cx="2160270" cy="998220"/>
          </a:xfrm>
          <a:custGeom>
            <a:avLst/>
            <a:gdLst/>
            <a:ahLst/>
            <a:cxnLst/>
            <a:rect l="l" t="t" r="r" b="b"/>
            <a:pathLst>
              <a:path w="2160270" h="998220">
                <a:moveTo>
                  <a:pt x="76204" y="0"/>
                </a:moveTo>
                <a:lnTo>
                  <a:pt x="2084066" y="0"/>
                </a:lnTo>
                <a:cubicBezTo>
                  <a:pt x="2126152" y="0"/>
                  <a:pt x="2160270" y="34118"/>
                  <a:pt x="2160270" y="76204"/>
                </a:cubicBezTo>
                <a:lnTo>
                  <a:pt x="2160270" y="922016"/>
                </a:lnTo>
                <a:cubicBezTo>
                  <a:pt x="2160270" y="964102"/>
                  <a:pt x="2126152" y="998220"/>
                  <a:pt x="2084066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3C8082">
              <a:alpha val="14902"/>
            </a:srgbClr>
          </a:solidFill>
          <a:ln w="10160">
            <a:solidFill>
              <a:srgbClr val="3C8082">
                <a:alpha val="30196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5502" y="5593198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年度会员卡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697402" y="5821798"/>
            <a:ext cx="2066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C8082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99元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740265" y="6202798"/>
            <a:ext cx="1981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无此类服务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38100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D9A4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BUSINESS MODEL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商业模式与盈利路径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61110"/>
            <a:ext cx="5627370" cy="3303270"/>
          </a:xfrm>
          <a:custGeom>
            <a:avLst/>
            <a:gdLst/>
            <a:ahLst/>
            <a:cxnLst/>
            <a:rect l="l" t="t" r="r" b="b"/>
            <a:pathLst>
              <a:path w="5627370" h="3303270">
                <a:moveTo>
                  <a:pt x="114293" y="0"/>
                </a:moveTo>
                <a:lnTo>
                  <a:pt x="5513077" y="0"/>
                </a:lnTo>
                <a:cubicBezTo>
                  <a:pt x="5576157" y="0"/>
                  <a:pt x="5627370" y="51213"/>
                  <a:pt x="5627370" y="114293"/>
                </a:cubicBezTo>
                <a:lnTo>
                  <a:pt x="5627370" y="3188977"/>
                </a:lnTo>
                <a:cubicBezTo>
                  <a:pt x="5627370" y="3252057"/>
                  <a:pt x="5576157" y="3303270"/>
                  <a:pt x="5513077" y="3303270"/>
                </a:cubicBezTo>
                <a:lnTo>
                  <a:pt x="114293" y="3303270"/>
                </a:lnTo>
                <a:cubicBezTo>
                  <a:pt x="51213" y="3303270"/>
                  <a:pt x="0" y="3252057"/>
                  <a:pt x="0" y="318897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3C8082">
                  <a:alpha val="20000"/>
                </a:srgbClr>
              </a:gs>
              <a:gs pos="100000">
                <a:srgbClr val="3C8082">
                  <a:alpha val="5000"/>
                </a:srgbClr>
              </a:gs>
            </a:gsLst>
            <a:lin ang="2700000" scaled="1"/>
          </a:gradFill>
          <a:ln w="10160">
            <a:solidFill>
              <a:srgbClr val="3C8082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9595" y="145530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42863"/>
                </a:moveTo>
                <a:lnTo>
                  <a:pt x="57150" y="35719"/>
                </a:lnTo>
                <a:cubicBezTo>
                  <a:pt x="57150" y="15984"/>
                  <a:pt x="95548" y="0"/>
                  <a:pt x="142875" y="0"/>
                </a:cubicBezTo>
                <a:cubicBezTo>
                  <a:pt x="190202" y="0"/>
                  <a:pt x="228600" y="15984"/>
                  <a:pt x="228600" y="35719"/>
                </a:cubicBezTo>
                <a:lnTo>
                  <a:pt x="228600" y="42863"/>
                </a:lnTo>
                <a:cubicBezTo>
                  <a:pt x="228600" y="56525"/>
                  <a:pt x="210160" y="68401"/>
                  <a:pt x="183059" y="74429"/>
                </a:cubicBezTo>
                <a:cubicBezTo>
                  <a:pt x="181987" y="73179"/>
                  <a:pt x="180871" y="71973"/>
                  <a:pt x="179755" y="70857"/>
                </a:cubicBezTo>
                <a:cubicBezTo>
                  <a:pt x="172834" y="64026"/>
                  <a:pt x="163904" y="58847"/>
                  <a:pt x="154573" y="55007"/>
                </a:cubicBezTo>
                <a:cubicBezTo>
                  <a:pt x="135865" y="47193"/>
                  <a:pt x="111487" y="42907"/>
                  <a:pt x="85725" y="42907"/>
                </a:cubicBezTo>
                <a:cubicBezTo>
                  <a:pt x="75947" y="42907"/>
                  <a:pt x="66392" y="43532"/>
                  <a:pt x="57239" y="44738"/>
                </a:cubicBezTo>
                <a:cubicBezTo>
                  <a:pt x="57150" y="44157"/>
                  <a:pt x="57150" y="43532"/>
                  <a:pt x="57150" y="42907"/>
                </a:cubicBezTo>
                <a:close/>
                <a:moveTo>
                  <a:pt x="192881" y="157609"/>
                </a:moveTo>
                <a:lnTo>
                  <a:pt x="192881" y="136981"/>
                </a:lnTo>
                <a:cubicBezTo>
                  <a:pt x="199623" y="135240"/>
                  <a:pt x="205963" y="133186"/>
                  <a:pt x="211723" y="130775"/>
                </a:cubicBezTo>
                <a:cubicBezTo>
                  <a:pt x="217616" y="128320"/>
                  <a:pt x="223376" y="125328"/>
                  <a:pt x="228600" y="121712"/>
                </a:cubicBezTo>
                <a:lnTo>
                  <a:pt x="228600" y="128588"/>
                </a:lnTo>
                <a:cubicBezTo>
                  <a:pt x="228600" y="140553"/>
                  <a:pt x="214536" y="151135"/>
                  <a:pt x="192881" y="157609"/>
                </a:cubicBezTo>
                <a:close/>
                <a:moveTo>
                  <a:pt x="192881" y="114746"/>
                </a:moveTo>
                <a:lnTo>
                  <a:pt x="192881" y="100013"/>
                </a:lnTo>
                <a:cubicBezTo>
                  <a:pt x="192881" y="98003"/>
                  <a:pt x="192703" y="96083"/>
                  <a:pt x="192435" y="94208"/>
                </a:cubicBezTo>
                <a:cubicBezTo>
                  <a:pt x="199355" y="92467"/>
                  <a:pt x="205829" y="90368"/>
                  <a:pt x="211723" y="87868"/>
                </a:cubicBezTo>
                <a:cubicBezTo>
                  <a:pt x="217616" y="85368"/>
                  <a:pt x="223376" y="82421"/>
                  <a:pt x="228600" y="78804"/>
                </a:cubicBezTo>
                <a:lnTo>
                  <a:pt x="228600" y="85680"/>
                </a:lnTo>
                <a:cubicBezTo>
                  <a:pt x="228600" y="97646"/>
                  <a:pt x="214536" y="108228"/>
                  <a:pt x="192881" y="114702"/>
                </a:cubicBezTo>
                <a:close/>
                <a:moveTo>
                  <a:pt x="0" y="107156"/>
                </a:moveTo>
                <a:lnTo>
                  <a:pt x="0" y="100013"/>
                </a:lnTo>
                <a:cubicBezTo>
                  <a:pt x="0" y="80278"/>
                  <a:pt x="38398" y="64294"/>
                  <a:pt x="85725" y="64294"/>
                </a:cubicBezTo>
                <a:cubicBezTo>
                  <a:pt x="133052" y="64294"/>
                  <a:pt x="171450" y="80278"/>
                  <a:pt x="171450" y="100013"/>
                </a:cubicBezTo>
                <a:lnTo>
                  <a:pt x="171450" y="107156"/>
                </a:lnTo>
                <a:cubicBezTo>
                  <a:pt x="171450" y="126891"/>
                  <a:pt x="133052" y="142875"/>
                  <a:pt x="85725" y="142875"/>
                </a:cubicBezTo>
                <a:cubicBezTo>
                  <a:pt x="38398" y="142875"/>
                  <a:pt x="0" y="126891"/>
                  <a:pt x="0" y="107156"/>
                </a:cubicBezTo>
                <a:close/>
                <a:moveTo>
                  <a:pt x="171450" y="150019"/>
                </a:moveTo>
                <a:cubicBezTo>
                  <a:pt x="171450" y="169753"/>
                  <a:pt x="133052" y="185738"/>
                  <a:pt x="85725" y="185738"/>
                </a:cubicBezTo>
                <a:cubicBezTo>
                  <a:pt x="38398" y="185738"/>
                  <a:pt x="0" y="169753"/>
                  <a:pt x="0" y="150019"/>
                </a:cubicBezTo>
                <a:lnTo>
                  <a:pt x="0" y="143143"/>
                </a:lnTo>
                <a:cubicBezTo>
                  <a:pt x="5179" y="146759"/>
                  <a:pt x="10939" y="149706"/>
                  <a:pt x="16877" y="152207"/>
                </a:cubicBezTo>
                <a:cubicBezTo>
                  <a:pt x="35585" y="160020"/>
                  <a:pt x="59963" y="164306"/>
                  <a:pt x="85725" y="164306"/>
                </a:cubicBezTo>
                <a:cubicBezTo>
                  <a:pt x="111487" y="164306"/>
                  <a:pt x="135865" y="159975"/>
                  <a:pt x="154573" y="152207"/>
                </a:cubicBezTo>
                <a:cubicBezTo>
                  <a:pt x="160466" y="149751"/>
                  <a:pt x="166226" y="146759"/>
                  <a:pt x="171450" y="143143"/>
                </a:cubicBezTo>
                <a:lnTo>
                  <a:pt x="171450" y="150019"/>
                </a:lnTo>
                <a:close/>
                <a:moveTo>
                  <a:pt x="171450" y="186005"/>
                </a:moveTo>
                <a:lnTo>
                  <a:pt x="171450" y="192881"/>
                </a:lnTo>
                <a:cubicBezTo>
                  <a:pt x="171450" y="212616"/>
                  <a:pt x="133052" y="228600"/>
                  <a:pt x="85725" y="228600"/>
                </a:cubicBezTo>
                <a:cubicBezTo>
                  <a:pt x="38398" y="228600"/>
                  <a:pt x="0" y="212616"/>
                  <a:pt x="0" y="192881"/>
                </a:cubicBezTo>
                <a:lnTo>
                  <a:pt x="0" y="186005"/>
                </a:lnTo>
                <a:cubicBezTo>
                  <a:pt x="5179" y="189622"/>
                  <a:pt x="10939" y="192569"/>
                  <a:pt x="16877" y="195069"/>
                </a:cubicBezTo>
                <a:cubicBezTo>
                  <a:pt x="35585" y="202883"/>
                  <a:pt x="59963" y="207169"/>
                  <a:pt x="85725" y="207169"/>
                </a:cubicBezTo>
                <a:cubicBezTo>
                  <a:pt x="111487" y="207169"/>
                  <a:pt x="135865" y="202838"/>
                  <a:pt x="154573" y="195069"/>
                </a:cubicBezTo>
                <a:cubicBezTo>
                  <a:pt x="160466" y="192613"/>
                  <a:pt x="166226" y="189622"/>
                  <a:pt x="171450" y="186005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7" name="Text 5"/>
          <p:cNvSpPr/>
          <p:nvPr/>
        </p:nvSpPr>
        <p:spPr>
          <a:xfrm>
            <a:off x="826770" y="1417318"/>
            <a:ext cx="514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收入来源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0070" y="1836302"/>
            <a:ext cx="5295900" cy="781050"/>
          </a:xfrm>
          <a:custGeom>
            <a:avLst/>
            <a:gdLst/>
            <a:ahLst/>
            <a:cxnLst/>
            <a:rect l="l" t="t" r="r" b="b"/>
            <a:pathLst>
              <a:path w="5295900" h="781050">
                <a:moveTo>
                  <a:pt x="38100" y="0"/>
                </a:moveTo>
                <a:lnTo>
                  <a:pt x="5219701" y="0"/>
                </a:lnTo>
                <a:cubicBezTo>
                  <a:pt x="5261784" y="0"/>
                  <a:pt x="5295900" y="34116"/>
                  <a:pt x="5295900" y="76199"/>
                </a:cubicBezTo>
                <a:lnTo>
                  <a:pt x="5295900" y="704851"/>
                </a:lnTo>
                <a:cubicBezTo>
                  <a:pt x="5295900" y="746934"/>
                  <a:pt x="5261784" y="781050"/>
                  <a:pt x="5219701" y="781050"/>
                </a:cubicBez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60070" y="1836302"/>
            <a:ext cx="38100" cy="781050"/>
          </a:xfrm>
          <a:custGeom>
            <a:avLst/>
            <a:gdLst/>
            <a:ahLst/>
            <a:cxnLst/>
            <a:rect l="l" t="t" r="r" b="b"/>
            <a:pathLst>
              <a:path w="38100" h="781050">
                <a:moveTo>
                  <a:pt x="38100" y="0"/>
                </a:moveTo>
                <a:lnTo>
                  <a:pt x="38100" y="0"/>
                </a:lnTo>
                <a:lnTo>
                  <a:pt x="38100" y="781050"/>
                </a:ln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10" name="Shape 8"/>
          <p:cNvSpPr/>
          <p:nvPr/>
        </p:nvSpPr>
        <p:spPr>
          <a:xfrm>
            <a:off x="693420" y="19506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11" name="Shape 9"/>
          <p:cNvSpPr/>
          <p:nvPr/>
        </p:nvSpPr>
        <p:spPr>
          <a:xfrm>
            <a:off x="789861" y="2055377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70579" y="33018"/>
                </a:moveTo>
                <a:cubicBezTo>
                  <a:pt x="173124" y="30473"/>
                  <a:pt x="177377" y="31109"/>
                  <a:pt x="178650" y="34457"/>
                </a:cubicBezTo>
                <a:cubicBezTo>
                  <a:pt x="180927" y="40385"/>
                  <a:pt x="182166" y="46847"/>
                  <a:pt x="182166" y="53578"/>
                </a:cubicBezTo>
                <a:cubicBezTo>
                  <a:pt x="182166" y="83180"/>
                  <a:pt x="158189" y="107156"/>
                  <a:pt x="128588" y="107156"/>
                </a:cubicBezTo>
                <a:cubicBezTo>
                  <a:pt x="122727" y="107156"/>
                  <a:pt x="117068" y="106219"/>
                  <a:pt x="111777" y="104477"/>
                </a:cubicBezTo>
                <a:lnTo>
                  <a:pt x="49191" y="167063"/>
                </a:lnTo>
                <a:cubicBezTo>
                  <a:pt x="39782" y="176473"/>
                  <a:pt x="24512" y="176473"/>
                  <a:pt x="15102" y="167063"/>
                </a:cubicBezTo>
                <a:cubicBezTo>
                  <a:pt x="5693" y="157654"/>
                  <a:pt x="5693" y="142384"/>
                  <a:pt x="15102" y="132974"/>
                </a:cubicBezTo>
                <a:lnTo>
                  <a:pt x="77688" y="70388"/>
                </a:lnTo>
                <a:cubicBezTo>
                  <a:pt x="75947" y="65097"/>
                  <a:pt x="75009" y="59472"/>
                  <a:pt x="75009" y="53578"/>
                </a:cubicBezTo>
                <a:cubicBezTo>
                  <a:pt x="75009" y="23976"/>
                  <a:pt x="98986" y="0"/>
                  <a:pt x="128588" y="0"/>
                </a:cubicBezTo>
                <a:cubicBezTo>
                  <a:pt x="135318" y="0"/>
                  <a:pt x="141781" y="1239"/>
                  <a:pt x="147708" y="3516"/>
                </a:cubicBezTo>
                <a:cubicBezTo>
                  <a:pt x="151057" y="4789"/>
                  <a:pt x="151660" y="9041"/>
                  <a:pt x="149148" y="11586"/>
                </a:cubicBezTo>
                <a:lnTo>
                  <a:pt x="119446" y="41289"/>
                </a:lnTo>
                <a:cubicBezTo>
                  <a:pt x="118441" y="42293"/>
                  <a:pt x="117872" y="43666"/>
                  <a:pt x="117872" y="45073"/>
                </a:cubicBezTo>
                <a:lnTo>
                  <a:pt x="117872" y="58936"/>
                </a:lnTo>
                <a:cubicBezTo>
                  <a:pt x="117872" y="61883"/>
                  <a:pt x="120283" y="64294"/>
                  <a:pt x="123230" y="64294"/>
                </a:cubicBezTo>
                <a:lnTo>
                  <a:pt x="137093" y="64294"/>
                </a:lnTo>
                <a:cubicBezTo>
                  <a:pt x="138499" y="64294"/>
                  <a:pt x="139872" y="63724"/>
                  <a:pt x="140877" y="62720"/>
                </a:cubicBezTo>
                <a:lnTo>
                  <a:pt x="170579" y="33018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1950602"/>
            <a:ext cx="4048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维修服务收入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255402"/>
            <a:ext cx="4038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系统软件维护、硬件清洁维修等，高频刚需，稳定现金流。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0070" y="2731652"/>
            <a:ext cx="5295900" cy="781050"/>
          </a:xfrm>
          <a:custGeom>
            <a:avLst/>
            <a:gdLst/>
            <a:ahLst/>
            <a:cxnLst/>
            <a:rect l="l" t="t" r="r" b="b"/>
            <a:pathLst>
              <a:path w="5295900" h="781050">
                <a:moveTo>
                  <a:pt x="38100" y="0"/>
                </a:moveTo>
                <a:lnTo>
                  <a:pt x="5219701" y="0"/>
                </a:lnTo>
                <a:cubicBezTo>
                  <a:pt x="5261784" y="0"/>
                  <a:pt x="5295900" y="34116"/>
                  <a:pt x="5295900" y="76199"/>
                </a:cubicBezTo>
                <a:lnTo>
                  <a:pt x="5295900" y="704851"/>
                </a:lnTo>
                <a:cubicBezTo>
                  <a:pt x="5295900" y="746934"/>
                  <a:pt x="5261784" y="781050"/>
                  <a:pt x="5219701" y="781050"/>
                </a:cubicBez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60070" y="2731652"/>
            <a:ext cx="38100" cy="781050"/>
          </a:xfrm>
          <a:custGeom>
            <a:avLst/>
            <a:gdLst/>
            <a:ahLst/>
            <a:cxnLst/>
            <a:rect l="l" t="t" r="r" b="b"/>
            <a:pathLst>
              <a:path w="38100" h="781050">
                <a:moveTo>
                  <a:pt x="38100" y="0"/>
                </a:moveTo>
                <a:lnTo>
                  <a:pt x="38100" y="0"/>
                </a:lnTo>
                <a:lnTo>
                  <a:pt x="38100" y="781050"/>
                </a:ln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16" name="Shape 14"/>
          <p:cNvSpPr/>
          <p:nvPr/>
        </p:nvSpPr>
        <p:spPr>
          <a:xfrm>
            <a:off x="693420" y="28459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17" name="Shape 15"/>
          <p:cNvSpPr/>
          <p:nvPr/>
        </p:nvSpPr>
        <p:spPr>
          <a:xfrm>
            <a:off x="800576" y="295072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0768" y="64294"/>
                </a:moveTo>
                <a:lnTo>
                  <a:pt x="163413" y="64294"/>
                </a:lnTo>
                <a:cubicBezTo>
                  <a:pt x="167867" y="64294"/>
                  <a:pt x="171450" y="60711"/>
                  <a:pt x="171450" y="56257"/>
                </a:cubicBezTo>
                <a:lnTo>
                  <a:pt x="171450" y="8037"/>
                </a:lnTo>
                <a:cubicBezTo>
                  <a:pt x="171450" y="4789"/>
                  <a:pt x="169508" y="1842"/>
                  <a:pt x="166494" y="603"/>
                </a:cubicBezTo>
                <a:cubicBezTo>
                  <a:pt x="163480" y="-636"/>
                  <a:pt x="160031" y="67"/>
                  <a:pt x="157721" y="2344"/>
                </a:cubicBezTo>
                <a:lnTo>
                  <a:pt x="140408" y="19690"/>
                </a:lnTo>
                <a:cubicBezTo>
                  <a:pt x="125574" y="7400"/>
                  <a:pt x="106487" y="0"/>
                  <a:pt x="85725" y="0"/>
                </a:cubicBezTo>
                <a:cubicBezTo>
                  <a:pt x="42528" y="0"/>
                  <a:pt x="6798" y="31946"/>
                  <a:pt x="871" y="73502"/>
                </a:cubicBezTo>
                <a:cubicBezTo>
                  <a:pt x="33" y="79363"/>
                  <a:pt x="4085" y="84787"/>
                  <a:pt x="9945" y="85625"/>
                </a:cubicBezTo>
                <a:cubicBezTo>
                  <a:pt x="15806" y="86462"/>
                  <a:pt x="21230" y="82376"/>
                  <a:pt x="22067" y="76550"/>
                </a:cubicBezTo>
                <a:cubicBezTo>
                  <a:pt x="26521" y="45374"/>
                  <a:pt x="53344" y="21431"/>
                  <a:pt x="85725" y="21431"/>
                </a:cubicBezTo>
                <a:cubicBezTo>
                  <a:pt x="100593" y="21431"/>
                  <a:pt x="114255" y="26454"/>
                  <a:pt x="125138" y="34926"/>
                </a:cubicBezTo>
                <a:lnTo>
                  <a:pt x="109500" y="50564"/>
                </a:lnTo>
                <a:cubicBezTo>
                  <a:pt x="107190" y="52875"/>
                  <a:pt x="106520" y="56324"/>
                  <a:pt x="107759" y="59338"/>
                </a:cubicBezTo>
                <a:cubicBezTo>
                  <a:pt x="108998" y="62352"/>
                  <a:pt x="111945" y="64294"/>
                  <a:pt x="115193" y="64294"/>
                </a:cubicBezTo>
                <a:lnTo>
                  <a:pt x="160768" y="64294"/>
                </a:lnTo>
                <a:close/>
                <a:moveTo>
                  <a:pt x="170613" y="97948"/>
                </a:moveTo>
                <a:cubicBezTo>
                  <a:pt x="171450" y="92087"/>
                  <a:pt x="167365" y="86663"/>
                  <a:pt x="161538" y="85825"/>
                </a:cubicBezTo>
                <a:cubicBezTo>
                  <a:pt x="155711" y="84988"/>
                  <a:pt x="150253" y="89074"/>
                  <a:pt x="149416" y="94900"/>
                </a:cubicBezTo>
                <a:cubicBezTo>
                  <a:pt x="144962" y="126043"/>
                  <a:pt x="118140" y="149985"/>
                  <a:pt x="85758" y="149985"/>
                </a:cubicBezTo>
                <a:cubicBezTo>
                  <a:pt x="70891" y="149985"/>
                  <a:pt x="57228" y="144962"/>
                  <a:pt x="46345" y="136490"/>
                </a:cubicBezTo>
                <a:lnTo>
                  <a:pt x="61950" y="120886"/>
                </a:lnTo>
                <a:cubicBezTo>
                  <a:pt x="64260" y="118575"/>
                  <a:pt x="64930" y="115126"/>
                  <a:pt x="63691" y="112112"/>
                </a:cubicBezTo>
                <a:cubicBezTo>
                  <a:pt x="62452" y="109098"/>
                  <a:pt x="59505" y="107156"/>
                  <a:pt x="56257" y="107156"/>
                </a:cubicBezTo>
                <a:lnTo>
                  <a:pt x="8037" y="107156"/>
                </a:lnTo>
                <a:cubicBezTo>
                  <a:pt x="3583" y="107156"/>
                  <a:pt x="0" y="110739"/>
                  <a:pt x="0" y="115193"/>
                </a:cubicBezTo>
                <a:lnTo>
                  <a:pt x="0" y="163413"/>
                </a:lnTo>
                <a:cubicBezTo>
                  <a:pt x="0" y="166661"/>
                  <a:pt x="1942" y="169608"/>
                  <a:pt x="4956" y="170847"/>
                </a:cubicBezTo>
                <a:cubicBezTo>
                  <a:pt x="7970" y="172086"/>
                  <a:pt x="11419" y="171383"/>
                  <a:pt x="13729" y="169106"/>
                </a:cubicBezTo>
                <a:lnTo>
                  <a:pt x="31075" y="151760"/>
                </a:lnTo>
                <a:cubicBezTo>
                  <a:pt x="45876" y="164050"/>
                  <a:pt x="64963" y="171450"/>
                  <a:pt x="85725" y="171450"/>
                </a:cubicBezTo>
                <a:cubicBezTo>
                  <a:pt x="128922" y="171450"/>
                  <a:pt x="164652" y="139504"/>
                  <a:pt x="170579" y="97948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2845952"/>
            <a:ext cx="3076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二手交易收入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150752"/>
            <a:ext cx="3067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回收+服务费模式，轻资产运营，毛利率高。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0070" y="3627002"/>
            <a:ext cx="5295900" cy="781050"/>
          </a:xfrm>
          <a:custGeom>
            <a:avLst/>
            <a:gdLst/>
            <a:ahLst/>
            <a:cxnLst/>
            <a:rect l="l" t="t" r="r" b="b"/>
            <a:pathLst>
              <a:path w="5295900" h="781050">
                <a:moveTo>
                  <a:pt x="38100" y="0"/>
                </a:moveTo>
                <a:lnTo>
                  <a:pt x="5219701" y="0"/>
                </a:lnTo>
                <a:cubicBezTo>
                  <a:pt x="5261784" y="0"/>
                  <a:pt x="5295900" y="34116"/>
                  <a:pt x="5295900" y="76199"/>
                </a:cubicBezTo>
                <a:lnTo>
                  <a:pt x="5295900" y="704851"/>
                </a:lnTo>
                <a:cubicBezTo>
                  <a:pt x="5295900" y="746934"/>
                  <a:pt x="5261784" y="781050"/>
                  <a:pt x="5219701" y="781050"/>
                </a:cubicBez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60070" y="3627002"/>
            <a:ext cx="38100" cy="781050"/>
          </a:xfrm>
          <a:custGeom>
            <a:avLst/>
            <a:gdLst/>
            <a:ahLst/>
            <a:cxnLst/>
            <a:rect l="l" t="t" r="r" b="b"/>
            <a:pathLst>
              <a:path w="38100" h="781050">
                <a:moveTo>
                  <a:pt x="38100" y="0"/>
                </a:moveTo>
                <a:lnTo>
                  <a:pt x="38100" y="0"/>
                </a:lnTo>
                <a:lnTo>
                  <a:pt x="38100" y="781050"/>
                </a:ln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22" name="Shape 20"/>
          <p:cNvSpPr/>
          <p:nvPr/>
        </p:nvSpPr>
        <p:spPr>
          <a:xfrm>
            <a:off x="693420" y="37413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23" name="Shape 21"/>
          <p:cNvSpPr/>
          <p:nvPr/>
        </p:nvSpPr>
        <p:spPr>
          <a:xfrm>
            <a:off x="800576" y="384607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42863"/>
                </a:moveTo>
                <a:lnTo>
                  <a:pt x="0" y="53578"/>
                </a:lnTo>
                <a:lnTo>
                  <a:pt x="171450" y="53578"/>
                </a:lnTo>
                <a:lnTo>
                  <a:pt x="171450" y="42863"/>
                </a:lnTo>
                <a:cubicBezTo>
                  <a:pt x="171450" y="31042"/>
                  <a:pt x="161839" y="21431"/>
                  <a:pt x="150019" y="21431"/>
                </a:cubicBezTo>
                <a:lnTo>
                  <a:pt x="21431" y="21431"/>
                </a:lnTo>
                <a:cubicBezTo>
                  <a:pt x="9611" y="21431"/>
                  <a:pt x="0" y="31042"/>
                  <a:pt x="0" y="42863"/>
                </a:cubicBezTo>
                <a:close/>
                <a:moveTo>
                  <a:pt x="0" y="69652"/>
                </a:moveTo>
                <a:lnTo>
                  <a:pt x="0" y="128588"/>
                </a:lnTo>
                <a:cubicBezTo>
                  <a:pt x="0" y="140408"/>
                  <a:pt x="9611" y="150019"/>
                  <a:pt x="21431" y="150019"/>
                </a:cubicBezTo>
                <a:lnTo>
                  <a:pt x="150019" y="150019"/>
                </a:lnTo>
                <a:cubicBezTo>
                  <a:pt x="161839" y="150019"/>
                  <a:pt x="171450" y="140408"/>
                  <a:pt x="171450" y="128588"/>
                </a:cubicBezTo>
                <a:lnTo>
                  <a:pt x="171450" y="69652"/>
                </a:lnTo>
                <a:lnTo>
                  <a:pt x="0" y="69652"/>
                </a:lnTo>
                <a:close/>
                <a:moveTo>
                  <a:pt x="21431" y="120551"/>
                </a:moveTo>
                <a:cubicBezTo>
                  <a:pt x="21431" y="116097"/>
                  <a:pt x="25014" y="112514"/>
                  <a:pt x="29468" y="112514"/>
                </a:cubicBezTo>
                <a:lnTo>
                  <a:pt x="45541" y="112514"/>
                </a:lnTo>
                <a:cubicBezTo>
                  <a:pt x="49995" y="112514"/>
                  <a:pt x="53578" y="116097"/>
                  <a:pt x="53578" y="120551"/>
                </a:cubicBezTo>
                <a:cubicBezTo>
                  <a:pt x="53578" y="125004"/>
                  <a:pt x="49995" y="128588"/>
                  <a:pt x="45541" y="128588"/>
                </a:cubicBezTo>
                <a:lnTo>
                  <a:pt x="29468" y="128588"/>
                </a:lnTo>
                <a:cubicBezTo>
                  <a:pt x="25014" y="128588"/>
                  <a:pt x="21431" y="125004"/>
                  <a:pt x="21431" y="120551"/>
                </a:cubicBezTo>
                <a:close/>
                <a:moveTo>
                  <a:pt x="69652" y="120551"/>
                </a:moveTo>
                <a:cubicBezTo>
                  <a:pt x="69652" y="116097"/>
                  <a:pt x="73235" y="112514"/>
                  <a:pt x="77688" y="112514"/>
                </a:cubicBez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7688" y="128588"/>
                </a:lnTo>
                <a:cubicBezTo>
                  <a:pt x="73235" y="128588"/>
                  <a:pt x="69652" y="125004"/>
                  <a:pt x="69652" y="120551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3741302"/>
            <a:ext cx="443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会员服务收入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4046102"/>
            <a:ext cx="44291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年度会员卡99元/年，提供全年无限次基础服务，锁定长期用户。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4810" y="4724280"/>
            <a:ext cx="5627370" cy="2065020"/>
          </a:xfrm>
          <a:custGeom>
            <a:avLst/>
            <a:gdLst/>
            <a:ahLst/>
            <a:cxnLst/>
            <a:rect l="l" t="t" r="r" b="b"/>
            <a:pathLst>
              <a:path w="5627370" h="2065020">
                <a:moveTo>
                  <a:pt x="114299" y="0"/>
                </a:moveTo>
                <a:lnTo>
                  <a:pt x="5513071" y="0"/>
                </a:lnTo>
                <a:cubicBezTo>
                  <a:pt x="5576197" y="0"/>
                  <a:pt x="5627370" y="51173"/>
                  <a:pt x="5627370" y="114299"/>
                </a:cubicBezTo>
                <a:lnTo>
                  <a:pt x="5627370" y="1950721"/>
                </a:lnTo>
                <a:cubicBezTo>
                  <a:pt x="5627370" y="2013847"/>
                  <a:pt x="5576197" y="2065020"/>
                  <a:pt x="5513071" y="2065020"/>
                </a:cubicBezTo>
                <a:lnTo>
                  <a:pt x="114299" y="2065020"/>
                </a:lnTo>
                <a:cubicBezTo>
                  <a:pt x="51173" y="2065020"/>
                  <a:pt x="0" y="2013847"/>
                  <a:pt x="0" y="195072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D9A477">
                  <a:alpha val="20000"/>
                </a:srgbClr>
              </a:gs>
              <a:gs pos="100000">
                <a:srgbClr val="D9A477">
                  <a:alpha val="5000"/>
                </a:srgbClr>
              </a:gs>
            </a:gsLst>
            <a:lin ang="2700000" scaled="1"/>
          </a:gradFill>
          <a:ln w="10160">
            <a:solidFill>
              <a:srgbClr val="D9A477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8645" y="491859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70172"/>
                </a:moveTo>
                <a:cubicBezTo>
                  <a:pt x="0" y="31403"/>
                  <a:pt x="31998" y="0"/>
                  <a:pt x="71438" y="0"/>
                </a:cubicBezTo>
                <a:cubicBezTo>
                  <a:pt x="110877" y="0"/>
                  <a:pt x="142875" y="31403"/>
                  <a:pt x="142875" y="70172"/>
                </a:cubicBezTo>
                <a:cubicBezTo>
                  <a:pt x="142875" y="114560"/>
                  <a:pt x="98152" y="167767"/>
                  <a:pt x="79474" y="188044"/>
                </a:cubicBezTo>
                <a:cubicBezTo>
                  <a:pt x="75084" y="192807"/>
                  <a:pt x="67754" y="192807"/>
                  <a:pt x="63364" y="188044"/>
                </a:cubicBezTo>
                <a:cubicBezTo>
                  <a:pt x="44686" y="167767"/>
                  <a:pt x="-37" y="114560"/>
                  <a:pt x="-37" y="70172"/>
                </a:cubicBezTo>
                <a:close/>
                <a:moveTo>
                  <a:pt x="71438" y="95250"/>
                </a:moveTo>
                <a:cubicBezTo>
                  <a:pt x="84580" y="95250"/>
                  <a:pt x="95250" y="84580"/>
                  <a:pt x="95250" y="71438"/>
                </a:cubicBezTo>
                <a:cubicBezTo>
                  <a:pt x="95250" y="58295"/>
                  <a:pt x="84580" y="47625"/>
                  <a:pt x="71438" y="47625"/>
                </a:cubicBezTo>
                <a:cubicBezTo>
                  <a:pt x="58295" y="47625"/>
                  <a:pt x="47625" y="58295"/>
                  <a:pt x="47625" y="71438"/>
                </a:cubicBezTo>
                <a:cubicBezTo>
                  <a:pt x="47625" y="84580"/>
                  <a:pt x="58295" y="95250"/>
                  <a:pt x="71438" y="9525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28" name="Text 26"/>
          <p:cNvSpPr/>
          <p:nvPr/>
        </p:nvSpPr>
        <p:spPr>
          <a:xfrm>
            <a:off x="779145" y="4880493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选址策略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1020" y="5261493"/>
            <a:ext cx="5314950" cy="381000"/>
          </a:xfrm>
          <a:custGeom>
            <a:avLst/>
            <a:gdLst/>
            <a:ahLst/>
            <a:cxnLst/>
            <a:rect l="l" t="t" r="r" b="b"/>
            <a:pathLst>
              <a:path w="5314950" h="381000">
                <a:moveTo>
                  <a:pt x="76200" y="0"/>
                </a:moveTo>
                <a:lnTo>
                  <a:pt x="5238750" y="0"/>
                </a:lnTo>
                <a:cubicBezTo>
                  <a:pt x="5280806" y="0"/>
                  <a:pt x="5314950" y="34144"/>
                  <a:pt x="5314950" y="76200"/>
                </a:cubicBezTo>
                <a:lnTo>
                  <a:pt x="5314950" y="304800"/>
                </a:lnTo>
                <a:cubicBezTo>
                  <a:pt x="5314950" y="346856"/>
                  <a:pt x="5280806" y="381000"/>
                  <a:pt x="52387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64845" y="5375793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57150" y="84653"/>
                </a:moveTo>
                <a:cubicBezTo>
                  <a:pt x="76230" y="80337"/>
                  <a:pt x="90488" y="63252"/>
                  <a:pt x="90488" y="42863"/>
                </a:cubicBezTo>
                <a:cubicBezTo>
                  <a:pt x="90488" y="19199"/>
                  <a:pt x="71289" y="0"/>
                  <a:pt x="47625" y="0"/>
                </a:cubicBezTo>
                <a:cubicBezTo>
                  <a:pt x="23961" y="0"/>
                  <a:pt x="4763" y="19199"/>
                  <a:pt x="4763" y="42863"/>
                </a:cubicBezTo>
                <a:cubicBezTo>
                  <a:pt x="4763" y="63252"/>
                  <a:pt x="19020" y="80337"/>
                  <a:pt x="38100" y="84653"/>
                </a:cubicBezTo>
                <a:lnTo>
                  <a:pt x="38100" y="142875"/>
                </a:lnTo>
                <a:cubicBezTo>
                  <a:pt x="38100" y="148144"/>
                  <a:pt x="42356" y="152400"/>
                  <a:pt x="47625" y="152400"/>
                </a:cubicBezTo>
                <a:cubicBezTo>
                  <a:pt x="52894" y="152400"/>
                  <a:pt x="57150" y="148144"/>
                  <a:pt x="57150" y="142875"/>
                </a:cubicBezTo>
                <a:lnTo>
                  <a:pt x="57150" y="84653"/>
                </a:lnTo>
                <a:close/>
                <a:moveTo>
                  <a:pt x="50006" y="28575"/>
                </a:moveTo>
                <a:cubicBezTo>
                  <a:pt x="40809" y="28575"/>
                  <a:pt x="33338" y="36046"/>
                  <a:pt x="33338" y="45244"/>
                </a:cubicBezTo>
                <a:cubicBezTo>
                  <a:pt x="33338" y="49203"/>
                  <a:pt x="30153" y="52388"/>
                  <a:pt x="26194" y="52388"/>
                </a:cubicBezTo>
                <a:cubicBezTo>
                  <a:pt x="22235" y="52388"/>
                  <a:pt x="19050" y="49203"/>
                  <a:pt x="19050" y="45244"/>
                </a:cubicBezTo>
                <a:cubicBezTo>
                  <a:pt x="19050" y="28158"/>
                  <a:pt x="32921" y="14288"/>
                  <a:pt x="50006" y="14288"/>
                </a:cubicBezTo>
                <a:cubicBezTo>
                  <a:pt x="53965" y="14288"/>
                  <a:pt x="57150" y="17472"/>
                  <a:pt x="57150" y="21431"/>
                </a:cubicBezTo>
                <a:cubicBezTo>
                  <a:pt x="57150" y="25390"/>
                  <a:pt x="53965" y="28575"/>
                  <a:pt x="50006" y="28575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1" name="Text 29"/>
          <p:cNvSpPr/>
          <p:nvPr/>
        </p:nvSpPr>
        <p:spPr>
          <a:xfrm>
            <a:off x="922020" y="5337693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湖南科技大学校内商业街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69595" y="575679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3" name="Text 31"/>
          <p:cNvSpPr/>
          <p:nvPr/>
        </p:nvSpPr>
        <p:spPr>
          <a:xfrm>
            <a:off x="807720" y="5718693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低成本：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07720" y="5947293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依托学校政策免去昂贵的商业房租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69595" y="625209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6" name="Text 34"/>
          <p:cNvSpPr/>
          <p:nvPr/>
        </p:nvSpPr>
        <p:spPr>
          <a:xfrm>
            <a:off x="807720" y="6213993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流量精准：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07720" y="6442593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位于校内核心生活圈，曝光率高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6010" y="1261110"/>
            <a:ext cx="5627370" cy="3379470"/>
          </a:xfrm>
          <a:custGeom>
            <a:avLst/>
            <a:gdLst/>
            <a:ahLst/>
            <a:cxnLst/>
            <a:rect l="l" t="t" r="r" b="b"/>
            <a:pathLst>
              <a:path w="5627370" h="3379470">
                <a:moveTo>
                  <a:pt x="114294" y="0"/>
                </a:moveTo>
                <a:lnTo>
                  <a:pt x="5513076" y="0"/>
                </a:lnTo>
                <a:cubicBezTo>
                  <a:pt x="5576199" y="0"/>
                  <a:pt x="5627370" y="51171"/>
                  <a:pt x="5627370" y="114294"/>
                </a:cubicBezTo>
                <a:lnTo>
                  <a:pt x="5627370" y="3265176"/>
                </a:lnTo>
                <a:cubicBezTo>
                  <a:pt x="5627370" y="3328299"/>
                  <a:pt x="5576199" y="3379470"/>
                  <a:pt x="5513076" y="3379470"/>
                </a:cubicBezTo>
                <a:lnTo>
                  <a:pt x="114294" y="3379470"/>
                </a:lnTo>
                <a:cubicBezTo>
                  <a:pt x="51171" y="3379470"/>
                  <a:pt x="0" y="3328299"/>
                  <a:pt x="0" y="3265176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5C6B73">
                  <a:alpha val="20000"/>
                </a:srgbClr>
              </a:gs>
              <a:gs pos="100000">
                <a:srgbClr val="5C6B73">
                  <a:alpha val="5000"/>
                </a:srgbClr>
              </a:gs>
            </a:gsLst>
            <a:lin ang="2700000" scaled="1"/>
          </a:gradFill>
          <a:ln w="10160">
            <a:solidFill>
              <a:srgbClr val="5C6B73">
                <a:alpha val="5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60795" y="145530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5919" y="8439"/>
                </a:moveTo>
                <a:cubicBezTo>
                  <a:pt x="211053" y="10716"/>
                  <a:pt x="214313" y="15806"/>
                  <a:pt x="214313" y="21431"/>
                </a:cubicBezTo>
                <a:lnTo>
                  <a:pt x="214313" y="207169"/>
                </a:lnTo>
                <a:cubicBezTo>
                  <a:pt x="214313" y="212794"/>
                  <a:pt x="211053" y="217884"/>
                  <a:pt x="205919" y="220161"/>
                </a:cubicBezTo>
                <a:cubicBezTo>
                  <a:pt x="200784" y="222439"/>
                  <a:pt x="194846" y="221590"/>
                  <a:pt x="190604" y="217884"/>
                </a:cubicBezTo>
                <a:lnTo>
                  <a:pt x="169798" y="199712"/>
                </a:lnTo>
                <a:cubicBezTo>
                  <a:pt x="150331" y="182701"/>
                  <a:pt x="125730" y="172789"/>
                  <a:pt x="99968" y="171584"/>
                </a:cubicBezTo>
                <a:lnTo>
                  <a:pt x="99968" y="214313"/>
                </a:lnTo>
                <a:cubicBezTo>
                  <a:pt x="99968" y="222215"/>
                  <a:pt x="93583" y="228600"/>
                  <a:pt x="85680" y="228600"/>
                </a:cubicBezTo>
                <a:lnTo>
                  <a:pt x="71393" y="228600"/>
                </a:lnTo>
                <a:cubicBezTo>
                  <a:pt x="63490" y="228600"/>
                  <a:pt x="57105" y="222215"/>
                  <a:pt x="57105" y="214313"/>
                </a:cubicBezTo>
                <a:lnTo>
                  <a:pt x="57105" y="171450"/>
                </a:lnTo>
                <a:cubicBezTo>
                  <a:pt x="25584" y="171450"/>
                  <a:pt x="0" y="145866"/>
                  <a:pt x="0" y="114300"/>
                </a:cubicBezTo>
                <a:cubicBezTo>
                  <a:pt x="0" y="82734"/>
                  <a:pt x="25584" y="57150"/>
                  <a:pt x="57150" y="57150"/>
                </a:cubicBezTo>
                <a:lnTo>
                  <a:pt x="94878" y="57150"/>
                </a:lnTo>
                <a:cubicBezTo>
                  <a:pt x="122471" y="57061"/>
                  <a:pt x="149081" y="47015"/>
                  <a:pt x="169843" y="28888"/>
                </a:cubicBezTo>
                <a:lnTo>
                  <a:pt x="190649" y="10716"/>
                </a:lnTo>
                <a:cubicBezTo>
                  <a:pt x="194846" y="7010"/>
                  <a:pt x="200873" y="6161"/>
                  <a:pt x="205963" y="8439"/>
                </a:cubicBezTo>
                <a:close/>
                <a:moveTo>
                  <a:pt x="100013" y="142875"/>
                </a:moveTo>
                <a:lnTo>
                  <a:pt x="100013" y="142964"/>
                </a:lnTo>
                <a:cubicBezTo>
                  <a:pt x="131400" y="144170"/>
                  <a:pt x="161538" y="155689"/>
                  <a:pt x="185738" y="175736"/>
                </a:cubicBezTo>
                <a:lnTo>
                  <a:pt x="185738" y="52819"/>
                </a:lnTo>
                <a:cubicBezTo>
                  <a:pt x="161538" y="72866"/>
                  <a:pt x="131400" y="84386"/>
                  <a:pt x="100013" y="85591"/>
                </a:cubicBezTo>
                <a:lnTo>
                  <a:pt x="100013" y="142875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40" name="Text 38"/>
          <p:cNvSpPr/>
          <p:nvPr/>
        </p:nvSpPr>
        <p:spPr>
          <a:xfrm>
            <a:off x="6617970" y="1417318"/>
            <a:ext cx="514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营销策略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32220" y="201084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42" name="Shape 40"/>
          <p:cNvSpPr/>
          <p:nvPr/>
        </p:nvSpPr>
        <p:spPr>
          <a:xfrm>
            <a:off x="6428661" y="211562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8588" y="48220"/>
                </a:moveTo>
                <a:cubicBezTo>
                  <a:pt x="128588" y="80769"/>
                  <a:pt x="99789" y="107156"/>
                  <a:pt x="64294" y="107156"/>
                </a:cubicBezTo>
                <a:cubicBezTo>
                  <a:pt x="55353" y="107156"/>
                  <a:pt x="46847" y="105482"/>
                  <a:pt x="39112" y="102468"/>
                </a:cubicBezTo>
                <a:lnTo>
                  <a:pt x="11787" y="116934"/>
                </a:lnTo>
                <a:cubicBezTo>
                  <a:pt x="8673" y="118575"/>
                  <a:pt x="4856" y="118006"/>
                  <a:pt x="2344" y="115528"/>
                </a:cubicBezTo>
                <a:cubicBezTo>
                  <a:pt x="-167" y="113050"/>
                  <a:pt x="-737" y="109199"/>
                  <a:pt x="938" y="106085"/>
                </a:cubicBezTo>
                <a:lnTo>
                  <a:pt x="12859" y="83582"/>
                </a:lnTo>
                <a:cubicBezTo>
                  <a:pt x="4789" y="73737"/>
                  <a:pt x="0" y="61481"/>
                  <a:pt x="0" y="48220"/>
                </a:cubicBezTo>
                <a:cubicBezTo>
                  <a:pt x="0" y="15672"/>
                  <a:pt x="28798" y="-10716"/>
                  <a:pt x="64294" y="-10716"/>
                </a:cubicBezTo>
                <a:cubicBezTo>
                  <a:pt x="99789" y="-10716"/>
                  <a:pt x="128588" y="15672"/>
                  <a:pt x="128588" y="48220"/>
                </a:cubicBezTo>
                <a:close/>
                <a:moveTo>
                  <a:pt x="128588" y="171450"/>
                </a:moveTo>
                <a:cubicBezTo>
                  <a:pt x="97077" y="171450"/>
                  <a:pt x="70857" y="150655"/>
                  <a:pt x="65365" y="123230"/>
                </a:cubicBezTo>
                <a:cubicBezTo>
                  <a:pt x="105549" y="122727"/>
                  <a:pt x="140475" y="94130"/>
                  <a:pt x="144326" y="55353"/>
                </a:cubicBezTo>
                <a:cubicBezTo>
                  <a:pt x="172220" y="61782"/>
                  <a:pt x="192881" y="84921"/>
                  <a:pt x="192881" y="112514"/>
                </a:cubicBezTo>
                <a:cubicBezTo>
                  <a:pt x="192881" y="125775"/>
                  <a:pt x="188093" y="138031"/>
                  <a:pt x="180023" y="147876"/>
                </a:cubicBezTo>
                <a:lnTo>
                  <a:pt x="191944" y="170378"/>
                </a:lnTo>
                <a:cubicBezTo>
                  <a:pt x="193584" y="173493"/>
                  <a:pt x="193015" y="177310"/>
                  <a:pt x="190537" y="179822"/>
                </a:cubicBezTo>
                <a:cubicBezTo>
                  <a:pt x="188059" y="182333"/>
                  <a:pt x="184208" y="182902"/>
                  <a:pt x="181094" y="181228"/>
                </a:cubicBezTo>
                <a:lnTo>
                  <a:pt x="153769" y="166762"/>
                </a:lnTo>
                <a:cubicBezTo>
                  <a:pt x="146034" y="169776"/>
                  <a:pt x="137528" y="171450"/>
                  <a:pt x="128588" y="17145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3" name="Text 41"/>
          <p:cNvSpPr/>
          <p:nvPr/>
        </p:nvSpPr>
        <p:spPr>
          <a:xfrm>
            <a:off x="6827520" y="2010845"/>
            <a:ext cx="3305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线上推广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27520" y="2277545"/>
            <a:ext cx="3295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在校园表白墙、万能墙每周发布服务贴，成本200元/月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32220" y="293155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46" name="Shape 44"/>
          <p:cNvSpPr/>
          <p:nvPr/>
        </p:nvSpPr>
        <p:spPr>
          <a:xfrm>
            <a:off x="6417945" y="3036331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47" name="Text 45"/>
          <p:cNvSpPr/>
          <p:nvPr/>
        </p:nvSpPr>
        <p:spPr>
          <a:xfrm>
            <a:off x="6827520" y="2931556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社群推广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27520" y="3198256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招募宿舍楼"联络员"，推荐一单返现5元，成本300元/月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32220" y="385226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50" name="Shape 48"/>
          <p:cNvSpPr/>
          <p:nvPr/>
        </p:nvSpPr>
        <p:spPr>
          <a:xfrm>
            <a:off x="6417945" y="3957042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21431" y="32147"/>
                </a:moveTo>
                <a:cubicBezTo>
                  <a:pt x="21431" y="20326"/>
                  <a:pt x="31042" y="10716"/>
                  <a:pt x="42863" y="10716"/>
                </a:cubicBezTo>
                <a:lnTo>
                  <a:pt x="171450" y="10716"/>
                </a:lnTo>
                <a:cubicBezTo>
                  <a:pt x="183271" y="10716"/>
                  <a:pt x="192881" y="20326"/>
                  <a:pt x="192881" y="32147"/>
                </a:cubicBezTo>
                <a:lnTo>
                  <a:pt x="192881" y="112514"/>
                </a:lnTo>
                <a:lnTo>
                  <a:pt x="171450" y="112514"/>
                </a:lnTo>
                <a:lnTo>
                  <a:pt x="171450" y="32147"/>
                </a:lnTo>
                <a:lnTo>
                  <a:pt x="42863" y="32147"/>
                </a:lnTo>
                <a:lnTo>
                  <a:pt x="42863" y="112514"/>
                </a:lnTo>
                <a:lnTo>
                  <a:pt x="21431" y="112514"/>
                </a:lnTo>
                <a:lnTo>
                  <a:pt x="21431" y="32147"/>
                </a:lnTo>
                <a:close/>
                <a:moveTo>
                  <a:pt x="0" y="135017"/>
                </a:moveTo>
                <a:cubicBezTo>
                  <a:pt x="0" y="131467"/>
                  <a:pt x="2880" y="128588"/>
                  <a:pt x="6429" y="128588"/>
                </a:cubicBezTo>
                <a:lnTo>
                  <a:pt x="207883" y="128588"/>
                </a:lnTo>
                <a:cubicBezTo>
                  <a:pt x="211433" y="128588"/>
                  <a:pt x="214313" y="131467"/>
                  <a:pt x="214313" y="135017"/>
                </a:cubicBezTo>
                <a:cubicBezTo>
                  <a:pt x="214313" y="149215"/>
                  <a:pt x="202793" y="160734"/>
                  <a:pt x="188595" y="160734"/>
                </a:cubicBezTo>
                <a:lnTo>
                  <a:pt x="25718" y="160734"/>
                </a:lnTo>
                <a:cubicBezTo>
                  <a:pt x="11519" y="160734"/>
                  <a:pt x="0" y="149215"/>
                  <a:pt x="0" y="135017"/>
                </a:cubicBezTo>
                <a:close/>
                <a:moveTo>
                  <a:pt x="96441" y="53578"/>
                </a:moveTo>
                <a:cubicBezTo>
                  <a:pt x="96441" y="50631"/>
                  <a:pt x="98852" y="48220"/>
                  <a:pt x="101798" y="48220"/>
                </a:cubicBezTo>
                <a:lnTo>
                  <a:pt x="112514" y="48220"/>
                </a:lnTo>
                <a:cubicBezTo>
                  <a:pt x="115461" y="48220"/>
                  <a:pt x="117872" y="50631"/>
                  <a:pt x="117872" y="53578"/>
                </a:cubicBezTo>
                <a:lnTo>
                  <a:pt x="117872" y="66973"/>
                </a:lnTo>
                <a:lnTo>
                  <a:pt x="131266" y="66973"/>
                </a:lnTo>
                <a:cubicBezTo>
                  <a:pt x="134213" y="66973"/>
                  <a:pt x="136624" y="69384"/>
                  <a:pt x="136624" y="72330"/>
                </a:cubicBezTo>
                <a:lnTo>
                  <a:pt x="136624" y="83046"/>
                </a:lnTo>
                <a:cubicBezTo>
                  <a:pt x="136624" y="85993"/>
                  <a:pt x="134213" y="88404"/>
                  <a:pt x="131266" y="88404"/>
                </a:cubicBezTo>
                <a:lnTo>
                  <a:pt x="117872" y="88404"/>
                </a:lnTo>
                <a:lnTo>
                  <a:pt x="117872" y="101798"/>
                </a:lnTo>
                <a:cubicBezTo>
                  <a:pt x="117872" y="104745"/>
                  <a:pt x="115461" y="107156"/>
                  <a:pt x="112514" y="107156"/>
                </a:cubicBezTo>
                <a:lnTo>
                  <a:pt x="101798" y="107156"/>
                </a:lnTo>
                <a:cubicBezTo>
                  <a:pt x="98852" y="107156"/>
                  <a:pt x="96441" y="104745"/>
                  <a:pt x="96441" y="101798"/>
                </a:cubicBezTo>
                <a:lnTo>
                  <a:pt x="96441" y="88404"/>
                </a:lnTo>
                <a:lnTo>
                  <a:pt x="83046" y="88404"/>
                </a:lnTo>
                <a:cubicBezTo>
                  <a:pt x="80099" y="88404"/>
                  <a:pt x="77688" y="85993"/>
                  <a:pt x="77688" y="83046"/>
                </a:cubicBezTo>
                <a:lnTo>
                  <a:pt x="77688" y="72330"/>
                </a:lnTo>
                <a:cubicBezTo>
                  <a:pt x="77688" y="69384"/>
                  <a:pt x="80099" y="66973"/>
                  <a:pt x="83046" y="66973"/>
                </a:cubicBezTo>
                <a:lnTo>
                  <a:pt x="96441" y="66973"/>
                </a:lnTo>
                <a:lnTo>
                  <a:pt x="96441" y="53578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51" name="Text 49"/>
          <p:cNvSpPr/>
          <p:nvPr/>
        </p:nvSpPr>
        <p:spPr>
          <a:xfrm>
            <a:off x="6827520" y="3852267"/>
            <a:ext cx="3762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活动引流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27520" y="4118967"/>
            <a:ext cx="3752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举办"电脑免费体检周"活动，免费测网速、杀毒，成本150元/次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76010" y="4800601"/>
            <a:ext cx="5627370" cy="1988820"/>
          </a:xfrm>
          <a:custGeom>
            <a:avLst/>
            <a:gdLst/>
            <a:ahLst/>
            <a:cxnLst/>
            <a:rect l="l" t="t" r="r" b="b"/>
            <a:pathLst>
              <a:path w="5627370" h="1988820">
                <a:moveTo>
                  <a:pt x="114297" y="0"/>
                </a:moveTo>
                <a:lnTo>
                  <a:pt x="5513073" y="0"/>
                </a:lnTo>
                <a:cubicBezTo>
                  <a:pt x="5576197" y="0"/>
                  <a:pt x="5627370" y="51173"/>
                  <a:pt x="5627370" y="114297"/>
                </a:cubicBezTo>
                <a:lnTo>
                  <a:pt x="5627370" y="1874523"/>
                </a:lnTo>
                <a:cubicBezTo>
                  <a:pt x="5627370" y="1937647"/>
                  <a:pt x="5576197" y="1988820"/>
                  <a:pt x="5513073" y="1988820"/>
                </a:cubicBezTo>
                <a:lnTo>
                  <a:pt x="114297" y="1988820"/>
                </a:lnTo>
                <a:cubicBezTo>
                  <a:pt x="51173" y="1988820"/>
                  <a:pt x="0" y="1937647"/>
                  <a:pt x="0" y="18745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D9A477">
                  <a:alpha val="25000"/>
                </a:srgbClr>
              </a:gs>
              <a:gs pos="100000">
                <a:srgbClr val="D9A477">
                  <a:alpha val="5000"/>
                </a:srgbClr>
              </a:gs>
            </a:gsLst>
            <a:lin ang="2700000" scaled="1"/>
          </a:gradFill>
          <a:ln w="10160">
            <a:solidFill>
              <a:srgbClr val="D9A477">
                <a:alpha val="50196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44126" y="499490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55" name="Text 53"/>
          <p:cNvSpPr/>
          <p:nvPr/>
        </p:nvSpPr>
        <p:spPr>
          <a:xfrm>
            <a:off x="6570345" y="4956809"/>
            <a:ext cx="517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收入结构预测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32220" y="5337809"/>
            <a:ext cx="2600325" cy="1295400"/>
          </a:xfrm>
          <a:custGeom>
            <a:avLst/>
            <a:gdLst/>
            <a:ahLst/>
            <a:cxnLst/>
            <a:rect l="l" t="t" r="r" b="b"/>
            <a:pathLst>
              <a:path w="2600325" h="1295400">
                <a:moveTo>
                  <a:pt x="76195" y="0"/>
                </a:moveTo>
                <a:lnTo>
                  <a:pt x="2524130" y="0"/>
                </a:lnTo>
                <a:cubicBezTo>
                  <a:pt x="2566183" y="0"/>
                  <a:pt x="2600325" y="34142"/>
                  <a:pt x="2600325" y="76195"/>
                </a:cubicBezTo>
                <a:lnTo>
                  <a:pt x="2600325" y="1219205"/>
                </a:lnTo>
                <a:cubicBezTo>
                  <a:pt x="2600325" y="1261286"/>
                  <a:pt x="2566211" y="1295400"/>
                  <a:pt x="2524130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404735" y="545210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58" name="Shape 56"/>
          <p:cNvSpPr/>
          <p:nvPr/>
        </p:nvSpPr>
        <p:spPr>
          <a:xfrm>
            <a:off x="7526179" y="558545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89533" y="36686"/>
                </a:moveTo>
                <a:cubicBezTo>
                  <a:pt x="192360" y="33858"/>
                  <a:pt x="197086" y="34565"/>
                  <a:pt x="198500" y="38286"/>
                </a:cubicBezTo>
                <a:cubicBezTo>
                  <a:pt x="201030" y="44872"/>
                  <a:pt x="202406" y="52053"/>
                  <a:pt x="202406" y="59531"/>
                </a:cubicBezTo>
                <a:cubicBezTo>
                  <a:pt x="202406" y="92422"/>
                  <a:pt x="175766" y="119063"/>
                  <a:pt x="142875" y="119063"/>
                </a:cubicBezTo>
                <a:cubicBezTo>
                  <a:pt x="136364" y="119063"/>
                  <a:pt x="130076" y="118021"/>
                  <a:pt x="124197" y="116086"/>
                </a:cubicBezTo>
                <a:lnTo>
                  <a:pt x="54657" y="185626"/>
                </a:lnTo>
                <a:cubicBezTo>
                  <a:pt x="44202" y="196081"/>
                  <a:pt x="27236" y="196081"/>
                  <a:pt x="16780" y="185626"/>
                </a:cubicBezTo>
                <a:cubicBezTo>
                  <a:pt x="6325" y="175171"/>
                  <a:pt x="6325" y="158204"/>
                  <a:pt x="16780" y="147749"/>
                </a:cubicBezTo>
                <a:lnTo>
                  <a:pt x="86320" y="78209"/>
                </a:lnTo>
                <a:cubicBezTo>
                  <a:pt x="84386" y="72330"/>
                  <a:pt x="83344" y="66080"/>
                  <a:pt x="83344" y="59531"/>
                </a:cubicBezTo>
                <a:cubicBezTo>
                  <a:pt x="83344" y="26640"/>
                  <a:pt x="109984" y="0"/>
                  <a:pt x="142875" y="0"/>
                </a:cubicBezTo>
                <a:cubicBezTo>
                  <a:pt x="150354" y="0"/>
                  <a:pt x="157535" y="1377"/>
                  <a:pt x="164120" y="3907"/>
                </a:cubicBezTo>
                <a:cubicBezTo>
                  <a:pt x="167841" y="5321"/>
                  <a:pt x="168511" y="10046"/>
                  <a:pt x="165720" y="12874"/>
                </a:cubicBezTo>
                <a:lnTo>
                  <a:pt x="132717" y="45876"/>
                </a:lnTo>
                <a:cubicBezTo>
                  <a:pt x="131601" y="46992"/>
                  <a:pt x="130969" y="48518"/>
                  <a:pt x="130969" y="50081"/>
                </a:cubicBezTo>
                <a:lnTo>
                  <a:pt x="130969" y="65484"/>
                </a:lnTo>
                <a:cubicBezTo>
                  <a:pt x="130969" y="68759"/>
                  <a:pt x="133648" y="71438"/>
                  <a:pt x="136922" y="71438"/>
                </a:cubicBezTo>
                <a:lnTo>
                  <a:pt x="152326" y="71438"/>
                </a:lnTo>
                <a:cubicBezTo>
                  <a:pt x="153888" y="71438"/>
                  <a:pt x="155414" y="70805"/>
                  <a:pt x="156530" y="69689"/>
                </a:cubicBezTo>
                <a:lnTo>
                  <a:pt x="189533" y="36686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9" name="Text 57"/>
          <p:cNvSpPr/>
          <p:nvPr/>
        </p:nvSpPr>
        <p:spPr>
          <a:xfrm>
            <a:off x="6413182" y="5985509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维修服务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89370" y="6214109"/>
            <a:ext cx="2486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9A47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28%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048750" y="5337809"/>
            <a:ext cx="2600325" cy="1295400"/>
          </a:xfrm>
          <a:custGeom>
            <a:avLst/>
            <a:gdLst/>
            <a:ahLst/>
            <a:cxnLst/>
            <a:rect l="l" t="t" r="r" b="b"/>
            <a:pathLst>
              <a:path w="2600325" h="1295400">
                <a:moveTo>
                  <a:pt x="76195" y="0"/>
                </a:moveTo>
                <a:lnTo>
                  <a:pt x="2524130" y="0"/>
                </a:lnTo>
                <a:cubicBezTo>
                  <a:pt x="2566183" y="0"/>
                  <a:pt x="2600325" y="34142"/>
                  <a:pt x="2600325" y="76195"/>
                </a:cubicBezTo>
                <a:lnTo>
                  <a:pt x="2600325" y="1219205"/>
                </a:lnTo>
                <a:cubicBezTo>
                  <a:pt x="2600325" y="1261286"/>
                  <a:pt x="2566211" y="1295400"/>
                  <a:pt x="2524130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121265" y="545210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63" name="Shape 61"/>
          <p:cNvSpPr/>
          <p:nvPr/>
        </p:nvSpPr>
        <p:spPr>
          <a:xfrm>
            <a:off x="10254615" y="558545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64" name="Text 62"/>
          <p:cNvSpPr/>
          <p:nvPr/>
        </p:nvSpPr>
        <p:spPr>
          <a:xfrm>
            <a:off x="9129713" y="5985509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二手交易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105900" y="6214109"/>
            <a:ext cx="2486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C8082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72%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381000"/>
            <a:ext cx="59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D9A4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TEAM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创始团队介绍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76350"/>
            <a:ext cx="3705225" cy="4591050"/>
          </a:xfrm>
          <a:custGeom>
            <a:avLst/>
            <a:gdLst/>
            <a:ahLst/>
            <a:cxnLst/>
            <a:rect l="l" t="t" r="r" b="b"/>
            <a:pathLst>
              <a:path w="3705225" h="45910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4476744"/>
                </a:lnTo>
                <a:cubicBezTo>
                  <a:pt x="3705225" y="4539873"/>
                  <a:pt x="3654048" y="4591050"/>
                  <a:pt x="3590919" y="4591050"/>
                </a:cubicBezTo>
                <a:lnTo>
                  <a:pt x="114306" y="4591050"/>
                </a:lnTo>
                <a:cubicBezTo>
                  <a:pt x="51177" y="4591050"/>
                  <a:pt x="0" y="4539873"/>
                  <a:pt x="0" y="44767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D9A477">
                  <a:alpha val="20000"/>
                </a:srgbClr>
              </a:gs>
              <a:gs pos="100000">
                <a:srgbClr val="D9A477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1000" y="12763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7" name="Shape 5"/>
          <p:cNvSpPr/>
          <p:nvPr/>
        </p:nvSpPr>
        <p:spPr>
          <a:xfrm>
            <a:off x="1854160" y="14478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8" name="Shape 6"/>
          <p:cNvSpPr/>
          <p:nvPr/>
        </p:nvSpPr>
        <p:spPr>
          <a:xfrm>
            <a:off x="2085142" y="165735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150019" y="166092"/>
                </a:moveTo>
                <a:cubicBezTo>
                  <a:pt x="105663" y="166092"/>
                  <a:pt x="69652" y="130081"/>
                  <a:pt x="69652" y="85725"/>
                </a:cubicBezTo>
                <a:cubicBezTo>
                  <a:pt x="69652" y="41369"/>
                  <a:pt x="105663" y="5358"/>
                  <a:pt x="150019" y="5358"/>
                </a:cubicBezTo>
                <a:cubicBezTo>
                  <a:pt x="194375" y="5358"/>
                  <a:pt x="230386" y="41369"/>
                  <a:pt x="230386" y="85725"/>
                </a:cubicBezTo>
                <a:cubicBezTo>
                  <a:pt x="230386" y="130081"/>
                  <a:pt x="194375" y="166092"/>
                  <a:pt x="150019" y="166092"/>
                </a:cubicBezTo>
                <a:close/>
                <a:moveTo>
                  <a:pt x="129592" y="203597"/>
                </a:moveTo>
                <a:lnTo>
                  <a:pt x="170445" y="203597"/>
                </a:lnTo>
                <a:cubicBezTo>
                  <a:pt x="176942" y="203597"/>
                  <a:pt x="182166" y="208821"/>
                  <a:pt x="182166" y="215317"/>
                </a:cubicBezTo>
                <a:cubicBezTo>
                  <a:pt x="182166" y="218130"/>
                  <a:pt x="181161" y="220809"/>
                  <a:pt x="179353" y="222952"/>
                </a:cubicBezTo>
                <a:lnTo>
                  <a:pt x="161002" y="244383"/>
                </a:lnTo>
                <a:lnTo>
                  <a:pt x="181764" y="321469"/>
                </a:lnTo>
                <a:lnTo>
                  <a:pt x="182166" y="321469"/>
                </a:lnTo>
                <a:lnTo>
                  <a:pt x="205338" y="228712"/>
                </a:lnTo>
                <a:cubicBezTo>
                  <a:pt x="206812" y="222885"/>
                  <a:pt x="212772" y="219335"/>
                  <a:pt x="218398" y="221479"/>
                </a:cubicBezTo>
                <a:cubicBezTo>
                  <a:pt x="259854" y="237284"/>
                  <a:pt x="289322" y="277468"/>
                  <a:pt x="289322" y="324483"/>
                </a:cubicBezTo>
                <a:cubicBezTo>
                  <a:pt x="289322" y="334595"/>
                  <a:pt x="281084" y="342833"/>
                  <a:pt x="270971" y="342833"/>
                </a:cubicBezTo>
                <a:lnTo>
                  <a:pt x="29066" y="342900"/>
                </a:lnTo>
                <a:cubicBezTo>
                  <a:pt x="18953" y="342900"/>
                  <a:pt x="10716" y="334662"/>
                  <a:pt x="10716" y="324549"/>
                </a:cubicBezTo>
                <a:cubicBezTo>
                  <a:pt x="10716" y="277535"/>
                  <a:pt x="40184" y="237351"/>
                  <a:pt x="81640" y="221546"/>
                </a:cubicBezTo>
                <a:cubicBezTo>
                  <a:pt x="87265" y="219402"/>
                  <a:pt x="93226" y="222952"/>
                  <a:pt x="94699" y="228779"/>
                </a:cubicBezTo>
                <a:lnTo>
                  <a:pt x="117872" y="321536"/>
                </a:lnTo>
                <a:lnTo>
                  <a:pt x="118274" y="321536"/>
                </a:lnTo>
                <a:lnTo>
                  <a:pt x="139035" y="244450"/>
                </a:lnTo>
                <a:lnTo>
                  <a:pt x="120685" y="223019"/>
                </a:lnTo>
                <a:cubicBezTo>
                  <a:pt x="118876" y="220876"/>
                  <a:pt x="117872" y="218197"/>
                  <a:pt x="117872" y="215384"/>
                </a:cubicBezTo>
                <a:cubicBezTo>
                  <a:pt x="117872" y="208888"/>
                  <a:pt x="123096" y="203664"/>
                  <a:pt x="129592" y="203664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1949410" y="2324100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金玲利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51516" y="2628900"/>
            <a:ext cx="1171575" cy="266700"/>
          </a:xfrm>
          <a:custGeom>
            <a:avLst/>
            <a:gdLst/>
            <a:ahLst/>
            <a:cxnLst/>
            <a:rect l="l" t="t" r="r" b="b"/>
            <a:pathLst>
              <a:path w="1171575" h="266700">
                <a:moveTo>
                  <a:pt x="133350" y="0"/>
                </a:moveTo>
                <a:lnTo>
                  <a:pt x="1038225" y="0"/>
                </a:lnTo>
                <a:cubicBezTo>
                  <a:pt x="1111823" y="0"/>
                  <a:pt x="1171575" y="59752"/>
                  <a:pt x="1171575" y="133350"/>
                </a:cubicBezTo>
                <a:lnTo>
                  <a:pt x="1171575" y="133350"/>
                </a:lnTo>
                <a:cubicBezTo>
                  <a:pt x="1171575" y="206948"/>
                  <a:pt x="1111823" y="266700"/>
                  <a:pt x="10382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11" name="Text 9"/>
          <p:cNvSpPr/>
          <p:nvPr/>
        </p:nvSpPr>
        <p:spPr>
          <a:xfrm>
            <a:off x="1651516" y="2628900"/>
            <a:ext cx="12382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CEO / 产品经理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3400" y="3009900"/>
            <a:ext cx="3400425" cy="609600"/>
          </a:xfrm>
          <a:custGeom>
            <a:avLst/>
            <a:gdLst/>
            <a:ahLst/>
            <a:cxnLst/>
            <a:rect l="l" t="t" r="r" b="b"/>
            <a:pathLst>
              <a:path w="3400425" h="609600">
                <a:moveTo>
                  <a:pt x="76200" y="0"/>
                </a:moveTo>
                <a:lnTo>
                  <a:pt x="3324225" y="0"/>
                </a:lnTo>
                <a:cubicBezTo>
                  <a:pt x="3366281" y="0"/>
                  <a:pt x="3400425" y="34144"/>
                  <a:pt x="3400425" y="76200"/>
                </a:cubicBezTo>
                <a:lnTo>
                  <a:pt x="3400425" y="533400"/>
                </a:lnTo>
                <a:cubicBezTo>
                  <a:pt x="3400425" y="575456"/>
                  <a:pt x="3366281" y="609600"/>
                  <a:pt x="33242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09600" y="30861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" y="335280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材料科学与工程学院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3400" y="3695700"/>
            <a:ext cx="3400425" cy="800100"/>
          </a:xfrm>
          <a:custGeom>
            <a:avLst/>
            <a:gdLst/>
            <a:ahLst/>
            <a:cxnLst/>
            <a:rect l="l" t="t" r="r" b="b"/>
            <a:pathLst>
              <a:path w="3400425" h="800100">
                <a:moveTo>
                  <a:pt x="76202" y="0"/>
                </a:moveTo>
                <a:lnTo>
                  <a:pt x="3324223" y="0"/>
                </a:lnTo>
                <a:cubicBezTo>
                  <a:pt x="3366308" y="0"/>
                  <a:pt x="3400425" y="34117"/>
                  <a:pt x="3400425" y="76202"/>
                </a:cubicBezTo>
                <a:lnTo>
                  <a:pt x="3400425" y="723898"/>
                </a:lnTo>
                <a:cubicBezTo>
                  <a:pt x="3400425" y="765983"/>
                  <a:pt x="3366308" y="800100"/>
                  <a:pt x="33242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09600" y="37719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核心能力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600" y="4038600"/>
            <a:ext cx="3314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熟练掌握系统重装、病毒查杀、清理灰尘等常见维护技能，曾接包开发互联网项目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3400" y="4572000"/>
            <a:ext cx="3400425" cy="609600"/>
          </a:xfrm>
          <a:custGeom>
            <a:avLst/>
            <a:gdLst/>
            <a:ahLst/>
            <a:cxnLst/>
            <a:rect l="l" t="t" r="r" b="b"/>
            <a:pathLst>
              <a:path w="3400425" h="609600">
                <a:moveTo>
                  <a:pt x="76200" y="0"/>
                </a:moveTo>
                <a:lnTo>
                  <a:pt x="3324225" y="0"/>
                </a:lnTo>
                <a:cubicBezTo>
                  <a:pt x="3366281" y="0"/>
                  <a:pt x="3400425" y="34144"/>
                  <a:pt x="3400425" y="76200"/>
                </a:cubicBezTo>
                <a:lnTo>
                  <a:pt x="3400425" y="533400"/>
                </a:lnTo>
                <a:cubicBezTo>
                  <a:pt x="3400425" y="575456"/>
                  <a:pt x="3366281" y="609600"/>
                  <a:pt x="33242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09600" y="46482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职责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600" y="491490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全面负责公司战略、财务审批及小程序开发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3400" y="5295900"/>
            <a:ext cx="3400425" cy="419100"/>
          </a:xfrm>
          <a:custGeom>
            <a:avLst/>
            <a:gdLst/>
            <a:ahLst/>
            <a:cxnLst/>
            <a:rect l="l" t="t" r="r" b="b"/>
            <a:pathLst>
              <a:path w="3400425" h="419100">
                <a:moveTo>
                  <a:pt x="76201" y="0"/>
                </a:moveTo>
                <a:lnTo>
                  <a:pt x="3324224" y="0"/>
                </a:lnTo>
                <a:cubicBezTo>
                  <a:pt x="3366309" y="0"/>
                  <a:pt x="3400425" y="34116"/>
                  <a:pt x="3400425" y="76201"/>
                </a:cubicBezTo>
                <a:lnTo>
                  <a:pt x="3400425" y="342899"/>
                </a:lnTo>
                <a:cubicBezTo>
                  <a:pt x="3400425" y="384984"/>
                  <a:pt x="3366309" y="419100"/>
                  <a:pt x="33242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D9A477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" y="53721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股权占比：</a:t>
            </a:r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D9A47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45%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41721" y="1276350"/>
            <a:ext cx="3705225" cy="4591050"/>
          </a:xfrm>
          <a:custGeom>
            <a:avLst/>
            <a:gdLst/>
            <a:ahLst/>
            <a:cxnLst/>
            <a:rect l="l" t="t" r="r" b="b"/>
            <a:pathLst>
              <a:path w="3705225" h="45910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4476744"/>
                </a:lnTo>
                <a:cubicBezTo>
                  <a:pt x="3705225" y="4539873"/>
                  <a:pt x="3654048" y="4591050"/>
                  <a:pt x="3590919" y="4591050"/>
                </a:cubicBezTo>
                <a:lnTo>
                  <a:pt x="114306" y="4591050"/>
                </a:lnTo>
                <a:cubicBezTo>
                  <a:pt x="51177" y="4591050"/>
                  <a:pt x="0" y="4539873"/>
                  <a:pt x="0" y="44767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C8082">
                  <a:alpha val="20000"/>
                </a:srgbClr>
              </a:gs>
              <a:gs pos="100000">
                <a:srgbClr val="3C8082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4241721" y="12763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25" name="Shape 23"/>
          <p:cNvSpPr/>
          <p:nvPr/>
        </p:nvSpPr>
        <p:spPr>
          <a:xfrm>
            <a:off x="5714881" y="14478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26" name="Shape 24"/>
          <p:cNvSpPr/>
          <p:nvPr/>
        </p:nvSpPr>
        <p:spPr>
          <a:xfrm>
            <a:off x="5881568" y="1657350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428625" h="342900">
                <a:moveTo>
                  <a:pt x="42863" y="64294"/>
                </a:moveTo>
                <a:cubicBezTo>
                  <a:pt x="42863" y="40652"/>
                  <a:pt x="62084" y="21431"/>
                  <a:pt x="85725" y="21431"/>
                </a:cubicBezTo>
                <a:lnTo>
                  <a:pt x="342900" y="21431"/>
                </a:lnTo>
                <a:cubicBezTo>
                  <a:pt x="366541" y="21431"/>
                  <a:pt x="385763" y="40652"/>
                  <a:pt x="385763" y="64294"/>
                </a:cubicBezTo>
                <a:lnTo>
                  <a:pt x="385763" y="225028"/>
                </a:lnTo>
                <a:lnTo>
                  <a:pt x="342900" y="225028"/>
                </a:lnTo>
                <a:lnTo>
                  <a:pt x="342900" y="64294"/>
                </a:lnTo>
                <a:lnTo>
                  <a:pt x="85725" y="64294"/>
                </a:lnTo>
                <a:lnTo>
                  <a:pt x="85725" y="225028"/>
                </a:lnTo>
                <a:lnTo>
                  <a:pt x="42863" y="225028"/>
                </a:lnTo>
                <a:lnTo>
                  <a:pt x="42863" y="64294"/>
                </a:lnTo>
                <a:close/>
                <a:moveTo>
                  <a:pt x="0" y="270034"/>
                </a:moveTo>
                <a:cubicBezTo>
                  <a:pt x="0" y="262935"/>
                  <a:pt x="5760" y="257175"/>
                  <a:pt x="12859" y="257175"/>
                </a:cubicBezTo>
                <a:lnTo>
                  <a:pt x="415766" y="257175"/>
                </a:lnTo>
                <a:cubicBezTo>
                  <a:pt x="422865" y="257175"/>
                  <a:pt x="428625" y="262935"/>
                  <a:pt x="428625" y="270034"/>
                </a:cubicBezTo>
                <a:cubicBezTo>
                  <a:pt x="428625" y="298430"/>
                  <a:pt x="405586" y="321469"/>
                  <a:pt x="377190" y="321469"/>
                </a:cubicBezTo>
                <a:lnTo>
                  <a:pt x="51435" y="321469"/>
                </a:lnTo>
                <a:cubicBezTo>
                  <a:pt x="23039" y="321469"/>
                  <a:pt x="0" y="298430"/>
                  <a:pt x="0" y="270034"/>
                </a:cubicBezTo>
                <a:close/>
                <a:moveTo>
                  <a:pt x="188193" y="139973"/>
                </a:moveTo>
                <a:lnTo>
                  <a:pt x="167432" y="160734"/>
                </a:lnTo>
                <a:lnTo>
                  <a:pt x="188193" y="181496"/>
                </a:lnTo>
                <a:cubicBezTo>
                  <a:pt x="194489" y="187791"/>
                  <a:pt x="194489" y="197971"/>
                  <a:pt x="188193" y="204200"/>
                </a:cubicBezTo>
                <a:cubicBezTo>
                  <a:pt x="181898" y="210428"/>
                  <a:pt x="171718" y="210495"/>
                  <a:pt x="165489" y="204200"/>
                </a:cubicBezTo>
                <a:lnTo>
                  <a:pt x="133343" y="172053"/>
                </a:lnTo>
                <a:cubicBezTo>
                  <a:pt x="127047" y="165757"/>
                  <a:pt x="127047" y="155577"/>
                  <a:pt x="133343" y="149349"/>
                </a:cubicBezTo>
                <a:lnTo>
                  <a:pt x="165489" y="117202"/>
                </a:lnTo>
                <a:cubicBezTo>
                  <a:pt x="171785" y="110907"/>
                  <a:pt x="181965" y="110907"/>
                  <a:pt x="188193" y="117202"/>
                </a:cubicBezTo>
                <a:cubicBezTo>
                  <a:pt x="194422" y="123498"/>
                  <a:pt x="194489" y="133677"/>
                  <a:pt x="188193" y="139906"/>
                </a:cubicBezTo>
                <a:close/>
                <a:moveTo>
                  <a:pt x="263203" y="117202"/>
                </a:moveTo>
                <a:lnTo>
                  <a:pt x="295349" y="149349"/>
                </a:lnTo>
                <a:cubicBezTo>
                  <a:pt x="301645" y="155644"/>
                  <a:pt x="301645" y="165824"/>
                  <a:pt x="295349" y="172053"/>
                </a:cubicBezTo>
                <a:lnTo>
                  <a:pt x="263203" y="204200"/>
                </a:lnTo>
                <a:cubicBezTo>
                  <a:pt x="256907" y="210495"/>
                  <a:pt x="246727" y="210495"/>
                  <a:pt x="240499" y="204200"/>
                </a:cubicBezTo>
                <a:cubicBezTo>
                  <a:pt x="234270" y="197904"/>
                  <a:pt x="234203" y="187724"/>
                  <a:pt x="240499" y="181496"/>
                </a:cubicBezTo>
                <a:lnTo>
                  <a:pt x="261260" y="160734"/>
                </a:lnTo>
                <a:lnTo>
                  <a:pt x="240499" y="139973"/>
                </a:lnTo>
                <a:cubicBezTo>
                  <a:pt x="234203" y="133677"/>
                  <a:pt x="234203" y="123498"/>
                  <a:pt x="240499" y="117269"/>
                </a:cubicBezTo>
                <a:cubicBezTo>
                  <a:pt x="246794" y="111041"/>
                  <a:pt x="256974" y="110974"/>
                  <a:pt x="263203" y="117269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7" name="Text 25"/>
          <p:cNvSpPr/>
          <p:nvPr/>
        </p:nvSpPr>
        <p:spPr>
          <a:xfrm>
            <a:off x="5810131" y="2324100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张玉婷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843111" y="2628900"/>
            <a:ext cx="504825" cy="266700"/>
          </a:xfrm>
          <a:custGeom>
            <a:avLst/>
            <a:gdLst/>
            <a:ahLst/>
            <a:cxnLst/>
            <a:rect l="l" t="t" r="r" b="b"/>
            <a:pathLst>
              <a:path w="504825" h="266700">
                <a:moveTo>
                  <a:pt x="133350" y="0"/>
                </a:moveTo>
                <a:lnTo>
                  <a:pt x="371475" y="0"/>
                </a:lnTo>
                <a:cubicBezTo>
                  <a:pt x="445073" y="0"/>
                  <a:pt x="504825" y="59752"/>
                  <a:pt x="504825" y="133350"/>
                </a:cubicBezTo>
                <a:lnTo>
                  <a:pt x="504825" y="133350"/>
                </a:lnTo>
                <a:cubicBezTo>
                  <a:pt x="504825" y="206948"/>
                  <a:pt x="445073" y="266700"/>
                  <a:pt x="3714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29" name="Text 27"/>
          <p:cNvSpPr/>
          <p:nvPr/>
        </p:nvSpPr>
        <p:spPr>
          <a:xfrm>
            <a:off x="5843111" y="2628900"/>
            <a:ext cx="5715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CTO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94121" y="3009900"/>
            <a:ext cx="3400425" cy="609600"/>
          </a:xfrm>
          <a:custGeom>
            <a:avLst/>
            <a:gdLst/>
            <a:ahLst/>
            <a:cxnLst/>
            <a:rect l="l" t="t" r="r" b="b"/>
            <a:pathLst>
              <a:path w="3400425" h="609600">
                <a:moveTo>
                  <a:pt x="76200" y="0"/>
                </a:moveTo>
                <a:lnTo>
                  <a:pt x="3324225" y="0"/>
                </a:lnTo>
                <a:cubicBezTo>
                  <a:pt x="3366281" y="0"/>
                  <a:pt x="3400425" y="34144"/>
                  <a:pt x="3400425" y="76200"/>
                </a:cubicBezTo>
                <a:lnTo>
                  <a:pt x="3400425" y="533400"/>
                </a:lnTo>
                <a:cubicBezTo>
                  <a:pt x="3400425" y="575456"/>
                  <a:pt x="3366281" y="609600"/>
                  <a:pt x="33242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470321" y="30861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学院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70321" y="335280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计算机科学与工程学院 / 软件工程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94121" y="3695700"/>
            <a:ext cx="3400425" cy="800100"/>
          </a:xfrm>
          <a:custGeom>
            <a:avLst/>
            <a:gdLst/>
            <a:ahLst/>
            <a:cxnLst/>
            <a:rect l="l" t="t" r="r" b="b"/>
            <a:pathLst>
              <a:path w="3400425" h="800100">
                <a:moveTo>
                  <a:pt x="76202" y="0"/>
                </a:moveTo>
                <a:lnTo>
                  <a:pt x="3324223" y="0"/>
                </a:lnTo>
                <a:cubicBezTo>
                  <a:pt x="3366308" y="0"/>
                  <a:pt x="3400425" y="34117"/>
                  <a:pt x="3400425" y="76202"/>
                </a:cubicBezTo>
                <a:lnTo>
                  <a:pt x="3400425" y="723898"/>
                </a:lnTo>
                <a:cubicBezTo>
                  <a:pt x="3400425" y="765983"/>
                  <a:pt x="3366308" y="800100"/>
                  <a:pt x="33242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470321" y="37719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核心能力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70321" y="4038600"/>
            <a:ext cx="3314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具备较好的组织协调能力，熟练多种专业知识，能参与项目的开发和管理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394121" y="4572000"/>
            <a:ext cx="3400425" cy="609600"/>
          </a:xfrm>
          <a:custGeom>
            <a:avLst/>
            <a:gdLst/>
            <a:ahLst/>
            <a:cxnLst/>
            <a:rect l="l" t="t" r="r" b="b"/>
            <a:pathLst>
              <a:path w="3400425" h="609600">
                <a:moveTo>
                  <a:pt x="76200" y="0"/>
                </a:moveTo>
                <a:lnTo>
                  <a:pt x="3324225" y="0"/>
                </a:lnTo>
                <a:cubicBezTo>
                  <a:pt x="3366281" y="0"/>
                  <a:pt x="3400425" y="34144"/>
                  <a:pt x="3400425" y="76200"/>
                </a:cubicBezTo>
                <a:lnTo>
                  <a:pt x="3400425" y="533400"/>
                </a:lnTo>
                <a:cubicBezTo>
                  <a:pt x="3400425" y="575456"/>
                  <a:pt x="3366281" y="609600"/>
                  <a:pt x="33242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470321" y="46482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职责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70321" y="491490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负责硬件维修技术标准制定、二手优品品控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394121" y="5295900"/>
            <a:ext cx="3400425" cy="419100"/>
          </a:xfrm>
          <a:custGeom>
            <a:avLst/>
            <a:gdLst/>
            <a:ahLst/>
            <a:cxnLst/>
            <a:rect l="l" t="t" r="r" b="b"/>
            <a:pathLst>
              <a:path w="3400425" h="419100">
                <a:moveTo>
                  <a:pt x="76201" y="0"/>
                </a:moveTo>
                <a:lnTo>
                  <a:pt x="3324224" y="0"/>
                </a:lnTo>
                <a:cubicBezTo>
                  <a:pt x="3366309" y="0"/>
                  <a:pt x="3400425" y="34116"/>
                  <a:pt x="3400425" y="76201"/>
                </a:cubicBezTo>
                <a:lnTo>
                  <a:pt x="3400425" y="342899"/>
                </a:lnTo>
                <a:cubicBezTo>
                  <a:pt x="3400425" y="384984"/>
                  <a:pt x="3366309" y="419100"/>
                  <a:pt x="33242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432221" y="53721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股权占比：</a:t>
            </a:r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3C8082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30%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02561" y="1276350"/>
            <a:ext cx="3705225" cy="4591050"/>
          </a:xfrm>
          <a:custGeom>
            <a:avLst/>
            <a:gdLst/>
            <a:ahLst/>
            <a:cxnLst/>
            <a:rect l="l" t="t" r="r" b="b"/>
            <a:pathLst>
              <a:path w="3705225" h="45910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4476744"/>
                </a:lnTo>
                <a:cubicBezTo>
                  <a:pt x="3705225" y="4539873"/>
                  <a:pt x="3654048" y="4591050"/>
                  <a:pt x="3590919" y="4591050"/>
                </a:cubicBezTo>
                <a:lnTo>
                  <a:pt x="114306" y="4591050"/>
                </a:lnTo>
                <a:cubicBezTo>
                  <a:pt x="51177" y="4591050"/>
                  <a:pt x="0" y="4539873"/>
                  <a:pt x="0" y="44767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5C6B73">
                  <a:alpha val="20000"/>
                </a:srgbClr>
              </a:gs>
              <a:gs pos="100000">
                <a:srgbClr val="5C6B73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42" name="Shape 40"/>
          <p:cNvSpPr/>
          <p:nvPr/>
        </p:nvSpPr>
        <p:spPr>
          <a:xfrm>
            <a:off x="8102561" y="12763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43" name="Shape 41"/>
          <p:cNvSpPr/>
          <p:nvPr/>
        </p:nvSpPr>
        <p:spPr>
          <a:xfrm>
            <a:off x="9575721" y="14478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44" name="Shape 42"/>
          <p:cNvSpPr/>
          <p:nvPr/>
        </p:nvSpPr>
        <p:spPr>
          <a:xfrm>
            <a:off x="9785271" y="16573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42863" y="42863"/>
                </a:moveTo>
                <a:cubicBezTo>
                  <a:pt x="42863" y="31008"/>
                  <a:pt x="33285" y="21431"/>
                  <a:pt x="21431" y="21431"/>
                </a:cubicBezTo>
                <a:cubicBezTo>
                  <a:pt x="9577" y="21431"/>
                  <a:pt x="0" y="31008"/>
                  <a:pt x="0" y="42863"/>
                </a:cubicBezTo>
                <a:lnTo>
                  <a:pt x="0" y="267891"/>
                </a:lnTo>
                <a:cubicBezTo>
                  <a:pt x="0" y="297493"/>
                  <a:pt x="23976" y="321469"/>
                  <a:pt x="53578" y="321469"/>
                </a:cubicBezTo>
                <a:lnTo>
                  <a:pt x="321469" y="321469"/>
                </a:lnTo>
                <a:cubicBezTo>
                  <a:pt x="333323" y="321469"/>
                  <a:pt x="342900" y="311892"/>
                  <a:pt x="342900" y="300038"/>
                </a:cubicBezTo>
                <a:cubicBezTo>
                  <a:pt x="342900" y="288183"/>
                  <a:pt x="333323" y="278606"/>
                  <a:pt x="321469" y="278606"/>
                </a:cubicBezTo>
                <a:lnTo>
                  <a:pt x="53578" y="278606"/>
                </a:lnTo>
                <a:cubicBezTo>
                  <a:pt x="47685" y="278606"/>
                  <a:pt x="42863" y="273784"/>
                  <a:pt x="42863" y="267891"/>
                </a:cubicBezTo>
                <a:lnTo>
                  <a:pt x="42863" y="42863"/>
                </a:lnTo>
                <a:close/>
                <a:moveTo>
                  <a:pt x="315173" y="100861"/>
                </a:moveTo>
                <a:cubicBezTo>
                  <a:pt x="323545" y="92489"/>
                  <a:pt x="323545" y="78894"/>
                  <a:pt x="315173" y="70522"/>
                </a:cubicBezTo>
                <a:cubicBezTo>
                  <a:pt x="306802" y="62151"/>
                  <a:pt x="293206" y="62151"/>
                  <a:pt x="284835" y="70522"/>
                </a:cubicBezTo>
                <a:lnTo>
                  <a:pt x="214313" y="141111"/>
                </a:lnTo>
                <a:lnTo>
                  <a:pt x="175870" y="102736"/>
                </a:lnTo>
                <a:cubicBezTo>
                  <a:pt x="167499" y="94364"/>
                  <a:pt x="153903" y="94364"/>
                  <a:pt x="145532" y="102736"/>
                </a:cubicBezTo>
                <a:lnTo>
                  <a:pt x="81238" y="167030"/>
                </a:lnTo>
                <a:cubicBezTo>
                  <a:pt x="72866" y="175401"/>
                  <a:pt x="72866" y="188997"/>
                  <a:pt x="81238" y="197368"/>
                </a:cubicBezTo>
                <a:cubicBezTo>
                  <a:pt x="89609" y="205740"/>
                  <a:pt x="103205" y="205740"/>
                  <a:pt x="111576" y="197368"/>
                </a:cubicBezTo>
                <a:lnTo>
                  <a:pt x="160734" y="148210"/>
                </a:lnTo>
                <a:lnTo>
                  <a:pt x="199177" y="186653"/>
                </a:lnTo>
                <a:cubicBezTo>
                  <a:pt x="207548" y="195024"/>
                  <a:pt x="221144" y="195024"/>
                  <a:pt x="229515" y="186653"/>
                </a:cubicBezTo>
                <a:lnTo>
                  <a:pt x="315240" y="100928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45" name="Text 43"/>
          <p:cNvSpPr/>
          <p:nvPr/>
        </p:nvSpPr>
        <p:spPr>
          <a:xfrm>
            <a:off x="9670971" y="2324100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王乾康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685734" y="2628900"/>
            <a:ext cx="542925" cy="266700"/>
          </a:xfrm>
          <a:custGeom>
            <a:avLst/>
            <a:gdLst/>
            <a:ahLst/>
            <a:cxnLst/>
            <a:rect l="l" t="t" r="r" b="b"/>
            <a:pathLst>
              <a:path w="542925" h="266700">
                <a:moveTo>
                  <a:pt x="133350" y="0"/>
                </a:moveTo>
                <a:lnTo>
                  <a:pt x="409575" y="0"/>
                </a:lnTo>
                <a:cubicBezTo>
                  <a:pt x="483173" y="0"/>
                  <a:pt x="542925" y="59752"/>
                  <a:pt x="542925" y="133350"/>
                </a:cubicBezTo>
                <a:lnTo>
                  <a:pt x="542925" y="133350"/>
                </a:lnTo>
                <a:cubicBezTo>
                  <a:pt x="542925" y="206948"/>
                  <a:pt x="483173" y="266700"/>
                  <a:pt x="4095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47" name="Text 45"/>
          <p:cNvSpPr/>
          <p:nvPr/>
        </p:nvSpPr>
        <p:spPr>
          <a:xfrm>
            <a:off x="9685734" y="2628900"/>
            <a:ext cx="6096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CMO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54961" y="3009900"/>
            <a:ext cx="3400425" cy="609600"/>
          </a:xfrm>
          <a:custGeom>
            <a:avLst/>
            <a:gdLst/>
            <a:ahLst/>
            <a:cxnLst/>
            <a:rect l="l" t="t" r="r" b="b"/>
            <a:pathLst>
              <a:path w="3400425" h="609600">
                <a:moveTo>
                  <a:pt x="76200" y="0"/>
                </a:moveTo>
                <a:lnTo>
                  <a:pt x="3324225" y="0"/>
                </a:lnTo>
                <a:cubicBezTo>
                  <a:pt x="3366281" y="0"/>
                  <a:pt x="3400425" y="34144"/>
                  <a:pt x="3400425" y="76200"/>
                </a:cubicBezTo>
                <a:lnTo>
                  <a:pt x="3400425" y="533400"/>
                </a:lnTo>
                <a:cubicBezTo>
                  <a:pt x="3400425" y="575456"/>
                  <a:pt x="3366281" y="609600"/>
                  <a:pt x="33242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331161" y="30861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学院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31161" y="335280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计算机科学与工程学院 / 物联网工程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54961" y="3695700"/>
            <a:ext cx="3400425" cy="800100"/>
          </a:xfrm>
          <a:custGeom>
            <a:avLst/>
            <a:gdLst/>
            <a:ahLst/>
            <a:cxnLst/>
            <a:rect l="l" t="t" r="r" b="b"/>
            <a:pathLst>
              <a:path w="3400425" h="800100">
                <a:moveTo>
                  <a:pt x="76202" y="0"/>
                </a:moveTo>
                <a:lnTo>
                  <a:pt x="3324223" y="0"/>
                </a:lnTo>
                <a:cubicBezTo>
                  <a:pt x="3366308" y="0"/>
                  <a:pt x="3400425" y="34117"/>
                  <a:pt x="3400425" y="76202"/>
                </a:cubicBezTo>
                <a:lnTo>
                  <a:pt x="3400425" y="723898"/>
                </a:lnTo>
                <a:cubicBezTo>
                  <a:pt x="3400425" y="765983"/>
                  <a:pt x="3366308" y="800100"/>
                  <a:pt x="33242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8331161" y="37719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核心能力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331161" y="4038600"/>
            <a:ext cx="3314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具备一定的动手实操经验，熟悉商业计划书的撰写和项目路演流程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54961" y="4572000"/>
            <a:ext cx="3400425" cy="609600"/>
          </a:xfrm>
          <a:custGeom>
            <a:avLst/>
            <a:gdLst/>
            <a:ahLst/>
            <a:cxnLst/>
            <a:rect l="l" t="t" r="r" b="b"/>
            <a:pathLst>
              <a:path w="3400425" h="609600">
                <a:moveTo>
                  <a:pt x="76200" y="0"/>
                </a:moveTo>
                <a:lnTo>
                  <a:pt x="3324225" y="0"/>
                </a:lnTo>
                <a:cubicBezTo>
                  <a:pt x="3366281" y="0"/>
                  <a:pt x="3400425" y="34144"/>
                  <a:pt x="3400425" y="76200"/>
                </a:cubicBezTo>
                <a:lnTo>
                  <a:pt x="3400425" y="533400"/>
                </a:lnTo>
                <a:cubicBezTo>
                  <a:pt x="3400425" y="575456"/>
                  <a:pt x="3366281" y="609600"/>
                  <a:pt x="33242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331161" y="46482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职责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31161" y="491490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负责市场推广、客户维护及日常账务记录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54961" y="5295900"/>
            <a:ext cx="3400425" cy="419100"/>
          </a:xfrm>
          <a:custGeom>
            <a:avLst/>
            <a:gdLst/>
            <a:ahLst/>
            <a:cxnLst/>
            <a:rect l="l" t="t" r="r" b="b"/>
            <a:pathLst>
              <a:path w="3400425" h="419100">
                <a:moveTo>
                  <a:pt x="76201" y="0"/>
                </a:moveTo>
                <a:lnTo>
                  <a:pt x="3324224" y="0"/>
                </a:lnTo>
                <a:cubicBezTo>
                  <a:pt x="3366309" y="0"/>
                  <a:pt x="3400425" y="34116"/>
                  <a:pt x="3400425" y="76201"/>
                </a:cubicBezTo>
                <a:lnTo>
                  <a:pt x="3400425" y="342899"/>
                </a:lnTo>
                <a:cubicBezTo>
                  <a:pt x="3400425" y="384984"/>
                  <a:pt x="3366309" y="419100"/>
                  <a:pt x="33242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5C6B73">
              <a:alpha val="2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8293061" y="53721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股权占比：</a:t>
            </a:r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5C6B73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25%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84810" y="6023610"/>
            <a:ext cx="3703320" cy="769620"/>
          </a:xfrm>
          <a:custGeom>
            <a:avLst/>
            <a:gdLst/>
            <a:ahLst/>
            <a:cxnLst/>
            <a:rect l="l" t="t" r="r" b="b"/>
            <a:pathLst>
              <a:path w="3703320" h="76962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655324"/>
                </a:lnTo>
                <a:cubicBezTo>
                  <a:pt x="3703320" y="718448"/>
                  <a:pt x="3652148" y="769620"/>
                  <a:pt x="3589024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gradFill rotWithShape="1" flip="none">
            <a:gsLst>
              <a:gs pos="0">
                <a:srgbClr val="D9A477">
                  <a:alpha val="20000"/>
                </a:srgbClr>
              </a:gs>
              <a:gs pos="100000">
                <a:srgbClr val="D9A477">
                  <a:alpha val="5000"/>
                </a:srgbClr>
              </a:gs>
            </a:gsLst>
            <a:lin ang="2700000" scaled="1"/>
          </a:gradFill>
          <a:ln w="10160">
            <a:solidFill>
              <a:srgbClr val="D9A477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2920" y="614171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61" name="Shape 59"/>
          <p:cNvSpPr/>
          <p:nvPr/>
        </p:nvSpPr>
        <p:spPr>
          <a:xfrm>
            <a:off x="683895" y="629411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78581" y="157163"/>
                </a:moveTo>
                <a:lnTo>
                  <a:pt x="92869" y="157163"/>
                </a:lnTo>
                <a:cubicBezTo>
                  <a:pt x="100772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64294" y="207169"/>
                </a:lnTo>
                <a:lnTo>
                  <a:pt x="64294" y="171450"/>
                </a:lnTo>
                <a:cubicBezTo>
                  <a:pt x="64294" y="163547"/>
                  <a:pt x="70678" y="157163"/>
                  <a:pt x="78581" y="157163"/>
                </a:cubicBezTo>
                <a:close/>
                <a:moveTo>
                  <a:pt x="42863" y="50006"/>
                </a:moveTo>
                <a:cubicBezTo>
                  <a:pt x="42863" y="46077"/>
                  <a:pt x="46077" y="42863"/>
                  <a:pt x="50006" y="42863"/>
                </a:cubicBezTo>
                <a:lnTo>
                  <a:pt x="64294" y="42863"/>
                </a:lnTo>
                <a:cubicBezTo>
                  <a:pt x="68223" y="42863"/>
                  <a:pt x="71438" y="46077"/>
                  <a:pt x="71438" y="50006"/>
                </a:cubicBezTo>
                <a:lnTo>
                  <a:pt x="71438" y="64294"/>
                </a:lnTo>
                <a:cubicBezTo>
                  <a:pt x="71438" y="68223"/>
                  <a:pt x="68223" y="71438"/>
                  <a:pt x="64294" y="71438"/>
                </a:cubicBezTo>
                <a:lnTo>
                  <a:pt x="50006" y="71438"/>
                </a:lnTo>
                <a:cubicBezTo>
                  <a:pt x="46077" y="71438"/>
                  <a:pt x="42863" y="68223"/>
                  <a:pt x="42863" y="64294"/>
                </a:cubicBezTo>
                <a:lnTo>
                  <a:pt x="42863" y="50006"/>
                </a:lnTo>
                <a:close/>
                <a:moveTo>
                  <a:pt x="107156" y="42863"/>
                </a:moveTo>
                <a:lnTo>
                  <a:pt x="121444" y="42863"/>
                </a:lnTo>
                <a:cubicBezTo>
                  <a:pt x="125373" y="42863"/>
                  <a:pt x="128588" y="46077"/>
                  <a:pt x="128588" y="50006"/>
                </a:cubicBezTo>
                <a:lnTo>
                  <a:pt x="128588" y="64294"/>
                </a:lnTo>
                <a:cubicBezTo>
                  <a:pt x="128588" y="68223"/>
                  <a:pt x="125373" y="71438"/>
                  <a:pt x="121444" y="71438"/>
                </a:cubicBezTo>
                <a:lnTo>
                  <a:pt x="107156" y="71438"/>
                </a:lnTo>
                <a:cubicBezTo>
                  <a:pt x="103227" y="71438"/>
                  <a:pt x="100013" y="68223"/>
                  <a:pt x="100013" y="64294"/>
                </a:cubicBezTo>
                <a:lnTo>
                  <a:pt x="100013" y="50006"/>
                </a:lnTo>
                <a:cubicBezTo>
                  <a:pt x="100013" y="46077"/>
                  <a:pt x="103227" y="42863"/>
                  <a:pt x="107156" y="42863"/>
                </a:cubicBezTo>
                <a:close/>
                <a:moveTo>
                  <a:pt x="42863" y="107156"/>
                </a:moveTo>
                <a:cubicBezTo>
                  <a:pt x="42863" y="103227"/>
                  <a:pt x="46077" y="100013"/>
                  <a:pt x="50006" y="100013"/>
                </a:cubicBezTo>
                <a:lnTo>
                  <a:pt x="64294" y="100013"/>
                </a:lnTo>
                <a:cubicBezTo>
                  <a:pt x="68223" y="100013"/>
                  <a:pt x="71438" y="103227"/>
                  <a:pt x="71438" y="107156"/>
                </a:cubicBezTo>
                <a:lnTo>
                  <a:pt x="71438" y="121444"/>
                </a:lnTo>
                <a:cubicBezTo>
                  <a:pt x="71438" y="125373"/>
                  <a:pt x="68223" y="128588"/>
                  <a:pt x="64294" y="128588"/>
                </a:cubicBezTo>
                <a:lnTo>
                  <a:pt x="50006" y="128588"/>
                </a:lnTo>
                <a:cubicBezTo>
                  <a:pt x="46077" y="128588"/>
                  <a:pt x="42863" y="125373"/>
                  <a:pt x="42863" y="121444"/>
                </a:cubicBezTo>
                <a:lnTo>
                  <a:pt x="42863" y="107156"/>
                </a:lnTo>
                <a:close/>
                <a:moveTo>
                  <a:pt x="107156" y="100013"/>
                </a:moveTo>
                <a:lnTo>
                  <a:pt x="121444" y="100013"/>
                </a:lnTo>
                <a:cubicBezTo>
                  <a:pt x="125373" y="100013"/>
                  <a:pt x="128588" y="103227"/>
                  <a:pt x="128588" y="107156"/>
                </a:cubicBezTo>
                <a:lnTo>
                  <a:pt x="128588" y="121444"/>
                </a:lnTo>
                <a:cubicBezTo>
                  <a:pt x="128588" y="125373"/>
                  <a:pt x="125373" y="128588"/>
                  <a:pt x="121444" y="128588"/>
                </a:cubicBezTo>
                <a:lnTo>
                  <a:pt x="107156" y="128588"/>
                </a:lnTo>
                <a:cubicBezTo>
                  <a:pt x="103227" y="128588"/>
                  <a:pt x="100013" y="125373"/>
                  <a:pt x="100013" y="121444"/>
                </a:cubicBezTo>
                <a:lnTo>
                  <a:pt x="100013" y="107156"/>
                </a:lnTo>
                <a:cubicBezTo>
                  <a:pt x="100013" y="103227"/>
                  <a:pt x="103227" y="100013"/>
                  <a:pt x="107156" y="10001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2" name="Text 60"/>
          <p:cNvSpPr/>
          <p:nvPr/>
        </p:nvSpPr>
        <p:spPr>
          <a:xfrm>
            <a:off x="1150620" y="6179818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企业名称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50620" y="6370318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湘潭智维校园有限公司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245531" y="6023610"/>
            <a:ext cx="3703320" cy="769620"/>
          </a:xfrm>
          <a:custGeom>
            <a:avLst/>
            <a:gdLst/>
            <a:ahLst/>
            <a:cxnLst/>
            <a:rect l="l" t="t" r="r" b="b"/>
            <a:pathLst>
              <a:path w="3703320" h="76962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655324"/>
                </a:lnTo>
                <a:cubicBezTo>
                  <a:pt x="3703320" y="718448"/>
                  <a:pt x="3652148" y="769620"/>
                  <a:pt x="3589024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gradFill rotWithShape="1" flip="none">
            <a:gsLst>
              <a:gs pos="0">
                <a:srgbClr val="3C8082">
                  <a:alpha val="20000"/>
                </a:srgbClr>
              </a:gs>
              <a:gs pos="100000">
                <a:srgbClr val="3C8082">
                  <a:alpha val="5000"/>
                </a:srgbClr>
              </a:gs>
            </a:gsLst>
            <a:lin ang="2700000" scaled="1"/>
          </a:gradFill>
          <a:ln w="10160">
            <a:solidFill>
              <a:srgbClr val="3C8082">
                <a:alpha val="4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63641" y="614171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66" name="Shape 64"/>
          <p:cNvSpPr/>
          <p:nvPr/>
        </p:nvSpPr>
        <p:spPr>
          <a:xfrm>
            <a:off x="4516041" y="62941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87345"/>
                </a:moveTo>
                <a:lnTo>
                  <a:pt x="0" y="48890"/>
                </a:lnTo>
                <a:cubicBezTo>
                  <a:pt x="0" y="38532"/>
                  <a:pt x="10760" y="31656"/>
                  <a:pt x="20672" y="34603"/>
                </a:cubicBezTo>
                <a:cubicBezTo>
                  <a:pt x="59829" y="46300"/>
                  <a:pt x="87511" y="37058"/>
                  <a:pt x="115372" y="27771"/>
                </a:cubicBezTo>
                <a:cubicBezTo>
                  <a:pt x="144170" y="18172"/>
                  <a:pt x="173147" y="8528"/>
                  <a:pt x="215072" y="21922"/>
                </a:cubicBezTo>
                <a:cubicBezTo>
                  <a:pt x="223331" y="24557"/>
                  <a:pt x="228600" y="32549"/>
                  <a:pt x="228600" y="41255"/>
                </a:cubicBezTo>
                <a:lnTo>
                  <a:pt x="228600" y="179710"/>
                </a:lnTo>
                <a:cubicBezTo>
                  <a:pt x="228600" y="190068"/>
                  <a:pt x="217840" y="196944"/>
                  <a:pt x="207972" y="193997"/>
                </a:cubicBezTo>
                <a:cubicBezTo>
                  <a:pt x="168816" y="182300"/>
                  <a:pt x="141089" y="191542"/>
                  <a:pt x="113273" y="200829"/>
                </a:cubicBezTo>
                <a:cubicBezTo>
                  <a:pt x="84475" y="210428"/>
                  <a:pt x="55498" y="220072"/>
                  <a:pt x="13573" y="206678"/>
                </a:cubicBezTo>
                <a:cubicBezTo>
                  <a:pt x="5313" y="204043"/>
                  <a:pt x="45" y="196051"/>
                  <a:pt x="45" y="187345"/>
                </a:cubicBezTo>
                <a:close/>
                <a:moveTo>
                  <a:pt x="150019" y="114300"/>
                </a:moveTo>
                <a:cubicBezTo>
                  <a:pt x="150019" y="90636"/>
                  <a:pt x="134035" y="71438"/>
                  <a:pt x="114300" y="71438"/>
                </a:cubicBezTo>
                <a:cubicBezTo>
                  <a:pt x="94565" y="71438"/>
                  <a:pt x="78581" y="90636"/>
                  <a:pt x="78581" y="114300"/>
                </a:cubicBezTo>
                <a:cubicBezTo>
                  <a:pt x="78581" y="137964"/>
                  <a:pt x="94565" y="157163"/>
                  <a:pt x="114300" y="157163"/>
                </a:cubicBezTo>
                <a:cubicBezTo>
                  <a:pt x="134035" y="157163"/>
                  <a:pt x="150019" y="137964"/>
                  <a:pt x="150019" y="114300"/>
                </a:cubicBezTo>
                <a:close/>
                <a:moveTo>
                  <a:pt x="53578" y="184666"/>
                </a:moveTo>
                <a:cubicBezTo>
                  <a:pt x="55543" y="184666"/>
                  <a:pt x="57105" y="182969"/>
                  <a:pt x="56793" y="181049"/>
                </a:cubicBezTo>
                <a:cubicBezTo>
                  <a:pt x="54739" y="168637"/>
                  <a:pt x="44738" y="158948"/>
                  <a:pt x="32147" y="157386"/>
                </a:cubicBezTo>
                <a:cubicBezTo>
                  <a:pt x="30182" y="157163"/>
                  <a:pt x="28575" y="158770"/>
                  <a:pt x="28575" y="160734"/>
                </a:cubicBezTo>
                <a:lnTo>
                  <a:pt x="28575" y="178549"/>
                </a:lnTo>
                <a:cubicBezTo>
                  <a:pt x="28575" y="180156"/>
                  <a:pt x="29647" y="181585"/>
                  <a:pt x="31254" y="181987"/>
                </a:cubicBezTo>
                <a:cubicBezTo>
                  <a:pt x="39246" y="183862"/>
                  <a:pt x="46568" y="184711"/>
                  <a:pt x="53578" y="184711"/>
                </a:cubicBezTo>
                <a:close/>
                <a:moveTo>
                  <a:pt x="195783" y="161851"/>
                </a:moveTo>
                <a:cubicBezTo>
                  <a:pt x="198016" y="162208"/>
                  <a:pt x="200025" y="160511"/>
                  <a:pt x="200025" y="158279"/>
                </a:cubicBezTo>
                <a:lnTo>
                  <a:pt x="200025" y="139258"/>
                </a:lnTo>
                <a:cubicBezTo>
                  <a:pt x="200025" y="137294"/>
                  <a:pt x="198418" y="135642"/>
                  <a:pt x="196453" y="135910"/>
                </a:cubicBezTo>
                <a:cubicBezTo>
                  <a:pt x="185202" y="137294"/>
                  <a:pt x="175959" y="145241"/>
                  <a:pt x="172700" y="155823"/>
                </a:cubicBezTo>
                <a:cubicBezTo>
                  <a:pt x="172075" y="157922"/>
                  <a:pt x="173727" y="159886"/>
                  <a:pt x="175915" y="159931"/>
                </a:cubicBezTo>
                <a:cubicBezTo>
                  <a:pt x="182255" y="160109"/>
                  <a:pt x="188863" y="160690"/>
                  <a:pt x="195739" y="161851"/>
                </a:cubicBezTo>
                <a:close/>
                <a:moveTo>
                  <a:pt x="200025" y="67866"/>
                </a:moveTo>
                <a:lnTo>
                  <a:pt x="200025" y="50051"/>
                </a:lnTo>
                <a:cubicBezTo>
                  <a:pt x="200025" y="48444"/>
                  <a:pt x="198909" y="47015"/>
                  <a:pt x="197346" y="46613"/>
                </a:cubicBezTo>
                <a:cubicBezTo>
                  <a:pt x="189354" y="44738"/>
                  <a:pt x="182032" y="43889"/>
                  <a:pt x="175022" y="43889"/>
                </a:cubicBezTo>
                <a:cubicBezTo>
                  <a:pt x="173057" y="43889"/>
                  <a:pt x="171495" y="45586"/>
                  <a:pt x="171807" y="47506"/>
                </a:cubicBezTo>
                <a:cubicBezTo>
                  <a:pt x="173861" y="59918"/>
                  <a:pt x="183862" y="69607"/>
                  <a:pt x="196453" y="71170"/>
                </a:cubicBezTo>
                <a:cubicBezTo>
                  <a:pt x="198418" y="71393"/>
                  <a:pt x="200025" y="69786"/>
                  <a:pt x="200025" y="67821"/>
                </a:cubicBezTo>
                <a:close/>
                <a:moveTo>
                  <a:pt x="55900" y="72732"/>
                </a:moveTo>
                <a:cubicBezTo>
                  <a:pt x="56525" y="70634"/>
                  <a:pt x="54873" y="68669"/>
                  <a:pt x="52685" y="68625"/>
                </a:cubicBezTo>
                <a:cubicBezTo>
                  <a:pt x="46345" y="68446"/>
                  <a:pt x="39737" y="67866"/>
                  <a:pt x="32861" y="66705"/>
                </a:cubicBezTo>
                <a:cubicBezTo>
                  <a:pt x="30629" y="66348"/>
                  <a:pt x="28620" y="68044"/>
                  <a:pt x="28620" y="70277"/>
                </a:cubicBezTo>
                <a:lnTo>
                  <a:pt x="28575" y="89297"/>
                </a:lnTo>
                <a:cubicBezTo>
                  <a:pt x="28575" y="91261"/>
                  <a:pt x="30182" y="92913"/>
                  <a:pt x="32147" y="92646"/>
                </a:cubicBezTo>
                <a:cubicBezTo>
                  <a:pt x="43398" y="91261"/>
                  <a:pt x="52641" y="83314"/>
                  <a:pt x="55900" y="72732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67" name="Text 65"/>
          <p:cNvSpPr/>
          <p:nvPr/>
        </p:nvSpPr>
        <p:spPr>
          <a:xfrm>
            <a:off x="5011341" y="6179818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注册资本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5011341" y="6370318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30,000元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106371" y="6023610"/>
            <a:ext cx="3703320" cy="769620"/>
          </a:xfrm>
          <a:custGeom>
            <a:avLst/>
            <a:gdLst/>
            <a:ahLst/>
            <a:cxnLst/>
            <a:rect l="l" t="t" r="r" b="b"/>
            <a:pathLst>
              <a:path w="3703320" h="769620">
                <a:moveTo>
                  <a:pt x="114296" y="0"/>
                </a:moveTo>
                <a:lnTo>
                  <a:pt x="3589024" y="0"/>
                </a:lnTo>
                <a:cubicBezTo>
                  <a:pt x="3652148" y="0"/>
                  <a:pt x="3703320" y="51172"/>
                  <a:pt x="3703320" y="114296"/>
                </a:cubicBezTo>
                <a:lnTo>
                  <a:pt x="3703320" y="655324"/>
                </a:lnTo>
                <a:cubicBezTo>
                  <a:pt x="3703320" y="718448"/>
                  <a:pt x="3652148" y="769620"/>
                  <a:pt x="3589024" y="769620"/>
                </a:cubicBezTo>
                <a:lnTo>
                  <a:pt x="114296" y="769620"/>
                </a:lnTo>
                <a:cubicBezTo>
                  <a:pt x="51172" y="769620"/>
                  <a:pt x="0" y="718448"/>
                  <a:pt x="0" y="6553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gradFill rotWithShape="1" flip="none">
            <a:gsLst>
              <a:gs pos="0">
                <a:srgbClr val="5C6B73">
                  <a:alpha val="20000"/>
                </a:srgbClr>
              </a:gs>
              <a:gs pos="100000">
                <a:srgbClr val="5C6B73">
                  <a:alpha val="5000"/>
                </a:srgbClr>
              </a:gs>
            </a:gsLst>
            <a:lin ang="2700000" scaled="1"/>
          </a:gradFill>
          <a:ln w="10160">
            <a:solidFill>
              <a:srgbClr val="5C6B73">
                <a:alpha val="4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24481" y="614171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71" name="Shape 69"/>
          <p:cNvSpPr/>
          <p:nvPr/>
        </p:nvSpPr>
        <p:spPr>
          <a:xfrm>
            <a:off x="8362593" y="6294118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42863"/>
                </a:moveTo>
                <a:cubicBezTo>
                  <a:pt x="0" y="27102"/>
                  <a:pt x="12814" y="14288"/>
                  <a:pt x="28575" y="14288"/>
                </a:cubicBezTo>
                <a:lnTo>
                  <a:pt x="228600" y="14288"/>
                </a:lnTo>
                <a:cubicBezTo>
                  <a:pt x="244361" y="14288"/>
                  <a:pt x="257175" y="27102"/>
                  <a:pt x="257175" y="42863"/>
                </a:cubicBezTo>
                <a:lnTo>
                  <a:pt x="0" y="42863"/>
                </a:lnTo>
                <a:close/>
                <a:moveTo>
                  <a:pt x="0" y="64294"/>
                </a:moveTo>
                <a:lnTo>
                  <a:pt x="257175" y="64294"/>
                </a:lnTo>
                <a:lnTo>
                  <a:pt x="257175" y="185738"/>
                </a:lnTo>
                <a:cubicBezTo>
                  <a:pt x="257175" y="201498"/>
                  <a:pt x="244361" y="214313"/>
                  <a:pt x="22860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64294"/>
                </a:lnTo>
                <a:close/>
                <a:moveTo>
                  <a:pt x="110416" y="185738"/>
                </a:moveTo>
                <a:cubicBezTo>
                  <a:pt x="119435" y="185738"/>
                  <a:pt x="126176" y="177076"/>
                  <a:pt x="120417" y="170111"/>
                </a:cubicBezTo>
                <a:cubicBezTo>
                  <a:pt x="113854" y="162208"/>
                  <a:pt x="103942" y="157163"/>
                  <a:pt x="92869" y="157163"/>
                </a:cubicBezTo>
                <a:lnTo>
                  <a:pt x="64294" y="157163"/>
                </a:lnTo>
                <a:cubicBezTo>
                  <a:pt x="53221" y="157163"/>
                  <a:pt x="43309" y="162208"/>
                  <a:pt x="36746" y="170111"/>
                </a:cubicBezTo>
                <a:cubicBezTo>
                  <a:pt x="30986" y="177076"/>
                  <a:pt x="37728" y="185738"/>
                  <a:pt x="46747" y="185738"/>
                </a:cubicBezTo>
                <a:lnTo>
                  <a:pt x="110371" y="185738"/>
                </a:lnTo>
                <a:close/>
                <a:moveTo>
                  <a:pt x="78581" y="139303"/>
                </a:moveTo>
                <a:cubicBezTo>
                  <a:pt x="92381" y="139303"/>
                  <a:pt x="103584" y="128100"/>
                  <a:pt x="103584" y="114300"/>
                </a:cubicBezTo>
                <a:cubicBezTo>
                  <a:pt x="103584" y="100500"/>
                  <a:pt x="92381" y="89297"/>
                  <a:pt x="78581" y="89297"/>
                </a:cubicBezTo>
                <a:cubicBezTo>
                  <a:pt x="64782" y="89297"/>
                  <a:pt x="53578" y="100500"/>
                  <a:pt x="53578" y="114300"/>
                </a:cubicBezTo>
                <a:cubicBezTo>
                  <a:pt x="53578" y="128100"/>
                  <a:pt x="64782" y="139303"/>
                  <a:pt x="78581" y="139303"/>
                </a:cubicBezTo>
                <a:close/>
                <a:moveTo>
                  <a:pt x="160734" y="92869"/>
                </a:moveTo>
                <a:cubicBezTo>
                  <a:pt x="154796" y="92869"/>
                  <a:pt x="150019" y="97646"/>
                  <a:pt x="150019" y="103584"/>
                </a:cubicBezTo>
                <a:cubicBezTo>
                  <a:pt x="150019" y="109523"/>
                  <a:pt x="154796" y="114300"/>
                  <a:pt x="160734" y="114300"/>
                </a:cubicBezTo>
                <a:lnTo>
                  <a:pt x="210741" y="114300"/>
                </a:lnTo>
                <a:cubicBezTo>
                  <a:pt x="216679" y="114300"/>
                  <a:pt x="221456" y="109523"/>
                  <a:pt x="221456" y="103584"/>
                </a:cubicBezTo>
                <a:cubicBezTo>
                  <a:pt x="221456" y="97646"/>
                  <a:pt x="216679" y="92869"/>
                  <a:pt x="210741" y="92869"/>
                </a:cubicBezTo>
                <a:lnTo>
                  <a:pt x="160734" y="92869"/>
                </a:lnTo>
                <a:close/>
                <a:moveTo>
                  <a:pt x="160734" y="135731"/>
                </a:moveTo>
                <a:cubicBezTo>
                  <a:pt x="154796" y="135731"/>
                  <a:pt x="150019" y="140509"/>
                  <a:pt x="150019" y="146447"/>
                </a:cubicBezTo>
                <a:cubicBezTo>
                  <a:pt x="150019" y="152385"/>
                  <a:pt x="154796" y="157163"/>
                  <a:pt x="160734" y="157163"/>
                </a:cubicBezTo>
                <a:lnTo>
                  <a:pt x="210741" y="157163"/>
                </a:lnTo>
                <a:cubicBezTo>
                  <a:pt x="216679" y="157163"/>
                  <a:pt x="221456" y="152385"/>
                  <a:pt x="221456" y="146447"/>
                </a:cubicBezTo>
                <a:cubicBezTo>
                  <a:pt x="221456" y="140509"/>
                  <a:pt x="216679" y="135731"/>
                  <a:pt x="210741" y="135731"/>
                </a:cubicBezTo>
                <a:lnTo>
                  <a:pt x="160734" y="135731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72" name="Text 70"/>
          <p:cNvSpPr/>
          <p:nvPr/>
        </p:nvSpPr>
        <p:spPr>
          <a:xfrm>
            <a:off x="8872181" y="6179818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企业类型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872181" y="6370318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有限责任公司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381000"/>
            <a:ext cx="2038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D9A4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FINANCIAL FORECAST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财务预测：首年稳健增长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61110"/>
            <a:ext cx="6198870" cy="5474970"/>
          </a:xfrm>
          <a:custGeom>
            <a:avLst/>
            <a:gdLst/>
            <a:ahLst/>
            <a:cxnLst/>
            <a:rect l="l" t="t" r="r" b="b"/>
            <a:pathLst>
              <a:path w="6198870" h="5474970">
                <a:moveTo>
                  <a:pt x="114317" y="0"/>
                </a:moveTo>
                <a:lnTo>
                  <a:pt x="6084553" y="0"/>
                </a:lnTo>
                <a:cubicBezTo>
                  <a:pt x="6147688" y="0"/>
                  <a:pt x="6198870" y="51182"/>
                  <a:pt x="6198870" y="114317"/>
                </a:cubicBezTo>
                <a:lnTo>
                  <a:pt x="6198870" y="5360653"/>
                </a:lnTo>
                <a:cubicBezTo>
                  <a:pt x="6198870" y="5423788"/>
                  <a:pt x="6147688" y="5474970"/>
                  <a:pt x="6084553" y="5474970"/>
                </a:cubicBezTo>
                <a:lnTo>
                  <a:pt x="114317" y="5474970"/>
                </a:lnTo>
                <a:cubicBezTo>
                  <a:pt x="51182" y="5474970"/>
                  <a:pt x="0" y="5423788"/>
                  <a:pt x="0" y="5360653"/>
                </a:cubicBezTo>
                <a:lnTo>
                  <a:pt x="0" y="114317"/>
                </a:lnTo>
                <a:cubicBezTo>
                  <a:pt x="0" y="51182"/>
                  <a:pt x="51182" y="0"/>
                  <a:pt x="114317" y="0"/>
                </a:cubicBezTo>
                <a:close/>
              </a:path>
            </a:pathLst>
          </a:custGeom>
          <a:gradFill rotWithShape="1" flip="none">
            <a:gsLst>
              <a:gs pos="0">
                <a:srgbClr val="3C8082">
                  <a:alpha val="20000"/>
                </a:srgbClr>
              </a:gs>
              <a:gs pos="100000">
                <a:srgbClr val="3C8082">
                  <a:alpha val="5000"/>
                </a:srgbClr>
              </a:gs>
            </a:gsLst>
            <a:lin ang="2700000" scaled="1"/>
          </a:gradFill>
          <a:ln w="10160">
            <a:solidFill>
              <a:srgbClr val="3C8082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4832" y="145541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7" name="Text 5"/>
          <p:cNvSpPr/>
          <p:nvPr/>
        </p:nvSpPr>
        <p:spPr>
          <a:xfrm>
            <a:off x="779145" y="1417318"/>
            <a:ext cx="5743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首年销售收入预测</a:t>
            </a:r>
            <a:endParaRPr lang="en-US" sz="1600" dirty="0"/>
          </a:p>
        </p:txBody>
      </p:sp>
      <p:pic>
        <p:nvPicPr>
          <p:cNvPr id="8" name="Image 0" descr="https://kimi-img.moonshot.cn/pub/slides/26-01-09-11:40:11-d5g7h6sn907cohnbl72g.png">    </p:cNvPr>
          <p:cNvPicPr>
            <a:picLocks noChangeAspect="1"/>
          </p:cNvPicPr>
          <p:nvPr/>
        </p:nvPicPr>
        <p:blipFill>
          <a:blip r:embed="rId1"/>
          <a:srcRect l="0" r="0" t="32" b="32"/>
          <a:stretch/>
        </p:blipFill>
        <p:spPr>
          <a:xfrm>
            <a:off x="541020" y="1760218"/>
            <a:ext cx="5886450" cy="2667000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541020" y="4503418"/>
            <a:ext cx="2886075" cy="800100"/>
          </a:xfrm>
          <a:custGeom>
            <a:avLst/>
            <a:gdLst/>
            <a:ahLst/>
            <a:cxnLst/>
            <a:rect l="l" t="t" r="r" b="b"/>
            <a:pathLst>
              <a:path w="2886075" h="800100">
                <a:moveTo>
                  <a:pt x="76202" y="0"/>
                </a:moveTo>
                <a:lnTo>
                  <a:pt x="2809873" y="0"/>
                </a:lnTo>
                <a:cubicBezTo>
                  <a:pt x="2851958" y="0"/>
                  <a:pt x="2886075" y="34117"/>
                  <a:pt x="2886075" y="76202"/>
                </a:cubicBezTo>
                <a:lnTo>
                  <a:pt x="2886075" y="723898"/>
                </a:lnTo>
                <a:cubicBezTo>
                  <a:pt x="2886075" y="765983"/>
                  <a:pt x="2851958" y="800100"/>
                  <a:pt x="28098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21983" y="4617718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全年销售总收入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3883" y="4846318"/>
            <a:ext cx="2800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9A47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77,600元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541395" y="4503418"/>
            <a:ext cx="2886075" cy="800100"/>
          </a:xfrm>
          <a:custGeom>
            <a:avLst/>
            <a:gdLst/>
            <a:ahLst/>
            <a:cxnLst/>
            <a:rect l="l" t="t" r="r" b="b"/>
            <a:pathLst>
              <a:path w="2886075" h="800100">
                <a:moveTo>
                  <a:pt x="76202" y="0"/>
                </a:moveTo>
                <a:lnTo>
                  <a:pt x="2809873" y="0"/>
                </a:lnTo>
                <a:cubicBezTo>
                  <a:pt x="2851958" y="0"/>
                  <a:pt x="2886075" y="34117"/>
                  <a:pt x="2886075" y="76202"/>
                </a:cubicBezTo>
                <a:lnTo>
                  <a:pt x="2886075" y="723898"/>
                </a:lnTo>
                <a:cubicBezTo>
                  <a:pt x="2886075" y="765983"/>
                  <a:pt x="2851958" y="800100"/>
                  <a:pt x="28098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3622358" y="4617718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全年净利润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584258" y="4846318"/>
            <a:ext cx="2800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C8082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12,850元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743700" y="1261110"/>
            <a:ext cx="5065395" cy="3360420"/>
          </a:xfrm>
          <a:custGeom>
            <a:avLst/>
            <a:gdLst/>
            <a:ahLst/>
            <a:cxnLst/>
            <a:rect l="l" t="t" r="r" b="b"/>
            <a:pathLst>
              <a:path w="5065395" h="3360420">
                <a:moveTo>
                  <a:pt x="114288" y="0"/>
                </a:moveTo>
                <a:lnTo>
                  <a:pt x="4951107" y="0"/>
                </a:lnTo>
                <a:cubicBezTo>
                  <a:pt x="5014227" y="0"/>
                  <a:pt x="5065395" y="51168"/>
                  <a:pt x="5065395" y="114288"/>
                </a:cubicBezTo>
                <a:lnTo>
                  <a:pt x="5065395" y="3246132"/>
                </a:lnTo>
                <a:cubicBezTo>
                  <a:pt x="5065395" y="3309252"/>
                  <a:pt x="5014227" y="3360420"/>
                  <a:pt x="4951107" y="3360420"/>
                </a:cubicBezTo>
                <a:lnTo>
                  <a:pt x="114288" y="3360420"/>
                </a:lnTo>
                <a:cubicBezTo>
                  <a:pt x="51168" y="3360420"/>
                  <a:pt x="0" y="3309252"/>
                  <a:pt x="0" y="3246132"/>
                </a:cubicBezTo>
                <a:lnTo>
                  <a:pt x="0" y="114288"/>
                </a:lnTo>
                <a:cubicBezTo>
                  <a:pt x="0" y="51168"/>
                  <a:pt x="51168" y="0"/>
                  <a:pt x="114288" y="0"/>
                </a:cubicBezTo>
                <a:close/>
              </a:path>
            </a:pathLst>
          </a:custGeom>
          <a:gradFill rotWithShape="1" flip="none">
            <a:gsLst>
              <a:gs pos="0">
                <a:srgbClr val="D9A477">
                  <a:alpha val="20000"/>
                </a:srgbClr>
              </a:gs>
              <a:gs pos="100000">
                <a:srgbClr val="D9A477">
                  <a:alpha val="5000"/>
                </a:srgbClr>
              </a:gs>
            </a:gsLst>
            <a:lin ang="2700000" scaled="1"/>
          </a:gradFill>
          <a:ln w="10160">
            <a:solidFill>
              <a:srgbClr val="D9A477">
                <a:alpha val="4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35629" y="145541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59531"/>
                </a:moveTo>
                <a:lnTo>
                  <a:pt x="95250" y="95250"/>
                </a:lnTo>
                <a:lnTo>
                  <a:pt x="142875" y="95250"/>
                </a:lnTo>
                <a:lnTo>
                  <a:pt x="142875" y="59531"/>
                </a:lnTo>
                <a:lnTo>
                  <a:pt x="95250" y="59531"/>
                </a:lnTo>
                <a:close/>
                <a:moveTo>
                  <a:pt x="71438" y="59531"/>
                </a:moveTo>
                <a:lnTo>
                  <a:pt x="23812" y="59531"/>
                </a:lnTo>
                <a:lnTo>
                  <a:pt x="23812" y="95250"/>
                </a:lnTo>
                <a:lnTo>
                  <a:pt x="71438" y="95250"/>
                </a:lnTo>
                <a:lnTo>
                  <a:pt x="71438" y="59531"/>
                </a:lnTo>
                <a:close/>
                <a:moveTo>
                  <a:pt x="0" y="119063"/>
                </a:move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19063"/>
                </a:lnTo>
                <a:close/>
                <a:moveTo>
                  <a:pt x="142875" y="119063"/>
                </a:moveTo>
                <a:lnTo>
                  <a:pt x="95250" y="119063"/>
                </a:lnTo>
                <a:lnTo>
                  <a:pt x="95250" y="154781"/>
                </a:lnTo>
                <a:lnTo>
                  <a:pt x="142875" y="154781"/>
                </a:lnTo>
                <a:lnTo>
                  <a:pt x="142875" y="119063"/>
                </a:lnTo>
                <a:close/>
                <a:moveTo>
                  <a:pt x="71438" y="154781"/>
                </a:moveTo>
                <a:lnTo>
                  <a:pt x="71438" y="119063"/>
                </a:lnTo>
                <a:lnTo>
                  <a:pt x="23812" y="119063"/>
                </a:lnTo>
                <a:lnTo>
                  <a:pt x="23812" y="154781"/>
                </a:lnTo>
                <a:lnTo>
                  <a:pt x="71438" y="154781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17" name="Text 14"/>
          <p:cNvSpPr/>
          <p:nvPr/>
        </p:nvSpPr>
        <p:spPr>
          <a:xfrm>
            <a:off x="7138035" y="1417318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季度收入明细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899910" y="1798318"/>
            <a:ext cx="4752975" cy="609600"/>
          </a:xfrm>
          <a:custGeom>
            <a:avLst/>
            <a:gdLst/>
            <a:ahLst/>
            <a:cxnLst/>
            <a:rect l="l" t="t" r="r" b="b"/>
            <a:pathLst>
              <a:path w="4752975" h="609600">
                <a:moveTo>
                  <a:pt x="76200" y="0"/>
                </a:moveTo>
                <a:lnTo>
                  <a:pt x="4676775" y="0"/>
                </a:lnTo>
                <a:cubicBezTo>
                  <a:pt x="4718831" y="0"/>
                  <a:pt x="4752975" y="34144"/>
                  <a:pt x="4752975" y="76200"/>
                </a:cubicBezTo>
                <a:lnTo>
                  <a:pt x="4752975" y="533400"/>
                </a:lnTo>
                <a:cubicBezTo>
                  <a:pt x="4752975" y="575456"/>
                  <a:pt x="4718831" y="609600"/>
                  <a:pt x="46767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976110" y="195060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20" name="Text 17"/>
          <p:cNvSpPr/>
          <p:nvPr/>
        </p:nvSpPr>
        <p:spPr>
          <a:xfrm>
            <a:off x="7050286" y="2007752"/>
            <a:ext cx="219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Q1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395210" y="191261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第一季度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95210" y="2141218"/>
            <a:ext cx="666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9-11月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664310" y="1874518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dirty="0">
                <a:solidFill>
                  <a:srgbClr val="D9A47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27,600元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692885" y="2141218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230单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899910" y="2484118"/>
            <a:ext cx="4752975" cy="609600"/>
          </a:xfrm>
          <a:custGeom>
            <a:avLst/>
            <a:gdLst/>
            <a:ahLst/>
            <a:cxnLst/>
            <a:rect l="l" t="t" r="r" b="b"/>
            <a:pathLst>
              <a:path w="4752975" h="609600">
                <a:moveTo>
                  <a:pt x="76200" y="0"/>
                </a:moveTo>
                <a:lnTo>
                  <a:pt x="4676775" y="0"/>
                </a:lnTo>
                <a:cubicBezTo>
                  <a:pt x="4718831" y="0"/>
                  <a:pt x="4752975" y="34144"/>
                  <a:pt x="4752975" y="76200"/>
                </a:cubicBezTo>
                <a:lnTo>
                  <a:pt x="4752975" y="533400"/>
                </a:lnTo>
                <a:cubicBezTo>
                  <a:pt x="4752975" y="575456"/>
                  <a:pt x="4718831" y="609600"/>
                  <a:pt x="46767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6976110" y="263640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27" name="Text 24"/>
          <p:cNvSpPr/>
          <p:nvPr/>
        </p:nvSpPr>
        <p:spPr>
          <a:xfrm>
            <a:off x="7038975" y="2693552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395210" y="259841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第二季度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395210" y="2827018"/>
            <a:ext cx="666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12-2月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0664310" y="2560318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dirty="0">
                <a:solidFill>
                  <a:srgbClr val="3C8082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11,000元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0692885" y="2827018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104单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899910" y="3169918"/>
            <a:ext cx="4752975" cy="609600"/>
          </a:xfrm>
          <a:custGeom>
            <a:avLst/>
            <a:gdLst/>
            <a:ahLst/>
            <a:cxnLst/>
            <a:rect l="l" t="t" r="r" b="b"/>
            <a:pathLst>
              <a:path w="4752975" h="609600">
                <a:moveTo>
                  <a:pt x="76200" y="0"/>
                </a:moveTo>
                <a:lnTo>
                  <a:pt x="4676775" y="0"/>
                </a:lnTo>
                <a:cubicBezTo>
                  <a:pt x="4718831" y="0"/>
                  <a:pt x="4752975" y="34144"/>
                  <a:pt x="4752975" y="76200"/>
                </a:cubicBezTo>
                <a:lnTo>
                  <a:pt x="4752975" y="533400"/>
                </a:lnTo>
                <a:cubicBezTo>
                  <a:pt x="4752975" y="575456"/>
                  <a:pt x="4718831" y="609600"/>
                  <a:pt x="46767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6976110" y="332220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34" name="Text 31"/>
          <p:cNvSpPr/>
          <p:nvPr/>
        </p:nvSpPr>
        <p:spPr>
          <a:xfrm>
            <a:off x="7037189" y="3379352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Q3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395210" y="328421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第三季度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395210" y="3512818"/>
            <a:ext cx="666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3-5月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0664310" y="3246118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dirty="0">
                <a:solidFill>
                  <a:srgbClr val="5C6B73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22,400元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0692885" y="3512818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198单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899910" y="3855718"/>
            <a:ext cx="4752975" cy="609600"/>
          </a:xfrm>
          <a:custGeom>
            <a:avLst/>
            <a:gdLst/>
            <a:ahLst/>
            <a:cxnLst/>
            <a:rect l="l" t="t" r="r" b="b"/>
            <a:pathLst>
              <a:path w="4752975" h="609600">
                <a:moveTo>
                  <a:pt x="76200" y="0"/>
                </a:moveTo>
                <a:lnTo>
                  <a:pt x="4676775" y="0"/>
                </a:lnTo>
                <a:cubicBezTo>
                  <a:pt x="4718831" y="0"/>
                  <a:pt x="4752975" y="34144"/>
                  <a:pt x="4752975" y="76200"/>
                </a:cubicBezTo>
                <a:lnTo>
                  <a:pt x="4752975" y="533400"/>
                </a:lnTo>
                <a:cubicBezTo>
                  <a:pt x="4752975" y="575456"/>
                  <a:pt x="4718831" y="609600"/>
                  <a:pt x="46767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6976110" y="400800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41" name="Text 38"/>
          <p:cNvSpPr/>
          <p:nvPr/>
        </p:nvSpPr>
        <p:spPr>
          <a:xfrm>
            <a:off x="7037427" y="4065152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Q4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395210" y="397001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第四季度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395210" y="4198618"/>
            <a:ext cx="666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6-8月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0664310" y="3931918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dirty="0">
                <a:solidFill>
                  <a:srgbClr val="D9A47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16,600元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0692885" y="4198618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146单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743700" y="4781551"/>
            <a:ext cx="5065395" cy="1950720"/>
          </a:xfrm>
          <a:custGeom>
            <a:avLst/>
            <a:gdLst/>
            <a:ahLst/>
            <a:cxnLst/>
            <a:rect l="l" t="t" r="r" b="b"/>
            <a:pathLst>
              <a:path w="5065395" h="1950720">
                <a:moveTo>
                  <a:pt x="114293" y="0"/>
                </a:moveTo>
                <a:lnTo>
                  <a:pt x="4951102" y="0"/>
                </a:lnTo>
                <a:cubicBezTo>
                  <a:pt x="5014224" y="0"/>
                  <a:pt x="5065395" y="51171"/>
                  <a:pt x="5065395" y="114293"/>
                </a:cubicBezTo>
                <a:lnTo>
                  <a:pt x="5065395" y="1836427"/>
                </a:lnTo>
                <a:cubicBezTo>
                  <a:pt x="5065395" y="1899549"/>
                  <a:pt x="5014224" y="1950720"/>
                  <a:pt x="4951102" y="1950720"/>
                </a:cubicBezTo>
                <a:lnTo>
                  <a:pt x="114293" y="1950720"/>
                </a:lnTo>
                <a:cubicBezTo>
                  <a:pt x="51171" y="1950720"/>
                  <a:pt x="0" y="1899549"/>
                  <a:pt x="0" y="18364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5C6B73">
                  <a:alpha val="20000"/>
                </a:srgbClr>
              </a:gs>
              <a:gs pos="100000">
                <a:srgbClr val="5C6B73">
                  <a:alpha val="5000"/>
                </a:srgbClr>
              </a:gs>
            </a:gsLst>
            <a:lin ang="2700000" scaled="1"/>
          </a:gradFill>
          <a:ln w="10160">
            <a:solidFill>
              <a:srgbClr val="5C6B73">
                <a:alpha val="40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911816" y="497585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48" name="Text 45"/>
          <p:cNvSpPr/>
          <p:nvPr/>
        </p:nvSpPr>
        <p:spPr>
          <a:xfrm>
            <a:off x="7138035" y="4937759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收入结构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899910" y="53568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50" name="Text 47"/>
          <p:cNvSpPr/>
          <p:nvPr/>
        </p:nvSpPr>
        <p:spPr>
          <a:xfrm>
            <a:off x="7090410" y="5299709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二手优品交易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11148417" y="5280659"/>
            <a:ext cx="59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9A47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72.2%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899910" y="56997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53" name="Text 50"/>
          <p:cNvSpPr/>
          <p:nvPr/>
        </p:nvSpPr>
        <p:spPr>
          <a:xfrm>
            <a:off x="7090410" y="5642609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硬件清洁与维修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11148417" y="5623559"/>
            <a:ext cx="59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C8082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13.1%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899910" y="60426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56" name="Text 53"/>
          <p:cNvSpPr/>
          <p:nvPr/>
        </p:nvSpPr>
        <p:spPr>
          <a:xfrm>
            <a:off x="7090410" y="5985509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系统与软件维护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11148417" y="5966459"/>
            <a:ext cx="590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C6B73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12.8%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6899910" y="63855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59" name="Text 56"/>
          <p:cNvSpPr/>
          <p:nvPr/>
        </p:nvSpPr>
        <p:spPr>
          <a:xfrm>
            <a:off x="7090410" y="6328409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配件与周边销售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11249502" y="6309359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1.9%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0" y="0"/>
                </a:moveTo>
                <a:lnTo>
                  <a:pt x="457200" y="0"/>
                </a:lnTo>
                <a:lnTo>
                  <a:pt x="457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38100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D9A4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INVESTMENT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投资需求与资金使用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61110"/>
            <a:ext cx="5065395" cy="5541645"/>
          </a:xfrm>
          <a:custGeom>
            <a:avLst/>
            <a:gdLst/>
            <a:ahLst/>
            <a:cxnLst/>
            <a:rect l="l" t="t" r="r" b="b"/>
            <a:pathLst>
              <a:path w="5065395" h="5541645">
                <a:moveTo>
                  <a:pt x="114275" y="0"/>
                </a:moveTo>
                <a:lnTo>
                  <a:pt x="4951120" y="0"/>
                </a:lnTo>
                <a:cubicBezTo>
                  <a:pt x="5014232" y="0"/>
                  <a:pt x="5065395" y="51163"/>
                  <a:pt x="5065395" y="114275"/>
                </a:cubicBezTo>
                <a:lnTo>
                  <a:pt x="5065395" y="5427370"/>
                </a:lnTo>
                <a:cubicBezTo>
                  <a:pt x="5065395" y="5490482"/>
                  <a:pt x="5014232" y="5541645"/>
                  <a:pt x="4951120" y="5541645"/>
                </a:cubicBezTo>
                <a:lnTo>
                  <a:pt x="114275" y="5541645"/>
                </a:lnTo>
                <a:cubicBezTo>
                  <a:pt x="51163" y="5541645"/>
                  <a:pt x="0" y="5490482"/>
                  <a:pt x="0" y="5427370"/>
                </a:cubicBezTo>
                <a:lnTo>
                  <a:pt x="0" y="114275"/>
                </a:lnTo>
                <a:cubicBezTo>
                  <a:pt x="0" y="51205"/>
                  <a:pt x="51205" y="0"/>
                  <a:pt x="114275" y="0"/>
                </a:cubicBezTo>
                <a:close/>
              </a:path>
            </a:pathLst>
          </a:custGeom>
          <a:gradFill rotWithShape="1" flip="none">
            <a:gsLst>
              <a:gs pos="0">
                <a:srgbClr val="D9A477">
                  <a:alpha val="20000"/>
                </a:srgbClr>
              </a:gs>
              <a:gs pos="100000">
                <a:srgbClr val="D9A477">
                  <a:alpha val="5000"/>
                </a:srgbClr>
              </a:gs>
            </a:gsLst>
            <a:lin ang="2700000" scaled="1"/>
          </a:gradFill>
          <a:ln w="10160">
            <a:solidFill>
              <a:srgbClr val="D9A477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9595" y="145530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42863"/>
                </a:moveTo>
                <a:lnTo>
                  <a:pt x="57150" y="35719"/>
                </a:lnTo>
                <a:cubicBezTo>
                  <a:pt x="57150" y="15984"/>
                  <a:pt x="95548" y="0"/>
                  <a:pt x="142875" y="0"/>
                </a:cubicBezTo>
                <a:cubicBezTo>
                  <a:pt x="190202" y="0"/>
                  <a:pt x="228600" y="15984"/>
                  <a:pt x="228600" y="35719"/>
                </a:cubicBezTo>
                <a:lnTo>
                  <a:pt x="228600" y="42863"/>
                </a:lnTo>
                <a:cubicBezTo>
                  <a:pt x="228600" y="56525"/>
                  <a:pt x="210160" y="68401"/>
                  <a:pt x="183059" y="74429"/>
                </a:cubicBezTo>
                <a:cubicBezTo>
                  <a:pt x="181987" y="73179"/>
                  <a:pt x="180871" y="71973"/>
                  <a:pt x="179755" y="70857"/>
                </a:cubicBezTo>
                <a:cubicBezTo>
                  <a:pt x="172834" y="64026"/>
                  <a:pt x="163904" y="58847"/>
                  <a:pt x="154573" y="55007"/>
                </a:cubicBezTo>
                <a:cubicBezTo>
                  <a:pt x="135865" y="47193"/>
                  <a:pt x="111487" y="42907"/>
                  <a:pt x="85725" y="42907"/>
                </a:cubicBezTo>
                <a:cubicBezTo>
                  <a:pt x="75947" y="42907"/>
                  <a:pt x="66392" y="43532"/>
                  <a:pt x="57239" y="44738"/>
                </a:cubicBezTo>
                <a:cubicBezTo>
                  <a:pt x="57150" y="44157"/>
                  <a:pt x="57150" y="43532"/>
                  <a:pt x="57150" y="42907"/>
                </a:cubicBezTo>
                <a:close/>
                <a:moveTo>
                  <a:pt x="192881" y="157609"/>
                </a:moveTo>
                <a:lnTo>
                  <a:pt x="192881" y="136981"/>
                </a:lnTo>
                <a:cubicBezTo>
                  <a:pt x="199623" y="135240"/>
                  <a:pt x="205963" y="133186"/>
                  <a:pt x="211723" y="130775"/>
                </a:cubicBezTo>
                <a:cubicBezTo>
                  <a:pt x="217616" y="128320"/>
                  <a:pt x="223376" y="125328"/>
                  <a:pt x="228600" y="121712"/>
                </a:cubicBezTo>
                <a:lnTo>
                  <a:pt x="228600" y="128588"/>
                </a:lnTo>
                <a:cubicBezTo>
                  <a:pt x="228600" y="140553"/>
                  <a:pt x="214536" y="151135"/>
                  <a:pt x="192881" y="157609"/>
                </a:cubicBezTo>
                <a:close/>
                <a:moveTo>
                  <a:pt x="192881" y="114746"/>
                </a:moveTo>
                <a:lnTo>
                  <a:pt x="192881" y="100013"/>
                </a:lnTo>
                <a:cubicBezTo>
                  <a:pt x="192881" y="98003"/>
                  <a:pt x="192703" y="96083"/>
                  <a:pt x="192435" y="94208"/>
                </a:cubicBezTo>
                <a:cubicBezTo>
                  <a:pt x="199355" y="92467"/>
                  <a:pt x="205829" y="90368"/>
                  <a:pt x="211723" y="87868"/>
                </a:cubicBezTo>
                <a:cubicBezTo>
                  <a:pt x="217616" y="85368"/>
                  <a:pt x="223376" y="82421"/>
                  <a:pt x="228600" y="78804"/>
                </a:cubicBezTo>
                <a:lnTo>
                  <a:pt x="228600" y="85680"/>
                </a:lnTo>
                <a:cubicBezTo>
                  <a:pt x="228600" y="97646"/>
                  <a:pt x="214536" y="108228"/>
                  <a:pt x="192881" y="114702"/>
                </a:cubicBezTo>
                <a:close/>
                <a:moveTo>
                  <a:pt x="0" y="107156"/>
                </a:moveTo>
                <a:lnTo>
                  <a:pt x="0" y="100013"/>
                </a:lnTo>
                <a:cubicBezTo>
                  <a:pt x="0" y="80278"/>
                  <a:pt x="38398" y="64294"/>
                  <a:pt x="85725" y="64294"/>
                </a:cubicBezTo>
                <a:cubicBezTo>
                  <a:pt x="133052" y="64294"/>
                  <a:pt x="171450" y="80278"/>
                  <a:pt x="171450" y="100013"/>
                </a:cubicBezTo>
                <a:lnTo>
                  <a:pt x="171450" y="107156"/>
                </a:lnTo>
                <a:cubicBezTo>
                  <a:pt x="171450" y="126891"/>
                  <a:pt x="133052" y="142875"/>
                  <a:pt x="85725" y="142875"/>
                </a:cubicBezTo>
                <a:cubicBezTo>
                  <a:pt x="38398" y="142875"/>
                  <a:pt x="0" y="126891"/>
                  <a:pt x="0" y="107156"/>
                </a:cubicBezTo>
                <a:close/>
                <a:moveTo>
                  <a:pt x="171450" y="150019"/>
                </a:moveTo>
                <a:cubicBezTo>
                  <a:pt x="171450" y="169753"/>
                  <a:pt x="133052" y="185738"/>
                  <a:pt x="85725" y="185738"/>
                </a:cubicBezTo>
                <a:cubicBezTo>
                  <a:pt x="38398" y="185738"/>
                  <a:pt x="0" y="169753"/>
                  <a:pt x="0" y="150019"/>
                </a:cubicBezTo>
                <a:lnTo>
                  <a:pt x="0" y="143143"/>
                </a:lnTo>
                <a:cubicBezTo>
                  <a:pt x="5179" y="146759"/>
                  <a:pt x="10939" y="149706"/>
                  <a:pt x="16877" y="152207"/>
                </a:cubicBezTo>
                <a:cubicBezTo>
                  <a:pt x="35585" y="160020"/>
                  <a:pt x="59963" y="164306"/>
                  <a:pt x="85725" y="164306"/>
                </a:cubicBezTo>
                <a:cubicBezTo>
                  <a:pt x="111487" y="164306"/>
                  <a:pt x="135865" y="159975"/>
                  <a:pt x="154573" y="152207"/>
                </a:cubicBezTo>
                <a:cubicBezTo>
                  <a:pt x="160466" y="149751"/>
                  <a:pt x="166226" y="146759"/>
                  <a:pt x="171450" y="143143"/>
                </a:cubicBezTo>
                <a:lnTo>
                  <a:pt x="171450" y="150019"/>
                </a:lnTo>
                <a:close/>
                <a:moveTo>
                  <a:pt x="171450" y="186005"/>
                </a:moveTo>
                <a:lnTo>
                  <a:pt x="171450" y="192881"/>
                </a:lnTo>
                <a:cubicBezTo>
                  <a:pt x="171450" y="212616"/>
                  <a:pt x="133052" y="228600"/>
                  <a:pt x="85725" y="228600"/>
                </a:cubicBezTo>
                <a:cubicBezTo>
                  <a:pt x="38398" y="228600"/>
                  <a:pt x="0" y="212616"/>
                  <a:pt x="0" y="192881"/>
                </a:cubicBezTo>
                <a:lnTo>
                  <a:pt x="0" y="186005"/>
                </a:lnTo>
                <a:cubicBezTo>
                  <a:pt x="5179" y="189622"/>
                  <a:pt x="10939" y="192569"/>
                  <a:pt x="16877" y="195069"/>
                </a:cubicBezTo>
                <a:cubicBezTo>
                  <a:pt x="35585" y="202883"/>
                  <a:pt x="59963" y="207169"/>
                  <a:pt x="85725" y="207169"/>
                </a:cubicBezTo>
                <a:cubicBezTo>
                  <a:pt x="111487" y="207169"/>
                  <a:pt x="135865" y="202838"/>
                  <a:pt x="154573" y="195069"/>
                </a:cubicBezTo>
                <a:cubicBezTo>
                  <a:pt x="160466" y="192613"/>
                  <a:pt x="166226" y="189622"/>
                  <a:pt x="171450" y="186005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7" name="Text 5"/>
          <p:cNvSpPr/>
          <p:nvPr/>
        </p:nvSpPr>
        <p:spPr>
          <a:xfrm>
            <a:off x="826770" y="1417318"/>
            <a:ext cx="4581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投资概要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4830" y="1878212"/>
            <a:ext cx="4751070" cy="1274445"/>
          </a:xfrm>
          <a:custGeom>
            <a:avLst/>
            <a:gdLst/>
            <a:ahLst/>
            <a:cxnLst/>
            <a:rect l="l" t="t" r="r" b="b"/>
            <a:pathLst>
              <a:path w="4751070" h="1274445">
                <a:moveTo>
                  <a:pt x="114305" y="0"/>
                </a:moveTo>
                <a:lnTo>
                  <a:pt x="4636765" y="0"/>
                </a:lnTo>
                <a:cubicBezTo>
                  <a:pt x="4699894" y="0"/>
                  <a:pt x="4751070" y="51176"/>
                  <a:pt x="4751070" y="114305"/>
                </a:cubicBezTo>
                <a:lnTo>
                  <a:pt x="4751070" y="1160140"/>
                </a:lnTo>
                <a:cubicBezTo>
                  <a:pt x="4751070" y="1223269"/>
                  <a:pt x="4699894" y="1274445"/>
                  <a:pt x="4636765" y="1274445"/>
                </a:cubicBezTo>
                <a:lnTo>
                  <a:pt x="114305" y="1274445"/>
                </a:lnTo>
                <a:cubicBezTo>
                  <a:pt x="51176" y="1274445"/>
                  <a:pt x="0" y="1223269"/>
                  <a:pt x="0" y="1160140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gradFill rotWithShape="1" flip="none">
            <a:gsLst>
              <a:gs pos="0">
                <a:srgbClr val="D9A477">
                  <a:alpha val="25000"/>
                </a:srgbClr>
              </a:gs>
              <a:gs pos="100000">
                <a:srgbClr val="D9A477">
                  <a:alpha val="5000"/>
                </a:srgbClr>
              </a:gs>
            </a:gsLst>
            <a:lin ang="0" scaled="1"/>
          </a:gradFill>
          <a:ln w="10160">
            <a:solidFill>
              <a:srgbClr val="D9A477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1040" y="2034420"/>
            <a:ext cx="451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总投资需求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1040" y="2301120"/>
            <a:ext cx="46672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9A47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26,900</a:t>
            </a:r>
            <a:pPr>
              <a:lnSpc>
                <a:spcPct val="80000"/>
              </a:lnSpc>
            </a:pPr>
            <a:r>
              <a:rPr lang="en-US" sz="1800" b="1" dirty="0">
                <a:solidFill>
                  <a:srgbClr val="D9A47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1040" y="2803922"/>
            <a:ext cx="450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首年月折旧额/摊销额：281.66元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1020" y="3306840"/>
            <a:ext cx="2324100" cy="1038225"/>
          </a:xfrm>
          <a:custGeom>
            <a:avLst/>
            <a:gdLst/>
            <a:ahLst/>
            <a:cxnLst/>
            <a:rect l="l" t="t" r="r" b="b"/>
            <a:pathLst>
              <a:path w="2324100" h="1038225">
                <a:moveTo>
                  <a:pt x="76195" y="0"/>
                </a:moveTo>
                <a:lnTo>
                  <a:pt x="2247905" y="0"/>
                </a:lnTo>
                <a:cubicBezTo>
                  <a:pt x="2289986" y="0"/>
                  <a:pt x="2324100" y="34114"/>
                  <a:pt x="2324100" y="76195"/>
                </a:cubicBezTo>
                <a:lnTo>
                  <a:pt x="2324100" y="962030"/>
                </a:lnTo>
                <a:cubicBezTo>
                  <a:pt x="2324100" y="1004111"/>
                  <a:pt x="2289986" y="1038225"/>
                  <a:pt x="2247905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86865" y="342114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6385" y="14288"/>
                  <a:pt x="0" y="20672"/>
                  <a:pt x="0" y="28575"/>
                </a:cubicBezTo>
                <a:lnTo>
                  <a:pt x="0" y="192881"/>
                </a:lnTo>
                <a:cubicBezTo>
                  <a:pt x="0" y="204713"/>
                  <a:pt x="9599" y="214313"/>
                  <a:pt x="21431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67955"/>
                </a:lnTo>
                <a:cubicBezTo>
                  <a:pt x="228600" y="59829"/>
                  <a:pt x="219938" y="54694"/>
                  <a:pt x="212794" y="58534"/>
                </a:cubicBezTo>
                <a:lnTo>
                  <a:pt x="142875" y="96173"/>
                </a:lnTo>
                <a:lnTo>
                  <a:pt x="142875" y="67955"/>
                </a:lnTo>
                <a:cubicBezTo>
                  <a:pt x="142875" y="59829"/>
                  <a:pt x="134213" y="54694"/>
                  <a:pt x="127069" y="58534"/>
                </a:cubicBezTo>
                <a:lnTo>
                  <a:pt x="57150" y="96173"/>
                </a:lnTo>
                <a:lnTo>
                  <a:pt x="57150" y="28575"/>
                </a:lnTo>
                <a:cubicBezTo>
                  <a:pt x="57150" y="20672"/>
                  <a:pt x="50765" y="14288"/>
                  <a:pt x="42863" y="14288"/>
                </a:cubicBezTo>
                <a:lnTo>
                  <a:pt x="14288" y="14288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14" name="Text 12"/>
          <p:cNvSpPr/>
          <p:nvPr/>
        </p:nvSpPr>
        <p:spPr>
          <a:xfrm>
            <a:off x="621983" y="3695463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机器设备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8170" y="3924063"/>
            <a:ext cx="220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9A47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4,400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975610" y="3306840"/>
            <a:ext cx="2324100" cy="1038225"/>
          </a:xfrm>
          <a:custGeom>
            <a:avLst/>
            <a:gdLst/>
            <a:ahLst/>
            <a:cxnLst/>
            <a:rect l="l" t="t" r="r" b="b"/>
            <a:pathLst>
              <a:path w="2324100" h="1038225">
                <a:moveTo>
                  <a:pt x="76195" y="0"/>
                </a:moveTo>
                <a:lnTo>
                  <a:pt x="2247905" y="0"/>
                </a:lnTo>
                <a:cubicBezTo>
                  <a:pt x="2289986" y="0"/>
                  <a:pt x="2324100" y="34114"/>
                  <a:pt x="2324100" y="76195"/>
                </a:cubicBezTo>
                <a:lnTo>
                  <a:pt x="2324100" y="962030"/>
                </a:lnTo>
                <a:cubicBezTo>
                  <a:pt x="2324100" y="1004111"/>
                  <a:pt x="2289986" y="1038225"/>
                  <a:pt x="2247905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35743" y="342114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67866" y="114300"/>
                </a:moveTo>
                <a:lnTo>
                  <a:pt x="67866" y="33129"/>
                </a:lnTo>
                <a:cubicBezTo>
                  <a:pt x="56927" y="42282"/>
                  <a:pt x="50006" y="56078"/>
                  <a:pt x="50006" y="71438"/>
                </a:cubicBezTo>
                <a:lnTo>
                  <a:pt x="50006" y="114300"/>
                </a:lnTo>
                <a:lnTo>
                  <a:pt x="67866" y="114300"/>
                </a:lnTo>
                <a:close/>
                <a:moveTo>
                  <a:pt x="89297" y="114300"/>
                </a:moveTo>
                <a:lnTo>
                  <a:pt x="110728" y="114300"/>
                </a:lnTo>
                <a:lnTo>
                  <a:pt x="110728" y="22592"/>
                </a:lnTo>
                <a:cubicBezTo>
                  <a:pt x="107290" y="21833"/>
                  <a:pt x="103674" y="21431"/>
                  <a:pt x="100013" y="21431"/>
                </a:cubicBezTo>
                <a:cubicBezTo>
                  <a:pt x="96351" y="21431"/>
                  <a:pt x="92735" y="21833"/>
                  <a:pt x="89297" y="22592"/>
                </a:cubicBezTo>
                <a:lnTo>
                  <a:pt x="89297" y="114300"/>
                </a:lnTo>
                <a:close/>
                <a:moveTo>
                  <a:pt x="132159" y="33129"/>
                </a:moveTo>
                <a:lnTo>
                  <a:pt x="132159" y="114300"/>
                </a:lnTo>
                <a:lnTo>
                  <a:pt x="150019" y="114300"/>
                </a:lnTo>
                <a:lnTo>
                  <a:pt x="150019" y="71438"/>
                </a:lnTo>
                <a:cubicBezTo>
                  <a:pt x="150019" y="56078"/>
                  <a:pt x="143098" y="42327"/>
                  <a:pt x="132159" y="33129"/>
                </a:cubicBezTo>
                <a:close/>
                <a:moveTo>
                  <a:pt x="14288" y="114300"/>
                </a:moveTo>
                <a:lnTo>
                  <a:pt x="28575" y="114300"/>
                </a:lnTo>
                <a:lnTo>
                  <a:pt x="28575" y="71438"/>
                </a:lnTo>
                <a:cubicBezTo>
                  <a:pt x="28575" y="31968"/>
                  <a:pt x="60543" y="0"/>
                  <a:pt x="100013" y="0"/>
                </a:cubicBezTo>
                <a:cubicBezTo>
                  <a:pt x="139482" y="0"/>
                  <a:pt x="171450" y="31968"/>
                  <a:pt x="171450" y="71438"/>
                </a:cubicBezTo>
                <a:lnTo>
                  <a:pt x="171450" y="114300"/>
                </a:lnTo>
                <a:lnTo>
                  <a:pt x="185738" y="114300"/>
                </a:lnTo>
                <a:cubicBezTo>
                  <a:pt x="193640" y="114300"/>
                  <a:pt x="200025" y="120685"/>
                  <a:pt x="200025" y="128588"/>
                </a:cubicBezTo>
                <a:lnTo>
                  <a:pt x="200025" y="157163"/>
                </a:lnTo>
                <a:cubicBezTo>
                  <a:pt x="200025" y="165065"/>
                  <a:pt x="193640" y="171450"/>
                  <a:pt x="185738" y="171450"/>
                </a:cubicBezTo>
                <a:lnTo>
                  <a:pt x="185738" y="214313"/>
                </a:lnTo>
                <a:cubicBezTo>
                  <a:pt x="185738" y="222215"/>
                  <a:pt x="179353" y="228600"/>
                  <a:pt x="171450" y="228600"/>
                </a:cubicBezTo>
                <a:cubicBezTo>
                  <a:pt x="163547" y="228600"/>
                  <a:pt x="157163" y="222215"/>
                  <a:pt x="157163" y="214313"/>
                </a:cubicBezTo>
                <a:lnTo>
                  <a:pt x="157163" y="171450"/>
                </a:lnTo>
                <a:lnTo>
                  <a:pt x="42863" y="171450"/>
                </a:lnTo>
                <a:lnTo>
                  <a:pt x="42863" y="214313"/>
                </a:lnTo>
                <a:cubicBezTo>
                  <a:pt x="42863" y="222215"/>
                  <a:pt x="36478" y="228600"/>
                  <a:pt x="28575" y="228600"/>
                </a:cubicBezTo>
                <a:cubicBezTo>
                  <a:pt x="20672" y="228600"/>
                  <a:pt x="14288" y="222215"/>
                  <a:pt x="14288" y="214313"/>
                </a:cubicBezTo>
                <a:lnTo>
                  <a:pt x="14288" y="171450"/>
                </a:lnTo>
                <a:cubicBezTo>
                  <a:pt x="6385" y="171450"/>
                  <a:pt x="0" y="165065"/>
                  <a:pt x="0" y="157163"/>
                </a:cubicBezTo>
                <a:lnTo>
                  <a:pt x="0" y="128588"/>
                </a:lnTo>
                <a:cubicBezTo>
                  <a:pt x="0" y="120685"/>
                  <a:pt x="6385" y="114300"/>
                  <a:pt x="14288" y="11430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18" name="Text 16"/>
          <p:cNvSpPr/>
          <p:nvPr/>
        </p:nvSpPr>
        <p:spPr>
          <a:xfrm>
            <a:off x="3056572" y="3695463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办公设备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032760" y="3924063"/>
            <a:ext cx="220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C8082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1,500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1020" y="4457342"/>
            <a:ext cx="2324100" cy="1038225"/>
          </a:xfrm>
          <a:custGeom>
            <a:avLst/>
            <a:gdLst/>
            <a:ahLst/>
            <a:cxnLst/>
            <a:rect l="l" t="t" r="r" b="b"/>
            <a:pathLst>
              <a:path w="2324100" h="1038225">
                <a:moveTo>
                  <a:pt x="76195" y="0"/>
                </a:moveTo>
                <a:lnTo>
                  <a:pt x="2247905" y="0"/>
                </a:lnTo>
                <a:cubicBezTo>
                  <a:pt x="2289986" y="0"/>
                  <a:pt x="2324100" y="34114"/>
                  <a:pt x="2324100" y="76195"/>
                </a:cubicBezTo>
                <a:lnTo>
                  <a:pt x="2324100" y="962030"/>
                </a:lnTo>
                <a:cubicBezTo>
                  <a:pt x="2324100" y="1004111"/>
                  <a:pt x="2289986" y="1038225"/>
                  <a:pt x="2247905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86865" y="457164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12814"/>
                  <a:pt x="41389" y="0"/>
                  <a:pt x="57150" y="0"/>
                </a:cubicBezTo>
                <a:lnTo>
                  <a:pt x="152474" y="0"/>
                </a:lnTo>
                <a:cubicBezTo>
                  <a:pt x="160065" y="0"/>
                  <a:pt x="167342" y="2991"/>
                  <a:pt x="172700" y="8349"/>
                </a:cubicBezTo>
                <a:lnTo>
                  <a:pt x="191676" y="27325"/>
                </a:lnTo>
                <a:cubicBezTo>
                  <a:pt x="197034" y="32683"/>
                  <a:pt x="200025" y="39960"/>
                  <a:pt x="200025" y="47551"/>
                </a:cubicBezTo>
                <a:lnTo>
                  <a:pt x="200025" y="64294"/>
                </a:lnTo>
                <a:lnTo>
                  <a:pt x="28575" y="64294"/>
                </a:lnTo>
                <a:lnTo>
                  <a:pt x="28575" y="28575"/>
                </a:lnTo>
                <a:close/>
                <a:moveTo>
                  <a:pt x="0" y="114300"/>
                </a:moveTo>
                <a:cubicBezTo>
                  <a:pt x="0" y="98539"/>
                  <a:pt x="12814" y="85725"/>
                  <a:pt x="28575" y="85725"/>
                </a:cubicBezTo>
                <a:lnTo>
                  <a:pt x="200025" y="85725"/>
                </a:lnTo>
                <a:cubicBezTo>
                  <a:pt x="215786" y="85725"/>
                  <a:pt x="228600" y="98539"/>
                  <a:pt x="228600" y="114300"/>
                </a:cubicBezTo>
                <a:lnTo>
                  <a:pt x="228600" y="157163"/>
                </a:lnTo>
                <a:cubicBezTo>
                  <a:pt x="228600" y="165065"/>
                  <a:pt x="222215" y="171450"/>
                  <a:pt x="214313" y="171450"/>
                </a:cubicBezTo>
                <a:lnTo>
                  <a:pt x="200025" y="171450"/>
                </a:lnTo>
                <a:lnTo>
                  <a:pt x="200025" y="200025"/>
                </a:lnTo>
                <a:cubicBezTo>
                  <a:pt x="200025" y="215786"/>
                  <a:pt x="187211" y="228600"/>
                  <a:pt x="171450" y="228600"/>
                </a:cubicBezTo>
                <a:lnTo>
                  <a:pt x="57150" y="228600"/>
                </a:lnTo>
                <a:cubicBezTo>
                  <a:pt x="41389" y="228600"/>
                  <a:pt x="28575" y="215786"/>
                  <a:pt x="28575" y="200025"/>
                </a:cubicBezTo>
                <a:lnTo>
                  <a:pt x="28575" y="171450"/>
                </a:lnTo>
                <a:lnTo>
                  <a:pt x="14288" y="171450"/>
                </a:lnTo>
                <a:cubicBezTo>
                  <a:pt x="6385" y="171450"/>
                  <a:pt x="0" y="165065"/>
                  <a:pt x="0" y="157163"/>
                </a:cubicBezTo>
                <a:lnTo>
                  <a:pt x="0" y="114300"/>
                </a:lnTo>
                <a:close/>
                <a:moveTo>
                  <a:pt x="57150" y="185738"/>
                </a:moveTo>
                <a:lnTo>
                  <a:pt x="57150" y="200025"/>
                </a:lnTo>
                <a:lnTo>
                  <a:pt x="171450" y="200025"/>
                </a:lnTo>
                <a:lnTo>
                  <a:pt x="171450" y="157163"/>
                </a:lnTo>
                <a:lnTo>
                  <a:pt x="57150" y="157163"/>
                </a:lnTo>
                <a:lnTo>
                  <a:pt x="57150" y="185738"/>
                </a:lnTo>
                <a:close/>
                <a:moveTo>
                  <a:pt x="203597" y="121444"/>
                </a:moveTo>
                <a:cubicBezTo>
                  <a:pt x="203597" y="115530"/>
                  <a:pt x="198795" y="110728"/>
                  <a:pt x="192881" y="110728"/>
                </a:cubicBezTo>
                <a:cubicBezTo>
                  <a:pt x="186967" y="110728"/>
                  <a:pt x="182166" y="115530"/>
                  <a:pt x="182166" y="121444"/>
                </a:cubicBezTo>
                <a:cubicBezTo>
                  <a:pt x="182166" y="127358"/>
                  <a:pt x="186967" y="132159"/>
                  <a:pt x="192881" y="132159"/>
                </a:cubicBezTo>
                <a:cubicBezTo>
                  <a:pt x="198795" y="132159"/>
                  <a:pt x="203597" y="127358"/>
                  <a:pt x="203597" y="121444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22" name="Text 20"/>
          <p:cNvSpPr/>
          <p:nvPr/>
        </p:nvSpPr>
        <p:spPr>
          <a:xfrm>
            <a:off x="621983" y="4845960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电子设备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8170" y="5074560"/>
            <a:ext cx="220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C6B73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1,400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975610" y="4457342"/>
            <a:ext cx="2324100" cy="1038225"/>
          </a:xfrm>
          <a:custGeom>
            <a:avLst/>
            <a:gdLst/>
            <a:ahLst/>
            <a:cxnLst/>
            <a:rect l="l" t="t" r="r" b="b"/>
            <a:pathLst>
              <a:path w="2324100" h="1038225">
                <a:moveTo>
                  <a:pt x="76195" y="0"/>
                </a:moveTo>
                <a:lnTo>
                  <a:pt x="2247905" y="0"/>
                </a:lnTo>
                <a:cubicBezTo>
                  <a:pt x="2289986" y="0"/>
                  <a:pt x="2324100" y="34114"/>
                  <a:pt x="2324100" y="76195"/>
                </a:cubicBezTo>
                <a:lnTo>
                  <a:pt x="2324100" y="962030"/>
                </a:lnTo>
                <a:cubicBezTo>
                  <a:pt x="2324100" y="1004111"/>
                  <a:pt x="2289986" y="1038225"/>
                  <a:pt x="2247905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992880" y="457164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4751" y="49203"/>
                </a:moveTo>
                <a:cubicBezTo>
                  <a:pt x="151269" y="43979"/>
                  <a:pt x="144750" y="41612"/>
                  <a:pt x="138723" y="43443"/>
                </a:cubicBezTo>
                <a:cubicBezTo>
                  <a:pt x="132695" y="45274"/>
                  <a:pt x="128588" y="50855"/>
                  <a:pt x="128588" y="57150"/>
                </a:cubicBezTo>
                <a:lnTo>
                  <a:pt x="128588" y="171450"/>
                </a:lnTo>
                <a:cubicBezTo>
                  <a:pt x="128588" y="179353"/>
                  <a:pt x="134972" y="185738"/>
                  <a:pt x="142875" y="185738"/>
                </a:cubicBezTo>
                <a:cubicBezTo>
                  <a:pt x="150778" y="185738"/>
                  <a:pt x="157163" y="179353"/>
                  <a:pt x="157163" y="171450"/>
                </a:cubicBezTo>
                <a:lnTo>
                  <a:pt x="157163" y="104343"/>
                </a:lnTo>
                <a:lnTo>
                  <a:pt x="188149" y="150822"/>
                </a:lnTo>
                <a:cubicBezTo>
                  <a:pt x="190783" y="154796"/>
                  <a:pt x="195248" y="157162"/>
                  <a:pt x="200025" y="157162"/>
                </a:cubicBezTo>
                <a:cubicBezTo>
                  <a:pt x="204802" y="157162"/>
                  <a:pt x="209267" y="154796"/>
                  <a:pt x="211901" y="150822"/>
                </a:cubicBezTo>
                <a:lnTo>
                  <a:pt x="242888" y="104343"/>
                </a:lnTo>
                <a:lnTo>
                  <a:pt x="242888" y="171450"/>
                </a:lnTo>
                <a:cubicBezTo>
                  <a:pt x="242888" y="179353"/>
                  <a:pt x="249272" y="185738"/>
                  <a:pt x="257175" y="185738"/>
                </a:cubicBezTo>
                <a:cubicBezTo>
                  <a:pt x="265078" y="185738"/>
                  <a:pt x="271463" y="179353"/>
                  <a:pt x="271463" y="171450"/>
                </a:cubicBezTo>
                <a:lnTo>
                  <a:pt x="271463" y="57150"/>
                </a:lnTo>
                <a:cubicBezTo>
                  <a:pt x="271463" y="50855"/>
                  <a:pt x="267355" y="45318"/>
                  <a:pt x="261327" y="43488"/>
                </a:cubicBezTo>
                <a:cubicBezTo>
                  <a:pt x="255300" y="41657"/>
                  <a:pt x="248781" y="43979"/>
                  <a:pt x="245299" y="49247"/>
                </a:cubicBezTo>
                <a:lnTo>
                  <a:pt x="200025" y="117113"/>
                </a:lnTo>
                <a:lnTo>
                  <a:pt x="154751" y="49203"/>
                </a:lnTo>
                <a:close/>
                <a:moveTo>
                  <a:pt x="14288" y="42863"/>
                </a:moveTo>
                <a:cubicBezTo>
                  <a:pt x="6385" y="42863"/>
                  <a:pt x="0" y="49247"/>
                  <a:pt x="0" y="57150"/>
                </a:cubicBezTo>
                <a:cubicBezTo>
                  <a:pt x="0" y="65053"/>
                  <a:pt x="6385" y="71438"/>
                  <a:pt x="14288" y="71438"/>
                </a:cubicBezTo>
                <a:lnTo>
                  <a:pt x="42863" y="71438"/>
                </a:lnTo>
                <a:lnTo>
                  <a:pt x="42863" y="171450"/>
                </a:lnTo>
                <a:cubicBezTo>
                  <a:pt x="42863" y="179353"/>
                  <a:pt x="49247" y="185738"/>
                  <a:pt x="57150" y="185738"/>
                </a:cubicBezTo>
                <a:cubicBezTo>
                  <a:pt x="65053" y="185738"/>
                  <a:pt x="71438" y="179353"/>
                  <a:pt x="71438" y="171450"/>
                </a:cubicBezTo>
                <a:lnTo>
                  <a:pt x="71438" y="71438"/>
                </a:lnTo>
                <a:lnTo>
                  <a:pt x="100013" y="71438"/>
                </a:lnTo>
                <a:cubicBezTo>
                  <a:pt x="107915" y="71438"/>
                  <a:pt x="114300" y="65053"/>
                  <a:pt x="114300" y="57150"/>
                </a:cubicBezTo>
                <a:cubicBezTo>
                  <a:pt x="114300" y="49247"/>
                  <a:pt x="107915" y="42863"/>
                  <a:pt x="100013" y="42863"/>
                </a:cubicBezTo>
                <a:lnTo>
                  <a:pt x="14288" y="42863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26" name="Text 24"/>
          <p:cNvSpPr/>
          <p:nvPr/>
        </p:nvSpPr>
        <p:spPr>
          <a:xfrm>
            <a:off x="3056572" y="4845960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无形资产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032760" y="5074560"/>
            <a:ext cx="220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9A47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8,500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1020" y="5607848"/>
            <a:ext cx="2324100" cy="1038225"/>
          </a:xfrm>
          <a:custGeom>
            <a:avLst/>
            <a:gdLst/>
            <a:ahLst/>
            <a:cxnLst/>
            <a:rect l="l" t="t" r="r" b="b"/>
            <a:pathLst>
              <a:path w="2324100" h="1038225">
                <a:moveTo>
                  <a:pt x="76195" y="0"/>
                </a:moveTo>
                <a:lnTo>
                  <a:pt x="2247905" y="0"/>
                </a:lnTo>
                <a:cubicBezTo>
                  <a:pt x="2289986" y="0"/>
                  <a:pt x="2324100" y="34114"/>
                  <a:pt x="2324100" y="76195"/>
                </a:cubicBezTo>
                <a:lnTo>
                  <a:pt x="2324100" y="962030"/>
                </a:lnTo>
                <a:cubicBezTo>
                  <a:pt x="2324100" y="1004111"/>
                  <a:pt x="2289986" y="1038225"/>
                  <a:pt x="2247905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15440" y="572214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76126"/>
                </a:lnTo>
                <a:cubicBezTo>
                  <a:pt x="171450" y="68535"/>
                  <a:pt x="168459" y="61258"/>
                  <a:pt x="163101" y="55900"/>
                </a:cubicBezTo>
                <a:lnTo>
                  <a:pt x="115506" y="8349"/>
                </a:lnTo>
                <a:cubicBezTo>
                  <a:pt x="110148" y="2991"/>
                  <a:pt x="102915" y="0"/>
                  <a:pt x="95324" y="0"/>
                </a:cubicBezTo>
                <a:lnTo>
                  <a:pt x="28575" y="0"/>
                </a:lnTo>
                <a:close/>
                <a:moveTo>
                  <a:pt x="145331" y="78581"/>
                </a:moveTo>
                <a:lnTo>
                  <a:pt x="103584" y="78581"/>
                </a:lnTo>
                <a:cubicBezTo>
                  <a:pt x="97646" y="78581"/>
                  <a:pt x="92869" y="73804"/>
                  <a:pt x="92869" y="67866"/>
                </a:cubicBezTo>
                <a:lnTo>
                  <a:pt x="92869" y="26119"/>
                </a:lnTo>
                <a:lnTo>
                  <a:pt x="145331" y="78581"/>
                </a:lnTo>
                <a:close/>
                <a:moveTo>
                  <a:pt x="28575" y="171450"/>
                </a:moveTo>
                <a:lnTo>
                  <a:pt x="28575" y="142875"/>
                </a:lnTo>
                <a:cubicBezTo>
                  <a:pt x="28575" y="134972"/>
                  <a:pt x="34960" y="128588"/>
                  <a:pt x="42863" y="128588"/>
                </a:cubicBezTo>
                <a:lnTo>
                  <a:pt x="128588" y="128588"/>
                </a:lnTo>
                <a:cubicBezTo>
                  <a:pt x="136490" y="128588"/>
                  <a:pt x="142875" y="134972"/>
                  <a:pt x="142875" y="142875"/>
                </a:cubicBezTo>
                <a:lnTo>
                  <a:pt x="142875" y="171450"/>
                </a:lnTo>
                <a:cubicBezTo>
                  <a:pt x="142875" y="179353"/>
                  <a:pt x="136490" y="185738"/>
                  <a:pt x="128588" y="185738"/>
                </a:cubicBezTo>
                <a:lnTo>
                  <a:pt x="42863" y="185738"/>
                </a:lnTo>
                <a:cubicBezTo>
                  <a:pt x="34960" y="185738"/>
                  <a:pt x="28575" y="179353"/>
                  <a:pt x="28575" y="171450"/>
                </a:cubicBezTo>
                <a:close/>
                <a:moveTo>
                  <a:pt x="39291" y="28575"/>
                </a:moveTo>
                <a:lnTo>
                  <a:pt x="60722" y="28575"/>
                </a:lnTo>
                <a:cubicBezTo>
                  <a:pt x="66660" y="28575"/>
                  <a:pt x="71438" y="33352"/>
                  <a:pt x="71438" y="39291"/>
                </a:cubicBezTo>
                <a:cubicBezTo>
                  <a:pt x="71438" y="45229"/>
                  <a:pt x="66660" y="50006"/>
                  <a:pt x="60722" y="50006"/>
                </a:cubicBezTo>
                <a:lnTo>
                  <a:pt x="39291" y="50006"/>
                </a:lnTo>
                <a:cubicBezTo>
                  <a:pt x="33352" y="50006"/>
                  <a:pt x="28575" y="45229"/>
                  <a:pt x="28575" y="39291"/>
                </a:cubicBezTo>
                <a:cubicBezTo>
                  <a:pt x="28575" y="33352"/>
                  <a:pt x="33352" y="28575"/>
                  <a:pt x="39291" y="28575"/>
                </a:cubicBezTo>
                <a:close/>
                <a:moveTo>
                  <a:pt x="39291" y="71438"/>
                </a:moveTo>
                <a:lnTo>
                  <a:pt x="60722" y="71438"/>
                </a:lnTo>
                <a:cubicBezTo>
                  <a:pt x="66660" y="71438"/>
                  <a:pt x="71438" y="76215"/>
                  <a:pt x="71438" y="82153"/>
                </a:cubicBezTo>
                <a:cubicBezTo>
                  <a:pt x="71438" y="88091"/>
                  <a:pt x="66660" y="92869"/>
                  <a:pt x="60722" y="92869"/>
                </a:cubicBezTo>
                <a:lnTo>
                  <a:pt x="39291" y="92869"/>
                </a:lnTo>
                <a:cubicBezTo>
                  <a:pt x="33352" y="92869"/>
                  <a:pt x="28575" y="88091"/>
                  <a:pt x="28575" y="82153"/>
                </a:cubicBezTo>
                <a:cubicBezTo>
                  <a:pt x="28575" y="76215"/>
                  <a:pt x="33352" y="71438"/>
                  <a:pt x="39291" y="71438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30" name="Text 28"/>
          <p:cNvSpPr/>
          <p:nvPr/>
        </p:nvSpPr>
        <p:spPr>
          <a:xfrm>
            <a:off x="621983" y="5996467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开办费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8170" y="6225067"/>
            <a:ext cx="220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C8082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1,100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975610" y="5607848"/>
            <a:ext cx="2324100" cy="1038225"/>
          </a:xfrm>
          <a:custGeom>
            <a:avLst/>
            <a:gdLst/>
            <a:ahLst/>
            <a:cxnLst/>
            <a:rect l="l" t="t" r="r" b="b"/>
            <a:pathLst>
              <a:path w="2324100" h="1038225">
                <a:moveTo>
                  <a:pt x="76195" y="0"/>
                </a:moveTo>
                <a:lnTo>
                  <a:pt x="2247905" y="0"/>
                </a:lnTo>
                <a:cubicBezTo>
                  <a:pt x="2289986" y="0"/>
                  <a:pt x="2324100" y="34114"/>
                  <a:pt x="2324100" y="76195"/>
                </a:cubicBezTo>
                <a:lnTo>
                  <a:pt x="2324100" y="962030"/>
                </a:lnTo>
                <a:cubicBezTo>
                  <a:pt x="2324100" y="1004111"/>
                  <a:pt x="2289986" y="1038225"/>
                  <a:pt x="2247905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021455" y="572214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5919" y="8439"/>
                </a:moveTo>
                <a:cubicBezTo>
                  <a:pt x="211053" y="10716"/>
                  <a:pt x="214313" y="15806"/>
                  <a:pt x="214313" y="21431"/>
                </a:cubicBezTo>
                <a:lnTo>
                  <a:pt x="214313" y="207169"/>
                </a:lnTo>
                <a:cubicBezTo>
                  <a:pt x="214313" y="212794"/>
                  <a:pt x="211053" y="217884"/>
                  <a:pt x="205919" y="220161"/>
                </a:cubicBezTo>
                <a:cubicBezTo>
                  <a:pt x="200784" y="222439"/>
                  <a:pt x="194846" y="221590"/>
                  <a:pt x="190604" y="217884"/>
                </a:cubicBezTo>
                <a:lnTo>
                  <a:pt x="169798" y="199712"/>
                </a:lnTo>
                <a:cubicBezTo>
                  <a:pt x="150331" y="182701"/>
                  <a:pt x="125730" y="172789"/>
                  <a:pt x="99968" y="171584"/>
                </a:cubicBezTo>
                <a:lnTo>
                  <a:pt x="99968" y="214313"/>
                </a:lnTo>
                <a:cubicBezTo>
                  <a:pt x="99968" y="222215"/>
                  <a:pt x="93583" y="228600"/>
                  <a:pt x="85680" y="228600"/>
                </a:cubicBezTo>
                <a:lnTo>
                  <a:pt x="71393" y="228600"/>
                </a:lnTo>
                <a:cubicBezTo>
                  <a:pt x="63490" y="228600"/>
                  <a:pt x="57105" y="222215"/>
                  <a:pt x="57105" y="214313"/>
                </a:cubicBezTo>
                <a:lnTo>
                  <a:pt x="57105" y="171450"/>
                </a:lnTo>
                <a:cubicBezTo>
                  <a:pt x="25584" y="171450"/>
                  <a:pt x="0" y="145866"/>
                  <a:pt x="0" y="114300"/>
                </a:cubicBezTo>
                <a:cubicBezTo>
                  <a:pt x="0" y="82734"/>
                  <a:pt x="25584" y="57150"/>
                  <a:pt x="57150" y="57150"/>
                </a:cubicBezTo>
                <a:lnTo>
                  <a:pt x="94878" y="57150"/>
                </a:lnTo>
                <a:cubicBezTo>
                  <a:pt x="122471" y="57061"/>
                  <a:pt x="149081" y="47015"/>
                  <a:pt x="169843" y="28888"/>
                </a:cubicBezTo>
                <a:lnTo>
                  <a:pt x="190649" y="10716"/>
                </a:lnTo>
                <a:cubicBezTo>
                  <a:pt x="194846" y="7010"/>
                  <a:pt x="200873" y="6161"/>
                  <a:pt x="205963" y="8439"/>
                </a:cubicBezTo>
                <a:close/>
                <a:moveTo>
                  <a:pt x="100013" y="142875"/>
                </a:moveTo>
                <a:lnTo>
                  <a:pt x="100013" y="142964"/>
                </a:lnTo>
                <a:cubicBezTo>
                  <a:pt x="131400" y="144170"/>
                  <a:pt x="161538" y="155689"/>
                  <a:pt x="185738" y="175736"/>
                </a:cubicBezTo>
                <a:lnTo>
                  <a:pt x="185738" y="52819"/>
                </a:lnTo>
                <a:cubicBezTo>
                  <a:pt x="161538" y="72866"/>
                  <a:pt x="131400" y="84386"/>
                  <a:pt x="100013" y="85591"/>
                </a:cubicBezTo>
                <a:lnTo>
                  <a:pt x="100013" y="142875"/>
                </a:ln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34" name="Text 32"/>
          <p:cNvSpPr/>
          <p:nvPr/>
        </p:nvSpPr>
        <p:spPr>
          <a:xfrm>
            <a:off x="3056572" y="5996467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推广预备金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032760" y="6225067"/>
            <a:ext cx="220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C6B73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10,000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12130" y="1261110"/>
            <a:ext cx="6198870" cy="3722370"/>
          </a:xfrm>
          <a:custGeom>
            <a:avLst/>
            <a:gdLst/>
            <a:ahLst/>
            <a:cxnLst/>
            <a:rect l="l" t="t" r="r" b="b"/>
            <a:pathLst>
              <a:path w="6198870" h="3722370">
                <a:moveTo>
                  <a:pt x="114314" y="0"/>
                </a:moveTo>
                <a:lnTo>
                  <a:pt x="6084556" y="0"/>
                </a:lnTo>
                <a:cubicBezTo>
                  <a:pt x="6147690" y="0"/>
                  <a:pt x="6198870" y="51180"/>
                  <a:pt x="6198870" y="114314"/>
                </a:cubicBezTo>
                <a:lnTo>
                  <a:pt x="6198870" y="3608056"/>
                </a:lnTo>
                <a:cubicBezTo>
                  <a:pt x="6198870" y="3671190"/>
                  <a:pt x="6147690" y="3722370"/>
                  <a:pt x="6084556" y="3722370"/>
                </a:cubicBezTo>
                <a:lnTo>
                  <a:pt x="114314" y="3722370"/>
                </a:lnTo>
                <a:cubicBezTo>
                  <a:pt x="51180" y="3722370"/>
                  <a:pt x="0" y="3671190"/>
                  <a:pt x="0" y="3608056"/>
                </a:cubicBezTo>
                <a:lnTo>
                  <a:pt x="0" y="114314"/>
                </a:lnTo>
                <a:cubicBezTo>
                  <a:pt x="0" y="51222"/>
                  <a:pt x="51222" y="0"/>
                  <a:pt x="114314" y="0"/>
                </a:cubicBezTo>
                <a:close/>
              </a:path>
            </a:pathLst>
          </a:custGeom>
          <a:gradFill rotWithShape="1" flip="none">
            <a:gsLst>
              <a:gs pos="0">
                <a:srgbClr val="3C8082">
                  <a:alpha val="20000"/>
                </a:srgbClr>
              </a:gs>
              <a:gs pos="100000">
                <a:srgbClr val="3C8082">
                  <a:alpha val="5000"/>
                </a:srgbClr>
              </a:gs>
            </a:gsLst>
            <a:lin ang="2700000" scaled="1"/>
          </a:gradFill>
          <a:ln w="10160">
            <a:solidFill>
              <a:srgbClr val="3C8082">
                <a:alpha val="5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96915" y="145530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28575" y="28575"/>
                </a:lnTo>
                <a:close/>
                <a:moveTo>
                  <a:pt x="71438" y="142875"/>
                </a:moveTo>
                <a:cubicBezTo>
                  <a:pt x="71438" y="150760"/>
                  <a:pt x="65035" y="157163"/>
                  <a:pt x="57150" y="157163"/>
                </a:cubicBezTo>
                <a:cubicBezTo>
                  <a:pt x="49265" y="157163"/>
                  <a:pt x="42863" y="150760"/>
                  <a:pt x="42863" y="142875"/>
                </a:cubicBezTo>
                <a:cubicBezTo>
                  <a:pt x="42863" y="134990"/>
                  <a:pt x="49265" y="128588"/>
                  <a:pt x="57150" y="128588"/>
                </a:cubicBezTo>
                <a:cubicBezTo>
                  <a:pt x="65035" y="128588"/>
                  <a:pt x="71438" y="134990"/>
                  <a:pt x="71438" y="142875"/>
                </a:cubicBezTo>
                <a:close/>
                <a:moveTo>
                  <a:pt x="57150" y="100013"/>
                </a:moveTo>
                <a:cubicBezTo>
                  <a:pt x="49265" y="100013"/>
                  <a:pt x="42863" y="93610"/>
                  <a:pt x="42863" y="85725"/>
                </a:cubicBezTo>
                <a:cubicBezTo>
                  <a:pt x="42863" y="77840"/>
                  <a:pt x="49265" y="71438"/>
                  <a:pt x="57150" y="71438"/>
                </a:cubicBezTo>
                <a:cubicBezTo>
                  <a:pt x="65035" y="71438"/>
                  <a:pt x="71438" y="77840"/>
                  <a:pt x="71438" y="85725"/>
                </a:cubicBezTo>
                <a:cubicBezTo>
                  <a:pt x="71438" y="93610"/>
                  <a:pt x="65035" y="100013"/>
                  <a:pt x="57150" y="100013"/>
                </a:cubicBezTo>
                <a:close/>
                <a:moveTo>
                  <a:pt x="110728" y="75009"/>
                </a:moveTo>
                <a:lnTo>
                  <a:pt x="175022" y="75009"/>
                </a:lnTo>
                <a:cubicBezTo>
                  <a:pt x="180960" y="75009"/>
                  <a:pt x="185738" y="79787"/>
                  <a:pt x="185738" y="85725"/>
                </a:cubicBezTo>
                <a:cubicBezTo>
                  <a:pt x="185738" y="91663"/>
                  <a:pt x="180960" y="96441"/>
                  <a:pt x="175022" y="96441"/>
                </a:cubicBezTo>
                <a:lnTo>
                  <a:pt x="110728" y="96441"/>
                </a:lnTo>
                <a:cubicBezTo>
                  <a:pt x="104790" y="96441"/>
                  <a:pt x="100013" y="91663"/>
                  <a:pt x="100013" y="85725"/>
                </a:cubicBezTo>
                <a:cubicBezTo>
                  <a:pt x="100013" y="79787"/>
                  <a:pt x="104790" y="75009"/>
                  <a:pt x="110728" y="75009"/>
                </a:cubicBezTo>
                <a:close/>
                <a:moveTo>
                  <a:pt x="110728" y="132159"/>
                </a:moveTo>
                <a:lnTo>
                  <a:pt x="175022" y="132159"/>
                </a:lnTo>
                <a:cubicBezTo>
                  <a:pt x="180960" y="132159"/>
                  <a:pt x="185738" y="136937"/>
                  <a:pt x="185738" y="142875"/>
                </a:cubicBezTo>
                <a:cubicBezTo>
                  <a:pt x="185738" y="148813"/>
                  <a:pt x="180960" y="153591"/>
                  <a:pt x="175022" y="153591"/>
                </a:cubicBezTo>
                <a:lnTo>
                  <a:pt x="110728" y="153591"/>
                </a:lnTo>
                <a:cubicBezTo>
                  <a:pt x="104790" y="153591"/>
                  <a:pt x="100013" y="148813"/>
                  <a:pt x="100013" y="142875"/>
                </a:cubicBezTo>
                <a:cubicBezTo>
                  <a:pt x="100013" y="136937"/>
                  <a:pt x="104790" y="132159"/>
                  <a:pt x="110728" y="132159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8" name="Text 36"/>
          <p:cNvSpPr/>
          <p:nvPr/>
        </p:nvSpPr>
        <p:spPr>
          <a:xfrm>
            <a:off x="6054090" y="1417318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资金分配明细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787390" y="1935240"/>
            <a:ext cx="5867400" cy="723900"/>
          </a:xfrm>
          <a:custGeom>
            <a:avLst/>
            <a:gdLst/>
            <a:ahLst/>
            <a:cxnLst/>
            <a:rect l="l" t="t" r="r" b="b"/>
            <a:pathLst>
              <a:path w="5867400" h="723900">
                <a:moveTo>
                  <a:pt x="38100" y="0"/>
                </a:moveTo>
                <a:lnTo>
                  <a:pt x="5753103" y="0"/>
                </a:lnTo>
                <a:cubicBezTo>
                  <a:pt x="5816228" y="0"/>
                  <a:pt x="5867400" y="51172"/>
                  <a:pt x="5867400" y="114297"/>
                </a:cubicBezTo>
                <a:lnTo>
                  <a:pt x="5867400" y="609603"/>
                </a:lnTo>
                <a:cubicBezTo>
                  <a:pt x="5867400" y="672728"/>
                  <a:pt x="5816228" y="723900"/>
                  <a:pt x="5753103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787390" y="193524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4553" y="20971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4789" y="10716"/>
                  <a:pt x="0" y="15504"/>
                  <a:pt x="0" y="21431"/>
                </a:cubicBezTo>
                <a:lnTo>
                  <a:pt x="0" y="144661"/>
                </a:lnTo>
                <a:cubicBezTo>
                  <a:pt x="0" y="153535"/>
                  <a:pt x="7200" y="160734"/>
                  <a:pt x="16073" y="160734"/>
                </a:cubicBezTo>
                <a:lnTo>
                  <a:pt x="155377" y="160734"/>
                </a:lnTo>
                <a:cubicBezTo>
                  <a:pt x="164250" y="160734"/>
                  <a:pt x="171450" y="153535"/>
                  <a:pt x="171450" y="144661"/>
                </a:cubicBezTo>
                <a:lnTo>
                  <a:pt x="171450" y="50966"/>
                </a:lnTo>
                <a:cubicBezTo>
                  <a:pt x="171450" y="44872"/>
                  <a:pt x="164954" y="41021"/>
                  <a:pt x="159596" y="43901"/>
                </a:cubicBezTo>
                <a:lnTo>
                  <a:pt x="107156" y="72130"/>
                </a:lnTo>
                <a:lnTo>
                  <a:pt x="107156" y="50966"/>
                </a:lnTo>
                <a:cubicBezTo>
                  <a:pt x="107156" y="44872"/>
                  <a:pt x="100660" y="41021"/>
                  <a:pt x="95302" y="43901"/>
                </a:cubicBezTo>
                <a:lnTo>
                  <a:pt x="42863" y="72130"/>
                </a:lnTo>
                <a:lnTo>
                  <a:pt x="42863" y="21431"/>
                </a:lnTo>
                <a:cubicBezTo>
                  <a:pt x="42863" y="15504"/>
                  <a:pt x="38074" y="10716"/>
                  <a:pt x="32147" y="10716"/>
                </a:cubicBezTo>
                <a:lnTo>
                  <a:pt x="10716" y="10716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42" name="Text 40"/>
          <p:cNvSpPr/>
          <p:nvPr/>
        </p:nvSpPr>
        <p:spPr>
          <a:xfrm>
            <a:off x="6139815" y="2049540"/>
            <a:ext cx="548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机器、机械和其他生产设备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920740" y="2354340"/>
            <a:ext cx="568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专业维修工作台、精密拆机工具组、检测与清洁设备、测试用台式机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787390" y="2971326"/>
            <a:ext cx="5867400" cy="723900"/>
          </a:xfrm>
          <a:custGeom>
            <a:avLst/>
            <a:gdLst/>
            <a:ahLst/>
            <a:cxnLst/>
            <a:rect l="l" t="t" r="r" b="b"/>
            <a:pathLst>
              <a:path w="5867400" h="723900">
                <a:moveTo>
                  <a:pt x="38100" y="0"/>
                </a:moveTo>
                <a:lnTo>
                  <a:pt x="5753103" y="0"/>
                </a:lnTo>
                <a:cubicBezTo>
                  <a:pt x="5816228" y="0"/>
                  <a:pt x="5867400" y="51172"/>
                  <a:pt x="5867400" y="114297"/>
                </a:cubicBezTo>
                <a:lnTo>
                  <a:pt x="5867400" y="609603"/>
                </a:lnTo>
                <a:cubicBezTo>
                  <a:pt x="5867400" y="672728"/>
                  <a:pt x="5816228" y="723900"/>
                  <a:pt x="5753103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87390" y="2971326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46" name="Shape 44"/>
          <p:cNvSpPr/>
          <p:nvPr/>
        </p:nvSpPr>
        <p:spPr>
          <a:xfrm>
            <a:off x="5955268" y="3133251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50899" y="85725"/>
                </a:moveTo>
                <a:lnTo>
                  <a:pt x="50899" y="24847"/>
                </a:lnTo>
                <a:cubicBezTo>
                  <a:pt x="42695" y="31712"/>
                  <a:pt x="37505" y="42059"/>
                  <a:pt x="37505" y="53578"/>
                </a:cubicBezTo>
                <a:lnTo>
                  <a:pt x="37505" y="85725"/>
                </a:lnTo>
                <a:lnTo>
                  <a:pt x="50899" y="85725"/>
                </a:lnTo>
                <a:close/>
                <a:moveTo>
                  <a:pt x="66973" y="85725"/>
                </a:moveTo>
                <a:lnTo>
                  <a:pt x="83046" y="85725"/>
                </a:lnTo>
                <a:lnTo>
                  <a:pt x="83046" y="16944"/>
                </a:lnTo>
                <a:cubicBezTo>
                  <a:pt x="80468" y="16375"/>
                  <a:pt x="77755" y="16073"/>
                  <a:pt x="75009" y="16073"/>
                </a:cubicBezTo>
                <a:cubicBezTo>
                  <a:pt x="72263" y="16073"/>
                  <a:pt x="69551" y="16375"/>
                  <a:pt x="66973" y="16944"/>
                </a:cubicBezTo>
                <a:lnTo>
                  <a:pt x="66973" y="85725"/>
                </a:lnTo>
                <a:close/>
                <a:moveTo>
                  <a:pt x="99120" y="24847"/>
                </a:moveTo>
                <a:lnTo>
                  <a:pt x="99120" y="85725"/>
                </a:lnTo>
                <a:lnTo>
                  <a:pt x="112514" y="85725"/>
                </a:lnTo>
                <a:lnTo>
                  <a:pt x="112514" y="53578"/>
                </a:lnTo>
                <a:cubicBezTo>
                  <a:pt x="112514" y="42059"/>
                  <a:pt x="107324" y="31745"/>
                  <a:pt x="99120" y="24847"/>
                </a:cubicBezTo>
                <a:close/>
                <a:moveTo>
                  <a:pt x="10716" y="85725"/>
                </a:moveTo>
                <a:lnTo>
                  <a:pt x="21431" y="85725"/>
                </a:lnTo>
                <a:lnTo>
                  <a:pt x="21431" y="53578"/>
                </a:lnTo>
                <a:cubicBezTo>
                  <a:pt x="21431" y="23976"/>
                  <a:pt x="45407" y="0"/>
                  <a:pt x="75009" y="0"/>
                </a:cubicBezTo>
                <a:cubicBezTo>
                  <a:pt x="104611" y="0"/>
                  <a:pt x="128588" y="23976"/>
                  <a:pt x="128588" y="53578"/>
                </a:cubicBezTo>
                <a:lnTo>
                  <a:pt x="128588" y="85725"/>
                </a:lnTo>
                <a:lnTo>
                  <a:pt x="139303" y="85725"/>
                </a:lnTo>
                <a:cubicBezTo>
                  <a:pt x="145230" y="85725"/>
                  <a:pt x="150019" y="90514"/>
                  <a:pt x="150019" y="96441"/>
                </a:cubicBezTo>
                <a:lnTo>
                  <a:pt x="150019" y="117872"/>
                </a:lnTo>
                <a:cubicBezTo>
                  <a:pt x="150019" y="123799"/>
                  <a:pt x="145230" y="128588"/>
                  <a:pt x="139303" y="128588"/>
                </a:cubicBezTo>
                <a:lnTo>
                  <a:pt x="139303" y="160734"/>
                </a:lnTo>
                <a:cubicBezTo>
                  <a:pt x="139303" y="166661"/>
                  <a:pt x="134515" y="171450"/>
                  <a:pt x="128588" y="171450"/>
                </a:cubicBezTo>
                <a:cubicBezTo>
                  <a:pt x="122660" y="171450"/>
                  <a:pt x="117872" y="166661"/>
                  <a:pt x="117872" y="160734"/>
                </a:cubicBezTo>
                <a:lnTo>
                  <a:pt x="117872" y="128588"/>
                </a:lnTo>
                <a:lnTo>
                  <a:pt x="32147" y="128588"/>
                </a:lnTo>
                <a:lnTo>
                  <a:pt x="32147" y="160734"/>
                </a:lnTo>
                <a:cubicBezTo>
                  <a:pt x="32147" y="166661"/>
                  <a:pt x="27358" y="171450"/>
                  <a:pt x="21431" y="171450"/>
                </a:cubicBezTo>
                <a:cubicBezTo>
                  <a:pt x="15504" y="171450"/>
                  <a:pt x="10716" y="166661"/>
                  <a:pt x="10716" y="160734"/>
                </a:cubicBezTo>
                <a:lnTo>
                  <a:pt x="10716" y="128588"/>
                </a:lnTo>
                <a:cubicBezTo>
                  <a:pt x="4789" y="128588"/>
                  <a:pt x="0" y="123799"/>
                  <a:pt x="0" y="117872"/>
                </a:cubicBezTo>
                <a:lnTo>
                  <a:pt x="0" y="96441"/>
                </a:lnTo>
                <a:cubicBezTo>
                  <a:pt x="0" y="90514"/>
                  <a:pt x="4789" y="85725"/>
                  <a:pt x="10716" y="85725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47" name="Text 45"/>
          <p:cNvSpPr/>
          <p:nvPr/>
        </p:nvSpPr>
        <p:spPr>
          <a:xfrm>
            <a:off x="6139815" y="3085626"/>
            <a:ext cx="548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器具、工具和家具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920740" y="3390426"/>
            <a:ext cx="568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办公桌椅、货架、文件柜等办公基础设施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787390" y="4007407"/>
            <a:ext cx="5867400" cy="723900"/>
          </a:xfrm>
          <a:custGeom>
            <a:avLst/>
            <a:gdLst/>
            <a:ahLst/>
            <a:cxnLst/>
            <a:rect l="l" t="t" r="r" b="b"/>
            <a:pathLst>
              <a:path w="5867400" h="723900">
                <a:moveTo>
                  <a:pt x="38100" y="0"/>
                </a:moveTo>
                <a:lnTo>
                  <a:pt x="5753103" y="0"/>
                </a:lnTo>
                <a:cubicBezTo>
                  <a:pt x="5816228" y="0"/>
                  <a:pt x="5867400" y="51172"/>
                  <a:pt x="5867400" y="114297"/>
                </a:cubicBezTo>
                <a:lnTo>
                  <a:pt x="5867400" y="609603"/>
                </a:lnTo>
                <a:cubicBezTo>
                  <a:pt x="5867400" y="672728"/>
                  <a:pt x="5816228" y="723900"/>
                  <a:pt x="5753103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787390" y="4007407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51" name="Shape 49"/>
          <p:cNvSpPr/>
          <p:nvPr/>
        </p:nvSpPr>
        <p:spPr>
          <a:xfrm>
            <a:off x="5944553" y="416933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9611"/>
                  <a:pt x="31042" y="0"/>
                  <a:pt x="42863" y="0"/>
                </a:cubicBezTo>
                <a:lnTo>
                  <a:pt x="114356" y="0"/>
                </a:lnTo>
                <a:cubicBezTo>
                  <a:pt x="120048" y="0"/>
                  <a:pt x="125507" y="2244"/>
                  <a:pt x="129525" y="6262"/>
                </a:cubicBezTo>
                <a:lnTo>
                  <a:pt x="143757" y="20494"/>
                </a:lnTo>
                <a:cubicBezTo>
                  <a:pt x="147775" y="24512"/>
                  <a:pt x="150019" y="29970"/>
                  <a:pt x="150019" y="35663"/>
                </a:cubicBezTo>
                <a:lnTo>
                  <a:pt x="150019" y="48220"/>
                </a:lnTo>
                <a:lnTo>
                  <a:pt x="21431" y="48220"/>
                </a:lnTo>
                <a:lnTo>
                  <a:pt x="21431" y="21431"/>
                </a:lnTo>
                <a:close/>
                <a:moveTo>
                  <a:pt x="0" y="85725"/>
                </a:moveTo>
                <a:cubicBezTo>
                  <a:pt x="0" y="73904"/>
                  <a:pt x="9611" y="64294"/>
                  <a:pt x="21431" y="64294"/>
                </a:cubicBezTo>
                <a:lnTo>
                  <a:pt x="150019" y="64294"/>
                </a:lnTo>
                <a:cubicBezTo>
                  <a:pt x="161839" y="64294"/>
                  <a:pt x="171450" y="73904"/>
                  <a:pt x="171450" y="85725"/>
                </a:cubicBezTo>
                <a:lnTo>
                  <a:pt x="171450" y="117872"/>
                </a:lnTo>
                <a:cubicBezTo>
                  <a:pt x="171450" y="123799"/>
                  <a:pt x="166661" y="128588"/>
                  <a:pt x="160734" y="128588"/>
                </a:cubicBezTo>
                <a:lnTo>
                  <a:pt x="150019" y="128588"/>
                </a:lnTo>
                <a:lnTo>
                  <a:pt x="150019" y="150019"/>
                </a:lnTo>
                <a:cubicBezTo>
                  <a:pt x="150019" y="161839"/>
                  <a:pt x="140408" y="171450"/>
                  <a:pt x="128588" y="171450"/>
                </a:cubicBezTo>
                <a:lnTo>
                  <a:pt x="42863" y="171450"/>
                </a:lnTo>
                <a:cubicBezTo>
                  <a:pt x="31042" y="171450"/>
                  <a:pt x="21431" y="161839"/>
                  <a:pt x="21431" y="150019"/>
                </a:cubicBezTo>
                <a:lnTo>
                  <a:pt x="21431" y="128588"/>
                </a:lnTo>
                <a:lnTo>
                  <a:pt x="10716" y="128588"/>
                </a:lnTo>
                <a:cubicBezTo>
                  <a:pt x="4789" y="128588"/>
                  <a:pt x="0" y="123799"/>
                  <a:pt x="0" y="117872"/>
                </a:cubicBezTo>
                <a:lnTo>
                  <a:pt x="0" y="85725"/>
                </a:lnTo>
                <a:close/>
                <a:moveTo>
                  <a:pt x="42863" y="139303"/>
                </a:moveTo>
                <a:lnTo>
                  <a:pt x="42863" y="150019"/>
                </a:lnTo>
                <a:lnTo>
                  <a:pt x="128588" y="150019"/>
                </a:lnTo>
                <a:lnTo>
                  <a:pt x="128588" y="117872"/>
                </a:lnTo>
                <a:lnTo>
                  <a:pt x="42863" y="117872"/>
                </a:lnTo>
                <a:lnTo>
                  <a:pt x="42863" y="139303"/>
                </a:lnTo>
                <a:close/>
                <a:moveTo>
                  <a:pt x="152698" y="91083"/>
                </a:moveTo>
                <a:cubicBezTo>
                  <a:pt x="152698" y="86647"/>
                  <a:pt x="149097" y="83046"/>
                  <a:pt x="144661" y="83046"/>
                </a:cubicBezTo>
                <a:cubicBezTo>
                  <a:pt x="140225" y="83046"/>
                  <a:pt x="136624" y="86647"/>
                  <a:pt x="136624" y="91083"/>
                </a:cubicBezTo>
                <a:cubicBezTo>
                  <a:pt x="136624" y="95518"/>
                  <a:pt x="140225" y="99120"/>
                  <a:pt x="144661" y="99120"/>
                </a:cubicBezTo>
                <a:cubicBezTo>
                  <a:pt x="149097" y="99120"/>
                  <a:pt x="152698" y="95518"/>
                  <a:pt x="152698" y="91083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52" name="Text 50"/>
          <p:cNvSpPr/>
          <p:nvPr/>
        </p:nvSpPr>
        <p:spPr>
          <a:xfrm>
            <a:off x="6139815" y="4121707"/>
            <a:ext cx="548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电子设备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920740" y="4426507"/>
            <a:ext cx="568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打印机、移动硬盘等办公电子设备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612130" y="5146719"/>
            <a:ext cx="6198870" cy="1655445"/>
          </a:xfrm>
          <a:custGeom>
            <a:avLst/>
            <a:gdLst/>
            <a:ahLst/>
            <a:cxnLst/>
            <a:rect l="l" t="t" r="r" b="b"/>
            <a:pathLst>
              <a:path w="6198870" h="1655445">
                <a:moveTo>
                  <a:pt x="114292" y="0"/>
                </a:moveTo>
                <a:lnTo>
                  <a:pt x="6084578" y="0"/>
                </a:lnTo>
                <a:cubicBezTo>
                  <a:pt x="6147700" y="0"/>
                  <a:pt x="6198870" y="51170"/>
                  <a:pt x="6198870" y="114292"/>
                </a:cubicBezTo>
                <a:lnTo>
                  <a:pt x="6198870" y="1541153"/>
                </a:lnTo>
                <a:cubicBezTo>
                  <a:pt x="6198870" y="1604275"/>
                  <a:pt x="6147700" y="1655445"/>
                  <a:pt x="6084578" y="1655445"/>
                </a:cubicBezTo>
                <a:lnTo>
                  <a:pt x="114292" y="1655445"/>
                </a:lnTo>
                <a:cubicBezTo>
                  <a:pt x="51170" y="1655445"/>
                  <a:pt x="0" y="1604275"/>
                  <a:pt x="0" y="1541153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gradFill rotWithShape="1" flip="none">
            <a:gsLst>
              <a:gs pos="0">
                <a:srgbClr val="5C6B73">
                  <a:alpha val="20000"/>
                </a:srgbClr>
              </a:gs>
              <a:gs pos="100000">
                <a:srgbClr val="5C6B73">
                  <a:alpha val="5000"/>
                </a:srgbClr>
              </a:gs>
            </a:gsLst>
            <a:lin ang="2700000" scaled="1"/>
          </a:gradFill>
          <a:ln w="10160">
            <a:solidFill>
              <a:srgbClr val="5C6B73">
                <a:alpha val="5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792153" y="534102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56" name="Text 54"/>
          <p:cNvSpPr/>
          <p:nvPr/>
        </p:nvSpPr>
        <p:spPr>
          <a:xfrm>
            <a:off x="6006465" y="5302927"/>
            <a:ext cx="5743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企业承担法律责任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768340" y="5683927"/>
            <a:ext cx="1885950" cy="962025"/>
          </a:xfrm>
          <a:custGeom>
            <a:avLst/>
            <a:gdLst/>
            <a:ahLst/>
            <a:cxnLst/>
            <a:rect l="l" t="t" r="r" b="b"/>
            <a:pathLst>
              <a:path w="1885950" h="962025">
                <a:moveTo>
                  <a:pt x="76202" y="0"/>
                </a:moveTo>
                <a:lnTo>
                  <a:pt x="1809748" y="0"/>
                </a:lnTo>
                <a:cubicBezTo>
                  <a:pt x="1851805" y="0"/>
                  <a:pt x="1885950" y="34145"/>
                  <a:pt x="1885950" y="76202"/>
                </a:cubicBezTo>
                <a:lnTo>
                  <a:pt x="1885950" y="885823"/>
                </a:lnTo>
                <a:cubicBezTo>
                  <a:pt x="1885950" y="927880"/>
                  <a:pt x="1851805" y="962025"/>
                  <a:pt x="1809748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27257" y="579822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71438" y="47625"/>
                </a:moveTo>
                <a:cubicBezTo>
                  <a:pt x="71438" y="27911"/>
                  <a:pt x="55432" y="11906"/>
                  <a:pt x="35719" y="11906"/>
                </a:cubicBezTo>
                <a:cubicBezTo>
                  <a:pt x="16005" y="11906"/>
                  <a:pt x="0" y="27911"/>
                  <a:pt x="0" y="47625"/>
                </a:cubicBezTo>
                <a:cubicBezTo>
                  <a:pt x="0" y="67339"/>
                  <a:pt x="16005" y="83344"/>
                  <a:pt x="35719" y="83344"/>
                </a:cubicBezTo>
                <a:cubicBezTo>
                  <a:pt x="55432" y="83344"/>
                  <a:pt x="71438" y="67339"/>
                  <a:pt x="71438" y="47625"/>
                </a:cubicBezTo>
                <a:close/>
                <a:moveTo>
                  <a:pt x="166688" y="142875"/>
                </a:moveTo>
                <a:cubicBezTo>
                  <a:pt x="166688" y="123161"/>
                  <a:pt x="150682" y="107156"/>
                  <a:pt x="130969" y="107156"/>
                </a:cubicBezTo>
                <a:cubicBezTo>
                  <a:pt x="111255" y="107156"/>
                  <a:pt x="95250" y="123161"/>
                  <a:pt x="95250" y="142875"/>
                </a:cubicBezTo>
                <a:cubicBezTo>
                  <a:pt x="95250" y="162589"/>
                  <a:pt x="111255" y="178594"/>
                  <a:pt x="130969" y="178594"/>
                </a:cubicBezTo>
                <a:cubicBezTo>
                  <a:pt x="150682" y="178594"/>
                  <a:pt x="166688" y="162589"/>
                  <a:pt x="166688" y="142875"/>
                </a:cubicBezTo>
                <a:close/>
                <a:moveTo>
                  <a:pt x="163190" y="32221"/>
                </a:moveTo>
                <a:cubicBezTo>
                  <a:pt x="167841" y="27570"/>
                  <a:pt x="167841" y="20017"/>
                  <a:pt x="163190" y="15367"/>
                </a:cubicBezTo>
                <a:cubicBezTo>
                  <a:pt x="158539" y="10716"/>
                  <a:pt x="150986" y="10716"/>
                  <a:pt x="146335" y="15367"/>
                </a:cubicBezTo>
                <a:lnTo>
                  <a:pt x="3460" y="158242"/>
                </a:lnTo>
                <a:cubicBezTo>
                  <a:pt x="-1191" y="162892"/>
                  <a:pt x="-1191" y="170445"/>
                  <a:pt x="3460" y="175096"/>
                </a:cubicBezTo>
                <a:cubicBezTo>
                  <a:pt x="8111" y="179747"/>
                  <a:pt x="15664" y="179747"/>
                  <a:pt x="20315" y="175096"/>
                </a:cubicBezTo>
                <a:lnTo>
                  <a:pt x="163190" y="32221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59" name="Text 57"/>
          <p:cNvSpPr/>
          <p:nvPr/>
        </p:nvSpPr>
        <p:spPr>
          <a:xfrm>
            <a:off x="5849303" y="6034446"/>
            <a:ext cx="1724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增值税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835015" y="6263046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D9A477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3%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767281" y="5683927"/>
            <a:ext cx="1885950" cy="962025"/>
          </a:xfrm>
          <a:custGeom>
            <a:avLst/>
            <a:gdLst/>
            <a:ahLst/>
            <a:cxnLst/>
            <a:rect l="l" t="t" r="r" b="b"/>
            <a:pathLst>
              <a:path w="1885950" h="962025">
                <a:moveTo>
                  <a:pt x="76202" y="0"/>
                </a:moveTo>
                <a:lnTo>
                  <a:pt x="1809748" y="0"/>
                </a:lnTo>
                <a:cubicBezTo>
                  <a:pt x="1851805" y="0"/>
                  <a:pt x="1885950" y="34145"/>
                  <a:pt x="1885950" y="76202"/>
                </a:cubicBezTo>
                <a:lnTo>
                  <a:pt x="1885950" y="885823"/>
                </a:lnTo>
                <a:cubicBezTo>
                  <a:pt x="1885950" y="927880"/>
                  <a:pt x="1851805" y="962025"/>
                  <a:pt x="1809748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638104" y="579822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63" name="Text 61"/>
          <p:cNvSpPr/>
          <p:nvPr/>
        </p:nvSpPr>
        <p:spPr>
          <a:xfrm>
            <a:off x="7848243" y="6034446"/>
            <a:ext cx="1724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企业所得税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833956" y="6263046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C8082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5-25%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766221" y="5683927"/>
            <a:ext cx="1885950" cy="962025"/>
          </a:xfrm>
          <a:custGeom>
            <a:avLst/>
            <a:gdLst/>
            <a:ahLst/>
            <a:cxnLst/>
            <a:rect l="l" t="t" r="r" b="b"/>
            <a:pathLst>
              <a:path w="1885950" h="962025">
                <a:moveTo>
                  <a:pt x="76202" y="0"/>
                </a:moveTo>
                <a:lnTo>
                  <a:pt x="1809748" y="0"/>
                </a:lnTo>
                <a:cubicBezTo>
                  <a:pt x="1851805" y="0"/>
                  <a:pt x="1885950" y="34145"/>
                  <a:pt x="1885950" y="76202"/>
                </a:cubicBezTo>
                <a:lnTo>
                  <a:pt x="1885950" y="885823"/>
                </a:lnTo>
                <a:cubicBezTo>
                  <a:pt x="1885950" y="927880"/>
                  <a:pt x="1851805" y="962025"/>
                  <a:pt x="1809748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0601325" y="5798227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10579" y="190500"/>
                </a:lnTo>
                <a:cubicBezTo>
                  <a:pt x="97110" y="174650"/>
                  <a:pt x="89297" y="154223"/>
                  <a:pt x="89297" y="132606"/>
                </a:cubicBezTo>
                <a:lnTo>
                  <a:pt x="89297" y="121034"/>
                </a:lnTo>
                <a:cubicBezTo>
                  <a:pt x="89297" y="118318"/>
                  <a:pt x="89669" y="115639"/>
                  <a:pt x="90376" y="113109"/>
                </a:cubicBezTo>
                <a:lnTo>
                  <a:pt x="72293" y="113109"/>
                </a:lnTo>
                <a:close/>
                <a:moveTo>
                  <a:pt x="165683" y="181756"/>
                </a:moveTo>
                <a:lnTo>
                  <a:pt x="160734" y="184100"/>
                </a:lnTo>
                <a:lnTo>
                  <a:pt x="160734" y="114114"/>
                </a:lnTo>
                <a:lnTo>
                  <a:pt x="196453" y="126020"/>
                </a:lnTo>
                <a:lnTo>
                  <a:pt x="196453" y="133313"/>
                </a:lnTo>
                <a:cubicBezTo>
                  <a:pt x="196453" y="154074"/>
                  <a:pt x="184472" y="172938"/>
                  <a:pt x="165683" y="181794"/>
                </a:cubicBezTo>
                <a:close/>
                <a:moveTo>
                  <a:pt x="156976" y="96552"/>
                </a:moveTo>
                <a:lnTo>
                  <a:pt x="115305" y="110430"/>
                </a:lnTo>
                <a:cubicBezTo>
                  <a:pt x="110430" y="112068"/>
                  <a:pt x="107156" y="116607"/>
                  <a:pt x="107156" y="121741"/>
                </a:cubicBezTo>
                <a:lnTo>
                  <a:pt x="107156" y="133313"/>
                </a:lnTo>
                <a:cubicBezTo>
                  <a:pt x="107156" y="160995"/>
                  <a:pt x="123155" y="186184"/>
                  <a:pt x="148158" y="197941"/>
                </a:cubicBezTo>
                <a:lnTo>
                  <a:pt x="155042" y="201178"/>
                </a:lnTo>
                <a:cubicBezTo>
                  <a:pt x="156828" y="201997"/>
                  <a:pt x="158762" y="202443"/>
                  <a:pt x="160697" y="202443"/>
                </a:cubicBezTo>
                <a:cubicBezTo>
                  <a:pt x="162632" y="202443"/>
                  <a:pt x="164604" y="201997"/>
                  <a:pt x="166353" y="201178"/>
                </a:cubicBezTo>
                <a:lnTo>
                  <a:pt x="173236" y="197941"/>
                </a:lnTo>
                <a:cubicBezTo>
                  <a:pt x="198313" y="186147"/>
                  <a:pt x="214313" y="160958"/>
                  <a:pt x="214313" y="133276"/>
                </a:cubicBezTo>
                <a:lnTo>
                  <a:pt x="214313" y="121704"/>
                </a:lnTo>
                <a:cubicBezTo>
                  <a:pt x="214313" y="116570"/>
                  <a:pt x="211038" y="112030"/>
                  <a:pt x="206164" y="110393"/>
                </a:cubicBezTo>
                <a:lnTo>
                  <a:pt x="164492" y="96515"/>
                </a:lnTo>
                <a:cubicBezTo>
                  <a:pt x="162037" y="95696"/>
                  <a:pt x="159395" y="95696"/>
                  <a:pt x="156976" y="96515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67" name="Text 65"/>
          <p:cNvSpPr/>
          <p:nvPr/>
        </p:nvSpPr>
        <p:spPr>
          <a:xfrm>
            <a:off x="9847184" y="6034446"/>
            <a:ext cx="1724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社会保险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832896" y="6263046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5C6B73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按工资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ustom-images.strikinglycdn.com/721be1696856a8c4c1d25d07a540d77f51d57a1b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4" b="7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3C8082">
                  <a:alpha val="15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396865" y="483390"/>
            <a:ext cx="1398270" cy="388620"/>
          </a:xfrm>
          <a:custGeom>
            <a:avLst/>
            <a:gdLst/>
            <a:ahLst/>
            <a:cxnLst/>
            <a:rect l="l" t="t" r="r" b="b"/>
            <a:pathLst>
              <a:path w="1398270" h="388620">
                <a:moveTo>
                  <a:pt x="194310" y="0"/>
                </a:moveTo>
                <a:lnTo>
                  <a:pt x="1203960" y="0"/>
                </a:lnTo>
                <a:cubicBezTo>
                  <a:pt x="1311274" y="0"/>
                  <a:pt x="1398270" y="86996"/>
                  <a:pt x="1398270" y="194310"/>
                </a:cubicBezTo>
                <a:lnTo>
                  <a:pt x="1398270" y="194310"/>
                </a:lnTo>
                <a:cubicBezTo>
                  <a:pt x="1398270" y="301624"/>
                  <a:pt x="1311274" y="388620"/>
                  <a:pt x="1203960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3C8082">
              <a:alpha val="20000"/>
            </a:srgbClr>
          </a:solidFill>
          <a:ln w="10160">
            <a:solidFill>
              <a:srgbClr val="3C808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53075" y="571016"/>
            <a:ext cx="10858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spc="120" kern="0" dirty="0">
                <a:solidFill>
                  <a:srgbClr val="D9A47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38125" y="1028216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让校园数码服务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清晰可见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079790" y="2685566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8" name="Text 5"/>
          <p:cNvSpPr/>
          <p:nvPr/>
        </p:nvSpPr>
        <p:spPr>
          <a:xfrm>
            <a:off x="4175165" y="2571266"/>
            <a:ext cx="3838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"能见度"致力于打破校园数码服务的信息壁垒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197811" y="2685566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10" name="Shape 7"/>
          <p:cNvSpPr/>
          <p:nvPr/>
        </p:nvSpPr>
        <p:spPr>
          <a:xfrm>
            <a:off x="1832610" y="3146576"/>
            <a:ext cx="2684145" cy="1874520"/>
          </a:xfrm>
          <a:custGeom>
            <a:avLst/>
            <a:gdLst/>
            <a:ahLst/>
            <a:cxnLst/>
            <a:rect l="l" t="t" r="r" b="b"/>
            <a:pathLst>
              <a:path w="2684145" h="1874520">
                <a:moveTo>
                  <a:pt x="114308" y="0"/>
                </a:moveTo>
                <a:lnTo>
                  <a:pt x="2569837" y="0"/>
                </a:lnTo>
                <a:cubicBezTo>
                  <a:pt x="2632967" y="0"/>
                  <a:pt x="2684145" y="51178"/>
                  <a:pt x="2684145" y="114308"/>
                </a:cubicBezTo>
                <a:lnTo>
                  <a:pt x="2684145" y="1760212"/>
                </a:lnTo>
                <a:cubicBezTo>
                  <a:pt x="2684145" y="1823342"/>
                  <a:pt x="2632967" y="1874520"/>
                  <a:pt x="2569837" y="1874520"/>
                </a:cubicBezTo>
                <a:lnTo>
                  <a:pt x="114308" y="1874520"/>
                </a:lnTo>
                <a:cubicBezTo>
                  <a:pt x="51178" y="1874520"/>
                  <a:pt x="0" y="1823342"/>
                  <a:pt x="0" y="176021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rotWithShape="1" flip="none">
            <a:gsLst>
              <a:gs pos="0">
                <a:srgbClr val="D9A477">
                  <a:alpha val="20000"/>
                </a:srgbClr>
              </a:gs>
              <a:gs pos="100000">
                <a:srgbClr val="D9A477">
                  <a:alpha val="5000"/>
                </a:srgbClr>
              </a:gs>
            </a:gsLst>
            <a:lin ang="2700000" scaled="1"/>
          </a:gradFill>
          <a:ln w="10160">
            <a:solidFill>
              <a:srgbClr val="D9A477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08221" y="334089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12" name="Shape 9"/>
          <p:cNvSpPr/>
          <p:nvPr/>
        </p:nvSpPr>
        <p:spPr>
          <a:xfrm>
            <a:off x="3060621" y="349329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3" name="Text 10"/>
          <p:cNvSpPr/>
          <p:nvPr/>
        </p:nvSpPr>
        <p:spPr>
          <a:xfrm>
            <a:off x="1979295" y="3988594"/>
            <a:ext cx="239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技术驱动信任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988820" y="4331494"/>
            <a:ext cx="23717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用标准化服务和透明化流程建立用户信任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753570" y="3146576"/>
            <a:ext cx="2684145" cy="1874520"/>
          </a:xfrm>
          <a:custGeom>
            <a:avLst/>
            <a:gdLst/>
            <a:ahLst/>
            <a:cxnLst/>
            <a:rect l="l" t="t" r="r" b="b"/>
            <a:pathLst>
              <a:path w="2684145" h="1874520">
                <a:moveTo>
                  <a:pt x="114308" y="0"/>
                </a:moveTo>
                <a:lnTo>
                  <a:pt x="2569837" y="0"/>
                </a:lnTo>
                <a:cubicBezTo>
                  <a:pt x="2632967" y="0"/>
                  <a:pt x="2684145" y="51178"/>
                  <a:pt x="2684145" y="114308"/>
                </a:cubicBezTo>
                <a:lnTo>
                  <a:pt x="2684145" y="1760212"/>
                </a:lnTo>
                <a:cubicBezTo>
                  <a:pt x="2684145" y="1823342"/>
                  <a:pt x="2632967" y="1874520"/>
                  <a:pt x="2569837" y="1874520"/>
                </a:cubicBezTo>
                <a:lnTo>
                  <a:pt x="114308" y="1874520"/>
                </a:lnTo>
                <a:cubicBezTo>
                  <a:pt x="51178" y="1874520"/>
                  <a:pt x="0" y="1823342"/>
                  <a:pt x="0" y="176021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rotWithShape="1" flip="none">
            <a:gsLst>
              <a:gs pos="0">
                <a:srgbClr val="3C8082">
                  <a:alpha val="20000"/>
                </a:srgbClr>
              </a:gs>
              <a:gs pos="100000">
                <a:srgbClr val="3C8082">
                  <a:alpha val="5000"/>
                </a:srgbClr>
              </a:gs>
            </a:gsLst>
            <a:lin ang="2700000" scaled="1"/>
          </a:gradFill>
          <a:ln w="10160">
            <a:solidFill>
              <a:srgbClr val="3C8082">
                <a:alpha val="4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29181" y="334089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17" name="Shape 14"/>
          <p:cNvSpPr/>
          <p:nvPr/>
        </p:nvSpPr>
        <p:spPr>
          <a:xfrm>
            <a:off x="5967293" y="349329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18" name="Text 15"/>
          <p:cNvSpPr/>
          <p:nvPr/>
        </p:nvSpPr>
        <p:spPr>
          <a:xfrm>
            <a:off x="4900256" y="3988594"/>
            <a:ext cx="239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透明赢得口碑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909781" y="4331494"/>
            <a:ext cx="23717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让每一笔交易都清晰可见，每一个操作都可追溯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674531" y="3146576"/>
            <a:ext cx="2684145" cy="1874520"/>
          </a:xfrm>
          <a:custGeom>
            <a:avLst/>
            <a:gdLst/>
            <a:ahLst/>
            <a:cxnLst/>
            <a:rect l="l" t="t" r="r" b="b"/>
            <a:pathLst>
              <a:path w="2684145" h="1874520">
                <a:moveTo>
                  <a:pt x="114308" y="0"/>
                </a:moveTo>
                <a:lnTo>
                  <a:pt x="2569837" y="0"/>
                </a:lnTo>
                <a:cubicBezTo>
                  <a:pt x="2632967" y="0"/>
                  <a:pt x="2684145" y="51178"/>
                  <a:pt x="2684145" y="114308"/>
                </a:cubicBezTo>
                <a:lnTo>
                  <a:pt x="2684145" y="1760212"/>
                </a:lnTo>
                <a:cubicBezTo>
                  <a:pt x="2684145" y="1823342"/>
                  <a:pt x="2632967" y="1874520"/>
                  <a:pt x="2569837" y="1874520"/>
                </a:cubicBezTo>
                <a:lnTo>
                  <a:pt x="114308" y="1874520"/>
                </a:lnTo>
                <a:cubicBezTo>
                  <a:pt x="51178" y="1874520"/>
                  <a:pt x="0" y="1823342"/>
                  <a:pt x="0" y="176021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rotWithShape="1" flip="none">
            <a:gsLst>
              <a:gs pos="0">
                <a:srgbClr val="5C6B73">
                  <a:alpha val="20000"/>
                </a:srgbClr>
              </a:gs>
              <a:gs pos="100000">
                <a:srgbClr val="5C6B73">
                  <a:alpha val="5000"/>
                </a:srgbClr>
              </a:gs>
            </a:gsLst>
            <a:lin ang="2700000" scaled="1"/>
          </a:gradFill>
          <a:ln w="10160">
            <a:solidFill>
              <a:srgbClr val="5C6B73">
                <a:alpha val="4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750261" y="334089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5C6B73"/>
          </a:solidFill>
          <a:ln/>
        </p:spPr>
      </p:sp>
      <p:sp>
        <p:nvSpPr>
          <p:cNvPr id="22" name="Shape 19"/>
          <p:cNvSpPr/>
          <p:nvPr/>
        </p:nvSpPr>
        <p:spPr>
          <a:xfrm>
            <a:off x="8888373" y="349329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10728" y="39291"/>
                </a:moveTo>
                <a:lnTo>
                  <a:pt x="146447" y="39291"/>
                </a:lnTo>
                <a:lnTo>
                  <a:pt x="146447" y="60722"/>
                </a:lnTo>
                <a:lnTo>
                  <a:pt x="110728" y="60722"/>
                </a:lnTo>
                <a:lnTo>
                  <a:pt x="110728" y="39291"/>
                </a:lnTo>
                <a:close/>
                <a:moveTo>
                  <a:pt x="107156" y="14288"/>
                </a:moveTo>
                <a:cubicBezTo>
                  <a:pt x="95324" y="14288"/>
                  <a:pt x="85725" y="23887"/>
                  <a:pt x="85725" y="35719"/>
                </a:cubicBezTo>
                <a:lnTo>
                  <a:pt x="85725" y="64294"/>
                </a:lnTo>
                <a:cubicBezTo>
                  <a:pt x="85725" y="76126"/>
                  <a:pt x="95324" y="85725"/>
                  <a:pt x="107156" y="85725"/>
                </a:cubicBezTo>
                <a:lnTo>
                  <a:pt x="114300" y="85725"/>
                </a:lnTo>
                <a:lnTo>
                  <a:pt x="114300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57150" y="128588"/>
                </a:lnTo>
                <a:lnTo>
                  <a:pt x="57150" y="142875"/>
                </a:lnTo>
                <a:lnTo>
                  <a:pt x="50006" y="142875"/>
                </a:lnTo>
                <a:cubicBezTo>
                  <a:pt x="38174" y="142875"/>
                  <a:pt x="28575" y="152474"/>
                  <a:pt x="28575" y="164306"/>
                </a:cubicBezTo>
                <a:lnTo>
                  <a:pt x="28575" y="192881"/>
                </a:lnTo>
                <a:cubicBezTo>
                  <a:pt x="28575" y="204713"/>
                  <a:pt x="38174" y="214313"/>
                  <a:pt x="50006" y="214313"/>
                </a:cubicBezTo>
                <a:lnTo>
                  <a:pt x="92869" y="214313"/>
                </a:lnTo>
                <a:cubicBezTo>
                  <a:pt x="104701" y="214313"/>
                  <a:pt x="114300" y="204713"/>
                  <a:pt x="114300" y="192881"/>
                </a:cubicBezTo>
                <a:lnTo>
                  <a:pt x="114300" y="164306"/>
                </a:lnTo>
                <a:cubicBezTo>
                  <a:pt x="114300" y="152474"/>
                  <a:pt x="104701" y="142875"/>
                  <a:pt x="92869" y="142875"/>
                </a:cubicBezTo>
                <a:lnTo>
                  <a:pt x="85725" y="142875"/>
                </a:lnTo>
                <a:lnTo>
                  <a:pt x="85725" y="128588"/>
                </a:lnTo>
                <a:lnTo>
                  <a:pt x="171450" y="128588"/>
                </a:lnTo>
                <a:lnTo>
                  <a:pt x="171450" y="142875"/>
                </a:lnTo>
                <a:lnTo>
                  <a:pt x="164306" y="142875"/>
                </a:lnTo>
                <a:cubicBezTo>
                  <a:pt x="152474" y="142875"/>
                  <a:pt x="142875" y="152474"/>
                  <a:pt x="142875" y="164306"/>
                </a:cubicBezTo>
                <a:lnTo>
                  <a:pt x="142875" y="192881"/>
                </a:lnTo>
                <a:cubicBezTo>
                  <a:pt x="142875" y="204713"/>
                  <a:pt x="152474" y="214313"/>
                  <a:pt x="164306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164306"/>
                </a:lnTo>
                <a:cubicBezTo>
                  <a:pt x="228600" y="152474"/>
                  <a:pt x="219001" y="142875"/>
                  <a:pt x="207169" y="142875"/>
                </a:cubicBezTo>
                <a:lnTo>
                  <a:pt x="200025" y="142875"/>
                </a:lnTo>
                <a:lnTo>
                  <a:pt x="200025" y="128588"/>
                </a:lnTo>
                <a:lnTo>
                  <a:pt x="242888" y="128588"/>
                </a:lnTo>
                <a:cubicBezTo>
                  <a:pt x="250790" y="128588"/>
                  <a:pt x="257175" y="122203"/>
                  <a:pt x="257175" y="114300"/>
                </a:cubicBezTo>
                <a:cubicBezTo>
                  <a:pt x="257175" y="106397"/>
                  <a:pt x="250790" y="100013"/>
                  <a:pt x="242888" y="100013"/>
                </a:cubicBezTo>
                <a:lnTo>
                  <a:pt x="142875" y="100013"/>
                </a:lnTo>
                <a:lnTo>
                  <a:pt x="142875" y="85725"/>
                </a:lnTo>
                <a:lnTo>
                  <a:pt x="150019" y="85725"/>
                </a:lnTo>
                <a:cubicBezTo>
                  <a:pt x="161851" y="85725"/>
                  <a:pt x="171450" y="76126"/>
                  <a:pt x="171450" y="64294"/>
                </a:cubicBezTo>
                <a:lnTo>
                  <a:pt x="171450" y="35719"/>
                </a:lnTo>
                <a:cubicBezTo>
                  <a:pt x="171450" y="23887"/>
                  <a:pt x="161851" y="14288"/>
                  <a:pt x="150019" y="14288"/>
                </a:cubicBezTo>
                <a:lnTo>
                  <a:pt x="107156" y="14288"/>
                </a:lnTo>
                <a:close/>
                <a:moveTo>
                  <a:pt x="200025" y="167878"/>
                </a:moveTo>
                <a:lnTo>
                  <a:pt x="203597" y="167878"/>
                </a:lnTo>
                <a:lnTo>
                  <a:pt x="203597" y="189309"/>
                </a:lnTo>
                <a:lnTo>
                  <a:pt x="167878" y="189309"/>
                </a:lnTo>
                <a:lnTo>
                  <a:pt x="167878" y="167878"/>
                </a:lnTo>
                <a:lnTo>
                  <a:pt x="200025" y="167878"/>
                </a:lnTo>
                <a:close/>
                <a:moveTo>
                  <a:pt x="85725" y="167878"/>
                </a:moveTo>
                <a:lnTo>
                  <a:pt x="89297" y="167878"/>
                </a:lnTo>
                <a:lnTo>
                  <a:pt x="89297" y="189309"/>
                </a:lnTo>
                <a:lnTo>
                  <a:pt x="53578" y="189309"/>
                </a:lnTo>
                <a:lnTo>
                  <a:pt x="53578" y="167878"/>
                </a:lnTo>
                <a:lnTo>
                  <a:pt x="85725" y="167878"/>
                </a:lnTo>
                <a:close/>
              </a:path>
            </a:pathLst>
          </a:custGeom>
          <a:solidFill>
            <a:srgbClr val="E0E2E5"/>
          </a:solidFill>
          <a:ln/>
        </p:spPr>
      </p:sp>
      <p:sp>
        <p:nvSpPr>
          <p:cNvPr id="23" name="Text 20"/>
          <p:cNvSpPr/>
          <p:nvPr/>
        </p:nvSpPr>
        <p:spPr>
          <a:xfrm>
            <a:off x="7821216" y="3988594"/>
            <a:ext cx="239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阿里妈妈数黑体" pitchFamily="34" charset="0"/>
                <a:ea typeface="阿里妈妈数黑体" pitchFamily="34" charset="-122"/>
                <a:cs typeface="阿里妈妈数黑体" pitchFamily="34" charset="-120"/>
              </a:rPr>
              <a:t>构建服务生态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830741" y="4331494"/>
            <a:ext cx="23717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从本校向周边高校复制推广，构建区域性服务网络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33375" y="5329712"/>
            <a:ext cx="115252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感谢各位评委老师的聆听！期待与您携手，共创校园数码服务新生态。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2899410" y="5757384"/>
            <a:ext cx="6389370" cy="617220"/>
          </a:xfrm>
          <a:custGeom>
            <a:avLst/>
            <a:gdLst/>
            <a:ahLst/>
            <a:cxnLst/>
            <a:rect l="l" t="t" r="r" b="b"/>
            <a:pathLst>
              <a:path w="6389370" h="617220">
                <a:moveTo>
                  <a:pt x="114303" y="0"/>
                </a:moveTo>
                <a:lnTo>
                  <a:pt x="6275067" y="0"/>
                </a:lnTo>
                <a:cubicBezTo>
                  <a:pt x="6338195" y="0"/>
                  <a:pt x="6389370" y="51175"/>
                  <a:pt x="6389370" y="114303"/>
                </a:cubicBezTo>
                <a:lnTo>
                  <a:pt x="6389370" y="502917"/>
                </a:lnTo>
                <a:cubicBezTo>
                  <a:pt x="6389370" y="566045"/>
                  <a:pt x="6338195" y="617220"/>
                  <a:pt x="6275067" y="617220"/>
                </a:cubicBezTo>
                <a:lnTo>
                  <a:pt x="114303" y="617220"/>
                </a:lnTo>
                <a:cubicBezTo>
                  <a:pt x="51175" y="617220"/>
                  <a:pt x="0" y="566045"/>
                  <a:pt x="0" y="50291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D9A477">
                  <a:alpha val="20000"/>
                </a:srgbClr>
              </a:gs>
              <a:gs pos="50000">
                <a:srgbClr val="3C8082">
                  <a:alpha val="20000"/>
                </a:srgbClr>
              </a:gs>
              <a:gs pos="100000">
                <a:srgbClr val="5C6B73">
                  <a:alpha val="20000"/>
                </a:srgbClr>
              </a:gs>
            </a:gsLst>
            <a:lin ang="0" scaled="1"/>
          </a:gradFill>
          <a:ln w="10160">
            <a:solidFill>
              <a:srgbClr val="D9A477">
                <a:alpha val="30196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399830" y="5980268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28521"/>
                  <a:pt x="117939" y="101798"/>
                  <a:pt x="84955" y="101798"/>
                </a:cubicBezTo>
                <a:lnTo>
                  <a:pt x="65064" y="101798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28" name="Text 25"/>
          <p:cNvSpPr/>
          <p:nvPr/>
        </p:nvSpPr>
        <p:spPr>
          <a:xfrm>
            <a:off x="3651052" y="5932643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金玲利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513064" y="5913593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30" name="Shape 27"/>
          <p:cNvSpPr/>
          <p:nvPr/>
        </p:nvSpPr>
        <p:spPr>
          <a:xfrm>
            <a:off x="4851202" y="598026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53645" y="8372"/>
                </a:moveTo>
                <a:cubicBezTo>
                  <a:pt x="51000" y="2043"/>
                  <a:pt x="44101" y="-1306"/>
                  <a:pt x="37538" y="469"/>
                </a:cubicBezTo>
                <a:lnTo>
                  <a:pt x="35696" y="971"/>
                </a:lnTo>
                <a:cubicBezTo>
                  <a:pt x="14064" y="6865"/>
                  <a:pt x="-4420" y="27827"/>
                  <a:pt x="971" y="53344"/>
                </a:cubicBezTo>
                <a:cubicBezTo>
                  <a:pt x="13395" y="111945"/>
                  <a:pt x="59505" y="158055"/>
                  <a:pt x="118106" y="170479"/>
                </a:cubicBezTo>
                <a:cubicBezTo>
                  <a:pt x="143656" y="175904"/>
                  <a:pt x="164585" y="157386"/>
                  <a:pt x="170479" y="135754"/>
                </a:cubicBezTo>
                <a:lnTo>
                  <a:pt x="170981" y="133912"/>
                </a:lnTo>
                <a:cubicBezTo>
                  <a:pt x="172789" y="127315"/>
                  <a:pt x="169407" y="120417"/>
                  <a:pt x="163112" y="117805"/>
                </a:cubicBezTo>
                <a:lnTo>
                  <a:pt x="130530" y="104243"/>
                </a:lnTo>
                <a:cubicBezTo>
                  <a:pt x="125004" y="101932"/>
                  <a:pt x="118609" y="103540"/>
                  <a:pt x="114791" y="108194"/>
                </a:cubicBezTo>
                <a:lnTo>
                  <a:pt x="101865" y="124000"/>
                </a:lnTo>
                <a:cubicBezTo>
                  <a:pt x="78325" y="112313"/>
                  <a:pt x="59371" y="92757"/>
                  <a:pt x="48488" y="68747"/>
                </a:cubicBezTo>
                <a:lnTo>
                  <a:pt x="63289" y="56692"/>
                </a:lnTo>
                <a:cubicBezTo>
                  <a:pt x="67944" y="52908"/>
                  <a:pt x="69518" y="46513"/>
                  <a:pt x="67241" y="40954"/>
                </a:cubicBezTo>
                <a:lnTo>
                  <a:pt x="53645" y="8372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1" name="Text 28"/>
          <p:cNvSpPr/>
          <p:nvPr/>
        </p:nvSpPr>
        <p:spPr>
          <a:xfrm>
            <a:off x="5113139" y="5932643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15675262652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522363" y="5913593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3C8082"/>
          </a:solidFill>
          <a:ln/>
        </p:spPr>
      </p:sp>
      <p:sp>
        <p:nvSpPr>
          <p:cNvPr id="33" name="Shape 30"/>
          <p:cNvSpPr/>
          <p:nvPr/>
        </p:nvSpPr>
        <p:spPr>
          <a:xfrm>
            <a:off x="6860500" y="598026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073" y="21431"/>
                </a:moveTo>
                <a:cubicBezTo>
                  <a:pt x="7200" y="21431"/>
                  <a:pt x="0" y="28631"/>
                  <a:pt x="0" y="37505"/>
                </a:cubicBezTo>
                <a:cubicBezTo>
                  <a:pt x="0" y="42561"/>
                  <a:pt x="2378" y="47316"/>
                  <a:pt x="6429" y="50363"/>
                </a:cubicBezTo>
                <a:lnTo>
                  <a:pt x="76081" y="102602"/>
                </a:lnTo>
                <a:cubicBezTo>
                  <a:pt x="81807" y="106888"/>
                  <a:pt x="89643" y="106888"/>
                  <a:pt x="95369" y="102602"/>
                </a:cubicBezTo>
                <a:lnTo>
                  <a:pt x="165021" y="50363"/>
                </a:lnTo>
                <a:cubicBezTo>
                  <a:pt x="169072" y="47316"/>
                  <a:pt x="171450" y="42561"/>
                  <a:pt x="171450" y="37505"/>
                </a:cubicBezTo>
                <a:cubicBezTo>
                  <a:pt x="171450" y="28631"/>
                  <a:pt x="164250" y="21431"/>
                  <a:pt x="155377" y="21431"/>
                </a:cubicBezTo>
                <a:lnTo>
                  <a:pt x="16073" y="21431"/>
                </a:lnTo>
                <a:close/>
                <a:moveTo>
                  <a:pt x="0" y="65633"/>
                </a:moveTo>
                <a:lnTo>
                  <a:pt x="0" y="128588"/>
                </a:lnTo>
                <a:cubicBezTo>
                  <a:pt x="0" y="140408"/>
                  <a:pt x="9611" y="150019"/>
                  <a:pt x="21431" y="150019"/>
                </a:cubicBezTo>
                <a:lnTo>
                  <a:pt x="150019" y="150019"/>
                </a:lnTo>
                <a:cubicBezTo>
                  <a:pt x="161839" y="150019"/>
                  <a:pt x="171450" y="140408"/>
                  <a:pt x="171450" y="128588"/>
                </a:cubicBezTo>
                <a:lnTo>
                  <a:pt x="171450" y="65633"/>
                </a:lnTo>
                <a:lnTo>
                  <a:pt x="105013" y="115461"/>
                </a:lnTo>
                <a:cubicBezTo>
                  <a:pt x="93594" y="124033"/>
                  <a:pt x="77856" y="124033"/>
                  <a:pt x="66437" y="115461"/>
                </a:cubicBezTo>
                <a:lnTo>
                  <a:pt x="0" y="65633"/>
                </a:lnTo>
                <a:close/>
              </a:path>
            </a:pathLst>
          </a:custGeom>
          <a:solidFill>
            <a:srgbClr val="D9A477"/>
          </a:solidFill>
          <a:ln/>
        </p:spPr>
      </p:sp>
      <p:sp>
        <p:nvSpPr>
          <p:cNvPr id="34" name="Text 31"/>
          <p:cNvSpPr/>
          <p:nvPr/>
        </p:nvSpPr>
        <p:spPr>
          <a:xfrm>
            <a:off x="7122438" y="5932643"/>
            <a:ext cx="1743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1921033794@qq.com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"能见度"校园信息服务平台</dc:title>
  <dc:subject>"能见度"校园信息服务平台</dc:subject>
  <dc:creator>Kimi</dc:creator>
  <cp:lastModifiedBy>Kimi</cp:lastModifiedBy>
  <cp:revision>1</cp:revision>
  <dcterms:created xsi:type="dcterms:W3CDTF">2026-01-09T03:40:14Z</dcterms:created>
  <dcterms:modified xsi:type="dcterms:W3CDTF">2026-01-09T03:40:14Z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\"能见度\"校园信息服务平台","ContentProducer":"001191110108MACG2KBH8F10000","ProduceID":"19ba0bcd-ff22-8e5b-8000-00006a397535","ReservedCode1":"","ContentPropagator":"001191110108MACG2KBH8F20000","PropagateID":"19ba0bcd-ff22-8e5b-8000-00006a397535","ReservedCode2":""}</vt:lpwstr>
  </property>
</Properties>
</file>